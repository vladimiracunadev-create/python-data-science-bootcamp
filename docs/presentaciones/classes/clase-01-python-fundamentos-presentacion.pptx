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400">
                <a:solidFill>
                  <a:srgbClr val="F1F5F9"/>
                </a:solidFill>
                <a:latin typeface="Segoe UI Semibold"/>
              </a:defRPr>
            </a:pPr>
            <a:r>
              <a:t>📘 Clase 01: Fundamentos de Python aplicados a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258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90 minutos | Nivel Básico | Dataset: datasets/ventas_tienda.csv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10698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800">
                <a:solidFill>
                  <a:srgbClr val="F1F5F9"/>
                </a:solidFill>
                <a:latin typeface="Segoe UI Semibold"/>
              </a:defRPr>
            </a:pPr>
            <a:r>
              <a:t>Comprender los elementos básicos de Python y aplicarlos a ejemplos pequeños relacionados con datos.</a:t>
            </a:r>
          </a:p>
          <a:p>
            <a:pPr>
              <a:defRPr sz="1800">
                <a:solidFill>
                  <a:srgbClr val="94A3B8"/>
                </a:solidFill>
                <a:latin typeface="Segoe UI"/>
              </a:defRPr>
            </a:pPr>
            <a:r>
              <a:t>Python se presenta como herramienta para ordenar y transformar información, no como teoría abstracta.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400">
                <a:solidFill>
                  <a:srgbClr val="F1F5F9"/>
                </a:solidFill>
                <a:latin typeface="Segoe UI Semibold"/>
              </a:defRPr>
            </a:pPr>
            <a:r>
              <a:t>🎯 Logros y focos del módulo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4663440" cy="402336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2C55E"/>
                </a:solidFill>
                <a:latin typeface="Segoe UI Semibold"/>
              </a:defRPr>
            </a:pPr>
            <a:r>
              <a:t>Temas clave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42976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Variables y tipos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Listas y diccionarios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Funciones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Control de flujo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83080"/>
            <a:ext cx="4663440" cy="402336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2C55E"/>
                </a:solidFill>
                <a:latin typeface="Segoe UI Semibold"/>
              </a:defRPr>
            </a:pPr>
            <a:r>
              <a:t>Resultados esperados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377440"/>
            <a:ext cx="42976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Crear variables claras y expresivas.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Usar listas y diccionarios para representar información.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Escribir funciones simples con propósito evidente.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400">
                <a:solidFill>
                  <a:srgbClr val="F1F5F9"/>
                </a:solidFill>
                <a:latin typeface="Segoe UI Semibold"/>
              </a:defRPr>
            </a:pPr>
            <a:r>
              <a:t>🧭 Ruta sugerida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Inicio: 10 min | Activar contexto y objetivo | Evidencia: Pregunta inicial visible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Desarrollo 1: 20 min | Demostración guiada | Evidencia: Primer bloque entendido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Desarrollo 2: 25 min | Lectura de código y explicación | Evidencia: Salida interpretada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Práctica: 25 min | Ejercicio o quiz del módulo | Evidencia: Entregable corto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Cierre: 10 min | Síntesis y siguiente paso | Evidencia: Autoevaluación breve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400">
                <a:solidFill>
                  <a:srgbClr val="F1F5F9"/>
                </a:solidFill>
                <a:latin typeface="Segoe UI Semibold"/>
              </a:defRPr>
            </a:pPr>
            <a:r>
              <a:t>❓ Sentido pedagógico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Segoe UI"/>
              </a:defRPr>
            </a:pPr>
            <a:r>
              <a:t>Por qué importa: Es la base para que el estudiante pueda leer, modificar y comentar código con confianza.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Segoe UI"/>
              </a:defRPr>
            </a:pPr>
            <a:r>
              <a:t>Qué hace: entrada → calcular → devolver → reutilizar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Segoe UI"/>
              </a:defRPr>
            </a:pPr>
            <a:r>
              <a:t>Para qué sirve: Sirve para introducir reutilización, parámetros y retorno usando un ejemplo cercano al análisis de ventas.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Segoe UI"/>
              </a:defRPr>
            </a:pPr>
            <a:r>
              <a:t>Nota docente: Modela en voz alta cómo leer un error simple y convertirlo en una acción concreta.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400">
                <a:solidFill>
                  <a:srgbClr val="F1F5F9"/>
                </a:solidFill>
                <a:latin typeface="Segoe UI Semibold"/>
              </a:defRPr>
            </a:pPr>
            <a:r>
              <a:t>💻 Función para calcular ingreso bruto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258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Encapsular una operación en una función evita repetir lógica y facilita explicar cada paso.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206240"/>
          </a:xfrm>
          <a:prstGeom prst="roundRect">
            <a:avLst/>
          </a:prstGeom>
          <a:solidFill>
            <a:srgbClr val="02061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10241280" cy="3749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>
                <a:solidFill>
                  <a:srgbClr val="F1F5F9"/>
                </a:solidFill>
                <a:latin typeface="Courier New"/>
              </a:defRPr>
            </a:pPr>
            <a:r>
              <a:t># Qué hace: entrada → calcular → devolver → reutilizar.</a:t>
            </a:r>
            <a:br/>
            <a:r>
              <a:t># Para qué sirve: Sirve para introducir reutilización, parámetros y retorno usando un ejemplo cercano al análisis de ventas.</a:t>
            </a:r>
            <a:br/>
            <a:r>
              <a:t>def calcular_total_bruto(unidades, precio_unitario):</a:t>
            </a:r>
            <a:br/>
            <a:r>
              <a:t>    # Multiplicamos cantidad por precio para estimar el ingreso bruto.</a:t>
            </a:r>
            <a:br/>
            <a:r>
              <a:t>    return unidades * precio_unitario</a:t>
            </a:r>
            <a:br/>
            <a:br/>
            <a:br/>
            <a:r>
              <a:t>ventas = [</a:t>
            </a:r>
            <a:br/>
            <a:r>
              <a:t>    {"producto": "Mouse", "unidades": 3, "precio_unitario": 8990},</a:t>
            </a:r>
            <a:br/>
            <a:r>
              <a:t>    {"producto": "Teclado", "unidades": 2, "precio_unitario": 15990},</a:t>
            </a:r>
            <a:br/>
            <a:r>
              <a:t>]</a:t>
            </a:r>
            <a:br/>
            <a:br/>
            <a:r>
              <a:t>totales = [calcular_total_bruto(v["unidades"], v["precio_unitario"]) for v in ventas]</a:t>
            </a:r>
            <a:br/>
            <a:r>
              <a:t>print(totales)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400">
                <a:solidFill>
                  <a:srgbClr val="F1F5F9"/>
                </a:solidFill>
                <a:latin typeface="Segoe UI Semibold"/>
              </a:defRPr>
            </a:pPr>
            <a:r>
              <a:t>🧪 Práctica y 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Segoe UI"/>
              </a:defRPr>
            </a:pPr>
            <a:r>
              <a:t>Pedir explicación de la pregunta antes de ejecutar.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Segoe UI"/>
              </a:defRPr>
            </a:pPr>
            <a:r>
              <a:t>Leer la salida y justificar cada decisión importante.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Segoe UI"/>
              </a:defRPr>
            </a:pPr>
            <a:r>
              <a:t>Cerrar con una variación pequeña o conclusión breve.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Segoe UI"/>
              </a:defRPr>
            </a:pPr>
            <a:r>
              <a:t>La clase 02 traslada estas bases a tablas con pandas.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400">
                <a:solidFill>
                  <a:srgbClr val="F1F5F9"/>
                </a:solidFill>
                <a:latin typeface="Segoe UI Semibold"/>
              </a:defRPr>
            </a:pPr>
            <a:r>
              <a:t>📚 Materiales del módulo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258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Archivos que conviene mostrar o entregar al grupo.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Disponible: README.md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Disponible: slides.md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Disponible: teoria.md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Disponible: ejercicios.md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Disponible: homework.md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Disponible: notebook.ipynb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Disponible: soluciones.ipynb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