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3D3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371600"/>
          </a:xfrm>
          <a:prstGeom prst="rect">
            <a:avLst/>
          </a:prstGeom>
          <a:noFill/>
        </p:spPr>
        <p:txBody>
          <a:bodyPr wrap="square">
            <a:spAutoFit/>
          </a:bodyPr>
          <a:lstStyle/>
          <a:p>
            <a:r>
              <a:rPr sz="2000" b="1">
                <a:solidFill>
                  <a:srgbClr val="E6F5F5"/>
                </a:solidFill>
              </a:rPr>
              <a:t>Clase 28</a:t>
            </a:r>
          </a:p>
        </p:txBody>
      </p:sp>
      <p:sp>
        <p:nvSpPr>
          <p:cNvPr id="4" name="TextBox 3"/>
          <p:cNvSpPr txBox="1"/>
          <p:nvPr/>
        </p:nvSpPr>
        <p:spPr>
          <a:xfrm>
            <a:off x="457200" y="2286000"/>
            <a:ext cx="10972800" cy="2286000"/>
          </a:xfrm>
          <a:prstGeom prst="rect">
            <a:avLst/>
          </a:prstGeom>
          <a:noFill/>
        </p:spPr>
        <p:txBody>
          <a:bodyPr wrap="square">
            <a:spAutoFit/>
          </a:bodyPr>
          <a:lstStyle/>
          <a:p>
            <a:r>
              <a:rPr sz="3200" b="1">
                <a:solidFill>
                  <a:srgbClr val="FFFFFF"/>
                </a:solidFill>
              </a:rPr>
              <a:t>Etica Sesgo Y Privacidad</a:t>
            </a:r>
          </a:p>
        </p:txBody>
      </p:sp>
      <p:sp>
        <p:nvSpPr>
          <p:cNvPr id="5" name="TextBox 4"/>
          <p:cNvSpPr txBox="1"/>
          <p:nvPr/>
        </p:nvSpPr>
        <p:spPr>
          <a:xfrm>
            <a:off x="914400" y="4754880"/>
            <a:ext cx="10058400" cy="914400"/>
          </a:xfrm>
          <a:prstGeom prst="rect">
            <a:avLst/>
          </a:prstGeom>
          <a:noFill/>
        </p:spPr>
        <p:txBody>
          <a:bodyPr wrap="none">
            <a:spAutoFit/>
          </a:bodyPr>
          <a:lstStyle/>
          <a:p>
            <a:r>
              <a:rPr sz="1400">
                <a:solidFill>
                  <a:srgbClr val="E6F5F5"/>
                </a:solidFill>
              </a:rPr>
              <a:t>Bootcamp Python para Data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F3D3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914400"/>
          </a:xfrm>
          <a:prstGeom prst="rect">
            <a:avLst/>
          </a:prstGeom>
          <a:noFill/>
        </p:spPr>
        <p:txBody>
          <a:bodyPr wrap="none">
            <a:spAutoFit/>
          </a:bodyPr>
          <a:lstStyle/>
          <a:p>
            <a:r>
              <a:rPr sz="2400" b="1">
                <a:solidFill>
                  <a:srgbClr val="FFFFFF"/>
                </a:solidFill>
              </a:rPr>
              <a:t>Objetivo de la clase</a:t>
            </a:r>
          </a:p>
        </p:txBody>
      </p:sp>
      <p:sp>
        <p:nvSpPr>
          <p:cNvPr id="4" name="TextBox 3"/>
          <p:cNvSpPr txBox="1"/>
          <p:nvPr/>
        </p:nvSpPr>
        <p:spPr>
          <a:xfrm>
            <a:off x="914400" y="1645920"/>
            <a:ext cx="10058400" cy="2743200"/>
          </a:xfrm>
          <a:prstGeom prst="rect">
            <a:avLst/>
          </a:prstGeom>
          <a:noFill/>
        </p:spPr>
        <p:txBody>
          <a:bodyPr wrap="square">
            <a:spAutoFit/>
          </a:bodyPr>
          <a:lstStyle/>
          <a:p>
            <a:r>
              <a:rPr sz="1800">
                <a:solidFill>
                  <a:srgbClr val="0F3D3E"/>
                </a:solidFill>
              </a:rPr>
              <a:t>Comprender por qué la ética no es un tema opcional en ciencia de datos, sino una responsabilidad fundamental del profesional. En esta clase exploraremos qué es el sesgo en datos, cómo detectarlo, qué principios rigen la privacidad de las personas y cómo construir modelos más justos y transparentes.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F3D3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914400"/>
          </a:xfrm>
          <a:prstGeom prst="rect">
            <a:avLst/>
          </a:prstGeom>
          <a:noFill/>
        </p:spPr>
        <p:txBody>
          <a:bodyPr wrap="none">
            <a:spAutoFit/>
          </a:bodyPr>
          <a:lstStyle/>
          <a:p>
            <a:r>
              <a:rPr sz="2400" b="1">
                <a:solidFill>
                  <a:srgbClr val="FFFFFF"/>
                </a:solidFill>
              </a:rPr>
              <a:t>Temas clave</a:t>
            </a:r>
          </a:p>
        </p:txBody>
      </p:sp>
      <p:sp>
        <p:nvSpPr>
          <p:cNvPr id="4" name="TextBox 3"/>
          <p:cNvSpPr txBox="1"/>
          <p:nvPr/>
        </p:nvSpPr>
        <p:spPr>
          <a:xfrm>
            <a:off x="914400" y="1645920"/>
            <a:ext cx="10058400" cy="4114800"/>
          </a:xfrm>
          <a:prstGeom prst="rect">
            <a:avLst/>
          </a:prstGeom>
          <a:noFill/>
        </p:spPr>
        <p:txBody>
          <a:bodyPr wrap="square">
            <a:spAutoFit/>
          </a:bodyPr>
          <a:lstStyle/>
          <a:p>
            <a:r>
              <a:rPr sz="1600">
                <a:solidFill>
                  <a:srgbClr val="505050"/>
                </a:solidFill>
              </a:rPr>
              <a:t>• `datasets/estudiantes.csv`</a:t>
            </a:r>
          </a:p>
          <a:p>
            <a:r>
              <a:rPr sz="1600">
                <a:solidFill>
                  <a:srgbClr val="505050"/>
                </a:solidFill>
              </a:rPr>
              <a:t>• Identificar distintos tipos de sesgo en un dataset real, detectar disparidades en distribuciones por grupo demográfico, explicar los principios básicos de privacidad y responsabilidad en el uso de datos</a:t>
            </a:r>
          </a:p>
          <a:p>
            <a:r>
              <a:rPr sz="1600">
                <a:solidFill>
                  <a:srgbClr val="505050"/>
                </a:solidFill>
              </a:rPr>
              <a:t>• Sesgo histórico, de muestreo y de medición</a:t>
            </a:r>
          </a:p>
          <a:p>
            <a:r>
              <a:rPr sz="1600">
                <a:solidFill>
                  <a:srgbClr val="505050"/>
                </a:solidFill>
              </a:rPr>
              <a:t>• Métricas de equidad: paridad demográfica y equalized odds</a:t>
            </a:r>
          </a:p>
          <a:p>
            <a:r>
              <a:rPr sz="1600">
                <a:solidFill>
                  <a:srgbClr val="505050"/>
                </a:solidFill>
              </a:rPr>
              <a:t>• Privacidad, anonimización y GDPR</a:t>
            </a:r>
          </a:p>
          <a:p>
            <a:r>
              <a:rPr sz="1600">
                <a:solidFill>
                  <a:srgbClr val="505050"/>
                </a:solidFill>
              </a:rPr>
              <a:t>• Transparencia de modelos y valores SHAP</a:t>
            </a:r>
          </a:p>
          <a:p>
            <a:r>
              <a:rPr sz="1600">
                <a:solidFill>
                  <a:srgbClr val="505050"/>
                </a:solidFill>
              </a:rPr>
              <a:t>• Principios de IA Responsable</a:t>
            </a:r>
          </a:p>
          <a:p>
            <a:r>
              <a:rPr sz="1600">
                <a:solidFill>
                  <a:srgbClr val="505050"/>
                </a:solidFill>
              </a:rPr>
              <a:t>• `README.md`, `slides.md`, `teoria.md`, `ejercicios.md`, `homework.md`, `notebook.ipynb`, `soluciones.ipynb`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F3D3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914400"/>
          </a:xfrm>
          <a:prstGeom prst="rect">
            <a:avLst/>
          </a:prstGeom>
          <a:noFill/>
        </p:spPr>
        <p:txBody>
          <a:bodyPr wrap="none">
            <a:spAutoFit/>
          </a:bodyPr>
          <a:lstStyle/>
          <a:p>
            <a:r>
              <a:rPr sz="2200" b="1">
                <a:solidFill>
                  <a:srgbClr val="FFFFFF"/>
                </a:solidFill>
              </a:rPr>
              <a:t>📊 Slides — Clase 28: Ética, sesgo y privacidad en datos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F3D3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914400"/>
          </a:xfrm>
          <a:prstGeom prst="rect">
            <a:avLst/>
          </a:prstGeom>
          <a:noFill/>
        </p:spPr>
        <p:txBody>
          <a:bodyPr wrap="none">
            <a:spAutoFit/>
          </a:bodyPr>
          <a:lstStyle/>
          <a:p>
            <a:r>
              <a:rPr sz="2200" b="1">
                <a:solidFill>
                  <a:srgbClr val="FFFFFF"/>
                </a:solidFill>
              </a:rPr>
              <a:t>Slide 1: ¿Por qué ética en datos?</a:t>
            </a:r>
          </a:p>
        </p:txBody>
      </p:sp>
      <p:sp>
        <p:nvSpPr>
          <p:cNvPr id="4" name="TextBox 3"/>
          <p:cNvSpPr txBox="1"/>
          <p:nvPr/>
        </p:nvSpPr>
        <p:spPr>
          <a:xfrm>
            <a:off x="914400" y="1645920"/>
            <a:ext cx="10058400" cy="4114800"/>
          </a:xfrm>
          <a:prstGeom prst="rect">
            <a:avLst/>
          </a:prstGeom>
          <a:noFill/>
        </p:spPr>
        <p:txBody>
          <a:bodyPr wrap="square">
            <a:spAutoFit/>
          </a:bodyPr>
          <a:lstStyle/>
          <a:p>
            <a:r>
              <a:rPr sz="1500">
                <a:solidFill>
                  <a:srgbClr val="505050"/>
                </a:solidFill>
              </a:rPr>
              <a:t>• ¿A quién se contrata?</a:t>
            </a:r>
          </a:p>
          <a:p>
            <a:r>
              <a:rPr sz="1500">
                <a:solidFill>
                  <a:srgbClr val="505050"/>
                </a:solidFill>
              </a:rPr>
              <a:t>• ¿A quién se le aprueba un préstamo?</a:t>
            </a:r>
          </a:p>
          <a:p>
            <a:r>
              <a:rPr sz="1500">
                <a:solidFill>
                  <a:srgbClr val="505050"/>
                </a:solidFill>
              </a:rPr>
              <a:t>• ¿A quién muestra el algoritmo una oferta de trabajo?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F3D3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914400"/>
          </a:xfrm>
          <a:prstGeom prst="rect">
            <a:avLst/>
          </a:prstGeom>
          <a:noFill/>
        </p:spPr>
        <p:txBody>
          <a:bodyPr wrap="none">
            <a:spAutoFit/>
          </a:bodyPr>
          <a:lstStyle/>
          <a:p>
            <a:r>
              <a:rPr sz="2200" b="1">
                <a:solidFill>
                  <a:srgbClr val="FFFFFF"/>
                </a:solidFill>
              </a:rPr>
              <a:t>Slide 2: Casos reales de algoritmos injustos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F3D3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914400"/>
          </a:xfrm>
          <a:prstGeom prst="rect">
            <a:avLst/>
          </a:prstGeom>
          <a:noFill/>
        </p:spPr>
        <p:txBody>
          <a:bodyPr wrap="none">
            <a:spAutoFit/>
          </a:bodyPr>
          <a:lstStyle/>
          <a:p>
            <a:r>
              <a:rPr sz="2200" b="1">
                <a:solidFill>
                  <a:srgbClr val="FFFFFF"/>
                </a:solidFill>
              </a:rPr>
              <a:t>Slide 3: ¿Qué es el sesgo en datos?</a:t>
            </a:r>
          </a:p>
        </p:txBody>
      </p:sp>
      <p:sp>
        <p:nvSpPr>
          <p:cNvPr id="4" name="TextBox 3"/>
          <p:cNvSpPr txBox="1"/>
          <p:nvPr/>
        </p:nvSpPr>
        <p:spPr>
          <a:xfrm>
            <a:off x="914400" y="1645920"/>
            <a:ext cx="10058400" cy="4114800"/>
          </a:xfrm>
          <a:prstGeom prst="rect">
            <a:avLst/>
          </a:prstGeom>
          <a:noFill/>
        </p:spPr>
        <p:txBody>
          <a:bodyPr wrap="square">
            <a:spAutoFit/>
          </a:bodyPr>
          <a:lstStyle/>
          <a:p>
            <a:r>
              <a:rPr sz="1500">
                <a:solidFill>
                  <a:srgbClr val="505050"/>
                </a:solidFill>
              </a:rPr>
              <a:t>• Los datos reflejan desigualdades pasadas</a:t>
            </a:r>
          </a:p>
          <a:p>
            <a:r>
              <a:rPr sz="1500">
                <a:solidFill>
                  <a:srgbClr val="505050"/>
                </a:solidFill>
              </a:rPr>
              <a:t>• Ejemplo: datos de contratación de 20 años con pocas mujeres en liderazgo</a:t>
            </a:r>
          </a:p>
          <a:p>
            <a:r>
              <a:rPr sz="1500">
                <a:solidFill>
                  <a:srgbClr val="505050"/>
                </a:solidFill>
              </a:rPr>
              <a:t>• Algunos grupos están subrepresentados en el dataset</a:t>
            </a:r>
          </a:p>
          <a:p>
            <a:r>
              <a:rPr sz="1500">
                <a:solidFill>
                  <a:srgbClr val="505050"/>
                </a:solidFill>
              </a:rPr>
              <a:t>• Ejemplo: un modelo de salud entrenado solo con pacientes de ciudad</a:t>
            </a:r>
          </a:p>
          <a:p>
            <a:r>
              <a:rPr sz="1500">
                <a:solidFill>
                  <a:srgbClr val="505050"/>
                </a:solidFill>
              </a:rPr>
              <a:t>• La variable que medimos no captura lo que queremos medir</a:t>
            </a:r>
          </a:p>
          <a:p>
            <a:r>
              <a:rPr sz="1500">
                <a:solidFill>
                  <a:srgbClr val="505050"/>
                </a:solidFill>
              </a:rPr>
              <a:t>• Ejemplo: usar "arrestos previos" como proxy de peligrosidad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F3D3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914400"/>
          </a:xfrm>
          <a:prstGeom prst="rect">
            <a:avLst/>
          </a:prstGeom>
          <a:noFill/>
        </p:spPr>
        <p:txBody>
          <a:bodyPr wrap="none">
            <a:spAutoFit/>
          </a:bodyPr>
          <a:lstStyle/>
          <a:p>
            <a:r>
              <a:rPr sz="2200" b="1">
                <a:solidFill>
                  <a:srgbClr val="FFFFFF"/>
                </a:solidFill>
              </a:rPr>
              <a:t>Slide 4: ¿Cómo detectar sesgo?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F3D3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914400"/>
          </a:xfrm>
          <a:prstGeom prst="rect">
            <a:avLst/>
          </a:prstGeom>
          <a:noFill/>
        </p:spPr>
        <p:txBody>
          <a:bodyPr wrap="none">
            <a:spAutoFit/>
          </a:bodyPr>
          <a:lstStyle/>
          <a:p>
            <a:r>
              <a:rPr sz="2200" b="1">
                <a:solidFill>
                  <a:srgbClr val="FFFFFF"/>
                </a:solidFill>
              </a:rPr>
              <a:t>Distribución por grupo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F3D3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914400"/>
          </a:xfrm>
          <a:prstGeom prst="rect">
            <a:avLst/>
          </a:prstGeom>
          <a:noFill/>
        </p:spPr>
        <p:txBody>
          <a:bodyPr wrap="none">
            <a:spAutoFit/>
          </a:bodyPr>
          <a:lstStyle/>
          <a:p>
            <a:r>
              <a:rPr sz="2200" b="1">
                <a:solidFill>
                  <a:srgbClr val="FFFFFF"/>
                </a:solidFill>
              </a:rPr>
              <a:t>Slide 5: Métricas de equidad</a:t>
            </a:r>
          </a:p>
        </p:txBody>
      </p:sp>
      <p:sp>
        <p:nvSpPr>
          <p:cNvPr id="4" name="TextBox 3"/>
          <p:cNvSpPr txBox="1"/>
          <p:nvPr/>
        </p:nvSpPr>
        <p:spPr>
          <a:xfrm>
            <a:off x="914400" y="1645920"/>
            <a:ext cx="10058400" cy="4114800"/>
          </a:xfrm>
          <a:prstGeom prst="rect">
            <a:avLst/>
          </a:prstGeom>
          <a:noFill/>
        </p:spPr>
        <p:txBody>
          <a:bodyPr wrap="square">
            <a:spAutoFit/>
          </a:bodyPr>
          <a:lstStyle/>
          <a:p>
            <a:r>
              <a:rPr sz="1500">
                <a:solidFill>
                  <a:srgbClr val="505050"/>
                </a:solidFill>
              </a:rPr>
              <a:t>• El modelo predice resultados positivos con la misma tasa para todos los grupos</a:t>
            </a:r>
          </a:p>
          <a:p>
            <a:r>
              <a:rPr sz="1500">
                <a:solidFill>
                  <a:srgbClr val="505050"/>
                </a:solidFill>
              </a:rPr>
              <a:t>• `P(ŷ=1 | grupo=A) = P(ŷ=1 | grupo=B)`</a:t>
            </a:r>
          </a:p>
          <a:p>
            <a:r>
              <a:rPr sz="1500">
                <a:solidFill>
                  <a:srgbClr val="505050"/>
                </a:solidFill>
              </a:rPr>
              <a:t>• El modelo tiene la misma tasa de verdaderos positivos Y falsos positivos en todos los grupos</a:t>
            </a:r>
          </a:p>
          <a:p>
            <a:r>
              <a:rPr sz="1500">
                <a:solidFill>
                  <a:srgbClr val="505050"/>
                </a:solidFill>
              </a:rPr>
              <a:t>• Más exigente que paridad demográfica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F3D3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914400"/>
          </a:xfrm>
          <a:prstGeom prst="rect">
            <a:avLst/>
          </a:prstGeom>
          <a:noFill/>
        </p:spPr>
        <p:txBody>
          <a:bodyPr wrap="none">
            <a:spAutoFit/>
          </a:bodyPr>
          <a:lstStyle/>
          <a:p>
            <a:r>
              <a:rPr sz="2200" b="1">
                <a:solidFill>
                  <a:srgbClr val="FFFFFF"/>
                </a:solidFill>
              </a:rPr>
              <a:t>Slide 6: Privacidad de datos</a:t>
            </a:r>
          </a:p>
        </p:txBody>
      </p:sp>
      <p:sp>
        <p:nvSpPr>
          <p:cNvPr id="4" name="TextBox 3"/>
          <p:cNvSpPr txBox="1"/>
          <p:nvPr/>
        </p:nvSpPr>
        <p:spPr>
          <a:xfrm>
            <a:off x="914400" y="1645920"/>
            <a:ext cx="10058400" cy="4114800"/>
          </a:xfrm>
          <a:prstGeom prst="rect">
            <a:avLst/>
          </a:prstGeom>
          <a:noFill/>
        </p:spPr>
        <p:txBody>
          <a:bodyPr wrap="square">
            <a:spAutoFit/>
          </a:bodyPr>
          <a:lstStyle/>
          <a:p>
            <a:r>
              <a:rPr sz="1500">
                <a:solidFill>
                  <a:srgbClr val="505050"/>
                </a:solidFill>
              </a:rPr>
              <a:t>• Ley europea que protege datos personales</a:t>
            </a:r>
          </a:p>
          <a:p>
            <a:r>
              <a:rPr sz="1500">
                <a:solidFill>
                  <a:srgbClr val="505050"/>
                </a:solidFill>
              </a:rPr>
              <a:t>• Multas de hasta el 4% de la facturación anual global</a:t>
            </a:r>
          </a:p>
          <a:p>
            <a:r>
              <a:rPr sz="1500">
                <a:solidFill>
                  <a:srgbClr val="505050"/>
                </a:solidFill>
              </a:rPr>
              <a:t>• Aplica si tus usuarios son europeos, sin importar dónde está la empresa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3D3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828800"/>
          </a:xfrm>
          <a:prstGeom prst="rect">
            <a:avLst/>
          </a:prstGeom>
          <a:noFill/>
        </p:spPr>
        <p:txBody>
          <a:bodyPr wrap="none">
            <a:spAutoFit/>
          </a:bodyPr>
          <a:lstStyle/>
          <a:p>
            <a:r>
              <a:rPr sz="4000" b="1">
                <a:solidFill>
                  <a:srgbClr val="FFFFFF"/>
                </a:solidFill>
              </a:rPr>
              <a:t>A practicar</a:t>
            </a:r>
          </a:p>
        </p:txBody>
      </p:sp>
      <p:sp>
        <p:nvSpPr>
          <p:cNvPr id="4" name="TextBox 3"/>
          <p:cNvSpPr txBox="1"/>
          <p:nvPr/>
        </p:nvSpPr>
        <p:spPr>
          <a:xfrm>
            <a:off x="1828800" y="3840480"/>
            <a:ext cx="8229600" cy="914400"/>
          </a:xfrm>
          <a:prstGeom prst="rect">
            <a:avLst/>
          </a:prstGeom>
          <a:noFill/>
        </p:spPr>
        <p:txBody>
          <a:bodyPr wrap="none">
            <a:spAutoFit/>
          </a:bodyPr>
          <a:lstStyle/>
          <a:p>
            <a:r>
              <a:rPr sz="1800" b="0">
                <a:solidFill>
                  <a:srgbClr val="E6F5F5"/>
                </a:solidFill>
              </a:rPr>
              <a:t>Clase 28 — Etica Sesgo Y Privacidad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