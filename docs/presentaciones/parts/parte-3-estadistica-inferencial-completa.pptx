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Segoe UI Semibold"/>
              </a:defRPr>
            </a:pPr>
            <a:r>
              <a:rPr sz="3600" b="1">
                <a:solidFill>
                  <a:srgbClr val="0F172A"/>
                </a:solidFill>
                <a:latin typeface="Segoe UI Semibold"/>
              </a:rPr>
              <a:t>Parte 3 — Parte 3 — Estadística Inferencial y Causal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475569"/>
                </a:solidFill>
                <a:latin typeface="Segoe UI"/>
              </a:defRPr>
            </a:pPr>
            <a:r>
              <a:rPr sz="1800" b="0">
                <a:solidFill>
                  <a:srgbClr val="475569"/>
                </a:solidFill>
                <a:latin typeface="Segoe UI"/>
              </a:rPr>
              <a:t>⬅ Volver al programa ·  Índice completo ·  Parte anterior ·  Parte siguiente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Parte 3 — Índice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Página 1 de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175 — Clase 175 — Distribuciones: normal, binomial, Poisson, exponencial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176 — Clase 176 — Test t (una muestra, dos muestras, pareado)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177 — Clase 177 — Effect size dedicado: Cohen's d, Hedges' g, Cliff's δ con pingouin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178 — Clase 178 — Test chi-cuadrado de independencia y bondad de ajuste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179 — Clase 179 — ANOVA (one-way, two-way)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180 — Clase 180 — Tests no paramétricos: Mann-Whitney, Wilcoxon, Kruskal-Wallis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181 — Clase 181 — Corrección de comparaciones múltiples (Bonferroni, FDR)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182 — Clase 182 — Intervalos de confianza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183 — Clase 183 — Bootstrap y permutation tests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184 — Clase 184 — BCa bootstrap y APIs modernas de scipy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185 — Clase 185 — A/B testing: tamaño de muestra, poder estadístico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186 — Clase 186 — CUPED, sequential testing, always-valid p-values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187 — Clase 187 — Diseño experimental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188 — Clase 188 — Inferencia causal: DAGs, confounders, instrumentos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Parte 3 — Índice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Página 2 de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189 — Clase 189 — DoubleML / EconML: Machine Learning para causalidad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190 — Clase 190 — Uplift modeling, DiD (difference-in-differences)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191 — Clase 191 — Synthetic Control Method dedicado (pysyncon, SparseSC)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192 — Clase 192 — Bayes intro: priors, posterior, MCMC con PyMC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193 — Clase 193 — Stack bayesiano moderno: PyMC v5, NumPyro, ArviZ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175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175 — Distribuciones: normal, binomial, Poisson, exponencial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175 — Distribuciones: normal, binomial, Poisson, exponencial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ISLP, cap. 2 + Bruce &amp; Bruce, cap. 2 Data and Sampling Distributions.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Reconocer las cuatro distribuciones de probabilidad que aparecen en el 90 % de los problemas reales de data science —normal, binomial, Poisson, exponencial— sabiendo qué fenómeno modela cada una, cuáles son sus parámetros, cómo simularlas con scipy.stats / numpy.random, y cómo verificar empíricamente si los datos realmente siguen esa distribución antes de aplicar un test que la asuma.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la distribución apropiada para un fenómeno descrito en lenguaje natural (conteos raros → Poisson, éxitos/fracasos → binomial, tiempos entre eventos → exponencial, sumas/promedios → normal por TCL).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media, varianza y cuantiles teóricos con scipy.stats.{norm, binom, poisson, expon} (.mean(), .var(), .ppf(), .pdf()/.pmf()).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Simular muestras con rng = np.random.default_rng(seed) y comparar histograma vs PDF/PMF teórica.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un Q-Q plot (scipy.stats.probplot) y un Kolmogorov-Smirnov (scipy.stats.kstest) para validar normalidad.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cuándo el Teorema Central del Límite justifica usar normal aunque los datos crudos no lo sean.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175 — Distribuciones: normal, binomial, Poisson, exponencial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Distribución normal N(μ, σ²)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Distribución binomial Bin(n, p)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Distribución de Poisson Poi(λ)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Distribución exponencial Exp(λ)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Teorema Central del Límite (TCL)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Verificación empírica: Q-Q plot + KS test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175 — Distribuciones: normal, binomial, Poisson, exponencial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Simétrica, soporte en toda la recta. Base de t-test, ANOVA e intervalos de confianza. Verificamos la regla 68-95-99.7.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 import stats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mu, sigma = 100.0, 15.0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rng.normal(mu, sigma, 10_000)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print(f"Normal N(100, 15^2): media={x.mean():.2f}  sd={x.std(ddof=1):.2f}")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for k in (1, 2, 3):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frac = np.mean(np.abs(x - mu) &lt; k * sigma)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print(f"  dentro de {k} sigma: {frac:.3f}")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frac1 = np.mean(np.abs(x - mu) &lt; sigma)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assert abs(frac1 - 0.683) &lt; 0.02, "la regla 68-95-99.7 debe cumplirse"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grid = np.linspace(mu - 4*sigma, mu + 4*sigma, 200)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plt.figure(figsize=(7, 4))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plt.hist(x, bins=50, density=True, alpha=0.5, label="muestra")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175 — Distribuciones: normal, binomial, Poisson, exponencial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Simulación y PDF/PMF: con rng = np.random.default_rng(42), generá 10 000 muestras de cada una de las 4 distribuciones con parámetros razonables.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Cuantiles: calculá scipy.stats.norm(loc=100, scale=15).ppf([0.025, 0.5, 0.975]) (IQ test → IC 95 % poblacional) y verificá que el 2.5 % y 97.5 % muestrales de una simulación con n=100_000 se acerquen.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TCL en acción: tomá Exp(λ=1) (claramente no normal).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Q-Q plot: scipy.stats.probplot(tips.total_bill, dist='norm', plot=plt).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¿Poisson o no?: con los conteos por hora del dataset sintético, calculá mean() y var().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Carga tips.total_bill de seaborn.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Genera un Q-Q plot contra 'norm' y otro contra 'lognorm'.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Aplica scipy.stats.kstest contra ambas (estandarizando los datos).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Concluye por escrito qué distribución modela mejor total_bill y por qué (≤ 3 líneas).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176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176 — Test t (una muestra, dos muestras, pareado)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176 — Test t (una muestra, dos muestras, pareado)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ISLP, cap. 13 + Bruce &amp; Bruce, cap. 3 Statistical Experiments and Significance Testing.  Duración estimada: 80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aplique correctamente las tres variantes del test t —una muestra, dos muestras independientes (Welch por default), pareado—, distinga hipótesis nula y alternativa, lea p-value e intervalo de confianza de la salida de scipy.stats y pingouin, y aprenda a reportar effect size (Cohen's d, Hedges' g) junto con el p-value para no caer en la trampa de "significativo pero irrelevante".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Formular H₀ y H₁ (bilateral / unilateral) para un problema concreto y elegir la variante correcta del test 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Ejecutar scipy.stats.ttest_1samp, ttest_ind(equal_var=False) y ttest_rel, interpretando el statistic, pvalue y el atributo .confidence_interval() (scipy ≥ 1.10).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Verificar supuestos: normalidad por grupo (Shapiro / Q-Q plot) o invocar TCL si n ≥ 30.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entre test bilateral vs unilateral sin caer en p-hacking (la dirección debe estar fijada antes de mirar los datos).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Reportar effect size: Cohen's d, Hedges' g corregido para muestras chicas, y su interpretación cualitativa (small/medium/large).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176 — Test t (una muestra, dos muestras, pareado)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H₀ / H₁, errores tipo I (α) y tipo II (β).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Test t de una muestra: t = (x̄ - μ₀) / (s/√n), gl = n - 1.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Test t de dos muestras independientes: Welch (varianzas distintas, default moderno) vs Student (varianzas iguales — supuesto fuerte, casi nunca correcto).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Test t pareado (mismo sujeto antes/después).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p-value: probabilidad bajo H₀ de observar algo al menos tan extremo. NO es P(H₀ | datos).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Intervalo de confianza al 95 % como complemento del p-value.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Complemento moderno: effect size (Cohen's d, Hedges' g, Cliff's δ) — la pregunta "¿es relevante?" que el p-value no responde.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176 — Test t (una muestra, dos muestras, pareado)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H₀: μ = 20 vs H₁: μ ≠ 20. El IC95 % y el p-value son la misma información: si el IC excluye 20, se rechaza H₀.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 import stats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total_bill = rng.normal(21.5, 8, 200)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res = stats.ttest_1samp(total_bill, popmean=20)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ci = res.confidence_interval(0.95)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print("H0: μ=20  vs  H1: μ≠20")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print(f"t={res.statistic:.3f}  p={res.pvalue:.4f}  IC95%=({ci.low:.2f}, {ci.high:.2f})")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print("Rechazo H0" if res.pvalue &lt; 0.05 else "No rechazo H0")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excluye_20 = ci.low &gt; 20 or ci.high &lt; 20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assert (res.pvalue &lt; 0.05) == excluye_20, "p-value e IC deben concordar"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176 — Test t (una muestra, dos muestras, pareado)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Una muestra: con tips.total_bill, testá H₀: μ = 20 vs H₁: μ ≠ 20 con scipy.stats.ttest_1samp(tips.total_bill, popmean=20).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Dos muestras (Welch): testá si tip difiere entre sex='Male' y sex='Female' con ttest_ind(equal_var=False).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Pareado: simulá presión arterial antes/después de un fármaco con rng = np.random.default_rng(0): antes = rng.normal(140, 12, 30), despues = antes - rng.normal(5, 3, 30).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Bilateral vs unilateral: para el ejercicio 2, repetí con alternative='greater' y 'less'.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Significativo vs relevante: generá grupo_a = rng.normal(100, 15, 10_000) y grupo_b = rng.normal(100.5, 15, 10_000).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Hipótesis: la propina promedio es distinta para time='Lunch' y time='Dinner'.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Verificar normalidad de cada grupo con pingouin.normality (Shapiro).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Ejecutar pingouin.ttest y reportar: T, gl, p-value, IC95 %, Cohen's d, power.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Una conclusión de 3 líneas que mencione (a) si rechazás H₀, (b) la magnitud del efecto en palabras (small/medium/large), (c) si recomendarías ese hallazgo a un dueño de restaurante.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177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177 — Effect size dedicado: Cohen's d, Hedges' g, Cliff's δ con pingouin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177 — Effect size dedicado: Cohen's d, Hedges' g, Cliff's δ con pingouin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Cohen (1988) + Lakens (2013) + Vallat (2018) pingouin. 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Dominar effect size —la métrica que el p-value no responde: "cuán grande es la diferencia"—. Cubrir 6 medidas: Cohen's d (means, varianzas similares), Hedges' g (bias-corrected para n chico), Glass's Δ (varianza del control como denominador), Cliff's δ (no paramétrico), r de correlación, odds ratio. Aplicar con pingouin en una sola llamada. Reportar correctamente: APA 7 lo exige.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Cohen's d a mano y con pingouin.compute_effsize.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la corrección de Hedges (recomendada cuando n &lt; 50/grupo).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Interpretar magnitudes (Cohen 1988): 0.2 / 0.5 / 0.8 = small / medium / large.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Cliff's δ para datos ordinales / muy asimétricos.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Reportar effect size con IC95 % bootstrap.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177 — Effect size dedicado: Cohen's d, Hedges' g, Cliff's δ con pingouin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Cohen's d: (x̄₁ - x̄₂) / s_pooled.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Hedges' g: d · (1 - 3/(4·gl - 1)).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Glass's Δ: usar s_control como denominator. Útil cuando control y treatment tienen varianza distinta.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Cliff's δ: probabilistic dominance.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Effect size para correlación: r (= Pearson) o R².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Effect size para chi-cuadrado: Cramér's V, phi.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IC95 % de effect size: bootstrap o fórmulas paramétricas.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177 — Effect size dedicado: Cohen's d, Hedges' g, Cliff's δ con pingouin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p-value dice si hay diferencia; effect size dice cuán grande. Con n grande, p&lt;0.001 con d=0.05 es trivial. Requiere: pip install numpy scipy statsmodels pingouin.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 import stats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Dos grupos con diferencia de medias controlada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n1, n2 = 60, 60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x1 = rng.normal(loc=100, scale=15, size=n1)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x2 = rng.normal(loc=108, scale=15, size=n2)  # diff = 8, sd = 15 -&gt; d ~ 0.53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print(f'mean1={x1.mean():.2f}  mean2={x2.mean():.2f}  diff={x2.mean()-x1.mean():.2f}')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177 — Effect size dedicado: Cohen's d, Hedges' g, Cliff's δ con pingouin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Cohen's d a mano: para tip por sex, calcular manualmente con s_pooled.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pingouin.compute_effsize: verificar contra cálculo manual.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Hedges' g: con n=10 por grupo, ver diferencia entre d y g (Hedges &lt; d).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Cliff's δ: para datos Likert ordinales o muy asimétricos, calcular y interpretar.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Effect size + IC: bootstrap del Cohen's d → IC95 %.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Comparar tip por time (Lunch/Dinner) y por day.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Reportar Cohen's d (o Hedges' g si n &lt; 30) con IC95 % bootstrap.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Para day (4 niveles), reportar partial η² del ANOVA.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Conclusión APA-7 estilo: "M ± SD, t(df) = X, p = Y, d [95% CI]".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178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178 — Test chi-cuadrado de independencia y bondad de ajuste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178 — Test chi-cuadrado de independencia y bondad de ajuste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ISLP, cap. 4 + Bruce &amp; Bruce, cap. 3 Chi-Square Test.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Aplicar el test chi-cuadrado de Pearson en sus dos formas: (a) independencia en una tabla de contingencia de dos variables categóricas, y (b) bondad de ajuste entre una distribución observada y una teórica. Reconocer cuándo el test es válido (frecuencias esperadas ≥ 5 por celda) y cuándo hay que recurrir a Fisher exact o a la simulación de Monte Carlo.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una tabla de contingencia con pd.crosstab y aplicar scipy.stats.chi2_contingency interpretando chi2, dof, pvalue y expected.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Verificar el supuesto de frecuencias esperadas mínimas (regla de Cochran: ≥ 5 en ≥ 80 % de celdas).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entre chi-cuadrado, Fisher exact (scipy.stats.fisher_exact, tablas 2×2 con conteos chicos) y chi-cuadrado con simulación (lambda_='log-likelihood' o montecarlo).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Cramér's V como effect size para tablas r×c (análogo al Cohen's d categórico).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bondad de ajuste con scipy.stats.chisquare para validar dados, ruedas de roulette o conteos en bins.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178 — Test chi-cuadrado de independencia y bondad de ajuste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Tablas de contingencia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Estadístico χ² = Σ (O - E)² / 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Grados de libertad (r-1)·(c-1)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Supuesto de E ≥ 5 (Cochran)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Fisher exact para 2×2 con n chico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Cramér's V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Bondad de ajuste vs independencia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178 — Test chi-cuadrado de independencia y bondad de ajuste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H₀: las variables son independientes. Simulamos supervivencia dependiente de la clase (estilo Titanic).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 import stats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 = 1200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clase = rng.choice(["1a", "2a", "3a"], size=n, p=[0.25, 0.20, 0.55])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p_surv = {"1a": 0.62, "2a": 0.43, "3a": 0.24}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survived = np.array([rng.random() &lt; p_surv[c] for c in clase]).astype(int)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tabla = pd.crosstab(pd.Series(survived, name="survived"), pd.Series(clase, name="clase"))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print(tabla)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chi2, p, dof, expected = stats.chi2_contingency(tabla)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print(f"\nχ²={chi2:.2f}  dof={dof}  p={p:.2e}")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assert p &lt; 0.001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178 — Test chi-cuadrado de independencia y bondad de ajuste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Tabla cruzada: pd.crosstab(titanic.survived, titanic['class']).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Effect size: calculá Cramér's V manualmente: V = sqrt(chi2 / (n * min(r-1, c-1))).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Cochran check: imprimí la matriz expected y contá cuántas celdas tienen E &lt; 5.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Fisher exact (2×2): tomá la subtabla survived × sex y aplicá scipy.stats.fisher_exact(tabla_2x2).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Bondad de ajuste: simulá rng = np.random.default_rng(7); tiros = rng.choice([1,2,3,4,5,6], size=600, p=[0.18, 0.16, 0.17, 0.17, 0.16, 0.16]).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Cruza survived × class y survived × sex por separado.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Para cada cruce: chi², gl, p-value, Cramér's V.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Identifica cuál de los dos tiene asociación más fuerte (mayor V) y cuál tiene evidencia estadística más fuerte (menor p).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 3 líneas, explica por qué p y V pueden ordenar distinto cuando n cambia entre comparaciones.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179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179 — ANOVA (one-way, two-way)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179 — ANOVA (one-way, two-way)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ISLP, cap. 13 + Bruce &amp; Bruce, cap. 3 ANOVA.  Duración estimada: 80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aplique ANOVA de una vía (≥ 3 grupos, una variable categórica) y ANOVA de dos vías (dos factores categóricos + interacción), entienda por qué no se hacen "t-tests todos contra todos" (inflación de α) y sepa hacer post-hoc con Tukey HSD. Reconocer los supuestos (independencia, normalidad por grupo, homogeneidad de varianzas) y cuándo usar la alternativa robusta Welch ANOVA o el no paramétrico Kruskal-Wallis (Clase 150).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Plantear H₀: μ₁ = μ₂ = ... = μ_k vs H₁: al menos uno difiere y aplicar scipy.stats.f_oneway o pingouin.anova.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Interpretar F = MS_between / MS_within y su relación con la F-distribution (F(k-1, n-k)).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Welch's ANOVA (pingouin.welch_anova) cuando se viola la homogeneidad de varianzas (Levene rechaza).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Hacer Tukey HSD post-hoc con pingouin.pairwise_tukey y leer los IC ajustados.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Distinguir efectos principales de interacción en ANOVA two-way y graficar interaction plots con seaborn.pointplot.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179 — ANOVA (one-way, two-way)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¿Por qué no t-tests múltiples? Si hacés 10 t-tests al α=0.05, la probabilidad de al menos un falso positivo es ≈ 40 %.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Descomposición de varianza: SS_total = SS_between + SS_within.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F-statistic: razón entre varianza explicada por los grupos y varianza residual.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Supuestos: independencia, normalidad (Shapiro por grupo o residuos), homocedasticidad (Levene/Bartlett).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Welch ANOVA — análogo a Welch's t-test para ≥ 3 grupos.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Post-hoc: Tukey HSD (controla family-wise error rate), Bonferroni, Holm.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Two-way ANOVA: efectos principales A, B, e interacción A×B.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179 — ANOVA (one-way, two-way)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H₀: μ₁ = μ₂ = μ₃. Simulamos la masa corporal de 3 especies de pingüinos. F = MS_between / MS_within.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 import stats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statsmodels.formula.api as smf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statsmodels.stats.anova import anova_lm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statsmodels.stats.multicomp import pairwise_tukeyhsd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adelie    = rng.normal(3700, 460, 150)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gentoo    = rng.normal(5080, 500, 120)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chinstrap = rng.normal(3730, 380, 68)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F, p = stats.f_oneway(adelie, gentoo, chinstrap)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k = 3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 = len(adelie) + len(gentoo) + len(chinstrap)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print(f"One-way ANOVA: F={F:.2f}  p={p:.2e}")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print(f"gl_between={k-1}  gl_within={N-k}")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assert p &lt; 0.001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179 — ANOVA (one-way, two-way)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One-way: aplicá scipy.stats.f_oneway(*[grupo for grupo in penguins.groupby('species').body_mass_g]).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Supuestos: testá normalidad por grupo (pingouin.normality(penguins, dv='body_mass_g', group='species')) y homocedasticidad (pingouin.homoscedasticity).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Post-hoc Tukey: pingouin.pairwise_tukey(data=penguins, dv='body_mass_g', between='species').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Two-way con interacción: pingouin.anova(data=tips, dv='total_bill', between=['day', 'time']).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Interaction plot: sns.pointplot(data=tips, x='day', y='total_bill', hue='time').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ANOVA one-way de flipper_length_mm por species.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Chequear Levene y Shapiro; decidir entre ANOVA clásico y Welch ANOVA, justificando.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Tukey HSD post-hoc.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Reportar ω² (pingouin.anova(... effsize='n2', y calcular ω² manualmente).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Conclusión en 3 líneas: qué pares difieren, magnitud del efecto general (η²/ω²), si hay alguna comparación dudosa.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180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180 — Tests no paramétricos: Mann-Whitney, Wilcoxon, Kruskal-Wallis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180 — Tests no paramétricos: Mann-Whitney, Wilcoxon, Kruskal-Wallis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Bruce &amp; Bruce, cap. 3 Resampling and Non-parametric Tests + Conover, Practical Nonparametric Statistics.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Aplicar las tres alternativas no paramétricas más usadas: Mann-Whitney U (= dos muestras independientes, análogo a Welch's t), Wilcoxon signed-rank (= pareado, análogo a ttest_rel) y Kruskal-Wallis (= ≥ 3 grupos, análogo a ANOVA one-way). Saber cuándo elegirlos sobre los paramétricos: muestras chicas con datos visiblemente asimétricos, datos ordinales (Likert, ranks), o presencia de outliers extremos.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las 3 situaciones en que un test no paramétrico es preferible al paramétrico (n chico + asimetría, ordinal, outliers).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scipy.stats.mannwhitneyu, wilcoxon, kruskal con los argumentos correctos (alternative, method='exact' vs 'asymptotic').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Interpretar que los no paramétricos testean distribuciones (estocásticamente iguales) o medianas, no medias.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Reportar effect size no paramétrico: rank-biserial correlation (Mann-Whitney) o ε² / η²_H (Kruskal-Wallis).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Hacer post-hoc no paramétrico tras Kruskal con Dunn's test (scikit-posthocs) y corrección por múltiples comparaciones.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180 — Tests no paramétricos: Mann-Whitney, Wilcoxon, Kruskal-Wallis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Mann-Whitney U (Wilcoxon rank-sum)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Wilcoxon signed-rank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Kruskal-Wallis H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Dunn's test (post-hoc)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Cliff's δ / rank-biserial 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180 — Tests no paramétricos: Mann-Whitney, Wilcoxon, Kruskal-Wallis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H₀: P(X &gt; Y) = 0.5. Trabaja sobre rangos, no sobre medias. El effect size es la rank-biserial r = 1 - 2U/(n₁·n₂).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 import stats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statsmodels.stats.multitest import multipletests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 = rng.lognormal(1.0, 0.5, 80)     # asimétricos: el t-test es dudoso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b = rng.lognormal(1.25, 0.5, 90)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U, p = stats.mannwhitneyu(a, b, alternative="two-sided")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r_rb = 1 - 2 * U / (len(a) * len(b))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print(f"Mann-Whitney U={U:.0f}  p={p:.4f}")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print(f"rank-biserial r = {r_rb:.3f}")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print(f"medianas: a={np.median(a):.2f}  b={np.median(b):.2f}")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assert p &lt; 0.05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180 — Tests no paramétricos: Mann-Whitney, Wilcoxon, Kruskal-Wallis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Mann-Whitney: comparar tip entre sex con scipy.stats.mannwhitneyu(a, b, alternative='two-sided').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Wilcoxon signed-rank: con el dataset simulado de presión arterial antes/después de la Clase 147, aplicá scipy.stats.wilcoxon(antes, despues).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Outliers: a un dataset normal rng.normal(50, 5, 100) agregale 3 outliers de valor 200.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Kruskal-Wallis: aplicalo a body_mass_g por species en penguins.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Post-hoc Dunn: con scikit_posthocs.posthoc_dunn(penguins, val_col='body_mass_g', group_col='species', p_adjust='holm') identificá qué pares difieren.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Verificar normalidad por grupo (Shapiro o KS). Mostrar que se rechaza.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precio entre 4 vecindarios con Kruskal-Wallis.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Post-hoc Dunn con corrección Holm.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Reportar mediana ± IQR por grupo (no mean ± SD, que es engañoso con asimetría).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conclusiones con las que daría un ANOVA clásico ingenuo.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181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181 — Corrección de comparaciones múltiples (Bonferroni, FDR)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181 — Corrección de comparaciones múltiples (Bonferroni, FDR)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ISLP, cap. 13 Multiple Testing + Benjamini &amp; Hochberg (1995).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Entender por qué hacer 100 tests al α=0.05 produce ≈ 5 falsos positivos esperados aunque todas las H₀ sean verdaderas, y aplicar las dos familias de corrección: family-wise error rate (FWER) con Bonferroni y Holm, y false discovery rate (FDR) con Benjamini-Hochberg (BH). Saber elegir entre ambas según el contexto (medicina/seguridad → FWER; screening exploratorio → FDR).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Cuantificar la inflación de α al hacer k tests independientes: 1 - (1-α)^k.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Bonferroni: α_corregido = α / m. Conservador pero simple.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Holm-Bonferroni (statsmodels.stats.multitest.multipletests(..., method='holm')) — uniformemente más poderoso que Bonferroni.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Benjamini-Hochberg (BH/FDR) y entender que controla la proporción esperada de falsos positivos entre los rechazos, no el FWER.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Distinguir FWER (P[al menos 1 falso positivo] ≤ α) de FDR (E[V/R] ≤ q, donde V son falsos positivos y R rechazos totales).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181 — Corrección de comparaciones múltiples (Bonferroni, FDR)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El problema: si m=20 tests independientes con H₀ verdadera y α=0.05, P(al menos uno rechaza) = 1 - 0.95²⁰ ≈ 64 %.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FWER: probabilidad de al menos 1 falso positivo en toda la familia.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FDR: proporción esperada de falsos positivos entre los rechazos (no entre todos los tests).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Bonferroni: rechazar si p_i ≤ α/m. Controla FWER exactamente.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Holm: ordenar p-values y comparar p_(i) ≤ α/(m-i+1). Uniformemente más poderoso que Bonferroni.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Benjamini-Hochberg (BH): ordenar p_(1) ≤ ... ≤ p_(m); rechazar todos los p_(i) tales que p_(i) ≤ (i/m)·q. Controla FDR a nivel q.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Cuándo usar cada uno: FWER si un falso positivo es catastrófico (drug approval, security). FDR si esperás muchos descubrimientos verdaderos y querés tolerar algunos falsos (genómica, A/B testing masivo).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181 — Corrección de comparaciones múltiples (Bonferroni, FDR)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 m tests independientes y H₀ verdadera, P(≥1 falso positivo) = 1 - (1-α)^m. Lo verificamos por simulación.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 import stats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statsmodels.stats.multitest import multipletests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m = 20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n_exp = 2000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any_sig = 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for _ in range(n_exp):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pvals = [stats.ttest_ind(rng.normal(0, 1, 30), rng.normal(0, 1, 30)).pvalue for _ in range(m)]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any_sig += (min(pvals) &lt; 0.05)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emp = any_sig / n_exp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theo = 1 - 0.95 ** m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print(f"P(≥1 falso positivo): empírico={emp:.3f}  teórico={theo:.3f}")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assert abs(emp - theo) &lt; 0.05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181 — Corrección de comparaciones múltiples (Bonferroni, FDR)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Inflación de α: simulá 10 000 experimentos.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Bonferroni: con un vector pvals de 20 p-values, calculá pvals_adj = np.minimum(pvals * 20, 1) y compará contra multipletests(pvals, method='bonferroni').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Holm: multipletests(pvals, alpha=0.05, method='holm').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BH/FDR: genera 1000 p-values, 950 de Uniform(0,1) y 50 de Beta(0.5, 5) (concentrados cerca de 0 — alternativos).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Comparación: mismo vector del ej.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Para cada feature, t-test entre la clase 0 y la clase 1.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Aplicar tres correcciones: Bonferroni, Holm, BH (q=0.05).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Tabla comparativa: # features significativas según cada método.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Justificar en 3 líneas qué método elegirías si: (a) vas a publicar los hallazgos en un paper médico, (b) usás esto como screening para una etapa siguiente.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182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182 — Intervalos de confianza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182 — Intervalos de confianza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ISLP, cap. 5 + Bruce &amp; Bruce, cap. 2 Confidence Intervals.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Construir e interpretar correctamente intervalos de confianza para media (t-based, z-based, bootstrap) y proporción (Wald, Wilson, Clopper-Pearson), entendiendo que un IC95 % NO significa "95 % de probabilidad de que el parámetro caiga en el intervalo" sino "si repitiéramos el experimento muchas veces, el 95 % de los intervalos construidos contendrían el parámetro". Saber elegir el método según n y la métrica.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un IC para la media usando la distribución t: x̄ ± t_{α/2, n-1} · (s/√n) con scipy.stats.t.interval.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un IC para la proporción con tres métodos y entender cuándo cada uno falla (Wald falla con p cerca de 0/1; Wilson y Clopper-Pearson son robustos).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scipy.stats.bootstrap (≥ 1.7) para IC sin supuestos paramétricos (anticipa Clase 153).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Interpretar correctamente la frase "intervalo de confianza al 95 %" (es una propiedad del procedimiento, no del intervalo específico).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Relacionar IC y test de hipótesis: si el IC95 % de la diferencia no incluye 0, el test bilateral al α=5 % rechaza H₀.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182 — Intervalos de confianza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IC para la media (varianza desconocida): t de Student con n-1 gl.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IC para la media (varianza conocida o n grande): z.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IC para proporción: Wald (p̂ ± z·√(p̂(1-p̂)/n)) vs Wilson score (recomendado por Agresti &amp; Coull 1998) vs Clopper-Pearson (exacto, conservador).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IC bootstrap percentil (anticipa Clase 153).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IC del odds ratio, riesgo relativo (medicina/epidemiología).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Margen de error (ME = z·SE) y cómo determina 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182 — Intervalos de confianza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x̄ ± t_{α/2, n-1}·(s/√n). La t tiene colas más anchas que la normal, lo que ensancha correctamente el IC con n chico.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 import stats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statsmodels.stats.proportion import proportion_confint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rng.normal(20, 8, 200)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 = len(x)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mean, sem = x.mean(), stats.sem(x)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lo, hi = stats.t.interval(0.95, n - 1, loc=mean, scale=sem)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print(f"media={mean:.2f}  IC95% t = ({lo:.2f}, {hi:.2f})")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assert lo &lt; mean &lt; hi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182 — Intervalos de confianza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IC t para la media: con tips.total_bill, calculá el IC95 % con scipy.stats.t.interval(0.95, n-1, loc=mean, scale=sem).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IC para proporción extrema: con rng.binomial(1, 0.03, 100) (proporción de eventos raros), calculá IC con statsmodels.stats.proportion.proportion_confint(count, n, method='normal') (Wald), 'wilson' y 'beta' (Clopper-Pearson).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Cobertura empírica: simulá 5 000 muestras de tamaño 30 de N(50, 10).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Bootstrap IC: con tips.total_bill, aplicá scipy.stats.bootstrap((tips.total_bill,), statistic=np.mean, n_resamples=10_000, method='percentile').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Sample size: querés estimar una proporción con margen de error de ±2 %, asumiendo p̂ ≈ 0.5 (peor caso).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Determinar n requerido para margen de error ±3 % con 95 % de confianza asumiendo p̂ ≈ 0.5.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Simular el experimento con esa n y p_verdadera=0.78.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Construir los 3 IC (Wald, Wilson, Clopper-Pearson) y comparar anchos.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 3 líneas: justificar cuál reportarías y por qué.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183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183 — Bootstrap y permutation tests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183 — Bootstrap y permutation tests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ISLP, cap. 5 Resampling Methods + Efron &amp; Tibshirani, An Introduction to the Bootstrap.  Duración estimada: 85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Sustituir los supuestos paramétricos (normalidad, homocedasticidad, fórmulas cerradas) por resampling: el bootstrap estima la distribución muestral de cualquier estadístico re-muestreando con reemplazo, y los permutation tests calculan un p-value re-mezclando etiquetas de tratamiento. Aprender a usar las APIs modernas de scipy (bootstrap, permutation_test, ≥ 1.9) y a interpretar las tres variantes de IC bootstrap (percentil, basic, BCa).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bootstrap a mano: B resamples con reemplazo del mismo tamaño que la muestra original, calcular el estadístico en cada uno, sacar cuantiles α/2 y 1-α/2.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scipy.stats.bootstrap(data, statistic, n_resamples=9_999, method='BCa') y entender por qué BCa corrige sesgo y asimetría.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Diseñar un permutation test bilateral con scipy.stats.permutation_test((a, b), statistic, n_resamples=10_000, alternative='two-sided').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Saber cuándo usar bootstrap (IC de estadísticos no estándar: mediana, R², AUC) vs permutación (p-value de comparación entre grupos sin supuestos).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las limitaciones del bootstrap (muestra muy chica n&lt;20, dependencia temporal — usar block bootstrap).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183 — Bootstrap y permutation tests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Intuición del bootstrap: "tratá la muestra como si fuera la población y resampleá".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Tres intervalos bootstrap: percentile, basic (reflejado), BCa (bias-corrected + accelerated).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¿Cuántos resamples? B = 10_000 para IC95 % (los percentiles 2.5 y 97.5 se estabilizan).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Permutation test: intercambiar etiquetas de tratamiento bajo H₀ de "no diferencia".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Diferencia conceptual: bootstrap estima variabilidad del estadístico; permutación produce un p-value exacto condicional a los datos.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Block bootstrap para series temporales (preserva autocorrelación).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Complemento moderno: APIs scipy.stats.bootstrap y permutation_test desde scipy 1.9, vectorizadas y con BCa por default.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183 — Bootstrap y permutation tests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 resamples con reemplazo del mismo tamaño; se toman los cuantiles 2.5 % y 97.5 %.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 import stats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tip = rng.gamma(shape=2.0, scale=1.5, size=200)   # asimétrico positivo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B = 10_000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boot_means = np.array([rng.choice(tip, size=len(tip), replace=True).mean() for _ in range(B)])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lo, hi = np.percentile(boot_means, [2.5, 97.5])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sp = stats.bootstrap((tip,), np.mean, n_resamples=B, method="percentile", random_state=rng)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print(f"manual  IC95% = ({lo:.3f}, {hi:.3f})")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print(f"scipy   IC95% = ({sp.confidence_interval.low:.3f}, {sp.confidence_interval.high:.3f})")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assert abs(lo - sp.confidence_interval.low) &lt; 0.1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plt.figure(figsize=(6, 4))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plt.hist(boot_means, bins=50, color="darkorange", alpha=0.7)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plt.axvline(lo, color="k", ls="--"); plt.axvline(hi, color="k", ls="--")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plt.title("Distribución bootstrap de la media (IC95% percentil)")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plt.tight_layout(); plt.show()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183 — Bootstrap y permutation tests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Bootstrap a mano: para tips.tip, hacé B=10_000 resamples con rng.choice(x, size=len(x), replace=True), calculá la media, sacá los cuantiles 2.5 y 97.5.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BCa vs percentile: con datos lognormales rng.lognormal(0, 1, 50), calculá IC de la mediana con method='percentile' y con method='BCa'.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IC para AUC: entrenar un LogisticRegression en breast cancer, calcular AUC en test.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Permutation test bilateral: con tips.tip por sex, ejecutá scipy.stats.permutation_test y comparalo con el mannwhitneyu de la Clase 150.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Cobertura: simulá 1 000 datasets de Exp(1) con n=25.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Bootstrap BCa (B=10 000) para la mediana de price global.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Bootstrap BCa para la diferencia de medianas entre cut='Ideal' y cut='Fair'.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Permutation test sobre la misma diferencia, p-value.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Reportar mediana ± IC95 % BCa por categoría de cut (un gráfico con 5 puntos + bigotes).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Conclusión en 4 líneas: relacionar el p-value de permutación con el hecho de que el IC de la diferencia no incluye 0.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184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184 — BCa bootstrap y APIs modernas de scipy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184 — BCa bootstrap y APIs modernas de scipy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Efron (1987) BCa + DiCiccio &amp; Efron (1996) + scipy.stats.bootstrap docs. 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Profundizar el BCa (Bias-Corrected and accelerated) bootstrap —el default moderno (Efron 1987)— y las APIs modernas de scipy (scipy.stats.bootstrap ≥ 1.9, scipy.stats.permutation_test ≥ 1.8). Cubrir las correcciones que BCa hace sobre percentile clásico: bias correction (z₀) y acceleration (a) vía jackknife.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bootstrap percentile vs basic vs BCa.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z₀ (bias correction) y a (acceleration) manualmente.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scipy.stats.bootstrap((data,), statistic, method='BCa', n_resamples=10_000).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permutation_test para p-value de comparación de 2 grupos sin paramétrica.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cuándo BCa importa: estadísticos no lineales, distribuciones asimétricas.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184 — BCa bootstrap y APIs modernas de scipy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Percentile bootstrap: cuantiles directos. Sub-cubre con asimetría.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Basic bootstrap: reflexión 2θ̂ - q_{1-α/2}.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BCa: corrige bias (z₀) y aceleración (a vía jackknife).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Studentized bootstrap: estandariza con SE bootstrap del SE.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Scipy.stats.bootstrap API.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Permutation test exacto.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184 — BCa bootstrap y APIs modernas de scipy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BCa (bias-corrected accelerated) corrige sesgo y asimetría del bootstrap percentil. Permutation test = inferencia exacta sin asumir distribución. Requiere: pip install numpy scipy.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 import stats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Distribución sesgada (lognormal) — donde percentil bootstrap subperforma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data = rng.lognormal(mean=1.0, sigma=0.6, size=80)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true_mean = np.exp(1.0 + 0.6**2/2)  # E[lognormal]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print(f'sample mean = {data.mean():.3f}  |  true mean = {true_mean:.3f}')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184 — BCa bootstrap y APIs modernas de scipy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Tres ICs: para mediana de x = rng.lognormal(0, 1, 100), calcular IC con percentile, basic, BCa.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z₀ a mano: implementar z₀ = ppf((B_below_θ̂) / B).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 con jackknife: implementar leave-one-out para cada θ̂_(i).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Cobertura empírica: 1000 datasets Exp(1), n=25; cobertura percentile vs BCa.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Permutation_test: comparar dos lognormales con tamaño efecto chico.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LogisticRegression en breast cancer. AUC en test.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Bootstrap BCa de (y_test, y_proba): 5000 resamples.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Reportar AUC [BCa 95% CI].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Comparar con percentile bootstrap (más estrecho, sub-cubre).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185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185 — A/B testing: tamaño de muestra, poder estadístico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185 — A/B testing: tamaño de muestra, poder estadístico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Bruce &amp; Bruce, cap. 3 A/B Testing + Kohavi, Tang &amp; Xu, Trustworthy Online Controlled Experiments (2020).  Duración estimada: 90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Diseñar y analizar un A/B test end-to-end: definir hipótesis y métrica primaria, calcular tamaño de muestra con el poder estadístico deseado, randomizar correctamente, analizar resultados sin peeking y reportar con effect size + IC. Conocer tres herramientas modernas que reducen muestra requerida o eliminan el problema de peeking: CUPED, sequential testing (always-valid p-values) y A/B bayesiano.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n requerido con statsmodels.stats.power.TTestIndPower o NormalIndPower para una MDE (minimum detectable effect) dada, α y poder.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el análisis: t-test (continua) o z-test de proporciones (binaria), con effect size + IC95 %.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y evitar 5 errores clásicos: peeking, p-hacking, no estratificación, SRM (sample ratio mismatch), Simpson's paradox.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CUPED para reducir varianza usando una covariable pre-experimento.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Diseñar un test secuencial con always-valid p-values (Howard et al. 2021) o GST (group sequential testing) que permita parar antes sin inflar α.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185 — A/B testing: tamaño de muestra, poder estadístico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Hipótesis nula vs alternativa en A/B; métrica primaria, guardrails (no degradar latencia, error rate).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Poder estadístico: P(rechazar H₀ | H₁ verdadera). Convención: 80 %.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Sample size: depende de α (0.05), poder (0.8), σ y MDE.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Aleatorización a nivel correcto (usuario vs sesión vs request).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Peeking problem: mirar el resultado intermedio e inflar α.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SRM (Sample Ratio Mismatch): si el ratio observado A/B se aleja del esperado 50/50, hay bug de asignación.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Simpson's paradox: la tendencia global se invierte al estratificar.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185 — A/B testing: tamaño de muestra, poder estadístico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n depende de α, poder (1-β) y del effect size. Para proporciones usamos Cohen's h y NormalIndPower.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 import stats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statsmodels.stats.power import NormalIndPower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statsmodels.stats.proportion import proportion_effectsize, proportions_ztest, confint_proportions_2indep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p0, p1 = 0.10, 0.11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h = proportion_effectsize(p1, p0)   # Cohen's 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n_req = NormalIndPower().solve_power(effect_size=h, alpha=0.05, power=0.8, alternative="two-sided")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print(f"Cohen's h = {h:.4f}")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print(f"n por grupo para detectar 10%→11% (poder 0.8, α=0.05) = {np.ceil(n_req):.0f}")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assert n_req &gt; 5000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185 — A/B testing: tamaño de muestra, poder estadístico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Sample size: querés detectar un uplift de tasa de conversión de 10 % → 11 % con poder 0.8 y α=0.05.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Análisis clásico: simulá el experimento (n=8 000 por grupo, p_A=0.10, p_B=0.108), aplicá z-test de proporciones, reportá p, IC95 % de la diferencia y poder post-hoc.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CUPED: simulá X = rng.normal(50, 10, 2000) y Y = X + ε + 2·tratamiento con ε ~ N(0,5).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Peeking simulado: bajo H₀ verdadera, simulá 1 000 experimentos donde "parás temprano" si p &lt; 0.05 mirando cada 100 obs hasta 5 000.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A/B bayesiano: con A=(1000, 80), B=(1000, 100), calculá P(p_B &gt; p_A) con priors Beta(1,1).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n por grupo para MDE=1 pp absoluto, baseline 10 %, α=0.05, poder=0.8.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Simular el experimento con n calculado y true uplift de 1.2 pp.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Reportar: z-test (p, IC), Cohen's h (effect size para proporciones), análisis bayesiano (P(B &gt; A), expected uplift).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Repetir simulando peeking cada 1 000 obs sin corrección → mostrar inflación de α.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Concluir en 4 líneas: recomendación para producción (frecuentista clásico vs bayesiano vs always-valid).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186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186 — CUPED, sequential testing, always-valid p-values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186 — CUPED, sequential testing, always-valid p-values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Deng et al. (2013) CUPED + Howard et al. (2021) always-valid + Kohavi et al. (2020).  Duración estimada: 85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Aplicar las 3 técnicas modernas que la industria (Microsoft, Netflix, Booking, Spotify) usa para hacer A/B testing más eficientemente: CUPED (variance reduction con covariable pre-experiment), Sequential Testing (mirar el resultado durante el experimento sin inflar α), y always-valid p-values / confidence sequences (Howard et al. 2021, decisión correcta en cualquier momento).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CUPED: ajustar Y_cuped = Y - θ·(X - E[X]) con θ = Cov(Y,X)/Var(X).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la reducción de varianza esperada: 1 - ρ².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Group Sequential Testing con O'Brien-Fleming boundaries.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always-valid CIs con la librería confseq.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entre frequentist clásico, GST, y mSPRT según contexto.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186 — CUPED, sequential testing, always-valid p-values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CUPED math: θ óptimo minimiza varianza.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Implementación: con Y_pre (mismo usuario en período previo) o X (covariable).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GST: K looks, boundaries pre-definidas.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O'Brien-Fleming (gasta poco α al principio) vs Pocock (constante).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mSPRT: ratio test que provee p-value válido siempre.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Confidence sequences: IC válido en cualquier 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186 — CUPED, sequential testing, always-valid p-values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Tres trucos modernos de A/B testing industrial: CUPED reduce varianza usando pre-experiment data (~50% menos sample). Sequential testing te deja peekear sin inflar el error tipo I. Requiere: pip install numpy scipy.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 import stats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 = 10_000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Pre-experiment covariate (X), correlación ~0.7 con outcome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X_ctrl = rng.normal(10, 3, n)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X_trt  = rng.normal(10, 3, n)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noise  = lambda k: rng.normal(0, 2.1, k)  # ruido idiosincratico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Y_ctrl = X_ctrl + noise(n)             # mean ~ 10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Y_trt  = X_trt + noise(n) + 0.5        # treatment effect = 0.5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print(f'mean ctrl = {Y_ctrl.mean():.3f}  mean trt = {Y_trt.mean():.3f}  diff = {Y_trt.mean()-Y_ctrl.mean():.3f}')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186 — CUPED, sequential testing, always-valid p-values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CUPED implementation: simular X_pre, Y_post = α·X_pre + tratamiento + ε.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Variance reduction: con ρ=0.7, calcular reducción esperada (= 51 %); verificar con simulación.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Peeking inflado: bajo H₀, simular 1000 experimentos con 5 looks naïve, contar % de rejects.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O'Brien-Fleming: implementar boundaries con rpy2 + gsDesign (o aproximación).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Always-valid CI: confseq.bounds.normal_log_mixture_bound sobre stream simulado.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Frequentist clásico (fixed N).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CUPED + frequentist.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Naïve peeking cada 1k samples (α inflated).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Always-valid (confseq).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187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187 — Diseño experimental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187 — Diseño experimental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Montgomery, Design and Analysis of Experiments (8ª ed.) + Kohavi, Tang &amp; Xu (cap. 4-5).  Duración estimada: 80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Pasar del A/B simple a diseños más ricos: bloques aleatorizados, factorial completo / fraccional, diseños cruzados (cross-over), switchback para experimentos con interferencia, y cluster randomization cuando la unidad de análisis no coincide con la unidad de tratamiento. Saber qué problema resuelve cada diseño y leer las consideraciones de SUTVA (Stable Unit Treatment Value Assumption).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Distinguir diseño completamente aleatorizado (CRD), bloques aleatorizados (RBD), factorial y fraccional 2^(k-p).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Detectar cuándo SUTVA se viola (efectos de red, interferencia entre usuarios, fila/competencia) y aplicar el diseño correcto: cluster randomization, switchback, marketplace experiments.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Diseñar un factorial 2² o 2³ con pyDOE2 / statsmodels y descomponer efectos principales + interacciones.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Saber cuándo usar fraccional (2^(k-p)) para reducir corridas y qué se sacrifica (confounding de interacciones de alto orden).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cross-over para experimentos pareados dentro de sujeto, con análisis vía test pareado o modelo mixto.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187 — Diseño experimental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CRD: el A/B clásico. Asume SUTVA (no interferencia entre unidades).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RBD (bloques): bloquear por variable nuisance (ej.: día de semana, país) para reducir varianza dentro del bloque.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Factorial 2^k: testear k factores simultáneamente. Captura interacciones; mucho más eficiente que A/B por factor.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Fraccional 2^(k-p): corridas reducidas. Se confunden ("aliasing") efectos de alto orden con principales.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Cross-over: cada sujeto recibe ambos tratamientos en períodos distintos. Análisis pareado, controla variabilidad inter-sujeto. Riesgo: carry-over effect.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Cluster randomization: aleatorizar grupos (clases, ciudades) en lugar de individuos cuando hay contaminación social.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Switchback: alternar tratamiento global en bloques de tiempo (típico de marketplaces de dos lados — Uber, DoorDash).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187 — Diseño experimental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Testeamos dos factores a la vez y recuperamos efectos principales + interacción con un OLS y ~ A*B.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itertools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 import stats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statsmodels.formula.api as smf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nper = 1000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rows = []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for A in (0, 1):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for Bf in (0, 1):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ctr = 0.10 + 0.02*A + 0.015*Bf + 0.02*A*Bf + rng.normal(0, 0.05, nper)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for v in ctr: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rows.append((A, Bf, v))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df = pd.DataFrame(rows, columns=["A", "B", "ctr"])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m = smf.ols("ctr ~ A * B", data=df).fit()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print(m.params.round(4))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print("\nverdaderos: Intercept=0.10, A=0.02, B=0.015, A:B=0.02")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187 — Diseño experimental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Factorial 2²: simulá CTR con ctr = 0.10 + 0.02·A + 0.015·B + 0.005·A·B + ε.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Bloqueo: simulá un experimento de uplift en tasa de retención por país con paises = ['AR','BR','MX'] con baselines distintos (p0 ∈ {0.5, 0.3, 0.4}).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Fraccional 2^(4-1): usá pyDOE2.fracfact('a b c d') y discutí qué interacciones quedan aliased.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Cluster randomization: simulá 50 escuelas con 30 alumnos c/u, ICC=0.10, efecto verdadero 0.3.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Switchback: simulá precio dinámico en una ciudad con bloques de 1 h alternando A y B durante 7 días.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Generar datos con efectos principales no nulos y una interacción A:B.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Ajustar OLS con todos los términos hasta triple.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Reportar la tabla ANOVA y identificar los términos significativos.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Verificar gráficamente la interacción A:B con sns.pointplot(x='A', y='conv', hue='B').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Discutir en 3 líneas qué pasaría si hubieras hecho 3 A/B tests separados en vez del factorial.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188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188 — Inferencia causal: DAGs, confounders, instrumentos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188 — Inferencia causal: DAGs, confounders, instrumentos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Pearl, The Book of Why + Hernán &amp; Robins, Causal Inference: What If (libro gratuito, 2024) + Imbens &amp; Rubin.  Duración estimada: 95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Distinguir correlación de causalidad con rigor: dibujar DAGs (Directed Acyclic Graphs), identificar confounders, colliders y mediators, aplicar el backdoor criterion para decidir qué variables controlar, y usar variables instrumentales (IV) cuando la randomización no es posible. Conocer la herramienta moderna Double Machine Learning (DoubleML / EconML) para estimar ATE/CATE con ML como nuisance estimator.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Dibujar un DAG para un problema de negocio e identificar los tres tipos de estructura: chain (X → M → Y), fork (X ← Z → Y, confounder), collider (X → C ← Y).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el backdoor criterion de Pearl: encontrar el conjunto mínimo de variables a controlar para identificar el efecto causal.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que controlar por un collider o un mediator introduce sesgo, NO lo elimina.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Estimar ATE (Average Treatment Effect) con regresión + controles, IPW (Inverse Probability Weighting) y matching.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2SLS (Two-Stage Least Squares) con linearmodels.iv cuando hay un instrumento válido.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188 — Inferencia causal: DAGs, confounders, instrumentos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Correlación ≠ causalidad: el clásico ejemplo "helado y ahogamientos" — confounder: temperatura.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DAGs: nodos = variables, flechas = relación causal.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3 estructuras canónicas: chain, fork, collider.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Backdoor criterion: bloquear todos los caminos no causales de X a Y; no abrir colliders.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ATE = E[Y | do(T=1)] - E[Y | do(T=0)]. El "do" indica intervención, no observación.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Identificación: ¿se puede expresar E[Y | do(T)] con datos observacionales? Si sí → estimar.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IV: variable Z que afecta T pero NO a Y excepto vía T. Permite identificar el efecto cuando hay confounders no observados.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188 — Inferencia causal: DAGs, confounders, instrumentos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T ← Z → Y. Z causa tanto T como Y. El OLS ingenuo Y~T está sesgado; ajustar por Z recupera el efecto causal (backdoor criterion).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statsmodels.api as sm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statsmodels.formula.api as smf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statsmodels.sandbox.regression.gmm import IV2SLS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 = 5000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Z = rng.normal(0, 1, n)                     # confounder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 = 0.8 * Z + rng.normal(0, 1, n)           # tratamiento depende de Z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 = 2.0 * T + 3.0 * Z + rng.normal(0, 1, n) # efecto causal verdadero de T = 2.0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df = pd.DataFrame({"Y": Y, "T": T, "Z": Z})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naive = smf.ols("Y ~ T", data=df).fit().params["T"]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adj   = smf.ols("Y ~ T + Z", data=df).fit().params["T"]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print("efecto verdadero = 2.00")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print(f"OLS ingenuo   Y~T   = {naive:.3f}  (sesgado por Z)")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print(f"OLS ajustado  Y~T+Z = {adj:.3f}  (recupera el efecto)")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assert abs(adj - 2.0) &lt; 0.15 and abs(naive - 2.0) &gt; 0.3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188 — Inferencia causal: DAGs, confounders, instrumentos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DAG en código: con pgmpy (o networkx), definí un DAG con T, Y, Z (confounder), C (collider).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Sesgo del collider: simulá T ~ N(0,1), Y ~ N(T, 1), C = T + Y + ε.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Backdoor ajustando confounder: simulá Z, T = f(Z) + ε, Y = 2T + 3Z + δ.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2SLS: simular un IV Z → T → Y con confounder no observado entre T y 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DML con random forest: dataset sintético con confounders no lineales.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Generar X (edad, educación, experiencia) como confounders. Generar T (participa) con P(T|X) no trivial. Generar Y con efecto causal θ_true = 2_000.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Estimar el efecto con: (a) diferencia ingenua de medias, (b) OLS con controles lineales, (c) DoubleML con RF.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contra θ_true. Reportar bias y IC95 %.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Dibujar el DAG (puede ser un comentario con notación o un grafo simple).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Discutir en 3 líneas qué pasaría si hubieras controlado por un mediator (ej.: "horas trabajadas").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189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189 — DoubleML / EconML: Machine Learning para causalidad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189 — DoubleML / EconML: Machine Learning para causalidad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Chernozhukov et al. (2018) DML + docs DoubleML + EconML.  Duración estimada: 95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Aplicar Double Machine Learning (Chernozhukov 2018) y EconML (Microsoft Research) para estimar ATE y CATE (Conditional ATE — heterogeneidad del efecto) usando cualquier ML como nuisance estimator (Random Forest, XGBoost, neural net). Inference válida (CI, p-value) sin asumir linearidad de los confounders.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Neyman-orthogonal score y por qué DML es doubly robust.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DoubleMLPLR para ATE con ML nuisance.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CausalForestDML de EconML para CATE personalizado.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Cross-fitting: K-fold para evitar overfitting del nuisance.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Inspeccionar policy óptimo: policy_tree para árbol de decisión de tratamiento.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189 — DoubleML / EconML: Machine Learning para causalidad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Marco PLR (Partially Linear Regression): Y = θT + g(X) + ε, T = m(X) + v.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Score orthogonal: derivada respecto a nuisances = 0 en expectation.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Cross-fitting: estimar nuisances en fold A, evaluar en B.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CATE: efecto por subgroup.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Heterogeneity tests.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Policy learning: decidir a quién tratar.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189 — DoubleML / EconML: Machine Learning para causalidad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El problema: con confounding observado high-dim, regresión naive sesga. Double/Debiased ML (Chernozhukov 2018) usa ML para residualizar Y y T, y aplica Frisch-Waugh-Lovell sobre los residuos → estimador eficiente con CI válido. Requiere: pip install numpy scikit-learn (opcional doubleml).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Ridge, LogisticRegression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KFold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n, p = 2000, 20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rng.normal(0, 1, (n, p))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beta = rng.normal(0, 1, p)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Tratamiento depende de X (confounding)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logit = X @ beta * 0.3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 = (rng.uniform(0, 1, n) &lt; 1/(1+np.exp(-logit))).astype(float)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Outcome depende de X y T; ATE verdadero = 2.0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TRUE_ATE = 2.0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 = X @ beta + TRUE_ATE * T + rng.normal(0, 1, n)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print(f'n={n}  p={p}  P(T=1)={T.mean():.3f}  TRUE ATE = {TRUE_ATE}')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189 — DoubleML / EconML: Machine Learning para causalidad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Sintético: simular Y = 2·T + 3·X1 + X2² + ε, T = P(...|X).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DML básico: DoubleMLPLR(data, ml_g=RF, ml_m=RF, n_folds=5).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OLS vs DML: OLS lineal con Y ~ T + X1 + X2 sesgado por X2 no lineal.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CausalForestDML: con dataset heterogéneo, estimar CATE.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Policy tree: econml.policy.PolicyTree para decidir a quién tratar.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Generar dataset sintético (econml.dgps.ihdp_surface_B o custom).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Estimar ATE con: (a) diferencia ingenua, (b) OLS lineal, (c) DML RF, (d) DML XGBoost.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Reportar bias contra ground truth.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CATE con CausalForestDML; visualizar heterogeneidad.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190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190 — Uplift modeling, DiD (difference-in-differences)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190 — Uplift modeling, DiD (difference-in-differences)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Gutierrez &amp; Gerardy (2017), Causal Inference and Uplift Modeling + Abadie, Diamond &amp; Hainmueller (2010), Synthetic Control Methods.  Duración estimada: 90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Dominar las dos técnicas causales más usadas en industria cuando hay datos panel/observacionales: DiD (Difference-in-Differences) —comparar la evolución antes/después en grupo tratado vs control— y uplift modeling —predecir a quién conviene tratar (heterogeneidad del efecto causal a nivel individuo). Conocer el complemento moderno Synthetic Control Method para cuando no hay grupo de control natural y solo se trata una unidad (una ciudad, un país).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DiD clásico con OLS: Y = β₀ + β₁·tratado + β₂·post + β₃·(tratado×post) + ε. El coeficiente β₃ es el efecto causal bajo parallel trends.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 la asunción de parallel trends con un gráfico antes/después y un placebo test.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modelos de uplift: T-learner, S-learner, X-learner (Künzel et al. 2019), Causal Forest (econml).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Evaluar uplift con Qini curve y uplift@k (no con AUC clásico — uplift es individual, no global).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Synthetic Control con pysyncon o SparseSC cuando una sola unidad recibe tratamiento (estudio de caso).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190 — Uplift modeling, DiD (difference-in-differences)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DiD: comparación dos-por-dos en panel (2 grupos × 2 tiempos).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Asunción crítica: parallel trends — sin tratamiento, ambos grupos hubieran evolucionado paralelos.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Generalización: DiD con muchos tiempos, two-way fixed effects (TWFE), event study designs.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Uplift = CATE individual = E[Y(1) - Y(0) | X=x].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4 cuadrantes de uplift: persuadables, sure things, lost causes, do-not-disturb (no tocarlos).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Métricas: Qini, uplift@k, AUUC (area under uplift curve).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Complemento moderno: Synthetic Control Method (Abadie et al.) — construye un "país sintético" como combinación convexa de unidades no tratadas que replica la trayectoria pre-tratamiento.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190 — Uplift modeling, DiD (difference-in-differences)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Y = β₀ + β₁·tratado + β₂·post + β₃·(tratado×post) + ε. El coeficiente β₃ es el efecto causal bajo parallel trends.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statsmodels.formula.api as smf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sklearn.ensemble import RandomForestClassifier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 = 2000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treated = rng.integers(0, 2, n)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post = rng.integers(0, 2, n)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true_effect = 2.5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 = 10 + 1.5*treated + 3.0*post + true_effect*(treated*post) + rng.normal(0, 2, n)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df = pd.DataFrame({"Y": Y, "treated": treated, "post": post})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m = smf.ols("Y ~ treated * post", data=df).fit()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beta3 = m.params["treated:post"]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ci = m.conf_int().loc["treated:post"]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print(f"DiD β3 = {beta3:.3f}  IC95%=({ci[0]:.3f}, {ci[1]:.3f})  verdadero={true_effect}")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assert abs(beta3 - true_effect) &lt; 0.5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190 — Uplift modeling, DiD (difference-in-differences)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DiD ingenuo: simulá panel con 2 grupos y 2 períodos.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Event study: con panel 10 períodos (5 pre, 5 post), graficá coeficientes por período.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T-learner: en Hillstrom (binario tratamiento email), entrená dos RandomForestClassifier y predecí uplift = p₁(x) - p₀(x).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Qini curve: con las predicciones del ej.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Synthetic Control: con un dataset panel simulado (10 estados × 20 años, tratamiento en California año 11), ajustá pesos con pysyncon y graficá path_plot + gaps_plot.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Cargar datos, calcular promedio de empleo por estado en pre (Feb 1992) y post (Nov 1992).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Aplicar DiD con OLS y reportar β₃ con IC95 %.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Hacer un event study si hay más de 2 períodos disponibles, o el gráfico 2×2 si no.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Discutir en 4 líneas: ¿se cumple parallel trends? ¿Cómo se relaciona el β₃ con el debate clásico (Card vs Neumark)?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191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191 — Synthetic Control Method dedicado (pysyncon, SparseSC)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191 — Synthetic Control Method dedicado (pysyncon, SparseSC)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Abadie, Diamond &amp; Hainmueller (2010) + Doudchenko &amp; Imbens (2016) + Arkhangelsky et al. (2021) Synthetic DiD.  Duración estimada: 80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Aplicar Synthetic Control Method (Abadie et al. 2010) — el estándar para evaluar políticas o intervenciones aplicadas a una única unidad (un país, un estado, una ciudad) sin grupo control natural. Construir un "control sintético" como combinación ponderada de donors. Conocer variantes modernas: Synthetic DiD (Arkhangelsky 2021), Generalized SC (Xu 2017), SparseSC (Microsoft Research).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un Synthetic Control con pysyncon: tratado, donors, predictors, períodos pre/post.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Interpretar pesos W (combinación convexa) y path plot.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placebo test (in-time y in-space) como inference informal.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Conocer Synthetic DiD que combina lo mejor de DiD y SCM.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cuándo SCM no aplica (pocos donors, fit pre malo).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191 — Synthetic Control Method dedicado (pysyncon, SparseSC)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Setup: 1 tratado + N donors + features predictoras + período pre/post.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Optimización: pesos minimizan ||Y_treat_pre - W·Y_donors_pre||².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Constraint: w_i ≥ 0, Σ w_i = 1 (combinación convexa) — clásico.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Placebo test in-space: aplicar SCM a cada donor; comparar effect real vs distribución de placebos.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Placebo in-time: aplicar antes del tratamiento real → debería dar 0.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Synthetic DiD: relax constraints + agregar pesos temporales.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191 — Synthetic Control Method dedicado (pysyncon, SparseSC)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Abadie et al.: para una unidad tratada (ej: California aprobó Prop99, ¿efecto en consumo de tabaco?), construir un control sintético como combinación convexa de unidades no tratadas que matchea el pre-tratamiento. El gap post = efecto causal. Requiere: pip install numpy scipy matplotlib (opcional pysyncon).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scipy.optimize import minimize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N_control = 20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T_pre, T_post = 10, 10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 = T_pre + T_post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Generamos N_control trayectorias con tendencia común + ruido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trend = np.linspace(50, 60, T)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controls = trend[None, :] + rng.normal(0, 1, (N_control, 1)) * np.arange(T)[None, :] * 0.1 \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+ rng.normal(0, 2, (N_control, T))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Unidad tratada: combinación de 3 controles + ruido en pre, + efecto en post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true_weights = np.zeros(N_control); true_weights[[2, 7, 13]] = [0.4, 0.35, 0.25]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treated_pre  = controls[:, :T_pre].T @ true_weights + rng.normal(0, 0.5, T_pre)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treated_post = controls[:, T_pre:].T @ true_weights + rng.normal(0, 0.5, T_post)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TRUE_EFFECT = 5.0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treated_post += TRUE_EFFECT  # efecto aditivo desde t=T_pre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treated = np.concatenate([treated_pre, treated_post])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191 — Synthetic Control Method dedicado (pysyncon, SparseSC)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California Prop 99: cargar dataset, definir tratado California, donors otros estados, pre 1970-1988, post 1989-2000.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Path plot: synth.path_plot() — California real vs sintética.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Pesos: imprimir synth.weights.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Placebo in-space: aplicar a cada otro estado; plot de gaps.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Placebo in-time: tratamiento artificial en 1980 (5 años antes del real).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Dataset panel, 10+ donors, ≥ 5 años pre.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SCM con pysyncon.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Path + gap plots.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Placebo in-space.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Interpretación: ¿el efecto observado está en el extremo de la distribución placebo?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192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192 — Bayes intro: priors, posterior, MCMC con PyMC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192 — Bayes intro: priors, posterior, MCMC con PyMC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McElreath, Statistical Rethinking (2ª ed.) + Gelman et al., Bayesian Data Analysis (3ª ed.) + Martin, Bayesian Modeling and Computation in Python.  Duración estimada: 95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Entender la lógica bayesiana —prior + likelihood → posterior vía teorema de Bayes— y construir un modelo simple end-to-end con PyMC v5 (regresión bayesiana sobre datos reales), interpretar el posterior con ArviZ (trace plots, posterior intervals, posterior predictive checks), y conocer el stack moderno: PyMC v5 (post-Theano, sobre PyTensor), NumPyro (sobre JAX, GPU-friendly) y ArviZ (visualización + diagnóstico backend-agnóstico).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Escribir posterior ∝ likelihood × prior y aplicarlo a un caso conjugado (Beta-Binomial para una tasa de conversión).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un modelo lineal bayesiano con pymc.Model() as m: ... y muestrearlo con pm.sample() (NUTS).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Inspeccionar trace con arviz.plot_trace, diagnosticar convergencia (r_hat ≤ 1.01, ess_bulk ≥ 400).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Interpretar HDI (Highest Density Interval) como reemplazo del IC clásico — con interpretación directa de probabilidad.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Hacer posterior predictive check (pm.sample_posterior_predictive) y entender por qué es la validación bayesiana fundamental.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192 — Bayes intro: priors, posterior, MCMC con PyMC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Teorema de Bayes: P(θ|D) = P(D|θ)·P(θ) / P(D).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Conjugados: Beta–Binomial, Gamma–Poisson, Normal–Normal (intuición sin MCMC).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MCMC: idea — muestrear de una distribución sin computarla analíticamente. NUTS (No U-Turn Sampler).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HDI vs IC frecuentista: el HDI es interpretado directamente como P(θ ∈ HDI | datos) = 0.94.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Posterior predictive: la distribución de datos futuros simulados desde el posterior. Test de modelo.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Priors: no informativos (Uniform, HalfNormal con scale grande), débilmente informativos (recomendado), informativos (cuando hay expertise).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Complemento moderno: PyMC v5 (PyTensor backend, ya estable post-Theano), NumPyro (JAX, GPU), ArviZ (diagnóstico estándar).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192 — Bayes intro: priors, posterior, MCMC con PyMC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 prior Beta(1,1) (uniforme) y datos binomiales, el posterior es Beta(a+éxitos, b+fracasos) — sin necesidad de MCMC. Calculamos el intervalo del 94 % con scipy.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 import stats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100 visitas, 8 conversiones. Prior Beta(1,1)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visitas, conversiones = 100, 8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a0, b0 = 1, 1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a_post, b_post = a0 + conversiones, b0 + (visitas - conversiones)   # Beta(9, 93)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post = stats.beta(a_post, b_post)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lo, hi = post.ppf(0.03), post.ppf(0.97)    # intervalo central del 94%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print(f"Posterior = Beta({a_post}, {b_post})")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print(f"media posterior = {post.mean():.3f}")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print(f"intervalo 94% = ({lo:.3f}, {hi:.3f})")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grid = np.linspace(0, 0.25, 300)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plt.figure(figsize=(7, 4))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plt.plot(grid, stats.beta(a0, b0).pdf(grid), label="prior Beta(1,1)")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plt.plot(grid, post.pdf(grid), label=f"posterior Beta({a_post},{b_post})")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plt.title("Actualización bayesiana: prior -&gt; posterior"); plt.legend()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plt.tight_layout(); plt.show()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192 — Bayes intro: priors, posterior, MCMC con PyMC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Conjugado a mano: 100 visitas, 8 conversiones.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Regresión bayesiana: ajustá el modelo PyMC del ejemplo sobre tips.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Comparación: compará los coeficientes bayesianos (mean del posterior) con OLS de statsmodels sobre el mismo dataset.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Posterior predictive check: ejecutá sample_posterior_predictive y az.plot_ppc.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NumPyro: traducí el modelo a NumPyro, ajustá, convertí con az.from_numpyro y verificá que los resultados son equivalentes.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Modelar la propina como tip ~ Normal(α_día + β·total_bill, σ) donde α_día varía por día (efecto aleatorio jerárquico): α_día ~ Normal(μ_α, σ_α).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Ajustar con PyMC v5, 4 cadenas, 2 000 muestras.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Diagnosticar: r_hat, ess_bulk, trace plots, divergencias.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Reportar HDI 94 % de β (efecto del bill sobre tip) y de los 4 α_día.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Conclusión en 4 líneas: ¿qué día tiene mayor intercepto? ¿Cuán incierto es β?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193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193 — Stack bayesiano moderno: PyMC v5, NumPyro, ArviZ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193 — Stack bayesiano moderno: PyMC v5, NumPyro, ArviZ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PyMC v5 docs + NumPyro docs + ArviZ docs.  Duración estimada: 90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Aprender el stack bayesiano moderno post-Theano —PyMC v5 (PyTensor), NumPyro (JAX), ArviZ (visualización backend-agnóstica)— a nivel de poder construir modelos jerárquicos serios, diagnosticar convergencia (r_hat, ess_bulk, divergences), comparar modelos con LOO-CV y WAIC, y elegir backend según escala.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modelo jerárquico no-centered en PyMC v5.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Diagnosticar: r_hat ≤ 1.01, ess_bulk ≥ 400, divergences = 0.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non-centered parameterization para evitar funnel posteriors.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modelos con az.compare([m1, m2], ic='loo').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Migrar modelo de PyMC a NumPyro para 10-50× speedup en CPU.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193 — Stack bayesiano moderno: PyMC v5, NumPyro, ArviZ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PyMC v5: PyTensor backend, sintaxis estable.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NumPyro: JAX backend, JIT + autograd + GPU/TPU.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Centered vs non-centered parametrization.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Posterior predictive check con ArviZ.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LOO-CV y WAIC para comparación.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SVI con AutoNormal / AutoMultivariateNormal.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193 — Stack bayesiano moderno: PyMC v5, NumPyro, ArviZ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PyMC v5 (PyTensor backend), NumPyro (JAX, NUTS rápido), ArviZ (diagnósticos y comparación de modelos). Requiere: pip install numpy scipy arviz (opcional pymc, numpyro).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 = 200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TRUE_A, TRUE_B, TRUE_SIGMA = 1.5, 2.3, 1.0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rng.normal(0, 1, n)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 = TRUE_A + TRUE_B * x + rng.normal(0, TRUE_SIGMA, n)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print(f'n={n}  truth: a={TRUE_A}  b={TRUE_B}  sigma={TRUE_SIGMA}')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193 — Stack bayesiano moderno: PyMC v5, NumPyro, ArviZ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PyMC v5 hierarchical: tip ~ Normal(α_day + β·bill, σ); α_day ~ Normal(μα, σα).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Non-centered: re-parametrizar el modelo con α_day = μα + σα · z_day, z_day ~ N(0,1).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PPC: pm.sample_posterior_predictive + az.plot_ppc.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NumPyro version: traducir, comparar tiempo.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LOO compare: 3 modelos (intercepto solo, + slope, + jerárquico).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PyMC v5 jerárquico con day como nivel.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NumPyro mismo modelo.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SVI en NumPyro como alternativa rápida.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3 enfoques: MCMC PyMC, MCMC NumPyro, SVI NumPyro.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az.plot_trace, az.summary, az.compare para 2 variantes del modelo.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Fin de la Parte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 3 — Estadística Inferencial y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 Semibold"/>
              </a:defRPr>
            </a:pPr>
            <a:r>
              <a:rPr sz="2600" b="1">
                <a:solidFill>
                  <a:srgbClr val="0F172A"/>
                </a:solidFill>
                <a:latin typeface="Segoe UI Semibold"/>
              </a:rPr>
              <a:t>Fin de la Parte 3 — siguiente: Parte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