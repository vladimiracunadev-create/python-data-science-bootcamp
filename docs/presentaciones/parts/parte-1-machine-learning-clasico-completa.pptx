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1 — Parte 1 — Machine Learning Clásico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anterior ·  Parte siguiente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1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1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050 — Clase 050 — Panorama del ML: tipos, batch vs online, instance vs model-based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051 — Clase 051 — Desafíos del ML: overfitting, underfitting, datos insuficientes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052 — Clase 052 — Testing, validación, hyperparameter tuning, no free lunch theorem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053 — Clase 053 — Validación temporal: TimeSeriesSplit, walk-forward, blocking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054 — Clase 054 — Proyecto end-to-end: visión, datos, exploración, preparación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055 — Clase 055 — Feature Engineering avanzado: target encoding + MICE imputation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056 — Clase 056 — Selección y entrenamiento de modelo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057 — Clase 057 — Fine-tuning: grid search y randomized search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058 — Clase 058 — Optuna y HPO bayesiano dedicado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059 — Clase 059 — Launch, monitoreo y mantenimiento de modelos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060 — Clase 060 — Model Cards y Responsible ML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061 — Clase 061 — CRISP-DM como framework metodológico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062 — Clase 062 — Clasificación binaria con MNIST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063 — Clase 063 — Métricas: confusion matrix, precision, recall, F1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1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2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064 — Clase 064 — Class imbalance: SMOTE, ADASYN, class_weight, threshold tuning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065 — Clase 065 — Precision/Recall tradeoff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066 — Clase 066 — Curva ROC y AUC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067 — Clase 067 — Clasificación multiclase, multilabel, multioutput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068 — Clase 068 — Análisis de errores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069 — Clase 069 — Regresión lineal: ecuación normal vs gradient descent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070 — Clase 070 — Gradient Descent: batch, stochastic, mini-batch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071 — Clase 071 — Regresión polinomial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072 — Clase 072 — Curvas de aprendizaje y bias-variance tradeoff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073 — Clase 073 — Regularización: Ridge, Lasso, Elastic Net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074 — Clase 074 — Early stopping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075 — Clase 075 — Regresión logística binaria y softmax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076 — Clase 076 — Calibración de probabilidades: Platt, isotonic, temperature scaling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077 — Clase 077 — SVM lineal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1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3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078 — Clase 078 — SVM no lineal: kernel polinomial y RBF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079 — Clase 079 — SVM para regresión (SVR)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080 — Clase 080 — Árboles de decisión: entrenamiento, visualización, CART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081 — Clase 081 — Regularización de árboles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082 — Clase 082 — Regresión con árboles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083 — Clase 083 — Voting classifiers: hard y soft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084 — Clase 084 — Bagging y pasting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085 — Clase 085 — Random Forests y Extra Trees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086 — Clase 086 — Feature importance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087 — Clase 087 — SHAP en profundidad: TreeExplainer, KernelExplainer, DeepExplainer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088 — Clase 088 — Boosting: AdaBoost y Gradient Boosting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089 — Clase 089 — XGBoost, LightGBM y CatBoost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090 — Clase 090 — Stacking (stacked generalization)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091 — Clase 091 — La maldición de la dimensionalidad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1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4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092 — Clase 092 — PCA: proyección, varianza explicada, incremental, randomized, kernel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093 — Clase 093 — LLE (Locally Linear Embedding)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094 — Clase 094 — MDS, Isomap, t-SNE, UMAP, LDA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095 — Clase 095 — Clustering K-Means: selección de K, MiniBatch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096 — Clase 096 — DBSCAN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097 — Clase 097 — Agglomerative, BIRCH, Mean Shift, Affinity Propagation, Spectral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098 — Clase 098 — Gaussian Mixture Models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099 — Clase 099 — Detección de anomalías: Isolation Forest, LOF, One-Class SVM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050 — Panorama del ML: tipos, batch vs online, instance vs model-based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050 — Panorama del ML: tipos, batch vs online, instance vs model-based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1.  Duración estimada: 60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arme un mapa mental claro del campo de ML antes de entrar en algoritmos concretos: qué tipos de aprendizaje existen, en qué se diferencia entrenar de una sola vez (batch) vs en streaming (online), y por qué algunos modelos "memorizan ejemplos" (instance-based) y otros "abstraen una regla" (model-based). Sirve de andamio para ubicar cada algoritmo de las próximas clases dentro de esta taxonomía.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Clasificar un problema dado como supervisado, no supervisado, semi-supervisado o reforzado, justificando con la pinta de los datos (¿hay etiquetas?, ¿hay recompensa?).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batch vs online según el volumen de datos, la velocidad a la que cambia la distribución y el costo de reentrenar.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instance-based de model-based y reconocer cuál usa scikit-learn por debajo en un algoritmo dado (KNN vs regresión lineal, por ejemplo).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señales de mala generalización (overfitting / data drift) en términos del marco del cap. 1 — anticipo de la clase 048.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Ubicar cualquier algoritmo del curso dentro de la grilla (supervisión × batch/online × instance/model) sin googlear.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050 — Panorama del ML: tipos, batch vs online, instance vs model-based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Qué es ML (Samuel 1959, Mitchell 1997)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supervisado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no supervisado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Semi-supervisado y auto-supervisado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por refuerzo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vs online learning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Instance-based vs model-based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050 — Panorama del ML: tipos, batch vs online, instance vs model-based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Ubicamos cada algoritmo en la grilla (supervisión × batch/online × instance/model). Comparamos KNN (instance-based) contra LogisticRegression (model-based) y mostramos el patrón canónico de online learning con partial_fit.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pickle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load_iris,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LogisticRegression, SGDRegressor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print('setup ok')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050 — Panorama del ML: tipos, batch vs online, instance vs model-based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Clasificá 6 problemas reales.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 o online.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 vs LogReg en Iris.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Out-of-core con SGDRegressor.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Mapa 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Iris y California Housing; (b) entrena 4 modelos — KNeighborsClassifier, LogisticRegression, KNeighborsRegressor, SGDRegressor con partial_fit en 10 batches; (c) reporta para cada uno: tipo de aprendizaje (sup/no-sup), batch o online, instance o model-based, métrica en test (accuracy o RMSE) y tamaño en bytes del modelo serializado; (d) produce una tabla resumen en markdown al final del notebook.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051 — Desafíos del ML: overfitting, underfitting, datos insuficientes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051 — Desafíos del ML: overfitting, underfitting, datos insuficientes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1.  Duración estimada: 60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identifique los seis problemas que hacen fracasar un proyecto de ML — datos insuficientes, no representativos, de mala calidad, features irrelevantes, overfitting y underfitting — y sepa qué herramienta aplicar a cada uno (más datos, mejor muestreo, limpieza, feature engineering, regularización, o un modelo más expresivo). El eje conceptual es el bias-variance tradeoff y la intuición de que "el modelo memorizó vs. generalizó".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overfitting de underfitting mirando la brecha entre error de entrenamiento y error de validación.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cuál de los seis desafíos de Géron está rompiendo un pipeline concreto.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regularización (L1/L2, reducir capacidad del modelo, más datos) como contramedida al overfitting.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sampling bias y data snooping bias antes de medir performance.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"más datos" suele ganarle a "modelo más complejo" (Banko &amp; Brill 2001 / "The Unreasonable Effectiveness of Data").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051 — Desafíos del ML: overfitting, underfitting, datos insuficientes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Datos insuficientes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Datos no representativos (sampling bias)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Datos de mala calidad (outliers, NaN, ruido)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Features irrelevantes / feature engineering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Overfitting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Underfitting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Regularización (L1/L2, early stopping, dropout)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051 — Desafíos del ML: overfitting, underfitting, datos insuficientes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Diagnosticamos sub/overfitting mirando la brecha train-validation, visualizamos el bias-variance tradeoff y usamos regularización (Ridge) como contramedida. Requiere: numpy, pandas,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PolynomialFeatures,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LinearRegression, 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learning_curve, validation_curve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r2_score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print('setup ok')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051 — Desafíos del ML: overfitting, underfitting, datos insuficientes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 visual.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Learning curve.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Ridge 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Sampling bias simulado.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Feature engineering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tome sklearn.datasets.fetch_california_housing, entrene tres modelos: (a) LinearRegression baseline, (b) LinearRegression sobre PolynomialFeatures(degree=3) sin regularizar, (c) Ridge(alpha=10) sobre las mismas polynomial features. Para cada uno reportá train_R² y test_R² con train_test_split(random_state=42). Plotea las tres barras lado a lado.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052 — Testing, validación, hyperparameter tuning, no free lunch theorem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052 — Testing, validación, hyperparameter tuning, no free lunch theorem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+ sklearn user guide.  Duración estimada: 70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cómo medir generalización sin engañarse — separar train/val/test correctamente, usar cross-validation para estimar performance con poca varianza, tunear hiperparámetros con GridSearchCV / RandomizedSearchCV, y aceptar el no free lunch theorem: ningún modelo gana en todos los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Separar un dataset en train/validation/test y justificar por qué el test no se toca hasta el final.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KFold y StratifiedKFold con cross_val_score para estimar generalización.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hiperparámetros con GridSearchCV y RandomizedSearchCV, leyendo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KFold rompe (datos temporales, grupos) y elegir el splitter correcto.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no free lunch theorem y por qué siempre conviene comparar varios modelos.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052 — Testing, validación, hyperparameter tuning, no free lunch theorem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 / validation / test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KFold y StratifiedKFold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 y cross_validate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 vs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+ CV (evitar leakage del scaler)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free lunch theorem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052 — Testing, validación, hyperparameter tuning, no free lunch theorem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Medir generalización sin engañarse: hold-out vs cross-validation, StratifiedKFold, GridSearchCV/RandomizedSearchCV dentro de un Pipeline, y el no free lunch theorem. Requiere: numpy, pandas, scipy,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loguniform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(train_test_split, cross_val_score, KFold,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       StratifiedKFold, GridSearchCV, RandomizedSearchCV)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sklearn.dummy import DummyClassifier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print('breast_cancer:', X.shape, 'clases', np.bincount(y))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052 — Testing, validación, hyperparameter tuning, no free lunch theorem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Hold-out vs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StratifiedKFold.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GridSearchCV en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RandomizedSearchCV.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TimeSeriesSplit.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california_housing: (a) split 80/20 train/test con random_state=42; (b) GridSearchCV(cv=5) con RandomForestRegressor sobre n_estimators ∈ {100, 300} y max_depth ∈ {None, 10, 20}; (c) reportar best_params_ y best_score_; (d) evaluar el mejor modelo una sola vez sobre test; (e) comparar contra un baseline DummyRegressor(strategy='mean').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053 — Validación temporal: TimeSeriesSplit, walk-forward, blocking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Bergmeir &amp; Benítez (2012) + sklearn TimeSeriesSplit docs.  Duración estimada: 70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validación correcta para series temporales — donde KFold y train_test_split aleatorio causan leakage del futuro al pasado y métricas infladas. Cubrir TimeSeriesSplit, walk-forward validation (rolling y expanding), blocking para datos con dependencias intra-cluster, purged + embargoed CV (López de Prado, finanzas).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sklearn.model_selection.TimeSeriesSplit(n_splits, max_train_size, test_size, gap).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walk-forward rolling (ventana fija) y expanding (acumulativo).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leakage cuando KFold se usa sobre datos temporales.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purged + embargoed K-Fold para evitar leakage por feature engineering con lags.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multi-fold con dispersión (no solo promedio).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KFold falla en series? Aleatorización mezcla pasado y futuro.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TimeSeriesSplit: split secuencial, train siempre antes que 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Expanding vs rolling window.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gap (embargo) para target leakage con lags.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Purged CV (López de Prado): elimina overlap entre train y 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CombinatorialPurgedKFold para backtesting.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Serie sintética (trend + seasonality + noise). Comparamos KFold (leak) vs TimeSeriesSplit vs walk-forward expanding/rolling. Requiere: numpy, pandas,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KFold, TimeSeriesSplit,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= 0.02 * 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season = 3 * np.sin(2 * np.pi * t / 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= rng.normal(0, 0.5,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trend + season + noise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print('serie:', y.shape, 'min', y.min().round(2), 'max', y.max().round(2))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TSSplit vs KFold leak: con serie sintética con tendencia, comparar score CV con KFold aleatorio vs TimeSeriesSplit.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Walk-forward expanding: tscv = TimeSeriesSplit(n_splits=5).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Rolling window: con max_train_size=100, simular walk-forward de window fijo.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gap: con feature y_t-1 (target lag), aplicar gap=1 para evitar que test "vea" su propio target.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Score con dispersión: reportar mean ± std de RMSE por fold, no solo mean.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Feature engineering: lags 1, 7, 30 + rolling mean.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CV con TimeSeriesSplit(5, gap=30).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RMSE por fold + global.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KFold ingenuo — mostrar inflación.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054 — Proyecto end-to-end: visión, datos, exploración, preparación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(California Housing).  Duración estimada: 90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recorra la primera mitad de un proyecto de ML real de punta a punta: framear el problema en términos de negocio, conseguir los datos, hacer un EDA honesto, separar train/test sin contaminarse, y dejar el pipeline de preparación (limpieza, encoding, scaling) listo para entrenar — todo sobre el dataset California Housing del capítulo 2 de Géron.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Framear el problema en términos de negocio: tipo de tarea (regresión/clasificación), métrica,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un EDA reproducible: describe, info, hist, corr, scatter matrix, mapas geográficos.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Separar train/test correctamente con train_test_split estratificado por una variable clave (income bucket).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con Pipeline + ColumnTransformer que limpie, encode (OneHotEncoder) y escale (StandardScaler) en un solo objeto.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data leakage: todo cálculo (medias, encodings, scalers) se ajusta solo en train y se aplica en test.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Framing del problema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EDA: describe, hist, corr, geo plot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Stratified split por income bucket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Limpieza: NaN, outliers, tipos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Encoding categórico (OneHotEncoder, OrdinalEncoder)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Scaling (StandardScaler, MinMaxScaler)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 + ColumnTransformer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Primera mitad de un proyecto real: framing, EDA, split estratificado sin contaminarse y un Pipeline + ColumnTransformer que limpia, encodea y escala sin data leakage. Usamos un dataset sintético tipo "housing" (numéricas + categórica + NaN) para correr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StratifiedShuffleSplit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sklearn.compose import ColumnTransformer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sklearn.impute import SimpleImputer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StandardScaler, OneHotEncoder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 mínimo.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Stratified split por income bucket.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sin leakage.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KNNImputer vs SimpleImputer.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completo.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carga del dataset + EDA con al menos 4 gráficos; (b) stratified split por income bucket con verificación de proporciones; (c) pipeline ColumnTransformer (numéricas con KNNImputer+StandardScaler, categóricas con OneHotEncoder); (d) feature engineering manual con al menos 2 features derivadas (rooms_per_household, bedrooms_per_room); (e) baseline LinearRegression con RMSE reportado en train y test.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055 — Feature Engineering avanzado: target encoding + MICE imputation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Micci-Barreca (2001) target encoding + Van Buuren (2018) Flexible Imputation of Missing Data.  Duración estimada: 85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feature engineering moderno más allá de one-hot y SimpleImputer: target encoding con regularización + cross-validation (evita leakage), KNNImputer y IterativeImputer (MICE) para imputación multivariada inteligente, y category_encoders library para codificaciones modernas (CatBoost, James-Stein, hashing).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target encoding con CV (no leak): category_encoders.TargetEncoder(cv=5, smoothing=10.0).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KNNImputer: imputa basado en vecinos.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IterativeImputer (MICE) de sklearn — predice cada feature con modelo de las demás.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métodos: SimpleImputer (baseline), KNN (correlaciones locales), MICE (multivariada).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leakage en target encoding y evitarlo con CV interno.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encoding clásico + smoothing bayesiano.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Leak en target encoding sin CV: features ven sus propios targets.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KNNImputer (sklearn): nearest neighbors por filas.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IterativeImputer / MICE: estima cada feature con regresión.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category_encoders: CatBoost, James-Stein, target, hashing.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Pipeline-safe imputation.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 sintético de clasificación con 3 categóricas de alta cardinalidad (1000 niveles) + missing values. Comparamos one-hot vs target encoding, y SimpleImputer vs MICE.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OneHotEncoder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sklearn.experimental import enable_iterative_imputer  # noqa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sklearn.impute import IterativeImputer, SimpleImputer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BayesianRidge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leak: encoding sobre train+test → métrica inflada.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con CV: TargetEncoder(cv=5, smoothing=10) dentro de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CatBoost encoder: alternativa sin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KNNImputer: con dataset con NaN, imputar con k=5; comparar contra SimpleImputer (mean).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MICE: IterativeImputer(estimator=BayesianRidge(), max_iter=10).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1: SimpleImputer + OneHot + LogReg.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2: KNNImputer + TargetEncoder(CV) + LogReg.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3: MICE + CatBoostEncoder + LogReg.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accuracy + tiempo.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056 — Selección y entrenamiento de modelo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056 — Selección y entrenamiento de modelo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Select and Train a Model.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varios modelos baseline sobre un dataset de regresión (el notebook usa load_diabetes de scikit-learn, sin descargas), los compare con cross-validation en vez de un único split, identifique sub/overfitting con learning curves, y elija el candidato más prometedor para pasar a fine-tuning — sin malgastar tiempo afinando un modelo que no tiene techo.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baselines (LinearRegression, DecisionTreeRegressor, RandomForestRegressor) sobre el X_prepared del pipeline de la clase anterior.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con cross_val_score usando K-Fold y scoring='neg_root_mean_squared_error' en vez de un solo train/test.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learning curves para diagnosticar bias vs varianza (underfitting vs overfitting).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modelos con media ± desvío de los folds y decidir cuál merece HPO.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Persistir el modelo elegido con joblib.dump(...) para retomarlo en la próxima clase.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056 — Selección y entrenamiento de modelo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Entrenar baseline LinearRegression y medir RMSE en train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DecisionTreeRegressor con RMSE = 0 en train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cross_val_score(..., cv=10, scoring='neg_root_mean_squared_error')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RandomForestRegressor y comparación con los anteriores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learning_curve — train vs validation score vs tamaño de muestra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validation_curve — score vs un hiperparámetro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Decidir cuándo pasar a HPO vs cuándo seguir feature-engineering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056 — Selección y entrenamiento de modelo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baselines, los comparamos con cross-validation (no un solo split), leemos learning curves para diagnosticar bias/varianza y elegimos el candidato para fine-tuning. Persistimos el ganador con joblib.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cross_val_score, learning_curve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load_diabetes()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print('diabetes:', X.shape, '| target rango', y.min(), '-', y.max())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056 — Selección y entrenamiento de modelo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Árbol que memoriza.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Cross-validation honesto.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Forest.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Learning curve.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entrene los 3 baselines sobre X_prepared; (b) corra CV de 10 folds para cada uno y guarde los arrays de scores; (c) genere una tabla comparativa con RMSE media, RMSE desvío, tiempo de fit; (d) elija el modelo más prometedor con justificación de 3 líneas en markdown; (e) plottee la learning curve del elegido; (f) serialice el modelo entrenado en models/modelo_baseline.pkl con joblib.dump.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057 — Fine-tuning: grid search y randomized search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057 — Fine-tuning: grid search y randomized search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tunear hiperparámetros "a ojo" y use búsquedas sistemáticas con validación cruzada — GridSearchCV cuando el espacio es chico y discreto, RandomizedSearchCV cuando es grande o continuo — integradas dentro de un Pipeline para evitar data leakage del preprocesamiento.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parámetros entrenados (pesos del modelo) de hiperparámetros (los que vos fijás antes del fit).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GridSearchCV con param_grid, cv, scoring, n_jobs=-1 y leer best_params_ / best_estimator_ /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RandomizedSearchCV con param_distributions (scipy.stats: randint, uniform, loguniform) y n_iter para presupuestar trials.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Integrar HPO dentro de un Pipeline usando claves del tipo 'step__hparam' para tunear preprocesamiento + modelo juntos.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grid vs random vs bayesiano según tamaño del espacio, costo por fit y continuidad de los hiperparámetros.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057 — Fine-tuning: grid search y randomized search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vs parámetros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param_grid y scoring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cv y n_jobs=-1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RandomizedSearchCV con distribuciones (randint, loguniform)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 + HPO con sintaxis step__hparam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Inspeccionar cv_results_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057 — Fine-tuning: grid search y randomized search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tunear "a ojo": GridSearchCV para espacios chicos y discretos, RandomizedSearchCV con distribuciones para espacios grandes o continuos, todo dentro de un Pipeline para evitar leakage del preprocesamiento.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randint, loguniform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GridSearchCV, RandomizedSearchCV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load_diabetes(return_X_y=True)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Xtr.shape, 'test', Xte.shape)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057 — Fine-tuning: grid search y randomized search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GridSearchCV sobre RandomForestRegressor.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RandomizedSearchCV con distribuciones.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+ HPO.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Inspección de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Optuna sobre el mismo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baseline con RandomForestRegressor sin tunear; (b) GridSearchCV con grid chico (≤27 combos); (c) RandomizedSearchCV con n_iter=30 y distribuciones log; (d) Optuna con n_trials=30 y MedianPruner; (e) tabla comparativa con RMSE en test, tiempo de búsqueda y mejor combinación de cada método.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058 — Optuna y HPO bayesiano dedicado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058 — Optuna y HPO bayesiano dedicado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Akiba et al. (2019) + Optuna docs.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Profundizar en Optuna —el framework de hyperparameter optimization estándar industrial 2026— aplicado a ML clásico (sklearn, XGBoost, LightGBM, CatBoost). Pasar de Grid/Random Search (clase 052) a TPE (Tree-structured Parzen Estimator) + Hyperband Pruner + persistencia con SQLite. Aprender a interpretar plot_optimization_history, plot_param_importances y plot_slice para entender qué hiperparámetros mueven la aguja.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objective(trial) con suggest_int, suggest_float, suggest_categorical, suggest_float('lr', 1e-5, 1e-1, log=True).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TPE (default) vs CmaEs vs NSGAIISampler (multi-objective).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pruners (MedianPruner, HyperbandPruner) para cortar trials malos temprano.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Persistir el study con storage='sqlite:///study.db' y resumir trials.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e interpretar los 5 plots de Optuna.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058 — Optuna y HPO bayesiano dedicado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TPE: modela P(x | y &lt; γ) y P(x | y ≥ γ) con KDE; samplea de la primera.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Pruning: callback que reporta progreso intermedio; si va mal vs históricos, kill.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Multi-objective: optimizar accuracy AND latencia.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Distributed: varios workers contra el mismo SQLite/PostgreSQL.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Integration con sklearn, XGBoost, LightGBM, CatBoost.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058 — Optuna y HPO bayesiano dedicado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TPE sampler + MedianPruner sobre GradientBoostingClassifier. Comparamos vs GridSearchCV con presupuesto similar. Instalar: pip install optuna.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StratifiedKFold, GridSearchCV,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optuna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optuna.logging.set_verbosity(optuna.logging.WARNING)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OPTUNA_OK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print('optuna no instalado: `pip install optuna`')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OPTUNA_OK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058 — Optuna y HPO bayesiano dedicado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Objective básico: tunear LogisticRegression(C, penalty) y RandomForest(n_estimators, max_depth) con TPE.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Search space compuesto: hiperparámetros condicionales (e.g., solver=liblinear solo permite ciertos penalty).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Pruning en XGBoost: usar XGBoostPruningCallback que reporta validación por boosting round → mata trials malos.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Persistencia: optuna.create_study(study_name='exp1', storage='sqlite:///opt.db', load_if_exists=True).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Multi-objective: maximizar accuracy AND minimizar inference time; obtener Pareto front con optuna.create_study(directions=['maximize', 'minimize']).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Espacio: n_estimators, max_depth, lr, subsample, colsample_bytree, reg_alpha, reg_lambda.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100 trials con TPE + Hyperband pruning.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best_params, best_value, plot history + importances.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RandomizedSearchCV(50 trials).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059 — Launch, monitoreo y mantenimiento de modelos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059 — Launch, monitoreo y mantenimiento de modelos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Launch, Monitor, and Maintain Your System.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que entrenar el modelo es la mitad del trabajo: el resto es ponerlo en producción de forma segura, monitorearlo para detectar degradación (data drift, model drift) y mantenerlo vivo con un ciclo de retraining. Además, documentar el modelo con una Model Card para que terceros (compliance, negocio, usuarios) sepan qué hace, dónde falla y qué no hay que hacerle.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de deploy mínimo (serialización con joblib, servicio detrás de una API, versionado del artefacto).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data drift de model drift y elegir métricas para cada uno (PSI, KS, accuracy en holdout móvil).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retraining trigger (calendario fijo vs. trigger por drift vs. trigger por caída de KPI de negocio).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estrategias de release (canary, shadow deploy, A/B test) y elegir según riesgo.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 con secciones mínimas (uso previsto, métricas por subgrupo, limitaciones).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059 — Launch, monitoreo y mantenimiento de modelos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de deploy: joblib.dump, contenedor, endpoint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drift (inputs cambian) vs. model drift (performance baja)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de drift: PSI, KS-test, distancia de Wasserstein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Retraining: calendario, trigger por drift, trigger por KPI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Estrategias de release: shadow, canary, A/B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Alertas y observabilidad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Cards y Datasheets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059 — Launch, monitoreo y mantenimiento de modelos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Entrenar es la mitad: el resto es serializar, detectar data drift (PSI, KS-test), disparar retraining y comparar releases (shadow deploy). Simulamos todo de forma ejecutable. Requiere: numpy, pandas, scipy, scikit-learn, joblib,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ks_2samp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059 — Launch, monitoreo y mantenimiento de modelos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Serializar y cargar.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data drift con PSI.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KS-test para drift.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shadow 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entrene un clasificador, (b) lo serialice con joblib, (c) simule un mes de tráfico productivo con una feature drifteada, (d) calcule PSI por feature, (e) dispare una alerta si PSI &gt; 0.25, (f) entregue un archivo MODEL_CARD.md completo en la carpeta del homework.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060 — Model Cards y Responsible ML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060 — Model Cards y Responsible ML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Mitchell et al. (2018) Model Cards for Model Reporting + EU AI Act + NIST AI RMF.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documentar modelos para producción y auditoría: el Model Card (Mitchell et al. 2018, adoptado por Google y luego por la industria) — ficha estandarizada con: propósito, métricas, limitaciones, distribución de datos, riesgos. Conocer el EU AI Act (en vigor 2025-2026), NIST AI RMF, y las plantillas modernas (HuggingFace model cards, Datasheets for Datasets).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Model Card completo con las 9 secciones de Mitchell et 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un Model Card (sobre el modelo) de un Datasheet (sobre el dataset, Gebru et al. 2018).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por subgrupo (no solo global) — clave en fairness.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los 4 tiers de riesgo del EU AI Act (prohibido, alto, transparencia, mínimo).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NIST AI RMF (Map, Measure, Manage, Govern) en un proyecto real.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060 — Model Cards y Responsible ML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Secciones de un Model Card: Model Details, Intended Use, Factors, Metrics, Evaluation Data, Training Data, Quant Analyses, Ethical Considerations, Caveats.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por subgrupo (sexo, edad, raza, geografía).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HuggingFace Model Card auto-generation.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EU AI Act: clasificación de riesgo, obligaciones por tier.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NIST AI RMF: framework de gestión.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ISO/IEC 42001 — sistema de gestión de IA.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060 — Model Cards y Responsible ML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Implementamos un ModelCard dataclass al estilo Mitchell et al. (2019) y lo rellenamos automáticamente para un LogReg entrenado sobre datos sintéticos con un atributo protegido binario.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json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asdict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Any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confusion_matrix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060 — Model Cards y Responsible ML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básico: para un Random Forest entrenado en California Housing, llenar las 9 secciones.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Subgroup metrics: para un clasificador de credit-g, reportar accuracy y FPR por sex y age_group.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Risk classification (EU AI Act): para 5 use cases (recomendación de películas, score crediticio, recurso humano selection, marketing email, detector de spam), clasificar el tier.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HuggingFace Card: usar el template de HF; subirla a un repo público si tenés modelo en Hub.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NIST RMF: para un proyecto propio, llenar las 4 categorías (Map: contexto, Measure: métricas, Manage: mitigaciones, Govern: ownership).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Las 9 secciones de Mitchell et al. llenadas con datos reales.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Métricas por al menos 2 subgrupos demográficos.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Sección "Ethical Considerations" con ≥ 3 riesgos identificados y mitigaciones.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Sección "Caveats and Recommendations" con limitaciones de validez.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061 — CRISP-DM como framework metodológico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061 — CRISP-DM como framework metodológico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CRISP-DM 1.0 spec + Géron cap. 2.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CRISP-DM (Cross-Industry Standard Process for Data Mining) como esqueleto metodológico para todo proyecto de ML/DS — sus 6 fases, su naturaleza iterativa (no en cascada), y cuándo conviene complementarlo o reemplazarlo por TDSP de Microsoft o por el "ML lifecycle moderno" con MLOps. La idea es dejar de improvisar el orden del trabajo y tener un mapa al que volver cuando un proyecto se trabe.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Enumerar y explicar las 6 fases de CRISP-DM y los entregables típicos de cada una.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fase actual de un proyecto real y la próxima transición esperada.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business success criteria antes de tocar datos, distinguiéndolos de métricas técnicas (accuracy, RMSE).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iteraciones legítimas (volver de Evaluation a Business Understanding) vs. retrabajo por mala planificación.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CRISP-DM con TDSP y el ML lifecycle moderno y elegir según contexto (PoC, equipo chico, producción seria, MLOps).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061 — CRISP-DM como framework metodológico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Business Understanding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Understanding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Preparation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Iteración + comparación TDSP / ML lifecycle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061 — CRISP-DM como framework metodológico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Recorremos las 6 fases de CRISP-DM como un mini proyecto end-to-end ejecutable: de los business success criteria al deployment, mostrando que iterar es la norma, no la excepción. Requiere: numpy, pandas, scikit-learn, joblib,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recall_score, precision_score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061 — CRISP-DM como framework metodológico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fase.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Business success criteria.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las 6 fases a un caso real.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frameworks.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iteración legítima vs retrabajo.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Documento Markdown (1–2 páginas) tomando un proyecto propio (real o sintético) y desarrollando las 6 fases de CRISP-DM con: (a) objetivo de negocio en una frase; (b) 2 business success criteria cuantificables; (c) descripción mínima de datos disponibles; (d) plan de data prep en bullets; (e) 2 algoritmos candidatos justificados; (f) cómo se evaluará contra los criterios de (b); (g) cómo se desplegaría y monitorearía.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062 — Clasificación binaria con MNIST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062 — Clasificación binaria con MNIST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arme su primer clasificador binario "de verdad" sobre MNIST (¿este dígito es un 5 o no?), entrenando un SGDClassifier, evaluándolo con cross_val_score sobre StratifiedKFold, y entendiendo por qué la accuracy sola miente cuando las clases están desbalanceadas.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MNIST con fetch_openml('mnist_784', as_frame=False) y separar train/test respetando el split original (60k/10k).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target binario y_train_5 = (y_train == 5) y entrenar un SGDClassifier sobre él.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y obtener scores con predict() y decision_function(), entendiendo la diferencia entre clase y score continuo.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Validar con cross_val_score sobre StratifiedKFold y leer los 3 valores que devuelve.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el accuracy paradox: comparar contra un clasificador trivial "nunca-5" y ver que también saca ~90%.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062 — Clasificación binaria con MNIST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fetch_openml('mnist_784')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binario 5 vs no-5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SGDClassifier(random_state=42)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 + StratifiedKFold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Accuracy paradox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predict vs decision_function vs predict_proba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062 — Clasificación binaria con MNIST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clasificador binario "de verdad": ¿este dígito es un 5 o no? Entrenamos un SGDClassifier, validamos con StratifiedKFold y descubrimos por qué la accuracy sola miente cuando las clases están desbalanceadas. &gt; Nota: usamos load_digits() (imágenes 8×8, sin conexión a internet) en lugar de MNIST 28×28, pero el planteo es idéntico.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StratifiedKFold, cross_val_score,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sklearn.base import BaseEstimator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'y', y.shape)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print('clases:', np.unique(y))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print('proporcion de 5s: {:.3f}'.format((y == 5).mean()))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062 — Clasificación binaria con MNIST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explorar.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binario + SGD.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decision_function.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Cross-validation.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trampa.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MNIST y arma el target 5-vs-no-5; (b) entrena SGDClassifier(random_state=42) sobre el train completo; (c) reporta accuracy 3-fold con cross_val_score; (d) reporta accuracy 3-fold del Never5Classifier; (e) en una celda markdown, explica en 2-3 líneas por qué ambos modelos están "cerca" en accuracy y por qué eso no significa que sean equivalentes.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063 — Métricas: confusion matrix, precision, recall, F1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063 — Métricas: confusion matrix, precision, recall, F1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mirar accuracy como métrica única y aprenda a leer una confusion matrix, a elegir entre precision, recall, F1 o F-beta según el costo de los errores, y a interpretar classification_report clase por clase. En particular, entender por qué en problemas desbalanceados (fraude, churn, diagnóstico) accuracy miente y qué hacer al respecto.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e interpretar una confusion matrix con sklearn.metrics.confusion_matrix identificando TP, FP, TN, FN.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y comparar precision, recall, F1 y F-beta a mano y con precision_score, recall_score, f1_score, fbeta_score.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la métrica adecuada según el costo asimétrico de los errores (FP vs FN) del problema.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classification_report y diferenciar macro avg vs weighted avg en multiclase.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class imbalance y aplicar class_weight='balanced', SMOTE o threshold tuning según corresponda.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063 — Métricas: confusion matrix, precision, recall, F1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Confusion matrix (TP/FP/TN/FN)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 = TP / (TP+FP)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Recall = TP / (TP+FN)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F1 y F-beta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classification_report y macro/weighted avg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Accuracy y por qué falla con clases desbalanceadas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Class imbalance: class_weight, SMOTE, threshold tuning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063 — Métricas: confusion matrix, precision, recall, F1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mirar la accuracy como métrica única. Aprendemos a leer una matriz de confusión, a elegir entre precision, recall, F1 y F-beta según el costo de los errores, y a interpretar classification_report.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(confusion_matrix, precision_score, recall_score,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f1_score, fbeta_score, classification_report,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ConfusionMatrixDisplay)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SGDClassifier,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063 — Métricas: confusion matrix, precision, recall, F1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Confusion matrix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MNIST 5-detector.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classification_report multiclase.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Class imbalance con class_weight.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SMOTE dentro de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sobre el dataset sintético desbalanceado (~1% positivo) que: (a) entrene baseline LogisticRegression y reporte confusion matrix + classification_report; (b) repita con class_weight='balanced'; (c) arme Pipeline con SMOTE; (d) haga threshold tuning con precision_recall_curve sobre val set maximizando F1; (e) tabla comparativa de F1 y recall de la clase minoritaria para las 4 estrategias (baseline, class_weight, SMOTE, threshold tuning).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064 — Class imbalance: SMOTE, ADASYN, class_weight, threshold tuning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064 — Class imbalance: SMOTE, ADASYN, class_weight, threshold tuning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Chawla et al. (2002) SMOTE + He et al. (2008) ADASYN + imbalanced-learn docs.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Tratar datasets desbalanceados —fraude (1 % positivo), churn (5 %), enfermedades raras—. Las trampas son sutiles: accuracy puede ser 99 % con un clasificador trivial. Cubrir las 4 estrategias estándar: class_weight, threshold tuning, oversampling (SMOTE, ADASYN), undersampling (Tomek, ENN). Y la decisión clave: ¿qué métrica reportar? (F1, PR-AUC, MCC, no accuracy).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imbalance: value_counts(normalize=True). Decidir si &gt; 10:1 amerita tratamiento.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class_weight='balanced' o pesos custom en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threshold tuning: optimizar el umbral de decisión sobre la curva PR según la métrica del negocio.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SMOTE (synthetic minority over-sampling) de imbalanced-learn: SMOTE(k_neighbors=5).fit_resample(X,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oversampling + undersampling (SMOTETomek, SMOTEENN).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064 — Class imbalance: SMOTE, ADASYN, class_weight, threshold tuning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Imbalance ratio: &gt;10:1 problemático.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precision, recall, F1, F-beta, PR-AUC, MCC.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class_weight: penalizar más errores en minoría durante training.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Threshold tuning: mover el umbral fuera del 0.5 default.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SMOTE: interpola entre vecinos de la minoría.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ADASYN: como SMOTE pero con más densidad en zonas "difíciles".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Tomek links / ENN: remueve borderline de la mayoría.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064 — Class imbalance: SMOTE, ADASYN, class_weight, threshold tuning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Binary sintético con ratio 1:99. Comparamos baseline vs class_weight vs SMOTE vs ADASYN, en métricas relevantes (PR-AUC, recall, no accuracy). Instalar: pip install imbalanced-learn.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StratifiedKFold,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(accuracy_score, recall_score, precision_score,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average_precision_score, precision_recall_curve)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imblearn.over_sampling import SMOTE, ADASYN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imblearn.pipeline import Pipeline as ImbPipeline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IMBLEARN_OK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print('instalar: pip install imbalanced-learn')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IMBLEARN_OK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064 — Class imbalance: SMOTE, ADASYN, class_weight, threshold tuning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sin tratamiento: LogisticRegression en creditcardfraud.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class_weight: LogisticRegression(class_weight='balanced').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Threshold tuning: con probabilidades de predict_proba, barrer thresholds y plotear F1 vs threshold.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SMOTE: from imblearn.over_sampling import SMOTE; X_res, y_res = SMOTE().fit_resample(X_train, y_train).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imblearn: Pipeline([('smote', SMOTE()), ('clf', LogisticRegression())]).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4 modelos: baseline, class_weight, SMOTE, SMOTETomek.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precision, recall, F1, PR-AUC y MCC para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Curva PR de los 4 lado a lado.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Threshold tuning sobre el mejor para maximizar F2 (favorece recall).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065 — Precision/Recall tradeoff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065 — Precision/Recall tradeoff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que no se puede maximizar precision y recall al mismo tiempo: mover el threshold de decisión sube uno y baja el otro. La clase enseña a usar decision_function + precision_recall_curve para elegir el threshold según el costo del negocio, no según el default de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tradeoff entre precision y recall en términos del threshold del clasificador.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Obtener scores crudos con decision_function(X) (o predict_proba) en vez de quedarse con predict.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 curva con precision_recall_curve(y_true, scores) y graficarla.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un threshold que cumpla una restricción del negocio (ej: precision ≥ 90%).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average_precision_score como métrica resumen única de la curva.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065 — Precision/Recall tradeoff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Threshold de decisión: el default 0 no es sagrado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decision_function vs predict_proba vs predict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precision_recall_curve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Elegir threshold según restricción de negocio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average_precision_score (AP)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PR &gt; ROC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065 — Precision/Recall tradeoff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 se puede maximizar precision y recall a la vez: mover el umbral de decisión sube uno y baja el otro. Usamos decision_function + precision_recall_curve para elegir el umbral según el costo del negocio, no según el default 0.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cross_val_predict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(precision_recall_curve, precision_score,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recall_score, average_precision_score)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ytr5 = (ytr == 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print('positivos (5) en train:', int(ytr5.sum()), '/', len(ytr5))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065 — Precision/Recall tradeoff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Score crudo.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PR.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Threshold para precision ≥ 90%.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precision vs recall.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Average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MNIST binario (es 5 vs no): (a) entrenar SGDClassifier; (b) obtener y_scores con cross_val_predict(method='decision_function'); (c) graficar las dos curvas (precision/recall vs threshold y precision vs recall); (d) encontrar el threshold que da precision ≥ 90% y reportar el recall en ese punto; (e) reportar average_precision_score.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066 — Curva ROC y AUC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066 — Curva ROC y AUC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 § The ROC Curve. ·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qué mide la curva ROC, calcule el AUC con scikit-learn y sepa decidir cuándo ROC es la métrica adecuada y cuándo conviene usar Precision-Recall — sobre todo en datasets desbalanceados, donde ROC tiende a mentir.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la curva ROC con roc_curve graficando TPR vs FPR a distintos umbrales.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el AUC con roc_auc_score e interpretar el valor (0.5 = azar, 1.0 = perfecto).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dos clasificadores superponiendo sus curvas ROC y eligiendo por AUC.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ROC vs PR según la prevalencia de la clase positiva.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la trampa del desbalance: reconocer cuándo un AUC alto esconde mala precisión.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066 — Curva ROC y AUC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TPR (recall) y FPR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ROC con roc_curve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AUC con roc_auc_score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Diagonal de azar y modelo perfecto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ROC vs Precision-Recall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Comparación de modelos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066 — Curva ROC y AUC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Qué mide la curva ROC (TPR vs FPR), cómo calcular el AUC y cuándo ROC engaña: en datasets desbalanceados la curva PR es más honesta.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cross_val_predict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(roc_curve, roc_auc_score, precision_recall_curve,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average_precision_score, precision_score, recall_score)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ytr5 = (ytr == 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print('prevalencia de 5s en train: {:.3f}'.format(ytr5.mean()))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066 — Curva ROC y AUC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Scores y curva ROC.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dos modelos.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ROC vs PR en desbalance.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Punto operativo.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"es un 5" de MNIST: (a) entrenar SGD y RandomForest; (b) graficar ambas ROC superpuestas con AUC en la leyenda; (c) graficar las dos curvas PR con average_precision_score en la leyenda; (d) tabla final con AUC y AP por modelo; (e) párrafo de 3-4 líneas eligiendo el ganador y justificando con qué métrica decidiste y por qué (pista: prevalencia ≈ 10%).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067 — Clasificación multiclase, multilabel, multioutput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067 — Clasificación multiclase, multilabel, multioutput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distinga los tres escenarios de clasificación más allá del binario — multiclase (una salida con K&gt;2 clases), multilabel (varias etiquetas por muestra) y multioutput (varias salidas, cada una con su propio rango de valores) — y sepa qué estrategia de sklearn (OneVsRest, OneVsOne, MultiOutputClassifier) usar en cada caso, eligiendo además la métrica correcta (accuracy global, hamming loss, macro/micro F1).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multiclase, multilabel y multioutput con un ejemplo concreto de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entre OvR y OvO según el costo computacional del clasificador base y el tamaño del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clasificador multilabel con KNeighborsClassifier y evaluarlo con f1_score(average='macro') y hamming_loss.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Envolver un clasificador binario en MultiOutputClassifier para resolver un problema multioutput.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las salidas de predict_proba en cada escenario (lista de arrays vs array 2D).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067 — Clasificación multiclase, multilabel, multioutput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Multiclase: definición y clasificadores nativos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OneVsRestClassifier (OvR)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OneVsOneClassifier (OvO)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Multilabel: y es matriz binaria K-dim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multilabel: hamming loss, macro/micro F1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Multioutput: MultiOutputClassifier / MultiOutputRegressor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067 — Clasificación multiclase, multilabel, multioutput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Tres escenarios más allá del binario: multiclase (una salida, K&gt;2 clases), multilabel (varias etiquetas por muestra) y multioutput (varias salidas, cada una multiclase). Vemos qué estrategia de sklearn usar y qué métrica elegir.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sklearn.multiclass import OneVsRestClassifier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f1_score, hamming_loss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'| clases:', np.unique(y))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067 — Clasificación multiclase, multilabel, multioutput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Multiclase nativo vs OvR.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OvO con SVM.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Multilabel con KNN.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Macro vs micro F1.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Multioutput denoising.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sobre MNIST con: (a) clasificador multiclase con RandomForestClassifier y matriz de confusión 10×10; (b) versión multilabel con etiquetas [es_grande, es_impar] usando KNeighborsClassifier y reporte de hamming_loss + f1_score(average='macro'); (c) ejemplo multioutput de denoising sobre 100 imágenes con ruido uniforme, mostrando 3 pares (ruidosa, denoised, original).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068 — Análisis de errores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068 — Análisis de errores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 § Error Analysis.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mirar el accuracy global y empiece a auditar dónde se equivoca un clasificador: confusion matrix normalizada por fila, pares de clases confundidas, inspección visual de ejemplos mal clasificados, y el loop de error analysis como puerta de entrada al data-centric AI (mejorar datos, no solo modelos).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y normalizar una confusion matrix por fila (recall por clase) y leerla sin confundir filas con columnas.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pares de clases confundidas ordenando los off-diagonals normalizados de mayor a menor.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visualmente ejemplos mal clasificados (hard examples) para formular hipótesis de causa raíz.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si la próxima iteración mejora el modelo (features, regularización, capacidad) o mejora los datos (relabel, augmentación, balancear).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el error analysis loop: entrenar → matriz → slices → hipótesis → fix → re-entrenar.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068 — Análisis de errores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Confusion matrix cruda vs normalizada por fila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Off-diagonals: qué clase se confunde con cuál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Inspección visual de hard examples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Slice analysis (error por subgrupo)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Data-centric AI: cuándo arreglar datos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 analysis loop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068 — Análisis de errores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mirar el accuracy global y auditamos dónde se equivoca el clasificador: matriz de confusión normalizada por fila, pares de clases confundidas, inspección visual de errores y análisis por slices como puerta al data-centric AI.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cross_val_predict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confusion_matrix,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Xtr.shape, '| test', Xte.shape)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068 — Análisis de errores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Matriz cruda y normalizada.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Top-5 confusiones.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Galería de errores.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Slice por grosor de trazo.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Intervención data-centric.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MNIST que entregue: (a) confusion matrix normalizada por fila como heatmap; (b) tabla con los 3 pares de clases más confundidos y su porcentaje; (c) grilla de 16 ejemplos mal clasificados del par peor, con título real=X pred=Y; (d) tabla de accuracy por slice según una variable derivada (intensidad media, posición del centro de masa, lo que elijas); (e) un párrafo de hipótesis: ¿el error es de modelo o de datos? ¿qué probarías en la siguiente iteración?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069 — Regresión lineal: ecuación normal vs gradient descent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Linear Regression.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regresión lineal desde adentro: la hipótesis $\hat{y} = \theta^T x$, por qué se usa MSE como costo, las dos formas de resolverla (ecuación normal cerrada vs gradient descent iterativo), y cuándo conviene cada una según el tamaño del dataset y la cantidad de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la hipótesis lineal $\hat{y} = \theta_0 + \theta_1 x_1 + \dots + \theta_n x_n$ en forma matricial $X\theta$.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Derivar la ecuación normal $\theta = (X^T X)^{-1} X^T y$ y resolverla con NumPy.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LinearRegression de sklearn y entender que internamente usa pseudoinversa SVD (más estable que la ecuación normal).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complejidad: ecuación normal $O(n^3)$ en features vs gradient descent $O(n)$ por iteración.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entre forma cerrada y GD según $n$ features y $m$ muestras.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lineal y notación vectorial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MSE como función de costo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Ecuación normal (forma cerrada)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Pseudoinversa SVD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descent (intuición)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computacional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$y = 4 + 3x + \text{ruido}\ \mathcal{N}(0,1)$ con $m=100$. El $\theta$ verdadero es $[4, 3]$, así que podremos verificar cuánto lo recupera cada método. Agregamos la columna de unos $x_0=1$ para absorber el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2 * np.random.rand(m,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4 + 3 * X[:, 0] + np.random.randn(m)     # DGP: y = 4 + 3x + N(0,1)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np.c_[np.ones((m, 1)), X]              # columna de unos para el bias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print('X_b shape:', X_b.shape, '| y shape:', y.shape)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print('theta verdadero:', [4, 3])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Hipótesis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Pseudoinversa.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Caso singular.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Complejidad empírica.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California Housing (sklearn.datasets.fetch_california_housing): (a) split 80/20 con random_state=42; (b) ajustar LinearRegression; (c) reportar $R^2$ y RMSE en test; (d) imprimir coef_ mapeado a nombres de feature; (e) resolver manualmente la ecuación normal en los datos escalados y verificar que da los mismos coeficientes que sklearn (módulo escalado del intercept).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070 — Gradient Descent: batch, stochastic, mini-batch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070 — Gradient Descent: batch, stochastic, mini-batch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gradient descent como motor de optimización para entrenar modelos lineales cuando la ecuación normal no escala, y sepa elegir entre batch (BGD), stochastic (SGD) y mini-batch GD según tamaño del dataset, ruido tolerable y costo por iteración. Que además dimensione el rol del learning rate y del feature scaling, y use SGDRegressor de scikit-learn.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gradiente de la MSE en regresión lineal y por qué moverse en -∇ minimiza el costo.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BGD vs SGD vs mini-batch en términos de costo por iteración, varianza del paso y memoria.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la curva de costo (divergente, oscilante, lenta, suave) e inferir si el learning_rate está mal seteado.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feature scaling (StandardScaler) antes de cualquier GD y justificar por qué sin escalado SGD diverge o tarda 100×.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SGDRegressor con learning_rate='invscaling' y comparar coeficientes contra LinearRegression (ecuación normal).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070 — Gradient Descent: batch, stochastic, mini-batch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Gradiente de la MSE y regla de update θ := θ - η·∇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GD: usa todo el dataset por step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Stochastic GD: 1 muestra por step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Mini-batch GD: lotes de 32–256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 rate η y learning schedule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Feature scaling como prerrequisito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SGDRegressor de sklearn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070 — Gradient Descent: batch, stochastic, mini-batch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$y = 4 + 3x + \text{ruido}$, con $m=200$. El $\theta$ verdadero es $[4, 3]$; lo usaremos para verificar que las tres variantes convergen.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2 * np.random.rand(m,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4 + 3 * X[:, 0] + np.random.randn(m)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np.c_[np.ones((m, 1)), X]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theta_true = np.array([4., 3.])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 =', m, '| X_b', X_b.shape)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070 — Gradient Descent: batch, stochastic, mini-batch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BGD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SGD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Efecto del learning rate.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Scaling sí/no.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SGDRegressor vs LinearRegression.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California Housing: (a) train/test split 80/20; (b) pipeline StandardScaler + SGDRegressor(max_iter=1000, tol=1e-3, learning_rate='invscaling', eta0=0.01); (c) reportá R² en test y n_iter_ real; (d) repetí sin scaler y mostrá que n_iter_ se dispara o que R² cae; (e) graficá la curva de loss vs epoch usando partial_fit en loop manual.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071 — Regresión polinomial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071 — Regresión polinomial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Polynomial Regression.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ajuste modelos lineales a relaciones no lineales usando PolynomialFeatures de scikit-learn, entienda la combinatoria de features que esto genera, y reconozca el riesgo de overfitting cuando el grado crece.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Transformar features con PolynomialFeatures(degree=d) y entender qué columnas produce.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LinearRegression sobre features polinómicas y graficar la curva resultante.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cuántas features genera grado d con n variables originales (combinatoria con repetición).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overfitting comparando RMSE en train vs test al subir el grado.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interaction_only=True vs incluir potencias.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071 — Regresión polinomial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lineal sobre features no lineales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PolynomialFeatures(degree, include_bias, interaction_only)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Combinatoria de features: C(n+d, d)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Overfitting con grado alto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Validación con train/test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Interaction-only vs full polynomial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071 — Regresión polinomial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$y = 0.5x^2 + x + 2 + \text{ruido}$, con $x\in[-3, 3]$ y $n=100$.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6 * np.random.rand(m, 1) - 3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0.5 * X[:, 0]**2 + X[:, 0] + 2 + np.random.randn(m)   # DGP: 0.5x²+x+2+ruido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fig, ax = plt.subplots(figsize=(7,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ax.scatter(X, y, s=15, alpha=0.7)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ax.set_xlabel('x'); ax.set_ylabel('y'); ax.set_title('Dataset cuadrático ruidoso')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'| y', y.shape)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071 — Regresión polinomial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dataset cuadrático.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grado 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Grafo de curvas.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train/test vs grado.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dataset sintético y = sin(x) + ruido en x ∈ [0, 2π]; (b) ajustar polinomios de grado 1 a 15; (c) split 80/20; (d) graficar RMSE train vs test por grado; (e) reportar el grado óptimo según test; (f) graficar curva del grado óptimo encima del scatter.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072 — Curvas de aprendizaje y bias-variance tradeoff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072 — Curvas de aprendizaje y bias-variance tradeoff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Diagnosticar si un modelo sufre de alto sesgo o alta varianza leyendo curvas de aprendizaje</a:t>
            </a:r>
            <a:br/>
            <a:r>
              <a:rPr sz="1500" b="0">
                <a:solidFill>
                  <a:srgbClr val="0F172A"/>
                </a:solidFill>
                <a:latin typeface="Segoe UI"/>
              </a:rPr>
              <a:t>(sklearn.model_selection.learning_curve) y decidir, con criterio, si conviene conseguir más datos,</a:t>
            </a:r>
            <a:br/>
            <a:r>
              <a:rPr sz="1500" b="0">
                <a:solidFill>
                  <a:srgbClr val="0F172A"/>
                </a:solidFill>
                <a:latin typeface="Segoe UI"/>
              </a:rPr>
              <a:t>aumentar la capacidad del modelo o regularizar.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Graficar una curva de aprendizaje (RMSE train vs. RMSE validación en función de train_size) con learning_curve.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patrones canónicos: underfitting (curvas altas y juntas) vs. overfitting (gap persistente).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Descomponer conceptualmente el error esperado en bias² + variance + irreducible noise.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acción correctiva apropiada: más datos, más capacidad, features nuevas, o regularización.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"más datos" no siempre es la solución (caso de high bias).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072 — Curvas de aprendizaje y bias-variance tradeoff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de aprendizaje: qué se plotea y cómo se lee.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Patrón de underfitting: ambas curvas convergen alto → más datos no ayuda.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Patrón de overfitting: gap grande train/val → más datos sí ayuda, o regularizar.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Descomposición bias-variance del error de generalización.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 irreducible (ruido de Bayes): cota inferior inevitable.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Tradeoff: aumentar capacidad ↓ bias pero ↑ variance.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Diagnóstico operacional con learning_curve y validation_curve.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072 — Curvas de aprendizaje y bias-variance tradeoff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$y = 0.5x^2 + x + 2 + \varepsilon$, con $\varepsilon\sim\mathcal{N}(0, \sigma^2)$ y $\sigma=1$. Conocer $\sigma$ nos permite comparar el error irreducible con la varianza medida.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6 * np.random.rand(m, 1) - 3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sigma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0.5 * X[:, 0]**2 + X[:, 0] + 2 + np.random.randn(m) *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print('dataset:', X.shape, '| ruido σ =', sigma, '| σ² =', sigma**2)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072 — Curvas de aprendizaje y bias-variance tradeoff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base.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Aumentar capacidad.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¿Más datos ayudan? Para el polinomio de grado 10, extendé el dataset a 2000 puntos y volvé a plotear.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Validation curve.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Bias-variance empírico.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Entrená DecisionTreeRegressor(max_depth=d) para d ∈ {2, 5, 10, None}.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uno, generá la curva de aprendizaje con learning_curve(cv=5, scoring='neg_root_mean_squared_error').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Clasificá cada modelo como underfit, fit razonable o overfit justificando con el gap final y el nivel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Recomendá explícitamente, para cada caso, una de tres acciones: ["más datos", "más capacidad", "regularizar/podar"].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073 — Regularización: Ridge, Lasso, Elastic Net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073 — Regularización: Ridge, Lasso, Elastic Net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controlar el overfitting en modelos lineales mediante regularización L2 (Ridge), L1 (Lasso) y su combinación (Elastic Net), entendiendo el rol del hiperparámetro alpha, la importancia del scaling, y cuándo conviene cada variante.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la regularización y por qué reduce la varianza de un modelo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Ridge, Lasso y ElasticNet de scikit-learn sobre un dataset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alpha con RidgeCV / LassoCV / ElasticNetCV y leer los coeficientes resultantes.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entre L1, L2 y L1+L2 según el problema (multicolinealidad, sparsity, número de features).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por qué Lasso "anula" features y Ridge solo las "encoge".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073 — Regularización: Ridge, Lasso, Elastic Net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Sesgo–varianza y motivación de la regularización.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Ridge (L2): penalización α · Σβ². Encoge coeficientes hacia cero sin anularlos.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Lasso (L1): penalización α · Σ|β|. Produce soluciones sparse (selección de features).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Elastic Net: combinación L1+L2 con l1_ratio.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 alpha: efecto en bias/varianza; α=0 ≡ OLS; α→∞ ≡ modelo nulo.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Scaling obligatorio (StandardScaler) antes de regularizar.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α con CV: RidgeCV, LassoCV, ElasticNetCV.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073 — Regularización: Ridge, Lasso, Elastic Net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make_regression con 50 features de las cuales solo 10 son informativas. Lasso debería anular gran parte de las 40 ruidosas.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y, coef_true = make_regression(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n_samples=200, n_features=50, n_informative=10, noise=10,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coef=True,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n_informativas = int((coef_true != 0).sum())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print('features:', X.shape[1], '| informativas reales:', n_informativas)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073 — Regularización: Ridge, Lasso, Elastic Net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OLS baseline: entrená LinearRegression sobre California Housing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Ridge: entrená Ridge(alpha=1.0) sobre los mismos 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Lasso: entrená Lasso(alpha=0.1).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Elastic Net: entrená ElasticNet(alpha=0.1, l1_ratio=0.5).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Tuning con CV: usá RidgeCV(alphas=np.logspace(-3, 3, 50)) y LassoCV(cv=5) para encontrar el mejor alpha.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Entrená OLS, Ridge, Lasso y Elastic Net (todos con StandardScaler en Pipeline).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Tuneá alpha con la variante *CV correspondiente.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Reportá: RMSE en test (split 80/20, random_state=42), número de coeficientes ≠ 0, y top-5 features por |coef| en Lasso.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074 — Early stopping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074 — Early stopping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early stopping como técnica de regularización implícita en entrenamientos iterativos: monitorear la pérdida de validación durante el descenso por gradiente y detener el ajuste cuando deja de mejorar, conservando el mejor modelo visto.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detener el entrenamiento antes del óptimo de train actúa como regularización.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SGDRegressor(early_stopping=True) con validation_fraction, n_iter_no_change y tol.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Graficar curvas de train loss vs. validation loss e identificar la best epoch.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manualmente un loop con paciencia y snapshot del mejor modelo (partial_fit).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early stopping reemplaza o complementa a Ridge/Lasso.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074 — Early stopping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Sobreajuste en entrenamientos iterativos (SGD, gradient boosting, redes neuronales).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de aprendizaje por época: train baja, validación baja y luego sube.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Mecánica del early stopping: monitorear val loss + criterio de paciencia.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scikit-learn: SGDRegressor / SGDClassifier con early_stopping=True.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Implementación manual con partial_fit + copy.deepcopy del mejor estimador.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Relación con otras regularizaciones (L1, L2, dropout en deep learning).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074 — Early stopping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make_regression con 50 features y ruido. Separamos train / validación / test y escalamos con StandardScaler (SGD es muy sensible a la escala).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make_regression(n_samples=2000, n_features=50, noise=20,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X_tmp, Xte, y_tmp,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Xva, ytr, yva = train_test_split(X_tmp, y_tmp, test_size=0.25, random_state=42)  # 60/20/20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 = StandardScaler().fit(Xtr)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Xva, Xte = sc.transform(Xtr), sc.transform(Xva), sc.transform(Xte)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rmse(y_true, pred):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np.sqrt(mean_squared_error(y_true, pred))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Xtr.shape[0], '| val', Xva.shape[0], '| test', Xte.shape[0])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074 — Early stopping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clásica: entrenar SGDRegressor(max_iter=1, warm_start=True, learning_rate='constant', eta0=0.0005) por 500 épocas sobre California Housing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 stopping automático: comparar SGDRegressor(early_stopping=True, validation_fraction=0.2, n_iter_no_change=10, tol=1e-4) contra el modelo sin early stopping.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Paciencia: barrer n_iter_no_change ∈ {1, 5, 20, 100} y mostrar cómo afecta la época final y el error de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Implementación manual: escribir un loop con partial_fit que mantenga best_loss, best_model = deepcopy(sgd) y un contador de paciencia.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 Ridge: sobre make_regression con ruido, comparar (a) SGD sin regularización + early stopping, (b) Ridge con alpha tuneado por 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SGDRegressor con early_stopping=True, validation_fraction=0.2, n_iter_no_change=15, tol=1e-4, random_state=42.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Guardar la curva de loss_curve reconstruida con partial_fit (paralela, sin early stopping, 1000 épocas) en curva_val.png.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Reportar: épocas usadas por el modelo con early stopping (n_iter_), RMSE en test, y época óptima vista en la curva manual.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075 — Regresión logística binaria y softmax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075 — Regresión logística binaria y softmax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la regresión logística como modelo lineal para clasificación: cómo la sigmoide convierte un score lineal en probabilidad, por qué se entrena minimizando log-loss (cross-entropy), y cómo se generaliza a multiclase con softmax. Además, que sepa diagnosticar si las probabilidades que devuelve un clasificador están bien calibradas y cómo corregirlas si 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Derivar la sigmoide σ(z) = 1/(1+e^-z) como puente entre score lineal y probabilidad, y explicar por qué no se usa MSE en clasificación.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LogisticRegression binaria de sklearn, interpretar coeficientes como log-odds y la frontera de decisión.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Extender a multiclase con multi_class='multinomial' (softmax) y diferenciar de 'ovr' (one-vs-rest).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con log-loss y Brier score, no solo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y corregir calibración con calibration_curve y CalibratedClassifierCV (Platt / isotonic).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075 — Regresión logística binaria y softmax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Sigmoide y log-odds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Log-loss (cross-entropy binaria)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Regularización (C, penalty)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Softmax para multiclase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multinomial vs ovr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Predict_proba y calibración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075 — Regresión logística binaria y softmax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LogisticRegression (escalada) y reportamos accuracy, log-loss y matriz de confusión. Interpretamos los coeficientes de mayor peso como odds-ratio $\exp(w)$.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log_loss, confusion_matrix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Xc, yc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train_test_split(Xc, yc, test_size=0.2, random_state=42, stratify=yc)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clf = make_pipeline(StandardScaler(), LogisticRegression(max_iter=1000)).fit(Xtr, ytr)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proba = clf.predict_proba(Xte)[:, 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print('accuracy:', round(accuracy_score(yte, clf.predict(Xte)),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print('log-loss:', round(log_loss(yte, proba),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print('matriz de confusión:\n', confusion_matrix(yte, clf.predict(Xte)))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coef = clf.named_steps['logisticregression'].coef_[0]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i in np.argsort(np.abs(coef))[::-1][:5]: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075 — Regresión logística binaria y softmax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Logística binaria desde cero.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Frontera de decisión.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Softmax sobre iris.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Reliability diagram de un RandomForest.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Calibrar con CalibratedClassifierCV.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make_classification(n_samples=20000, weights=[0.9, 0.1], random_state=42): (a) entrena LogisticRegression y RandomForestClassifier; (b) reporta accuracy, log-loss y Brier score de ambos en test; (c) grafica reliability diagram de ambos en la misma figura; (d) calibra el RF con CalibratedClassifierCV(method='isotonic', cv=5) y reporta el nuevo Brier; (e) escribe 2-3 líneas interpretando: ¿quedó el RF mejor calibrado que la logística cruda?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076 — Calibración de probabilidades: Platt, isotonic, temperature scaling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076 — Calibración de probabilidades: Platt, isotonic, temperature scaling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Platt (1999) + Niculescu-Mizil &amp; Caruana (2005) + Guo et al. (2017).  Duración estimada: 75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cuándo las probabilidades que devuelve predict_proba son calibradas — es decir, si el modelo dice "70 %" para un grupo, ¿realmente el 70 % es positivo? Modelos como Random Forest y SVM suelen estar mal calibrados; XGBoost mejor. Aplicar Platt scaling (sigmoid) y isotonic regression para corregir. Evaluar con Brier score, ECE (Expected Calibration Error) y reliability diagrams.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reliability diagram: agrupar predicciones por bin de probabilidad y plotear "predicho vs real".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Brier score = mean((p - y)²). Más bajo = mejor calibración.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ECE: Σ (n_b/N) · |acc_b - conf_b|.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sklearn.calibration.CalibratedClassifierCV(estimator, method='sigmoid' | 'isotonic', cv=5).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Decidir: Platt cuando muestra chica (n &lt; 1000), isotonic cuando hay datos.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076 — Calibración de probabilidades: Platt, isotonic, temperature scaling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importa? Decisiones que dependen de threshold ≠ 0.5 requieren probs reales.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Reliability diagram: predicción vs frecuencia real.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Platt scaling: ajustar σ(A·logit + B) con MLE sobre val set.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Isotonic regression: monótono pero más flexible (puede sobreajustar).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Temperature scaling: solo divide logits por T aprendido — para multiclase, eficiente.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Modelos típicamente calibrados (logistic regression) vs no (RF, SVM).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076 — Calibración de probabilidades: Platt, isotonic, temperature scaling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Un modelo puede acertar el orden (rankear bien quién es más probable que sea positivo) y a la vez mentir en la probabilidad: decir "0.9" cuando en realidad solo el 60% de esos casos resultan positivos. Calibrar es ajustar esas probabilidades para que un "0.8" signifique de verdad 80%. No cambia el ranking ni el AUC — cambia la escala: convierte el score en una probabilidad honesta que sí podés usar para decidir umbrales, costos o riesgos.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sklearn.calibration import CalibratedClassifierCV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brier_score_loss, log_loss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076 — Calibración de probabilidades: Platt, isotonic, temperature scaling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Reliability diagram: entrenar RandomForest, generar predict_proba, bin en 10 grupos, plotear curva calibration vs y=x.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Brier + ECE: implementar ambas y comparar entre RF (mala calibración) y LogReg (buena).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CalibratedClassifierCV: CalibratedClassifierCV(RF, method='sigmoid', cv=5).fit(X,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Isotonic vs Platt: comparar ambos sobre el mismo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Threshold tuning post-calibración: con probs calibradas, F1 vs threshold es más interpretable.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RandomForest + reliability diagram + Brier + ECE.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Calibrar con Platt y con isotonic (CV).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Brier/ECE pre y post.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Reliability diagrams superpuestos.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077 — SVM lineal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077 — SVM lineal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el principio de maximización del margen que define a las Support Vector Machines lineales, distinguir entre hard margin y soft margin, y entrenar un clasificador con LinearSVC controlando el trade-off bias/varianza mediante el hiperparámetro 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el margen y por qué SVM busca el hiperplano que lo maximiza.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hard margin (datos linealmente separables, sin tolerancia) de soft margin (admite violaciones).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el hiperparámetro C y su efecto sobre el ancho del margen y las violaciones permitidas.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LinearSVC en scikit-learn con un Pipeline que incluya StandardScaler.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los vectores soporte y entender por qué son los únicos puntos que definen la frontera.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077 — SVM lineal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geométrica: hiperplano separador y margen.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Hard margin: condiciones y limitaciones (sensibilidad a outliers, exige separabilidad).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 margin: introducción de variables de holgura (slack).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 C: regularización, trade-off margen ancho vs. violaciones.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Función de pérdida hinge loss.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scikit-learn: LinearSVC, loss, C, dual, max_iter.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Importancia crítica del escalado de features en SVM.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077 — SVM lineal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Nos quedamos con dos features (petal length, petal width) para poder visualizar la frontera en 2D, y convertimos el problema a binario.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LinearSVC,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iris = load_iris()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iris.data[:, 2:4]            # petalo: largo y ancho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(iris.target == 2).astype(int)   # 1 = Virginica, 0 = resto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random_state=RND,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print("X:", X.shape, "| Virginica (positivos):", int(y.sum()))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print("train:", X_train.shape[0], "| test:", X_test.shape[0])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077 — SVM lineal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Iris, quedate con dos features (petal length, petal width) y la clase Virginica como problema binario.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Repetí el entrenamiento con C=0.1, C=1, C=100.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Graficá la frontera de decisión y el margen para los tres valores de C del ejercicio anterior (scatter de los datos + línea + márgenes punteados).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Agregá un outlier artificial a la clase minoritaria y volvé a entrenar con C alto y C bajo.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Compará tiempo de entrenamiento de LinearSVC vs.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Iris binarizado (Virginica vs. resto) con petal length y petal width.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Construya un Pipeline con StandardScaler + LinearSVC(C=1, loss="hinge", random_state=42).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Haga train_test_split(test_size=0.2, random_state=42, stratify=y) y entrene.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accuracy sobre test y los coeficientes del clasificador (coef_, intercept_).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078 — SVM no lineal: kernel polinomial y RBF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078 — SVM no lineal: kernel polinomial y RBF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SVMs sobre datos no linealmente separables usando el kernel trick: en lugar de generar features polinómicas a mano (caro en memoria), SVC calcula el producto interno en el espacio expandido vía una función kernel. Foco en kernel polinomial y RBF (Gaussian), y cómo gamma y C controlan el bias-variance trade-off.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kernel trick: por qué K(x, x') evita materializar el feature map φ(x).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SVC(kernel='poly') y SVC(kernel='rbf') en datasets no lineales (moons, circles).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gamma y C con GridSearchCV entendiendo el efecto en la frontera.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kernel según geometría del problema (polinomial vs RBF vs lineal).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límite computacional de SVC: complejidad entre O(n²) y O(n³), no escala a &gt;100k filas.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078 — SVM no lineal: kernel polinomial y RBF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Datos no linealmente separables (moons, circles)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Polynomial features manuales vs kernel trick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polinomial: degree, coef0, gamma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RBF (Gaussian): gamma como inverso del ancho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 (regularización) × gamma (forma)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O(n²)–O(n³) y LinearSVC / SGDClassifier para N grande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078 — SVM no lineal: kernel polinomial y RBF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make_moons genera dos medialunas entrelazadas; make_circles, dos anillos concéntricos. Ninguno es separable con una recta.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make_circles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Xm, ym = make_moons(n_samples=300, noise=0.20,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Xc, yc = make_circles(n_samples=300, noise=0.10, factor=0.4,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plot_boundary(ax, model, X, y, title):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 = 0.02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x0 = np.linspace(X[:, 0].min() - 0.5, X[:, 0].max() + 0.5,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x1 = np.linspace(X[:, 1].min() - 0.5, X[:, 1].max() + 0.5,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xx, yy = np.meshgrid(x0, x1)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Z = model.predict(np.c_[xx.ravel(), yy.ravel()]).reshape(xx.shape)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078 — SVM no lineal: kernel polinomial y RBF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Lineal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Polynomial kernel.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RBF kernel.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 search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con StandardScaler.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make_moons(n_samples=1000, noise=0.2). Train/test split 80/20. Entrenar tres modelos: (a) SVC(kernel='linear'), (b) SVC(kernel='poly', degree=3), (c) SVC(kernel='rbf') con gamma y C tuneados vía GridSearchCV(cv=5). Reportar accuracy en test de los tres y graficar las tres fronteras de decisión en una grilla 1×3.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079 — SVM para regresión (SVR)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079 — SVM para regresión (SVR)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Support Vector Machines al problema de regresión: entender el truco del epsilon-insensitive loss (ajustar dentro de un tubo de tolerancia en vez de minimizar el error puntual), entrenar LinearSVR y SVR con kernel, y elegir cuándo conviene SVR sobre regresión lineal clásica.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lógica de SVR: maximizar el ancho del tubo ε mientras se contienen la mayoría de los puntos dentro.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LinearSVR y un SVR(kernel="rbf") de scikit-learn con sus hiperparámetros (epsilon, C, gamma).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el efecto de epsilon (ancho del tubo) y C (penalización por puntos fuera del tubo) en el bias-variance trade-off.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SVR vs LinearRegression / Ridge en un dataset con outliers.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cuándo SVR escala mal (SVR es O(m²–m³)) y conviene LinearSVR u otro modelo.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079 — SVM para regresión (SVR)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 SVM clasificación a SVM regresión: invertir el objetivo.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Epsilon-insensitive loss: errores menores a ε no se penalizan.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LinearSVR: caso lineal, escala bien (O(m)).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SVR con kernel RBF: regresión no lineal, costo cuadrático.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clave: epsilon, C, gamma, kernel.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Robustez frente a outliers comparada con OLS.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079 — SVM para regresión (SVR)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y = 0.5·x + ruido, entrenamos LinearSVR(epsilon=0.5) y dibujamos la recta con su tubo ±ε. Los puntos fuera del tubo son los vectores soporte.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LinearSVR, SVR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LinearRegression, 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mean_squared_error,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np.linspace(0, 5, 120)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0.5 * x + rng.normal(0, 0.4, size=x.size)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x.reshape(-1,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eps = 0.5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svr = LinearSVR(epsilon=eps, C=1.0, max_iter=10000, random_state=RND).fit(X,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pred = svr.predict(X)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fuera = np.abs(y - pred) &gt; eps            # vectores soporte aproximados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print(f"puntos fuera del tubo (vectores soporte): {fuera.sum()} de {x.size}")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079 — SVM para regresión (SVR)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Tubo ε en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Efecto de epsilon.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Kernel RBF.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 search.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Robustez vs 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California Housing y aplique StandardScaler (¡SVR exige escalado!).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Entrene LinearSVR(epsilon=0.5, C=1.0, random_state=42) y un SVR(kernel="rbf", C=10, gamma="scale") sobre un subset de 5 000 muestras.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Reporte RMSE en test para ambos modelos.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080 — Árboles de decisión: entrenamiento, visualización, CART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080 — Árboles de decisión: entrenamiento, visualización, CART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 § Training and Visualizing a Decision Tree.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un DecisionTreeClassifier con el algoritmo CART, entienda cómo se elige cada split (criterio Gini/Entropy), y sepa leer el árbol — tanto el dibujo (plot_tree) como el código (export_graphviz) — para auditar las decisiones del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DecisionTreeClassifier de scikit-learn sobre un dataset tabular (Iris) y predecir clases / probabilidades.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algoritmo CART: greedy, binario, busca el par (feature, threshold) que minimiza la impureza ponderada de los dos hijos.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Gini y entropía a mano sobre un nodo con k clases y elegir el split óptimo entre candidatos.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el árbol entrenado con plot_tree (matplotlib) y export_graphviz (DOT → PNG/SVG), interpretando samples, value, class, gini.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decision boundary axis-aligned: cada split es ortogonal a un eje, lo que limita al árbol frente a fronteras oblicuas.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080 — Árboles de decisión: entrenamiento, visualización, CART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DecisionTreeClassifier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CART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Criterio Gini vs Entropy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Visualización: plot_tree y Graphviz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Interpretación de nodos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 boundary axis-aligned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080 — Árboles de decisión: entrenamiento, visualización, CART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un árbol de profundidad 2 sobre Iris (las 4 features) y consultamos las probabilidades de la primera flor con predict_proba. Los árboles no requieren escalado.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load_iris,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DecisionTreeClassifier, plot_tree, export_text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iris = load_iris()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iris.data, iris.target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clf = DecisionTreeClassifier(max_depth=2, random_state=RND).fit(X,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 = accuracy_score(y, clf.predict(X))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print(f"accuracy train (max_depth=2): {acc:.3f}")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acc &gt;= 0.90, "un arbol depth=2 ya separa muy bien Iris"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print("predict_proba de la primera flor:", np.round(clf.predict_proba(X[:1])[0], 3))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080 — Árboles de decisión: entrenamiento, visualización, CART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Fit + score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Gini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Gini vs 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plot_tree.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Boundary axis-aligned.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Iris (solo pétalo largo y ancho), (b) entrena DecisionTreeClassifier(max_depth=2), (c) reporta accuracy y predict_proba para una flor nueva [5, 1.5], (d) exporta el árbol con export_graphviz a un archivo iris_tree.dot y lo convierte a PNG (o usa plot_tree), (e) responde por escrito: "¿por qué la hoja izquierda tiene Gini=0?".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081 — Regularización de árboles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081 — Regularización de árboles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controle el overfitting de un DecisionTreeClassifier/Regressor usando hiperparámetros de regularización (pre-pruning) y cost-complexity pruning (post-pruning), y sepa elegir entre ambas estrategias en función del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overfitting en un árbol sin regularizar (train accuracy ≈ 1, test bajo).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max_depth, min_samples_split, min_samples_leaf, max_leaf_nodes, max_features con GridSearchCV.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cost-complexity pruning vía ccp_alpha y leer la curva cost_complexity_pruning_path.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pre-pruning (frenar el crecimiento) de post-pruning (podar después).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de hiperparámetros con curvas de validación, no a ojo.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081 — Regularización de árboles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Árboles sin regularizar = overfitting garantizado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 y max_leaf_nodes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min_samples_split / min_samples_leaf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max_features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ccp_alpha (cost-complexity pruning)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Pre-pruning vs post-pruning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081 — Regularización de árboles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Un DecisionTreeClassifier() sin tocar nada sobre make_moons(noise=0.4) memoriza el train: accuracy de train ≈ 1 y una brecha grande contra el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make_moons(n_samples=1000, noise=0.4,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test_size=0.3,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DecisionTreeClassifier(random_state=RND).fit(X_train, y_train)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acc_tr = accuracy_score(y_train, base.predict(X_train))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acc_te = accuracy_score(y_test, base.predict(X_test))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print(f"baseline: acc_train={acc_tr:.3f}  acc_test={acc_te:.3f}")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print(f"gap train-test: {acc_tr - acc_te:.3f}")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acc_tr &gt; acc_te, "el arbol sin regularizar overfittea"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print("train casi perfecto y brecha grande = overfitting")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081 — Regularización de árboles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Overfit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max_depth sweep.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Cost-complexity path.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 de fronteras.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moons (noise=0.4, 1000 samples, split 70/30): (a) baseline sin regularizar — reportar gap train/test; (b) GridSearchCV sobre max_depth y min_samples_leaf con 5-fold; (c) cost-complexity pruning — graficar ccp_alphas vs test accuracy y elegir el mejor α; (d) comparar test accuracy de los 3 modelos (baseline, grid, pruned) en tabla.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082 — Regresión con árboles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082 — Regresión con árboles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árboles de decisión para problemas de regresión con DecisionTreeRegressor, entender por qué sus predicciones son escalonadas (constantes por hoja) y reconocer su incapacidad para extrapolar fuera del rango de entrenamiento.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DecisionTreeRegressor de scikit-learn y predecir sobre datos nuevos.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cómo el criterio MSE (squared error) decide los splits en regresión.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la predicción escalonada del árbol contra el target real en 1D.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problema de no-extrapolación y contrastarlo con regresión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Regular max_depth / min_samples_leaf para balancear bias y varianza.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082 — Regresión con árboles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DecisionTreeRegressor: API e hiperparámetros principales.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Criterio de split: squared_error (MSE) y friedman_mse.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Predicción como media del target dentro de cada hoja → función escalonada.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Sobreajuste con árboles profundos y regularización vía max_depth, min_samples_leaf, min_samples_split.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Limitación clave: el árbol no extrapola — predice el último valor visto en los extremos.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Comparación rápida con regresión lineal en datos con tendencia.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082 — Regresión con árboles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y = sin(x) + ruido y entrenamos árboles de max_depth=2 y max_depth=5. Se ven las escaleras: más profundidad = más escalones.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np.linspace(-3, 3,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np.sin(x) + rng.normal(0, 0.1, size=x.size)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x.reshape(-1,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fig, ax = plt.subplots(figsize=(7,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ax.scatter(x, y, s=12, c="lightgray", label="datos")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d, color in [(2, "tab:blue"), (5, "tab:red")]: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 = DecisionTreeRegressor(max_depth=d, random_state=RND).fit(X,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ax.plot(x, m.predict(X), color=color, lw=2, label=f"max_depth={d}")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ax.set_title("Prediccion escalonada del arbol"); ax.legend()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082 — Regresión con árboles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Ajuste básico: generá los datos sin(x) + ruido, entrená DecisionTreeRegressor(max_depth=2) y max_depth=5, y graficá ambas predicciones sobre los puntos.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MSE en train vs test: hacé train_test_split(test_size=0.3), calculá mean_squared_error en train y test para max_depth ∈ {1, 2, 4, 8, None}.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 extrapolación: predecí con el modelo entrenado sobre x_new = np.linspace(-5, 5, 200) (rango más ancho que el train).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Árbol vs lineal: entrená LinearRegression sobre los mismos 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California Housing: corré cross_val_score(DecisionTreeRegressor(max_depth=6), X, y, scoring='neg_mean_squared_error', cv=5) y compará contra max_depth=None.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Genere y = 0.5 * x + sin(x) + ruido con x en [0, 10].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Entrene DecisionTreeRegressor(max_depth=4, random_state=42) y LinearRegression.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Prediga sobre x_new en [0, 15] (excede el rango de train).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el MSE en test (dentro del rango) y el valor predicho por el árbol en x=15.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083 — Voting classifiers: hard y soft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083 — Voting classifiers: hard y soft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Combinar varios modelos heterogéneos en un ensemble por votación y entender cuándo conviene hard voting (voto por mayoría) versus soft voting (promedio de probabilidades), apoyándonos en el principio de wisdom of the crowd.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un ensemble de clasificadores diversos suele superar al mejor modelo individual.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VotingClassifier de scikit-learn con voting="hard" y voting="soft".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hard y soft voting según si los modelos base estiman probabilidades calibradas.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la accuracy del ensemble contra la de cada modelo base en un dataset de clasificación.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errores frecuentes al armar el ensemble (modelos correlacionados, probabilidades mal calibradas, pesos sin justificar).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083 — Voting classifiers: hard y soft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Wisdom of the crowd: por qué combinar predicciones reduce error.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Hard voting: predicción final = clase con más votos entre los modelos base.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 voting: predicción final = clase con mayor promedio de probabilidades estimadas.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Requisitos para soft voting: que cada modelo exponga predict_proba y esté bien calibrado.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Diversidad entre modelos base (algoritmos distintos, no sólo hiperparámetros distintos).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VotingClassifier(estimators=[...], voting=..., weights=...).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si los modelos se equivocan en los mismos ejemplos, el ensemble no ayuda.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083 — Voting classifiers: hard y soft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RandomForestClassifier, VotingClassifier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083 — Voting classifiers: hard y soft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make_moons y partir en train/test (80/20, random_state=42).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Armar un VotingClassifier con esos tres modelos y voting="hard".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Repetir con voting="soft" (recordá SVC(probability=True)).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Probar weights=[1, 2, 1] favoreciendo al Random Forest.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uno de los modelos por una copia casi idéntica de otro (ej.: dos regresiones logísticas con C muy parecido).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make_moons(n_samples=500, noise=0.30, random_state=42).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Entrene tres modelos base distintos y un VotingClassifier en modo hard y otro en modo soft.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la accuracy en test de los cinco (3 base + 2 ensembles).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084 — Bagging y pasting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084 — Bagging y pasting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55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ensembles entrenando el mismo algoritmo sobre distintos subsets del training set —bagging (con reemplazo) y pasting (sin reemplazo)— y evalúe sin held-out usando out-of-bag (OOB). Cierre con sampling de features (random patches y random subspaces) como puente conceptual a Random Forests.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bagging vs pasting y justificar cuándo elegir uno u otro.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BaggingClassifier de scikit-learn con un base estimator y n_estimators razonable.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oob_score=True para estimar el error de generalización sin tocar el test 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sampling de features (max_features &lt; 1.0, bootstrap_features=True) para random patches / random subspaces.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bias/variance del ensemble vs un único árbol, en accuracy y en frontera de decisión.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084 — Bagging y pasting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 (bootstrap aggregating)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BaggingClassifier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OOB evaluation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patches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subspaces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Paralelización con n_jobs=-1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084 — Bagging y pasting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BaggingClassifier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084 — Bagging y pasting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Bagging vs árbol único.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Bagging vs pasting.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OOB.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de n_estimators.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subspaces.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cargue make_moons(500, noise=0.30), split 80/20; (b) entrene árbol único y BaggingClassifier(n_estimators=500, max_samples=100, oob_score=True, n_jobs=-1); (c) reporte accuracy test de ambos y oob_score_ del bag; (d) grafique las dos fronteras de decisión lado a lado; (e) repita con bootstrap=False (pasting) y compare en 1 párrafo.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085 — Random Forests y Extra Trees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085 — Random Forests y Extra Trees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Random Forests y Extra Trees como ensambles de árboles decorrelacionados, diferenciar sus mecanismos de aleatoriedad y elegir hiperparámetros razonables para problemas reales de clasificación y regresión.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un Random Forest reduce varianza respecto a un árbol único, usando los conceptos de bagging y subsampling de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Random Forest vs Extra Trees (thresholds óptimos vs aleatorios) y argumentar cuándo conviene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los hiperparámetros clave (n_estimators, max_features, max_depth, bootstrap, min_samples_leaf) con criterios fundados.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y comparar RandomForestClassifier y ExtraTreesClassifier de scikit-learn en un dataset tabular, midiendo accuracy y tiempo.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oob_score_ como estimación honesta del error de generalización sin necesidad de validación cruzada.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085 — Random Forests y Extra Trees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Repaso de bagging: bootstrap + agregación → reducción de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Forest: bagging de árboles + subsampling de features en cada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Extra Trees (Extremely Randomized Trees): thresholds aleatorios en lugar de óptimos.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Hiperparámetros: n_estimators, max_features, max_depth, min_samples_leaf, bootstrap, oob_score.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Out-of-Bag (OOB) score y su uso como reemplazo de 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Comparativa empírica: bias, varianza, tiempo de entrenamiento.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085 — Random Forests y Extra Trees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RandomForestClassifier, ExtraTreesClassifier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load_breast_cancer(return_X_y=True)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085 — Random Forests y Extra Trees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Baseline: entrená un DecisionTreeClassifier único sobre load_breast_cancer con random_state=42 y reportá accuracy en test (split 80/20).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Forest: entrená un RandomForestClassifier(n_estimators=200, random_state=42) y compará accuracy y tiempo contra el árbol único.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Extra Trees: entrená un ExtraTreesClassifier(n_estimators=200, random_state=42) y compará contra RF en accuracy y tiempo de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OOB: entrená un RF con oob_score=True, bootstrap=True y compará oob_score_ contra el accuracy de test; ¿se parecen?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Sensibilidad a max_features: variá max_features en [1, 'sqrt', 'log2', 0.5, 1.0] y graficá accuracy de CV; identificá el óptimo.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Entrená RandomForestRegressor y ExtraTreesRegressor con n_estimators=300, random_state=42.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R² en test (split 80/20) y tiempo de entrenamiento de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Tuneá max_features con GridSearchCV (cv=3) sobre [0.3, 0.5, 0.7, 1.0] para el mejor de los dos.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086 — Feature importance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086 — Feature importance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 + sklearn permutation_importance docs.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medir y comunicar qué variables aportan a un modelo basado en árboles, distinguiendo entre Mean Decrease in Impurity (MDI) —el feature_importances_ por default de scikit-learn— y permutation importance, entendiendo los sesgos de cada método. Como complemento, conocer las herramientas modernas de interpretabilidad SHAP y LIME para explicar predicciones individuales.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feature_importances_ en un RandomForestClassifier / GradientBoostingRegressor y explicar qué mide MDI.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sklearn.inspection.permutation_importance sobre el set de validación y comparar el ranking con MDI.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los sesgos de MDI (favorece features de alta cardinalidad y continuas) y de permutation (problemas con features correlacionadas).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explicaciones locales con shap.TreeExplainer e interpretar summary_plot y waterfall_plot.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MDI, permutation, SHAP o LIME según contexto (auditoría, debugging, comunicación).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086 — Feature importance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Recordatorio: cómo los árboles eligen splits (impurity / variance reduction).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MDI: suma ponderada de la reducción de impureza por feature, promediada sobre los árboles.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importance: caída del score al permutar aleatoriamente los valores de una feature.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Sesgos: cardinalidad alta infla MDI; correlación infla/desinfla permutation.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MDI se calcula sobre train (riesgo de overfitting); permutation se calcula sobre test/valid.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Interpretabilidad global vs local.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SHAP, LIME, PDP, ICE.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086 — Feature importance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sklearn.inspection import permutation_importance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pd.DataFrame(data.data, columns=data.feature_names)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test_size=0.3,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086 — Feature importance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Entrená un RandomForestRegressor sobre California Housing.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Calculá permutation_importance sobre el set de test con n_repeats=10.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Agregá una columna random_id = np.arange(len(X)) y reentrená.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Generá shap.summary_plot con TreeExplainer y explicá la diferencia entre el plot tipo beeswarm (impacto + dirección) y un bar plot de MDI.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Elegí una instancia mal clasificada (o con error grande en regresión) y explicala con shap.waterfall_plot.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Reporte el top-5 de features según MDI y según permutation (sobre test).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Genere shap.summary_plot y guarde el PNG.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Explique con SHAP una predicción correcta y una incorrecta (waterfall_plot).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087 — SHAP en profundidad: TreeExplainer, KernelExplainer, DeepExplainer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087 — SHAP en profundidad: TreeExplainer, KernelExplainer, DeepExplainer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Lundberg &amp; Lee (2017) + shap docs.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SHAP (SHapley Additive exPlanations) en profundidad: teoría de Shapley values (teoría de juegos cooperativos), TreeExplainer (rápido y exacto para árboles), KernelExplainer (model-agnostic, lento), DeepExplainer (para NN), y los plots clave: summary_plot, waterfall_plot, force_plot, dependence_plot, decision_plot.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Shapley value intuitivamente: contribución marginal promedio sobre todos los órdenes de inclusión.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TreeExplainer en XGBoost/LightGBM/RF (segundos para millones de samples).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e interpretar los 5 plots SHAP principales.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explicación global (summary_plot beeswarm) de local (waterfall de una predicción).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limitaciones: SHAP asume cierta forma de "feature attribution" pero no es causal.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087 — SHAP en profundidad: TreeExplainer, KernelExplainer, DeepExplainer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Shapley value: φ_i = Σ |S|!(M-|S|-1)! / M! · [v(S ∪ {i}) - v(S)].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4 propiedades únicas: efficiency, symmetry, dummy, additivity.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TreeExplainer: exacto para tree-based, O(TLD²).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KernelExplainer: LIME-style con kernel especial → SHAP values aproximados.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DeepExplainer: para Keras/PyTorch.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explainer: alternativa moderna sin necesidad de árbol/red.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087 — SHAP en profundidad: TreeExplainer, KernelExplainer, DeepExplainer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TreeExplainer sobre GBM (rápido y exacto) + DeepExplainer/KernelExplainer sobre MLP. Instalar: pip install shap.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sklearn.neural_network import MLPClassifier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shap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SHAP_OK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print('instalar: pip install shap')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SHAP_OK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087 — SHAP en profundidad: TreeExplainer, KernelExplainer, DeepExplainer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TreeExplainer: XGBoost en California Housing → explainer = shap.TreeExplainer(model); shap_values = explainer(X_test).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Summary plot: shap.summary_plot(shap_values, 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Waterfall: elegir 1 muestra concreta → shap.waterfall_plot(shap_values[0]).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Dependence plot: shap.dependence_plot('MedInc', shap_values.values, 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Interaction values: shap_interaction = explainer.shap_interaction_values(X_test).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entrenado.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SHAP values con TreeExplainer.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Summary plot + force_plot de 3 predicciones (alta, media, baja).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Dependence plots para top-3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Reporte de 1 página: insights de qué mueve el precio (en lenguaje no técnico).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088 — Boosting: AdaBoost y Gradient Boosting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088 — Boosting: AdaBoost y Gradient Boosting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 idea de boosting como combinación secuencial de aprendices débiles, dominar los dos enfoques clásicos —AdaBoost (reponderar errores) y Gradient Boosting (ajustar al residuo)— y saber tunear learning_rate, n_estimators y aplicar early stopping con staged_predict.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diferencia conceptual entre bagging (paralelo, varianza) y boosting (secuencial, sesgo).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AdaBoostClassifier y un GradientBoostingClassifier de scikit-learn, leyendo correctamente sus hiperparámetros.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por qué learning_rate y n_estimators se mueven en sentidos opuestos (shrinkage).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early stopping en boosting usando staged_predict sobre un set de validación.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conviene AdaBoost, cuándo Gradient Boosting clásico y cuándo saltar directo a las librerías de la 079.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088 — Boosting: AdaBoost y Gradient Boosting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Intuición: muchos clasificadores débiles → uno fuerte.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AdaBoost: peso a las muestras mal clasificadas; SAMME y SAMME.R.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Boosting: cada árbol ajusta el residuo (gradiente de la loss) del ensemble previo.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clave: n_estimators, learning_rate, max_depth, subsample (stochastic gradient boosting).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staged_predict / staged_predict_proba: predicciones intermedias para early stopping.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Curvas de error vs. número de estimadores: detectar el "codo".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entrenamiento secuencial (no se paraleliza tan bien como bagging).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088 — Boosting: AdaBoost y Gradient Boosting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(AdaBoostClassifier, GradientBoostingClassifier,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GradientBoostingRegressor)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log_loss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Xm, ym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Xm_tr, Xm_te, ym_tr, ym_te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Xm, ym, test_size=0.2, random_state=42, stratify=ym)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Xc, yc = load_breast_cancer(return_X_y=True)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Xc_tr, Xc_te, yc_tr, yc_te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Xc, yc, test_size=0.2, random_state=42, stratify=yc)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print('moons train', Xm_tr.shape, '| cancer train', Xc_tr.shape)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088 — Boosting: AdaBoost y Gradient Boosting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AdaBoost desde cero conceptual: entrená un AdaBoostClassifier(n_estimators=200, learning_rate=0.5) sobre make_moons.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Gradient Boosting paso a paso: usá GradientBoostingRegressor(max_depth=2, n_estimators=3, learning_rate=1.0) sobre datos sintéticos y = x² +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Trade-off learning_rate ↔ n_estimators: comparé (lr=1.0, n=50) 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 stopping con staged_predict: entrené GradientBoostingClassifier(n_estimators=500, learning_rate=0.05) y, usando staged_predict sobre validación, encontrá el n_estimators óptimo.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Stochastic Gradient Boosting: agregale subsample=0.5 al modelo de (4).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Entrené AdaBoostClassifier(n_estimators=200, learning_rate=0.5, random_state=42) y GradientBoostingClassifier(n_estimators=200, learning_rate=0.1, max_depth=3, random_state=42).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el Gradient Boosting, encontrá el best_n usando staged_predict_proba sobre el set de test y log_loss.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accuracy de los tres modelos (AdaBoost, GB completo, GB con best_n).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089 — XGBoost, LightGBM y CatBoost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089 — XGBoost, LightGBM y CatBoost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docs XGBoost/LightGBM/CatBoost + Géron, cap. 7.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las tres librerías de gradient boosting moderno que dominan tabular ML —XGBoost, LightGBM y CatBoost—, entender sus diferencias algorítmicas (level-wise vs leaf-wise, manejo de categóricas, regularización) y saber elegir la adecuada según el problema, usando sus APIs sklearn-compatibles con early_stopping_rounds.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y usar xgboost, lightgbm y catboost con la API sklearn (fit/predict/predict_proba).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diferencia entre crecimiento level-wise (XGBoost por defecto) y leaf-wise (LightGBM) y sus implicancias en velocidad y overfitting.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early stopping con eval_set y early_stopping_rounds para evitar overfitting y ahorrar tiempo.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features categóricas: encoding manual para XGBoost, categorical_feature en LightGBM, cat_features nativo en CatBoost con ordered boosting.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la librería apropiada según tamaño de dataset, presencia de categóricas y necesidad de velocidad de entrenamiento o inferencia.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089 — XGBoost, LightGBM y CatBoost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Level-wise (default)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Media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Rápida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(requiere encoding)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089 — XGBoost, LightGBM y CatBoost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xgboost as xgb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lightgbm as lgb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print('xgboost ', xgb.__version__)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print('lightgbm', lgb.__version__)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print('catboost: no instalado en este entorno (se describe, no se importa)')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n_samples=3000, n_features=20, n_informative=10, n_redundant=4,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weights=[0.6, 0.4],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X_tmp, y_train, y_tmp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test_size=0.4,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089 — XGBoost, LightGBM y CatBoost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Instalación y smoke test: instalar las 3 librerías, importarlas e imprimir versiones.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XGBoost básico: entrenar XGBClassifier sobre adult (con OneHotEncoder para categóricas), usar eval_set y early_stopping_rounds=20, reportar accuracy en test y la mejor iteración.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LightGBM con leaf-wise: entrenar LGBMClassifier pasando categorical_feature con los índices de columnas categóricas (encoding ordinal previo).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CatBoost nativo: entrenar CatBoostClassifier pasando cat_features con los nombres de columnas — sin encoding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final: entrenar los 3 modelos sobre el mismo dataset con los mismos splits, reportar en una tabla: accuracy test, tiempo de fit, tiempo de predict y mejor iteración.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Los 3 modelos entrenan sin error sobre al menos un dataset con categóricas.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CatBoost se entrena sin OneHotEncoder previo (usa cat_features).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CSV contiene las 3 filas con valores no nulos.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el README del homework, una conclusión de 3 líneas justificando cuál elegirías.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090 — Stacking (stacked generalization)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090 — Stacking (stacked generalization)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combine modelos heterogéneos vía stacking: entrenar varios modelos base, generar predicciones out-of-fold, y entrenar un meta-modelo (blender) sobre esas predicciones — todo con StackingClassifier / StackingRegressor de sklearn, sin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idea de stacking como ensamble donde un meta-modelo aprende a combinar las predicciones de los base learners.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StackingClassifier con varios estimadores base y un blender (típicamente regresión logística).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las predicciones out-of-fold (CV interna) como mecanismo para evitar que el blender vea predicciones in-sample.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stacking contra voting y contra un solo modelo bien tuneado, en accuracy y costo computacional.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passthrough=True para que el blender vea también las features originales, no solo las predicciones de los base.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090 — Stacking (stacked generalization)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Idea: ensamble de dos niveles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 learners heterogéneos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Meta-modelo (blender)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Out-of-fold predictions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StackingClassifier / StackingRegressor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passthrough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Costo y cuándo conviene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090 — Stacking (stacked generalization)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(RandomForestClassifier, StackingClassifier,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VotingClassifier)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n_samples=2000, n_features=20, n_informative=10, n_redundant=4,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'y', y.shape)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090 — Stacking (stacked generalization)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Stacking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contra base learners solos.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passthrough=True.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Variando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Stacking vs Voting.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make_classification(n_samples=3000, n_features=20, n_informative=10, random_state=42): (a) entrenar 3 base learners individuales y reportar CV-accuracy; (b) entrenar StackingClassifier con esos 3 + LogisticRegression blender; (c) repetir con passthrough=True; (d) entrenar VotingClassifier(voting='soft') con los mismos base; (e) tabla comparativa final con accuracy, std y tiempo de entrenamiento.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091 — La maldición de la dimensionalidad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091 — La maldición de la dimensionalidad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 § The Curse of Dimensionality. ·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por qué los algoritmos basados en distancia (kNN, k-means, SVM-RBF) degradan en alta dimensión: el espacio se vuelve mayormente vacío, las distancias entre puntos colapsan a un mismo valor, y los modelos overfittean. Esto motiva la reducción de dimensionalidad (PCA, manifold learning) que viene en las próximas clases.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sparsity exponencial: por qué llenar uniformemente un hipercubo unitario requiere n^d puntos.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numéricamente que en d=100 la razón (d_max - d_min) / d_min entre distancias euclidianas tiende a 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qué algoritmos sufren la maldición (basados en distancia/densidad) y cuáles menos (árboles, modelos lineales con regularización).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manifold hypothesis como justificación de PCA, t-SNE, UMAP: los datos reales viven en un subespacio de baja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reducir dimensionalidad vs. cuándo regularizar o usar otro modelo.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091 — La maldición de la dimensionalidad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geométrica: hipercubo y volumen del borde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Sparsity exponencial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Concentración de la medida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Distancia euclidiana pierde sentido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Hubness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Manifold hypothesis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Implicaciones prácticas para ML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091 — La maldición de la dimensionalidad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 [0,1]^d, la fracción de volumen a menos de 0.01 del borde es 1 - 0.98^d. Crece rápido: casi todo el volumen vive pegado al borde.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dims = np.arange(1, 201)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frac_borde = 1 - 0.98 ** dims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d in (2, 10, 100):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print(f"d={d:&gt;3}: fraccion cerca del borde = {1 - 0.98**d:.4f}")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frac_borde[99] &gt; 0.85, "en d=100 casi todo el volumen esta en el borde"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plt.plot(dims, frac_borde, color="#37a")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plt.axhline(0.99, ls="--", color="#c33", lw=0.8, label="99%")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plt.xlabel("dimension d"); plt.ylabel("fraccion cerca del borde")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plt.title("El volumen se concentra en el borde")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plt.legend(); plt.tight_layout(); plt.show()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091 — La maldición de la dimensionalidad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Volumen del borde.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Concentración de distancias.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Distancia al vecino más cercano.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 degrada.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Manifold hipótesis empírica.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genere puntos uniformes en [0,1]^d para d ∈ [1, 200]; (b) calcule y grafique (d_max - d_min)/d_min vs d; (c) entrene KNeighborsClassifier con n=1000 y features añadidas de ruido N(0,1), reporte accuracy vs d; (d) sobre load_digits, calcule cuántos componentes PCA explican 90%, 95%, 99% de varianza.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092 — PCA: proyección, varianza explicada, incremental, randomized, kernel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PCA como técnica de reducción de dimensionalidad lineal: entender la proyección al subespacio de máxima varianza vía SVD, elegir el número de componentes con explained_variance_ratio_, y aplicar las variantes (Incremental, Randomized, Kernel) según el tamaño y la geometría del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geométricamente qué hace PCA (proyección al hiperplano que maximiza la varianza).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PCA de scikit-learn y leer components_, explained_variance_ratio_ y singular_values_.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número de componentes vía umbral de varianza acumulada (ej. 95%) o codo del scree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PCA, IncrementalPCA y PCA(svd_solver="randomized") según memoria y velocidad.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KernelPCA (RBF/poly) para datasets con estructura no-lineal y tunear gamma con GridSearchCV.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Maldición de la dimensionalidad y motivación de PCA.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Proyección al subespacio de máxima varianza: intuición geométrica.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como motor algebraico de PCA.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Varianza explicada y elección de n_components (entero, ratio, "mle").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IncrementalPCA para datasets que no entran en RAM (partial_fit).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 PCA (svd_solver="randomized") para acelerar en alta dimensión.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KernelPCA con kernels RBF, polinómico y sigmoide; tuning de gamma.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Estandarizamos y proyectamos. components_ son combinaciones lineales ortonormales de las features originales.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sklearn.decomposition import PCA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load_digits().data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load_digits().target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 = StandardScaler().fit_transform(X)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pca = PCA(random_state=42).fit(Xs)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print("X:", Xs.shape, "| components_:", pca.components_.shape)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print("primeros 5 explained_variance_ratio_:", pca.explained_variance_ratio_[:5].round(4))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pca.explained_variance_ratio_[0] &gt;= pca.explained_variance_ratio_[1]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print("los ratios vienen ordenados de mayor a menor: OK")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MNIST, aplicá StandardScaler + PCA(n_components=0.95) y reportá cuántos componentes quedaron.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Graficá la curva de varianza acumulada (cumsum(explained_variance_ratio_)) y marcá el codo.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Compará tiempos de PCA(svd_solver="full") vs "randomized" sobre MNIST con %timeit.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Usá IncrementalPCA con n_batches=100 y verificá que el resultado se aproxima al PCA full (cosine similarity entre componentes &gt; 0.99).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make_swiss_roll(n_samples=1000), aplicá KernelPCA(kernel="rbf", gamma=0.04, n_components=2) y comparalo con PCA lineal en un scatter 2D.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accuracy con n_components=50, 100, 154 (154 ≈ 95% varianza).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Mostrá la matriz pipe.named_steps["pca"].components_.shape y el explained_variance_ratio_.sum().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Entregá notebook + un párrafo explicando el trade-off accuracy vs nº de componentes.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093 — LLE (Locally Linear Embedding)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093 — LLE (Locally Linear Embedding)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LLE como técnica no lineal de reducción de dimensionalidad basada en manifold learning: preservar las relaciones lineales locales entre cada punto y sus vecinos para "desenrollar" estructuras curvas (Swiss roll, S-curve) donde PCA falla.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intuición de LLE: cada punto se reconstruye como combinación lineal de sus k vecinos, y esa relación se preserva en baja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sklearn.manifold.LocallyLinearEmbedding sobre un dataset no lineal (Swiss roll) y visualizar el resultado en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hiperparámetro n_neighbors y discutir su impacto (sub/sobre-ajuste local).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LLE contra PCA y otras técnicas no lineales (Isomap, t-SNE) en términos de qué preservan.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cuándo LLE es apropiado y cuándo conviene usar la variante Modified LLE.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093 — LLE (Locally Linear Embedding)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Motivación: limitaciones de PCA en manifolds curvos.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LLE en dos pasos: (1) pesos de reconstrucción local, (2) embedding que preserva esos pesos.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Hiperparámetros: n_neighbors, n_components, method (standard, modified, hessian, ltsa).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Variantes: Modified LLE (MLLE), Hessian LLE, LTSA.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Visualización del Swiss roll antes y después.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costo computacional O(m log(m) · n · k³ + m · n · k²) y sensibilidad al ruido.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093 — LLE (Locally Linear Embedding)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Manifold curvo 3D coloreado por la coordenada t a lo largo del rollo.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make_swiss_roll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t = make_swiss_roll(n_samples=1000, noise=0.2,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print("swiss roll:", X.shape, "| t:", t.shape)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 = 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 = fig.add_subplot(111, projection="3d")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ax.scatter(X[:, 0], X[:, 1], X[:, 2], c=t, cmap="Spectral", s=8)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ax.set_title("Swiss roll 3D (color = t)")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093 — LLE (Locally Linear Embedding)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Swiss roll básico: generá un Swiss roll de 1000 puntos, aplicá LocallyLinearEmbedding(n_neighbors=10, n_components=2) y graficá el resultado coloreando por la coordenada original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 PCA: sobre el mismo Swiss roll, aplicá PCA(n_components=2) y compará visualmente.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Barrido de n_neighbors: probá n_neighbors ∈ {5, 10, 30, 100} y graficá los 4 embeddings en una grilla 2×2.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Modified LLE: repetí el ejercicio 1 con method='modified' y n_neighbors=12.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LLE sobre datos reales: cargá load_digits() (64 dimensiones) y proyectá a 2D con 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Generá un Swiss roll con n_samples=1500 y random_state=42. Aplicá LLE estándar y MLLE (ambos con n_neighbors=12, n_components=2). Guardá los dos arrays resultantes en embeddings.npz con keys lle y mlle.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094 — MDS, Isomap, t-SNE, UMAP, LDA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094 — MDS, Isomap, t-SNE, UMAP, LDA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 + UMAP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y aplicar técnicas de reducción de dimensionalidad más allá de PCA: MDS, Isomap, t-SNE, UMAP y LDA. Entender qué preserva cada una (distancias, geodésicas, vecindarios locales, estructura global, separación entre clases) y cuándo elegir cada método según el problema (visualización 2D, preprocesamiento para clasificación, datos en variedades no lineales).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Distinguís entre métodos lineales (PCA, LDA) y no lineales (Isomap, t-SNE, UMAP) y sabés cuándo usar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Aplicás MDS, Isomap, TSNE, umap.UMAP y LinearDiscriminantAnalysis de scikit-learn / umap-learn sobre datasets reales.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Configurás los hiperparámetros clave: perplexity (t-SNE), n_neighbors y min_dist (UMAP), n_neighbors (Isomap).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Interpretás correctamente embeddings 2D: qué significan los clusters, qué NO significan las distancias entre clusters en t-SNE.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Justificás por qué UMAP suele ser preferible a t-SNE: más rápido, preserva mejor la estructura global y es determinista con random_state.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094 — MDS, Isomap, t-SNE, UMAP, LDA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lineal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Lineal supervisado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094 — MDS, Isomap, t-SNE, UMAP, LDA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Swiss roll para métodos de manifold; digits (subset de 500) para t-SNE/LDA.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make_swiss_roll,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Xsr, color = make_swiss_roll(n_samples=800, noise=0.05,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Xd_full, yd_full = load_digits(return_X_y=True)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idx = rng.choice(len(Xd_full), size=500, replace=False)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Xd, yd = Xd_full[idx], yd_full[idx]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Xd_s = StandardScaler().fit_transform(Xd)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print("swiss roll:", Xsr.shape, "| digits subset:", Xd.shape)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094 — MDS, Isomap, t-SNE, UMAP, LDA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Generá un Swiss roll con make_swiss_roll(n_samples=1500) y reducí a 2D con PCA, MDS e Isomap.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load_digits y aplicá t-SNE con perplexity ∈ {5, 30, 50, 100}.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load_digits, compará t-SNE vs UMAP: medí tiempo de ejecución con time.perf_counter() y reportá ambos embeddings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Aplicá LDA a load_digits reduciendo a 2D y a 9D.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UMAP sobre load_digits, probá n_neighbors ∈ {2, 15, 100} con min_dist=0.1.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Aplique PCA(2), Isomap(2), t-SNE(2) y UMAP(2).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embedding, entrene un KNeighborsClassifier(n_neighbors=5) con cross_val_score (cv=5) sobre el embedding 2D.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una tabla con método, tiempo de ajuste y accuracy media.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095 — Clustering K-Means: selección de K, MiniBatch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095 — Clustering K-Means: selección de K, MiniBatch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K-Means para segmentar datos no etiquetados, elegir el número de clusters K con criterios reproducibles (elbow, silhouette) y escalar el algoritmo con MiniBatchKMeans cuando el dataset no entra cómodo en memoria.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algoritmo de Lloyd y por qué K-Means++ mejora la inicialización aleatoria.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KMeans de scikit-learn fijando n_init y random_state para resultados estables.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K combinando elbow method (inercia vs K) y silhouette score.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KMeans por MiniBatchKMeans y discutir el trade-off velocidad / calidad.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por qué K-Means falla sin escalado o frente a clusters no esféricos.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095 — Clustering K-Means: selección de K, MiniBatch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Clustering no supervisado: planteo del problema.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de Lloyd: asignación + actualización de centroides.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Inicialización: random vs K-Means++; rol de n_init.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Inercia (within-cluster sum of squares) como objetivo.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K: elbow method, silhouette score, gap statistic (mención).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MiniBatchKMeans para datasets grandes / streaming.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clusters no convexos, densidades distintas, sensibilidad al escalado.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095 — Clustering K-Means: selección de K, MiniBatch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make_blobs con 5 centros; ajustamos KMeans con n_init y random_state fijos.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sklearn.cluster import KMeans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y_true = make_blobs(n_samples=2000, centers=5, cluster_std=0.5,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km = KMeans(n_clusters=5, n_init=10, random_state=42).fit(X)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print("inercia:", round(km.inertia_, 2), "| centroides:", km.cluster_centers_.shape)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c=km.labels_, cmap="tab10", s=8, alpha=0.6)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plt.scatter(km.cluster_centers_[:, 0], km.cluster_centers_[:, 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c="black", marker="X", s=150, label="centroides")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plt.legend(); plt.title("K-Means (K=5) sobre make_blobs")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095 — Clustering K-Means: selección de K, MiniBatch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Generá blobs con 5 centros, ajustá KMeans(n_clusters=5, n_init=10, random_state=42) y graficá los puntos coloreados por etiqueta junto con cluster_centers_.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Para K en range(2, 11), calculá inertia_ y silhouette_score.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Repetí el ajuste sin escalar un dataset donde una feature tenga escala 100× mayor que la otra.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load_digits(), ajustá KMeans(n_clusters=10) y MiniBatchKMeans(n_clusters=10, batch_size=256).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Probá K-Means sobre make_moons(noise=0.05).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make_blobs con random_state=42, 4 centros reales.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Recorra K = 2..8 y guarde inercia + silhouette en un DataFrame.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el K óptimo según silhouette y genere elbow.png + silhouette.png.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096 — DBSCAN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096 — DBSCAN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55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DBSCAN (Density-Based Spatial Clustering of Applications with Noise) para descubrir clusters de forma arbitraria e identificar outliers nativamente, sin tener que predefinir k como en K-Means. Que sepa elegir eps con un k-distance plot y entienda cuándo conviene escalar a HDBSCAN.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DBSCAN con sklearn.cluster.DBSCAN y tunear eps y min_samples para un dataset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eps mirando el codo del k-distance plot (no a ojo).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outliers vía la etiqueta -1 que DBSCAN asigna a los puntos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core / border / noise points y entender la noción de density-reachable.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DBSCAN vs K-Means y saber cuándo usar HDBSCAN (eps variable, clusters de densidad mixta).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096 — DBSCAN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de densidad vs centroides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eps y min_samples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Core / border / noise points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k-distance plot para elegir eps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Etiqueta -1 y detección de outliers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densidad uniforme, curse of dimensionality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HDBSCAN como evolución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096 — DBSCAN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Dos lunas entrelazadas: el caso donde K-Means falla y DBSCAN brilla. La etiqueta -1 es ruido.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sklearn.cluster import DBSCAN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make_moons(n_samples=1000, noise=0.05,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DBSCAN(eps=0.2, min_samples=5).fit(X)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n_clusters = len(set(db.labels_)) - (1 if -1 in db.labels_ else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n_ruido = int((db.labels_ == -1).sum())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print(f"clusters encontrados: {n_clusters} | puntos ruido (-1): {n_ruido}")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n_clusters == 2, "DBSCAN deberia separar las dos lunas"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c=db.labels_, cmap="coolwarm", s=12)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plt.title("DBSCAN(eps=0.2, min_samples=5) separa las lunas")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096 — DBSCAN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DBSCAN sobre moons.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K-distance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Sensibilidad a eps.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DBSCAN vs K-Means.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HDBSCAN sobre densidades mixtas.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un dataset 2D sintético (moons + outliers inyectados a mano) haga: (a) k-distance plot y elección razonada de eps; (b) DBSCAN con esos hiperparámetros; (c) reporte de % de outliers detectados vs inyectados; (d) comparación visual con K-Means; (e) corrida con HDBSCAN sobre blobs de densidad mixta.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097 — Agglomerative, BIRCH, Mean Shift, Affinity Propagation, Spectral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§ Other Clustering Algorithms.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el zoológico de algoritmos de clustering más allá de K-Means y DBSCAN — Agglomerative (jerárquico, lee dendrogramas), BIRCH (escalable a millones de filas), Mean Shift (denso, sin especificar k), Affinity Propagation (elige exemplars por message-passing) y Spectral Clustering (clustering vía autovectores del grafo de similitud) — y sepa cuándo elegir cada uno según tamaño del dataset, forma de los clusters y necesidad de jerarquía.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dendrograma con scipy.cluster.hierarchy.linkage y cortarlo a una altura dada para obtener clusters.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un linkage (ward, complete, average, single) según la forma esperada de los clusters y conocer el efecto del chaining en single.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BIRCH para datasets que no entran en memoria, ajustando threshold y branching_factor.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Mean Shift ajustando bandwidth (con estimate_bandwidth) y entender por qué descubre el número de clusters automáticamente.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Affinity Propagation y Spectral Clustering según escalabilidad (AP es O(n²) en memoria) y geometría (Spectral funciona en clusters no convexos).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Agglomerative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BIRCH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Shift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Affinity Propagation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Spectral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scipy.cluster.hierarchy.linkage construye la jerarquía bottom-up; cortarla a una altura da los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scipy.cluster.hierarchy import linkage, dendrogram, fcluster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Xs, _ = make_blobs(n_samples=50, centers=4, cluster_std=0.6,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 = linkage(Xs, method="ward")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labels_cut = fcluster(Z, t=4, criterion="maxclust")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print("clusters tras cortar a 4:", np.unique(labels_cut))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len(np.unique(labels_cut)) ==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plt.figure(figsize=(9,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dendrogram(Z, truncate_mode="lastp", p=20)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plt.title("Dendrograma (ward linkage)")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plt.xlabel("muestras"); plt.ylabel("distancia de fusion")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Dendrograma sobre make_blobs.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Linkage comparison.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BIRCH escalable.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Mean Shift sin saber 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Spectral vs K-Means en make_circles.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dendrograma de load_iris().data usando ward linkage, cortado para obtener 3 clusters; (b) tabla comparativa de Adjusted Rand Index entre las labels verdaderas y las predichas por Agglomerative, BIRCH, Mean Shift, Affinity Propagation y Spectral — corriendo los 5 sobre el mismo Iris; (c) gráfico 2D (con las 2 primeras PCs) coloreado por las labels de cada método; (d) párrafo justificando qué método ganó y por qué.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098 — Gaussian Mixture Models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098 — Gaussian Mixture Models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los Gaussian Mixture Models (GMM) como modelo probabilístico de soft clustering, ajustarlos con el algoritmo EM en scikit-learn, elegir el número de componentes con BIC/AIC, y conocer las variantes (covariance_type, BayesianGaussianMixture) para aplicarlas en clustering, densidad y detección de anomalías.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un GMM y cómo se diferencia de K-Means (asignación dura vs. probabilística).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GaussianMixture con scikit-learn y obtener predict, predict_proba y score_samples.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Seleccionar el número óptimo de componentes comparando BIC y AIC en una grilla.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covariance_type apropiado (full, tied, diag, spherical) según supuestos y tamaño del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BayesianGaussianMixture para que el modelo descarte componentes innecesarios automáticamente.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098 — Gaussian Mixture Models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Modelos de mezcla: intuición y fórmula.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Expectation-Maximization (EM): paso E (responsabilidades) + paso M (actualizar medias, covarianzas, pesos).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sklearn.mixture.GaussianMixture: n_components, covariance_type, n_init, tol.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Métodos: predict_proba (soft), score_samples (log-densidad), sample (generar datos).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modelo con BIC y AIC.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de covarianza y su impacto en parámetros / sesgo /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Bayesian GMM con prior de Dirichlet: aprende cuántos componentes hacen falta.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098 — Gaussian Mixture Models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GaussianMixture asume mezcla de gaussianas. Comparamos predict contra las etiquetas reales con 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sklearn.mixture import GaussianMixture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adjusted_rand_score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y_true = make_blobs(n_samples=1000, centers=3, cluster_std=[1.0, 2.0, 0.5],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gmm = GaussianMixture(n_components=3, n_init=10, random_state=42).fit(X)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labels = gmm.predict(X)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print("ARI GMM vs verdad:", round(adjusted_rand_score(y_true, labels),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print("pesos de mezcla:", gmm.weights_.round(3))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gmm.converged_, "EM deberia converger"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c=labels, cmap="tab10", s=10, alpha=0.6)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plt.scatter(gmm.means_[:, 0], gmm.means_[:, 1], c="black", marker="X", s=150)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plt.title("GMM (3 componentes) sobre blobs de varianza distinta")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098 — Gaussian Mixture Models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Ajuste básico: generá make_blobs con 3 centros y cluster_std variable.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Soft 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Selección de K con BIC/AIC: ajustá GMMs con n_components de 1 a 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covariance_type: repetí el ajuste con los 4 tipos sobre un dataset con clusters elípticos rotados.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Bayesian GMM: ajustá BayesianGaussianMixture(n_components=10, weight_concentration_prior=0.01) sobre datos con 3 clusters reales y mostrá que los pesos efectivos son ≈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Estandarizá las features.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Ajustá GMMs con n_components de 1 a 8 y covariance_type en ['full', 'tied', 'diag', 'spherical'].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Elegí el (n_components, covariance_type) con BIC mínimo.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Calculá el Adjusted Rand Index entre predict del mejor modelo y y real.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099 — Detección de anomalías: Isolation Forest, LOF, One-Class SVM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+ sklearn outlier detection.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detecte puntos anómalos (fraude, fallas, outliers) en datos sin etiquetas, eligiendo entre Isolation Forest, LOF, One-Class SVM y Elliptic Envelope según la geometría del problema, y entendiendo la diferencia entre outlier detection (entrenar con datos sucios) y novelty detection (entrenar limpio, predecir sobre nuevos).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outlier detection vs novelty detection y elegir el algoritmo acorde.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IsolationForest y ajustar el hiperparámetro contamination.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LocalOutlierFactor en modo novelty=False (fit_predict) y novelty=True (predict).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OneClassSVM y EllipticEnvelope, reconociendo sus supuestos (kernel, gaussianidad).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detectores de anomalías con score_samples, ROC-AUC y reglas de negocio (top-k).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Outlier vs novelty detection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Isolation Forest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Local Outlier Factor (LOF)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One-Class SVM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Elliptic Envelope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score_samples y umbrales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Evaluación sin labels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2 blobs + 5% de outliers uniformes. Isolation Forest aísla anomalías con menos splits. Salida: +1 inlier / -1 outlier.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IsolationForest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X_norm, _ = make_blobs(n_samples=950, centers=2, cluster_std=1.0,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X_out = rng.uniform(X_norm.min(axis=0) - 3, X_norm.max(axis=0) + 3, size=(50, 2))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np.vstack([X_norm, X_out])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es_outlier = np.r_[np.zeros(950, bool), np.ones(50, bool)]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iso = IsolationForest(contamination=0.05, random_state=42, n_jobs=1).fit(X)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pred = iso.predict(X)  # -1 outlier, +1 inlier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recall = ((pred == -1) &amp; es_outlier).sum() / es_outlier.sum()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print(f"outliers reales: {es_outlier.sum()} | detectados: {int((pred == -1).sum())}")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print(f"recall: {recall:.2%}")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recall &gt;= 0.6, "IsolationForest deberia recuperar buena parte de los outliers"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Isolation Forest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LOF local.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One-Class SVM con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Top-k con score_samples.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Evaluación con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de transacciones sintéticas (montos, hora, comercio): (a) inyectar 2% de transacciones anómalas (montos extremos, horarios raros); (b) entrenar Isolation Forest, LOF y One-Class SVM; (c) generar tabla comparativa con precision@k=20, recall y tiempo de entrenamiento; (d) elegir el ganador y justificar.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1 — Machine Learning Clásico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 la Parte 1 — siguiente: Parte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