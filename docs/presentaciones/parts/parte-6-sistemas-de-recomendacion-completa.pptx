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6 — Parte 6 — Sistemas de Recomendación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 ·  Parte siguiente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6 — Índice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216 — Clase 216 — Filtrado colaborativo: user-based e item-based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217 — Clase 217 — Factorización de matrices: SVD, ALS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218 — Clase 218 — Content-based filtering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219 — Clase 219 — Recomendadores híbridos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220 — Clase 220 — Métricas: MAP@k, NDCG, recall@k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221 — Clase 221 — Cold-start problem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222 — Clase 222 — Librerías: LightFM, Implicit, Surprise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216 — Filtrado colaborativo: user-based e item-based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216 — Filtrado colaborativo: user-based e item-based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Aggarwal, Recommender Systems: The Textbook (Springer, 2016) cap. 2 + Linden, Smith, York (Amazon, 2003) Item-to-Item Collaborative Filtering.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el recomendador más antiguo y todavía usado: filtrado colaborativo basado en vecinos (kNN). Calcular similitudes user-user e item-item sobre una matriz usuario-item dispersa, generar top-N recomendaciones, y entender por qué Amazon publicó en 2003 que item-based gana a user-based en escala (computar similitudes item-item es offline y estable).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Representar las interacciones usuario-item en una scipy.sparse.csr_matrix (típicamente &gt;99% sparse).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similitud coseno, Pearson y Jaccard entre filas (users) o columnas (items).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top-N recomendaciones user-based: predicted_rating = Σ sim(u, v) * rating(v, i) / Σ sim(u, v).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top-N recomendaciones item-based: score(u, i) = Σ sim(i, j) * interaction(u, j).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límites: sparsity → similitudes ruidosas; cold-start → items/users nuevos sin recomendaciones (Clase 221).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216 — Filtrado colaborativo: user-based e item-based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Matriz usuario-item: dense vs sparse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Similitud coseno, Pearson, Jaccard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User-based kNN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Item-based kNN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vs explicit feedback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centering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216 — Filtrado colaborativo: user-based e item-based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Sintético small (replica MovieLens 100K en tamaño). Requiere: pip install scipy scikit-learn pandas.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 = 1000, 500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n_ratings = 30_000   # ~6% sparsity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users = rng.integers(0, n_users, n_ratings)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 = rng.integers(0, n_items, n_ratings)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Ratings sesgados por user (algunos califican alto, otros bajo)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user_bias = rng.normal(0, 0.5, n_users)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ratings = np.clip(3 + user_bias[users] + rng.normal(0, 0.8, n_ratings), 1, 5).round()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pd.DataFrame({'u': users, 'i': items, 'r': ratings}).drop_duplicates(['u', 'i'])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print(f'ratings únicos: {len(df):,}')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csr_matrix((df.r, (df.u, df.i)), shape=(n_users, n_items))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print(f'matrix: {R.shape}, nnz={R.nnz:,}, sparsity={1 - R.nnz / np.prod(R.shape):.4f}')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216 — Filtrado colaborativo: user-based e item-based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Sparse matrix: cargar MovieLens 100K.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similarity: sim_users = cosine_similarity(R) — devuelve (n_users, n_users).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User-based top-10: para user_id=42, predecir score para items no vistos como R.T @ sim_users[42] (broadcasting).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Item-based top-10: sim_items = cosine_similarity(R.T) (ahora (n_items, n_items)).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Pearson + mean centering: R_centered = R - user_means.reshape(-1, 1) (cuidado con sparse — usar sklearn).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MovieLens 1M (10× más grande que 100K).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2 recomendadores: user-based kNN (k=30) e item-based kNN (k=30).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train/test con leave-one-out por user (el último rating de cada user va a 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MAP@10, NDCG@10, recall@10 para ambos sobre test (Clase 220).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Comparativa: tiempo de entrenamiento, tiempo de predicción, calidad. Discutir por qué item-based suele ganar en producción.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217 — Factorización de matrices: SVD, 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217 — Factorización de matrices: SVD, ALS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Koren, Bell, Volinsky Matrix Factorization Techniques for Recommender Systems (IEEE Computer, 2009) + Hu, Koren, Volinsky Collaborative Filtering for Implicit Feedback Datasets (ICDM 2008).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Reemplazar la matriz usuario-item dispersa por dos matrices densas de baja dimensión: R ≈ P × Q^T donde P (n_users × k) y Q (n_items × k). Aprender los embeddings k-dimensionales que capturan los factores latentes (género de película, gusto del usuario). Usar SVD (cuando hay datos completos) y ALS (Alternating Least Squares — robusto a sparse). Implicit-feedback ALS (Hu et al. 2008) es el algoritmo que ganó la mayoría de los Netflix Prize spin-offs en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modelo r̂(u, i) = p_u · q_i + b_u + b_i + μ (con biases).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SVD truncado sobre matriz densa (poco realista, pero base teórica).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ALS explicit (rating predicho) y ALS implicit (con confidence weighting c_ui = 1 + α × r_ui).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hiperparámetros: factors (típicamente 20-200), regularization (λ para evitar overfitting), iterations (10-30).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implicit.AlternatingLeastSquares (Cython, multi-thread, rápido).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217 — Factorización de matrices: SVD, ALS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latente: factores escondidos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vs SVD truncado vs ALS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Biases: μ, b_u, b_i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feedback + confidence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Regularización L2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Cold-start parcial: con biases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217 — Factorización de matrices: SVD, ALS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**Factorizar una matriz es descomponer la tabla usuario × item en dos matrices más chicas de "gustos latentes".** Imaginá la tabla gigante de quién calificó qué (llena de huecos). La factorización dice: cada usuario se resume en un vector de pocos números —cuánto le gustan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scipy.sparse.linalg import svds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n_items, K_TRUE = 1000, 500, 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Generamos datos con estructura latente conocida (k=8) para validar que MF recupera estructura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P_true = rng.normal(0, 1, (n_users, K_TRUE))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Q_true = rng.normal(0, 1, (n_items, K_TRUE))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R_full = P_true @ Q_true.T   # rating ideal sin 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Solo observamos 8% de las interacciones (sparse)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mask = rng.random((n_users, n_items)) &lt; 0.08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R_obs = np.where(mask, np.clip(R_full + rng.normal(0, 0.3, R_full.shape), -3, 3),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print(f'observed: {mask.sum():,} / {n_users * n_items:,} ({mask.mean():.2%})')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217 — Factorización de matrices: SVD, ALS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SVD truncado: tomar matriz R densa imputando 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explicit con Surprise: from surprise import SVD; algo = SVD(n_factors=50, n_epochs=20).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implicit con implicit: model = implicit.als.AlternatingLeastSquares(factors=64, regularization=0.05, iterations=15).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embeddings: PCA de model.item_factors a 2D y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Biases analysis: imprimir top 10 movies por b_i (las que todos aman / odian) y top 10 usuarios por b_u.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3 modelos sobre MovieLens 1M con leave-one-out por user: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item-based (Clase 216).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Funk SVD (Surprise).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implicit (binarizando rating ≥ 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NDCG@10, recall@10, tiempo de entrenamiento.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218 — Content-based filtering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218 — Content-based filtering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Recommender Systems: The Textbook cap. 4 + docs scikit-learn TfidfVectorizer.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Recomendar items basándose en sus atributos (texto, género, categoría) en vez de interacciones — útil cuando hay cold-start de items (Clase 221) o cuando los items tienen rica metadata. Combinar TF-IDF / embeddings sobre descripciones + scoring por similitud al perfil del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item profile desde texto + features categóricas con TF-IDF / one-hot.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user profile como agregado ponderado de items que le gustaron.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score(u, i) = cos(user_profile, item_profile) y rankear.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TF-IDF por embeddings modernos (sentence-transformers) para entender semántica.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límites: serendipia baja (recomienda variantes de lo conocido); sobreespecialización.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218 — Content-based filtering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TF-IDF + cosine similarity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One-hot vs multi-hot features categóricas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User profile como media ponderada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Embeddings semánticos (sentence-transformers)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FAISS para top-N rápido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Hybrid con CF (Clase 219)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218 — Content-based filtering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Movies sintéticas con título + overview + genres. Recomendamos por similitud de contenido. Requiere: pip install scikit-learn sentence-transformers faiss-cpu.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sklearn.feature_extraction.text import TfidfVectorizer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movies = pd.DataFrame([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1,  'title': 'Toy Story',           'overview': 'Cowboy doll and astronaut toy adventures friendship.', 'genres': 'animation children comedy'},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2,  'title': 'Jumanji',             'overview': 'Magical board game jungle wild animals.',              'genres': 'adventure children fantasy'},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3,  'title': 'Heat',                'overview': 'Bank heist crew detective pursuit Los Angeles.',       'genres': 'action crime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4,  'title': 'Goldeneye',           'overview': 'British spy secret agent satellite weapon villain.',   'genres': 'action adventure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5,  'title': 'The Lion King',       'overview': 'Lion cub father betrayed uncle Africa savanna.',       'genres': 'animation adventure drama'},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6,  'title': 'Pulp Fiction',        'overview': 'Hitmen boxer gangster intersecting stories LA.',       'genres': 'crime drama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7,  'title': 'Finding Nemo',        'overview': 'Clownfish ocean adventure son rescue father.',         'genres': 'animation children adventure'},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8,  'title': 'The Matrix',          'overview': 'Hacker discovers reality simulation rebel against AI.',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                                                                                       'genres': 'action sci-fi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9,  'title': 'Forrest Gump',        'overview': 'Slow-witted man witnesses 20th century history love.', 'genres': 'comedy drama romance'},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10, 'title': 'Inception',           'overview': 'Dream thief mind heist subconscious layers.',          'genres': 'action sci-fi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11, 'title': 'Shrek',               'overview': 'Ogre swamp princess rescue donkey fairy tale.',        'genres': 'animation comedy adventure'},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12, 'title': 'The Dark Knight',     'overview': 'Batman Joker chaos Gotham villain moral.',             'genres': 'action crime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218 — Content-based filtering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TF-IDF base: cargar movies con title + overview + genres.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Item-item similarity: cosine_similarity(tfidf_matrix).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profile: para user_id=42, tomar items rateados ≥4.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Embeddings modernos: model = SentenceTransformer('all-MiniLM-L6-v2').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FAISS rápido: index = faiss.IndexFlatIP(384); index.add(embeddings).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Recomendador content-based con sentence-transformers sobre MovieLens + sinopsis (10K movies).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FAISS index para retrieval &lt;10 ms p99.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con CF (Clase 216-217): NDCG@10, coverage (% items recomendados al menos una vez), diversidad (1 - avg intra-list similarity).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Demonstración cold-start: agregar una "movie nueva" sin ratings; verificar que content-based la recomienda; CF 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discutiendo: cuándo content-based gana (cold-start, niche items), cuándo pierde (filter bubble, serendipia baja).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219 — Recomendadores híbridos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219 — Recomendadores híbridos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Burke, Hybrid Recommender Systems: Survey and Experiments (UMUAI 2002) + Kula, Metadata Embeddings for User and Item Cold-start Recommendations (LightFM, 2015).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Combinar CF (filtrado colaborativo, Clase 216-217) + content-based (Clase 218) para conseguir lo mejor de ambos: serendipia + cold-start + explicabilidad. Aplicar los 7 patrones de hybrid de Burke (2002) y usar LightFM (que aprende un modelo único con CF + features).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7 patrones de hybrid: weighted, switching, mixed, feature combination, cascade, feature augmentation, meta-level.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hybrid weighted: score = α × score_cf + (1-α) × score_content.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hybrid switching: usar content para users con &lt;N interactions, CF para el resto.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LightFM como hybrid built-in: el modelo aprende embeddings que combinan CF + content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α con validation y entender por qué α óptimo varía por user/item segment.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219 — Recomendadores híbridos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7 patrones de Burke (2002)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Weighted hybrid: α × CF + (1-α) × CB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Switching: cold-start triage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LightFM: hybrid aprendido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Tuning α por segmento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Two-tower modelo (concept)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219 — Recomendadores híbridos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3 estrategias hybrid sobre un dataset sintético + cold-start eval. Requiere: pip install lightfm scipy scikit-learn.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n_items, n_features = 500, 200,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Item features (géneros multi-hot) y user preferences latentes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item_features = rng.binomial(1, 0.25, (n_items, n_features)).astype(float)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user_prefs = rng.normal(0, 1, (n_users, n_features))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Generar ratings sintéticos: user gusta items que matchean sus preferencias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scores_true = user_prefs @ item_features.T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0.5, scores_true.shape)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interact_prob = 1 / (1 + np.exp(-(scores_true + noise)))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(rng.random(scores_true.shape) &lt; 0.1 * interact_prob).astype(float)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R_sparse = csr_matrix(R)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print(f'interactions: {R_sparse.nnz:,}')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219 — Recomendadores híbridos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Weighted hybrid manual: tomar scores de Clase 217 (ALS) y Clase 218 (content-based).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Switching por user: si interactions(u) &lt; 5: usar content; si no: usar CF.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hybrid: entrenar LightFM(loss='warp') con item_features (géneros) y user_features (demographics).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Cold-start eval: held-out incluye items nuevos (no en train) y users nuevos (sin ratings).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Cascade: top-100 con CF, re-rankear top-10 con content (boost a items con descripción similar al historial del user).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4 modelos sobre MovieLens 100K: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Pure CF (implicit ALS).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Pure content-based (sentence-transformers).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Weighted hybrid (α tunado).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hybrid (con item features).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220 — Métricas: MAP@k, NDCG, recall@k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220 — Métricas: MAP@k, NDCG, recall@k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cap. 7 + Järvelin &amp; Kekäläinen, Cumulated Gain-Based Evaluation of IR Techniques (TOIS 2002 — NDCG paper).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recomendadores con las métricas correctas: NO accuracy ni RMSE de rating (irrelevante para top-N). Sí recall@k (¿cuántos relevantes recuperaste en top-k?), precision@k (¿qué % del top-k es relevante?), MAP@k (precision promedio sensible al ranking), NDCG@k (gain descontado por posición). Decidir qué métrica reportar según objetivo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precision@k, recall@k, F1@k, hit rate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MAP@k (Mean Average Precision) y entender por qué sensible al ranking dentro del top-k.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NDCG@k (Normalized Discounted Cumulative Gain) y entender el descuento logarítmico.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el split correcto: leave-one-out por user vs temporal split vs random.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métrica según objetivo: recall (catálogo grande, descubrimiento) vs NDCG (orden importa) vs MAP (búsqueda).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220 — Métricas: MAP@k, NDCG, recall@k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NO usar RMSE de rating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Precision@k vs recall@k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MAP@k: precision promediada por posición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NDCG@k con descuento log2(i+1)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Leave-one-out vs temporal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Coverage + diversity (beyond accuracy)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220 — Métricas: MAP@k, NDCG, recall@k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Implementación de las 6 métricas + comparativa entre 3 recomendadores sintéticos.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precision_at_k(rel,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"""rel: array binario de relevancia en orden de ranking. precision sobre top-k."""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rel[:k].sum() / k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recall_at_k(rel, k, n_relevants):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rel[:k].sum() / max(n_relevants,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ap_at_k(rel,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"""Average Precision: precision en posiciones donde hay un relevante, promediada."""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rel_k = rel[:k]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rel_k.sum() == 0: return 0.0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precisions = [(rel_k[:i+1].sum() / (i+1)) * rel_k[i] for i in range(k)]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sum(precisions) / min(k, rel.sum())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dcg_at_k(rel,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rel_k = rel[:k]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float(np.sum(rel_k / np.log2(np.arange(2, k + 2))))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220 — Métricas: MAP@k, NDCG, recall@k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precision@k, recall@k: dadas listas [1, 0, 0, 1, 0] (relevancia) y k=5, calcular.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MAP@k: implementar AP@k.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NDCG@k: implementar DCG y iDCG.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Leave-one-out por user: para cada user con ≥5 ratings, dejar el último (cronológico o random) para test, resto para train.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Coverage y diversity: para 1000 users, ¿qué % del catálogo fue recomendado? Diversidad media intra-list (cosine entre items recomendados).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Implementación de 6 métricas: recall@10, precision@10, F1@10, MAP@10, NDCG@10, hit rate@10. Validar contra librería.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 4 modelos (kNN, ALS, content, hybrid de Clases 216-219). Tabla comparativa.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Análisis: ¿qué métrica decidiría cuál modelo gana? Discutir.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Beyond accuracy: coverage, diversity, novelty (1 - popularity rank promedio). ¿Algún modelo gana en accuracy pero pierde en diversity?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Temporal split: si tu dataset tiene timestamps, hacer split por fecha (no por ratio). Comparar con random split. Discutir por qué temporal es más realista.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221 — Cold-start problem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221 — Cold-start problem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Schein, Popescul, Ungar, Pennock, Methods and Metrics for Cold-Start Recommendations (SIGIR 2002) + Aggarwal cap. 13.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Cuándo un user o item es "nuevo" (0 interacciones), CF (Clase 216-217) no funciona. Estrategias concretas para los 3 tipos de cold-start: user cold-start (onboarding), item cold-start (catalog launch), system cold-start (lanzamiento del producto). Las estrategias correctas son la diferencia entre un recomendador útil desde el día 1 vs uno inútil hasta el mes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user cold-start (usuario nuevo), item cold-start (item nuevo), system cold-start (todo nuevo).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popularity fallback con shrinkage Bayesiano ((c + m × C) / (n + m)) para users sin historia.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onboarding explícito (pedir N preferencias antes de personalizar).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content features (Clase 218) para items nuevos.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exploration-exploitation con bandits (epsilon-greedy, Thompson sampling) para users mid-cold-start.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221 — Cold-start problem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 tipos de cold-start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Popularity fallback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shrinkage para popularity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Onboarding: preguntar al user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Content-based para item cold-start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Bandits para explorar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221 — Cold-start problem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Estrategias para users/items sin historia. Demos sintéticos.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Items con n_ratings y mean_rating distintos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'item': range(1, 11),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'n':    [2, 5, 10, 50, 100, 500, 1000, 1500, 3, 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'mean': [5.0, 4.8, 4.5, 4.4, 4.3, 4.2, 4.1, 4.0, 5.0, 5.0],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items['naive_score'] = items['mean']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Popularity vanilla: ordenar por mean → ganan items con 1-2 ratings 5/5 (overconfident)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print('--- Popularity vanilla (por mean) ---')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print(items.sort_values('naive_score', ascending=False).head(5).to_string(index=False))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221 — Cold-start problem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Popularity baseline: rankear items por n_ratings.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Bayesian shrinkage: implementar (sum + m × C) / (n + m) con m=10, C=mean_rating.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Onboarding 3 géneros: simular que user nuevo elige ["Action", "Sci-Fi", "Comedy"].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 cold-start: agregar 10 movies nuevas con descripción pero 0 ratings.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Epsilon-greedy: en cada slot del top-10, con prob ε=0.1 recomendar item random (explore), con prob 0.9 recomendar el "best" del modelo (exploit).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Recomendador full con manejo explícito de cold-start: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nuevo: onboarding (elegir géneros) → content-based.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con ≤5 interactions: weighted hybrid con α bajo (más content).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maduro: CF puro.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 nuevo: content-based hasta acumular 10 ratings, después ALS.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222 — Librerías: LightFM, Implicit, Surprise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222 — Librerías: LightFM, Implicit, Surprise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docs oficiales Surprise + LightFM + Implicit + TensorFlow Recommenders.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las librerías de recomendación que vas a usar en la vida real sin tener que reimplementar lo de Clases 216-221. Decidir cuál usar según: tipo de feedback (explicit/implicit), tamaño del dataset, features disponibles, integración con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Surprise para algoritmos clásicos explicit (KNNBasic, SVD, SVD++, NMF, Co-Clustering) con API tipo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Implicit para ALS implicit, BPR, Logistic MF — la opción más rápida en Python para datasets grandes.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LightFM cuando tenés features (Clase 219 hybrid).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TensorFlow Recommenders y Spotlight (PyTorch) para arquitecturas deep (two-tower, sequential).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librería según: explicit vs implicit, escala, features, deployment target.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222 — Librerías: LightFM, Implicit, Surprise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Surprise: explicit, didáctica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Implicit: ALS/BPR Cython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LightFM: CF + features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Recommenders + Spotlight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Spark pyspark.ml.recommendation.ALS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DBs (FAISS, Milvus, Pinecone)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222 — Librerías: LightFM, Implicit, Surprise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Mismo dataset sintético, las 3 librerías. NDCG@10 + tiempo de entrenamiento. Requiere: pip install scikit-surprise implicit lightfm scipy.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os; os.environ['OPENBLAS_NUM_THREADS'] = '1'   # evitar warning de implicit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 = 500, 300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Generar ratings sintéticos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P_true = rng.normal(0, 1, (n_users, 8))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Q_true = rng.normal(0, 1, (n_items, 8))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scores_true = P_true @ Q_true.T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0.3, scores_true.shape)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interact_prob = 1 / (1 + np.exp(-(scores_true + noise)))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(rng.random(scores_true.shape) &lt; 0.15 * interact_prob).astype(float)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ratings = np.where(R &gt; 0, rng.integers(3, 6, R.shape), 0).astype(int)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{'user_id': u, 'item_id': i, 'rating': int(ratings[u, i])}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u in range(n_users) for i in range(n_items) if ratings[u, i] &gt;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222 — Librerías: LightFM, Implicit, Surprise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Surprise SVD: from surprise import SVD, Dataset; data = Dataset.load_builtin('ml-100k'); algo = SVD(); cross_validate(algo, data, measures=['RMSE','MAE'], cv=5).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ALS: model = implicit.als.AlternatingLeastSquares(factors=64, regularization=0.05, iterations=20).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BPR: mismo modelo pero implicit.bpr.BayesianPersonalizedRanking(factors=64).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LightFM: LightFM(loss='warp', no_components=32).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Benchmarking: mismo dataset, mismo split, las 4 librerías.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rigurosa sobre MovieLens 1M: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Surprise SVD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ALS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BPR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WARP (con features)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6 — Sistemas de Recomendación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 la Parte 6 — siguiente: Parte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