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>
                <a:solidFill>
                  <a:srgbClr val="E6F5F5"/>
                </a:solidFill>
              </a:rPr>
              <a:t>Clase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286000"/>
            <a:ext cx="109728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</a:rPr>
              <a:t>Estadistica Inferencial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754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E6F5F5"/>
                </a:solidFill>
              </a:rPr>
              <a:t>Bootcamp Python para Data Science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Objetivo de la clase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0F3D3E"/>
                </a:solidFill>
              </a:rPr>
              <a:t>Comprender la diferencia entre estadística descriptiva e inferencial, y aprender a usar pruebas de hipótesis para determinar si una diferencia observada en los datos es real o producto del azar. El estudiante aplicará la prueba t de Student y la prueba chi-cuadrado sobre datasets reales de transport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>
                <a:solidFill>
                  <a:srgbClr val="FFFFFF"/>
                </a:solidFill>
              </a:rPr>
              <a:t>Temas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505050"/>
                </a:solidFill>
              </a:rPr>
              <a:t>• `datasets/transporte.csv`</a:t>
            </a:r>
          </a:p>
          <a:p>
            <a:r>
              <a:rPr sz="1600">
                <a:solidFill>
                  <a:srgbClr val="505050"/>
                </a:solidFill>
              </a:rPr>
              <a:t>• `datasets/estudiantes.csv`</a:t>
            </a:r>
          </a:p>
          <a:p>
            <a:r>
              <a:rPr sz="1600">
                <a:solidFill>
                  <a:srgbClr val="505050"/>
                </a:solidFill>
              </a:rPr>
              <a:t>• Explicar con sus propias palabras qué es un p-value y qué significa que sea menor a 0.05.</a:t>
            </a:r>
          </a:p>
          <a:p>
            <a:r>
              <a:rPr sz="1600">
                <a:solidFill>
                  <a:srgbClr val="505050"/>
                </a:solidFill>
              </a:rPr>
              <a:t>• Aplicar una prueba t de Student para comparar dos grupos numéricos y una prueba chi-cuadrado para comparar distribuciones categóricas.</a:t>
            </a:r>
          </a:p>
          <a:p>
            <a:r>
              <a:rPr sz="1600">
                <a:solidFill>
                  <a:srgbClr val="505050"/>
                </a:solidFill>
              </a:rPr>
              <a:t>• Identificar errores de tipo I y tipo II y entender sus consecuencias prácticas.</a:t>
            </a:r>
          </a:p>
          <a:p>
            <a:r>
              <a:rPr sz="1600">
                <a:solidFill>
                  <a:srgbClr val="505050"/>
                </a:solidFill>
              </a:rPr>
              <a:t>• Diferencia entre estadística descriptiva e inferencial</a:t>
            </a:r>
          </a:p>
          <a:p>
            <a:r>
              <a:rPr sz="1600">
                <a:solidFill>
                  <a:srgbClr val="505050"/>
                </a:solidFill>
              </a:rPr>
              <a:t>• Concepto de población vs muestra (analogía: no necesitas comer toda la sopa para saber si le falta sal)</a:t>
            </a:r>
          </a:p>
          <a:p>
            <a:r>
              <a:rPr sz="1600">
                <a:solidFill>
                  <a:srgbClr val="505050"/>
                </a:solidFill>
              </a:rPr>
              <a:t>• Intervalos de confianza (qué significan en términos simples)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🖥️ Diapositivas sugeridas — Clase 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🚪 Apertura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Presentar el objetivo y la pregunta central del módulo.</a:t>
            </a:r>
          </a:p>
          <a:p>
            <a:r>
              <a:rPr sz="1500">
                <a:solidFill>
                  <a:srgbClr val="505050"/>
                </a:solidFill>
              </a:rPr>
              <a:t>• Conectar la sesión con el recorrido general del bootcamp.</a:t>
            </a:r>
          </a:p>
          <a:p>
            <a:r>
              <a:rPr sz="1500">
                <a:solidFill>
                  <a:srgbClr val="505050"/>
                </a:solidFill>
              </a:rPr>
              <a:t>• Pregunta inicial: "Si tirás una moneda 100 veces y sale cara 60 veces, ¿la moneda está trucada? ¿Cómo lo sabrías?"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🛤️ Ruta de la sesión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📌 Puntos que deben quedar claros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>
                <a:solidFill>
                  <a:srgbClr val="505050"/>
                </a:solidFill>
              </a:rPr>
              <a:t>• La estadística descriptiva dice "qué pasó"; la inferencial dice "si lo que pasó es real o fue suerte".</a:t>
            </a:r>
          </a:p>
          <a:p>
            <a:r>
              <a:rPr sz="1500">
                <a:solidFill>
                  <a:srgbClr val="505050"/>
                </a:solidFill>
              </a:rPr>
              <a:t>• Una muestra bien tomada puede representar a toda una población, como una cucharada de sopa representa a la olla entera.</a:t>
            </a:r>
          </a:p>
          <a:p>
            <a:r>
              <a:rPr sz="1500">
                <a:solidFill>
                  <a:srgbClr val="505050"/>
                </a:solidFill>
              </a:rPr>
              <a:t>• El p-value mide qué tan probable es obtener el resultado que obtuviste si en realidad no hubiera diferencia alguna.</a:t>
            </a:r>
          </a:p>
          <a:p>
            <a:r>
              <a:rPr sz="1500">
                <a:solidFill>
                  <a:srgbClr val="505050"/>
                </a:solidFill>
              </a:rPr>
              <a:t>• Si p &lt; 0.05, es poco probable que la diferencia sea por azar: se rechaza H0.</a:t>
            </a:r>
          </a:p>
          <a:p>
            <a:r>
              <a:rPr sz="1500">
                <a:solidFill>
                  <a:srgbClr val="505050"/>
                </a:solidFill>
              </a:rPr>
              <a:t>• La prueba t compara promedios de dos grupos numéricos.</a:t>
            </a:r>
          </a:p>
          <a:p>
            <a:r>
              <a:rPr sz="1500">
                <a:solidFill>
                  <a:srgbClr val="505050"/>
                </a:solidFill>
              </a:rPr>
              <a:t>• La prueba chi-cuadrado compara frecuencias de categorías entre dos grupos.</a:t>
            </a:r>
          </a:p>
          <a:p>
            <a:r>
              <a:rPr sz="1500">
                <a:solidFill>
                  <a:srgbClr val="505050"/>
                </a:solidFill>
              </a:rPr>
              <a:t>• Error tipo I: decir que hay diferencia cuando no la hay (falsa alarma). Error tipo II: no detectar una diferencia que sí existe.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18872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200" b="1">
                <a:solidFill>
                  <a:srgbClr val="FFFFFF"/>
                </a:solidFill>
              </a:rPr>
              <a:t>🏁 Cierre esperado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3D3E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0" y="228600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FFFFF"/>
                </a:solidFill>
              </a:rPr>
              <a:t>A practicar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0">
                <a:solidFill>
                  <a:srgbClr val="E6F5F5"/>
                </a:solidFill>
              </a:rPr>
              <a:t>Clase 17 — Estadistica Inferencial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