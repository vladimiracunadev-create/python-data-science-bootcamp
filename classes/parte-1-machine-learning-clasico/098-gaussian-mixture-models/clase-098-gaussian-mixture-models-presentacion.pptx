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411480"/>
          </a:xfrm>
          <a:prstGeom prst="rect">
            <a:avLst/>
          </a:prstGeom>
          <a:solidFill>
            <a:srgbClr val="0F172A"/>
          </a:solidFill>
          <a:ln>
            <a:solidFill>
              <a:srgbClr val="0F172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411480"/>
            <a:ext cx="12191695" cy="73152"/>
          </a:xfrm>
          <a:prstGeom prst="rect">
            <a:avLst/>
          </a:prstGeom>
          <a:solidFill>
            <a:srgbClr val="22C55E"/>
          </a:solidFill>
          <a:ln>
            <a:solidFill>
              <a:srgbClr val="22C55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40080" y="731520"/>
            <a:ext cx="10881360" cy="7315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>
              <a:defRPr sz="2300" b="1">
                <a:solidFill>
                  <a:srgbClr val="0F172A"/>
                </a:solidFill>
                <a:latin typeface="Segoe UI Semibold"/>
              </a:defRPr>
            </a:pPr>
            <a:r>
              <a:rPr sz="2300" b="1">
                <a:solidFill>
                  <a:srgbClr val="0F172A"/>
                </a:solidFill>
                <a:latin typeface="Segoe UI Semibold"/>
              </a:rPr>
              <a:t>Clase 098 — Gaussian Mixture Models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58368" y="1298448"/>
            <a:ext cx="1088136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 b="0">
                <a:solidFill>
                  <a:srgbClr val="475569"/>
                </a:solidFill>
                <a:latin typeface="Segoe UI"/>
              </a:defRPr>
            </a:pPr>
            <a:r>
              <a:rPr sz="1100" b="0">
                <a:solidFill>
                  <a:srgbClr val="475569"/>
                </a:solidFill>
                <a:latin typeface="Segoe UI"/>
              </a:rPr>
              <a:t>Parte: 1 — Machine Learning Clásico · Fuente: Géron, cap. 9.  Duración estimada: 70 min.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31520" y="1783080"/>
            <a:ext cx="10698480" cy="4480560"/>
          </a:xfrm>
          <a:prstGeom prst="roundRect">
            <a:avLst/>
          </a:prstGeom>
          <a:solidFill>
            <a:srgbClr val="FFFFFF"/>
          </a:solidFill>
          <a:ln w="1524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914400" y="1965960"/>
            <a:ext cx="10332720" cy="4114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800"/>
              </a:spcAft>
              <a:defRPr sz="2200" b="1">
                <a:solidFill>
                  <a:srgbClr val="0F172A"/>
                </a:solidFill>
                <a:latin typeface="Segoe UI Semibold"/>
              </a:defRPr>
            </a:pPr>
            <a:r>
              <a:rPr sz="2200" b="1">
                <a:solidFill>
                  <a:srgbClr val="0F172A"/>
                </a:solidFill>
                <a:latin typeface="Segoe UI Semibold"/>
              </a:rPr>
              <a:t>Entender los **Gaussian Mixture Models (GMM)** como modelo probabilístico de *soft clustering*, ajustarlos con el algoritmo **EM** en scikit-learn, elegir el número de componentes con **BIC/AIC**, y conocer las variantes (`covariance_type`, `BayesianGaussianMixture`) para aplicarlas en clustering, densidad y detección de anomalías.</a:t>
            </a:r>
          </a:p>
          <a:p>
            <a:pPr>
              <a:defRPr sz="1500" b="0">
                <a:solidFill>
                  <a:srgbClr val="475569"/>
                </a:solidFill>
                <a:latin typeface="Segoe UI"/>
              </a:defRPr>
            </a:pPr>
            <a:r>
              <a:rPr sz="1500" b="0">
                <a:solidFill>
                  <a:srgbClr val="475569"/>
                </a:solidFill>
                <a:latin typeface="Segoe UI"/>
              </a:rPr>
              <a:t>Al cierre: Explicar qué es un GMM y cómo se diferencia de K-Means (asignación dura vs. probabilística).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411480"/>
          </a:xfrm>
          <a:prstGeom prst="rect">
            <a:avLst/>
          </a:prstGeom>
          <a:solidFill>
            <a:srgbClr val="0F172A"/>
          </a:solidFill>
          <a:ln>
            <a:solidFill>
              <a:srgbClr val="0F172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411480"/>
            <a:ext cx="12191695" cy="73152"/>
          </a:xfrm>
          <a:prstGeom prst="rect">
            <a:avLst/>
          </a:prstGeom>
          <a:solidFill>
            <a:srgbClr val="22C55E"/>
          </a:solidFill>
          <a:ln>
            <a:solidFill>
              <a:srgbClr val="22C55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40080" y="731520"/>
            <a:ext cx="10881360" cy="7315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>
              <a:defRPr sz="2300" b="1">
                <a:solidFill>
                  <a:srgbClr val="0F172A"/>
                </a:solidFill>
                <a:latin typeface="Segoe UI Semibold"/>
              </a:defRPr>
            </a:pPr>
            <a:r>
              <a:rPr sz="2300" b="1">
                <a:solidFill>
                  <a:srgbClr val="0F172A"/>
                </a:solidFill>
                <a:latin typeface="Segoe UI Semibold"/>
              </a:rPr>
              <a:t>🎯 Objetivo · 📚 Resultados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58368" y="1298448"/>
            <a:ext cx="1088136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 b="0">
                <a:solidFill>
                  <a:srgbClr val="475569"/>
                </a:solidFill>
                <a:latin typeface="Segoe UI"/>
              </a:defRPr>
            </a:pPr>
            <a:r>
              <a:rPr sz="1100" b="0">
                <a:solidFill>
                  <a:srgbClr val="475569"/>
                </a:solidFill>
                <a:latin typeface="Segoe UI"/>
              </a:rPr>
              <a:t>Parte: 1 — Machine Learning Clásico · Fuente: Géron, cap. 9.  Duración estimada: 70 min.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31520" y="1783080"/>
            <a:ext cx="5212080" cy="4480560"/>
          </a:xfrm>
          <a:prstGeom prst="roundRect">
            <a:avLst/>
          </a:prstGeom>
          <a:solidFill>
            <a:srgbClr val="FFFFFF"/>
          </a:solidFill>
          <a:ln w="1524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914400" y="1920240"/>
            <a:ext cx="484632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600" b="1">
                <a:solidFill>
                  <a:srgbClr val="22C55E"/>
                </a:solidFill>
                <a:latin typeface="Segoe UI Semibold"/>
              </a:defRPr>
            </a:pPr>
            <a:r>
              <a:rPr sz="1600" b="1">
                <a:solidFill>
                  <a:srgbClr val="22C55E"/>
                </a:solidFill>
                <a:latin typeface="Segoe UI Semibold"/>
              </a:rPr>
              <a:t>Objetivo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14400" y="2331720"/>
            <a:ext cx="4846320" cy="3657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 b="0">
                <a:solidFill>
                  <a:srgbClr val="0F172A"/>
                </a:solidFill>
                <a:latin typeface="Segoe UI"/>
              </a:defRPr>
            </a:pPr>
            <a:r>
              <a:rPr sz="1500" b="0">
                <a:solidFill>
                  <a:srgbClr val="0F172A"/>
                </a:solidFill>
                <a:latin typeface="Segoe UI"/>
              </a:rPr>
              <a:t>• Entender los Gaussian Mixture Models (GMM) como modelo probabilístico de soft clustering, ajustarlos con el algoritmo EM en scikit-learn, elegir el número de componentes con BIC/AIC, y conocer las variantes (covariance_type, BayesianGaussianMixture) para aplicarlas en clustering, densidad y detección de anomalías.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217920" y="1783080"/>
            <a:ext cx="5212080" cy="4480560"/>
          </a:xfrm>
          <a:prstGeom prst="roundRect">
            <a:avLst/>
          </a:prstGeom>
          <a:solidFill>
            <a:srgbClr val="FFFFFF"/>
          </a:solidFill>
          <a:ln w="1524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6400800" y="1920240"/>
            <a:ext cx="484632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600" b="1">
                <a:solidFill>
                  <a:srgbClr val="22C55E"/>
                </a:solidFill>
                <a:latin typeface="Segoe UI Semibold"/>
              </a:defRPr>
            </a:pPr>
            <a:r>
              <a:rPr sz="1600" b="1">
                <a:solidFill>
                  <a:srgbClr val="22C55E"/>
                </a:solidFill>
                <a:latin typeface="Segoe UI Semibold"/>
              </a:rPr>
              <a:t>Resultados de aprendizaje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400800" y="2331720"/>
            <a:ext cx="4846320" cy="3657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400" b="0">
                <a:solidFill>
                  <a:srgbClr val="0F172A"/>
                </a:solidFill>
                <a:latin typeface="Segoe UI"/>
              </a:defRPr>
            </a:pPr>
            <a:r>
              <a:rPr sz="1400" b="0">
                <a:solidFill>
                  <a:srgbClr val="0F172A"/>
                </a:solidFill>
                <a:latin typeface="Segoe UI"/>
              </a:rPr>
              <a:t>• Explicar qué es un GMM y cómo se diferencia de K-Means (asignación dura vs. probabilística).</a:t>
            </a:r>
          </a:p>
          <a:p>
            <a:pPr>
              <a:spcAft>
                <a:spcPts val="800"/>
              </a:spcAft>
              <a:defRPr sz="1400" b="0">
                <a:solidFill>
                  <a:srgbClr val="0F172A"/>
                </a:solidFill>
                <a:latin typeface="Segoe UI"/>
              </a:defRPr>
            </a:pPr>
            <a:r>
              <a:rPr sz="1400" b="0">
                <a:solidFill>
                  <a:srgbClr val="0F172A"/>
                </a:solidFill>
                <a:latin typeface="Segoe UI"/>
              </a:rPr>
              <a:t>• Ajustar un GaussianMixture con scikit-learn y obtener predict, predict_proba y score_samples.</a:t>
            </a:r>
          </a:p>
          <a:p>
            <a:pPr>
              <a:spcAft>
                <a:spcPts val="800"/>
              </a:spcAft>
              <a:defRPr sz="1400" b="0">
                <a:solidFill>
                  <a:srgbClr val="0F172A"/>
                </a:solidFill>
                <a:latin typeface="Segoe UI"/>
              </a:defRPr>
            </a:pPr>
            <a:r>
              <a:rPr sz="1400" b="0">
                <a:solidFill>
                  <a:srgbClr val="0F172A"/>
                </a:solidFill>
                <a:latin typeface="Segoe UI"/>
              </a:rPr>
              <a:t>• Seleccionar el número óptimo de componentes comparando BIC y AIC en una grilla.</a:t>
            </a:r>
          </a:p>
          <a:p>
            <a:pPr>
              <a:spcAft>
                <a:spcPts val="800"/>
              </a:spcAft>
              <a:defRPr sz="1400" b="0">
                <a:solidFill>
                  <a:srgbClr val="0F172A"/>
                </a:solidFill>
                <a:latin typeface="Segoe UI"/>
              </a:defRPr>
            </a:pPr>
            <a:r>
              <a:rPr sz="1400" b="0">
                <a:solidFill>
                  <a:srgbClr val="0F172A"/>
                </a:solidFill>
                <a:latin typeface="Segoe UI"/>
              </a:rPr>
              <a:t>• Elegir el covariance_type apropiado (full, tied, diag, spherical) según supuestos y tamaño del dataset.</a:t>
            </a:r>
          </a:p>
          <a:p>
            <a:pPr>
              <a:spcAft>
                <a:spcPts val="800"/>
              </a:spcAft>
              <a:defRPr sz="1400" b="0">
                <a:solidFill>
                  <a:srgbClr val="0F172A"/>
                </a:solidFill>
                <a:latin typeface="Segoe UI"/>
              </a:defRPr>
            </a:pPr>
            <a:r>
              <a:rPr sz="1400" b="0">
                <a:solidFill>
                  <a:srgbClr val="0F172A"/>
                </a:solidFill>
                <a:latin typeface="Segoe UI"/>
              </a:rPr>
              <a:t>• Usar BayesianGaussianMixture para que el modelo descarte componentes innecesarios automáticamente.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411480"/>
          </a:xfrm>
          <a:prstGeom prst="rect">
            <a:avLst/>
          </a:prstGeom>
          <a:solidFill>
            <a:srgbClr val="0F172A"/>
          </a:solidFill>
          <a:ln>
            <a:solidFill>
              <a:srgbClr val="0F172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411480"/>
            <a:ext cx="12191695" cy="73152"/>
          </a:xfrm>
          <a:prstGeom prst="rect">
            <a:avLst/>
          </a:prstGeom>
          <a:solidFill>
            <a:srgbClr val="22C55E"/>
          </a:solidFill>
          <a:ln>
            <a:solidFill>
              <a:srgbClr val="22C55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40080" y="731520"/>
            <a:ext cx="10881360" cy="7315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>
              <a:defRPr sz="2300" b="1">
                <a:solidFill>
                  <a:srgbClr val="0F172A"/>
                </a:solidFill>
                <a:latin typeface="Segoe UI Semibold"/>
              </a:defRPr>
            </a:pPr>
            <a:r>
              <a:rPr sz="2300" b="1">
                <a:solidFill>
                  <a:srgbClr val="0F172A"/>
                </a:solidFill>
                <a:latin typeface="Segoe UI Semibold"/>
              </a:rPr>
              <a:t>🗺️ Temas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58368" y="1298448"/>
            <a:ext cx="1088136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 b="0">
                <a:solidFill>
                  <a:srgbClr val="475569"/>
                </a:solidFill>
                <a:latin typeface="Segoe UI"/>
              </a:defRPr>
            </a:pPr>
            <a:r>
              <a:rPr sz="1100" b="0">
                <a:solidFill>
                  <a:srgbClr val="475569"/>
                </a:solidFill>
                <a:latin typeface="Segoe UI"/>
              </a:rPr>
              <a:t>Recorrido de la sesión.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31520" y="1783080"/>
            <a:ext cx="10698480" cy="4480560"/>
          </a:xfrm>
          <a:prstGeom prst="roundRect">
            <a:avLst/>
          </a:prstGeom>
          <a:solidFill>
            <a:srgbClr val="FFFFFF"/>
          </a:solidFill>
          <a:ln w="1524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868680" y="1874519"/>
            <a:ext cx="10424160" cy="4297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1600" b="0">
                <a:solidFill>
                  <a:srgbClr val="0F172A"/>
                </a:solidFill>
                <a:latin typeface="Segoe UI"/>
              </a:defRPr>
            </a:pPr>
            <a:r>
              <a:rPr sz="1600" b="0">
                <a:solidFill>
                  <a:srgbClr val="0F172A"/>
                </a:solidFill>
                <a:latin typeface="Segoe UI"/>
              </a:rPr>
              <a:t>• Modelos de mezcla: intuición y fórmula.</a:t>
            </a:r>
          </a:p>
          <a:p>
            <a:pPr>
              <a:spcAft>
                <a:spcPts val="1000"/>
              </a:spcAft>
              <a:defRPr sz="1600" b="0">
                <a:solidFill>
                  <a:srgbClr val="0F172A"/>
                </a:solidFill>
                <a:latin typeface="Segoe UI"/>
              </a:defRPr>
            </a:pPr>
            <a:r>
              <a:rPr sz="1600" b="0">
                <a:solidFill>
                  <a:srgbClr val="0F172A"/>
                </a:solidFill>
                <a:latin typeface="Segoe UI"/>
              </a:rPr>
              <a:t>• Algoritmo Expectation-Maximization (EM): paso E (responsabilidades) + paso M (actualizar medias, covarianzas, pesos).</a:t>
            </a:r>
          </a:p>
          <a:p>
            <a:pPr>
              <a:spcAft>
                <a:spcPts val="1000"/>
              </a:spcAft>
              <a:defRPr sz="1600" b="0">
                <a:solidFill>
                  <a:srgbClr val="0F172A"/>
                </a:solidFill>
                <a:latin typeface="Segoe UI"/>
              </a:defRPr>
            </a:pPr>
            <a:r>
              <a:rPr sz="1600" b="0">
                <a:solidFill>
                  <a:srgbClr val="0F172A"/>
                </a:solidFill>
                <a:latin typeface="Segoe UI"/>
              </a:rPr>
              <a:t>• API de sklearn.mixture.GaussianMixture: n_components, covariance_type, n_init, tol.</a:t>
            </a:r>
          </a:p>
          <a:p>
            <a:pPr>
              <a:spcAft>
                <a:spcPts val="1000"/>
              </a:spcAft>
              <a:defRPr sz="1600" b="0">
                <a:solidFill>
                  <a:srgbClr val="0F172A"/>
                </a:solidFill>
                <a:latin typeface="Segoe UI"/>
              </a:defRPr>
            </a:pPr>
            <a:r>
              <a:rPr sz="1600" b="0">
                <a:solidFill>
                  <a:srgbClr val="0F172A"/>
                </a:solidFill>
                <a:latin typeface="Segoe UI"/>
              </a:rPr>
              <a:t>• Métodos: predict_proba (soft), score_samples (log-densidad), sample (generar datos).</a:t>
            </a:r>
          </a:p>
          <a:p>
            <a:pPr>
              <a:spcAft>
                <a:spcPts val="1000"/>
              </a:spcAft>
              <a:defRPr sz="1600" b="0">
                <a:solidFill>
                  <a:srgbClr val="0F172A"/>
                </a:solidFill>
                <a:latin typeface="Segoe UI"/>
              </a:defRPr>
            </a:pPr>
            <a:r>
              <a:rPr sz="1600" b="0">
                <a:solidFill>
                  <a:srgbClr val="0F172A"/>
                </a:solidFill>
                <a:latin typeface="Segoe UI"/>
              </a:rPr>
              <a:t>• Selección de modelo con BIC y AIC.</a:t>
            </a:r>
          </a:p>
          <a:p>
            <a:pPr>
              <a:spcAft>
                <a:spcPts val="1000"/>
              </a:spcAft>
              <a:defRPr sz="1600" b="0">
                <a:solidFill>
                  <a:srgbClr val="0F172A"/>
                </a:solidFill>
                <a:latin typeface="Segoe UI"/>
              </a:defRPr>
            </a:pPr>
            <a:r>
              <a:rPr sz="1600" b="0">
                <a:solidFill>
                  <a:srgbClr val="0F172A"/>
                </a:solidFill>
                <a:latin typeface="Segoe UI"/>
              </a:rPr>
              <a:t>• Variantes de covarianza y su impacto en parámetros / sesgo / varianza.</a:t>
            </a:r>
          </a:p>
          <a:p>
            <a:pPr>
              <a:spcAft>
                <a:spcPts val="1000"/>
              </a:spcAft>
              <a:defRPr sz="1600" b="0">
                <a:solidFill>
                  <a:srgbClr val="0F172A"/>
                </a:solidFill>
                <a:latin typeface="Segoe UI"/>
              </a:defRPr>
            </a:pPr>
            <a:r>
              <a:rPr sz="1600" b="0">
                <a:solidFill>
                  <a:srgbClr val="0F172A"/>
                </a:solidFill>
                <a:latin typeface="Segoe UI"/>
              </a:rPr>
              <a:t>• Bayesian GMM con prior de Dirichlet: aprende cuántos componentes hacen falta.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411480"/>
          </a:xfrm>
          <a:prstGeom prst="rect">
            <a:avLst/>
          </a:prstGeom>
          <a:solidFill>
            <a:srgbClr val="0F172A"/>
          </a:solidFill>
          <a:ln>
            <a:solidFill>
              <a:srgbClr val="0F172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411480"/>
            <a:ext cx="12191695" cy="73152"/>
          </a:xfrm>
          <a:prstGeom prst="rect">
            <a:avLst/>
          </a:prstGeom>
          <a:solidFill>
            <a:srgbClr val="22C55E"/>
          </a:solidFill>
          <a:ln>
            <a:solidFill>
              <a:srgbClr val="22C55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40080" y="731520"/>
            <a:ext cx="10881360" cy="7315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>
              <a:defRPr sz="2300" b="1">
                <a:solidFill>
                  <a:srgbClr val="0F172A"/>
                </a:solidFill>
                <a:latin typeface="Segoe UI Semibold"/>
              </a:defRPr>
            </a:pPr>
            <a:r>
              <a:rPr sz="2300" b="1">
                <a:solidFill>
                  <a:srgbClr val="0F172A"/>
                </a:solidFill>
                <a:latin typeface="Segoe UI Semibold"/>
              </a:rPr>
              <a:t>📖 Definiciones clave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58368" y="1298448"/>
            <a:ext cx="1088136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 b="0">
                <a:solidFill>
                  <a:srgbClr val="475569"/>
                </a:solidFill>
                <a:latin typeface="Segoe UI"/>
              </a:defRPr>
            </a:pPr>
            <a:r>
              <a:rPr sz="1100" b="0">
                <a:solidFill>
                  <a:srgbClr val="475569"/>
                </a:solidFill>
                <a:latin typeface="Segoe UI"/>
              </a:rPr>
              <a:t>Conceptos a fijar antes de la práctica.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31520" y="1783080"/>
            <a:ext cx="10698480" cy="4480560"/>
          </a:xfrm>
          <a:prstGeom prst="roundRect">
            <a:avLst/>
          </a:prstGeom>
          <a:solidFill>
            <a:srgbClr val="FFFFFF"/>
          </a:solidFill>
          <a:ln w="1524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868680" y="1874519"/>
            <a:ext cx="10424160" cy="4297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1800" b="0">
                <a:solidFill>
                  <a:srgbClr val="0F172A"/>
                </a:solidFill>
                <a:latin typeface="Segoe UI"/>
              </a:defRPr>
            </a:pPr>
            <a:r>
              <a:rPr sz="1800" b="0">
                <a:solidFill>
                  <a:srgbClr val="0F172A"/>
                </a:solidFill>
                <a:latin typeface="Segoe UI"/>
              </a:rPr>
              <a:t>• Ver README de la clase.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411480"/>
          </a:xfrm>
          <a:prstGeom prst="rect">
            <a:avLst/>
          </a:prstGeom>
          <a:solidFill>
            <a:srgbClr val="0F172A"/>
          </a:solidFill>
          <a:ln>
            <a:solidFill>
              <a:srgbClr val="0F172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411480"/>
            <a:ext cx="12191695" cy="73152"/>
          </a:xfrm>
          <a:prstGeom prst="rect">
            <a:avLst/>
          </a:prstGeom>
          <a:solidFill>
            <a:srgbClr val="22C55E"/>
          </a:solidFill>
          <a:ln>
            <a:solidFill>
              <a:srgbClr val="22C55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40080" y="731520"/>
            <a:ext cx="10881360" cy="7315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>
              <a:defRPr sz="2300" b="1">
                <a:solidFill>
                  <a:srgbClr val="0F172A"/>
                </a:solidFill>
                <a:latin typeface="Segoe UI Semibold"/>
              </a:defRPr>
            </a:pPr>
            <a:r>
              <a:rPr sz="2300" b="1">
                <a:solidFill>
                  <a:srgbClr val="0F172A"/>
                </a:solidFill>
                <a:latin typeface="Segoe UI Semibold"/>
              </a:rPr>
              <a:t>💻 Código de muestra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58368" y="1298448"/>
            <a:ext cx="1088136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 b="0">
                <a:solidFill>
                  <a:srgbClr val="475569"/>
                </a:solidFill>
                <a:latin typeface="Segoe UI"/>
              </a:defRPr>
            </a:pPr>
            <a:r>
              <a:rPr sz="1100" b="0">
                <a:solidFill>
                  <a:srgbClr val="475569"/>
                </a:solidFill>
                <a:latin typeface="Segoe UI"/>
              </a:rPr>
              <a:t>GaussianMixture asume mezcla de gaussianas. Comparamos predict contra las etiquetas reales con ARI.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31520" y="1828800"/>
            <a:ext cx="10698480" cy="4480560"/>
          </a:xfrm>
          <a:prstGeom prst="roundRect">
            <a:avLst/>
          </a:prstGeom>
          <a:solidFill>
            <a:srgbClr val="0F172A"/>
          </a:solidFill>
          <a:ln w="15240">
            <a:solidFill>
              <a:srgbClr val="0F172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914400" y="2011680"/>
            <a:ext cx="10241280" cy="41148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>
              <a:defRPr sz="1200" b="0">
                <a:solidFill>
                  <a:srgbClr val="F8FAFC"/>
                </a:solidFill>
                <a:latin typeface="Courier New"/>
              </a:defRPr>
            </a:pPr>
            <a:r>
              <a:rPr sz="1200" b="0">
                <a:solidFill>
                  <a:srgbClr val="F8FAFC"/>
                </a:solidFill>
                <a:latin typeface="Courier New"/>
              </a:rPr>
              <a:t>import numpy as np</a:t>
            </a:r>
          </a:p>
          <a:p>
            <a:pPr>
              <a:defRPr sz="1200" b="0">
                <a:solidFill>
                  <a:srgbClr val="F8FAFC"/>
                </a:solidFill>
                <a:latin typeface="Courier New"/>
              </a:defRPr>
            </a:pPr>
            <a:r>
              <a:rPr sz="1200" b="0">
                <a:solidFill>
                  <a:srgbClr val="F8FAFC"/>
                </a:solidFill>
                <a:latin typeface="Courier New"/>
              </a:rPr>
              <a:t>import matplotlib.pyplot as plt</a:t>
            </a:r>
          </a:p>
          <a:p>
            <a:pPr>
              <a:defRPr sz="1200" b="0">
                <a:solidFill>
                  <a:srgbClr val="F8FAFC"/>
                </a:solidFill>
                <a:latin typeface="Courier New"/>
              </a:defRPr>
            </a:pPr>
            <a:r>
              <a:rPr sz="1200" b="0">
                <a:solidFill>
                  <a:srgbClr val="F8FAFC"/>
                </a:solidFill>
                <a:latin typeface="Courier New"/>
              </a:rPr>
              <a:t>from sklearn.datasets import make_blobs</a:t>
            </a:r>
          </a:p>
          <a:p>
            <a:pPr>
              <a:defRPr sz="1200" b="0">
                <a:solidFill>
                  <a:srgbClr val="F8FAFC"/>
                </a:solidFill>
                <a:latin typeface="Courier New"/>
              </a:defRPr>
            </a:pPr>
            <a:r>
              <a:rPr sz="1200" b="0">
                <a:solidFill>
                  <a:srgbClr val="F8FAFC"/>
                </a:solidFill>
                <a:latin typeface="Courier New"/>
              </a:rPr>
              <a:t>from sklearn.mixture import GaussianMixture</a:t>
            </a:r>
          </a:p>
          <a:p>
            <a:pPr>
              <a:defRPr sz="1200" b="0">
                <a:solidFill>
                  <a:srgbClr val="F8FAFC"/>
                </a:solidFill>
                <a:latin typeface="Courier New"/>
              </a:defRPr>
            </a:pPr>
            <a:r>
              <a:rPr sz="1200" b="0">
                <a:solidFill>
                  <a:srgbClr val="F8FAFC"/>
                </a:solidFill>
                <a:latin typeface="Courier New"/>
              </a:rPr>
              <a:t>from sklearn.metrics import adjusted_rand_score</a:t>
            </a:r>
          </a:p>
          <a:p>
            <a:pPr>
              <a:defRPr sz="1200" b="0">
                <a:solidFill>
                  <a:srgbClr val="F8FAFC"/>
                </a:solidFill>
                <a:latin typeface="Courier New"/>
              </a:defRPr>
            </a:pPr>
            <a:r>
              <a:rPr sz="1200" b="0">
                <a:solidFill>
                  <a:srgbClr val="F8FAFC"/>
                </a:solidFill>
                <a:latin typeface="Courier New"/>
              </a:rPr>
              <a:t> </a:t>
            </a:r>
          </a:p>
          <a:p>
            <a:pPr>
              <a:defRPr sz="1200" b="0">
                <a:solidFill>
                  <a:srgbClr val="F8FAFC"/>
                </a:solidFill>
                <a:latin typeface="Courier New"/>
              </a:defRPr>
            </a:pPr>
            <a:r>
              <a:rPr sz="1200" b="0">
                <a:solidFill>
                  <a:srgbClr val="F8FAFC"/>
                </a:solidFill>
                <a:latin typeface="Courier New"/>
              </a:rPr>
              <a:t>np.random.seed(42)</a:t>
            </a:r>
          </a:p>
          <a:p>
            <a:pPr>
              <a:defRPr sz="1200" b="0">
                <a:solidFill>
                  <a:srgbClr val="F8FAFC"/>
                </a:solidFill>
                <a:latin typeface="Courier New"/>
              </a:defRPr>
            </a:pPr>
            <a:r>
              <a:rPr sz="1200" b="0">
                <a:solidFill>
                  <a:srgbClr val="F8FAFC"/>
                </a:solidFill>
                <a:latin typeface="Courier New"/>
              </a:rPr>
              <a:t>X, y_true = make_blobs(n_samples=1000, centers=3, cluster_std=[1.0, 2.0, 0.5], random_state=42)</a:t>
            </a:r>
          </a:p>
          <a:p>
            <a:pPr>
              <a:defRPr sz="1200" b="0">
                <a:solidFill>
                  <a:srgbClr val="F8FAFC"/>
                </a:solidFill>
                <a:latin typeface="Courier New"/>
              </a:defRPr>
            </a:pPr>
            <a:r>
              <a:rPr sz="1200" b="0">
                <a:solidFill>
                  <a:srgbClr val="F8FAFC"/>
                </a:solidFill>
                <a:latin typeface="Courier New"/>
              </a:rPr>
              <a:t> </a:t>
            </a:r>
          </a:p>
          <a:p>
            <a:pPr>
              <a:defRPr sz="1200" b="0">
                <a:solidFill>
                  <a:srgbClr val="F8FAFC"/>
                </a:solidFill>
                <a:latin typeface="Courier New"/>
              </a:defRPr>
            </a:pPr>
            <a:r>
              <a:rPr sz="1200" b="0">
                <a:solidFill>
                  <a:srgbClr val="F8FAFC"/>
                </a:solidFill>
                <a:latin typeface="Courier New"/>
              </a:rPr>
              <a:t>gmm = GaussianMixture(n_components=3, n_init=10, random_state=42).fit(X)</a:t>
            </a:r>
          </a:p>
          <a:p>
            <a:pPr>
              <a:defRPr sz="1200" b="0">
                <a:solidFill>
                  <a:srgbClr val="F8FAFC"/>
                </a:solidFill>
                <a:latin typeface="Courier New"/>
              </a:defRPr>
            </a:pPr>
            <a:r>
              <a:rPr sz="1200" b="0">
                <a:solidFill>
                  <a:srgbClr val="F8FAFC"/>
                </a:solidFill>
                <a:latin typeface="Courier New"/>
              </a:rPr>
              <a:t>labels = gmm.predict(X)</a:t>
            </a:r>
          </a:p>
          <a:p>
            <a:pPr>
              <a:defRPr sz="1200" b="0">
                <a:solidFill>
                  <a:srgbClr val="F8FAFC"/>
                </a:solidFill>
                <a:latin typeface="Courier New"/>
              </a:defRPr>
            </a:pPr>
            <a:r>
              <a:rPr sz="1200" b="0">
                <a:solidFill>
                  <a:srgbClr val="F8FAFC"/>
                </a:solidFill>
                <a:latin typeface="Courier New"/>
              </a:rPr>
              <a:t>print("ARI GMM vs verdad:", round(adjusted_rand_score(y_true, labels), 4))</a:t>
            </a:r>
          </a:p>
          <a:p>
            <a:pPr>
              <a:defRPr sz="1200" b="0">
                <a:solidFill>
                  <a:srgbClr val="F8FAFC"/>
                </a:solidFill>
                <a:latin typeface="Courier New"/>
              </a:defRPr>
            </a:pPr>
            <a:r>
              <a:rPr sz="1200" b="0">
                <a:solidFill>
                  <a:srgbClr val="F8FAFC"/>
                </a:solidFill>
                <a:latin typeface="Courier New"/>
              </a:rPr>
              <a:t>print("pesos de mezcla:", gmm.weights_.round(3))</a:t>
            </a:r>
          </a:p>
          <a:p>
            <a:pPr>
              <a:defRPr sz="1200" b="0">
                <a:solidFill>
                  <a:srgbClr val="F8FAFC"/>
                </a:solidFill>
                <a:latin typeface="Courier New"/>
              </a:defRPr>
            </a:pPr>
            <a:r>
              <a:rPr sz="1200" b="0">
                <a:solidFill>
                  <a:srgbClr val="F8FAFC"/>
                </a:solidFill>
                <a:latin typeface="Courier New"/>
              </a:rPr>
              <a:t>assert gmm.converged_, "EM deberia converger"</a:t>
            </a:r>
          </a:p>
          <a:p>
            <a:pPr>
              <a:defRPr sz="1200" b="0">
                <a:solidFill>
                  <a:srgbClr val="F8FAFC"/>
                </a:solidFill>
                <a:latin typeface="Courier New"/>
              </a:defRPr>
            </a:pPr>
            <a:r>
              <a:rPr sz="1200" b="0">
                <a:solidFill>
                  <a:srgbClr val="F8FAFC"/>
                </a:solidFill>
                <a:latin typeface="Courier New"/>
              </a:rPr>
              <a:t> </a:t>
            </a:r>
          </a:p>
          <a:p>
            <a:pPr>
              <a:defRPr sz="1200" b="0">
                <a:solidFill>
                  <a:srgbClr val="F8FAFC"/>
                </a:solidFill>
                <a:latin typeface="Courier New"/>
              </a:defRPr>
            </a:pPr>
            <a:r>
              <a:rPr sz="1200" b="0">
                <a:solidFill>
                  <a:srgbClr val="F8FAFC"/>
                </a:solidFill>
                <a:latin typeface="Courier New"/>
              </a:rPr>
              <a:t>plt.figure(figsize=(7, 5))</a:t>
            </a:r>
          </a:p>
          <a:p>
            <a:pPr>
              <a:defRPr sz="1200" b="0">
                <a:solidFill>
                  <a:srgbClr val="F8FAFC"/>
                </a:solidFill>
                <a:latin typeface="Courier New"/>
              </a:defRPr>
            </a:pPr>
            <a:r>
              <a:rPr sz="1200" b="0">
                <a:solidFill>
                  <a:srgbClr val="F8FAFC"/>
                </a:solidFill>
                <a:latin typeface="Courier New"/>
              </a:rPr>
              <a:t>plt.scatter(X[:, 0], X[:, 1], c=labels, cmap="tab10", s=10, alpha=0.6)</a:t>
            </a:r>
          </a:p>
          <a:p>
            <a:pPr>
              <a:defRPr sz="1200" b="0">
                <a:solidFill>
                  <a:srgbClr val="F8FAFC"/>
                </a:solidFill>
                <a:latin typeface="Courier New"/>
              </a:defRPr>
            </a:pPr>
            <a:r>
              <a:rPr sz="1200" b="0">
                <a:solidFill>
                  <a:srgbClr val="F8FAFC"/>
                </a:solidFill>
                <a:latin typeface="Courier New"/>
              </a:rPr>
              <a:t>plt.scatter(gmm.means_[:, 0], gmm.means_[:, 1], c="black", marker="X", s=150)</a:t>
            </a:r>
          </a:p>
          <a:p>
            <a:pPr>
              <a:defRPr sz="1200" b="0">
                <a:solidFill>
                  <a:srgbClr val="F8FAFC"/>
                </a:solidFill>
                <a:latin typeface="Courier New"/>
              </a:defRPr>
            </a:pPr>
            <a:r>
              <a:rPr sz="1200" b="0">
                <a:solidFill>
                  <a:srgbClr val="F8FAFC"/>
                </a:solidFill>
                <a:latin typeface="Courier New"/>
              </a:rPr>
              <a:t>plt.title("GMM (3 componentes) sobre blobs de varianza distinta")</a:t>
            </a:r>
          </a:p>
          <a:p>
            <a:pPr>
              <a:defRPr sz="1200" b="0">
                <a:solidFill>
                  <a:srgbClr val="F8FAFC"/>
                </a:solidFill>
                <a:latin typeface="Courier New"/>
              </a:defRPr>
            </a:pPr>
            <a:r>
              <a:rPr sz="1200" b="0">
                <a:solidFill>
                  <a:srgbClr val="F8FAFC"/>
                </a:solidFill>
                <a:latin typeface="Courier New"/>
              </a:rPr>
              <a:t>plt.tight_layout(); plt.show()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411480"/>
          </a:xfrm>
          <a:prstGeom prst="rect">
            <a:avLst/>
          </a:prstGeom>
          <a:solidFill>
            <a:srgbClr val="0F172A"/>
          </a:solidFill>
          <a:ln>
            <a:solidFill>
              <a:srgbClr val="0F172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411480"/>
            <a:ext cx="12191695" cy="73152"/>
          </a:xfrm>
          <a:prstGeom prst="rect">
            <a:avLst/>
          </a:prstGeom>
          <a:solidFill>
            <a:srgbClr val="22C55E"/>
          </a:solidFill>
          <a:ln>
            <a:solidFill>
              <a:srgbClr val="22C55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40080" y="731520"/>
            <a:ext cx="10881360" cy="7315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>
              <a:defRPr sz="2300" b="1">
                <a:solidFill>
                  <a:srgbClr val="0F172A"/>
                </a:solidFill>
                <a:latin typeface="Segoe UI Semibold"/>
              </a:defRPr>
            </a:pPr>
            <a:r>
              <a:rPr sz="2300" b="1">
                <a:solidFill>
                  <a:srgbClr val="0F172A"/>
                </a:solidFill>
                <a:latin typeface="Segoe UI Semibold"/>
              </a:rPr>
              <a:t>🧪 Ejercicios · 📝 Homework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58368" y="1298448"/>
            <a:ext cx="1088136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 b="0">
                <a:solidFill>
                  <a:srgbClr val="475569"/>
                </a:solidFill>
                <a:latin typeface="Segoe UI"/>
              </a:defRPr>
            </a:pPr>
            <a:r>
              <a:rPr sz="1100" b="0">
                <a:solidFill>
                  <a:srgbClr val="475569"/>
                </a:solidFill>
                <a:latin typeface="Segoe UI"/>
              </a:rPr>
              <a:t>Práctica guiada + entrega.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31520" y="1783080"/>
            <a:ext cx="5212080" cy="4480560"/>
          </a:xfrm>
          <a:prstGeom prst="roundRect">
            <a:avLst/>
          </a:prstGeom>
          <a:solidFill>
            <a:srgbClr val="FFFFFF"/>
          </a:solidFill>
          <a:ln w="1524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914400" y="1920240"/>
            <a:ext cx="484632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600" b="1">
                <a:solidFill>
                  <a:srgbClr val="22C55E"/>
                </a:solidFill>
                <a:latin typeface="Segoe UI Semibold"/>
              </a:defRPr>
            </a:pPr>
            <a:r>
              <a:rPr sz="1600" b="1">
                <a:solidFill>
                  <a:srgbClr val="22C55E"/>
                </a:solidFill>
                <a:latin typeface="Segoe UI Semibold"/>
              </a:rPr>
              <a:t>Ejercicios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14400" y="2331720"/>
            <a:ext cx="4846320" cy="3657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400" b="0">
                <a:solidFill>
                  <a:srgbClr val="0F172A"/>
                </a:solidFill>
                <a:latin typeface="Segoe UI"/>
              </a:defRPr>
            </a:pPr>
            <a:r>
              <a:rPr sz="1400" b="0">
                <a:solidFill>
                  <a:srgbClr val="0F172A"/>
                </a:solidFill>
                <a:latin typeface="Segoe UI"/>
              </a:rPr>
              <a:t>• Ajuste básico: generá make_blobs con 3 centros y cluster_std variable.</a:t>
            </a:r>
          </a:p>
          <a:p>
            <a:pPr>
              <a:spcAft>
                <a:spcPts val="800"/>
              </a:spcAft>
              <a:defRPr sz="1400" b="0">
                <a:solidFill>
                  <a:srgbClr val="0F172A"/>
                </a:solidFill>
                <a:latin typeface="Segoe UI"/>
              </a:defRPr>
            </a:pPr>
            <a:r>
              <a:rPr sz="1400" b="0">
                <a:solidFill>
                  <a:srgbClr val="0F172A"/>
                </a:solidFill>
                <a:latin typeface="Segoe UI"/>
              </a:rPr>
              <a:t>• Soft vs.</a:t>
            </a:r>
          </a:p>
          <a:p>
            <a:pPr>
              <a:spcAft>
                <a:spcPts val="800"/>
              </a:spcAft>
              <a:defRPr sz="1400" b="0">
                <a:solidFill>
                  <a:srgbClr val="0F172A"/>
                </a:solidFill>
                <a:latin typeface="Segoe UI"/>
              </a:defRPr>
            </a:pPr>
            <a:r>
              <a:rPr sz="1400" b="0">
                <a:solidFill>
                  <a:srgbClr val="0F172A"/>
                </a:solidFill>
                <a:latin typeface="Segoe UI"/>
              </a:rPr>
              <a:t>• Selección de K con BIC/AIC: ajustá GMMs con n_components de 1 a 10.</a:t>
            </a:r>
          </a:p>
          <a:p>
            <a:pPr>
              <a:spcAft>
                <a:spcPts val="800"/>
              </a:spcAft>
              <a:defRPr sz="1400" b="0">
                <a:solidFill>
                  <a:srgbClr val="0F172A"/>
                </a:solidFill>
                <a:latin typeface="Segoe UI"/>
              </a:defRPr>
            </a:pPr>
            <a:r>
              <a:rPr sz="1400" b="0">
                <a:solidFill>
                  <a:srgbClr val="0F172A"/>
                </a:solidFill>
                <a:latin typeface="Segoe UI"/>
              </a:rPr>
              <a:t>• covariance_type: repetí el ajuste con los 4 tipos sobre un dataset con clusters elípticos rotados.</a:t>
            </a:r>
          </a:p>
          <a:p>
            <a:pPr>
              <a:spcAft>
                <a:spcPts val="800"/>
              </a:spcAft>
              <a:defRPr sz="1400" b="0">
                <a:solidFill>
                  <a:srgbClr val="0F172A"/>
                </a:solidFill>
                <a:latin typeface="Segoe UI"/>
              </a:defRPr>
            </a:pPr>
            <a:r>
              <a:rPr sz="1400" b="0">
                <a:solidFill>
                  <a:srgbClr val="0F172A"/>
                </a:solidFill>
                <a:latin typeface="Segoe UI"/>
              </a:rPr>
              <a:t>• Bayesian GMM: ajustá BayesianGaussianMixture(n_components=10, weight_concentration_prior=0.01) sobre datos con 3 clusters reales y mostrá que los pesos efectivos son ≈ 3.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217920" y="1783080"/>
            <a:ext cx="5212080" cy="4480560"/>
          </a:xfrm>
          <a:prstGeom prst="roundRect">
            <a:avLst/>
          </a:prstGeom>
          <a:solidFill>
            <a:srgbClr val="FFFFFF"/>
          </a:solidFill>
          <a:ln w="1524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6400800" y="1920240"/>
            <a:ext cx="484632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600" b="1">
                <a:solidFill>
                  <a:srgbClr val="22C55E"/>
                </a:solidFill>
                <a:latin typeface="Segoe UI Semibold"/>
              </a:defRPr>
            </a:pPr>
            <a:r>
              <a:rPr sz="1600" b="1">
                <a:solidFill>
                  <a:srgbClr val="22C55E"/>
                </a:solidFill>
                <a:latin typeface="Segoe UI Semibold"/>
              </a:rPr>
              <a:t>Homework verificable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400800" y="2331720"/>
            <a:ext cx="4846320" cy="3657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 b="0">
                <a:solidFill>
                  <a:srgbClr val="0F172A"/>
                </a:solidFill>
                <a:latin typeface="Segoe UI"/>
              </a:defRPr>
            </a:pPr>
            <a:r>
              <a:rPr sz="1500" b="0">
                <a:solidFill>
                  <a:srgbClr val="0F172A"/>
                </a:solidFill>
                <a:latin typeface="Segoe UI"/>
              </a:rPr>
              <a:t>• Estandarizá las features.</a:t>
            </a:r>
          </a:p>
          <a:p>
            <a:pPr>
              <a:spcAft>
                <a:spcPts val="800"/>
              </a:spcAft>
              <a:defRPr sz="1500" b="0">
                <a:solidFill>
                  <a:srgbClr val="0F172A"/>
                </a:solidFill>
                <a:latin typeface="Segoe UI"/>
              </a:defRPr>
            </a:pPr>
            <a:r>
              <a:rPr sz="1500" b="0">
                <a:solidFill>
                  <a:srgbClr val="0F172A"/>
                </a:solidFill>
                <a:latin typeface="Segoe UI"/>
              </a:rPr>
              <a:t>• Ajustá GMMs con n_components de 1 a 8 y covariance_type en ['full', 'tied', 'diag', 'spherical'].</a:t>
            </a:r>
          </a:p>
          <a:p>
            <a:pPr>
              <a:spcAft>
                <a:spcPts val="800"/>
              </a:spcAft>
              <a:defRPr sz="1500" b="0">
                <a:solidFill>
                  <a:srgbClr val="0F172A"/>
                </a:solidFill>
                <a:latin typeface="Segoe UI"/>
              </a:defRPr>
            </a:pPr>
            <a:r>
              <a:rPr sz="1500" b="0">
                <a:solidFill>
                  <a:srgbClr val="0F172A"/>
                </a:solidFill>
                <a:latin typeface="Segoe UI"/>
              </a:rPr>
              <a:t>• Elegí el (n_components, covariance_type) con BIC mínimo.</a:t>
            </a:r>
          </a:p>
          <a:p>
            <a:pPr>
              <a:spcAft>
                <a:spcPts val="800"/>
              </a:spcAft>
              <a:defRPr sz="1500" b="0">
                <a:solidFill>
                  <a:srgbClr val="0F172A"/>
                </a:solidFill>
                <a:latin typeface="Segoe UI"/>
              </a:defRPr>
            </a:pPr>
            <a:r>
              <a:rPr sz="1500" b="0">
                <a:solidFill>
                  <a:srgbClr val="0F172A"/>
                </a:solidFill>
                <a:latin typeface="Segoe UI"/>
              </a:rPr>
              <a:t>• Calculá el Adjusted Rand Index entre predict del mejor modelo y y real.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411480"/>
          </a:xfrm>
          <a:prstGeom prst="rect">
            <a:avLst/>
          </a:prstGeom>
          <a:solidFill>
            <a:srgbClr val="0F172A"/>
          </a:solidFill>
          <a:ln>
            <a:solidFill>
              <a:srgbClr val="0F172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411480"/>
            <a:ext cx="12191695" cy="73152"/>
          </a:xfrm>
          <a:prstGeom prst="rect">
            <a:avLst/>
          </a:prstGeom>
          <a:solidFill>
            <a:srgbClr val="22C55E"/>
          </a:solidFill>
          <a:ln>
            <a:solidFill>
              <a:srgbClr val="22C55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40080" y="731520"/>
            <a:ext cx="10881360" cy="7315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>
              <a:defRPr sz="2300" b="1">
                <a:solidFill>
                  <a:srgbClr val="0F172A"/>
                </a:solidFill>
                <a:latin typeface="Segoe UI Semibold"/>
              </a:defRPr>
            </a:pPr>
            <a:r>
              <a:rPr sz="2300" b="1">
                <a:solidFill>
                  <a:srgbClr val="0F172A"/>
                </a:solidFill>
                <a:latin typeface="Segoe UI Semibold"/>
              </a:rPr>
              <a:t>🔗 Referencias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58368" y="1298448"/>
            <a:ext cx="1088136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 b="0">
                <a:solidFill>
                  <a:srgbClr val="475569"/>
                </a:solidFill>
                <a:latin typeface="Segoe UI"/>
              </a:defRPr>
            </a:pPr>
            <a:r>
              <a:rPr sz="1100" b="0">
                <a:solidFill>
                  <a:srgbClr val="475569"/>
                </a:solidFill>
                <a:latin typeface="Segoe UI"/>
              </a:rPr>
              <a:t>Bibliografía y docs oficiales.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31520" y="1783080"/>
            <a:ext cx="10698480" cy="4480560"/>
          </a:xfrm>
          <a:prstGeom prst="roundRect">
            <a:avLst/>
          </a:prstGeom>
          <a:solidFill>
            <a:srgbClr val="FFFFFF"/>
          </a:solidFill>
          <a:ln w="1524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868680" y="1874519"/>
            <a:ext cx="10424160" cy="4297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1800" b="0">
                <a:solidFill>
                  <a:srgbClr val="0F172A"/>
                </a:solidFill>
                <a:latin typeface="Segoe UI"/>
              </a:defRPr>
            </a:pPr>
            <a:r>
              <a:rPr sz="1800" b="0">
                <a:solidFill>
                  <a:srgbClr val="0F172A"/>
                </a:solidFill>
                <a:latin typeface="Segoe UI"/>
              </a:rPr>
              <a:t>• Géron, Hands-On ML (3ª ed.), cap. 9 § "Gaussian Mixtures".</a:t>
            </a:r>
          </a:p>
          <a:p>
            <a:pPr>
              <a:spcAft>
                <a:spcPts val="1000"/>
              </a:spcAft>
              <a:defRPr sz="1800" b="0">
                <a:solidFill>
                  <a:srgbClr val="0F172A"/>
                </a:solidFill>
                <a:latin typeface="Segoe UI"/>
              </a:defRPr>
            </a:pPr>
            <a:r>
              <a:rPr sz="1800" b="0">
                <a:solidFill>
                  <a:srgbClr val="0F172A"/>
                </a:solidFill>
                <a:latin typeface="Segoe UI"/>
              </a:rPr>
              <a:t>• scikit-learn — Gaussian Mixture Models.</a:t>
            </a:r>
          </a:p>
          <a:p>
            <a:pPr>
              <a:spcAft>
                <a:spcPts val="1000"/>
              </a:spcAft>
              <a:defRPr sz="1800" b="0">
                <a:solidFill>
                  <a:srgbClr val="0F172A"/>
                </a:solidFill>
                <a:latin typeface="Segoe UI"/>
              </a:defRPr>
            </a:pPr>
            <a:r>
              <a:rPr sz="1800" b="0">
                <a:solidFill>
                  <a:srgbClr val="0F172A"/>
                </a:solidFill>
                <a:latin typeface="Segoe UI"/>
              </a:rPr>
              <a:t>• scikit-learn — GaussianMixture y BayesianGaussianMixture.</a:t>
            </a:r>
          </a:p>
          <a:p>
            <a:pPr>
              <a:spcAft>
                <a:spcPts val="1000"/>
              </a:spcAft>
              <a:defRPr sz="1800" b="0">
                <a:solidFill>
                  <a:srgbClr val="0F172A"/>
                </a:solidFill>
                <a:latin typeface="Segoe UI"/>
              </a:defRPr>
            </a:pPr>
            <a:r>
              <a:rPr sz="1800" b="0">
                <a:solidFill>
                  <a:srgbClr val="0F172A"/>
                </a:solidFill>
                <a:latin typeface="Segoe UI"/>
              </a:rPr>
              <a:t>• Bishop, Pattern Recognition and Machine Learning, cap. 9 (EM y mixtures).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411480"/>
          </a:xfrm>
          <a:prstGeom prst="rect">
            <a:avLst/>
          </a:prstGeom>
          <a:solidFill>
            <a:srgbClr val="0F172A"/>
          </a:solidFill>
          <a:ln>
            <a:solidFill>
              <a:srgbClr val="0F172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411480"/>
            <a:ext cx="12191695" cy="73152"/>
          </a:xfrm>
          <a:prstGeom prst="rect">
            <a:avLst/>
          </a:prstGeom>
          <a:solidFill>
            <a:srgbClr val="22C55E"/>
          </a:solidFill>
          <a:ln>
            <a:solidFill>
              <a:srgbClr val="22C55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40080" y="731520"/>
            <a:ext cx="10881360" cy="7315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>
              <a:defRPr sz="2300" b="1">
                <a:solidFill>
                  <a:srgbClr val="0F172A"/>
                </a:solidFill>
                <a:latin typeface="Segoe UI Semibold"/>
              </a:defRPr>
            </a:pPr>
            <a:r>
              <a:rPr sz="2300" b="1">
                <a:solidFill>
                  <a:srgbClr val="0F172A"/>
                </a:solidFill>
                <a:latin typeface="Segoe UI Semibold"/>
              </a:rPr>
              <a:t>Siguiente paso →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58368" y="1298448"/>
            <a:ext cx="1088136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 b="0">
                <a:solidFill>
                  <a:srgbClr val="475569"/>
                </a:solidFill>
                <a:latin typeface="Segoe UI"/>
              </a:defRPr>
            </a:pPr>
            <a:r>
              <a:rPr sz="1100" b="0">
                <a:solidFill>
                  <a:srgbClr val="475569"/>
                </a:solidFill>
                <a:latin typeface="Segoe UI"/>
              </a:rPr>
              <a:t>Cierre de la clase.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31520" y="1783080"/>
            <a:ext cx="10698480" cy="4480560"/>
          </a:xfrm>
          <a:prstGeom prst="roundRect">
            <a:avLst/>
          </a:prstGeom>
          <a:solidFill>
            <a:srgbClr val="FFFFFF"/>
          </a:solidFill>
          <a:ln w="1524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914400" y="2743200"/>
            <a:ext cx="10332720" cy="2286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400" b="1">
                <a:solidFill>
                  <a:srgbClr val="0F172A"/>
                </a:solidFill>
                <a:latin typeface="Segoe UI Semibold"/>
              </a:defRPr>
            </a:pPr>
            <a:r>
              <a:rPr sz="2400" b="1">
                <a:solidFill>
                  <a:srgbClr val="0F172A"/>
                </a:solidFill>
                <a:latin typeface="Segoe UI Semibold"/>
              </a:rPr>
              <a:t>Clase 099 — Detección de anomalías: Isolation Forest, LOF, One-Class SVM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