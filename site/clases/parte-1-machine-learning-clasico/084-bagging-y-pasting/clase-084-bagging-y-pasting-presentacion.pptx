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Clase 084 — Bagging y pasting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7.  Duración estimada: 55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65960"/>
            <a:ext cx="1033272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800"/>
              </a:spcAft>
              <a:defRPr sz="2200" b="1">
                <a:solidFill>
                  <a:srgbClr val="0F172A"/>
                </a:solidFill>
                <a:latin typeface="Segoe UI Semibold"/>
              </a:defRPr>
            </a:pPr>
            <a:r>
              <a:rPr sz="2200" b="1">
                <a:solidFill>
                  <a:srgbClr val="0F172A"/>
                </a:solidFill>
                <a:latin typeface="Segoe UI Semibold"/>
              </a:rPr>
              <a:t>Que el alumno entrene ensembles entrenando el **mismo algoritmo** sobre **distintos subsets** del training set —bagging (con reemplazo) y pasting (sin reemplazo)— y evalúe sin held-out usando **out-of-bag (OOB)**. Cierre con sampling de features (random patches y random subspaces) como puente conceptual a Random Forests.</a:t>
            </a:r>
          </a:p>
          <a:p>
            <a:pPr>
              <a:defRPr sz="1500" b="0">
                <a:solidFill>
                  <a:srgbClr val="475569"/>
                </a:solidFill>
                <a:latin typeface="Segoe UI"/>
              </a:defRPr>
            </a:pPr>
            <a:r>
              <a:rPr sz="1500" b="0">
                <a:solidFill>
                  <a:srgbClr val="475569"/>
                </a:solidFill>
                <a:latin typeface="Segoe UI"/>
              </a:rPr>
              <a:t>Al cierre: Distinguir bagging vs pasting y justificar cuándo elegir uno u otro.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🎯 Objetivo · 📚 Resultados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Parte: 1 — Machine Learning Clásico · Fuente: Géron, cap. 7.  Duración estimada: 55 min. · Nivel: Intermedio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Objetivo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Que el alumno entrene ensembles entrenando el mismo algoritmo sobre distintos subsets del training set —bagging (con reemplazo) y pasting (sin reemplazo)— y evalúe sin held-out usando out-of-bag (OOB). Cierre con sampling de features (random patches y random subspaces) como puente conceptual a Random Forests.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Resultados de aprendizaje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Distinguir bagging vs pasting y justificar cuándo elegir uno u otro.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Entrenar un BaggingClassifier de scikit-learn con un base estimator y n_estimators razonable.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Usar oob_score=True para estimar el error de generalización sin tocar el test set.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Aplicar sampling de features (max_features &lt; 1.0, bootstrap_features=True) para random patches / random subspaces.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Comparar bias/variance del ensemble vs un único árbol, en accuracy y en frontera de decisión.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🗺️ Temas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Recorrido de la sesión.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Bagging (bootstrap aggregating)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Pasting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BaggingClassifier API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OOB evaluation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Random patches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Random subspaces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Paralelización con n_jobs=-1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📖 Definiciones clave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Conceptos a fijar antes de la práctica.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Bagging (bootstrap aggregating): Entrenar el mismo algoritmo sobre múltiples muestras con reemplazo del training set y agregar predicciones por voto mayoritario (clasificación) o promedio (regresión).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Pasting: Igual que bagging pero el sampling es sin reemplazo.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Bootstrap: Sampling con reemplazo del mismo tamaño que el original.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Out-of-bag (OOB) score: Para cada predictor, las instancias no muestreadas (~37%) actúan como validation set.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BaggingClassifier: Meta-estimador de sklearn.</a:t>
            </a:r>
          </a:p>
          <a:p>
            <a:pPr>
              <a:spcAft>
                <a:spcPts val="1000"/>
              </a:spcAft>
              <a:defRPr sz="1600" b="0">
                <a:solidFill>
                  <a:srgbClr val="0F172A"/>
                </a:solidFill>
                <a:latin typeface="Segoe UI"/>
              </a:defRPr>
            </a:pPr>
            <a:r>
              <a:rPr sz="1600" b="0">
                <a:solidFill>
                  <a:srgbClr val="0F172A"/>
                </a:solidFill>
                <a:latin typeface="Segoe UI"/>
              </a:rPr>
              <a:t>• Random patches: Sampling simultáneo de instancias y features.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💻 Código de muestra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Primer bloque ejecutable del notebook.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828800"/>
            <a:ext cx="10698480" cy="4480560"/>
          </a:xfrm>
          <a:prstGeom prst="roundRect">
            <a:avLst/>
          </a:prstGeom>
          <a:solidFill>
            <a:srgbClr val="0F172A"/>
          </a:solidFill>
          <a:ln w="15240"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011680"/>
            <a:ext cx="10241280" cy="4114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numpy as np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import matplotlib.pyplot as plt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sklearn.datasets import make_moons, load_digits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sklearn.model_selection import train_test_split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sklearn.tree import DecisionTreeClassifier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sklearn.ensemble import BaggingClassifier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from sklearn.metrics import accuracy_score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np.random.seed(42)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X, y = make_moons(n_samples=500, noise=0.30, random_state=42)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X_train, X_test, y_train, y_test = train_test_split(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    X, y, test_size=0.2, random_state=42, stratify=y)</a:t>
            </a:r>
          </a:p>
          <a:p>
            <a:pPr>
              <a:defRPr sz="1200" b="0">
                <a:solidFill>
                  <a:srgbClr val="F8FAFC"/>
                </a:solidFill>
                <a:latin typeface="Courier New"/>
              </a:defRPr>
            </a:pPr>
            <a:r>
              <a:rPr sz="1200" b="0">
                <a:solidFill>
                  <a:srgbClr val="F8FAFC"/>
                </a:solidFill>
                <a:latin typeface="Courier New"/>
              </a:rPr>
              <a:t>print('train', X_train.shape, 'test', X_test.shape)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🧪 Ejercicios · 📝 Homework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Práctica guiada + entrega.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Ejercicios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Bagging vs árbol único.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Bagging vs pasting.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OOB.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Curva de n_estimators.</a:t>
            </a:r>
          </a:p>
          <a:p>
            <a:pPr>
              <a:spcAft>
                <a:spcPts val="800"/>
              </a:spcAft>
              <a:defRPr sz="1400" b="0">
                <a:solidFill>
                  <a:srgbClr val="0F172A"/>
                </a:solidFill>
                <a:latin typeface="Segoe UI"/>
              </a:defRPr>
            </a:pPr>
            <a:r>
              <a:rPr sz="1400" b="0">
                <a:solidFill>
                  <a:srgbClr val="0F172A"/>
                </a:solidFill>
                <a:latin typeface="Segoe UI"/>
              </a:rPr>
              <a:t>• Random subspaces.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1783080"/>
            <a:ext cx="52120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0" y="1920240"/>
            <a:ext cx="48463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 b="1">
                <a:solidFill>
                  <a:srgbClr val="22C55E"/>
                </a:solidFill>
                <a:latin typeface="Segoe UI Semibold"/>
              </a:defRPr>
            </a:pPr>
            <a:r>
              <a:rPr sz="1600" b="1">
                <a:solidFill>
                  <a:srgbClr val="22C55E"/>
                </a:solidFill>
                <a:latin typeface="Segoe UI Semibold"/>
              </a:rPr>
              <a:t>Homework verificable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331720"/>
            <a:ext cx="484632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 b="0">
                <a:solidFill>
                  <a:srgbClr val="0F172A"/>
                </a:solidFill>
                <a:latin typeface="Segoe UI"/>
              </a:defRPr>
            </a:pPr>
            <a:r>
              <a:rPr sz="1500" b="0">
                <a:solidFill>
                  <a:srgbClr val="0F172A"/>
                </a:solidFill>
                <a:latin typeface="Segoe UI"/>
              </a:rPr>
              <a:t>• Notebook que: (a) cargue make_moons(500, noise=0.30), split 80/20; (b) entrene árbol único y BaggingClassifier(n_estimators=500, max_samples=100, oob_score=True, n_jobs=-1); (c) reporte accuracy test de ambos y oob_score_ del bag; (d) grafique las dos fronteras de decisión lado a lado; (e) repita con bootstrap=False (pasting) y compare en 1 párrafo.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🔗 Referencias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Bibliografía y docs oficiales.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74519"/>
            <a:ext cx="10424160" cy="4297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Géron, Hands-On ML, cap. 7 § "Bagging and Pasting", "Out-of-Bag Evaluation", "Random Patches and Random Subspaces".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sklearn BaggingClassifier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sklearn user guide — Bagging</a:t>
            </a:r>
          </a:p>
          <a:p>
            <a:pPr>
              <a:spcAft>
                <a:spcPts val="1000"/>
              </a:spcAft>
              <a:defRPr sz="1800" b="0">
                <a:solidFill>
                  <a:srgbClr val="0F172A"/>
                </a:solidFill>
                <a:latin typeface="Segoe UI"/>
              </a:defRPr>
            </a:pPr>
            <a:r>
              <a:rPr sz="1800" b="0">
                <a:solidFill>
                  <a:srgbClr val="0F172A"/>
                </a:solidFill>
                <a:latin typeface="Segoe UI"/>
              </a:rPr>
              <a:t>• Breiman, L. (1996). Bagging predictors. Machine Learning, 24(2).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1148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11480"/>
            <a:ext cx="12191695" cy="73152"/>
          </a:xfrm>
          <a:prstGeom prst="rect">
            <a:avLst/>
          </a:prstGeom>
          <a:solidFill>
            <a:srgbClr val="22C55E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731520"/>
            <a:ext cx="10881360" cy="73152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defRPr sz="2300" b="1">
                <a:solidFill>
                  <a:srgbClr val="0F172A"/>
                </a:solidFill>
                <a:latin typeface="Segoe UI Semibold"/>
              </a:defRPr>
            </a:pPr>
            <a:r>
              <a:rPr sz="2300" b="1">
                <a:solidFill>
                  <a:srgbClr val="0F172A"/>
                </a:solidFill>
                <a:latin typeface="Segoe UI Semibold"/>
              </a:rPr>
              <a:t>Siguiente paso →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58368" y="1298448"/>
            <a:ext cx="10881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100" b="0">
                <a:solidFill>
                  <a:srgbClr val="475569"/>
                </a:solidFill>
                <a:latin typeface="Segoe UI"/>
              </a:defRPr>
            </a:pPr>
            <a:r>
              <a:rPr sz="1100" b="0">
                <a:solidFill>
                  <a:srgbClr val="475569"/>
                </a:solidFill>
                <a:latin typeface="Segoe UI"/>
              </a:rPr>
              <a:t>Cierre de la clase.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783080"/>
            <a:ext cx="10698480" cy="44805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CBD5E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14400" y="2743200"/>
            <a:ext cx="103327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0F172A"/>
                </a:solidFill>
                <a:latin typeface="Segoe UI Semibold"/>
              </a:defRPr>
            </a:pPr>
            <a:r>
              <a:rPr sz="2400" b="1">
                <a:solidFill>
                  <a:srgbClr val="0F172A"/>
                </a:solidFill>
                <a:latin typeface="Segoe UI Semibold"/>
              </a:rPr>
              <a:t>Clase 085 — Random Forests y Extra Trees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