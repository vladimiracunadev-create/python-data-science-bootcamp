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32720" cy="1828800"/>
          </a:xfrm>
          <a:prstGeom prst="rect">
            <a:avLst/>
          </a:prstGeom>
          <a:noFill/>
        </p:spPr>
        <p:txBody>
          <a:bodyPr wrap="square" anchor="ctr">
            <a:spAutoFit/>
          </a:bodyPr>
          <a:lstStyle/>
          <a:p>
            <a:pPr>
              <a:defRPr sz="3600" b="1">
                <a:solidFill>
                  <a:srgbClr val="0F172A"/>
                </a:solidFill>
                <a:latin typeface="Segoe UI Semibold"/>
              </a:defRPr>
            </a:pPr>
            <a:r>
              <a:rPr sz="3600" b="1">
                <a:solidFill>
                  <a:srgbClr val="0F172A"/>
                </a:solidFill>
                <a:latin typeface="Segoe UI Semibold"/>
              </a:rPr>
              <a:t>Parte 5 — Parte 5 — Ingeniería de Datos</a:t>
            </a:r>
          </a:p>
        </p:txBody>
      </p:sp>
      <p:sp>
        <p:nvSpPr>
          <p:cNvPr id="6" name="TextBox 5"/>
          <p:cNvSpPr txBox="1"/>
          <p:nvPr/>
        </p:nvSpPr>
        <p:spPr>
          <a:xfrm>
            <a:off x="914400" y="4297680"/>
            <a:ext cx="10332720" cy="1097280"/>
          </a:xfrm>
          <a:prstGeom prst="rect">
            <a:avLst/>
          </a:prstGeom>
          <a:noFill/>
        </p:spPr>
        <p:txBody>
          <a:bodyPr wrap="square">
            <a:spAutoFit/>
          </a:bodyPr>
          <a:lstStyle/>
          <a:p>
            <a:pPr>
              <a:defRPr sz="1800" b="0">
                <a:solidFill>
                  <a:srgbClr val="475569"/>
                </a:solidFill>
                <a:latin typeface="Segoe UI"/>
              </a:defRPr>
            </a:pPr>
            <a:r>
              <a:rPr sz="1800" b="0">
                <a:solidFill>
                  <a:srgbClr val="475569"/>
                </a:solidFill>
                <a:latin typeface="Segoe UI"/>
              </a:rPr>
              <a:t>⬅ Volver al programa ·  Índice completo ·  Parte anterior ·  Parte siguiente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Parte 5 — Índice</a:t>
            </a:r>
          </a:p>
        </p:txBody>
      </p:sp>
      <p:sp>
        <p:nvSpPr>
          <p:cNvPr id="5" name="Rounded Rectangle 4"/>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Clase 208 — Clase 208 — Pipelines ETL/ELT con Airflow</a:t>
            </a:r>
          </a:p>
          <a:p>
            <a:pPr>
              <a:spcAft>
                <a:spcPts val="1000"/>
              </a:spcAft>
              <a:defRPr sz="1600" b="0">
                <a:solidFill>
                  <a:srgbClr val="0F172A"/>
                </a:solidFill>
                <a:latin typeface="Segoe UI"/>
              </a:defRPr>
            </a:pPr>
            <a:r>
              <a:rPr sz="1600" b="0">
                <a:solidFill>
                  <a:srgbClr val="0F172A"/>
                </a:solidFill>
                <a:latin typeface="Segoe UI"/>
              </a:rPr>
              <a:t>• Clase 209 — Clase 209 — Pipelines con Prefect o Dagster</a:t>
            </a:r>
          </a:p>
          <a:p>
            <a:pPr>
              <a:spcAft>
                <a:spcPts val="1000"/>
              </a:spcAft>
              <a:defRPr sz="1600" b="0">
                <a:solidFill>
                  <a:srgbClr val="0F172A"/>
                </a:solidFill>
                <a:latin typeface="Segoe UI"/>
              </a:defRPr>
            </a:pPr>
            <a:r>
              <a:rPr sz="1600" b="0">
                <a:solidFill>
                  <a:srgbClr val="0F172A"/>
                </a:solidFill>
                <a:latin typeface="Segoe UI"/>
              </a:rPr>
              <a:t>• Clase 210 — Clase 210 — PySpark para datasets grandes</a:t>
            </a:r>
          </a:p>
          <a:p>
            <a:pPr>
              <a:spcAft>
                <a:spcPts val="1000"/>
              </a:spcAft>
              <a:defRPr sz="1600" b="0">
                <a:solidFill>
                  <a:srgbClr val="0F172A"/>
                </a:solidFill>
                <a:latin typeface="Segoe UI"/>
              </a:defRPr>
            </a:pPr>
            <a:r>
              <a:rPr sz="1600" b="0">
                <a:solidFill>
                  <a:srgbClr val="0F172A"/>
                </a:solidFill>
                <a:latin typeface="Segoe UI"/>
              </a:rPr>
              <a:t>• Clase 211 — Clase 211 — Polars como alternativa moderna</a:t>
            </a:r>
          </a:p>
          <a:p>
            <a:pPr>
              <a:spcAft>
                <a:spcPts val="1000"/>
              </a:spcAft>
              <a:defRPr sz="1600" b="0">
                <a:solidFill>
                  <a:srgbClr val="0F172A"/>
                </a:solidFill>
                <a:latin typeface="Segoe UI"/>
              </a:defRPr>
            </a:pPr>
            <a:r>
              <a:rPr sz="1600" b="0">
                <a:solidFill>
                  <a:srgbClr val="0F172A"/>
                </a:solidFill>
                <a:latin typeface="Segoe UI"/>
              </a:rPr>
              <a:t>• Clase 212 — Clase 212 — Data warehouses: BigQuery, Snowflake, DuckDB</a:t>
            </a:r>
          </a:p>
          <a:p>
            <a:pPr>
              <a:spcAft>
                <a:spcPts val="1000"/>
              </a:spcAft>
              <a:defRPr sz="1600" b="0">
                <a:solidFill>
                  <a:srgbClr val="0F172A"/>
                </a:solidFill>
                <a:latin typeface="Segoe UI"/>
              </a:defRPr>
            </a:pPr>
            <a:r>
              <a:rPr sz="1600" b="0">
                <a:solidFill>
                  <a:srgbClr val="0F172A"/>
                </a:solidFill>
                <a:latin typeface="Segoe UI"/>
              </a:rPr>
              <a:t>• Clase 213 — Clase 213 — Streaming intro: Kafka, Kinesis</a:t>
            </a:r>
          </a:p>
          <a:p>
            <a:pPr>
              <a:spcAft>
                <a:spcPts val="1000"/>
              </a:spcAft>
              <a:defRPr sz="1600" b="0">
                <a:solidFill>
                  <a:srgbClr val="0F172A"/>
                </a:solidFill>
                <a:latin typeface="Segoe UI"/>
              </a:defRPr>
            </a:pPr>
            <a:r>
              <a:rPr sz="1600" b="0">
                <a:solidFill>
                  <a:srgbClr val="0F172A"/>
                </a:solidFill>
                <a:latin typeface="Segoe UI"/>
              </a:rPr>
              <a:t>• Clase 214 — Clase 214 — Formatos columnares: Parquet, Avro</a:t>
            </a:r>
          </a:p>
          <a:p>
            <a:pPr>
              <a:spcAft>
                <a:spcPts val="1000"/>
              </a:spcAft>
              <a:defRPr sz="1600" b="0">
                <a:solidFill>
                  <a:srgbClr val="0F172A"/>
                </a:solidFill>
                <a:latin typeface="Segoe UI"/>
              </a:defRPr>
            </a:pPr>
            <a:r>
              <a:rPr sz="1600" b="0">
                <a:solidFill>
                  <a:srgbClr val="0F172A"/>
                </a:solidFill>
                <a:latin typeface="Segoe UI"/>
              </a:rPr>
              <a:t>• Clase 215 — Clase 215 — Modelado dimensional: star/snowflake schemas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208</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208 — Pipelines ETL/ELT con Airflow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Reis &amp; Housley Fundamentals of Data Engineering (O'Reilly, 2022) cap. 8 + Airflow docs 2.10+.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Escribir DAGs de Airflow 2.x con la API moderna (TaskFlow + @dag/@task decorators), entender la diferencia entre ETL (transform antes de cargar) y ELT (cargar al warehouse y transformar ahí), y orquestar un pipeline extract → load → transform → notify con retries, SLAs y backfill.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DAG con TaskFlow API (@dag, @task) y entender el grafo resultante.</a:t>
            </a:r>
          </a:p>
          <a:p>
            <a:pPr>
              <a:spcAft>
                <a:spcPts val="800"/>
              </a:spcAft>
              <a:defRPr sz="1400" b="0">
                <a:solidFill>
                  <a:srgbClr val="0F172A"/>
                </a:solidFill>
                <a:latin typeface="Segoe UI"/>
              </a:defRPr>
            </a:pPr>
            <a:r>
              <a:rPr sz="1400" b="0">
                <a:solidFill>
                  <a:srgbClr val="0F172A"/>
                </a:solidFill>
                <a:latin typeface="Segoe UI"/>
              </a:rPr>
              <a:t>• Diferenciar ETL (clásico) de ELT (moderno, warehouse-first) y elegir según contexto.</a:t>
            </a:r>
          </a:p>
          <a:p>
            <a:pPr>
              <a:spcAft>
                <a:spcPts val="800"/>
              </a:spcAft>
              <a:defRPr sz="1400" b="0">
                <a:solidFill>
                  <a:srgbClr val="0F172A"/>
                </a:solidFill>
                <a:latin typeface="Segoe UI"/>
              </a:defRPr>
            </a:pPr>
            <a:r>
              <a:rPr sz="1400" b="0">
                <a:solidFill>
                  <a:srgbClr val="0F172A"/>
                </a:solidFill>
                <a:latin typeface="Segoe UI"/>
              </a:rPr>
              <a:t>• Configurar retries, SLAs, trigger rules (all_success, one_failed, none_failed), y XComs.</a:t>
            </a:r>
          </a:p>
          <a:p>
            <a:pPr>
              <a:spcAft>
                <a:spcPts val="800"/>
              </a:spcAft>
              <a:defRPr sz="1400" b="0">
                <a:solidFill>
                  <a:srgbClr val="0F172A"/>
                </a:solidFill>
                <a:latin typeface="Segoe UI"/>
              </a:defRPr>
            </a:pPr>
            <a:r>
              <a:rPr sz="1400" b="0">
                <a:solidFill>
                  <a:srgbClr val="0F172A"/>
                </a:solidFill>
                <a:latin typeface="Segoe UI"/>
              </a:rPr>
              <a:t>• Hacer backfill (airflow dags backfill) para reprocesar fechas históricas sin duplicar.</a:t>
            </a:r>
          </a:p>
          <a:p>
            <a:pPr>
              <a:spcAft>
                <a:spcPts val="800"/>
              </a:spcAft>
              <a:defRPr sz="1400" b="0">
                <a:solidFill>
                  <a:srgbClr val="0F172A"/>
                </a:solidFill>
                <a:latin typeface="Segoe UI"/>
              </a:defRPr>
            </a:pPr>
            <a:r>
              <a:rPr sz="1400" b="0">
                <a:solidFill>
                  <a:srgbClr val="0F172A"/>
                </a:solidFill>
                <a:latin typeface="Segoe UI"/>
              </a:rPr>
              <a:t>• Diagnosticar Task stuck in queued, Worker died, DAG not appearing con airflow dags list, logs, y airflow.cfg.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ETL vs ELT — cuándo cada uno</a:t>
            </a:r>
          </a:p>
          <a:p>
            <a:pPr>
              <a:spcAft>
                <a:spcPts val="1000"/>
              </a:spcAft>
              <a:defRPr sz="1600" b="0">
                <a:solidFill>
                  <a:srgbClr val="0F172A"/>
                </a:solidFill>
                <a:latin typeface="Segoe UI"/>
              </a:defRPr>
            </a:pPr>
            <a:r>
              <a:rPr sz="1600" b="0">
                <a:solidFill>
                  <a:srgbClr val="0F172A"/>
                </a:solidFill>
                <a:latin typeface="Segoe UI"/>
              </a:rPr>
              <a:t>• DAG = grafo dirigido acíclico</a:t>
            </a:r>
          </a:p>
          <a:p>
            <a:pPr>
              <a:spcAft>
                <a:spcPts val="1000"/>
              </a:spcAft>
              <a:defRPr sz="1600" b="0">
                <a:solidFill>
                  <a:srgbClr val="0F172A"/>
                </a:solidFill>
                <a:latin typeface="Segoe UI"/>
              </a:defRPr>
            </a:pPr>
            <a:r>
              <a:rPr sz="1600" b="0">
                <a:solidFill>
                  <a:srgbClr val="0F172A"/>
                </a:solidFill>
                <a:latin typeface="Segoe UI"/>
              </a:rPr>
              <a:t>• TaskFlow API vs Operators clásicos</a:t>
            </a:r>
          </a:p>
          <a:p>
            <a:pPr>
              <a:spcAft>
                <a:spcPts val="1000"/>
              </a:spcAft>
              <a:defRPr sz="1600" b="0">
                <a:solidFill>
                  <a:srgbClr val="0F172A"/>
                </a:solidFill>
                <a:latin typeface="Segoe UI"/>
              </a:defRPr>
            </a:pPr>
            <a:r>
              <a:rPr sz="1600" b="0">
                <a:solidFill>
                  <a:srgbClr val="0F172A"/>
                </a:solidFill>
                <a:latin typeface="Segoe UI"/>
              </a:rPr>
              <a:t>• XComs — pasar data entre tasks</a:t>
            </a:r>
          </a:p>
          <a:p>
            <a:pPr>
              <a:spcAft>
                <a:spcPts val="1000"/>
              </a:spcAft>
              <a:defRPr sz="1600" b="0">
                <a:solidFill>
                  <a:srgbClr val="0F172A"/>
                </a:solidFill>
                <a:latin typeface="Segoe UI"/>
              </a:defRPr>
            </a:pPr>
            <a:r>
              <a:rPr sz="1600" b="0">
                <a:solidFill>
                  <a:srgbClr val="0F172A"/>
                </a:solidFill>
                <a:latin typeface="Segoe UI"/>
              </a:rPr>
              <a:t>• Schedule + catchup + backfill</a:t>
            </a:r>
          </a:p>
          <a:p>
            <a:pPr>
              <a:spcAft>
                <a:spcPts val="1000"/>
              </a:spcAft>
              <a:defRPr sz="1600" b="0">
                <a:solidFill>
                  <a:srgbClr val="0F172A"/>
                </a:solidFill>
                <a:latin typeface="Segoe UI"/>
              </a:defRPr>
            </a:pPr>
            <a:r>
              <a:rPr sz="1600" b="0">
                <a:solidFill>
                  <a:srgbClr val="0F172A"/>
                </a:solidFill>
                <a:latin typeface="Segoe UI"/>
              </a:rPr>
              <a:t>• Sensors, hooks, providers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Notebook declarativo. Genera el DAG y el docker-compose. Para correrlo en vivo: docker-compose up y abrir la UI en localhost:8080.</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'airflow_demo'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 / 'dags').mkdir(parents=True)</a:t>
            </a:r>
          </a:p>
          <a:p>
            <a:pPr>
              <a:defRPr sz="1200" b="0">
                <a:solidFill>
                  <a:srgbClr val="F8FAFC"/>
                </a:solidFill>
                <a:latin typeface="Courier New"/>
              </a:defRPr>
            </a:pPr>
            <a:r>
              <a:rPr sz="1200" b="0">
                <a:solidFill>
                  <a:srgbClr val="F8FAFC"/>
                </a:solidFill>
                <a:latin typeface="Courier New"/>
              </a:rPr>
              <a:t>os.chdir(WORK)</a:t>
            </a:r>
          </a:p>
          <a:p>
            <a:pPr>
              <a:defRPr sz="1200" b="0">
                <a:solidFill>
                  <a:srgbClr val="F8FAFC"/>
                </a:solidFill>
                <a:latin typeface="Courier New"/>
              </a:defRPr>
            </a:pPr>
            <a:r>
              <a:rPr sz="1200" b="0">
                <a:solidFill>
                  <a:srgbClr val="F8FAFC"/>
                </a:solidFill>
                <a:latin typeface="Courier New"/>
              </a:rPr>
              <a:t>print('cwd:', Path.cwd())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208 — Pipelines ETL/ELT con Airflow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DAG mínimo TaskFlow: 3 tasks: extract (descarga CSV), transform (limpia con pandas), load (escribe a DuckDB).</a:t>
            </a:r>
          </a:p>
          <a:p>
            <a:pPr>
              <a:spcAft>
                <a:spcPts val="800"/>
              </a:spcAft>
              <a:defRPr sz="1400" b="0">
                <a:solidFill>
                  <a:srgbClr val="0F172A"/>
                </a:solidFill>
                <a:latin typeface="Segoe UI"/>
              </a:defRPr>
            </a:pPr>
            <a:r>
              <a:rPr sz="1400" b="0">
                <a:solidFill>
                  <a:srgbClr val="0F172A"/>
                </a:solidFill>
                <a:latin typeface="Segoe UI"/>
              </a:rPr>
              <a:t>• Schedule + catchup: schedule='@daily', start_date=days_ago(7), catchup=True.</a:t>
            </a:r>
          </a:p>
          <a:p>
            <a:pPr>
              <a:spcAft>
                <a:spcPts val="800"/>
              </a:spcAft>
              <a:defRPr sz="1400" b="0">
                <a:solidFill>
                  <a:srgbClr val="0F172A"/>
                </a:solidFill>
                <a:latin typeface="Segoe UI"/>
              </a:defRPr>
            </a:pPr>
            <a:r>
              <a:rPr sz="1400" b="0">
                <a:solidFill>
                  <a:srgbClr val="0F172A"/>
                </a:solidFill>
                <a:latin typeface="Segoe UI"/>
              </a:rPr>
              <a:t>• Retries + SLA: agregá retries=3, retry_delay=timedelta(minutes=2), sla=timedelta(minutes=10) al transform.</a:t>
            </a:r>
          </a:p>
          <a:p>
            <a:pPr>
              <a:spcAft>
                <a:spcPts val="800"/>
              </a:spcAft>
              <a:defRPr sz="1400" b="0">
                <a:solidFill>
                  <a:srgbClr val="0F172A"/>
                </a:solidFill>
                <a:latin typeface="Segoe UI"/>
              </a:defRPr>
            </a:pPr>
            <a:r>
              <a:rPr sz="1400" b="0">
                <a:solidFill>
                  <a:srgbClr val="0F172A"/>
                </a:solidFill>
                <a:latin typeface="Segoe UI"/>
              </a:rPr>
              <a:t>• XCom: extract devuelve un dict pequeño (filename + row count).</a:t>
            </a:r>
          </a:p>
          <a:p>
            <a:pPr>
              <a:spcAft>
                <a:spcPts val="800"/>
              </a:spcAft>
              <a:defRPr sz="1400" b="0">
                <a:solidFill>
                  <a:srgbClr val="0F172A"/>
                </a:solidFill>
                <a:latin typeface="Segoe UI"/>
              </a:defRPr>
            </a:pPr>
            <a:r>
              <a:rPr sz="1400" b="0">
                <a:solidFill>
                  <a:srgbClr val="0F172A"/>
                </a:solidFill>
                <a:latin typeface="Segoe UI"/>
              </a:rPr>
              <a:t>• Backfill: airflow dags backfill --start-date 2026-06-01 --end-date 2026-06-05 my_dag.</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Corre cada hora (schedule='@hourly').</a:t>
            </a:r>
          </a:p>
          <a:p>
            <a:pPr>
              <a:spcAft>
                <a:spcPts val="800"/>
              </a:spcAft>
              <a:defRPr sz="1400" b="0">
                <a:solidFill>
                  <a:srgbClr val="0F172A"/>
                </a:solidFill>
                <a:latin typeface="Segoe UI"/>
              </a:defRPr>
            </a:pPr>
            <a:r>
              <a:rPr sz="1400" b="0">
                <a:solidFill>
                  <a:srgbClr val="0F172A"/>
                </a:solidFill>
                <a:latin typeface="Segoe UI"/>
              </a:rPr>
              <a:t>• Extrae data de una API pública (ej. CoinGecko BTC price), la carga a DuckDB.</a:t>
            </a:r>
          </a:p>
          <a:p>
            <a:pPr>
              <a:spcAft>
                <a:spcPts val="800"/>
              </a:spcAft>
              <a:defRPr sz="1400" b="0">
                <a:solidFill>
                  <a:srgbClr val="0F172A"/>
                </a:solidFill>
                <a:latin typeface="Segoe UI"/>
              </a:defRPr>
            </a:pPr>
            <a:r>
              <a:rPr sz="1400" b="0">
                <a:solidFill>
                  <a:srgbClr val="0F172A"/>
                </a:solidFill>
                <a:latin typeface="Segoe UI"/>
              </a:rPr>
              <a:t>• Transforma con SQL (run_sql task usando DuckDBHook).</a:t>
            </a:r>
          </a:p>
          <a:p>
            <a:pPr>
              <a:spcAft>
                <a:spcPts val="800"/>
              </a:spcAft>
              <a:defRPr sz="1400" b="0">
                <a:solidFill>
                  <a:srgbClr val="0F172A"/>
                </a:solidFill>
                <a:latin typeface="Segoe UI"/>
              </a:defRPr>
            </a:pPr>
            <a:r>
              <a:rPr sz="1400" b="0">
                <a:solidFill>
                  <a:srgbClr val="0F172A"/>
                </a:solidFill>
                <a:latin typeface="Segoe UI"/>
              </a:rPr>
              <a:t>• Calcula métrica (avg price 24h) y la postea a Slack via SlackWebhookOperator.</a:t>
            </a:r>
          </a:p>
          <a:p>
            <a:pPr>
              <a:spcAft>
                <a:spcPts val="800"/>
              </a:spcAft>
              <a:defRPr sz="1400" b="0">
                <a:solidFill>
                  <a:srgbClr val="0F172A"/>
                </a:solidFill>
                <a:latin typeface="Segoe UI"/>
              </a:defRPr>
            </a:pPr>
            <a:r>
              <a:rPr sz="1400" b="0">
                <a:solidFill>
                  <a:srgbClr val="0F172A"/>
                </a:solidFill>
                <a:latin typeface="Segoe UI"/>
              </a:rPr>
              <a:t>• SLA de 5 min en extract, retries=3.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209</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209 — Pipelines con Prefect o Dagster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Prefect 3 docs + Dagster docs + Reis &amp; Housley cap. 8.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Construir el mismo pipeline de Clase 208 con Prefect 3 (API Python moderna, hybrid execution) y con Dagster (asset-oriented, mejor lineage). Entender qué problemas resuelven mejor que Airflow y cuándo elegir cada uno.</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Escribir un flow Prefect con @flow/@task, deployments, work pools y workers.</a:t>
            </a:r>
          </a:p>
          <a:p>
            <a:pPr>
              <a:spcAft>
                <a:spcPts val="800"/>
              </a:spcAft>
              <a:defRPr sz="1400" b="0">
                <a:solidFill>
                  <a:srgbClr val="0F172A"/>
                </a:solidFill>
                <a:latin typeface="Segoe UI"/>
              </a:defRPr>
            </a:pPr>
            <a:r>
              <a:rPr sz="1400" b="0">
                <a:solidFill>
                  <a:srgbClr val="0F172A"/>
                </a:solidFill>
                <a:latin typeface="Segoe UI"/>
              </a:rPr>
              <a:t>• Definir assets Dagster (@asset) y entender la diferencia entre "task-oriented" (Airflow/Prefect) y "asset-oriented" (Dagster).</a:t>
            </a:r>
          </a:p>
          <a:p>
            <a:pPr>
              <a:spcAft>
                <a:spcPts val="800"/>
              </a:spcAft>
              <a:defRPr sz="1400" b="0">
                <a:solidFill>
                  <a:srgbClr val="0F172A"/>
                </a:solidFill>
                <a:latin typeface="Segoe UI"/>
              </a:defRPr>
            </a:pPr>
            <a:r>
              <a:rPr sz="1400" b="0">
                <a:solidFill>
                  <a:srgbClr val="0F172A"/>
                </a:solidFill>
                <a:latin typeface="Segoe UI"/>
              </a:rPr>
              <a:t>• Configurar hybrid execution Prefect: control plane en cloud, workers en tu infra (sin enviar data sensible).</a:t>
            </a:r>
          </a:p>
          <a:p>
            <a:pPr>
              <a:spcAft>
                <a:spcPts val="800"/>
              </a:spcAft>
              <a:defRPr sz="1400" b="0">
                <a:solidFill>
                  <a:srgbClr val="0F172A"/>
                </a:solidFill>
                <a:latin typeface="Segoe UI"/>
              </a:defRPr>
            </a:pPr>
            <a:r>
              <a:rPr sz="1400" b="0">
                <a:solidFill>
                  <a:srgbClr val="0F172A"/>
                </a:solidFill>
                <a:latin typeface="Segoe UI"/>
              </a:rPr>
              <a:t>• Usar Dagster's UI para ver lineage automático: qué asset depende de qué, cuándo se materializó cada uno.</a:t>
            </a:r>
          </a:p>
          <a:p>
            <a:pPr>
              <a:spcAft>
                <a:spcPts val="800"/>
              </a:spcAft>
              <a:defRPr sz="1400" b="0">
                <a:solidFill>
                  <a:srgbClr val="0F172A"/>
                </a:solidFill>
                <a:latin typeface="Segoe UI"/>
              </a:defRPr>
            </a:pPr>
            <a:r>
              <a:rPr sz="1400" b="0">
                <a:solidFill>
                  <a:srgbClr val="0F172A"/>
                </a:solidFill>
                <a:latin typeface="Segoe UI"/>
              </a:rPr>
              <a:t>• Decidir Airflow vs Prefect vs Dagster según contexto (equipo, escala, tipo de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Prefect 3: flows, tasks, deployments</a:t>
            </a:r>
          </a:p>
          <a:p>
            <a:pPr>
              <a:spcAft>
                <a:spcPts val="1000"/>
              </a:spcAft>
              <a:defRPr sz="1600" b="0">
                <a:solidFill>
                  <a:srgbClr val="0F172A"/>
                </a:solidFill>
                <a:latin typeface="Segoe UI"/>
              </a:defRPr>
            </a:pPr>
            <a:r>
              <a:rPr sz="1600" b="0">
                <a:solidFill>
                  <a:srgbClr val="0F172A"/>
                </a:solidFill>
                <a:latin typeface="Segoe UI"/>
              </a:rPr>
              <a:t>• Work pools + workers</a:t>
            </a:r>
          </a:p>
          <a:p>
            <a:pPr>
              <a:spcAft>
                <a:spcPts val="1000"/>
              </a:spcAft>
              <a:defRPr sz="1600" b="0">
                <a:solidFill>
                  <a:srgbClr val="0F172A"/>
                </a:solidFill>
                <a:latin typeface="Segoe UI"/>
              </a:defRPr>
            </a:pPr>
            <a:r>
              <a:rPr sz="1600" b="0">
                <a:solidFill>
                  <a:srgbClr val="0F172A"/>
                </a:solidFill>
                <a:latin typeface="Segoe UI"/>
              </a:rPr>
              <a:t>• Dagster: asset-oriented vs task-oriented</a:t>
            </a:r>
          </a:p>
          <a:p>
            <a:pPr>
              <a:spcAft>
                <a:spcPts val="1000"/>
              </a:spcAft>
              <a:defRPr sz="1600" b="0">
                <a:solidFill>
                  <a:srgbClr val="0F172A"/>
                </a:solidFill>
                <a:latin typeface="Segoe UI"/>
              </a:defRPr>
            </a:pPr>
            <a:r>
              <a:rPr sz="1600" b="0">
                <a:solidFill>
                  <a:srgbClr val="0F172A"/>
                </a:solidFill>
                <a:latin typeface="Segoe UI"/>
              </a:rPr>
              <a:t>• Software-defined assets (SDA)</a:t>
            </a:r>
          </a:p>
          <a:p>
            <a:pPr>
              <a:spcAft>
                <a:spcPts val="1000"/>
              </a:spcAft>
              <a:defRPr sz="1600" b="0">
                <a:solidFill>
                  <a:srgbClr val="0F172A"/>
                </a:solidFill>
                <a:latin typeface="Segoe UI"/>
              </a:defRPr>
            </a:pPr>
            <a:r>
              <a:rPr sz="1600" b="0">
                <a:solidFill>
                  <a:srgbClr val="0F172A"/>
                </a:solidFill>
                <a:latin typeface="Segoe UI"/>
              </a:rPr>
              <a:t>• Scheduling: cron, interval, event-driven</a:t>
            </a:r>
          </a:p>
          <a:p>
            <a:pPr>
              <a:spcAft>
                <a:spcPts val="1000"/>
              </a:spcAft>
              <a:defRPr sz="1600" b="0">
                <a:solidFill>
                  <a:srgbClr val="0F172A"/>
                </a:solidFill>
                <a:latin typeface="Segoe UI"/>
              </a:defRPr>
            </a:pPr>
            <a:r>
              <a:rPr sz="1600" b="0">
                <a:solidFill>
                  <a:srgbClr val="0F172A"/>
                </a:solidFill>
                <a:latin typeface="Segoe UI"/>
              </a:rPr>
              <a:t>• Cuándo migrar de Airflow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Mismo pipeline BTC, implementado en Prefect y en Dagster. Comparación lado a lado.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 json</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'flows_demo'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209 — Pipelines con Prefect o Dagster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Prefect flow: copiá la lógica del DAG Airflow al patrón Prefect: @flow def btc_pipeline(): notify(transform(load(extract()))).</a:t>
            </a:r>
          </a:p>
          <a:p>
            <a:pPr>
              <a:spcAft>
                <a:spcPts val="800"/>
              </a:spcAft>
              <a:defRPr sz="1400" b="0">
                <a:solidFill>
                  <a:srgbClr val="0F172A"/>
                </a:solidFill>
                <a:latin typeface="Segoe UI"/>
              </a:defRPr>
            </a:pPr>
            <a:r>
              <a:rPr sz="1400" b="0">
                <a:solidFill>
                  <a:srgbClr val="0F172A"/>
                </a:solidFill>
                <a:latin typeface="Segoe UI"/>
              </a:rPr>
              <a:t>• Deployment Prefect: flow.serve(name="btc-hourly", cron="0    ").</a:t>
            </a:r>
          </a:p>
          <a:p>
            <a:pPr>
              <a:spcAft>
                <a:spcPts val="800"/>
              </a:spcAft>
              <a:defRPr sz="1400" b="0">
                <a:solidFill>
                  <a:srgbClr val="0F172A"/>
                </a:solidFill>
                <a:latin typeface="Segoe UI"/>
              </a:defRPr>
            </a:pPr>
            <a:r>
              <a:rPr sz="1400" b="0">
                <a:solidFill>
                  <a:srgbClr val="0F172A"/>
                </a:solidFill>
                <a:latin typeface="Segoe UI"/>
              </a:rPr>
              <a:t>• Dagster assets: convertí las funciones a @asset def btc_price(), @asset def daily_avg(btc_price).</a:t>
            </a:r>
          </a:p>
          <a:p>
            <a:pPr>
              <a:spcAft>
                <a:spcPts val="800"/>
              </a:spcAft>
              <a:defRPr sz="1400" b="0">
                <a:solidFill>
                  <a:srgbClr val="0F172A"/>
                </a:solidFill>
                <a:latin typeface="Segoe UI"/>
              </a:defRPr>
            </a:pPr>
            <a:r>
              <a:rPr sz="1400" b="0">
                <a:solidFill>
                  <a:srgbClr val="0F172A"/>
                </a:solidFill>
                <a:latin typeface="Segoe UI"/>
              </a:rPr>
              <a:t>• Materializar: en Dagster UI, click "Materialize" sobre btc_price.</a:t>
            </a:r>
          </a:p>
          <a:p>
            <a:pPr>
              <a:spcAft>
                <a:spcPts val="800"/>
              </a:spcAft>
              <a:defRPr sz="1400" b="0">
                <a:solidFill>
                  <a:srgbClr val="0F172A"/>
                </a:solidFill>
                <a:latin typeface="Segoe UI"/>
              </a:defRPr>
            </a:pPr>
            <a:r>
              <a:rPr sz="1400" b="0">
                <a:solidFill>
                  <a:srgbClr val="0F172A"/>
                </a:solidFill>
                <a:latin typeface="Segoe UI"/>
              </a:rPr>
              <a:t>• Comparativa: mismo pipeline en Airflow + Prefect + Dagster.</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airflow/dags/btc.py (de Clase 208).</a:t>
            </a:r>
          </a:p>
          <a:p>
            <a:pPr>
              <a:spcAft>
                <a:spcPts val="800"/>
              </a:spcAft>
              <a:defRPr sz="1400" b="0">
                <a:solidFill>
                  <a:srgbClr val="0F172A"/>
                </a:solidFill>
                <a:latin typeface="Segoe UI"/>
              </a:defRPr>
            </a:pPr>
            <a:r>
              <a:rPr sz="1400" b="0">
                <a:solidFill>
                  <a:srgbClr val="0F172A"/>
                </a:solidFill>
                <a:latin typeface="Segoe UI"/>
              </a:rPr>
              <a:t>• prefect/btc.py con @flow/@task y deployment programado.</a:t>
            </a:r>
          </a:p>
          <a:p>
            <a:pPr>
              <a:spcAft>
                <a:spcPts val="800"/>
              </a:spcAft>
              <a:defRPr sz="1400" b="0">
                <a:solidFill>
                  <a:srgbClr val="0F172A"/>
                </a:solidFill>
                <a:latin typeface="Segoe UI"/>
              </a:defRPr>
            </a:pPr>
            <a:r>
              <a:rPr sz="1400" b="0">
                <a:solidFill>
                  <a:srgbClr val="0F172A"/>
                </a:solidFill>
                <a:latin typeface="Segoe UI"/>
              </a:rPr>
              <a:t>• dagster/btc.py con @asset definitions y un Definitions object.</a:t>
            </a:r>
          </a:p>
          <a:p>
            <a:pPr>
              <a:spcAft>
                <a:spcPts val="800"/>
              </a:spcAft>
              <a:defRPr sz="1400" b="0">
                <a:solidFill>
                  <a:srgbClr val="0F172A"/>
                </a:solidFill>
                <a:latin typeface="Segoe UI"/>
              </a:defRPr>
            </a:pPr>
            <a:r>
              <a:rPr sz="1400" b="0">
                <a:solidFill>
                  <a:srgbClr val="0F172A"/>
                </a:solidFill>
                <a:latin typeface="Segoe UI"/>
              </a:rPr>
              <a:t>• README comparativo: LOC, complejidad de setup, calidad de UI, lineage support, cuándo elegir cada uno.</a:t>
            </a:r>
          </a:p>
          <a:p>
            <a:pPr>
              <a:spcAft>
                <a:spcPts val="800"/>
              </a:spcAft>
              <a:defRPr sz="1400" b="0">
                <a:solidFill>
                  <a:srgbClr val="0F172A"/>
                </a:solidFill>
                <a:latin typeface="Segoe UI"/>
              </a:defRPr>
            </a:pPr>
            <a:r>
              <a:rPr sz="1400" b="0">
                <a:solidFill>
                  <a:srgbClr val="0F172A"/>
                </a:solidFill>
                <a:latin typeface="Segoe UI"/>
              </a:rPr>
              <a:t>• Bonus: GitHub Actions que corre los 3 en CI y verifica que producen el mismo output.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210</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210 — PySpark para datasets grandes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Chambers &amp; Zaharia Spark: The Definitive Guide (O'Reilly, 2018) + PySpark docs 3.5+.  Duración estimada: 90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Procesar datasets que no entran en RAM con PySpark 3.5+: DataFrames con lazy evaluation, Spark SQL, particionado, joins eficientes (broadcast vs shuffle), y entender cuándo Spark gana vs pandas/Polars (&gt;10 GB) y cuándo pierde (&lt;1 GB, dev local).</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Crear una SparkSession (local o cluster) y leer Parquet/CSV/JSON con schema inference o explícito.</a:t>
            </a:r>
          </a:p>
          <a:p>
            <a:pPr>
              <a:spcAft>
                <a:spcPts val="800"/>
              </a:spcAft>
              <a:defRPr sz="1400" b="0">
                <a:solidFill>
                  <a:srgbClr val="0F172A"/>
                </a:solidFill>
                <a:latin typeface="Segoe UI"/>
              </a:defRPr>
            </a:pPr>
            <a:r>
              <a:rPr sz="1400" b="0">
                <a:solidFill>
                  <a:srgbClr val="0F172A"/>
                </a:solidFill>
                <a:latin typeface="Segoe UI"/>
              </a:rPr>
              <a:t>• Diferenciar transformations (lazy: select, filter, groupBy) de actions (eager: count, collect, show, write).</a:t>
            </a:r>
          </a:p>
          <a:p>
            <a:pPr>
              <a:spcAft>
                <a:spcPts val="800"/>
              </a:spcAft>
              <a:defRPr sz="1400" b="0">
                <a:solidFill>
                  <a:srgbClr val="0F172A"/>
                </a:solidFill>
                <a:latin typeface="Segoe UI"/>
              </a:defRPr>
            </a:pPr>
            <a:r>
              <a:rPr sz="1400" b="0">
                <a:solidFill>
                  <a:srgbClr val="0F172A"/>
                </a:solidFill>
                <a:latin typeface="Segoe UI"/>
              </a:rPr>
              <a:t>• Optimizar joins: broadcast join (tabla chica × tabla grande) vs sort-merge join (dos tablas grandes).</a:t>
            </a:r>
          </a:p>
          <a:p>
            <a:pPr>
              <a:spcAft>
                <a:spcPts val="800"/>
              </a:spcAft>
              <a:defRPr sz="1400" b="0">
                <a:solidFill>
                  <a:srgbClr val="0F172A"/>
                </a:solidFill>
                <a:latin typeface="Segoe UI"/>
              </a:defRPr>
            </a:pPr>
            <a:r>
              <a:rPr sz="1400" b="0">
                <a:solidFill>
                  <a:srgbClr val="0F172A"/>
                </a:solidFill>
                <a:latin typeface="Segoe UI"/>
              </a:rPr>
              <a:t>• Particionar correctamente (partitionBy("date") al escribir, evitar partitionBy con cardinalidad alta).</a:t>
            </a:r>
          </a:p>
          <a:p>
            <a:pPr>
              <a:spcAft>
                <a:spcPts val="800"/>
              </a:spcAft>
              <a:defRPr sz="1400" b="0">
                <a:solidFill>
                  <a:srgbClr val="0F172A"/>
                </a:solidFill>
                <a:latin typeface="Segoe UI"/>
              </a:defRPr>
            </a:pPr>
            <a:r>
              <a:rPr sz="1400" b="0">
                <a:solidFill>
                  <a:srgbClr val="0F172A"/>
                </a:solidFill>
                <a:latin typeface="Segoe UI"/>
              </a:rPr>
              <a:t>• Diagnosticar performance con Spark UI: stages, shuffle data, skew.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RDD vs DataFrame vs SQL — 3 APIs</a:t>
            </a:r>
          </a:p>
          <a:p>
            <a:pPr>
              <a:spcAft>
                <a:spcPts val="1000"/>
              </a:spcAft>
              <a:defRPr sz="1600" b="0">
                <a:solidFill>
                  <a:srgbClr val="0F172A"/>
                </a:solidFill>
                <a:latin typeface="Segoe UI"/>
              </a:defRPr>
            </a:pPr>
            <a:r>
              <a:rPr sz="1600" b="0">
                <a:solidFill>
                  <a:srgbClr val="0F172A"/>
                </a:solidFill>
                <a:latin typeface="Segoe UI"/>
              </a:rPr>
              <a:t>• Lazy evaluation + DAG de ejecución</a:t>
            </a:r>
          </a:p>
          <a:p>
            <a:pPr>
              <a:spcAft>
                <a:spcPts val="1000"/>
              </a:spcAft>
              <a:defRPr sz="1600" b="0">
                <a:solidFill>
                  <a:srgbClr val="0F172A"/>
                </a:solidFill>
                <a:latin typeface="Segoe UI"/>
              </a:defRPr>
            </a:pPr>
            <a:r>
              <a:rPr sz="1600" b="0">
                <a:solidFill>
                  <a:srgbClr val="0F172A"/>
                </a:solidFill>
                <a:latin typeface="Segoe UI"/>
              </a:rPr>
              <a:t>• Particionado: al leer, al escribir, en memoria</a:t>
            </a:r>
          </a:p>
          <a:p>
            <a:pPr>
              <a:spcAft>
                <a:spcPts val="1000"/>
              </a:spcAft>
              <a:defRPr sz="1600" b="0">
                <a:solidFill>
                  <a:srgbClr val="0F172A"/>
                </a:solidFill>
                <a:latin typeface="Segoe UI"/>
              </a:defRPr>
            </a:pPr>
            <a:r>
              <a:rPr sz="1600" b="0">
                <a:solidFill>
                  <a:srgbClr val="0F172A"/>
                </a:solidFill>
                <a:latin typeface="Segoe UI"/>
              </a:rPr>
              <a:t>• Joins: broadcast vs shuffle vs sort-merge</a:t>
            </a:r>
          </a:p>
          <a:p>
            <a:pPr>
              <a:spcAft>
                <a:spcPts val="1000"/>
              </a:spcAft>
              <a:defRPr sz="1600" b="0">
                <a:solidFill>
                  <a:srgbClr val="0F172A"/>
                </a:solidFill>
                <a:latin typeface="Segoe UI"/>
              </a:defRPr>
            </a:pPr>
            <a:r>
              <a:rPr sz="1600" b="0">
                <a:solidFill>
                  <a:srgbClr val="0F172A"/>
                </a:solidFill>
                <a:latin typeface="Segoe UI"/>
              </a:rPr>
              <a:t>• Caching / persist</a:t>
            </a:r>
          </a:p>
          <a:p>
            <a:pPr>
              <a:spcAft>
                <a:spcPts val="1000"/>
              </a:spcAft>
              <a:defRPr sz="1600" b="0">
                <a:solidFill>
                  <a:srgbClr val="0F172A"/>
                </a:solidFill>
                <a:latin typeface="Segoe UI"/>
              </a:defRPr>
            </a:pPr>
            <a:r>
              <a:rPr sz="1600" b="0">
                <a:solidFill>
                  <a:srgbClr val="0F172A"/>
                </a:solidFill>
                <a:latin typeface="Segoe UI"/>
              </a:rPr>
              <a:t>• Spark UI: stages, shuffle, skew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PySpark es "pandas que corre repartido en muchas máquinas". Escribís código casi idéntico al de pandas (df.filter(...).groupBy(...).agg(...)), pero por debajo Spark parte el dataset en trozos, los reparte entre varios workers y procesa cada trozo en</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os, tempfile, shutil</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'spark_demo'</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 os.chdir(WORK)</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from pyspark.sql import SparkSession, functions as F</a:t>
            </a:r>
          </a:p>
          <a:p>
            <a:pPr>
              <a:defRPr sz="1200" b="0">
                <a:solidFill>
                  <a:srgbClr val="F8FAFC"/>
                </a:solidFill>
                <a:latin typeface="Courier New"/>
              </a:defRPr>
            </a:pPr>
            <a:r>
              <a:rPr sz="1200" b="0">
                <a:solidFill>
                  <a:srgbClr val="F8FAFC"/>
                </a:solidFill>
                <a:latin typeface="Courier New"/>
              </a:rPr>
              <a:t>from pyspark.sql.functions import broadcast, col, rand, when</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spark = (SparkSession.builder</a:t>
            </a:r>
          </a:p>
          <a:p>
            <a:pPr>
              <a:defRPr sz="1200" b="0">
                <a:solidFill>
                  <a:srgbClr val="F8FAFC"/>
                </a:solidFill>
                <a:latin typeface="Courier New"/>
              </a:defRPr>
            </a:pPr>
            <a:r>
              <a:rPr sz="1200" b="0">
                <a:solidFill>
                  <a:srgbClr val="F8FAFC"/>
                </a:solidFill>
                <a:latin typeface="Courier New"/>
              </a:rPr>
              <a:t>         .master('local[*]')</a:t>
            </a:r>
          </a:p>
          <a:p>
            <a:pPr>
              <a:defRPr sz="1200" b="0">
                <a:solidFill>
                  <a:srgbClr val="F8FAFC"/>
                </a:solidFill>
                <a:latin typeface="Courier New"/>
              </a:defRPr>
            </a:pPr>
            <a:r>
              <a:rPr sz="1200" b="0">
                <a:solidFill>
                  <a:srgbClr val="F8FAFC"/>
                </a:solidFill>
                <a:latin typeface="Courier New"/>
              </a:rPr>
              <a:t>         .appName('clase210')</a:t>
            </a:r>
          </a:p>
          <a:p>
            <a:pPr>
              <a:defRPr sz="1200" b="0">
                <a:solidFill>
                  <a:srgbClr val="F8FAFC"/>
                </a:solidFill>
                <a:latin typeface="Courier New"/>
              </a:defRPr>
            </a:pPr>
            <a:r>
              <a:rPr sz="1200" b="0">
                <a:solidFill>
                  <a:srgbClr val="F8FAFC"/>
                </a:solidFill>
                <a:latin typeface="Courier New"/>
              </a:rPr>
              <a:t>         .config('spark.sql.shuffle.partitions', '8')   # bajo para dataset chico</a:t>
            </a:r>
          </a:p>
          <a:p>
            <a:pPr>
              <a:defRPr sz="1200" b="0">
                <a:solidFill>
                  <a:srgbClr val="F8FAFC"/>
                </a:solidFill>
                <a:latin typeface="Courier New"/>
              </a:defRPr>
            </a:pPr>
            <a:r>
              <a:rPr sz="1200" b="0">
                <a:solidFill>
                  <a:srgbClr val="F8FAFC"/>
                </a:solidFill>
                <a:latin typeface="Courier New"/>
              </a:rPr>
              <a:t>         .config('spark.ui.port', '4042')</a:t>
            </a:r>
          </a:p>
          <a:p>
            <a:pPr>
              <a:defRPr sz="1200" b="0">
                <a:solidFill>
                  <a:srgbClr val="F8FAFC"/>
                </a:solidFill>
                <a:latin typeface="Courier New"/>
              </a:defRPr>
            </a:pPr>
            <a:r>
              <a:rPr sz="1200" b="0">
                <a:solidFill>
                  <a:srgbClr val="F8FAFC"/>
                </a:solidFill>
                <a:latin typeface="Courier New"/>
              </a:rPr>
              <a:t>         .getOrCreate())</a:t>
            </a:r>
          </a:p>
          <a:p>
            <a:pPr>
              <a:defRPr sz="1200" b="0">
                <a:solidFill>
                  <a:srgbClr val="F8FAFC"/>
                </a:solidFill>
                <a:latin typeface="Courier New"/>
              </a:defRPr>
            </a:pPr>
            <a:r>
              <a:rPr sz="1200" b="0">
                <a:solidFill>
                  <a:srgbClr val="F8FAFC"/>
                </a:solidFill>
                <a:latin typeface="Courier New"/>
              </a:rPr>
              <a:t>print('Spark version:', spark.version, '| cores:', spark.sparkContext.defaultParallelism)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210 — PySpark para datasets grandes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Spark session local: spark = SparkSession.builder.master("local[4]").appName("demo").getOrCreate().</a:t>
            </a:r>
          </a:p>
          <a:p>
            <a:pPr>
              <a:spcAft>
                <a:spcPts val="800"/>
              </a:spcAft>
              <a:defRPr sz="1400" b="0">
                <a:solidFill>
                  <a:srgbClr val="0F172A"/>
                </a:solidFill>
                <a:latin typeface="Segoe UI"/>
              </a:defRPr>
            </a:pPr>
            <a:r>
              <a:rPr sz="1400" b="0">
                <a:solidFill>
                  <a:srgbClr val="0F172A"/>
                </a:solidFill>
                <a:latin typeface="Segoe UI"/>
              </a:rPr>
              <a:t>• Lazy vs eager: df2 = df.filter(...).select(...) (rápido, no ejecuta).</a:t>
            </a:r>
          </a:p>
          <a:p>
            <a:pPr>
              <a:spcAft>
                <a:spcPts val="800"/>
              </a:spcAft>
              <a:defRPr sz="1400" b="0">
                <a:solidFill>
                  <a:srgbClr val="0F172A"/>
                </a:solidFill>
                <a:latin typeface="Segoe UI"/>
              </a:defRPr>
            </a:pPr>
            <a:r>
              <a:rPr sz="1400" b="0">
                <a:solidFill>
                  <a:srgbClr val="0F172A"/>
                </a:solidFill>
                <a:latin typeface="Segoe UI"/>
              </a:rPr>
              <a:t>• Broadcast join: cargá taxi (10 GB) y zones (1 KB).</a:t>
            </a:r>
          </a:p>
          <a:p>
            <a:pPr>
              <a:spcAft>
                <a:spcPts val="800"/>
              </a:spcAft>
              <a:defRPr sz="1400" b="0">
                <a:solidFill>
                  <a:srgbClr val="0F172A"/>
                </a:solidFill>
                <a:latin typeface="Segoe UI"/>
              </a:defRPr>
            </a:pPr>
            <a:r>
              <a:rPr sz="1400" b="0">
                <a:solidFill>
                  <a:srgbClr val="0F172A"/>
                </a:solidFill>
                <a:latin typeface="Segoe UI"/>
              </a:rPr>
              <a:t>• Particionado al escribir: df.write.partitionBy("date").parquet("out/").</a:t>
            </a:r>
          </a:p>
          <a:p>
            <a:pPr>
              <a:spcAft>
                <a:spcPts val="800"/>
              </a:spcAft>
              <a:defRPr sz="1400" b="0">
                <a:solidFill>
                  <a:srgbClr val="0F172A"/>
                </a:solidFill>
                <a:latin typeface="Segoe UI"/>
              </a:defRPr>
            </a:pPr>
            <a:r>
              <a:rPr sz="1400" b="0">
                <a:solidFill>
                  <a:srgbClr val="0F172A"/>
                </a:solidFill>
                <a:latin typeface="Segoe UI"/>
              </a:rPr>
              <a:t>• Skew: simulá una key skewed (90% rows con user_id=1).</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PySpark que: lee NYC Taxi (parquet), filtra outliers, agrega por pickup_zone y hour, escribe parquet particionado por pickup_date.</a:t>
            </a:r>
          </a:p>
          <a:p>
            <a:pPr>
              <a:spcAft>
                <a:spcPts val="800"/>
              </a:spcAft>
              <a:defRPr sz="1400" b="0">
                <a:solidFill>
                  <a:srgbClr val="0F172A"/>
                </a:solidFill>
                <a:latin typeface="Segoe UI"/>
              </a:defRPr>
            </a:pPr>
            <a:r>
              <a:rPr sz="1400" b="0">
                <a:solidFill>
                  <a:srgbClr val="0F172A"/>
                </a:solidFill>
                <a:latin typeface="Segoe UI"/>
              </a:rPr>
              <a:t>• Comparación de performance: misma agregación en (a) pandas (si entra), (b) Polars, (c) PySpark. Reportar tiempo y RAM peak.</a:t>
            </a:r>
          </a:p>
          <a:p>
            <a:pPr>
              <a:spcAft>
                <a:spcPts val="800"/>
              </a:spcAft>
              <a:defRPr sz="1400" b="0">
                <a:solidFill>
                  <a:srgbClr val="0F172A"/>
                </a:solidFill>
                <a:latin typeface="Segoe UI"/>
              </a:defRPr>
            </a:pPr>
            <a:r>
              <a:rPr sz="1400" b="0">
                <a:solidFill>
                  <a:srgbClr val="0F172A"/>
                </a:solidFill>
                <a:latin typeface="Segoe UI"/>
              </a:rPr>
              <a:t>• Identificar 1 stage skewed en Spark UI y aplicar salting para mitigar — mostrar antes/después.</a:t>
            </a:r>
          </a:p>
          <a:p>
            <a:pPr>
              <a:spcAft>
                <a:spcPts val="800"/>
              </a:spcAft>
              <a:defRPr sz="1400" b="0">
                <a:solidFill>
                  <a:srgbClr val="0F172A"/>
                </a:solidFill>
                <a:latin typeface="Segoe UI"/>
              </a:defRPr>
            </a:pPr>
            <a:r>
              <a:rPr sz="1400" b="0">
                <a:solidFill>
                  <a:srgbClr val="0F172A"/>
                </a:solidFill>
                <a:latin typeface="Segoe UI"/>
              </a:rPr>
              <a:t>• Output final con .write.bucketBy(20, "zone_id").parquet(...) para acelerar joins futuros.</a:t>
            </a:r>
          </a:p>
          <a:p>
            <a:pPr>
              <a:spcAft>
                <a:spcPts val="800"/>
              </a:spcAft>
              <a:defRPr sz="1400" b="0">
                <a:solidFill>
                  <a:srgbClr val="0F172A"/>
                </a:solidFill>
                <a:latin typeface="Segoe UI"/>
              </a:defRPr>
            </a:pPr>
            <a:r>
              <a:rPr sz="1400" b="0">
                <a:solidFill>
                  <a:srgbClr val="0F172A"/>
                </a:solidFill>
                <a:latin typeface="Segoe UI"/>
              </a:rPr>
              <a:t>• README con cuándo elegir cada uno: criterios objetivos (tamaño, latencia, equipo).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211</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211 — Polars como alternativa moderna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docs Polars + Polars vs pandas benchmark.  Duración estimada: 75 min. · Nivel: Intermedio-Avanzado · Esta clase es complementaria a la Clase 008 (Polars básico, Parte 0). Acá el foco es producción: lazy API, streaming engine, Arrow zero-copy, integración con DuckDB/Parquet.</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Reemplazar pandas en pipelines productivos por Polars 1.x: 5-30× más rápido, multi-threaded por default, lazy API que optimiza la query antes de ejecutar, y streaming engine que procesa datasets mayores que RAM. Identificar los pocos casos donde pandas sigue ganando (ecosistema, statsmodels, sklearn pre-Arrow).</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scripts pandas a Polars (eager API: pl.DataFrame) y medir speedup.</a:t>
            </a:r>
          </a:p>
          <a:p>
            <a:pPr>
              <a:spcAft>
                <a:spcPts val="800"/>
              </a:spcAft>
              <a:defRPr sz="1400" b="0">
                <a:solidFill>
                  <a:srgbClr val="0F172A"/>
                </a:solidFill>
                <a:latin typeface="Segoe UI"/>
              </a:defRPr>
            </a:pPr>
            <a:r>
              <a:rPr sz="1400" b="0">
                <a:solidFill>
                  <a:srgbClr val="0F172A"/>
                </a:solidFill>
                <a:latin typeface="Segoe UI"/>
              </a:rPr>
              <a:t>• Usar lazy API (pl.scan_parquet + .collect()) para que el optimizador haga predicate pushdown + column pruning.</a:t>
            </a:r>
          </a:p>
          <a:p>
            <a:pPr>
              <a:spcAft>
                <a:spcPts val="800"/>
              </a:spcAft>
              <a:defRPr sz="1400" b="0">
                <a:solidFill>
                  <a:srgbClr val="0F172A"/>
                </a:solidFill>
                <a:latin typeface="Segoe UI"/>
              </a:defRPr>
            </a:pPr>
            <a:r>
              <a:rPr sz="1400" b="0">
                <a:solidFill>
                  <a:srgbClr val="0F172A"/>
                </a:solidFill>
                <a:latin typeface="Segoe UI"/>
              </a:rPr>
              <a:t>• Procesar archivos mayores que RAM con .collect(engine="streaming") (1.x rename de streaming=True).</a:t>
            </a:r>
          </a:p>
          <a:p>
            <a:pPr>
              <a:spcAft>
                <a:spcPts val="800"/>
              </a:spcAft>
              <a:defRPr sz="1400" b="0">
                <a:solidFill>
                  <a:srgbClr val="0F172A"/>
                </a:solidFill>
                <a:latin typeface="Segoe UI"/>
              </a:defRPr>
            </a:pPr>
            <a:r>
              <a:rPr sz="1400" b="0">
                <a:solidFill>
                  <a:srgbClr val="0F172A"/>
                </a:solidFill>
                <a:latin typeface="Segoe UI"/>
              </a:rPr>
              <a:t>• Hacer zero-copy interop con Arrow/DuckDB/pandas.</a:t>
            </a:r>
          </a:p>
          <a:p>
            <a:pPr>
              <a:spcAft>
                <a:spcPts val="800"/>
              </a:spcAft>
              <a:defRPr sz="1400" b="0">
                <a:solidFill>
                  <a:srgbClr val="0F172A"/>
                </a:solidFill>
                <a:latin typeface="Segoe UI"/>
              </a:defRPr>
            </a:pPr>
            <a:r>
              <a:rPr sz="1400" b="0">
                <a:solidFill>
                  <a:srgbClr val="0F172A"/>
                </a:solidFill>
                <a:latin typeface="Segoe UI"/>
              </a:rPr>
              <a:t>• Decidir Polars vs DuckDB vs pandas vs PySpark según tamaño + caso de uso.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Eager vs Lazy API</a:t>
            </a:r>
          </a:p>
          <a:p>
            <a:pPr>
              <a:spcAft>
                <a:spcPts val="1000"/>
              </a:spcAft>
              <a:defRPr sz="1600" b="0">
                <a:solidFill>
                  <a:srgbClr val="0F172A"/>
                </a:solidFill>
                <a:latin typeface="Segoe UI"/>
              </a:defRPr>
            </a:pPr>
            <a:r>
              <a:rPr sz="1600" b="0">
                <a:solidFill>
                  <a:srgbClr val="0F172A"/>
                </a:solidFill>
                <a:latin typeface="Segoe UI"/>
              </a:rPr>
              <a:t>• Expressions: paralelización implícita</a:t>
            </a:r>
          </a:p>
          <a:p>
            <a:pPr>
              <a:spcAft>
                <a:spcPts val="1000"/>
              </a:spcAft>
              <a:defRPr sz="1600" b="0">
                <a:solidFill>
                  <a:srgbClr val="0F172A"/>
                </a:solidFill>
                <a:latin typeface="Segoe UI"/>
              </a:defRPr>
            </a:pPr>
            <a:r>
              <a:rPr sz="1600" b="0">
                <a:solidFill>
                  <a:srgbClr val="0F172A"/>
                </a:solidFill>
                <a:latin typeface="Segoe UI"/>
              </a:rPr>
              <a:t>• scan_parquet/scan_csv + predicate pushdown</a:t>
            </a:r>
          </a:p>
          <a:p>
            <a:pPr>
              <a:spcAft>
                <a:spcPts val="1000"/>
              </a:spcAft>
              <a:defRPr sz="1600" b="0">
                <a:solidFill>
                  <a:srgbClr val="0F172A"/>
                </a:solidFill>
                <a:latin typeface="Segoe UI"/>
              </a:defRPr>
            </a:pPr>
            <a:r>
              <a:rPr sz="1600" b="0">
                <a:solidFill>
                  <a:srgbClr val="0F172A"/>
                </a:solidFill>
                <a:latin typeface="Segoe UI"/>
              </a:rPr>
              <a:t>• Streaming engine para datasets &gt; RAM</a:t>
            </a:r>
          </a:p>
          <a:p>
            <a:pPr>
              <a:spcAft>
                <a:spcPts val="1000"/>
              </a:spcAft>
              <a:defRPr sz="1600" b="0">
                <a:solidFill>
                  <a:srgbClr val="0F172A"/>
                </a:solidFill>
                <a:latin typeface="Segoe UI"/>
              </a:defRPr>
            </a:pPr>
            <a:r>
              <a:rPr sz="1600" b="0">
                <a:solidFill>
                  <a:srgbClr val="0F172A"/>
                </a:solidFill>
                <a:latin typeface="Segoe UI"/>
              </a:rPr>
              <a:t>• Arrow interop con DuckDB/pandas</a:t>
            </a:r>
          </a:p>
          <a:p>
            <a:pPr>
              <a:spcAft>
                <a:spcPts val="1000"/>
              </a:spcAft>
              <a:defRPr sz="1600" b="0">
                <a:solidFill>
                  <a:srgbClr val="0F172A"/>
                </a:solidFill>
                <a:latin typeface="Segoe UI"/>
              </a:defRPr>
            </a:pPr>
            <a:r>
              <a:rPr sz="1600" b="0">
                <a:solidFill>
                  <a:srgbClr val="0F172A"/>
                </a:solidFill>
                <a:latin typeface="Segoe UI"/>
              </a:rPr>
              <a:t>• when().then().otherwise() y over()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Requiere: pip install polars pyarrow pandas duckdb.</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polars as pl, pandas as pd, time, tempfile, os</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'polars_demo'</a:t>
            </a:r>
          </a:p>
          <a:p>
            <a:pPr>
              <a:defRPr sz="1200" b="0">
                <a:solidFill>
                  <a:srgbClr val="F8FAFC"/>
                </a:solidFill>
                <a:latin typeface="Courier New"/>
              </a:defRPr>
            </a:pPr>
            <a:r>
              <a:rPr sz="1200" b="0">
                <a:solidFill>
                  <a:srgbClr val="F8FAFC"/>
                </a:solidFill>
                <a:latin typeface="Courier New"/>
              </a:rPr>
              <a:t>WORK.mkdir(exist_ok=True)</a:t>
            </a:r>
          </a:p>
          <a:p>
            <a:pPr>
              <a:defRPr sz="1200" b="0">
                <a:solidFill>
                  <a:srgbClr val="F8FAFC"/>
                </a:solidFill>
                <a:latin typeface="Courier New"/>
              </a:defRPr>
            </a:pPr>
            <a:r>
              <a:rPr sz="1200" b="0">
                <a:solidFill>
                  <a:srgbClr val="F8FAFC"/>
                </a:solidFill>
                <a:latin typeface="Courier New"/>
              </a:rPr>
              <a:t>print('Polars version:', pl.__version__)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211 — Polars como alternativa moderna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Eager vs Lazy benchmark: misma agregación con pl.read_parquet(...) (eager) y pl.scan_parquet(...).collect() (lazy).</a:t>
            </a:r>
          </a:p>
          <a:p>
            <a:pPr>
              <a:spcAft>
                <a:spcPts val="800"/>
              </a:spcAft>
              <a:defRPr sz="1400" b="0">
                <a:solidFill>
                  <a:srgbClr val="0F172A"/>
                </a:solidFill>
                <a:latin typeface="Segoe UI"/>
              </a:defRPr>
            </a:pPr>
            <a:r>
              <a:rPr sz="1400" b="0">
                <a:solidFill>
                  <a:srgbClr val="0F172A"/>
                </a:solidFill>
                <a:latin typeface="Segoe UI"/>
              </a:rPr>
              <a:t>• Pandas → Polars: tomá un script pandas existente, traducí a Polars.</a:t>
            </a:r>
          </a:p>
          <a:p>
            <a:pPr>
              <a:spcAft>
                <a:spcPts val="800"/>
              </a:spcAft>
              <a:defRPr sz="1400" b="0">
                <a:solidFill>
                  <a:srgbClr val="0F172A"/>
                </a:solidFill>
                <a:latin typeface="Segoe UI"/>
              </a:defRPr>
            </a:pPr>
            <a:r>
              <a:rPr sz="1400" b="0">
                <a:solidFill>
                  <a:srgbClr val="0F172A"/>
                </a:solidFill>
                <a:latin typeface="Segoe UI"/>
              </a:rPr>
              <a:t>• Streaming: con un parquet de 5 GB (descargar 12 meses NYC Taxi), correr una agregación con .collect() y luego con .collect(engine="streaming").</a:t>
            </a:r>
          </a:p>
          <a:p>
            <a:pPr>
              <a:spcAft>
                <a:spcPts val="800"/>
              </a:spcAft>
              <a:defRPr sz="1400" b="0">
                <a:solidFill>
                  <a:srgbClr val="0F172A"/>
                </a:solidFill>
                <a:latin typeface="Segoe UI"/>
              </a:defRPr>
            </a:pPr>
            <a:r>
              <a:rPr sz="1400" b="0">
                <a:solidFill>
                  <a:srgbClr val="0F172A"/>
                </a:solidFill>
                <a:latin typeface="Segoe UI"/>
              </a:rPr>
              <a:t>• Predicate pushdown explícito: pl.scan_parquet("data/").filter(pl.col("date") == "2024-01-15").select("fare").collect() vs pl.read_parquet("data/").filter(...).select(...).</a:t>
            </a:r>
          </a:p>
          <a:p>
            <a:pPr>
              <a:spcAft>
                <a:spcPts val="800"/>
              </a:spcAft>
              <a:defRPr sz="1400" b="0">
                <a:solidFill>
                  <a:srgbClr val="0F172A"/>
                </a:solidFill>
                <a:latin typeface="Segoe UI"/>
              </a:defRPr>
            </a:pPr>
            <a:r>
              <a:rPr sz="1400" b="0">
                <a:solidFill>
                  <a:srgbClr val="0F172A"/>
                </a:solidFill>
                <a:latin typeface="Segoe UI"/>
              </a:rPr>
              <a:t>• Polars + DuckDB: hacer la query principal en Polars; pasar el resultado a DuckDB con con.from_arrow(df.to_arrow()) para hacer una consulta SQL compleja.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en Polars que: lee 12 meses NYC Taxi, filtra outliers, calcula avg fare por borough × hour, escribe parquet particionado.</a:t>
            </a:r>
          </a:p>
          <a:p>
            <a:pPr>
              <a:spcAft>
                <a:spcPts val="800"/>
              </a:spcAft>
              <a:defRPr sz="1400" b="0">
                <a:solidFill>
                  <a:srgbClr val="0F172A"/>
                </a:solidFill>
                <a:latin typeface="Segoe UI"/>
              </a:defRPr>
            </a:pPr>
            <a:r>
              <a:rPr sz="1400" b="0">
                <a:solidFill>
                  <a:srgbClr val="0F172A"/>
                </a:solidFill>
                <a:latin typeface="Segoe UI"/>
              </a:rPr>
              <a:t>• Benchmark contra: pandas (si el dataset entra), DuckDB (con.execute(query).pl()), PySpark (Clase 210). Reportar tiempo + RAM peak.</a:t>
            </a:r>
          </a:p>
          <a:p>
            <a:pPr>
              <a:spcAft>
                <a:spcPts val="800"/>
              </a:spcAft>
              <a:defRPr sz="1400" b="0">
                <a:solidFill>
                  <a:srgbClr val="0F172A"/>
                </a:solidFill>
                <a:latin typeface="Segoe UI"/>
              </a:defRPr>
            </a:pPr>
            <a:r>
              <a:rPr sz="1400" b="0">
                <a:solidFill>
                  <a:srgbClr val="0F172A"/>
                </a:solidFill>
                <a:latin typeface="Segoe UI"/>
              </a:rPr>
              <a:t>• Una query usando streaming engine que procesa &gt;RAM (forzar bajando psutil.virtual_memory().available / 4 con docker-compose limit).</a:t>
            </a:r>
          </a:p>
          <a:p>
            <a:pPr>
              <a:spcAft>
                <a:spcPts val="800"/>
              </a:spcAft>
              <a:defRPr sz="1400" b="0">
                <a:solidFill>
                  <a:srgbClr val="0F172A"/>
                </a:solidFill>
                <a:latin typeface="Segoe UI"/>
              </a:defRPr>
            </a:pPr>
            <a:r>
              <a:rPr sz="1400" b="0">
                <a:solidFill>
                  <a:srgbClr val="0F172A"/>
                </a:solidFill>
                <a:latin typeface="Segoe UI"/>
              </a:rPr>
              <a:t>• Una query con window functions (pl.col("fare").rolling_mean(window_size=7).over("borough")) que en pandas requeriría 20 LOC.</a:t>
            </a:r>
          </a:p>
          <a:p>
            <a:pPr>
              <a:spcAft>
                <a:spcPts val="800"/>
              </a:spcAft>
              <a:defRPr sz="1400" b="0">
                <a:solidFill>
                  <a:srgbClr val="0F172A"/>
                </a:solidFill>
                <a:latin typeface="Segoe UI"/>
              </a:defRPr>
            </a:pPr>
            <a:r>
              <a:rPr sz="1400" b="0">
                <a:solidFill>
                  <a:srgbClr val="0F172A"/>
                </a:solidFill>
                <a:latin typeface="Segoe UI"/>
              </a:rPr>
              <a:t>• README con cuándo Polars vs cuándo otra cosa.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212</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212 — Data warehouses: BigQuery, Snowflake, DuckDB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Reis &amp; Housley Fundamentals of Data Engineering (O'Reilly, 2022) cap. 6 + 9 + docs oficiales.  Duración estimada: 80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Consultar y operar 3 data warehouses modernos desde Python: BigQuery (GCP, serverless, separación compute/storage), Snowflake (multi-cloud, virtual warehouses, time travel), DuckDB (embedded, OLAP local, no requiere server). Decidir cuál usar según escala, presupuesto y latencia.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Conectar a BigQuery (google-cloud-bigquery), Snowflake (snowflake-connector-python), DuckDB (duckdb) y ejecutar queries.</a:t>
            </a:r>
          </a:p>
          <a:p>
            <a:pPr>
              <a:spcAft>
                <a:spcPts val="800"/>
              </a:spcAft>
              <a:defRPr sz="1400" b="0">
                <a:solidFill>
                  <a:srgbClr val="0F172A"/>
                </a:solidFill>
                <a:latin typeface="Segoe UI"/>
              </a:defRPr>
            </a:pPr>
            <a:r>
              <a:rPr sz="1400" b="0">
                <a:solidFill>
                  <a:srgbClr val="0F172A"/>
                </a:solidFill>
                <a:latin typeface="Segoe UI"/>
              </a:rPr>
              <a:t>• Diseñar tablas con particionado (BigQuery: PARTITION BY date_field) y clustering (BigQuery, Snowflake) para reducir costos y latencia.</a:t>
            </a:r>
          </a:p>
          <a:p>
            <a:pPr>
              <a:spcAft>
                <a:spcPts val="800"/>
              </a:spcAft>
              <a:defRPr sz="1400" b="0">
                <a:solidFill>
                  <a:srgbClr val="0F172A"/>
                </a:solidFill>
                <a:latin typeface="Segoe UI"/>
              </a:defRPr>
            </a:pPr>
            <a:r>
              <a:rPr sz="1400" b="0">
                <a:solidFill>
                  <a:srgbClr val="0F172A"/>
                </a:solidFill>
                <a:latin typeface="Segoe UI"/>
              </a:rPr>
              <a:t>• Usar COPY INTO (Snowflake) y LOAD DATA (BigQuery) para bulk ingest desde S3/GCS.</a:t>
            </a:r>
          </a:p>
          <a:p>
            <a:pPr>
              <a:spcAft>
                <a:spcPts val="800"/>
              </a:spcAft>
              <a:defRPr sz="1400" b="0">
                <a:solidFill>
                  <a:srgbClr val="0F172A"/>
                </a:solidFill>
                <a:latin typeface="Segoe UI"/>
              </a:defRPr>
            </a:pPr>
            <a:r>
              <a:rPr sz="1400" b="0">
                <a:solidFill>
                  <a:srgbClr val="0F172A"/>
                </a:solidFill>
                <a:latin typeface="Segoe UI"/>
              </a:rPr>
              <a:t>• Aprovechar time travel (SELECT ... AT(TIMESTAMP =&gt; ...) Snowflake) para auditar / recuperar.</a:t>
            </a:r>
          </a:p>
          <a:p>
            <a:pPr>
              <a:spcAft>
                <a:spcPts val="800"/>
              </a:spcAft>
              <a:defRPr sz="1400" b="0">
                <a:solidFill>
                  <a:srgbClr val="0F172A"/>
                </a:solidFill>
                <a:latin typeface="Segoe UI"/>
              </a:defRPr>
            </a:pPr>
            <a:r>
              <a:rPr sz="1400" b="0">
                <a:solidFill>
                  <a:srgbClr val="0F172A"/>
                </a:solidFill>
                <a:latin typeface="Segoe UI"/>
              </a:rPr>
              <a:t>• Decidir DW: BigQuery (serverless, GCP-first), Snowflake (multi-cloud, separation, sharing), DuckDB (local/embedded), Redshift (legacy AWS).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Compute/storage separation</a:t>
            </a:r>
          </a:p>
          <a:p>
            <a:pPr>
              <a:spcAft>
                <a:spcPts val="1000"/>
              </a:spcAft>
              <a:defRPr sz="1600" b="0">
                <a:solidFill>
                  <a:srgbClr val="0F172A"/>
                </a:solidFill>
                <a:latin typeface="Segoe UI"/>
              </a:defRPr>
            </a:pPr>
            <a:r>
              <a:rPr sz="1600" b="0">
                <a:solidFill>
                  <a:srgbClr val="0F172A"/>
                </a:solidFill>
                <a:latin typeface="Segoe UI"/>
              </a:rPr>
              <a:t>• Particionado vs clustering</a:t>
            </a:r>
          </a:p>
          <a:p>
            <a:pPr>
              <a:spcAft>
                <a:spcPts val="1000"/>
              </a:spcAft>
              <a:defRPr sz="1600" b="0">
                <a:solidFill>
                  <a:srgbClr val="0F172A"/>
                </a:solidFill>
                <a:latin typeface="Segoe UI"/>
              </a:defRPr>
            </a:pPr>
            <a:r>
              <a:rPr sz="1600" b="0">
                <a:solidFill>
                  <a:srgbClr val="0F172A"/>
                </a:solidFill>
                <a:latin typeface="Segoe UI"/>
              </a:rPr>
              <a:t>• BigQuery: SQL standard + UDF + ML</a:t>
            </a:r>
          </a:p>
          <a:p>
            <a:pPr>
              <a:spcAft>
                <a:spcPts val="1000"/>
              </a:spcAft>
              <a:defRPr sz="1600" b="0">
                <a:solidFill>
                  <a:srgbClr val="0F172A"/>
                </a:solidFill>
                <a:latin typeface="Segoe UI"/>
              </a:defRPr>
            </a:pPr>
            <a:r>
              <a:rPr sz="1600" b="0">
                <a:solidFill>
                  <a:srgbClr val="0F172A"/>
                </a:solidFill>
                <a:latin typeface="Segoe UI"/>
              </a:rPr>
              <a:t>• Snowflake: virtual warehouses, time travel, data sharing</a:t>
            </a:r>
          </a:p>
          <a:p>
            <a:pPr>
              <a:spcAft>
                <a:spcPts val="1000"/>
              </a:spcAft>
              <a:defRPr sz="1600" b="0">
                <a:solidFill>
                  <a:srgbClr val="0F172A"/>
                </a:solidFill>
                <a:latin typeface="Segoe UI"/>
              </a:defRPr>
            </a:pPr>
            <a:r>
              <a:rPr sz="1600" b="0">
                <a:solidFill>
                  <a:srgbClr val="0F172A"/>
                </a:solidFill>
                <a:latin typeface="Segoe UI"/>
              </a:rPr>
              <a:t>• DuckDB: el DW que entra en pip install</a:t>
            </a:r>
          </a:p>
          <a:p>
            <a:pPr>
              <a:spcAft>
                <a:spcPts val="1000"/>
              </a:spcAft>
              <a:defRPr sz="1600" b="0">
                <a:solidFill>
                  <a:srgbClr val="0F172A"/>
                </a:solidFill>
                <a:latin typeface="Segoe UI"/>
              </a:defRPr>
            </a:pPr>
            <a:r>
              <a:rPr sz="1600" b="0">
                <a:solidFill>
                  <a:srgbClr val="0F172A"/>
                </a:solidFill>
                <a:latin typeface="Segoe UI"/>
              </a:rPr>
              <a:t>• Costo: cómo NO gastar miles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DuckDB se corre local sin credenciales. BQ y Snowflake requieren cuenta — los mostramos como código de referencia.</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duckdb, pandas as pd, tempfile, time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WORK = Path(tempfile.gettempdir()) / 'dw_demo'</a:t>
            </a:r>
          </a:p>
          <a:p>
            <a:pPr>
              <a:defRPr sz="1200" b="0">
                <a:solidFill>
                  <a:srgbClr val="F8FAFC"/>
                </a:solidFill>
                <a:latin typeface="Courier New"/>
              </a:defRPr>
            </a:pPr>
            <a:r>
              <a:rPr sz="1200" b="0">
                <a:solidFill>
                  <a:srgbClr val="F8FAFC"/>
                </a:solidFill>
                <a:latin typeface="Courier New"/>
              </a:rPr>
              <a:t>WORK.mkdir(exist_ok=True)</a:t>
            </a:r>
          </a:p>
          <a:p>
            <a:pPr>
              <a:defRPr sz="1200" b="0">
                <a:solidFill>
                  <a:srgbClr val="F8FAFC"/>
                </a:solidFill>
                <a:latin typeface="Courier New"/>
              </a:defRPr>
            </a:pPr>
            <a:r>
              <a:rPr sz="1200" b="0">
                <a:solidFill>
                  <a:srgbClr val="F8FAFC"/>
                </a:solidFill>
                <a:latin typeface="Courier New"/>
              </a:rPr>
              <a:t>print('DuckDB version:', duckdb.__version__)</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212 — Data warehouses: BigQuery, Snowflake, DuckDB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DuckDB local: con = duckdb.connect("warehouse.duckdb").</a:t>
            </a:r>
          </a:p>
          <a:p>
            <a:pPr>
              <a:spcAft>
                <a:spcPts val="800"/>
              </a:spcAft>
              <a:defRPr sz="1400" b="0">
                <a:solidFill>
                  <a:srgbClr val="0F172A"/>
                </a:solidFill>
                <a:latin typeface="Segoe UI"/>
              </a:defRPr>
            </a:pPr>
            <a:r>
              <a:rPr sz="1400" b="0">
                <a:solidFill>
                  <a:srgbClr val="0F172A"/>
                </a:solidFill>
                <a:latin typeface="Segoe UI"/>
              </a:rPr>
              <a:t>• BigQuery query: from google.cloud import bigquery; client = bigquery.Client(project="...").</a:t>
            </a:r>
          </a:p>
          <a:p>
            <a:pPr>
              <a:spcAft>
                <a:spcPts val="800"/>
              </a:spcAft>
              <a:defRPr sz="1400" b="0">
                <a:solidFill>
                  <a:srgbClr val="0F172A"/>
                </a:solidFill>
                <a:latin typeface="Segoe UI"/>
              </a:defRPr>
            </a:pPr>
            <a:r>
              <a:rPr sz="1400" b="0">
                <a:solidFill>
                  <a:srgbClr val="0F172A"/>
                </a:solidFill>
                <a:latin typeface="Segoe UI"/>
              </a:rPr>
              <a:t>• Particionado en BQ: crear tabla mi_proyecto.dataset.trips_partitioned con PARTITION BY DATE(pickup_datetime).</a:t>
            </a:r>
          </a:p>
          <a:p>
            <a:pPr>
              <a:spcAft>
                <a:spcPts val="800"/>
              </a:spcAft>
              <a:defRPr sz="1400" b="0">
                <a:solidFill>
                  <a:srgbClr val="0F172A"/>
                </a:solidFill>
                <a:latin typeface="Segoe UI"/>
              </a:defRPr>
            </a:pPr>
            <a:r>
              <a:rPr sz="1400" b="0">
                <a:solidFill>
                  <a:srgbClr val="0F172A"/>
                </a:solidFill>
                <a:latin typeface="Segoe UI"/>
              </a:rPr>
              <a:t>• Snowflake time travel: CREATE TABLE x AS SELECT ....</a:t>
            </a:r>
          </a:p>
          <a:p>
            <a:pPr>
              <a:spcAft>
                <a:spcPts val="800"/>
              </a:spcAft>
              <a:defRPr sz="1400" b="0">
                <a:solidFill>
                  <a:srgbClr val="0F172A"/>
                </a:solidFill>
                <a:latin typeface="Segoe UI"/>
              </a:defRPr>
            </a:pPr>
            <a:r>
              <a:rPr sz="1400" b="0">
                <a:solidFill>
                  <a:srgbClr val="0F172A"/>
                </a:solidFill>
                <a:latin typeface="Segoe UI"/>
              </a:rPr>
              <a:t>• DuckDB queryando S3 directo: con.execute("SELECT  FROM 's3://bucket/path/.parquet' LIMIT 10") sin descargar nada — DuckDB lee remoto con HTTPFS.</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Pipeline que extrae datos de una API → carga a un DW (elegir 1: BQ free tier, DuckDB, Snowflake trial) → corre 5 queries analíticas.</a:t>
            </a:r>
          </a:p>
          <a:p>
            <a:pPr>
              <a:spcAft>
                <a:spcPts val="800"/>
              </a:spcAft>
              <a:defRPr sz="1400" b="0">
                <a:solidFill>
                  <a:srgbClr val="0F172A"/>
                </a:solidFill>
                <a:latin typeface="Segoe UI"/>
              </a:defRPr>
            </a:pPr>
            <a:r>
              <a:rPr sz="1400" b="0">
                <a:solidFill>
                  <a:srgbClr val="0F172A"/>
                </a:solidFill>
                <a:latin typeface="Segoe UI"/>
              </a:rPr>
              <a:t>• Comparativa de costo: misma query escaneando (a) tabla sin particionar (5 GB), (b) tabla particionada con filter (50 MB). Reportar $ estimado.</a:t>
            </a:r>
          </a:p>
          <a:p>
            <a:pPr>
              <a:spcAft>
                <a:spcPts val="800"/>
              </a:spcAft>
              <a:defRPr sz="1400" b="0">
                <a:solidFill>
                  <a:srgbClr val="0F172A"/>
                </a:solidFill>
                <a:latin typeface="Segoe UI"/>
              </a:defRPr>
            </a:pPr>
            <a:r>
              <a:rPr sz="1400" b="0">
                <a:solidFill>
                  <a:srgbClr val="0F172A"/>
                </a:solidFill>
                <a:latin typeface="Segoe UI"/>
              </a:rPr>
              <a:t>• Tabla con clustering / cluster keys sobre 2 columnas que mejoran una query frecuente. Mostrar mejora de performance.</a:t>
            </a:r>
          </a:p>
          <a:p>
            <a:pPr>
              <a:spcAft>
                <a:spcPts val="800"/>
              </a:spcAft>
              <a:defRPr sz="1400" b="0">
                <a:solidFill>
                  <a:srgbClr val="0F172A"/>
                </a:solidFill>
                <a:latin typeface="Segoe UI"/>
              </a:defRPr>
            </a:pPr>
            <a:r>
              <a:rPr sz="1400" b="0">
                <a:solidFill>
                  <a:srgbClr val="0F172A"/>
                </a:solidFill>
                <a:latin typeface="Segoe UI"/>
              </a:rPr>
              <a:t>• Setup de service account con permisos mínimos (BQ Data Viewer, no Admin).</a:t>
            </a:r>
          </a:p>
          <a:p>
            <a:pPr>
              <a:spcAft>
                <a:spcPts val="800"/>
              </a:spcAft>
              <a:defRPr sz="1400" b="0">
                <a:solidFill>
                  <a:srgbClr val="0F172A"/>
                </a:solidFill>
                <a:latin typeface="Segoe UI"/>
              </a:defRPr>
            </a:pPr>
            <a:r>
              <a:rPr sz="1400" b="0">
                <a:solidFill>
                  <a:srgbClr val="0F172A"/>
                </a:solidFill>
                <a:latin typeface="Segoe UI"/>
              </a:rPr>
              <a:t>• README explicando cuál DW elegirías para 3 escenarios: startup 5 dev, empresa multi-cloud, análisis personal local.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213</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213 — Streaming intro: Kafka, Kinesis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Kreps, Building a Real-Time Data Pipeline + Narkhede, Shapira, Palino Kafka: The Definitive Guide (O'Reilly, 2ª ed., 2021) + Reis &amp; Housley cap. 7.  Duración estimada: 85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Entender el modelo streaming vs batch (Clase 208), producir y consumir mensajes en Kafka (con confluent-kafka o kafka-python), comparar contra AWS Kinesis Data Streams (managed equivalent), y reconocer los 3 problemas clásicos de streaming: exactly-once, out-of-order events, backpressure.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Diferenciar batch (datos llegan en bloques) de streaming (datos llegan continuos, baja latencia).</a:t>
            </a:r>
          </a:p>
          <a:p>
            <a:pPr>
              <a:spcAft>
                <a:spcPts val="800"/>
              </a:spcAft>
              <a:defRPr sz="1400" b="0">
                <a:solidFill>
                  <a:srgbClr val="0F172A"/>
                </a:solidFill>
                <a:latin typeface="Segoe UI"/>
              </a:defRPr>
            </a:pPr>
            <a:r>
              <a:rPr sz="1400" b="0">
                <a:solidFill>
                  <a:srgbClr val="0F172A"/>
                </a:solidFill>
                <a:latin typeface="Segoe UI"/>
              </a:rPr>
              <a:t>• Producir mensajes a un topic Kafka con keys (garantiza orden por key, distribuye load).</a:t>
            </a:r>
          </a:p>
          <a:p>
            <a:pPr>
              <a:spcAft>
                <a:spcPts val="800"/>
              </a:spcAft>
              <a:defRPr sz="1400" b="0">
                <a:solidFill>
                  <a:srgbClr val="0F172A"/>
                </a:solidFill>
                <a:latin typeface="Segoe UI"/>
              </a:defRPr>
            </a:pPr>
            <a:r>
              <a:rPr sz="1400" b="0">
                <a:solidFill>
                  <a:srgbClr val="0F172A"/>
                </a:solidFill>
                <a:latin typeface="Segoe UI"/>
              </a:rPr>
              <a:t>• Consumir con consumer groups: partitions distribuidas entre consumers, offset management.</a:t>
            </a:r>
          </a:p>
          <a:p>
            <a:pPr>
              <a:spcAft>
                <a:spcPts val="800"/>
              </a:spcAft>
              <a:defRPr sz="1400" b="0">
                <a:solidFill>
                  <a:srgbClr val="0F172A"/>
                </a:solidFill>
                <a:latin typeface="Segoe UI"/>
              </a:defRPr>
            </a:pPr>
            <a:r>
              <a:rPr sz="1400" b="0">
                <a:solidFill>
                  <a:srgbClr val="0F172A"/>
                </a:solidFill>
                <a:latin typeface="Segoe UI"/>
              </a:rPr>
              <a:t>• Diseñar para at-least-once (default razonable) y entender qué requiere exactly-once (transactional API).</a:t>
            </a:r>
          </a:p>
          <a:p>
            <a:pPr>
              <a:spcAft>
                <a:spcPts val="800"/>
              </a:spcAft>
              <a:defRPr sz="1400" b="0">
                <a:solidFill>
                  <a:srgbClr val="0F172A"/>
                </a:solidFill>
                <a:latin typeface="Segoe UI"/>
              </a:defRPr>
            </a:pPr>
            <a:r>
              <a:rPr sz="1400" b="0">
                <a:solidFill>
                  <a:srgbClr val="0F172A"/>
                </a:solidFill>
                <a:latin typeface="Segoe UI"/>
              </a:rPr>
              <a:t>• Decidir Kafka (self-hosted o Confluent Cloud) vs Kinesis (AWS) vs Pub/Sub (GCP) vs Event Hubs (Azure).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Batch vs streaming — el espectro real</a:t>
            </a:r>
          </a:p>
          <a:p>
            <a:pPr>
              <a:spcAft>
                <a:spcPts val="1000"/>
              </a:spcAft>
              <a:defRPr sz="1600" b="0">
                <a:solidFill>
                  <a:srgbClr val="0F172A"/>
                </a:solidFill>
                <a:latin typeface="Segoe UI"/>
              </a:defRPr>
            </a:pPr>
            <a:r>
              <a:rPr sz="1600" b="0">
                <a:solidFill>
                  <a:srgbClr val="0F172A"/>
                </a:solidFill>
                <a:latin typeface="Segoe UI"/>
              </a:rPr>
              <a:t>• Kafka model: topic, partition, offset</a:t>
            </a:r>
          </a:p>
          <a:p>
            <a:pPr>
              <a:spcAft>
                <a:spcPts val="1000"/>
              </a:spcAft>
              <a:defRPr sz="1600" b="0">
                <a:solidFill>
                  <a:srgbClr val="0F172A"/>
                </a:solidFill>
                <a:latin typeface="Segoe UI"/>
              </a:defRPr>
            </a:pPr>
            <a:r>
              <a:rPr sz="1600" b="0">
                <a:solidFill>
                  <a:srgbClr val="0F172A"/>
                </a:solidFill>
                <a:latin typeface="Segoe UI"/>
              </a:rPr>
              <a:t>• Producer: keys, acks, idempotence</a:t>
            </a:r>
          </a:p>
          <a:p>
            <a:pPr>
              <a:spcAft>
                <a:spcPts val="1000"/>
              </a:spcAft>
              <a:defRPr sz="1600" b="0">
                <a:solidFill>
                  <a:srgbClr val="0F172A"/>
                </a:solidFill>
                <a:latin typeface="Segoe UI"/>
              </a:defRPr>
            </a:pPr>
            <a:r>
              <a:rPr sz="1600" b="0">
                <a:solidFill>
                  <a:srgbClr val="0F172A"/>
                </a:solidFill>
                <a:latin typeface="Segoe UI"/>
              </a:rPr>
              <a:t>• Consumer groups + rebalancing</a:t>
            </a:r>
          </a:p>
          <a:p>
            <a:pPr>
              <a:spcAft>
                <a:spcPts val="1000"/>
              </a:spcAft>
              <a:defRPr sz="1600" b="0">
                <a:solidFill>
                  <a:srgbClr val="0F172A"/>
                </a:solidFill>
                <a:latin typeface="Segoe UI"/>
              </a:defRPr>
            </a:pPr>
            <a:r>
              <a:rPr sz="1600" b="0">
                <a:solidFill>
                  <a:srgbClr val="0F172A"/>
                </a:solidFill>
                <a:latin typeface="Segoe UI"/>
              </a:rPr>
              <a:t>• Delivery semantics: at-most/at-least/exactly-once</a:t>
            </a:r>
          </a:p>
          <a:p>
            <a:pPr>
              <a:spcAft>
                <a:spcPts val="1000"/>
              </a:spcAft>
              <a:defRPr sz="1600" b="0">
                <a:solidFill>
                  <a:srgbClr val="0F172A"/>
                </a:solidFill>
                <a:latin typeface="Segoe UI"/>
              </a:defRPr>
            </a:pPr>
            <a:r>
              <a:rPr sz="1600" b="0">
                <a:solidFill>
                  <a:srgbClr val="0F172A"/>
                </a:solidFill>
                <a:latin typeface="Segoe UI"/>
              </a:rPr>
              <a:t>• Kinesis comparison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compose = '''\</a:t>
            </a:r>
          </a:p>
          <a:p>
            <a:pPr>
              <a:defRPr sz="1200" b="0">
                <a:solidFill>
                  <a:srgbClr val="F8FAFC"/>
                </a:solidFill>
                <a:latin typeface="Courier New"/>
              </a:defRPr>
            </a:pPr>
            <a:r>
              <a:rPr sz="1200" b="0">
                <a:solidFill>
                  <a:srgbClr val="F8FAFC"/>
                </a:solidFill>
                <a:latin typeface="Courier New"/>
              </a:rPr>
              <a:t>services:</a:t>
            </a:r>
          </a:p>
          <a:p>
            <a:pPr>
              <a:defRPr sz="1200" b="0">
                <a:solidFill>
                  <a:srgbClr val="F8FAFC"/>
                </a:solidFill>
                <a:latin typeface="Courier New"/>
              </a:defRPr>
            </a:pPr>
            <a:r>
              <a:rPr sz="1200" b="0">
                <a:solidFill>
                  <a:srgbClr val="F8FAFC"/>
                </a:solidFill>
                <a:latin typeface="Courier New"/>
              </a:rPr>
              <a:t>  kafka:</a:t>
            </a:r>
          </a:p>
          <a:p>
            <a:pPr>
              <a:defRPr sz="1200" b="0">
                <a:solidFill>
                  <a:srgbClr val="F8FAFC"/>
                </a:solidFill>
                <a:latin typeface="Courier New"/>
              </a:defRPr>
            </a:pPr>
            <a:r>
              <a:rPr sz="1200" b="0">
                <a:solidFill>
                  <a:srgbClr val="F8FAFC"/>
                </a:solidFill>
                <a:latin typeface="Courier New"/>
              </a:rPr>
              <a:t>    image: bitnami/kafka:3.7</a:t>
            </a:r>
          </a:p>
          <a:p>
            <a:pPr>
              <a:defRPr sz="1200" b="0">
                <a:solidFill>
                  <a:srgbClr val="F8FAFC"/>
                </a:solidFill>
                <a:latin typeface="Courier New"/>
              </a:defRPr>
            </a:pPr>
            <a:r>
              <a:rPr sz="1200" b="0">
                <a:solidFill>
                  <a:srgbClr val="F8FAFC"/>
                </a:solidFill>
                <a:latin typeface="Courier New"/>
              </a:rPr>
              <a:t>    ports: ["9092:9092"]</a:t>
            </a:r>
          </a:p>
          <a:p>
            <a:pPr>
              <a:defRPr sz="1200" b="0">
                <a:solidFill>
                  <a:srgbClr val="F8FAFC"/>
                </a:solidFill>
                <a:latin typeface="Courier New"/>
              </a:defRPr>
            </a:pPr>
            <a:r>
              <a:rPr sz="1200" b="0">
                <a:solidFill>
                  <a:srgbClr val="F8FAFC"/>
                </a:solidFill>
                <a:latin typeface="Courier New"/>
              </a:rPr>
              <a:t>    environment:</a:t>
            </a:r>
          </a:p>
          <a:p>
            <a:pPr>
              <a:defRPr sz="1200" b="0">
                <a:solidFill>
                  <a:srgbClr val="F8FAFC"/>
                </a:solidFill>
                <a:latin typeface="Courier New"/>
              </a:defRPr>
            </a:pPr>
            <a:r>
              <a:rPr sz="1200" b="0">
                <a:solidFill>
                  <a:srgbClr val="F8FAFC"/>
                </a:solidFill>
                <a:latin typeface="Courier New"/>
              </a:rPr>
              <a:t>      KAFKA_CFG_NODE_ID: 1</a:t>
            </a:r>
          </a:p>
          <a:p>
            <a:pPr>
              <a:defRPr sz="1200" b="0">
                <a:solidFill>
                  <a:srgbClr val="F8FAFC"/>
                </a:solidFill>
                <a:latin typeface="Courier New"/>
              </a:defRPr>
            </a:pPr>
            <a:r>
              <a:rPr sz="1200" b="0">
                <a:solidFill>
                  <a:srgbClr val="F8FAFC"/>
                </a:solidFill>
                <a:latin typeface="Courier New"/>
              </a:rPr>
              <a:t>      KAFKA_CFG_PROCESS_ROLES: controller,broker</a:t>
            </a:r>
          </a:p>
          <a:p>
            <a:pPr>
              <a:defRPr sz="1200" b="0">
                <a:solidFill>
                  <a:srgbClr val="F8FAFC"/>
                </a:solidFill>
                <a:latin typeface="Courier New"/>
              </a:defRPr>
            </a:pPr>
            <a:r>
              <a:rPr sz="1200" b="0">
                <a:solidFill>
                  <a:srgbClr val="F8FAFC"/>
                </a:solidFill>
                <a:latin typeface="Courier New"/>
              </a:rPr>
              <a:t>      KAFKA_CFG_LISTENERS: PLAINTEXT://:9092,CONTROLLER://:9093</a:t>
            </a:r>
          </a:p>
          <a:p>
            <a:pPr>
              <a:defRPr sz="1200" b="0">
                <a:solidFill>
                  <a:srgbClr val="F8FAFC"/>
                </a:solidFill>
                <a:latin typeface="Courier New"/>
              </a:defRPr>
            </a:pPr>
            <a:r>
              <a:rPr sz="1200" b="0">
                <a:solidFill>
                  <a:srgbClr val="F8FAFC"/>
                </a:solidFill>
                <a:latin typeface="Courier New"/>
              </a:rPr>
              <a:t>      KAFKA_CFG_ADVERTISED_LISTENERS: PLAINTEXT://localhost:9092</a:t>
            </a:r>
          </a:p>
          <a:p>
            <a:pPr>
              <a:defRPr sz="1200" b="0">
                <a:solidFill>
                  <a:srgbClr val="F8FAFC"/>
                </a:solidFill>
                <a:latin typeface="Courier New"/>
              </a:defRPr>
            </a:pPr>
            <a:r>
              <a:rPr sz="1200" b="0">
                <a:solidFill>
                  <a:srgbClr val="F8FAFC"/>
                </a:solidFill>
                <a:latin typeface="Courier New"/>
              </a:rPr>
              <a:t>      KAFKA_CFG_LISTENER_SECURITY_PROTOCOL_MAP: CONTROLLER:PLAINTEXT,PLAINTEXT:PLAINTEXT</a:t>
            </a:r>
          </a:p>
          <a:p>
            <a:pPr>
              <a:defRPr sz="1200" b="0">
                <a:solidFill>
                  <a:srgbClr val="F8FAFC"/>
                </a:solidFill>
                <a:latin typeface="Courier New"/>
              </a:defRPr>
            </a:pPr>
            <a:r>
              <a:rPr sz="1200" b="0">
                <a:solidFill>
                  <a:srgbClr val="F8FAFC"/>
                </a:solidFill>
                <a:latin typeface="Courier New"/>
              </a:rPr>
              <a:t>      KAFKA_CFG_CONTROLLER_LISTENER_NAMES: CONTROLLER</a:t>
            </a:r>
          </a:p>
          <a:p>
            <a:pPr>
              <a:defRPr sz="1200" b="0">
                <a:solidFill>
                  <a:srgbClr val="F8FAFC"/>
                </a:solidFill>
                <a:latin typeface="Courier New"/>
              </a:defRPr>
            </a:pPr>
            <a:r>
              <a:rPr sz="1200" b="0">
                <a:solidFill>
                  <a:srgbClr val="F8FAFC"/>
                </a:solidFill>
                <a:latin typeface="Courier New"/>
              </a:rPr>
              <a:t>      KAFKA_CFG_CONTROLLER_QUORUM_VOTERS: 1@kafka:9093</a:t>
            </a:r>
          </a:p>
          <a:p>
            <a:pPr>
              <a:defRPr sz="1200" b="0">
                <a:solidFill>
                  <a:srgbClr val="F8FAFC"/>
                </a:solidFill>
                <a:latin typeface="Courier New"/>
              </a:defRPr>
            </a:pPr>
            <a:r>
              <a:rPr sz="1200" b="0">
                <a:solidFill>
                  <a:srgbClr val="F8FAFC"/>
                </a:solidFill>
                <a:latin typeface="Courier New"/>
              </a:rPr>
              <a:t>      KAFKA_CFG_AUTO_CREATE_TOPICS_ENABLE: "true"</a:t>
            </a:r>
          </a:p>
          <a:p>
            <a:pPr>
              <a:defRPr sz="1200" b="0">
                <a:solidFill>
                  <a:srgbClr val="F8FAFC"/>
                </a:solidFill>
                <a:latin typeface="Courier New"/>
              </a:defRPr>
            </a:pPr>
            <a:r>
              <a:rPr sz="1200" b="0">
                <a:solidFill>
                  <a:srgbClr val="F8FAFC"/>
                </a:solidFill>
                <a:latin typeface="Courier New"/>
              </a:rPr>
              <a:t>    healthcheck:</a:t>
            </a:r>
          </a:p>
          <a:p>
            <a:pPr>
              <a:defRPr sz="1200" b="0">
                <a:solidFill>
                  <a:srgbClr val="F8FAFC"/>
                </a:solidFill>
                <a:latin typeface="Courier New"/>
              </a:defRPr>
            </a:pPr>
            <a:r>
              <a:rPr sz="1200" b="0">
                <a:solidFill>
                  <a:srgbClr val="F8FAFC"/>
                </a:solidFill>
                <a:latin typeface="Courier New"/>
              </a:rPr>
              <a:t>      test: kafka-topics.sh --bootstrap-server localhost:9092 --list</a:t>
            </a:r>
          </a:p>
          <a:p>
            <a:pPr>
              <a:defRPr sz="1200" b="0">
                <a:solidFill>
                  <a:srgbClr val="F8FAFC"/>
                </a:solidFill>
                <a:latin typeface="Courier New"/>
              </a:defRPr>
            </a:pPr>
            <a:r>
              <a:rPr sz="1200" b="0">
                <a:solidFill>
                  <a:srgbClr val="F8FAFC"/>
                </a:solidFill>
                <a:latin typeface="Courier New"/>
              </a:rPr>
              <a:t>      interval: 5s</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  kafka-ui:</a:t>
            </a:r>
          </a:p>
          <a:p>
            <a:pPr>
              <a:defRPr sz="1200" b="0">
                <a:solidFill>
                  <a:srgbClr val="F8FAFC"/>
                </a:solidFill>
                <a:latin typeface="Courier New"/>
              </a:defRPr>
            </a:pPr>
            <a:r>
              <a:rPr sz="1200" b="0">
                <a:solidFill>
                  <a:srgbClr val="F8FAFC"/>
                </a:solidFill>
                <a:latin typeface="Courier New"/>
              </a:rPr>
              <a:t>    image: provectuslabs/kafka-ui:latest</a:t>
            </a:r>
          </a:p>
          <a:p>
            <a:pPr>
              <a:defRPr sz="1200" b="0">
                <a:solidFill>
                  <a:srgbClr val="F8FAFC"/>
                </a:solidFill>
                <a:latin typeface="Courier New"/>
              </a:defRPr>
            </a:pPr>
            <a:r>
              <a:rPr sz="1200" b="0">
                <a:solidFill>
                  <a:srgbClr val="F8FAFC"/>
                </a:solidFill>
                <a:latin typeface="Courier New"/>
              </a:rPr>
              <a:t># ... (truncado)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213 — Streaming intro: Kafka, Kinesis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Setup local: docker-compose con Kafka + Kafka UI.</a:t>
            </a:r>
          </a:p>
          <a:p>
            <a:pPr>
              <a:spcAft>
                <a:spcPts val="800"/>
              </a:spcAft>
              <a:defRPr sz="1400" b="0">
                <a:solidFill>
                  <a:srgbClr val="0F172A"/>
                </a:solidFill>
                <a:latin typeface="Segoe UI"/>
              </a:defRPr>
            </a:pPr>
            <a:r>
              <a:rPr sz="1400" b="0">
                <a:solidFill>
                  <a:srgbClr val="0F172A"/>
                </a:solidFill>
                <a:latin typeface="Segoe UI"/>
              </a:rPr>
              <a:t>• Producer: script Python que produce 1000 mensajes con key=user_id, value={"page":"/foo","ts":...}.</a:t>
            </a:r>
          </a:p>
          <a:p>
            <a:pPr>
              <a:spcAft>
                <a:spcPts val="800"/>
              </a:spcAft>
              <a:defRPr sz="1400" b="0">
                <a:solidFill>
                  <a:srgbClr val="0F172A"/>
                </a:solidFill>
                <a:latin typeface="Segoe UI"/>
              </a:defRPr>
            </a:pPr>
            <a:r>
              <a:rPr sz="1400" b="0">
                <a:solidFill>
                  <a:srgbClr val="0F172A"/>
                </a:solidFill>
                <a:latin typeface="Segoe UI"/>
              </a:rPr>
              <a:t>• Consumer 1 instancia: consumer.subscribe(['clicks']) + loop for msg in consumer.</a:t>
            </a:r>
          </a:p>
          <a:p>
            <a:pPr>
              <a:spcAft>
                <a:spcPts val="800"/>
              </a:spcAft>
              <a:defRPr sz="1400" b="0">
                <a:solidFill>
                  <a:srgbClr val="0F172A"/>
                </a:solidFill>
                <a:latin typeface="Segoe UI"/>
              </a:defRPr>
            </a:pPr>
            <a:r>
              <a:rPr sz="1400" b="0">
                <a:solidFill>
                  <a:srgbClr val="0F172A"/>
                </a:solidFill>
                <a:latin typeface="Segoe UI"/>
              </a:rPr>
              <a:t>• Consumer group, 2 instancias: levantar 2 consumers con mismo group.id.</a:t>
            </a:r>
          </a:p>
          <a:p>
            <a:pPr>
              <a:spcAft>
                <a:spcPts val="800"/>
              </a:spcAft>
              <a:defRPr sz="1400" b="0">
                <a:solidFill>
                  <a:srgbClr val="0F172A"/>
                </a:solidFill>
                <a:latin typeface="Segoe UI"/>
              </a:defRPr>
            </a:pPr>
            <a:r>
              <a:rPr sz="1400" b="0">
                <a:solidFill>
                  <a:srgbClr val="0F172A"/>
                </a:solidFill>
                <a:latin typeface="Segoe UI"/>
              </a:rPr>
              <a:t>• At-least-once explícito: enable.auto.commit=False, procesar mensaje, consumer.commit().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Producer Python que simula 100 eventos/s durante 1 min (sintéticos con faker).</a:t>
            </a:r>
          </a:p>
          <a:p>
            <a:pPr>
              <a:spcAft>
                <a:spcPts val="800"/>
              </a:spcAft>
              <a:defRPr sz="1400" b="0">
                <a:solidFill>
                  <a:srgbClr val="0F172A"/>
                </a:solidFill>
                <a:latin typeface="Segoe UI"/>
              </a:defRPr>
            </a:pPr>
            <a:r>
              <a:rPr sz="1400" b="0">
                <a:solidFill>
                  <a:srgbClr val="0F172A"/>
                </a:solidFill>
                <a:latin typeface="Segoe UI"/>
              </a:rPr>
              <a:t>• 3 consumers en el mismo group consumiendo de un topic con 6 partitions.</a:t>
            </a:r>
          </a:p>
          <a:p>
            <a:pPr>
              <a:spcAft>
                <a:spcPts val="800"/>
              </a:spcAft>
              <a:defRPr sz="1400" b="0">
                <a:solidFill>
                  <a:srgbClr val="0F172A"/>
                </a:solidFill>
                <a:latin typeface="Segoe UI"/>
              </a:defRPr>
            </a:pPr>
            <a:r>
              <a:rPr sz="1400" b="0">
                <a:solidFill>
                  <a:srgbClr val="0F172A"/>
                </a:solidFill>
                <a:latin typeface="Segoe UI"/>
              </a:rPr>
              <a:t>• Cada consumer procesa y escribe a una tabla DuckDB (idempotente: PK = (user_id, event_ts)).</a:t>
            </a:r>
          </a:p>
          <a:p>
            <a:pPr>
              <a:spcAft>
                <a:spcPts val="800"/>
              </a:spcAft>
              <a:defRPr sz="1400" b="0">
                <a:solidFill>
                  <a:srgbClr val="0F172A"/>
                </a:solidFill>
                <a:latin typeface="Segoe UI"/>
              </a:defRPr>
            </a:pPr>
            <a:r>
              <a:rPr sz="1400" b="0">
                <a:solidFill>
                  <a:srgbClr val="0F172A"/>
                </a:solidFill>
                <a:latin typeface="Segoe UI"/>
              </a:rPr>
              <a:t>• Métrica de consumer lag monitoreada (chequear kafka-consumer-groups --describe).</a:t>
            </a:r>
          </a:p>
          <a:p>
            <a:pPr>
              <a:spcAft>
                <a:spcPts val="800"/>
              </a:spcAft>
              <a:defRPr sz="1400" b="0">
                <a:solidFill>
                  <a:srgbClr val="0F172A"/>
                </a:solidFill>
                <a:latin typeface="Segoe UI"/>
              </a:defRPr>
            </a:pPr>
            <a:r>
              <a:rPr sz="1400" b="0">
                <a:solidFill>
                  <a:srgbClr val="0F172A"/>
                </a:solidFill>
                <a:latin typeface="Segoe UI"/>
              </a:rPr>
              <a:t>• Demonstración: matar 1 consumer durante la corrida y verificar rebalancing + cero pérdida de mensajes.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214</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214 — Formatos columnares: Parquet, Avro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docs Parquet 2.x + Avro spec + Reis &amp; Housley cap. 6.  Duración estimada: 70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Elegir formato de almacenamiento según el patrón de lectura: Parquet (columnar, OLAP, queries analíticas), Avro (row-based, OLTP/streaming, schema evolution), ORC (columnar, Hive ecosystem). Entender por qué Parquet es 5-100× más rápido que CSV para queries analíticas, y por qué Avro domina en Kafka.</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Convertir CSV → Parquet con pandas.to_parquet / polars.write_parquet / pyarrow.</a:t>
            </a:r>
          </a:p>
          <a:p>
            <a:pPr>
              <a:spcAft>
                <a:spcPts val="800"/>
              </a:spcAft>
              <a:defRPr sz="1400" b="0">
                <a:solidFill>
                  <a:srgbClr val="0F172A"/>
                </a:solidFill>
                <a:latin typeface="Segoe UI"/>
              </a:defRPr>
            </a:pPr>
            <a:r>
              <a:rPr sz="1400" b="0">
                <a:solidFill>
                  <a:srgbClr val="0F172A"/>
                </a:solidFill>
                <a:latin typeface="Segoe UI"/>
              </a:rPr>
              <a:t>• Diferenciar row-based (CSV, JSON, Avro) de columnar (Parquet, ORC) y elegir según query pattern.</a:t>
            </a:r>
          </a:p>
          <a:p>
            <a:pPr>
              <a:spcAft>
                <a:spcPts val="800"/>
              </a:spcAft>
              <a:defRPr sz="1400" b="0">
                <a:solidFill>
                  <a:srgbClr val="0F172A"/>
                </a:solidFill>
                <a:latin typeface="Segoe UI"/>
              </a:defRPr>
            </a:pPr>
            <a:r>
              <a:rPr sz="1400" b="0">
                <a:solidFill>
                  <a:srgbClr val="0F172A"/>
                </a:solidFill>
                <a:latin typeface="Segoe UI"/>
              </a:rPr>
              <a:t>• Aprovechar column pruning + predicate pushdown + row group pruning de Parquet (Polars/DuckDB/Spark lo hacen automático).</a:t>
            </a:r>
          </a:p>
          <a:p>
            <a:pPr>
              <a:spcAft>
                <a:spcPts val="800"/>
              </a:spcAft>
              <a:defRPr sz="1400" b="0">
                <a:solidFill>
                  <a:srgbClr val="0F172A"/>
                </a:solidFill>
                <a:latin typeface="Segoe UI"/>
              </a:defRPr>
            </a:pPr>
            <a:r>
              <a:rPr sz="1400" b="0">
                <a:solidFill>
                  <a:srgbClr val="0F172A"/>
                </a:solidFill>
                <a:latin typeface="Segoe UI"/>
              </a:rPr>
              <a:t>• Aplicar compresión (snappy default, zstd mejor ratio, gzip mejor compat) y entender trade-off CPU vs tamaño.</a:t>
            </a:r>
          </a:p>
          <a:p>
            <a:pPr>
              <a:spcAft>
                <a:spcPts val="800"/>
              </a:spcAft>
              <a:defRPr sz="1400" b="0">
                <a:solidFill>
                  <a:srgbClr val="0F172A"/>
                </a:solidFill>
                <a:latin typeface="Segoe UI"/>
              </a:defRPr>
            </a:pPr>
            <a:r>
              <a:rPr sz="1400" b="0">
                <a:solidFill>
                  <a:srgbClr val="0F172A"/>
                </a:solidFill>
                <a:latin typeface="Segoe UI"/>
              </a:rPr>
              <a:t>• Definir un schema Avro y usarlo en Kafka con Schema Registry (concept).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Row vs columnar</a:t>
            </a:r>
          </a:p>
          <a:p>
            <a:pPr>
              <a:spcAft>
                <a:spcPts val="1000"/>
              </a:spcAft>
              <a:defRPr sz="1600" b="0">
                <a:solidFill>
                  <a:srgbClr val="0F172A"/>
                </a:solidFill>
                <a:latin typeface="Segoe UI"/>
              </a:defRPr>
            </a:pPr>
            <a:r>
              <a:rPr sz="1600" b="0">
                <a:solidFill>
                  <a:srgbClr val="0F172A"/>
                </a:solidFill>
                <a:latin typeface="Segoe UI"/>
              </a:rPr>
              <a:t>• Parquet anatomy: file &gt; row group &gt; column chunk &gt; page</a:t>
            </a:r>
          </a:p>
          <a:p>
            <a:pPr>
              <a:spcAft>
                <a:spcPts val="1000"/>
              </a:spcAft>
              <a:defRPr sz="1600" b="0">
                <a:solidFill>
                  <a:srgbClr val="0F172A"/>
                </a:solidFill>
                <a:latin typeface="Segoe UI"/>
              </a:defRPr>
            </a:pPr>
            <a:r>
              <a:rPr sz="1600" b="0">
                <a:solidFill>
                  <a:srgbClr val="0F172A"/>
                </a:solidFill>
                <a:latin typeface="Segoe UI"/>
              </a:rPr>
              <a:t>• Compresión: snappy, zstd, gzip, lz4</a:t>
            </a:r>
          </a:p>
          <a:p>
            <a:pPr>
              <a:spcAft>
                <a:spcPts val="1000"/>
              </a:spcAft>
              <a:defRPr sz="1600" b="0">
                <a:solidFill>
                  <a:srgbClr val="0F172A"/>
                </a:solidFill>
                <a:latin typeface="Segoe UI"/>
              </a:defRPr>
            </a:pPr>
            <a:r>
              <a:rPr sz="1600" b="0">
                <a:solidFill>
                  <a:srgbClr val="0F172A"/>
                </a:solidFill>
                <a:latin typeface="Segoe UI"/>
              </a:rPr>
              <a:t>• Dictionary encoding, RLE</a:t>
            </a:r>
          </a:p>
          <a:p>
            <a:pPr>
              <a:spcAft>
                <a:spcPts val="1000"/>
              </a:spcAft>
              <a:defRPr sz="1600" b="0">
                <a:solidFill>
                  <a:srgbClr val="0F172A"/>
                </a:solidFill>
                <a:latin typeface="Segoe UI"/>
              </a:defRPr>
            </a:pPr>
            <a:r>
              <a:rPr sz="1600" b="0">
                <a:solidFill>
                  <a:srgbClr val="0F172A"/>
                </a:solidFill>
                <a:latin typeface="Segoe UI"/>
              </a:rPr>
              <a:t>• Avro: schema-first, row-based, compact binary</a:t>
            </a:r>
          </a:p>
          <a:p>
            <a:pPr>
              <a:spcAft>
                <a:spcPts val="1000"/>
              </a:spcAft>
              <a:defRPr sz="1600" b="0">
                <a:solidFill>
                  <a:srgbClr val="0F172A"/>
                </a:solidFill>
                <a:latin typeface="Segoe UI"/>
              </a:defRPr>
            </a:pPr>
            <a:r>
              <a:rPr sz="1600" b="0">
                <a:solidFill>
                  <a:srgbClr val="0F172A"/>
                </a:solidFill>
                <a:latin typeface="Segoe UI"/>
              </a:rPr>
              <a:t>• Schema evolution: forward/backward/full compat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Requiere: pip install pyarrow polars duckdb fastavro.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pyarrow as pa, pyarrow.parquet as pq, polars as pl, pandas as pd, numpy as np, time, json</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import tempfile, shutil</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WORK = Path(tempfile.gettempdir()) / 'parquet_bench'</a:t>
            </a:r>
          </a:p>
          <a:p>
            <a:pPr>
              <a:defRPr sz="1200" b="0">
                <a:solidFill>
                  <a:srgbClr val="F8FAFC"/>
                </a:solidFill>
                <a:latin typeface="Courier New"/>
              </a:defRPr>
            </a:pPr>
            <a:r>
              <a:rPr sz="1200" b="0">
                <a:solidFill>
                  <a:srgbClr val="F8FAFC"/>
                </a:solidFill>
                <a:latin typeface="Courier New"/>
              </a:rPr>
              <a:t>if WORK.exists(): shutil.rmtree(WORK)</a:t>
            </a:r>
          </a:p>
          <a:p>
            <a:pPr>
              <a:defRPr sz="1200" b="0">
                <a:solidFill>
                  <a:srgbClr val="F8FAFC"/>
                </a:solidFill>
                <a:latin typeface="Courier New"/>
              </a:defRPr>
            </a:pPr>
            <a:r>
              <a:rPr sz="1200" b="0">
                <a:solidFill>
                  <a:srgbClr val="F8FAFC"/>
                </a:solidFill>
                <a:latin typeface="Courier New"/>
              </a:rPr>
              <a:t>WORK.mkdir()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N = 2_000_000</a:t>
            </a:r>
          </a:p>
          <a:p>
            <a:pPr>
              <a:defRPr sz="1200" b="0">
                <a:solidFill>
                  <a:srgbClr val="F8FAFC"/>
                </a:solidFill>
                <a:latin typeface="Courier New"/>
              </a:defRPr>
            </a:pPr>
            <a:r>
              <a:rPr sz="1200" b="0">
                <a:solidFill>
                  <a:srgbClr val="F8FAFC"/>
                </a:solidFill>
                <a:latin typeface="Courier New"/>
              </a:rPr>
              <a:t>df = pl.DataFrame({</a:t>
            </a:r>
          </a:p>
          <a:p>
            <a:pPr>
              <a:defRPr sz="1200" b="0">
                <a:solidFill>
                  <a:srgbClr val="F8FAFC"/>
                </a:solidFill>
                <a:latin typeface="Courier New"/>
              </a:defRPr>
            </a:pPr>
            <a:r>
              <a:rPr sz="1200" b="0">
                <a:solidFill>
                  <a:srgbClr val="F8FAFC"/>
                </a:solidFill>
                <a:latin typeface="Courier New"/>
              </a:rPr>
              <a:t>    'zone_id': rng.integers(0, 100, N),</a:t>
            </a:r>
          </a:p>
          <a:p>
            <a:pPr>
              <a:defRPr sz="1200" b="0">
                <a:solidFill>
                  <a:srgbClr val="F8FAFC"/>
                </a:solidFill>
                <a:latin typeface="Courier New"/>
              </a:defRPr>
            </a:pPr>
            <a:r>
              <a:rPr sz="1200" b="0">
                <a:solidFill>
                  <a:srgbClr val="F8FAFC"/>
                </a:solidFill>
                <a:latin typeface="Courier New"/>
              </a:rPr>
              <a:t>    'fare':    rng.uniform(5, 100, N),</a:t>
            </a:r>
          </a:p>
          <a:p>
            <a:pPr>
              <a:defRPr sz="1200" b="0">
                <a:solidFill>
                  <a:srgbClr val="F8FAFC"/>
                </a:solidFill>
                <a:latin typeface="Courier New"/>
              </a:defRPr>
            </a:pPr>
            <a:r>
              <a:rPr sz="1200" b="0">
                <a:solidFill>
                  <a:srgbClr val="F8FAFC"/>
                </a:solidFill>
                <a:latin typeface="Courier New"/>
              </a:rPr>
              <a:t>    'tip':     rng.uniform(0, 20, N),</a:t>
            </a:r>
          </a:p>
          <a:p>
            <a:pPr>
              <a:defRPr sz="1200" b="0">
                <a:solidFill>
                  <a:srgbClr val="F8FAFC"/>
                </a:solidFill>
                <a:latin typeface="Courier New"/>
              </a:defRPr>
            </a:pPr>
            <a:r>
              <a:rPr sz="1200" b="0">
                <a:solidFill>
                  <a:srgbClr val="F8FAFC"/>
                </a:solidFill>
                <a:latin typeface="Courier New"/>
              </a:rPr>
              <a:t>    'pickup_date': pl.date(2024, 1, 1) + pl.duration(days=pl.Series(rng.integers(0, 90, N))),</a:t>
            </a:r>
          </a:p>
          <a:p>
            <a:pPr>
              <a:defRPr sz="1200" b="0">
                <a:solidFill>
                  <a:srgbClr val="F8FAFC"/>
                </a:solidFill>
                <a:latin typeface="Courier New"/>
              </a:defRPr>
            </a:pPr>
            <a:r>
              <a:rPr sz="1200" b="0">
                <a:solidFill>
                  <a:srgbClr val="F8FAFC"/>
                </a:solidFill>
                <a:latin typeface="Courier New"/>
              </a:rPr>
              <a:t>    'borough': rng.choice(['Manhattan', 'Brooklyn', 'Queens', 'Bronx'], N),</a:t>
            </a:r>
          </a:p>
          <a:p>
            <a:pPr>
              <a:defRPr sz="1200" b="0">
                <a:solidFill>
                  <a:srgbClr val="F8FAFC"/>
                </a:solidFill>
                <a:latin typeface="Courier New"/>
              </a:defRPr>
            </a:pPr>
            <a:r>
              <a:rPr sz="1200" b="0">
                <a:solidFill>
                  <a:srgbClr val="F8FAFC"/>
                </a:solidFill>
                <a:latin typeface="Courier New"/>
              </a:rPr>
              <a:t>    'note':    rng.choice(['short ride', 'long ride', 'airport', 'rush hour', None], N),</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print(f'dataset: {N:,} rows, {len(df.columns)} cols')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214 — Formatos columnares: Parquet, Avro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CSV → Parquet: descargá NYC Taxi 1 mes en CSV.</a:t>
            </a:r>
          </a:p>
          <a:p>
            <a:pPr>
              <a:spcAft>
                <a:spcPts val="800"/>
              </a:spcAft>
              <a:defRPr sz="1400" b="0">
                <a:solidFill>
                  <a:srgbClr val="0F172A"/>
                </a:solidFill>
                <a:latin typeface="Segoe UI"/>
              </a:defRPr>
            </a:pPr>
            <a:r>
              <a:rPr sz="1400" b="0">
                <a:solidFill>
                  <a:srgbClr val="0F172A"/>
                </a:solidFill>
                <a:latin typeface="Segoe UI"/>
              </a:rPr>
              <a:t>• Compresión benchmark: mismo dataset, escribir con snappy, zstd, gzip, lz4.</a:t>
            </a:r>
          </a:p>
          <a:p>
            <a:pPr>
              <a:spcAft>
                <a:spcPts val="800"/>
              </a:spcAft>
              <a:defRPr sz="1400" b="0">
                <a:solidFill>
                  <a:srgbClr val="0F172A"/>
                </a:solidFill>
                <a:latin typeface="Segoe UI"/>
              </a:defRPr>
            </a:pPr>
            <a:r>
              <a:rPr sz="1400" b="0">
                <a:solidFill>
                  <a:srgbClr val="0F172A"/>
                </a:solidFill>
                <a:latin typeface="Segoe UI"/>
              </a:rPr>
              <a:t>• Predicate pushdown: en DuckDB, EXPLAIN ANALYZE SELECT  FROM parquet WHERE pickup_date='2024-01-15'.</a:t>
            </a:r>
          </a:p>
          <a:p>
            <a:pPr>
              <a:spcAft>
                <a:spcPts val="800"/>
              </a:spcAft>
              <a:defRPr sz="1400" b="0">
                <a:solidFill>
                  <a:srgbClr val="0F172A"/>
                </a:solidFill>
                <a:latin typeface="Segoe UI"/>
              </a:defRPr>
            </a:pPr>
            <a:r>
              <a:rPr sz="1400" b="0">
                <a:solidFill>
                  <a:srgbClr val="0F172A"/>
                </a:solidFill>
                <a:latin typeface="Segoe UI"/>
              </a:rPr>
              <a:t>• Row groups y stats: con pyarrow.parquet.ParquetFile(path).metadata, inspeccioná min/max/null_count por columna por row group.</a:t>
            </a:r>
          </a:p>
          <a:p>
            <a:pPr>
              <a:spcAft>
                <a:spcPts val="800"/>
              </a:spcAft>
              <a:defRPr sz="1400" b="0">
                <a:solidFill>
                  <a:srgbClr val="0F172A"/>
                </a:solidFill>
                <a:latin typeface="Segoe UI"/>
              </a:defRPr>
            </a:pPr>
            <a:r>
              <a:rPr sz="1400" b="0">
                <a:solidFill>
                  <a:srgbClr val="0F172A"/>
                </a:solidFill>
                <a:latin typeface="Segoe UI"/>
              </a:rPr>
              <a:t>• Avro schema + roundtrip: definí schema Avro para evento de click.</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Benchmark sobre 1 año de NYC Taxi:</a:t>
            </a:r>
          </a:p>
          <a:p>
            <a:pPr>
              <a:spcAft>
                <a:spcPts val="800"/>
              </a:spcAft>
              <a:defRPr sz="1400" b="0">
                <a:solidFill>
                  <a:srgbClr val="0F172A"/>
                </a:solidFill>
                <a:latin typeface="Segoe UI"/>
              </a:defRPr>
            </a:pPr>
            <a:r>
              <a:rPr sz="1400" b="0">
                <a:solidFill>
                  <a:srgbClr val="0F172A"/>
                </a:solidFill>
                <a:latin typeface="Segoe UI"/>
              </a:rPr>
              <a:t>• CSV (raw), Parquet snappy, Parquet zstd, Avro snappy, JSON gzipped.</a:t>
            </a:r>
          </a:p>
          <a:p>
            <a:pPr>
              <a:spcAft>
                <a:spcPts val="800"/>
              </a:spcAft>
              <a:defRPr sz="1400" b="0">
                <a:solidFill>
                  <a:srgbClr val="0F172A"/>
                </a:solidFill>
                <a:latin typeface="Segoe UI"/>
              </a:defRPr>
            </a:pPr>
            <a:r>
              <a:rPr sz="1400" b="0">
                <a:solidFill>
                  <a:srgbClr val="0F172A"/>
                </a:solidFill>
                <a:latin typeface="Segoe UI"/>
              </a:rPr>
              <a:t>• Reportar para cada uno: tamaño en disco, tiempo de query COUNT *, tiempo de SELECT col WHERE filter.</a:t>
            </a:r>
          </a:p>
          <a:p>
            <a:pPr>
              <a:spcAft>
                <a:spcPts val="800"/>
              </a:spcAft>
              <a:defRPr sz="1400" b="0">
                <a:solidFill>
                  <a:srgbClr val="0F172A"/>
                </a:solidFill>
                <a:latin typeface="Segoe UI"/>
              </a:defRPr>
            </a:pPr>
            <a:r>
              <a:rPr sz="1400" b="0">
                <a:solidFill>
                  <a:srgbClr val="0F172A"/>
                </a:solidFill>
                <a:latin typeface="Segoe UI"/>
              </a:rPr>
              <a:t>• Demonstración de schema evolution: tabla Avro con schema v1 (5 campos), agregar campo opcional → v2. Consumer viejo (con v1) lee data de v2 sin romperse.</a:t>
            </a:r>
          </a:p>
          <a:p>
            <a:pPr>
              <a:spcAft>
                <a:spcPts val="800"/>
              </a:spcAft>
              <a:defRPr sz="1400" b="0">
                <a:solidFill>
                  <a:srgbClr val="0F172A"/>
                </a:solidFill>
                <a:latin typeface="Segoe UI"/>
              </a:defRPr>
            </a:pPr>
            <a:r>
              <a:rPr sz="1400" b="0">
                <a:solidFill>
                  <a:srgbClr val="0F172A"/>
                </a:solidFill>
                <a:latin typeface="Segoe UI"/>
              </a:rPr>
              <a:t>• Justificación de elección: para 3 casos de uso (analytics warehouse, Kafka stream, archive a largo plazo), recomendar formato y compresión.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3291840"/>
            <a:ext cx="12191695" cy="109728"/>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47120" cy="1097280"/>
          </a:xfrm>
          <a:prstGeom prst="rect">
            <a:avLst/>
          </a:prstGeom>
          <a:noFill/>
        </p:spPr>
        <p:txBody>
          <a:bodyPr wrap="square" anchor="ctr">
            <a:spAutoFit/>
          </a:bodyPr>
          <a:lstStyle/>
          <a:p>
            <a:pPr algn="ctr">
              <a:defRPr sz="4000" b="1">
                <a:solidFill>
                  <a:srgbClr val="F8FAFC"/>
                </a:solidFill>
                <a:latin typeface="Segoe UI Semibold"/>
              </a:defRPr>
            </a:pPr>
            <a:r>
              <a:rPr sz="4000" b="1">
                <a:solidFill>
                  <a:srgbClr val="F8FAFC"/>
                </a:solidFill>
                <a:latin typeface="Segoe UI Semibold"/>
              </a:rPr>
              <a:t>Clase 215</a:t>
            </a:r>
          </a:p>
        </p:txBody>
      </p:sp>
      <p:sp>
        <p:nvSpPr>
          <p:cNvPr id="4" name="TextBox 3"/>
          <p:cNvSpPr txBox="1"/>
          <p:nvPr/>
        </p:nvSpPr>
        <p:spPr>
          <a:xfrm>
            <a:off x="457200" y="3520440"/>
            <a:ext cx="11247120" cy="731520"/>
          </a:xfrm>
          <a:prstGeom prst="rect">
            <a:avLst/>
          </a:prstGeom>
          <a:noFill/>
        </p:spPr>
        <p:txBody>
          <a:bodyPr wrap="square">
            <a:spAutoFit/>
          </a:bodyPr>
          <a:lstStyle/>
          <a:p>
            <a:pPr algn="ctr">
              <a:defRPr sz="1800" b="0">
                <a:solidFill>
                  <a:srgbClr val="FFFFFF"/>
                </a:solidFill>
                <a:latin typeface="Segoe UI"/>
              </a:defRPr>
            </a:pPr>
            <a:r>
              <a:rPr sz="1800" b="0">
                <a:solidFill>
                  <a:srgbClr val="FFFFFF"/>
                </a:solidFill>
                <a:latin typeface="Segoe UI"/>
              </a:rPr>
              <a:t>Clase 215 — Modelado dimensional: star/snowflake schemas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Objetivo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 · Fuente: Kimball &amp; Ross The Data Warehouse Toolkit (Wiley, 3ª ed.) + Reis &amp; Housley cap. 8.  Duración estimada: 75 min. · Nivel: Intermedio-Avanzado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Diseñar el esquema de un data warehouse usando modelado dimensional (Kimball): una fact table central + dimension tables alrededor (star schema), o dimensiones normalizadas (snowflake schema). Es el modelo que han usado los data warehouses serios desde los 90s y sigue vigente en BigQuery/Snowflake/dbt en 2026.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fact tables (eventos medibles: sale, click, payment) vs dimension tables (entidades descriptivas: customer, product, date).</a:t>
            </a:r>
          </a:p>
          <a:p>
            <a:pPr>
              <a:spcAft>
                <a:spcPts val="800"/>
              </a:spcAft>
              <a:defRPr sz="1400" b="0">
                <a:solidFill>
                  <a:srgbClr val="0F172A"/>
                </a:solidFill>
                <a:latin typeface="Segoe UI"/>
              </a:defRPr>
            </a:pPr>
            <a:r>
              <a:rPr sz="1400" b="0">
                <a:solidFill>
                  <a:srgbClr val="0F172A"/>
                </a:solidFill>
                <a:latin typeface="Segoe UI"/>
              </a:rPr>
              <a:t>• Diseñar un star schema con fact + dimensions desnormalizadas.</a:t>
            </a:r>
          </a:p>
          <a:p>
            <a:pPr>
              <a:spcAft>
                <a:spcPts val="800"/>
              </a:spcAft>
              <a:defRPr sz="1400" b="0">
                <a:solidFill>
                  <a:srgbClr val="0F172A"/>
                </a:solidFill>
                <a:latin typeface="Segoe UI"/>
              </a:defRPr>
            </a:pPr>
            <a:r>
              <a:rPr sz="1400" b="0">
                <a:solidFill>
                  <a:srgbClr val="0F172A"/>
                </a:solidFill>
                <a:latin typeface="Segoe UI"/>
              </a:rPr>
              <a:t>• Manejar slowly changing dimensions (SCD): Tipo 1 (overwrite), Tipo 2 (history con valid_from/valid_to), Tipo 3 (current + previous).</a:t>
            </a:r>
          </a:p>
          <a:p>
            <a:pPr>
              <a:spcAft>
                <a:spcPts val="800"/>
              </a:spcAft>
              <a:defRPr sz="1400" b="0">
                <a:solidFill>
                  <a:srgbClr val="0F172A"/>
                </a:solidFill>
                <a:latin typeface="Segoe UI"/>
              </a:defRPr>
            </a:pPr>
            <a:r>
              <a:rPr sz="1400" b="0">
                <a:solidFill>
                  <a:srgbClr val="0F172A"/>
                </a:solidFill>
                <a:latin typeface="Segoe UI"/>
              </a:rPr>
              <a:t>• Crear una date dimension completa (con feriados, fiscal year, etc.) — la dimensión más reutilizada.</a:t>
            </a:r>
          </a:p>
          <a:p>
            <a:pPr>
              <a:spcAft>
                <a:spcPts val="800"/>
              </a:spcAft>
              <a:defRPr sz="1400" b="0">
                <a:solidFill>
                  <a:srgbClr val="0F172A"/>
                </a:solidFill>
                <a:latin typeface="Segoe UI"/>
              </a:defRPr>
            </a:pPr>
            <a:r>
              <a:rPr sz="1400" b="0">
                <a:solidFill>
                  <a:srgbClr val="0F172A"/>
                </a:solidFill>
                <a:latin typeface="Segoe UI"/>
              </a:rPr>
              <a:t>• Diferenciar OLAP (modelado dimensional, query analíticas) de 3NF (modelado normalizado, OLTP).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Star schema: fact + dims</a:t>
            </a:r>
          </a:p>
          <a:p>
            <a:pPr>
              <a:spcAft>
                <a:spcPts val="1000"/>
              </a:spcAft>
              <a:defRPr sz="1600" b="0">
                <a:solidFill>
                  <a:srgbClr val="0F172A"/>
                </a:solidFill>
                <a:latin typeface="Segoe UI"/>
              </a:defRPr>
            </a:pPr>
            <a:r>
              <a:rPr sz="1600" b="0">
                <a:solidFill>
                  <a:srgbClr val="0F172A"/>
                </a:solidFill>
                <a:latin typeface="Segoe UI"/>
              </a:rPr>
              <a:t>• Snowflake schema: dims normalizadas</a:t>
            </a:r>
          </a:p>
          <a:p>
            <a:pPr>
              <a:spcAft>
                <a:spcPts val="1000"/>
              </a:spcAft>
              <a:defRPr sz="1600" b="0">
                <a:solidFill>
                  <a:srgbClr val="0F172A"/>
                </a:solidFill>
                <a:latin typeface="Segoe UI"/>
              </a:defRPr>
            </a:pPr>
            <a:r>
              <a:rPr sz="1600" b="0">
                <a:solidFill>
                  <a:srgbClr val="0F172A"/>
                </a:solidFill>
                <a:latin typeface="Segoe UI"/>
              </a:rPr>
              <a:t>• Surrogate keys vs natural keys</a:t>
            </a:r>
          </a:p>
          <a:p>
            <a:pPr>
              <a:spcAft>
                <a:spcPts val="1000"/>
              </a:spcAft>
              <a:defRPr sz="1600" b="0">
                <a:solidFill>
                  <a:srgbClr val="0F172A"/>
                </a:solidFill>
                <a:latin typeface="Segoe UI"/>
              </a:defRPr>
            </a:pPr>
            <a:r>
              <a:rPr sz="1600" b="0">
                <a:solidFill>
                  <a:srgbClr val="0F172A"/>
                </a:solidFill>
                <a:latin typeface="Segoe UI"/>
              </a:rPr>
              <a:t>• Slowly Changing Dimensions (SCD 1/2/3)</a:t>
            </a:r>
          </a:p>
          <a:p>
            <a:pPr>
              <a:spcAft>
                <a:spcPts val="1000"/>
              </a:spcAft>
              <a:defRPr sz="1600" b="0">
                <a:solidFill>
                  <a:srgbClr val="0F172A"/>
                </a:solidFill>
                <a:latin typeface="Segoe UI"/>
              </a:defRPr>
            </a:pPr>
            <a:r>
              <a:rPr sz="1600" b="0">
                <a:solidFill>
                  <a:srgbClr val="0F172A"/>
                </a:solidFill>
                <a:latin typeface="Segoe UI"/>
              </a:rPr>
              <a:t>• Date dimension</a:t>
            </a:r>
          </a:p>
          <a:p>
            <a:pPr>
              <a:spcAft>
                <a:spcPts val="1000"/>
              </a:spcAft>
              <a:defRPr sz="1600" b="0">
                <a:solidFill>
                  <a:srgbClr val="0F172A"/>
                </a:solidFill>
                <a:latin typeface="Segoe UI"/>
              </a:defRPr>
            </a:pPr>
            <a:r>
              <a:rPr sz="1600" b="0">
                <a:solidFill>
                  <a:srgbClr val="0F172A"/>
                </a:solidFill>
                <a:latin typeface="Segoe UI"/>
              </a:rPr>
              <a:t>• Granularidad de la fact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Código</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Construimos un star schema de e-commerce: dim_date, dim_customer (SCD 2), dim_product, dim_store, fact_sales. Demostramos SCD 2 con cliente que cambia de ciudad.</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duckdb, tempfile</a:t>
            </a:r>
          </a:p>
          <a:p>
            <a:pPr>
              <a:defRPr sz="1200" b="0">
                <a:solidFill>
                  <a:srgbClr val="F8FAFC"/>
                </a:solidFill>
                <a:latin typeface="Courier New"/>
              </a:defRPr>
            </a:pPr>
            <a:r>
              <a:rPr sz="1200" b="0">
                <a:solidFill>
                  <a:srgbClr val="F8FAFC"/>
                </a:solidFill>
                <a:latin typeface="Courier New"/>
              </a:rPr>
              <a:t>from pathlib import Path</a:t>
            </a:r>
          </a:p>
          <a:p>
            <a:pPr>
              <a:defRPr sz="1200" b="0">
                <a:solidFill>
                  <a:srgbClr val="F8FAFC"/>
                </a:solidFill>
                <a:latin typeface="Courier New"/>
              </a:defRPr>
            </a:pPr>
            <a:r>
              <a:rPr sz="1200" b="0">
                <a:solidFill>
                  <a:srgbClr val="F8FAFC"/>
                </a:solidFill>
                <a:latin typeface="Courier New"/>
              </a:rPr>
              <a:t>DB = str(Path(tempfile.gettempdir()) / 'dw_star.duckdb')</a:t>
            </a:r>
          </a:p>
          <a:p>
            <a:pPr>
              <a:defRPr sz="1200" b="0">
                <a:solidFill>
                  <a:srgbClr val="F8FAFC"/>
                </a:solidFill>
                <a:latin typeface="Courier New"/>
              </a:defRPr>
            </a:pPr>
            <a:r>
              <a:rPr sz="1200" b="0">
                <a:solidFill>
                  <a:srgbClr val="F8FAFC"/>
                </a:solidFill>
                <a:latin typeface="Courier New"/>
              </a:rPr>
              <a:t>Path(DB).unlink(missing_ok=True)</a:t>
            </a:r>
          </a:p>
          <a:p>
            <a:pPr>
              <a:defRPr sz="1200" b="0">
                <a:solidFill>
                  <a:srgbClr val="F8FAFC"/>
                </a:solidFill>
                <a:latin typeface="Courier New"/>
              </a:defRPr>
            </a:pPr>
            <a:r>
              <a:rPr sz="1200" b="0">
                <a:solidFill>
                  <a:srgbClr val="F8FAFC"/>
                </a:solidFill>
                <a:latin typeface="Courier New"/>
              </a:rPr>
              <a:t>con = duckdb.connect(DB)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215 — Modelado dimensional: star/snowflake schemas — Ejercicios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Identificar grain: dado un dataset de pedidos de e-commerce, decidí el grain de tu fact.</a:t>
            </a:r>
          </a:p>
          <a:p>
            <a:pPr>
              <a:spcAft>
                <a:spcPts val="800"/>
              </a:spcAft>
              <a:defRPr sz="1400" b="0">
                <a:solidFill>
                  <a:srgbClr val="0F172A"/>
                </a:solidFill>
                <a:latin typeface="Segoe UI"/>
              </a:defRPr>
            </a:pPr>
            <a:r>
              <a:rPr sz="1400" b="0">
                <a:solidFill>
                  <a:srgbClr val="0F172A"/>
                </a:solidFill>
                <a:latin typeface="Segoe UI"/>
              </a:rPr>
              <a:t>• Date dimension: SQL que genera dim_date con 5 años de días, columnas year, quarter, month, day_of_week_iso, is_weekend, is_holiday_us, fiscal_year.</a:t>
            </a:r>
          </a:p>
          <a:p>
            <a:pPr>
              <a:spcAft>
                <a:spcPts val="800"/>
              </a:spcAft>
              <a:defRPr sz="1400" b="0">
                <a:solidFill>
                  <a:srgbClr val="0F172A"/>
                </a:solidFill>
                <a:latin typeface="Segoe UI"/>
              </a:defRPr>
            </a:pPr>
            <a:r>
              <a:rPr sz="1400" b="0">
                <a:solidFill>
                  <a:srgbClr val="0F172A"/>
                </a:solidFill>
                <a:latin typeface="Segoe UI"/>
              </a:rPr>
              <a:t>• Star schema: del e-commerce, diseñá fact_sales(date_key, product_key, customer_key, store_key, qty, revenue, discount), dim_product, dim_customer, dim_store, dim_date.</a:t>
            </a:r>
          </a:p>
          <a:p>
            <a:pPr>
              <a:spcAft>
                <a:spcPts val="800"/>
              </a:spcAft>
              <a:defRPr sz="1400" b="0">
                <a:solidFill>
                  <a:srgbClr val="0F172A"/>
                </a:solidFill>
                <a:latin typeface="Segoe UI"/>
              </a:defRPr>
            </a:pPr>
            <a:r>
              <a:rPr sz="1400" b="0">
                <a:solidFill>
                  <a:srgbClr val="0F172A"/>
                </a:solidFill>
                <a:latin typeface="Segoe UI"/>
              </a:rPr>
              <a:t>• SCD Tipo 2 en dim_customer: cliente cambia de ciudad.</a:t>
            </a:r>
          </a:p>
          <a:p>
            <a:pPr>
              <a:spcAft>
                <a:spcPts val="800"/>
              </a:spcAft>
              <a:defRPr sz="1400" b="0">
                <a:solidFill>
                  <a:srgbClr val="0F172A"/>
                </a:solidFill>
                <a:latin typeface="Segoe UI"/>
              </a:defRPr>
            </a:pPr>
            <a:r>
              <a:rPr sz="1400" b="0">
                <a:solidFill>
                  <a:srgbClr val="0F172A"/>
                </a:solidFill>
                <a:latin typeface="Segoe UI"/>
              </a:rPr>
              <a:t>• Query típica: "Revenue por brand × month × is_weekend" — escribíla con JOINs entre fact + dims + dim_date.</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SQL completo para crear: dim_date, dim_customer (SCD 2), dim_product, dim_store, fact_sales.</a:t>
            </a:r>
          </a:p>
          <a:p>
            <a:pPr>
              <a:spcAft>
                <a:spcPts val="800"/>
              </a:spcAft>
              <a:defRPr sz="1400" b="0">
                <a:solidFill>
                  <a:srgbClr val="0F172A"/>
                </a:solidFill>
                <a:latin typeface="Segoe UI"/>
              </a:defRPr>
            </a:pPr>
            <a:r>
              <a:rPr sz="1400" b="0">
                <a:solidFill>
                  <a:srgbClr val="0F172A"/>
                </a:solidFill>
                <a:latin typeface="Segoe UI"/>
              </a:rPr>
              <a:t>• Script de carga: lee tablas operacionales (Postgres/CSV) → transforma → carga al DW (DuckDB local).</a:t>
            </a:r>
          </a:p>
          <a:p>
            <a:pPr>
              <a:spcAft>
                <a:spcPts val="800"/>
              </a:spcAft>
              <a:defRPr sz="1400" b="0">
                <a:solidFill>
                  <a:srgbClr val="0F172A"/>
                </a:solidFill>
                <a:latin typeface="Segoe UI"/>
              </a:defRPr>
            </a:pPr>
            <a:r>
              <a:rPr sz="1400" b="0">
                <a:solidFill>
                  <a:srgbClr val="0F172A"/>
                </a:solidFill>
                <a:latin typeface="Segoe UI"/>
              </a:rPr>
              <a:t>• Demonstración de SCD 2: un cliente que cambia de ciudad; venta antes y después del cambio quedan correctamente asociadas a la ciudad de ese momento.</a:t>
            </a:r>
          </a:p>
          <a:p>
            <a:pPr>
              <a:spcAft>
                <a:spcPts val="800"/>
              </a:spcAft>
              <a:defRPr sz="1400" b="0">
                <a:solidFill>
                  <a:srgbClr val="0F172A"/>
                </a:solidFill>
                <a:latin typeface="Segoe UI"/>
              </a:defRPr>
            </a:pPr>
            <a:r>
              <a:rPr sz="1400" b="0">
                <a:solidFill>
                  <a:srgbClr val="0F172A"/>
                </a:solidFill>
                <a:latin typeface="Segoe UI"/>
              </a:rPr>
              <a:t>• 5 queries analíticas representativas: revenue por segment × quarter, top 10 products, cohort retention, etc.</a:t>
            </a:r>
          </a:p>
          <a:p>
            <a:pPr>
              <a:spcAft>
                <a:spcPts val="800"/>
              </a:spcAft>
              <a:defRPr sz="1400" b="0">
                <a:solidFill>
                  <a:srgbClr val="0F172A"/>
                </a:solidFill>
                <a:latin typeface="Segoe UI"/>
              </a:defRPr>
            </a:pPr>
            <a:r>
              <a:rPr sz="1400" b="0">
                <a:solidFill>
                  <a:srgbClr val="0F172A"/>
                </a:solidFill>
                <a:latin typeface="Segoe UI"/>
              </a:rPr>
              <a:t>• README explicando: grain elegido, decisiones de denormalización, qué dim usaría snowflake (si alguna).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Fin de la Parte 5</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5 — Ingeniería de Datos</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600" b="1">
                <a:solidFill>
                  <a:srgbClr val="0F172A"/>
                </a:solidFill>
                <a:latin typeface="Segoe UI Semibold"/>
              </a:defRPr>
            </a:pPr>
            <a:r>
              <a:rPr sz="2600" b="1">
                <a:solidFill>
                  <a:srgbClr val="0F172A"/>
                </a:solidFill>
                <a:latin typeface="Segoe UI Semibold"/>
              </a:rPr>
              <a:t>Fin de la Parte 5 — siguiente: Parte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