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1008.xml" ContentType="application/vnd.openxmlformats-officedocument.presentationml.slide+xml"/>
  <Override PartName="/ppt/slides/slide1009.xml" ContentType="application/vnd.openxmlformats-officedocument.presentationml.slide+xml"/>
  <Override PartName="/ppt/slides/slide101.xml" ContentType="application/vnd.openxmlformats-officedocument.presentationml.slide+xml"/>
  <Override PartName="/ppt/slides/slide1010.xml" ContentType="application/vnd.openxmlformats-officedocument.presentationml.slide+xml"/>
  <Override PartName="/ppt/slides/slide1011.xml" ContentType="application/vnd.openxmlformats-officedocument.presentationml.slide+xml"/>
  <Override PartName="/ppt/slides/slide1012.xml" ContentType="application/vnd.openxmlformats-officedocument.presentationml.slide+xml"/>
  <Override PartName="/ppt/slides/slide1013.xml" ContentType="application/vnd.openxmlformats-officedocument.presentationml.slide+xml"/>
  <Override PartName="/ppt/slides/slide1014.xml" ContentType="application/vnd.openxmlformats-officedocument.presentationml.slide+xml"/>
  <Override PartName="/ppt/slides/slide1015.xml" ContentType="application/vnd.openxmlformats-officedocument.presentationml.slide+xml"/>
  <Override PartName="/ppt/slides/slide1016.xml" ContentType="application/vnd.openxmlformats-officedocument.presentationml.slide+xml"/>
  <Override PartName="/ppt/slides/slide1017.xml" ContentType="application/vnd.openxmlformats-officedocument.presentationml.slide+xml"/>
  <Override PartName="/ppt/slides/slide1018.xml" ContentType="application/vnd.openxmlformats-officedocument.presentationml.slide+xml"/>
  <Override PartName="/ppt/slides/slide1019.xml" ContentType="application/vnd.openxmlformats-officedocument.presentationml.slide+xml"/>
  <Override PartName="/ppt/slides/slide102.xml" ContentType="application/vnd.openxmlformats-officedocument.presentationml.slide+xml"/>
  <Override PartName="/ppt/slides/slide1020.xml" ContentType="application/vnd.openxmlformats-officedocument.presentationml.slide+xml"/>
  <Override PartName="/ppt/slides/slide1021.xml" ContentType="application/vnd.openxmlformats-officedocument.presentationml.slide+xml"/>
  <Override PartName="/ppt/slides/slide1022.xml" ContentType="application/vnd.openxmlformats-officedocument.presentationml.slide+xml"/>
  <Override PartName="/ppt/slides/slide1023.xml" ContentType="application/vnd.openxmlformats-officedocument.presentationml.slide+xml"/>
  <Override PartName="/ppt/slides/slide1024.xml" ContentType="application/vnd.openxmlformats-officedocument.presentationml.slide+xml"/>
  <Override PartName="/ppt/slides/slide1025.xml" ContentType="application/vnd.openxmlformats-officedocument.presentationml.slide+xml"/>
  <Override PartName="/ppt/slides/slide1026.xml" ContentType="application/vnd.openxmlformats-officedocument.presentationml.slide+xml"/>
  <Override PartName="/ppt/slides/slide1027.xml" ContentType="application/vnd.openxmlformats-officedocument.presentationml.slide+xml"/>
  <Override PartName="/ppt/slides/slide1028.xml" ContentType="application/vnd.openxmlformats-officedocument.presentationml.slide+xml"/>
  <Override PartName="/ppt/slides/slide1029.xml" ContentType="application/vnd.openxmlformats-officedocument.presentationml.slide+xml"/>
  <Override PartName="/ppt/slides/slide103.xml" ContentType="application/vnd.openxmlformats-officedocument.presentationml.slide+xml"/>
  <Override PartName="/ppt/slides/slide1030.xml" ContentType="application/vnd.openxmlformats-officedocument.presentationml.slide+xml"/>
  <Override PartName="/ppt/slides/slide1031.xml" ContentType="application/vnd.openxmlformats-officedocument.presentationml.slide+xml"/>
  <Override PartName="/ppt/slides/slide1032.xml" ContentType="application/vnd.openxmlformats-officedocument.presentationml.slide+xml"/>
  <Override PartName="/ppt/slides/slide1033.xml" ContentType="application/vnd.openxmlformats-officedocument.presentationml.slide+xml"/>
  <Override PartName="/ppt/slides/slide1034.xml" ContentType="application/vnd.openxmlformats-officedocument.presentationml.slide+xml"/>
  <Override PartName="/ppt/slides/slide1035.xml" ContentType="application/vnd.openxmlformats-officedocument.presentationml.slide+xml"/>
  <Override PartName="/ppt/slides/slide1036.xml" ContentType="application/vnd.openxmlformats-officedocument.presentationml.slide+xml"/>
  <Override PartName="/ppt/slides/slide1037.xml" ContentType="application/vnd.openxmlformats-officedocument.presentationml.slide+xml"/>
  <Override PartName="/ppt/slides/slide1038.xml" ContentType="application/vnd.openxmlformats-officedocument.presentationml.slide+xml"/>
  <Override PartName="/ppt/slides/slide1039.xml" ContentType="application/vnd.openxmlformats-officedocument.presentationml.slide+xml"/>
  <Override PartName="/ppt/slides/slide104.xml" ContentType="application/vnd.openxmlformats-officedocument.presentationml.slide+xml"/>
  <Override PartName="/ppt/slides/slide1040.xml" ContentType="application/vnd.openxmlformats-officedocument.presentationml.slide+xml"/>
  <Override PartName="/ppt/slides/slide1041.xml" ContentType="application/vnd.openxmlformats-officedocument.presentationml.slide+xml"/>
  <Override PartName="/ppt/slides/slide1042.xml" ContentType="application/vnd.openxmlformats-officedocument.presentationml.slide+xml"/>
  <Override PartName="/ppt/slides/slide1043.xml" ContentType="application/vnd.openxmlformats-officedocument.presentationml.slide+xml"/>
  <Override PartName="/ppt/slides/slide1044.xml" ContentType="application/vnd.openxmlformats-officedocument.presentationml.slide+xml"/>
  <Override PartName="/ppt/slides/slide1045.xml" ContentType="application/vnd.openxmlformats-officedocument.presentationml.slide+xml"/>
  <Override PartName="/ppt/slides/slide1046.xml" ContentType="application/vnd.openxmlformats-officedocument.presentationml.slide+xml"/>
  <Override PartName="/ppt/slides/slide1047.xml" ContentType="application/vnd.openxmlformats-officedocument.presentationml.slide+xml"/>
  <Override PartName="/ppt/slides/slide1048.xml" ContentType="application/vnd.openxmlformats-officedocument.presentationml.slide+xml"/>
  <Override PartName="/ppt/slides/slide1049.xml" ContentType="application/vnd.openxmlformats-officedocument.presentationml.slide+xml"/>
  <Override PartName="/ppt/slides/slide105.xml" ContentType="application/vnd.openxmlformats-officedocument.presentationml.slide+xml"/>
  <Override PartName="/ppt/slides/slide1050.xml" ContentType="application/vnd.openxmlformats-officedocument.presentationml.slide+xml"/>
  <Override PartName="/ppt/slides/slide1051.xml" ContentType="application/vnd.openxmlformats-officedocument.presentationml.slide+xml"/>
  <Override PartName="/ppt/slides/slide1052.xml" ContentType="application/vnd.openxmlformats-officedocument.presentationml.slide+xml"/>
  <Override PartName="/ppt/slides/slide1053.xml" ContentType="application/vnd.openxmlformats-officedocument.presentationml.slide+xml"/>
  <Override PartName="/ppt/slides/slide1054.xml" ContentType="application/vnd.openxmlformats-officedocument.presentationml.slide+xml"/>
  <Override PartName="/ppt/slides/slide1055.xml" ContentType="application/vnd.openxmlformats-officedocument.presentationml.slide+xml"/>
  <Override PartName="/ppt/slides/slide1056.xml" ContentType="application/vnd.openxmlformats-officedocument.presentationml.slide+xml"/>
  <Override PartName="/ppt/slides/slide1057.xml" ContentType="application/vnd.openxmlformats-officedocument.presentationml.slide+xml"/>
  <Override PartName="/ppt/slides/slide1058.xml" ContentType="application/vnd.openxmlformats-officedocument.presentationml.slide+xml"/>
  <Override PartName="/ppt/slides/slide1059.xml" ContentType="application/vnd.openxmlformats-officedocument.presentationml.slide+xml"/>
  <Override PartName="/ppt/slides/slide106.xml" ContentType="application/vnd.openxmlformats-officedocument.presentationml.slide+xml"/>
  <Override PartName="/ppt/slides/slide1060.xml" ContentType="application/vnd.openxmlformats-officedocument.presentationml.slide+xml"/>
  <Override PartName="/ppt/slides/slide1061.xml" ContentType="application/vnd.openxmlformats-officedocument.presentationml.slide+xml"/>
  <Override PartName="/ppt/slides/slide1062.xml" ContentType="application/vnd.openxmlformats-officedocument.presentationml.slide+xml"/>
  <Override PartName="/ppt/slides/slide1063.xml" ContentType="application/vnd.openxmlformats-officedocument.presentationml.slide+xml"/>
  <Override PartName="/ppt/slides/slide1064.xml" ContentType="application/vnd.openxmlformats-officedocument.presentationml.slide+xml"/>
  <Override PartName="/ppt/slides/slide1065.xml" ContentType="application/vnd.openxmlformats-officedocument.presentationml.slide+xml"/>
  <Override PartName="/ppt/slides/slide1066.xml" ContentType="application/vnd.openxmlformats-officedocument.presentationml.slide+xml"/>
  <Override PartName="/ppt/slides/slide1067.xml" ContentType="application/vnd.openxmlformats-officedocument.presentationml.slide+xml"/>
  <Override PartName="/ppt/slides/slide1068.xml" ContentType="application/vnd.openxmlformats-officedocument.presentationml.slide+xml"/>
  <Override PartName="/ppt/slides/slide1069.xml" ContentType="application/vnd.openxmlformats-officedocument.presentationml.slide+xml"/>
  <Override PartName="/ppt/slides/slide107.xml" ContentType="application/vnd.openxmlformats-officedocument.presentationml.slide+xml"/>
  <Override PartName="/ppt/slides/slide1070.xml" ContentType="application/vnd.openxmlformats-officedocument.presentationml.slide+xml"/>
  <Override PartName="/ppt/slides/slide1071.xml" ContentType="application/vnd.openxmlformats-officedocument.presentationml.slide+xml"/>
  <Override PartName="/ppt/slides/slide1072.xml" ContentType="application/vnd.openxmlformats-officedocument.presentationml.slide+xml"/>
  <Override PartName="/ppt/slides/slide1073.xml" ContentType="application/vnd.openxmlformats-officedocument.presentationml.slide+xml"/>
  <Override PartName="/ppt/slides/slide1074.xml" ContentType="application/vnd.openxmlformats-officedocument.presentationml.slide+xml"/>
  <Override PartName="/ppt/slides/slide1075.xml" ContentType="application/vnd.openxmlformats-officedocument.presentationml.slide+xml"/>
  <Override PartName="/ppt/slides/slide1076.xml" ContentType="application/vnd.openxmlformats-officedocument.presentationml.slide+xml"/>
  <Override PartName="/ppt/slides/slide1077.xml" ContentType="application/vnd.openxmlformats-officedocument.presentationml.slide+xml"/>
  <Override PartName="/ppt/slides/slide1078.xml" ContentType="application/vnd.openxmlformats-officedocument.presentationml.slide+xml"/>
  <Override PartName="/ppt/slides/slide1079.xml" ContentType="application/vnd.openxmlformats-officedocument.presentationml.slide+xml"/>
  <Override PartName="/ppt/slides/slide108.xml" ContentType="application/vnd.openxmlformats-officedocument.presentationml.slide+xml"/>
  <Override PartName="/ppt/slides/slide1080.xml" ContentType="application/vnd.openxmlformats-officedocument.presentationml.slide+xml"/>
  <Override PartName="/ppt/slides/slide1081.xml" ContentType="application/vnd.openxmlformats-officedocument.presentationml.slide+xml"/>
  <Override PartName="/ppt/slides/slide1082.xml" ContentType="application/vnd.openxmlformats-officedocument.presentationml.slide+xml"/>
  <Override PartName="/ppt/slides/slide1083.xml" ContentType="application/vnd.openxmlformats-officedocument.presentationml.slide+xml"/>
  <Override PartName="/ppt/slides/slide1084.xml" ContentType="application/vnd.openxmlformats-officedocument.presentationml.slide+xml"/>
  <Override PartName="/ppt/slides/slide1085.xml" ContentType="application/vnd.openxmlformats-officedocument.presentationml.slide+xml"/>
  <Override PartName="/ppt/slides/slide1086.xml" ContentType="application/vnd.openxmlformats-officedocument.presentationml.slide+xml"/>
  <Override PartName="/ppt/slides/slide1087.xml" ContentType="application/vnd.openxmlformats-officedocument.presentationml.slide+xml"/>
  <Override PartName="/ppt/slides/slide1088.xml" ContentType="application/vnd.openxmlformats-officedocument.presentationml.slide+xml"/>
  <Override PartName="/ppt/slides/slide1089.xml" ContentType="application/vnd.openxmlformats-officedocument.presentationml.slide+xml"/>
  <Override PartName="/ppt/slides/slide109.xml" ContentType="application/vnd.openxmlformats-officedocument.presentationml.slide+xml"/>
  <Override PartName="/ppt/slides/slide1090.xml" ContentType="application/vnd.openxmlformats-officedocument.presentationml.slide+xml"/>
  <Override PartName="/ppt/slides/slide1091.xml" ContentType="application/vnd.openxmlformats-officedocument.presentationml.slide+xml"/>
  <Override PartName="/ppt/slides/slide1092.xml" ContentType="application/vnd.openxmlformats-officedocument.presentationml.slide+xml"/>
  <Override PartName="/ppt/slides/slide1093.xml" ContentType="application/vnd.openxmlformats-officedocument.presentationml.slide+xml"/>
  <Override PartName="/ppt/slides/slide1094.xml" ContentType="application/vnd.openxmlformats-officedocument.presentationml.slide+xml"/>
  <Override PartName="/ppt/slides/slide1095.xml" ContentType="application/vnd.openxmlformats-officedocument.presentationml.slide+xml"/>
  <Override PartName="/ppt/slides/slide1096.xml" ContentType="application/vnd.openxmlformats-officedocument.presentationml.slide+xml"/>
  <Override PartName="/ppt/slides/slide1097.xml" ContentType="application/vnd.openxmlformats-officedocument.presentationml.slide+xml"/>
  <Override PartName="/ppt/slides/slide1098.xml" ContentType="application/vnd.openxmlformats-officedocument.presentationml.slide+xml"/>
  <Override PartName="/ppt/slides/slide109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00.xml" ContentType="application/vnd.openxmlformats-officedocument.presentationml.slide+xml"/>
  <Override PartName="/ppt/slides/slide1101.xml" ContentType="application/vnd.openxmlformats-officedocument.presentationml.slide+xml"/>
  <Override PartName="/ppt/slides/slide1102.xml" ContentType="application/vnd.openxmlformats-officedocument.presentationml.slide+xml"/>
  <Override PartName="/ppt/slides/slide1103.xml" ContentType="application/vnd.openxmlformats-officedocument.presentationml.slide+xml"/>
  <Override PartName="/ppt/slides/slide1104.xml" ContentType="application/vnd.openxmlformats-officedocument.presentationml.slide+xml"/>
  <Override PartName="/ppt/slides/slide1105.xml" ContentType="application/vnd.openxmlformats-officedocument.presentationml.slide+xml"/>
  <Override PartName="/ppt/slides/slide1106.xml" ContentType="application/vnd.openxmlformats-officedocument.presentationml.slide+xml"/>
  <Override PartName="/ppt/slides/slide1107.xml" ContentType="application/vnd.openxmlformats-officedocument.presentationml.slide+xml"/>
  <Override PartName="/ppt/slides/slide1108.xml" ContentType="application/vnd.openxmlformats-officedocument.presentationml.slide+xml"/>
  <Override PartName="/ppt/slides/slide1109.xml" ContentType="application/vnd.openxmlformats-officedocument.presentationml.slide+xml"/>
  <Override PartName="/ppt/slides/slide111.xml" ContentType="application/vnd.openxmlformats-officedocument.presentationml.slide+xml"/>
  <Override PartName="/ppt/slides/slide1110.xml" ContentType="application/vnd.openxmlformats-officedocument.presentationml.slide+xml"/>
  <Override PartName="/ppt/slides/slide1111.xml" ContentType="application/vnd.openxmlformats-officedocument.presentationml.slide+xml"/>
  <Override PartName="/ppt/slides/slide1112.xml" ContentType="application/vnd.openxmlformats-officedocument.presentationml.slide+xml"/>
  <Override PartName="/ppt/slides/slide1113.xml" ContentType="application/vnd.openxmlformats-officedocument.presentationml.slide+xml"/>
  <Override PartName="/ppt/slides/slide1114.xml" ContentType="application/vnd.openxmlformats-officedocument.presentationml.slide+xml"/>
  <Override PartName="/ppt/slides/slide1115.xml" ContentType="application/vnd.openxmlformats-officedocument.presentationml.slide+xml"/>
  <Override PartName="/ppt/slides/slide1116.xml" ContentType="application/vnd.openxmlformats-officedocument.presentationml.slide+xml"/>
  <Override PartName="/ppt/slides/slide1117.xml" ContentType="application/vnd.openxmlformats-officedocument.presentationml.slide+xml"/>
  <Override PartName="/ppt/slides/slide1118.xml" ContentType="application/vnd.openxmlformats-officedocument.presentationml.slide+xml"/>
  <Override PartName="/ppt/slides/slide1119.xml" ContentType="application/vnd.openxmlformats-officedocument.presentationml.slide+xml"/>
  <Override PartName="/ppt/slides/slide112.xml" ContentType="application/vnd.openxmlformats-officedocument.presentationml.slide+xml"/>
  <Override PartName="/ppt/slides/slide1120.xml" ContentType="application/vnd.openxmlformats-officedocument.presentationml.slide+xml"/>
  <Override PartName="/ppt/slides/slide1121.xml" ContentType="application/vnd.openxmlformats-officedocument.presentationml.slide+xml"/>
  <Override PartName="/ppt/slides/slide1122.xml" ContentType="application/vnd.openxmlformats-officedocument.presentationml.slide+xml"/>
  <Override PartName="/ppt/slides/slide1123.xml" ContentType="application/vnd.openxmlformats-officedocument.presentationml.slide+xml"/>
  <Override PartName="/ppt/slides/slide1124.xml" ContentType="application/vnd.openxmlformats-officedocument.presentationml.slide+xml"/>
  <Override PartName="/ppt/slides/slide1125.xml" ContentType="application/vnd.openxmlformats-officedocument.presentationml.slide+xml"/>
  <Override PartName="/ppt/slides/slide1126.xml" ContentType="application/vnd.openxmlformats-officedocument.presentationml.slide+xml"/>
  <Override PartName="/ppt/slides/slide1127.xml" ContentType="application/vnd.openxmlformats-officedocument.presentationml.slide+xml"/>
  <Override PartName="/ppt/slides/slide1128.xml" ContentType="application/vnd.openxmlformats-officedocument.presentationml.slide+xml"/>
  <Override PartName="/ppt/slides/slide1129.xml" ContentType="application/vnd.openxmlformats-officedocument.presentationml.slide+xml"/>
  <Override PartName="/ppt/slides/slide113.xml" ContentType="application/vnd.openxmlformats-officedocument.presentationml.slide+xml"/>
  <Override PartName="/ppt/slides/slide1130.xml" ContentType="application/vnd.openxmlformats-officedocument.presentationml.slide+xml"/>
  <Override PartName="/ppt/slides/slide1131.xml" ContentType="application/vnd.openxmlformats-officedocument.presentationml.slide+xml"/>
  <Override PartName="/ppt/slides/slide1132.xml" ContentType="application/vnd.openxmlformats-officedocument.presentationml.slide+xml"/>
  <Override PartName="/ppt/slides/slide1133.xml" ContentType="application/vnd.openxmlformats-officedocument.presentationml.slide+xml"/>
  <Override PartName="/ppt/slides/slide1134.xml" ContentType="application/vnd.openxmlformats-officedocument.presentationml.slide+xml"/>
  <Override PartName="/ppt/slides/slide1135.xml" ContentType="application/vnd.openxmlformats-officedocument.presentationml.slide+xml"/>
  <Override PartName="/ppt/slides/slide1136.xml" ContentType="application/vnd.openxmlformats-officedocument.presentationml.slide+xml"/>
  <Override PartName="/ppt/slides/slide1137.xml" ContentType="application/vnd.openxmlformats-officedocument.presentationml.slide+xml"/>
  <Override PartName="/ppt/slides/slide1138.xml" ContentType="application/vnd.openxmlformats-officedocument.presentationml.slide+xml"/>
  <Override PartName="/ppt/slides/slide1139.xml" ContentType="application/vnd.openxmlformats-officedocument.presentationml.slide+xml"/>
  <Override PartName="/ppt/slides/slide114.xml" ContentType="application/vnd.openxmlformats-officedocument.presentationml.slide+xml"/>
  <Override PartName="/ppt/slides/slide1140.xml" ContentType="application/vnd.openxmlformats-officedocument.presentationml.slide+xml"/>
  <Override PartName="/ppt/slides/slide1141.xml" ContentType="application/vnd.openxmlformats-officedocument.presentationml.slide+xml"/>
  <Override PartName="/ppt/slides/slide1142.xml" ContentType="application/vnd.openxmlformats-officedocument.presentationml.slide+xml"/>
  <Override PartName="/ppt/slides/slide1143.xml" ContentType="application/vnd.openxmlformats-officedocument.presentationml.slide+xml"/>
  <Override PartName="/ppt/slides/slide1144.xml" ContentType="application/vnd.openxmlformats-officedocument.presentationml.slide+xml"/>
  <Override PartName="/ppt/slides/slide1145.xml" ContentType="application/vnd.openxmlformats-officedocument.presentationml.slide+xml"/>
  <Override PartName="/ppt/slides/slide1146.xml" ContentType="application/vnd.openxmlformats-officedocument.presentationml.slide+xml"/>
  <Override PartName="/ppt/slides/slide1147.xml" ContentType="application/vnd.openxmlformats-officedocument.presentationml.slide+xml"/>
  <Override PartName="/ppt/slides/slide1148.xml" ContentType="application/vnd.openxmlformats-officedocument.presentationml.slide+xml"/>
  <Override PartName="/ppt/slides/slide1149.xml" ContentType="application/vnd.openxmlformats-officedocument.presentationml.slide+xml"/>
  <Override PartName="/ppt/slides/slide115.xml" ContentType="application/vnd.openxmlformats-officedocument.presentationml.slide+xml"/>
  <Override PartName="/ppt/slides/slide1150.xml" ContentType="application/vnd.openxmlformats-officedocument.presentationml.slide+xml"/>
  <Override PartName="/ppt/slides/slide1151.xml" ContentType="application/vnd.openxmlformats-officedocument.presentationml.slide+xml"/>
  <Override PartName="/ppt/slides/slide1152.xml" ContentType="application/vnd.openxmlformats-officedocument.presentationml.slide+xml"/>
  <Override PartName="/ppt/slides/slide1153.xml" ContentType="application/vnd.openxmlformats-officedocument.presentationml.slide+xml"/>
  <Override PartName="/ppt/slides/slide1154.xml" ContentType="application/vnd.openxmlformats-officedocument.presentationml.slide+xml"/>
  <Override PartName="/ppt/slides/slide1155.xml" ContentType="application/vnd.openxmlformats-officedocument.presentationml.slide+xml"/>
  <Override PartName="/ppt/slides/slide1156.xml" ContentType="application/vnd.openxmlformats-officedocument.presentationml.slide+xml"/>
  <Override PartName="/ppt/slides/slide1157.xml" ContentType="application/vnd.openxmlformats-officedocument.presentationml.slide+xml"/>
  <Override PartName="/ppt/slides/slide1158.xml" ContentType="application/vnd.openxmlformats-officedocument.presentationml.slide+xml"/>
  <Override PartName="/ppt/slides/slide1159.xml" ContentType="application/vnd.openxmlformats-officedocument.presentationml.slide+xml"/>
  <Override PartName="/ppt/slides/slide116.xml" ContentType="application/vnd.openxmlformats-officedocument.presentationml.slide+xml"/>
  <Override PartName="/ppt/slides/slide1160.xml" ContentType="application/vnd.openxmlformats-officedocument.presentationml.slide+xml"/>
  <Override PartName="/ppt/slides/slide1161.xml" ContentType="application/vnd.openxmlformats-officedocument.presentationml.slide+xml"/>
  <Override PartName="/ppt/slides/slide1162.xml" ContentType="application/vnd.openxmlformats-officedocument.presentationml.slide+xml"/>
  <Override PartName="/ppt/slides/slide1163.xml" ContentType="application/vnd.openxmlformats-officedocument.presentationml.slide+xml"/>
  <Override PartName="/ppt/slides/slide1164.xml" ContentType="application/vnd.openxmlformats-officedocument.presentationml.slide+xml"/>
  <Override PartName="/ppt/slides/slide1165.xml" ContentType="application/vnd.openxmlformats-officedocument.presentationml.slide+xml"/>
  <Override PartName="/ppt/slides/slide1166.xml" ContentType="application/vnd.openxmlformats-officedocument.presentationml.slide+xml"/>
  <Override PartName="/ppt/slides/slide1167.xml" ContentType="application/vnd.openxmlformats-officedocument.presentationml.slide+xml"/>
  <Override PartName="/ppt/slides/slide1168.xml" ContentType="application/vnd.openxmlformats-officedocument.presentationml.slide+xml"/>
  <Override PartName="/ppt/slides/slide1169.xml" ContentType="application/vnd.openxmlformats-officedocument.presentationml.slide+xml"/>
  <Override PartName="/ppt/slides/slide117.xml" ContentType="application/vnd.openxmlformats-officedocument.presentationml.slide+xml"/>
  <Override PartName="/ppt/slides/slide1170.xml" ContentType="application/vnd.openxmlformats-officedocument.presentationml.slide+xml"/>
  <Override PartName="/ppt/slides/slide1171.xml" ContentType="application/vnd.openxmlformats-officedocument.presentationml.slide+xml"/>
  <Override PartName="/ppt/slides/slide1172.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slides/slide884.xml" ContentType="application/vnd.openxmlformats-officedocument.presentationml.slide+xml"/>
  <Override PartName="/ppt/slides/slide885.xml" ContentType="application/vnd.openxmlformats-officedocument.presentationml.slide+xml"/>
  <Override PartName="/ppt/slides/slide886.xml" ContentType="application/vnd.openxmlformats-officedocument.presentationml.slide+xml"/>
  <Override PartName="/ppt/slides/slide887.xml" ContentType="application/vnd.openxmlformats-officedocument.presentationml.slide+xml"/>
  <Override PartName="/ppt/slides/slide888.xml" ContentType="application/vnd.openxmlformats-officedocument.presentationml.slide+xml"/>
  <Override PartName="/ppt/slides/slide889.xml" ContentType="application/vnd.openxmlformats-officedocument.presentationml.slide+xml"/>
  <Override PartName="/ppt/slides/slide89.xml" ContentType="application/vnd.openxmlformats-officedocument.presentationml.slide+xml"/>
  <Override PartName="/ppt/slides/slide890.xml" ContentType="application/vnd.openxmlformats-officedocument.presentationml.slide+xml"/>
  <Override PartName="/ppt/slides/slide891.xml" ContentType="application/vnd.openxmlformats-officedocument.presentationml.slide+xml"/>
  <Override PartName="/ppt/slides/slide892.xml" ContentType="application/vnd.openxmlformats-officedocument.presentationml.slide+xml"/>
  <Override PartName="/ppt/slides/slide893.xml" ContentType="application/vnd.openxmlformats-officedocument.presentationml.slide+xml"/>
  <Override PartName="/ppt/slides/slide894.xml" ContentType="application/vnd.openxmlformats-officedocument.presentationml.slide+xml"/>
  <Override PartName="/ppt/slides/slide895.xml" ContentType="application/vnd.openxmlformats-officedocument.presentationml.slide+xml"/>
  <Override PartName="/ppt/slides/slide896.xml" ContentType="application/vnd.openxmlformats-officedocument.presentationml.slide+xml"/>
  <Override PartName="/ppt/slides/slide897.xml" ContentType="application/vnd.openxmlformats-officedocument.presentationml.slide+xml"/>
  <Override PartName="/ppt/slides/slide898.xml" ContentType="application/vnd.openxmlformats-officedocument.presentationml.slide+xml"/>
  <Override PartName="/ppt/slides/slide89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slides/slide904.xml" ContentType="application/vnd.openxmlformats-officedocument.presentationml.slide+xml"/>
  <Override PartName="/ppt/slides/slide905.xml" ContentType="application/vnd.openxmlformats-officedocument.presentationml.slide+xml"/>
  <Override PartName="/ppt/slides/slide906.xml" ContentType="application/vnd.openxmlformats-officedocument.presentationml.slide+xml"/>
  <Override PartName="/ppt/slides/slide907.xml" ContentType="application/vnd.openxmlformats-officedocument.presentationml.slide+xml"/>
  <Override PartName="/ppt/slides/slide908.xml" ContentType="application/vnd.openxmlformats-officedocument.presentationml.slide+xml"/>
  <Override PartName="/ppt/slides/slide909.xml" ContentType="application/vnd.openxmlformats-officedocument.presentationml.slide+xml"/>
  <Override PartName="/ppt/slides/slide91.xml" ContentType="application/vnd.openxmlformats-officedocument.presentationml.slide+xml"/>
  <Override PartName="/ppt/slides/slide910.xml" ContentType="application/vnd.openxmlformats-officedocument.presentationml.slide+xml"/>
  <Override PartName="/ppt/slides/slide911.xml" ContentType="application/vnd.openxmlformats-officedocument.presentationml.slide+xml"/>
  <Override PartName="/ppt/slides/slide912.xml" ContentType="application/vnd.openxmlformats-officedocument.presentationml.slide+xml"/>
  <Override PartName="/ppt/slides/slide913.xml" ContentType="application/vnd.openxmlformats-officedocument.presentationml.slide+xml"/>
  <Override PartName="/ppt/slides/slide914.xml" ContentType="application/vnd.openxmlformats-officedocument.presentationml.slide+xml"/>
  <Override PartName="/ppt/slides/slide915.xml" ContentType="application/vnd.openxmlformats-officedocument.presentationml.slide+xml"/>
  <Override PartName="/ppt/slides/slide916.xml" ContentType="application/vnd.openxmlformats-officedocument.presentationml.slide+xml"/>
  <Override PartName="/ppt/slides/slide917.xml" ContentType="application/vnd.openxmlformats-officedocument.presentationml.slide+xml"/>
  <Override PartName="/ppt/slides/slide918.xml" ContentType="application/vnd.openxmlformats-officedocument.presentationml.slide+xml"/>
  <Override PartName="/ppt/slides/slide919.xml" ContentType="application/vnd.openxmlformats-officedocument.presentationml.slide+xml"/>
  <Override PartName="/ppt/slides/slide92.xml" ContentType="application/vnd.openxmlformats-officedocument.presentationml.slide+xml"/>
  <Override PartName="/ppt/slides/slide920.xml" ContentType="application/vnd.openxmlformats-officedocument.presentationml.slide+xml"/>
  <Override PartName="/ppt/slides/slide921.xml" ContentType="application/vnd.openxmlformats-officedocument.presentationml.slide+xml"/>
  <Override PartName="/ppt/slides/slide922.xml" ContentType="application/vnd.openxmlformats-officedocument.presentationml.slide+xml"/>
  <Override PartName="/ppt/slides/slide923.xml" ContentType="application/vnd.openxmlformats-officedocument.presentationml.slide+xml"/>
  <Override PartName="/ppt/slides/slide924.xml" ContentType="application/vnd.openxmlformats-officedocument.presentationml.slide+xml"/>
  <Override PartName="/ppt/slides/slide925.xml" ContentType="application/vnd.openxmlformats-officedocument.presentationml.slide+xml"/>
  <Override PartName="/ppt/slides/slide926.xml" ContentType="application/vnd.openxmlformats-officedocument.presentationml.slide+xml"/>
  <Override PartName="/ppt/slides/slide927.xml" ContentType="application/vnd.openxmlformats-officedocument.presentationml.slide+xml"/>
  <Override PartName="/ppt/slides/slide928.xml" ContentType="application/vnd.openxmlformats-officedocument.presentationml.slide+xml"/>
  <Override PartName="/ppt/slides/slide929.xml" ContentType="application/vnd.openxmlformats-officedocument.presentationml.slide+xml"/>
  <Override PartName="/ppt/slides/slide93.xml" ContentType="application/vnd.openxmlformats-officedocument.presentationml.slide+xml"/>
  <Override PartName="/ppt/slides/slide930.xml" ContentType="application/vnd.openxmlformats-officedocument.presentationml.slide+xml"/>
  <Override PartName="/ppt/slides/slide931.xml" ContentType="application/vnd.openxmlformats-officedocument.presentationml.slide+xml"/>
  <Override PartName="/ppt/slides/slide932.xml" ContentType="application/vnd.openxmlformats-officedocument.presentationml.slide+xml"/>
  <Override PartName="/ppt/slides/slide933.xml" ContentType="application/vnd.openxmlformats-officedocument.presentationml.slide+xml"/>
  <Override PartName="/ppt/slides/slide934.xml" ContentType="application/vnd.openxmlformats-officedocument.presentationml.slide+xml"/>
  <Override PartName="/ppt/slides/slide935.xml" ContentType="application/vnd.openxmlformats-officedocument.presentationml.slide+xml"/>
  <Override PartName="/ppt/slides/slide936.xml" ContentType="application/vnd.openxmlformats-officedocument.presentationml.slide+xml"/>
  <Override PartName="/ppt/slides/slide937.xml" ContentType="application/vnd.openxmlformats-officedocument.presentationml.slide+xml"/>
  <Override PartName="/ppt/slides/slide938.xml" ContentType="application/vnd.openxmlformats-officedocument.presentationml.slide+xml"/>
  <Override PartName="/ppt/slides/slide939.xml" ContentType="application/vnd.openxmlformats-officedocument.presentationml.slide+xml"/>
  <Override PartName="/ppt/slides/slide94.xml" ContentType="application/vnd.openxmlformats-officedocument.presentationml.slide+xml"/>
  <Override PartName="/ppt/slides/slide940.xml" ContentType="application/vnd.openxmlformats-officedocument.presentationml.slide+xml"/>
  <Override PartName="/ppt/slides/slide941.xml" ContentType="application/vnd.openxmlformats-officedocument.presentationml.slide+xml"/>
  <Override PartName="/ppt/slides/slide942.xml" ContentType="application/vnd.openxmlformats-officedocument.presentationml.slide+xml"/>
  <Override PartName="/ppt/slides/slide943.xml" ContentType="application/vnd.openxmlformats-officedocument.presentationml.slide+xml"/>
  <Override PartName="/ppt/slides/slide944.xml" ContentType="application/vnd.openxmlformats-officedocument.presentationml.slide+xml"/>
  <Override PartName="/ppt/slides/slide945.xml" ContentType="application/vnd.openxmlformats-officedocument.presentationml.slide+xml"/>
  <Override PartName="/ppt/slides/slide946.xml" ContentType="application/vnd.openxmlformats-officedocument.presentationml.slide+xml"/>
  <Override PartName="/ppt/slides/slide947.xml" ContentType="application/vnd.openxmlformats-officedocument.presentationml.slide+xml"/>
  <Override PartName="/ppt/slides/slide948.xml" ContentType="application/vnd.openxmlformats-officedocument.presentationml.slide+xml"/>
  <Override PartName="/ppt/slides/slide949.xml" ContentType="application/vnd.openxmlformats-officedocument.presentationml.slide+xml"/>
  <Override PartName="/ppt/slides/slide95.xml" ContentType="application/vnd.openxmlformats-officedocument.presentationml.slide+xml"/>
  <Override PartName="/ppt/slides/slide950.xml" ContentType="application/vnd.openxmlformats-officedocument.presentationml.slide+xml"/>
  <Override PartName="/ppt/slides/slide951.xml" ContentType="application/vnd.openxmlformats-officedocument.presentationml.slide+xml"/>
  <Override PartName="/ppt/slides/slide952.xml" ContentType="application/vnd.openxmlformats-officedocument.presentationml.slide+xml"/>
  <Override PartName="/ppt/slides/slide953.xml" ContentType="application/vnd.openxmlformats-officedocument.presentationml.slide+xml"/>
  <Override PartName="/ppt/slides/slide954.xml" ContentType="application/vnd.openxmlformats-officedocument.presentationml.slide+xml"/>
  <Override PartName="/ppt/slides/slide955.xml" ContentType="application/vnd.openxmlformats-officedocument.presentationml.slide+xml"/>
  <Override PartName="/ppt/slides/slide956.xml" ContentType="application/vnd.openxmlformats-officedocument.presentationml.slide+xml"/>
  <Override PartName="/ppt/slides/slide957.xml" ContentType="application/vnd.openxmlformats-officedocument.presentationml.slide+xml"/>
  <Override PartName="/ppt/slides/slide958.xml" ContentType="application/vnd.openxmlformats-officedocument.presentationml.slide+xml"/>
  <Override PartName="/ppt/slides/slide959.xml" ContentType="application/vnd.openxmlformats-officedocument.presentationml.slide+xml"/>
  <Override PartName="/ppt/slides/slide96.xml" ContentType="application/vnd.openxmlformats-officedocument.presentationml.slide+xml"/>
  <Override PartName="/ppt/slides/slide960.xml" ContentType="application/vnd.openxmlformats-officedocument.presentationml.slide+xml"/>
  <Override PartName="/ppt/slides/slide961.xml" ContentType="application/vnd.openxmlformats-officedocument.presentationml.slide+xml"/>
  <Override PartName="/ppt/slides/slide962.xml" ContentType="application/vnd.openxmlformats-officedocument.presentationml.slide+xml"/>
  <Override PartName="/ppt/slides/slide963.xml" ContentType="application/vnd.openxmlformats-officedocument.presentationml.slide+xml"/>
  <Override PartName="/ppt/slides/slide964.xml" ContentType="application/vnd.openxmlformats-officedocument.presentationml.slide+xml"/>
  <Override PartName="/ppt/slides/slide965.xml" ContentType="application/vnd.openxmlformats-officedocument.presentationml.slide+xml"/>
  <Override PartName="/ppt/slides/slide966.xml" ContentType="application/vnd.openxmlformats-officedocument.presentationml.slide+xml"/>
  <Override PartName="/ppt/slides/slide967.xml" ContentType="application/vnd.openxmlformats-officedocument.presentationml.slide+xml"/>
  <Override PartName="/ppt/slides/slide968.xml" ContentType="application/vnd.openxmlformats-officedocument.presentationml.slide+xml"/>
  <Override PartName="/ppt/slides/slide969.xml" ContentType="application/vnd.openxmlformats-officedocument.presentationml.slide+xml"/>
  <Override PartName="/ppt/slides/slide97.xml" ContentType="application/vnd.openxmlformats-officedocument.presentationml.slide+xml"/>
  <Override PartName="/ppt/slides/slide970.xml" ContentType="application/vnd.openxmlformats-officedocument.presentationml.slide+xml"/>
  <Override PartName="/ppt/slides/slide971.xml" ContentType="application/vnd.openxmlformats-officedocument.presentationml.slide+xml"/>
  <Override PartName="/ppt/slides/slide972.xml" ContentType="application/vnd.openxmlformats-officedocument.presentationml.slide+xml"/>
  <Override PartName="/ppt/slides/slide973.xml" ContentType="application/vnd.openxmlformats-officedocument.presentationml.slide+xml"/>
  <Override PartName="/ppt/slides/slide974.xml" ContentType="application/vnd.openxmlformats-officedocument.presentationml.slide+xml"/>
  <Override PartName="/ppt/slides/slide975.xml" ContentType="application/vnd.openxmlformats-officedocument.presentationml.slide+xml"/>
  <Override PartName="/ppt/slides/slide976.xml" ContentType="application/vnd.openxmlformats-officedocument.presentationml.slide+xml"/>
  <Override PartName="/ppt/slides/slide977.xml" ContentType="application/vnd.openxmlformats-officedocument.presentationml.slide+xml"/>
  <Override PartName="/ppt/slides/slide978.xml" ContentType="application/vnd.openxmlformats-officedocument.presentationml.slide+xml"/>
  <Override PartName="/ppt/slides/slide979.xml" ContentType="application/vnd.openxmlformats-officedocument.presentationml.slide+xml"/>
  <Override PartName="/ppt/slides/slide98.xml" ContentType="application/vnd.openxmlformats-officedocument.presentationml.slide+xml"/>
  <Override PartName="/ppt/slides/slide980.xml" ContentType="application/vnd.openxmlformats-officedocument.presentationml.slide+xml"/>
  <Override PartName="/ppt/slides/slide981.xml" ContentType="application/vnd.openxmlformats-officedocument.presentationml.slide+xml"/>
  <Override PartName="/ppt/slides/slide982.xml" ContentType="application/vnd.openxmlformats-officedocument.presentationml.slide+xml"/>
  <Override PartName="/ppt/slides/slide983.xml" ContentType="application/vnd.openxmlformats-officedocument.presentationml.slide+xml"/>
  <Override PartName="/ppt/slides/slide984.xml" ContentType="application/vnd.openxmlformats-officedocument.presentationml.slide+xml"/>
  <Override PartName="/ppt/slides/slide985.xml" ContentType="application/vnd.openxmlformats-officedocument.presentationml.slide+xml"/>
  <Override PartName="/ppt/slides/slide986.xml" ContentType="application/vnd.openxmlformats-officedocument.presentationml.slide+xml"/>
  <Override PartName="/ppt/slides/slide987.xml" ContentType="application/vnd.openxmlformats-officedocument.presentationml.slide+xml"/>
  <Override PartName="/ppt/slides/slide988.xml" ContentType="application/vnd.openxmlformats-officedocument.presentationml.slide+xml"/>
  <Override PartName="/ppt/slides/slide989.xml" ContentType="application/vnd.openxmlformats-officedocument.presentationml.slide+xml"/>
  <Override PartName="/ppt/slides/slide99.xml" ContentType="application/vnd.openxmlformats-officedocument.presentationml.slide+xml"/>
  <Override PartName="/ppt/slides/slide990.xml" ContentType="application/vnd.openxmlformats-officedocument.presentationml.slide+xml"/>
  <Override PartName="/ppt/slides/slide991.xml" ContentType="application/vnd.openxmlformats-officedocument.presentationml.slide+xml"/>
  <Override PartName="/ppt/slides/slide992.xml" ContentType="application/vnd.openxmlformats-officedocument.presentationml.slide+xml"/>
  <Override PartName="/ppt/slides/slide993.xml" ContentType="application/vnd.openxmlformats-officedocument.presentationml.slide+xml"/>
  <Override PartName="/ppt/slides/slide994.xml" ContentType="application/vnd.openxmlformats-officedocument.presentationml.slide+xml"/>
  <Override PartName="/ppt/slides/slide995.xml" ContentType="application/vnd.openxmlformats-officedocument.presentationml.slide+xml"/>
  <Override PartName="/ppt/slides/slide996.xml" ContentType="application/vnd.openxmlformats-officedocument.presentationml.slide+xml"/>
  <Override PartName="/ppt/slides/slide997.xml" ContentType="application/vnd.openxmlformats-officedocument.presentationml.slide+xml"/>
  <Override PartName="/ppt/slides/slide998.xml" ContentType="application/vnd.openxmlformats-officedocument.presentationml.slide+xml"/>
  <Override PartName="/ppt/slides/slide9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 id="1030" r:id="rId781"/>
    <p:sldId id="1031" r:id="rId782"/>
    <p:sldId id="1032" r:id="rId783"/>
    <p:sldId id="1033" r:id="rId784"/>
    <p:sldId id="1034" r:id="rId785"/>
    <p:sldId id="1035" r:id="rId786"/>
    <p:sldId id="1036" r:id="rId787"/>
    <p:sldId id="1037" r:id="rId788"/>
    <p:sldId id="1038" r:id="rId789"/>
    <p:sldId id="1039" r:id="rId790"/>
    <p:sldId id="1040" r:id="rId791"/>
    <p:sldId id="1041" r:id="rId792"/>
    <p:sldId id="1042" r:id="rId793"/>
    <p:sldId id="1043" r:id="rId794"/>
    <p:sldId id="1044" r:id="rId795"/>
    <p:sldId id="1045" r:id="rId796"/>
    <p:sldId id="1046" r:id="rId797"/>
    <p:sldId id="1047" r:id="rId798"/>
    <p:sldId id="1048" r:id="rId799"/>
    <p:sldId id="1049" r:id="rId800"/>
    <p:sldId id="1050" r:id="rId801"/>
    <p:sldId id="1051" r:id="rId802"/>
    <p:sldId id="1052" r:id="rId803"/>
    <p:sldId id="1053" r:id="rId804"/>
    <p:sldId id="1054" r:id="rId805"/>
    <p:sldId id="1055" r:id="rId806"/>
    <p:sldId id="1056" r:id="rId807"/>
    <p:sldId id="1057" r:id="rId808"/>
    <p:sldId id="1058" r:id="rId809"/>
    <p:sldId id="1059" r:id="rId810"/>
    <p:sldId id="1060" r:id="rId811"/>
    <p:sldId id="1061" r:id="rId812"/>
    <p:sldId id="1062" r:id="rId813"/>
    <p:sldId id="1063" r:id="rId814"/>
    <p:sldId id="1064" r:id="rId815"/>
    <p:sldId id="1065" r:id="rId816"/>
    <p:sldId id="1066" r:id="rId817"/>
    <p:sldId id="1067" r:id="rId818"/>
    <p:sldId id="1068" r:id="rId819"/>
    <p:sldId id="1069" r:id="rId820"/>
    <p:sldId id="1070" r:id="rId821"/>
    <p:sldId id="1071" r:id="rId822"/>
    <p:sldId id="1072" r:id="rId823"/>
    <p:sldId id="1073" r:id="rId824"/>
    <p:sldId id="1074" r:id="rId825"/>
    <p:sldId id="1075" r:id="rId826"/>
    <p:sldId id="1076" r:id="rId827"/>
    <p:sldId id="1077" r:id="rId828"/>
    <p:sldId id="1078" r:id="rId829"/>
    <p:sldId id="1079" r:id="rId830"/>
    <p:sldId id="1080" r:id="rId831"/>
    <p:sldId id="1081" r:id="rId832"/>
    <p:sldId id="1082" r:id="rId833"/>
    <p:sldId id="1083" r:id="rId834"/>
    <p:sldId id="1084" r:id="rId835"/>
    <p:sldId id="1085" r:id="rId836"/>
    <p:sldId id="1086" r:id="rId837"/>
    <p:sldId id="1087" r:id="rId838"/>
    <p:sldId id="1088" r:id="rId839"/>
    <p:sldId id="1089" r:id="rId840"/>
    <p:sldId id="1090" r:id="rId841"/>
    <p:sldId id="1091" r:id="rId842"/>
    <p:sldId id="1092" r:id="rId843"/>
    <p:sldId id="1093" r:id="rId844"/>
    <p:sldId id="1094" r:id="rId845"/>
    <p:sldId id="1095" r:id="rId846"/>
    <p:sldId id="1096" r:id="rId847"/>
    <p:sldId id="1097" r:id="rId848"/>
    <p:sldId id="1098" r:id="rId849"/>
    <p:sldId id="1099" r:id="rId850"/>
    <p:sldId id="1100" r:id="rId851"/>
    <p:sldId id="1101" r:id="rId852"/>
    <p:sldId id="1102" r:id="rId853"/>
    <p:sldId id="1103" r:id="rId854"/>
    <p:sldId id="1104" r:id="rId855"/>
    <p:sldId id="1105" r:id="rId856"/>
    <p:sldId id="1106" r:id="rId857"/>
    <p:sldId id="1107" r:id="rId858"/>
    <p:sldId id="1108" r:id="rId859"/>
    <p:sldId id="1109" r:id="rId860"/>
    <p:sldId id="1110" r:id="rId861"/>
    <p:sldId id="1111" r:id="rId862"/>
    <p:sldId id="1112" r:id="rId863"/>
    <p:sldId id="1113" r:id="rId864"/>
    <p:sldId id="1114" r:id="rId865"/>
    <p:sldId id="1115" r:id="rId866"/>
    <p:sldId id="1116" r:id="rId867"/>
    <p:sldId id="1117" r:id="rId868"/>
    <p:sldId id="1118" r:id="rId869"/>
    <p:sldId id="1119" r:id="rId870"/>
    <p:sldId id="1120" r:id="rId871"/>
    <p:sldId id="1121" r:id="rId872"/>
    <p:sldId id="1122" r:id="rId873"/>
    <p:sldId id="1123" r:id="rId874"/>
    <p:sldId id="1124" r:id="rId875"/>
    <p:sldId id="1125" r:id="rId876"/>
    <p:sldId id="1126" r:id="rId877"/>
    <p:sldId id="1127" r:id="rId878"/>
    <p:sldId id="1128" r:id="rId879"/>
    <p:sldId id="1129" r:id="rId880"/>
    <p:sldId id="1130" r:id="rId881"/>
    <p:sldId id="1131" r:id="rId882"/>
    <p:sldId id="1132" r:id="rId883"/>
    <p:sldId id="1133" r:id="rId884"/>
    <p:sldId id="1134" r:id="rId885"/>
    <p:sldId id="1135" r:id="rId886"/>
    <p:sldId id="1136" r:id="rId887"/>
    <p:sldId id="1137" r:id="rId888"/>
    <p:sldId id="1138" r:id="rId889"/>
    <p:sldId id="1139" r:id="rId890"/>
    <p:sldId id="1140" r:id="rId891"/>
    <p:sldId id="1141" r:id="rId892"/>
    <p:sldId id="1142" r:id="rId893"/>
    <p:sldId id="1143" r:id="rId894"/>
    <p:sldId id="1144" r:id="rId895"/>
    <p:sldId id="1145" r:id="rId896"/>
    <p:sldId id="1146" r:id="rId897"/>
    <p:sldId id="1147" r:id="rId898"/>
    <p:sldId id="1148" r:id="rId899"/>
    <p:sldId id="1149" r:id="rId900"/>
    <p:sldId id="1150" r:id="rId901"/>
    <p:sldId id="1151" r:id="rId902"/>
    <p:sldId id="1152" r:id="rId903"/>
    <p:sldId id="1153" r:id="rId904"/>
    <p:sldId id="1154" r:id="rId905"/>
    <p:sldId id="1155" r:id="rId906"/>
    <p:sldId id="1156" r:id="rId907"/>
    <p:sldId id="1157" r:id="rId908"/>
    <p:sldId id="1158" r:id="rId909"/>
    <p:sldId id="1159" r:id="rId910"/>
    <p:sldId id="1160" r:id="rId911"/>
    <p:sldId id="1161" r:id="rId912"/>
    <p:sldId id="1162" r:id="rId913"/>
    <p:sldId id="1163" r:id="rId914"/>
    <p:sldId id="1164" r:id="rId915"/>
    <p:sldId id="1165" r:id="rId916"/>
    <p:sldId id="1166" r:id="rId917"/>
    <p:sldId id="1167" r:id="rId918"/>
    <p:sldId id="1168" r:id="rId919"/>
    <p:sldId id="1169" r:id="rId920"/>
    <p:sldId id="1170" r:id="rId921"/>
    <p:sldId id="1171" r:id="rId922"/>
    <p:sldId id="1172" r:id="rId923"/>
    <p:sldId id="1173" r:id="rId924"/>
    <p:sldId id="1174" r:id="rId925"/>
    <p:sldId id="1175" r:id="rId926"/>
    <p:sldId id="1176" r:id="rId927"/>
    <p:sldId id="1177" r:id="rId928"/>
    <p:sldId id="1178" r:id="rId929"/>
    <p:sldId id="1179" r:id="rId930"/>
    <p:sldId id="1180" r:id="rId931"/>
    <p:sldId id="1181" r:id="rId932"/>
    <p:sldId id="1182" r:id="rId933"/>
    <p:sldId id="1183" r:id="rId934"/>
    <p:sldId id="1184" r:id="rId935"/>
    <p:sldId id="1185" r:id="rId936"/>
    <p:sldId id="1186" r:id="rId937"/>
    <p:sldId id="1187" r:id="rId938"/>
    <p:sldId id="1188" r:id="rId939"/>
    <p:sldId id="1189" r:id="rId940"/>
    <p:sldId id="1190" r:id="rId941"/>
    <p:sldId id="1191" r:id="rId942"/>
    <p:sldId id="1192" r:id="rId943"/>
    <p:sldId id="1193" r:id="rId944"/>
    <p:sldId id="1194" r:id="rId945"/>
    <p:sldId id="1195" r:id="rId946"/>
    <p:sldId id="1196" r:id="rId947"/>
    <p:sldId id="1197" r:id="rId948"/>
    <p:sldId id="1198" r:id="rId949"/>
    <p:sldId id="1199" r:id="rId950"/>
    <p:sldId id="1200" r:id="rId951"/>
    <p:sldId id="1201" r:id="rId952"/>
    <p:sldId id="1202" r:id="rId953"/>
    <p:sldId id="1203" r:id="rId954"/>
    <p:sldId id="1204" r:id="rId955"/>
    <p:sldId id="1205" r:id="rId956"/>
    <p:sldId id="1206" r:id="rId957"/>
    <p:sldId id="1207" r:id="rId958"/>
    <p:sldId id="1208" r:id="rId959"/>
    <p:sldId id="1209" r:id="rId960"/>
    <p:sldId id="1210" r:id="rId961"/>
    <p:sldId id="1211" r:id="rId962"/>
    <p:sldId id="1212" r:id="rId963"/>
    <p:sldId id="1213" r:id="rId964"/>
    <p:sldId id="1214" r:id="rId965"/>
    <p:sldId id="1215" r:id="rId966"/>
    <p:sldId id="1216" r:id="rId967"/>
    <p:sldId id="1217" r:id="rId968"/>
    <p:sldId id="1218" r:id="rId969"/>
    <p:sldId id="1219" r:id="rId970"/>
    <p:sldId id="1220" r:id="rId971"/>
    <p:sldId id="1221" r:id="rId972"/>
    <p:sldId id="1222" r:id="rId973"/>
    <p:sldId id="1223" r:id="rId974"/>
    <p:sldId id="1224" r:id="rId975"/>
    <p:sldId id="1225" r:id="rId976"/>
    <p:sldId id="1226" r:id="rId977"/>
    <p:sldId id="1227" r:id="rId978"/>
    <p:sldId id="1228" r:id="rId979"/>
    <p:sldId id="1229" r:id="rId980"/>
    <p:sldId id="1230" r:id="rId981"/>
    <p:sldId id="1231" r:id="rId982"/>
    <p:sldId id="1232" r:id="rId983"/>
    <p:sldId id="1233" r:id="rId984"/>
    <p:sldId id="1234" r:id="rId985"/>
    <p:sldId id="1235" r:id="rId986"/>
    <p:sldId id="1236" r:id="rId987"/>
    <p:sldId id="1237" r:id="rId988"/>
    <p:sldId id="1238" r:id="rId989"/>
    <p:sldId id="1239" r:id="rId990"/>
    <p:sldId id="1240" r:id="rId991"/>
    <p:sldId id="1241" r:id="rId992"/>
    <p:sldId id="1242" r:id="rId993"/>
    <p:sldId id="1243" r:id="rId994"/>
    <p:sldId id="1244" r:id="rId995"/>
    <p:sldId id="1245" r:id="rId996"/>
    <p:sldId id="1246" r:id="rId997"/>
    <p:sldId id="1247" r:id="rId998"/>
    <p:sldId id="1248" r:id="rId999"/>
    <p:sldId id="1249" r:id="rId1000"/>
    <p:sldId id="1250" r:id="rId1001"/>
    <p:sldId id="1251" r:id="rId1002"/>
    <p:sldId id="1252" r:id="rId1003"/>
    <p:sldId id="1253" r:id="rId1004"/>
    <p:sldId id="1254" r:id="rId1005"/>
    <p:sldId id="1255" r:id="rId1006"/>
    <p:sldId id="1256" r:id="rId1007"/>
    <p:sldId id="1257" r:id="rId1008"/>
    <p:sldId id="1258" r:id="rId1009"/>
    <p:sldId id="1259" r:id="rId1010"/>
    <p:sldId id="1260" r:id="rId1011"/>
    <p:sldId id="1261" r:id="rId1012"/>
    <p:sldId id="1262" r:id="rId1013"/>
    <p:sldId id="1263" r:id="rId1014"/>
    <p:sldId id="1264" r:id="rId1015"/>
    <p:sldId id="1265" r:id="rId1016"/>
    <p:sldId id="1266" r:id="rId1017"/>
    <p:sldId id="1267" r:id="rId1018"/>
    <p:sldId id="1268" r:id="rId1019"/>
    <p:sldId id="1269" r:id="rId1020"/>
    <p:sldId id="1270" r:id="rId1021"/>
    <p:sldId id="1271" r:id="rId1022"/>
    <p:sldId id="1272" r:id="rId1023"/>
    <p:sldId id="1273" r:id="rId1024"/>
    <p:sldId id="1274" r:id="rId1025"/>
    <p:sldId id="1275" r:id="rId1026"/>
    <p:sldId id="1276" r:id="rId1027"/>
    <p:sldId id="1277" r:id="rId1028"/>
    <p:sldId id="1278" r:id="rId1029"/>
    <p:sldId id="1279" r:id="rId1030"/>
    <p:sldId id="1280" r:id="rId1031"/>
    <p:sldId id="1281" r:id="rId1032"/>
    <p:sldId id="1282" r:id="rId1033"/>
    <p:sldId id="1283" r:id="rId1034"/>
    <p:sldId id="1284" r:id="rId1035"/>
    <p:sldId id="1285" r:id="rId1036"/>
    <p:sldId id="1286" r:id="rId1037"/>
    <p:sldId id="1287" r:id="rId1038"/>
    <p:sldId id="1288" r:id="rId1039"/>
    <p:sldId id="1289" r:id="rId1040"/>
    <p:sldId id="1290" r:id="rId1041"/>
    <p:sldId id="1291" r:id="rId1042"/>
    <p:sldId id="1292" r:id="rId1043"/>
    <p:sldId id="1293" r:id="rId1044"/>
    <p:sldId id="1294" r:id="rId1045"/>
    <p:sldId id="1295" r:id="rId1046"/>
    <p:sldId id="1296" r:id="rId1047"/>
    <p:sldId id="1297" r:id="rId1048"/>
    <p:sldId id="1298" r:id="rId1049"/>
    <p:sldId id="1299" r:id="rId1050"/>
    <p:sldId id="1300" r:id="rId1051"/>
    <p:sldId id="1301" r:id="rId1052"/>
    <p:sldId id="1302" r:id="rId1053"/>
    <p:sldId id="1303" r:id="rId1054"/>
    <p:sldId id="1304" r:id="rId1055"/>
    <p:sldId id="1305" r:id="rId1056"/>
    <p:sldId id="1306" r:id="rId1057"/>
    <p:sldId id="1307" r:id="rId1058"/>
    <p:sldId id="1308" r:id="rId1059"/>
    <p:sldId id="1309" r:id="rId1060"/>
    <p:sldId id="1310" r:id="rId1061"/>
    <p:sldId id="1311" r:id="rId1062"/>
    <p:sldId id="1312" r:id="rId1063"/>
    <p:sldId id="1313" r:id="rId1064"/>
    <p:sldId id="1314" r:id="rId1065"/>
    <p:sldId id="1315" r:id="rId1066"/>
    <p:sldId id="1316" r:id="rId1067"/>
    <p:sldId id="1317" r:id="rId1068"/>
    <p:sldId id="1318" r:id="rId1069"/>
    <p:sldId id="1319" r:id="rId1070"/>
    <p:sldId id="1320" r:id="rId1071"/>
    <p:sldId id="1321" r:id="rId1072"/>
    <p:sldId id="1322" r:id="rId1073"/>
    <p:sldId id="1323" r:id="rId1074"/>
    <p:sldId id="1324" r:id="rId1075"/>
    <p:sldId id="1325" r:id="rId1076"/>
    <p:sldId id="1326" r:id="rId1077"/>
    <p:sldId id="1327" r:id="rId1078"/>
    <p:sldId id="1328" r:id="rId1079"/>
    <p:sldId id="1329" r:id="rId1080"/>
    <p:sldId id="1330" r:id="rId1081"/>
    <p:sldId id="1331" r:id="rId1082"/>
    <p:sldId id="1332" r:id="rId1083"/>
    <p:sldId id="1333" r:id="rId1084"/>
    <p:sldId id="1334" r:id="rId1085"/>
    <p:sldId id="1335" r:id="rId1086"/>
    <p:sldId id="1336" r:id="rId1087"/>
    <p:sldId id="1337" r:id="rId1088"/>
    <p:sldId id="1338" r:id="rId1089"/>
    <p:sldId id="1339" r:id="rId1090"/>
    <p:sldId id="1340" r:id="rId1091"/>
    <p:sldId id="1341" r:id="rId1092"/>
    <p:sldId id="1342" r:id="rId1093"/>
    <p:sldId id="1343" r:id="rId1094"/>
    <p:sldId id="1344" r:id="rId1095"/>
    <p:sldId id="1345" r:id="rId1096"/>
    <p:sldId id="1346" r:id="rId1097"/>
    <p:sldId id="1347" r:id="rId1098"/>
    <p:sldId id="1348" r:id="rId1099"/>
    <p:sldId id="1349" r:id="rId1100"/>
    <p:sldId id="1350" r:id="rId1101"/>
    <p:sldId id="1351" r:id="rId1102"/>
    <p:sldId id="1352" r:id="rId1103"/>
    <p:sldId id="1353" r:id="rId1104"/>
    <p:sldId id="1354" r:id="rId1105"/>
    <p:sldId id="1355" r:id="rId1106"/>
    <p:sldId id="1356" r:id="rId1107"/>
    <p:sldId id="1357" r:id="rId1108"/>
    <p:sldId id="1358" r:id="rId1109"/>
    <p:sldId id="1359" r:id="rId1110"/>
    <p:sldId id="1360" r:id="rId1111"/>
    <p:sldId id="1361" r:id="rId1112"/>
    <p:sldId id="1362" r:id="rId1113"/>
    <p:sldId id="1363" r:id="rId1114"/>
    <p:sldId id="1364" r:id="rId1115"/>
    <p:sldId id="1365" r:id="rId1116"/>
    <p:sldId id="1366" r:id="rId1117"/>
    <p:sldId id="1367" r:id="rId1118"/>
    <p:sldId id="1368" r:id="rId1119"/>
    <p:sldId id="1369" r:id="rId1120"/>
    <p:sldId id="1370" r:id="rId1121"/>
    <p:sldId id="1371" r:id="rId1122"/>
    <p:sldId id="1372" r:id="rId1123"/>
    <p:sldId id="1373" r:id="rId1124"/>
    <p:sldId id="1374" r:id="rId1125"/>
    <p:sldId id="1375" r:id="rId1126"/>
    <p:sldId id="1376" r:id="rId1127"/>
    <p:sldId id="1377" r:id="rId1128"/>
    <p:sldId id="1378" r:id="rId1129"/>
    <p:sldId id="1379" r:id="rId1130"/>
    <p:sldId id="1380" r:id="rId1131"/>
    <p:sldId id="1381" r:id="rId1132"/>
    <p:sldId id="1382" r:id="rId1133"/>
    <p:sldId id="1383" r:id="rId1134"/>
    <p:sldId id="1384" r:id="rId1135"/>
    <p:sldId id="1385" r:id="rId1136"/>
    <p:sldId id="1386" r:id="rId1137"/>
    <p:sldId id="1387" r:id="rId1138"/>
    <p:sldId id="1388" r:id="rId1139"/>
    <p:sldId id="1389" r:id="rId1140"/>
    <p:sldId id="1390" r:id="rId1141"/>
    <p:sldId id="1391" r:id="rId1142"/>
    <p:sldId id="1392" r:id="rId1143"/>
    <p:sldId id="1393" r:id="rId1144"/>
    <p:sldId id="1394" r:id="rId1145"/>
    <p:sldId id="1395" r:id="rId1146"/>
    <p:sldId id="1396" r:id="rId1147"/>
    <p:sldId id="1397" r:id="rId1148"/>
    <p:sldId id="1398" r:id="rId1149"/>
    <p:sldId id="1399" r:id="rId1150"/>
    <p:sldId id="1400" r:id="rId1151"/>
    <p:sldId id="1401" r:id="rId1152"/>
    <p:sldId id="1402" r:id="rId1153"/>
    <p:sldId id="1403" r:id="rId1154"/>
    <p:sldId id="1404" r:id="rId1155"/>
    <p:sldId id="1405" r:id="rId1156"/>
    <p:sldId id="1406" r:id="rId1157"/>
    <p:sldId id="1407" r:id="rId1158"/>
    <p:sldId id="1408" r:id="rId1159"/>
    <p:sldId id="1409" r:id="rId1160"/>
    <p:sldId id="1410" r:id="rId1161"/>
    <p:sldId id="1411" r:id="rId1162"/>
    <p:sldId id="1412" r:id="rId1163"/>
    <p:sldId id="1413" r:id="rId1164"/>
    <p:sldId id="1414" r:id="rId1165"/>
    <p:sldId id="1415" r:id="rId1166"/>
    <p:sldId id="1416" r:id="rId1167"/>
    <p:sldId id="1417" r:id="rId1168"/>
    <p:sldId id="1418" r:id="rId1169"/>
    <p:sldId id="1419" r:id="rId1170"/>
    <p:sldId id="1420" r:id="rId1171"/>
    <p:sldId id="1421" r:id="rId1172"/>
    <p:sldId id="1422" r:id="rId1173"/>
    <p:sldId id="1423" r:id="rId1174"/>
    <p:sldId id="1424" r:id="rId1175"/>
    <p:sldId id="1425" r:id="rId1176"/>
    <p:sldId id="1426" r:id="rId1177"/>
    <p:sldId id="1427" r:id="rId11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 Id="rId781" Type="http://schemas.openxmlformats.org/officeDocument/2006/relationships/slide" Target="slides/slide775.xml"/><Relationship Id="rId782" Type="http://schemas.openxmlformats.org/officeDocument/2006/relationships/slide" Target="slides/slide776.xml"/><Relationship Id="rId783" Type="http://schemas.openxmlformats.org/officeDocument/2006/relationships/slide" Target="slides/slide777.xml"/><Relationship Id="rId784" Type="http://schemas.openxmlformats.org/officeDocument/2006/relationships/slide" Target="slides/slide778.xml"/><Relationship Id="rId785" Type="http://schemas.openxmlformats.org/officeDocument/2006/relationships/slide" Target="slides/slide779.xml"/><Relationship Id="rId786" Type="http://schemas.openxmlformats.org/officeDocument/2006/relationships/slide" Target="slides/slide780.xml"/><Relationship Id="rId787" Type="http://schemas.openxmlformats.org/officeDocument/2006/relationships/slide" Target="slides/slide781.xml"/><Relationship Id="rId788" Type="http://schemas.openxmlformats.org/officeDocument/2006/relationships/slide" Target="slides/slide782.xml"/><Relationship Id="rId789" Type="http://schemas.openxmlformats.org/officeDocument/2006/relationships/slide" Target="slides/slide783.xml"/><Relationship Id="rId790" Type="http://schemas.openxmlformats.org/officeDocument/2006/relationships/slide" Target="slides/slide784.xml"/><Relationship Id="rId791" Type="http://schemas.openxmlformats.org/officeDocument/2006/relationships/slide" Target="slides/slide785.xml"/><Relationship Id="rId792" Type="http://schemas.openxmlformats.org/officeDocument/2006/relationships/slide" Target="slides/slide786.xml"/><Relationship Id="rId793" Type="http://schemas.openxmlformats.org/officeDocument/2006/relationships/slide" Target="slides/slide787.xml"/><Relationship Id="rId794" Type="http://schemas.openxmlformats.org/officeDocument/2006/relationships/slide" Target="slides/slide788.xml"/><Relationship Id="rId795" Type="http://schemas.openxmlformats.org/officeDocument/2006/relationships/slide" Target="slides/slide789.xml"/><Relationship Id="rId796" Type="http://schemas.openxmlformats.org/officeDocument/2006/relationships/slide" Target="slides/slide790.xml"/><Relationship Id="rId797" Type="http://schemas.openxmlformats.org/officeDocument/2006/relationships/slide" Target="slides/slide791.xml"/><Relationship Id="rId798" Type="http://schemas.openxmlformats.org/officeDocument/2006/relationships/slide" Target="slides/slide792.xml"/><Relationship Id="rId799" Type="http://schemas.openxmlformats.org/officeDocument/2006/relationships/slide" Target="slides/slide793.xml"/><Relationship Id="rId800" Type="http://schemas.openxmlformats.org/officeDocument/2006/relationships/slide" Target="slides/slide794.xml"/><Relationship Id="rId801" Type="http://schemas.openxmlformats.org/officeDocument/2006/relationships/slide" Target="slides/slide795.xml"/><Relationship Id="rId802" Type="http://schemas.openxmlformats.org/officeDocument/2006/relationships/slide" Target="slides/slide796.xml"/><Relationship Id="rId803" Type="http://schemas.openxmlformats.org/officeDocument/2006/relationships/slide" Target="slides/slide797.xml"/><Relationship Id="rId804" Type="http://schemas.openxmlformats.org/officeDocument/2006/relationships/slide" Target="slides/slide798.xml"/><Relationship Id="rId805" Type="http://schemas.openxmlformats.org/officeDocument/2006/relationships/slide" Target="slides/slide799.xml"/><Relationship Id="rId806" Type="http://schemas.openxmlformats.org/officeDocument/2006/relationships/slide" Target="slides/slide800.xml"/><Relationship Id="rId807" Type="http://schemas.openxmlformats.org/officeDocument/2006/relationships/slide" Target="slides/slide801.xml"/><Relationship Id="rId808" Type="http://schemas.openxmlformats.org/officeDocument/2006/relationships/slide" Target="slides/slide802.xml"/><Relationship Id="rId809" Type="http://schemas.openxmlformats.org/officeDocument/2006/relationships/slide" Target="slides/slide803.xml"/><Relationship Id="rId810" Type="http://schemas.openxmlformats.org/officeDocument/2006/relationships/slide" Target="slides/slide804.xml"/><Relationship Id="rId811" Type="http://schemas.openxmlformats.org/officeDocument/2006/relationships/slide" Target="slides/slide805.xml"/><Relationship Id="rId812" Type="http://schemas.openxmlformats.org/officeDocument/2006/relationships/slide" Target="slides/slide806.xml"/><Relationship Id="rId813" Type="http://schemas.openxmlformats.org/officeDocument/2006/relationships/slide" Target="slides/slide807.xml"/><Relationship Id="rId814" Type="http://schemas.openxmlformats.org/officeDocument/2006/relationships/slide" Target="slides/slide808.xml"/><Relationship Id="rId815" Type="http://schemas.openxmlformats.org/officeDocument/2006/relationships/slide" Target="slides/slide809.xml"/><Relationship Id="rId816" Type="http://schemas.openxmlformats.org/officeDocument/2006/relationships/slide" Target="slides/slide810.xml"/><Relationship Id="rId817" Type="http://schemas.openxmlformats.org/officeDocument/2006/relationships/slide" Target="slides/slide811.xml"/><Relationship Id="rId818" Type="http://schemas.openxmlformats.org/officeDocument/2006/relationships/slide" Target="slides/slide812.xml"/><Relationship Id="rId819" Type="http://schemas.openxmlformats.org/officeDocument/2006/relationships/slide" Target="slides/slide813.xml"/><Relationship Id="rId820" Type="http://schemas.openxmlformats.org/officeDocument/2006/relationships/slide" Target="slides/slide814.xml"/><Relationship Id="rId821" Type="http://schemas.openxmlformats.org/officeDocument/2006/relationships/slide" Target="slides/slide815.xml"/><Relationship Id="rId822" Type="http://schemas.openxmlformats.org/officeDocument/2006/relationships/slide" Target="slides/slide816.xml"/><Relationship Id="rId823" Type="http://schemas.openxmlformats.org/officeDocument/2006/relationships/slide" Target="slides/slide817.xml"/><Relationship Id="rId824" Type="http://schemas.openxmlformats.org/officeDocument/2006/relationships/slide" Target="slides/slide818.xml"/><Relationship Id="rId825" Type="http://schemas.openxmlformats.org/officeDocument/2006/relationships/slide" Target="slides/slide819.xml"/><Relationship Id="rId826" Type="http://schemas.openxmlformats.org/officeDocument/2006/relationships/slide" Target="slides/slide820.xml"/><Relationship Id="rId827" Type="http://schemas.openxmlformats.org/officeDocument/2006/relationships/slide" Target="slides/slide821.xml"/><Relationship Id="rId828" Type="http://schemas.openxmlformats.org/officeDocument/2006/relationships/slide" Target="slides/slide822.xml"/><Relationship Id="rId829" Type="http://schemas.openxmlformats.org/officeDocument/2006/relationships/slide" Target="slides/slide823.xml"/><Relationship Id="rId830" Type="http://schemas.openxmlformats.org/officeDocument/2006/relationships/slide" Target="slides/slide824.xml"/><Relationship Id="rId831" Type="http://schemas.openxmlformats.org/officeDocument/2006/relationships/slide" Target="slides/slide825.xml"/><Relationship Id="rId832" Type="http://schemas.openxmlformats.org/officeDocument/2006/relationships/slide" Target="slides/slide826.xml"/><Relationship Id="rId833" Type="http://schemas.openxmlformats.org/officeDocument/2006/relationships/slide" Target="slides/slide827.xml"/><Relationship Id="rId834" Type="http://schemas.openxmlformats.org/officeDocument/2006/relationships/slide" Target="slides/slide828.xml"/><Relationship Id="rId835" Type="http://schemas.openxmlformats.org/officeDocument/2006/relationships/slide" Target="slides/slide829.xml"/><Relationship Id="rId836" Type="http://schemas.openxmlformats.org/officeDocument/2006/relationships/slide" Target="slides/slide830.xml"/><Relationship Id="rId837" Type="http://schemas.openxmlformats.org/officeDocument/2006/relationships/slide" Target="slides/slide831.xml"/><Relationship Id="rId838" Type="http://schemas.openxmlformats.org/officeDocument/2006/relationships/slide" Target="slides/slide832.xml"/><Relationship Id="rId839" Type="http://schemas.openxmlformats.org/officeDocument/2006/relationships/slide" Target="slides/slide833.xml"/><Relationship Id="rId840" Type="http://schemas.openxmlformats.org/officeDocument/2006/relationships/slide" Target="slides/slide834.xml"/><Relationship Id="rId841" Type="http://schemas.openxmlformats.org/officeDocument/2006/relationships/slide" Target="slides/slide835.xml"/><Relationship Id="rId842" Type="http://schemas.openxmlformats.org/officeDocument/2006/relationships/slide" Target="slides/slide836.xml"/><Relationship Id="rId843" Type="http://schemas.openxmlformats.org/officeDocument/2006/relationships/slide" Target="slides/slide837.xml"/><Relationship Id="rId844" Type="http://schemas.openxmlformats.org/officeDocument/2006/relationships/slide" Target="slides/slide838.xml"/><Relationship Id="rId845" Type="http://schemas.openxmlformats.org/officeDocument/2006/relationships/slide" Target="slides/slide839.xml"/><Relationship Id="rId846" Type="http://schemas.openxmlformats.org/officeDocument/2006/relationships/slide" Target="slides/slide840.xml"/><Relationship Id="rId847" Type="http://schemas.openxmlformats.org/officeDocument/2006/relationships/slide" Target="slides/slide841.xml"/><Relationship Id="rId848" Type="http://schemas.openxmlformats.org/officeDocument/2006/relationships/slide" Target="slides/slide842.xml"/><Relationship Id="rId849" Type="http://schemas.openxmlformats.org/officeDocument/2006/relationships/slide" Target="slides/slide843.xml"/><Relationship Id="rId850" Type="http://schemas.openxmlformats.org/officeDocument/2006/relationships/slide" Target="slides/slide844.xml"/><Relationship Id="rId851" Type="http://schemas.openxmlformats.org/officeDocument/2006/relationships/slide" Target="slides/slide845.xml"/><Relationship Id="rId852" Type="http://schemas.openxmlformats.org/officeDocument/2006/relationships/slide" Target="slides/slide846.xml"/><Relationship Id="rId853" Type="http://schemas.openxmlformats.org/officeDocument/2006/relationships/slide" Target="slides/slide847.xml"/><Relationship Id="rId854" Type="http://schemas.openxmlformats.org/officeDocument/2006/relationships/slide" Target="slides/slide848.xml"/><Relationship Id="rId855" Type="http://schemas.openxmlformats.org/officeDocument/2006/relationships/slide" Target="slides/slide849.xml"/><Relationship Id="rId856" Type="http://schemas.openxmlformats.org/officeDocument/2006/relationships/slide" Target="slides/slide850.xml"/><Relationship Id="rId857" Type="http://schemas.openxmlformats.org/officeDocument/2006/relationships/slide" Target="slides/slide851.xml"/><Relationship Id="rId858" Type="http://schemas.openxmlformats.org/officeDocument/2006/relationships/slide" Target="slides/slide852.xml"/><Relationship Id="rId859" Type="http://schemas.openxmlformats.org/officeDocument/2006/relationships/slide" Target="slides/slide853.xml"/><Relationship Id="rId860" Type="http://schemas.openxmlformats.org/officeDocument/2006/relationships/slide" Target="slides/slide854.xml"/><Relationship Id="rId861" Type="http://schemas.openxmlformats.org/officeDocument/2006/relationships/slide" Target="slides/slide855.xml"/><Relationship Id="rId862" Type="http://schemas.openxmlformats.org/officeDocument/2006/relationships/slide" Target="slides/slide856.xml"/><Relationship Id="rId863" Type="http://schemas.openxmlformats.org/officeDocument/2006/relationships/slide" Target="slides/slide857.xml"/><Relationship Id="rId864" Type="http://schemas.openxmlformats.org/officeDocument/2006/relationships/slide" Target="slides/slide858.xml"/><Relationship Id="rId865" Type="http://schemas.openxmlformats.org/officeDocument/2006/relationships/slide" Target="slides/slide859.xml"/><Relationship Id="rId866" Type="http://schemas.openxmlformats.org/officeDocument/2006/relationships/slide" Target="slides/slide860.xml"/><Relationship Id="rId867" Type="http://schemas.openxmlformats.org/officeDocument/2006/relationships/slide" Target="slides/slide861.xml"/><Relationship Id="rId868" Type="http://schemas.openxmlformats.org/officeDocument/2006/relationships/slide" Target="slides/slide862.xml"/><Relationship Id="rId869" Type="http://schemas.openxmlformats.org/officeDocument/2006/relationships/slide" Target="slides/slide863.xml"/><Relationship Id="rId870" Type="http://schemas.openxmlformats.org/officeDocument/2006/relationships/slide" Target="slides/slide864.xml"/><Relationship Id="rId871" Type="http://schemas.openxmlformats.org/officeDocument/2006/relationships/slide" Target="slides/slide865.xml"/><Relationship Id="rId872" Type="http://schemas.openxmlformats.org/officeDocument/2006/relationships/slide" Target="slides/slide866.xml"/><Relationship Id="rId873" Type="http://schemas.openxmlformats.org/officeDocument/2006/relationships/slide" Target="slides/slide867.xml"/><Relationship Id="rId874" Type="http://schemas.openxmlformats.org/officeDocument/2006/relationships/slide" Target="slides/slide868.xml"/><Relationship Id="rId875" Type="http://schemas.openxmlformats.org/officeDocument/2006/relationships/slide" Target="slides/slide869.xml"/><Relationship Id="rId876" Type="http://schemas.openxmlformats.org/officeDocument/2006/relationships/slide" Target="slides/slide870.xml"/><Relationship Id="rId877" Type="http://schemas.openxmlformats.org/officeDocument/2006/relationships/slide" Target="slides/slide871.xml"/><Relationship Id="rId878" Type="http://schemas.openxmlformats.org/officeDocument/2006/relationships/slide" Target="slides/slide872.xml"/><Relationship Id="rId879" Type="http://schemas.openxmlformats.org/officeDocument/2006/relationships/slide" Target="slides/slide873.xml"/><Relationship Id="rId880" Type="http://schemas.openxmlformats.org/officeDocument/2006/relationships/slide" Target="slides/slide874.xml"/><Relationship Id="rId881" Type="http://schemas.openxmlformats.org/officeDocument/2006/relationships/slide" Target="slides/slide875.xml"/><Relationship Id="rId882" Type="http://schemas.openxmlformats.org/officeDocument/2006/relationships/slide" Target="slides/slide876.xml"/><Relationship Id="rId883" Type="http://schemas.openxmlformats.org/officeDocument/2006/relationships/slide" Target="slides/slide877.xml"/><Relationship Id="rId884" Type="http://schemas.openxmlformats.org/officeDocument/2006/relationships/slide" Target="slides/slide878.xml"/><Relationship Id="rId885" Type="http://schemas.openxmlformats.org/officeDocument/2006/relationships/slide" Target="slides/slide879.xml"/><Relationship Id="rId886" Type="http://schemas.openxmlformats.org/officeDocument/2006/relationships/slide" Target="slides/slide880.xml"/><Relationship Id="rId887" Type="http://schemas.openxmlformats.org/officeDocument/2006/relationships/slide" Target="slides/slide881.xml"/><Relationship Id="rId888" Type="http://schemas.openxmlformats.org/officeDocument/2006/relationships/slide" Target="slides/slide882.xml"/><Relationship Id="rId889" Type="http://schemas.openxmlformats.org/officeDocument/2006/relationships/slide" Target="slides/slide883.xml"/><Relationship Id="rId890" Type="http://schemas.openxmlformats.org/officeDocument/2006/relationships/slide" Target="slides/slide884.xml"/><Relationship Id="rId891" Type="http://schemas.openxmlformats.org/officeDocument/2006/relationships/slide" Target="slides/slide885.xml"/><Relationship Id="rId892" Type="http://schemas.openxmlformats.org/officeDocument/2006/relationships/slide" Target="slides/slide886.xml"/><Relationship Id="rId893" Type="http://schemas.openxmlformats.org/officeDocument/2006/relationships/slide" Target="slides/slide887.xml"/><Relationship Id="rId894" Type="http://schemas.openxmlformats.org/officeDocument/2006/relationships/slide" Target="slides/slide888.xml"/><Relationship Id="rId895" Type="http://schemas.openxmlformats.org/officeDocument/2006/relationships/slide" Target="slides/slide889.xml"/><Relationship Id="rId896" Type="http://schemas.openxmlformats.org/officeDocument/2006/relationships/slide" Target="slides/slide890.xml"/><Relationship Id="rId897" Type="http://schemas.openxmlformats.org/officeDocument/2006/relationships/slide" Target="slides/slide891.xml"/><Relationship Id="rId898" Type="http://schemas.openxmlformats.org/officeDocument/2006/relationships/slide" Target="slides/slide892.xml"/><Relationship Id="rId899" Type="http://schemas.openxmlformats.org/officeDocument/2006/relationships/slide" Target="slides/slide893.xml"/><Relationship Id="rId900" Type="http://schemas.openxmlformats.org/officeDocument/2006/relationships/slide" Target="slides/slide894.xml"/><Relationship Id="rId901" Type="http://schemas.openxmlformats.org/officeDocument/2006/relationships/slide" Target="slides/slide895.xml"/><Relationship Id="rId902" Type="http://schemas.openxmlformats.org/officeDocument/2006/relationships/slide" Target="slides/slide896.xml"/><Relationship Id="rId903" Type="http://schemas.openxmlformats.org/officeDocument/2006/relationships/slide" Target="slides/slide897.xml"/><Relationship Id="rId904" Type="http://schemas.openxmlformats.org/officeDocument/2006/relationships/slide" Target="slides/slide898.xml"/><Relationship Id="rId905" Type="http://schemas.openxmlformats.org/officeDocument/2006/relationships/slide" Target="slides/slide899.xml"/><Relationship Id="rId906" Type="http://schemas.openxmlformats.org/officeDocument/2006/relationships/slide" Target="slides/slide900.xml"/><Relationship Id="rId907" Type="http://schemas.openxmlformats.org/officeDocument/2006/relationships/slide" Target="slides/slide901.xml"/><Relationship Id="rId908" Type="http://schemas.openxmlformats.org/officeDocument/2006/relationships/slide" Target="slides/slide902.xml"/><Relationship Id="rId909" Type="http://schemas.openxmlformats.org/officeDocument/2006/relationships/slide" Target="slides/slide903.xml"/><Relationship Id="rId910" Type="http://schemas.openxmlformats.org/officeDocument/2006/relationships/slide" Target="slides/slide904.xml"/><Relationship Id="rId911" Type="http://schemas.openxmlformats.org/officeDocument/2006/relationships/slide" Target="slides/slide905.xml"/><Relationship Id="rId912" Type="http://schemas.openxmlformats.org/officeDocument/2006/relationships/slide" Target="slides/slide906.xml"/><Relationship Id="rId913" Type="http://schemas.openxmlformats.org/officeDocument/2006/relationships/slide" Target="slides/slide907.xml"/><Relationship Id="rId914" Type="http://schemas.openxmlformats.org/officeDocument/2006/relationships/slide" Target="slides/slide908.xml"/><Relationship Id="rId915" Type="http://schemas.openxmlformats.org/officeDocument/2006/relationships/slide" Target="slides/slide909.xml"/><Relationship Id="rId916" Type="http://schemas.openxmlformats.org/officeDocument/2006/relationships/slide" Target="slides/slide910.xml"/><Relationship Id="rId917" Type="http://schemas.openxmlformats.org/officeDocument/2006/relationships/slide" Target="slides/slide911.xml"/><Relationship Id="rId918" Type="http://schemas.openxmlformats.org/officeDocument/2006/relationships/slide" Target="slides/slide912.xml"/><Relationship Id="rId919" Type="http://schemas.openxmlformats.org/officeDocument/2006/relationships/slide" Target="slides/slide913.xml"/><Relationship Id="rId920" Type="http://schemas.openxmlformats.org/officeDocument/2006/relationships/slide" Target="slides/slide914.xml"/><Relationship Id="rId921" Type="http://schemas.openxmlformats.org/officeDocument/2006/relationships/slide" Target="slides/slide915.xml"/><Relationship Id="rId922" Type="http://schemas.openxmlformats.org/officeDocument/2006/relationships/slide" Target="slides/slide916.xml"/><Relationship Id="rId923" Type="http://schemas.openxmlformats.org/officeDocument/2006/relationships/slide" Target="slides/slide917.xml"/><Relationship Id="rId924" Type="http://schemas.openxmlformats.org/officeDocument/2006/relationships/slide" Target="slides/slide918.xml"/><Relationship Id="rId925" Type="http://schemas.openxmlformats.org/officeDocument/2006/relationships/slide" Target="slides/slide919.xml"/><Relationship Id="rId926" Type="http://schemas.openxmlformats.org/officeDocument/2006/relationships/slide" Target="slides/slide920.xml"/><Relationship Id="rId927" Type="http://schemas.openxmlformats.org/officeDocument/2006/relationships/slide" Target="slides/slide921.xml"/><Relationship Id="rId928" Type="http://schemas.openxmlformats.org/officeDocument/2006/relationships/slide" Target="slides/slide922.xml"/><Relationship Id="rId929" Type="http://schemas.openxmlformats.org/officeDocument/2006/relationships/slide" Target="slides/slide923.xml"/><Relationship Id="rId930" Type="http://schemas.openxmlformats.org/officeDocument/2006/relationships/slide" Target="slides/slide924.xml"/><Relationship Id="rId931" Type="http://schemas.openxmlformats.org/officeDocument/2006/relationships/slide" Target="slides/slide925.xml"/><Relationship Id="rId932" Type="http://schemas.openxmlformats.org/officeDocument/2006/relationships/slide" Target="slides/slide926.xml"/><Relationship Id="rId933" Type="http://schemas.openxmlformats.org/officeDocument/2006/relationships/slide" Target="slides/slide927.xml"/><Relationship Id="rId934" Type="http://schemas.openxmlformats.org/officeDocument/2006/relationships/slide" Target="slides/slide928.xml"/><Relationship Id="rId935" Type="http://schemas.openxmlformats.org/officeDocument/2006/relationships/slide" Target="slides/slide929.xml"/><Relationship Id="rId936" Type="http://schemas.openxmlformats.org/officeDocument/2006/relationships/slide" Target="slides/slide930.xml"/><Relationship Id="rId937" Type="http://schemas.openxmlformats.org/officeDocument/2006/relationships/slide" Target="slides/slide931.xml"/><Relationship Id="rId938" Type="http://schemas.openxmlformats.org/officeDocument/2006/relationships/slide" Target="slides/slide932.xml"/><Relationship Id="rId939" Type="http://schemas.openxmlformats.org/officeDocument/2006/relationships/slide" Target="slides/slide933.xml"/><Relationship Id="rId940" Type="http://schemas.openxmlformats.org/officeDocument/2006/relationships/slide" Target="slides/slide934.xml"/><Relationship Id="rId941" Type="http://schemas.openxmlformats.org/officeDocument/2006/relationships/slide" Target="slides/slide935.xml"/><Relationship Id="rId942" Type="http://schemas.openxmlformats.org/officeDocument/2006/relationships/slide" Target="slides/slide936.xml"/><Relationship Id="rId943" Type="http://schemas.openxmlformats.org/officeDocument/2006/relationships/slide" Target="slides/slide937.xml"/><Relationship Id="rId944" Type="http://schemas.openxmlformats.org/officeDocument/2006/relationships/slide" Target="slides/slide938.xml"/><Relationship Id="rId945" Type="http://schemas.openxmlformats.org/officeDocument/2006/relationships/slide" Target="slides/slide939.xml"/><Relationship Id="rId946" Type="http://schemas.openxmlformats.org/officeDocument/2006/relationships/slide" Target="slides/slide940.xml"/><Relationship Id="rId947" Type="http://schemas.openxmlformats.org/officeDocument/2006/relationships/slide" Target="slides/slide941.xml"/><Relationship Id="rId948" Type="http://schemas.openxmlformats.org/officeDocument/2006/relationships/slide" Target="slides/slide942.xml"/><Relationship Id="rId949" Type="http://schemas.openxmlformats.org/officeDocument/2006/relationships/slide" Target="slides/slide943.xml"/><Relationship Id="rId950" Type="http://schemas.openxmlformats.org/officeDocument/2006/relationships/slide" Target="slides/slide944.xml"/><Relationship Id="rId951" Type="http://schemas.openxmlformats.org/officeDocument/2006/relationships/slide" Target="slides/slide945.xml"/><Relationship Id="rId952" Type="http://schemas.openxmlformats.org/officeDocument/2006/relationships/slide" Target="slides/slide946.xml"/><Relationship Id="rId953" Type="http://schemas.openxmlformats.org/officeDocument/2006/relationships/slide" Target="slides/slide947.xml"/><Relationship Id="rId954" Type="http://schemas.openxmlformats.org/officeDocument/2006/relationships/slide" Target="slides/slide948.xml"/><Relationship Id="rId955" Type="http://schemas.openxmlformats.org/officeDocument/2006/relationships/slide" Target="slides/slide949.xml"/><Relationship Id="rId956" Type="http://schemas.openxmlformats.org/officeDocument/2006/relationships/slide" Target="slides/slide950.xml"/><Relationship Id="rId957" Type="http://schemas.openxmlformats.org/officeDocument/2006/relationships/slide" Target="slides/slide951.xml"/><Relationship Id="rId958" Type="http://schemas.openxmlformats.org/officeDocument/2006/relationships/slide" Target="slides/slide952.xml"/><Relationship Id="rId959" Type="http://schemas.openxmlformats.org/officeDocument/2006/relationships/slide" Target="slides/slide953.xml"/><Relationship Id="rId960" Type="http://schemas.openxmlformats.org/officeDocument/2006/relationships/slide" Target="slides/slide954.xml"/><Relationship Id="rId961" Type="http://schemas.openxmlformats.org/officeDocument/2006/relationships/slide" Target="slides/slide955.xml"/><Relationship Id="rId962" Type="http://schemas.openxmlformats.org/officeDocument/2006/relationships/slide" Target="slides/slide956.xml"/><Relationship Id="rId963" Type="http://schemas.openxmlformats.org/officeDocument/2006/relationships/slide" Target="slides/slide957.xml"/><Relationship Id="rId964" Type="http://schemas.openxmlformats.org/officeDocument/2006/relationships/slide" Target="slides/slide958.xml"/><Relationship Id="rId965" Type="http://schemas.openxmlformats.org/officeDocument/2006/relationships/slide" Target="slides/slide959.xml"/><Relationship Id="rId966" Type="http://schemas.openxmlformats.org/officeDocument/2006/relationships/slide" Target="slides/slide960.xml"/><Relationship Id="rId967" Type="http://schemas.openxmlformats.org/officeDocument/2006/relationships/slide" Target="slides/slide961.xml"/><Relationship Id="rId968" Type="http://schemas.openxmlformats.org/officeDocument/2006/relationships/slide" Target="slides/slide962.xml"/><Relationship Id="rId969" Type="http://schemas.openxmlformats.org/officeDocument/2006/relationships/slide" Target="slides/slide963.xml"/><Relationship Id="rId970" Type="http://schemas.openxmlformats.org/officeDocument/2006/relationships/slide" Target="slides/slide964.xml"/><Relationship Id="rId971" Type="http://schemas.openxmlformats.org/officeDocument/2006/relationships/slide" Target="slides/slide965.xml"/><Relationship Id="rId972" Type="http://schemas.openxmlformats.org/officeDocument/2006/relationships/slide" Target="slides/slide966.xml"/><Relationship Id="rId973" Type="http://schemas.openxmlformats.org/officeDocument/2006/relationships/slide" Target="slides/slide967.xml"/><Relationship Id="rId974" Type="http://schemas.openxmlformats.org/officeDocument/2006/relationships/slide" Target="slides/slide968.xml"/><Relationship Id="rId975" Type="http://schemas.openxmlformats.org/officeDocument/2006/relationships/slide" Target="slides/slide969.xml"/><Relationship Id="rId976" Type="http://schemas.openxmlformats.org/officeDocument/2006/relationships/slide" Target="slides/slide970.xml"/><Relationship Id="rId977" Type="http://schemas.openxmlformats.org/officeDocument/2006/relationships/slide" Target="slides/slide971.xml"/><Relationship Id="rId978" Type="http://schemas.openxmlformats.org/officeDocument/2006/relationships/slide" Target="slides/slide972.xml"/><Relationship Id="rId979" Type="http://schemas.openxmlformats.org/officeDocument/2006/relationships/slide" Target="slides/slide973.xml"/><Relationship Id="rId980" Type="http://schemas.openxmlformats.org/officeDocument/2006/relationships/slide" Target="slides/slide974.xml"/><Relationship Id="rId981" Type="http://schemas.openxmlformats.org/officeDocument/2006/relationships/slide" Target="slides/slide975.xml"/><Relationship Id="rId982" Type="http://schemas.openxmlformats.org/officeDocument/2006/relationships/slide" Target="slides/slide976.xml"/><Relationship Id="rId983" Type="http://schemas.openxmlformats.org/officeDocument/2006/relationships/slide" Target="slides/slide977.xml"/><Relationship Id="rId984" Type="http://schemas.openxmlformats.org/officeDocument/2006/relationships/slide" Target="slides/slide978.xml"/><Relationship Id="rId985" Type="http://schemas.openxmlformats.org/officeDocument/2006/relationships/slide" Target="slides/slide979.xml"/><Relationship Id="rId986" Type="http://schemas.openxmlformats.org/officeDocument/2006/relationships/slide" Target="slides/slide980.xml"/><Relationship Id="rId987" Type="http://schemas.openxmlformats.org/officeDocument/2006/relationships/slide" Target="slides/slide981.xml"/><Relationship Id="rId988" Type="http://schemas.openxmlformats.org/officeDocument/2006/relationships/slide" Target="slides/slide982.xml"/><Relationship Id="rId989" Type="http://schemas.openxmlformats.org/officeDocument/2006/relationships/slide" Target="slides/slide983.xml"/><Relationship Id="rId990" Type="http://schemas.openxmlformats.org/officeDocument/2006/relationships/slide" Target="slides/slide984.xml"/><Relationship Id="rId991" Type="http://schemas.openxmlformats.org/officeDocument/2006/relationships/slide" Target="slides/slide985.xml"/><Relationship Id="rId992" Type="http://schemas.openxmlformats.org/officeDocument/2006/relationships/slide" Target="slides/slide986.xml"/><Relationship Id="rId993" Type="http://schemas.openxmlformats.org/officeDocument/2006/relationships/slide" Target="slides/slide987.xml"/><Relationship Id="rId994" Type="http://schemas.openxmlformats.org/officeDocument/2006/relationships/slide" Target="slides/slide988.xml"/><Relationship Id="rId995" Type="http://schemas.openxmlformats.org/officeDocument/2006/relationships/slide" Target="slides/slide989.xml"/><Relationship Id="rId996" Type="http://schemas.openxmlformats.org/officeDocument/2006/relationships/slide" Target="slides/slide990.xml"/><Relationship Id="rId997" Type="http://schemas.openxmlformats.org/officeDocument/2006/relationships/slide" Target="slides/slide991.xml"/><Relationship Id="rId998" Type="http://schemas.openxmlformats.org/officeDocument/2006/relationships/slide" Target="slides/slide992.xml"/><Relationship Id="rId999" Type="http://schemas.openxmlformats.org/officeDocument/2006/relationships/slide" Target="slides/slide993.xml"/><Relationship Id="rId1000" Type="http://schemas.openxmlformats.org/officeDocument/2006/relationships/slide" Target="slides/slide994.xml"/><Relationship Id="rId1001" Type="http://schemas.openxmlformats.org/officeDocument/2006/relationships/slide" Target="slides/slide995.xml"/><Relationship Id="rId1002" Type="http://schemas.openxmlformats.org/officeDocument/2006/relationships/slide" Target="slides/slide996.xml"/><Relationship Id="rId1003" Type="http://schemas.openxmlformats.org/officeDocument/2006/relationships/slide" Target="slides/slide997.xml"/><Relationship Id="rId1004" Type="http://schemas.openxmlformats.org/officeDocument/2006/relationships/slide" Target="slides/slide998.xml"/><Relationship Id="rId1005" Type="http://schemas.openxmlformats.org/officeDocument/2006/relationships/slide" Target="slides/slide999.xml"/><Relationship Id="rId1006" Type="http://schemas.openxmlformats.org/officeDocument/2006/relationships/slide" Target="slides/slide1000.xml"/><Relationship Id="rId1007" Type="http://schemas.openxmlformats.org/officeDocument/2006/relationships/slide" Target="slides/slide1001.xml"/><Relationship Id="rId1008" Type="http://schemas.openxmlformats.org/officeDocument/2006/relationships/slide" Target="slides/slide1002.xml"/><Relationship Id="rId1009" Type="http://schemas.openxmlformats.org/officeDocument/2006/relationships/slide" Target="slides/slide1003.xml"/><Relationship Id="rId1010" Type="http://schemas.openxmlformats.org/officeDocument/2006/relationships/slide" Target="slides/slide1004.xml"/><Relationship Id="rId1011" Type="http://schemas.openxmlformats.org/officeDocument/2006/relationships/slide" Target="slides/slide1005.xml"/><Relationship Id="rId1012" Type="http://schemas.openxmlformats.org/officeDocument/2006/relationships/slide" Target="slides/slide1006.xml"/><Relationship Id="rId1013" Type="http://schemas.openxmlformats.org/officeDocument/2006/relationships/slide" Target="slides/slide1007.xml"/><Relationship Id="rId1014" Type="http://schemas.openxmlformats.org/officeDocument/2006/relationships/slide" Target="slides/slide1008.xml"/><Relationship Id="rId1015" Type="http://schemas.openxmlformats.org/officeDocument/2006/relationships/slide" Target="slides/slide1009.xml"/><Relationship Id="rId1016" Type="http://schemas.openxmlformats.org/officeDocument/2006/relationships/slide" Target="slides/slide1010.xml"/><Relationship Id="rId1017" Type="http://schemas.openxmlformats.org/officeDocument/2006/relationships/slide" Target="slides/slide1011.xml"/><Relationship Id="rId1018" Type="http://schemas.openxmlformats.org/officeDocument/2006/relationships/slide" Target="slides/slide1012.xml"/><Relationship Id="rId1019" Type="http://schemas.openxmlformats.org/officeDocument/2006/relationships/slide" Target="slides/slide1013.xml"/><Relationship Id="rId1020" Type="http://schemas.openxmlformats.org/officeDocument/2006/relationships/slide" Target="slides/slide1014.xml"/><Relationship Id="rId1021" Type="http://schemas.openxmlformats.org/officeDocument/2006/relationships/slide" Target="slides/slide1015.xml"/><Relationship Id="rId1022" Type="http://schemas.openxmlformats.org/officeDocument/2006/relationships/slide" Target="slides/slide1016.xml"/><Relationship Id="rId1023" Type="http://schemas.openxmlformats.org/officeDocument/2006/relationships/slide" Target="slides/slide1017.xml"/><Relationship Id="rId1024" Type="http://schemas.openxmlformats.org/officeDocument/2006/relationships/slide" Target="slides/slide1018.xml"/><Relationship Id="rId1025" Type="http://schemas.openxmlformats.org/officeDocument/2006/relationships/slide" Target="slides/slide1019.xml"/><Relationship Id="rId1026" Type="http://schemas.openxmlformats.org/officeDocument/2006/relationships/slide" Target="slides/slide1020.xml"/><Relationship Id="rId1027" Type="http://schemas.openxmlformats.org/officeDocument/2006/relationships/slide" Target="slides/slide1021.xml"/><Relationship Id="rId1028" Type="http://schemas.openxmlformats.org/officeDocument/2006/relationships/slide" Target="slides/slide1022.xml"/><Relationship Id="rId1029" Type="http://schemas.openxmlformats.org/officeDocument/2006/relationships/slide" Target="slides/slide1023.xml"/><Relationship Id="rId1030" Type="http://schemas.openxmlformats.org/officeDocument/2006/relationships/slide" Target="slides/slide1024.xml"/><Relationship Id="rId1031" Type="http://schemas.openxmlformats.org/officeDocument/2006/relationships/slide" Target="slides/slide1025.xml"/><Relationship Id="rId1032" Type="http://schemas.openxmlformats.org/officeDocument/2006/relationships/slide" Target="slides/slide1026.xml"/><Relationship Id="rId1033" Type="http://schemas.openxmlformats.org/officeDocument/2006/relationships/slide" Target="slides/slide1027.xml"/><Relationship Id="rId1034" Type="http://schemas.openxmlformats.org/officeDocument/2006/relationships/slide" Target="slides/slide1028.xml"/><Relationship Id="rId1035" Type="http://schemas.openxmlformats.org/officeDocument/2006/relationships/slide" Target="slides/slide1029.xml"/><Relationship Id="rId1036" Type="http://schemas.openxmlformats.org/officeDocument/2006/relationships/slide" Target="slides/slide1030.xml"/><Relationship Id="rId1037" Type="http://schemas.openxmlformats.org/officeDocument/2006/relationships/slide" Target="slides/slide1031.xml"/><Relationship Id="rId1038" Type="http://schemas.openxmlformats.org/officeDocument/2006/relationships/slide" Target="slides/slide1032.xml"/><Relationship Id="rId1039" Type="http://schemas.openxmlformats.org/officeDocument/2006/relationships/slide" Target="slides/slide1033.xml"/><Relationship Id="rId1040" Type="http://schemas.openxmlformats.org/officeDocument/2006/relationships/slide" Target="slides/slide1034.xml"/><Relationship Id="rId1041" Type="http://schemas.openxmlformats.org/officeDocument/2006/relationships/slide" Target="slides/slide1035.xml"/><Relationship Id="rId1042" Type="http://schemas.openxmlformats.org/officeDocument/2006/relationships/slide" Target="slides/slide1036.xml"/><Relationship Id="rId1043" Type="http://schemas.openxmlformats.org/officeDocument/2006/relationships/slide" Target="slides/slide1037.xml"/><Relationship Id="rId1044" Type="http://schemas.openxmlformats.org/officeDocument/2006/relationships/slide" Target="slides/slide1038.xml"/><Relationship Id="rId1045" Type="http://schemas.openxmlformats.org/officeDocument/2006/relationships/slide" Target="slides/slide1039.xml"/><Relationship Id="rId1046" Type="http://schemas.openxmlformats.org/officeDocument/2006/relationships/slide" Target="slides/slide1040.xml"/><Relationship Id="rId1047" Type="http://schemas.openxmlformats.org/officeDocument/2006/relationships/slide" Target="slides/slide1041.xml"/><Relationship Id="rId1048" Type="http://schemas.openxmlformats.org/officeDocument/2006/relationships/slide" Target="slides/slide1042.xml"/><Relationship Id="rId1049" Type="http://schemas.openxmlformats.org/officeDocument/2006/relationships/slide" Target="slides/slide1043.xml"/><Relationship Id="rId1050" Type="http://schemas.openxmlformats.org/officeDocument/2006/relationships/slide" Target="slides/slide1044.xml"/><Relationship Id="rId1051" Type="http://schemas.openxmlformats.org/officeDocument/2006/relationships/slide" Target="slides/slide1045.xml"/><Relationship Id="rId1052" Type="http://schemas.openxmlformats.org/officeDocument/2006/relationships/slide" Target="slides/slide1046.xml"/><Relationship Id="rId1053" Type="http://schemas.openxmlformats.org/officeDocument/2006/relationships/slide" Target="slides/slide1047.xml"/><Relationship Id="rId1054" Type="http://schemas.openxmlformats.org/officeDocument/2006/relationships/slide" Target="slides/slide1048.xml"/><Relationship Id="rId1055" Type="http://schemas.openxmlformats.org/officeDocument/2006/relationships/slide" Target="slides/slide1049.xml"/><Relationship Id="rId1056" Type="http://schemas.openxmlformats.org/officeDocument/2006/relationships/slide" Target="slides/slide1050.xml"/><Relationship Id="rId1057" Type="http://schemas.openxmlformats.org/officeDocument/2006/relationships/slide" Target="slides/slide1051.xml"/><Relationship Id="rId1058" Type="http://schemas.openxmlformats.org/officeDocument/2006/relationships/slide" Target="slides/slide1052.xml"/><Relationship Id="rId1059" Type="http://schemas.openxmlformats.org/officeDocument/2006/relationships/slide" Target="slides/slide1053.xml"/><Relationship Id="rId1060" Type="http://schemas.openxmlformats.org/officeDocument/2006/relationships/slide" Target="slides/slide1054.xml"/><Relationship Id="rId1061" Type="http://schemas.openxmlformats.org/officeDocument/2006/relationships/slide" Target="slides/slide1055.xml"/><Relationship Id="rId1062" Type="http://schemas.openxmlformats.org/officeDocument/2006/relationships/slide" Target="slides/slide1056.xml"/><Relationship Id="rId1063" Type="http://schemas.openxmlformats.org/officeDocument/2006/relationships/slide" Target="slides/slide1057.xml"/><Relationship Id="rId1064" Type="http://schemas.openxmlformats.org/officeDocument/2006/relationships/slide" Target="slides/slide1058.xml"/><Relationship Id="rId1065" Type="http://schemas.openxmlformats.org/officeDocument/2006/relationships/slide" Target="slides/slide1059.xml"/><Relationship Id="rId1066" Type="http://schemas.openxmlformats.org/officeDocument/2006/relationships/slide" Target="slides/slide1060.xml"/><Relationship Id="rId1067" Type="http://schemas.openxmlformats.org/officeDocument/2006/relationships/slide" Target="slides/slide1061.xml"/><Relationship Id="rId1068" Type="http://schemas.openxmlformats.org/officeDocument/2006/relationships/slide" Target="slides/slide1062.xml"/><Relationship Id="rId1069" Type="http://schemas.openxmlformats.org/officeDocument/2006/relationships/slide" Target="slides/slide1063.xml"/><Relationship Id="rId1070" Type="http://schemas.openxmlformats.org/officeDocument/2006/relationships/slide" Target="slides/slide1064.xml"/><Relationship Id="rId1071" Type="http://schemas.openxmlformats.org/officeDocument/2006/relationships/slide" Target="slides/slide1065.xml"/><Relationship Id="rId1072" Type="http://schemas.openxmlformats.org/officeDocument/2006/relationships/slide" Target="slides/slide1066.xml"/><Relationship Id="rId1073" Type="http://schemas.openxmlformats.org/officeDocument/2006/relationships/slide" Target="slides/slide1067.xml"/><Relationship Id="rId1074" Type="http://schemas.openxmlformats.org/officeDocument/2006/relationships/slide" Target="slides/slide1068.xml"/><Relationship Id="rId1075" Type="http://schemas.openxmlformats.org/officeDocument/2006/relationships/slide" Target="slides/slide1069.xml"/><Relationship Id="rId1076" Type="http://schemas.openxmlformats.org/officeDocument/2006/relationships/slide" Target="slides/slide1070.xml"/><Relationship Id="rId1077" Type="http://schemas.openxmlformats.org/officeDocument/2006/relationships/slide" Target="slides/slide1071.xml"/><Relationship Id="rId1078" Type="http://schemas.openxmlformats.org/officeDocument/2006/relationships/slide" Target="slides/slide1072.xml"/><Relationship Id="rId1079" Type="http://schemas.openxmlformats.org/officeDocument/2006/relationships/slide" Target="slides/slide1073.xml"/><Relationship Id="rId1080" Type="http://schemas.openxmlformats.org/officeDocument/2006/relationships/slide" Target="slides/slide1074.xml"/><Relationship Id="rId1081" Type="http://schemas.openxmlformats.org/officeDocument/2006/relationships/slide" Target="slides/slide1075.xml"/><Relationship Id="rId1082" Type="http://schemas.openxmlformats.org/officeDocument/2006/relationships/slide" Target="slides/slide1076.xml"/><Relationship Id="rId1083" Type="http://schemas.openxmlformats.org/officeDocument/2006/relationships/slide" Target="slides/slide1077.xml"/><Relationship Id="rId1084" Type="http://schemas.openxmlformats.org/officeDocument/2006/relationships/slide" Target="slides/slide1078.xml"/><Relationship Id="rId1085" Type="http://schemas.openxmlformats.org/officeDocument/2006/relationships/slide" Target="slides/slide1079.xml"/><Relationship Id="rId1086" Type="http://schemas.openxmlformats.org/officeDocument/2006/relationships/slide" Target="slides/slide1080.xml"/><Relationship Id="rId1087" Type="http://schemas.openxmlformats.org/officeDocument/2006/relationships/slide" Target="slides/slide1081.xml"/><Relationship Id="rId1088" Type="http://schemas.openxmlformats.org/officeDocument/2006/relationships/slide" Target="slides/slide1082.xml"/><Relationship Id="rId1089" Type="http://schemas.openxmlformats.org/officeDocument/2006/relationships/slide" Target="slides/slide1083.xml"/><Relationship Id="rId1090" Type="http://schemas.openxmlformats.org/officeDocument/2006/relationships/slide" Target="slides/slide1084.xml"/><Relationship Id="rId1091" Type="http://schemas.openxmlformats.org/officeDocument/2006/relationships/slide" Target="slides/slide1085.xml"/><Relationship Id="rId1092" Type="http://schemas.openxmlformats.org/officeDocument/2006/relationships/slide" Target="slides/slide1086.xml"/><Relationship Id="rId1093" Type="http://schemas.openxmlformats.org/officeDocument/2006/relationships/slide" Target="slides/slide1087.xml"/><Relationship Id="rId1094" Type="http://schemas.openxmlformats.org/officeDocument/2006/relationships/slide" Target="slides/slide1088.xml"/><Relationship Id="rId1095" Type="http://schemas.openxmlformats.org/officeDocument/2006/relationships/slide" Target="slides/slide1089.xml"/><Relationship Id="rId1096" Type="http://schemas.openxmlformats.org/officeDocument/2006/relationships/slide" Target="slides/slide1090.xml"/><Relationship Id="rId1097" Type="http://schemas.openxmlformats.org/officeDocument/2006/relationships/slide" Target="slides/slide1091.xml"/><Relationship Id="rId1098" Type="http://schemas.openxmlformats.org/officeDocument/2006/relationships/slide" Target="slides/slide1092.xml"/><Relationship Id="rId1099" Type="http://schemas.openxmlformats.org/officeDocument/2006/relationships/slide" Target="slides/slide1093.xml"/><Relationship Id="rId1100" Type="http://schemas.openxmlformats.org/officeDocument/2006/relationships/slide" Target="slides/slide1094.xml"/><Relationship Id="rId1101" Type="http://schemas.openxmlformats.org/officeDocument/2006/relationships/slide" Target="slides/slide1095.xml"/><Relationship Id="rId1102" Type="http://schemas.openxmlformats.org/officeDocument/2006/relationships/slide" Target="slides/slide1096.xml"/><Relationship Id="rId1103" Type="http://schemas.openxmlformats.org/officeDocument/2006/relationships/slide" Target="slides/slide1097.xml"/><Relationship Id="rId1104" Type="http://schemas.openxmlformats.org/officeDocument/2006/relationships/slide" Target="slides/slide1098.xml"/><Relationship Id="rId1105" Type="http://schemas.openxmlformats.org/officeDocument/2006/relationships/slide" Target="slides/slide1099.xml"/><Relationship Id="rId1106" Type="http://schemas.openxmlformats.org/officeDocument/2006/relationships/slide" Target="slides/slide1100.xml"/><Relationship Id="rId1107" Type="http://schemas.openxmlformats.org/officeDocument/2006/relationships/slide" Target="slides/slide1101.xml"/><Relationship Id="rId1108" Type="http://schemas.openxmlformats.org/officeDocument/2006/relationships/slide" Target="slides/slide1102.xml"/><Relationship Id="rId1109" Type="http://schemas.openxmlformats.org/officeDocument/2006/relationships/slide" Target="slides/slide1103.xml"/><Relationship Id="rId1110" Type="http://schemas.openxmlformats.org/officeDocument/2006/relationships/slide" Target="slides/slide1104.xml"/><Relationship Id="rId1111" Type="http://schemas.openxmlformats.org/officeDocument/2006/relationships/slide" Target="slides/slide1105.xml"/><Relationship Id="rId1112" Type="http://schemas.openxmlformats.org/officeDocument/2006/relationships/slide" Target="slides/slide1106.xml"/><Relationship Id="rId1113" Type="http://schemas.openxmlformats.org/officeDocument/2006/relationships/slide" Target="slides/slide1107.xml"/><Relationship Id="rId1114" Type="http://schemas.openxmlformats.org/officeDocument/2006/relationships/slide" Target="slides/slide1108.xml"/><Relationship Id="rId1115" Type="http://schemas.openxmlformats.org/officeDocument/2006/relationships/slide" Target="slides/slide1109.xml"/><Relationship Id="rId1116" Type="http://schemas.openxmlformats.org/officeDocument/2006/relationships/slide" Target="slides/slide1110.xml"/><Relationship Id="rId1117" Type="http://schemas.openxmlformats.org/officeDocument/2006/relationships/slide" Target="slides/slide1111.xml"/><Relationship Id="rId1118" Type="http://schemas.openxmlformats.org/officeDocument/2006/relationships/slide" Target="slides/slide1112.xml"/><Relationship Id="rId1119" Type="http://schemas.openxmlformats.org/officeDocument/2006/relationships/slide" Target="slides/slide1113.xml"/><Relationship Id="rId1120" Type="http://schemas.openxmlformats.org/officeDocument/2006/relationships/slide" Target="slides/slide1114.xml"/><Relationship Id="rId1121" Type="http://schemas.openxmlformats.org/officeDocument/2006/relationships/slide" Target="slides/slide1115.xml"/><Relationship Id="rId1122" Type="http://schemas.openxmlformats.org/officeDocument/2006/relationships/slide" Target="slides/slide1116.xml"/><Relationship Id="rId1123" Type="http://schemas.openxmlformats.org/officeDocument/2006/relationships/slide" Target="slides/slide1117.xml"/><Relationship Id="rId1124" Type="http://schemas.openxmlformats.org/officeDocument/2006/relationships/slide" Target="slides/slide1118.xml"/><Relationship Id="rId1125" Type="http://schemas.openxmlformats.org/officeDocument/2006/relationships/slide" Target="slides/slide1119.xml"/><Relationship Id="rId1126" Type="http://schemas.openxmlformats.org/officeDocument/2006/relationships/slide" Target="slides/slide1120.xml"/><Relationship Id="rId1127" Type="http://schemas.openxmlformats.org/officeDocument/2006/relationships/slide" Target="slides/slide1121.xml"/><Relationship Id="rId1128" Type="http://schemas.openxmlformats.org/officeDocument/2006/relationships/slide" Target="slides/slide1122.xml"/><Relationship Id="rId1129" Type="http://schemas.openxmlformats.org/officeDocument/2006/relationships/slide" Target="slides/slide1123.xml"/><Relationship Id="rId1130" Type="http://schemas.openxmlformats.org/officeDocument/2006/relationships/slide" Target="slides/slide1124.xml"/><Relationship Id="rId1131" Type="http://schemas.openxmlformats.org/officeDocument/2006/relationships/slide" Target="slides/slide1125.xml"/><Relationship Id="rId1132" Type="http://schemas.openxmlformats.org/officeDocument/2006/relationships/slide" Target="slides/slide1126.xml"/><Relationship Id="rId1133" Type="http://schemas.openxmlformats.org/officeDocument/2006/relationships/slide" Target="slides/slide1127.xml"/><Relationship Id="rId1134" Type="http://schemas.openxmlformats.org/officeDocument/2006/relationships/slide" Target="slides/slide1128.xml"/><Relationship Id="rId1135" Type="http://schemas.openxmlformats.org/officeDocument/2006/relationships/slide" Target="slides/slide1129.xml"/><Relationship Id="rId1136" Type="http://schemas.openxmlformats.org/officeDocument/2006/relationships/slide" Target="slides/slide1130.xml"/><Relationship Id="rId1137" Type="http://schemas.openxmlformats.org/officeDocument/2006/relationships/slide" Target="slides/slide1131.xml"/><Relationship Id="rId1138" Type="http://schemas.openxmlformats.org/officeDocument/2006/relationships/slide" Target="slides/slide1132.xml"/><Relationship Id="rId1139" Type="http://schemas.openxmlformats.org/officeDocument/2006/relationships/slide" Target="slides/slide1133.xml"/><Relationship Id="rId1140" Type="http://schemas.openxmlformats.org/officeDocument/2006/relationships/slide" Target="slides/slide1134.xml"/><Relationship Id="rId1141" Type="http://schemas.openxmlformats.org/officeDocument/2006/relationships/slide" Target="slides/slide1135.xml"/><Relationship Id="rId1142" Type="http://schemas.openxmlformats.org/officeDocument/2006/relationships/slide" Target="slides/slide1136.xml"/><Relationship Id="rId1143" Type="http://schemas.openxmlformats.org/officeDocument/2006/relationships/slide" Target="slides/slide1137.xml"/><Relationship Id="rId1144" Type="http://schemas.openxmlformats.org/officeDocument/2006/relationships/slide" Target="slides/slide1138.xml"/><Relationship Id="rId1145" Type="http://schemas.openxmlformats.org/officeDocument/2006/relationships/slide" Target="slides/slide1139.xml"/><Relationship Id="rId1146" Type="http://schemas.openxmlformats.org/officeDocument/2006/relationships/slide" Target="slides/slide1140.xml"/><Relationship Id="rId1147" Type="http://schemas.openxmlformats.org/officeDocument/2006/relationships/slide" Target="slides/slide1141.xml"/><Relationship Id="rId1148" Type="http://schemas.openxmlformats.org/officeDocument/2006/relationships/slide" Target="slides/slide1142.xml"/><Relationship Id="rId1149" Type="http://schemas.openxmlformats.org/officeDocument/2006/relationships/slide" Target="slides/slide1143.xml"/><Relationship Id="rId1150" Type="http://schemas.openxmlformats.org/officeDocument/2006/relationships/slide" Target="slides/slide1144.xml"/><Relationship Id="rId1151" Type="http://schemas.openxmlformats.org/officeDocument/2006/relationships/slide" Target="slides/slide1145.xml"/><Relationship Id="rId1152" Type="http://schemas.openxmlformats.org/officeDocument/2006/relationships/slide" Target="slides/slide1146.xml"/><Relationship Id="rId1153" Type="http://schemas.openxmlformats.org/officeDocument/2006/relationships/slide" Target="slides/slide1147.xml"/><Relationship Id="rId1154" Type="http://schemas.openxmlformats.org/officeDocument/2006/relationships/slide" Target="slides/slide1148.xml"/><Relationship Id="rId1155" Type="http://schemas.openxmlformats.org/officeDocument/2006/relationships/slide" Target="slides/slide1149.xml"/><Relationship Id="rId1156" Type="http://schemas.openxmlformats.org/officeDocument/2006/relationships/slide" Target="slides/slide1150.xml"/><Relationship Id="rId1157" Type="http://schemas.openxmlformats.org/officeDocument/2006/relationships/slide" Target="slides/slide1151.xml"/><Relationship Id="rId1158" Type="http://schemas.openxmlformats.org/officeDocument/2006/relationships/slide" Target="slides/slide1152.xml"/><Relationship Id="rId1159" Type="http://schemas.openxmlformats.org/officeDocument/2006/relationships/slide" Target="slides/slide1153.xml"/><Relationship Id="rId1160" Type="http://schemas.openxmlformats.org/officeDocument/2006/relationships/slide" Target="slides/slide1154.xml"/><Relationship Id="rId1161" Type="http://schemas.openxmlformats.org/officeDocument/2006/relationships/slide" Target="slides/slide1155.xml"/><Relationship Id="rId1162" Type="http://schemas.openxmlformats.org/officeDocument/2006/relationships/slide" Target="slides/slide1156.xml"/><Relationship Id="rId1163" Type="http://schemas.openxmlformats.org/officeDocument/2006/relationships/slide" Target="slides/slide1157.xml"/><Relationship Id="rId1164" Type="http://schemas.openxmlformats.org/officeDocument/2006/relationships/slide" Target="slides/slide1158.xml"/><Relationship Id="rId1165" Type="http://schemas.openxmlformats.org/officeDocument/2006/relationships/slide" Target="slides/slide1159.xml"/><Relationship Id="rId1166" Type="http://schemas.openxmlformats.org/officeDocument/2006/relationships/slide" Target="slides/slide1160.xml"/><Relationship Id="rId1167" Type="http://schemas.openxmlformats.org/officeDocument/2006/relationships/slide" Target="slides/slide1161.xml"/><Relationship Id="rId1168" Type="http://schemas.openxmlformats.org/officeDocument/2006/relationships/slide" Target="slides/slide1162.xml"/><Relationship Id="rId1169" Type="http://schemas.openxmlformats.org/officeDocument/2006/relationships/slide" Target="slides/slide1163.xml"/><Relationship Id="rId1170" Type="http://schemas.openxmlformats.org/officeDocument/2006/relationships/slide" Target="slides/slide1164.xml"/><Relationship Id="rId1171" Type="http://schemas.openxmlformats.org/officeDocument/2006/relationships/slide" Target="slides/slide1165.xml"/><Relationship Id="rId1172" Type="http://schemas.openxmlformats.org/officeDocument/2006/relationships/slide" Target="slides/slide1166.xml"/><Relationship Id="rId1173" Type="http://schemas.openxmlformats.org/officeDocument/2006/relationships/slide" Target="slides/slide1167.xml"/><Relationship Id="rId1174" Type="http://schemas.openxmlformats.org/officeDocument/2006/relationships/slide" Target="slides/slide1168.xml"/><Relationship Id="rId1175" Type="http://schemas.openxmlformats.org/officeDocument/2006/relationships/slide" Target="slides/slide1169.xml"/><Relationship Id="rId1176" Type="http://schemas.openxmlformats.org/officeDocument/2006/relationships/slide" Target="slides/slide1170.xml"/><Relationship Id="rId1177" Type="http://schemas.openxmlformats.org/officeDocument/2006/relationships/slide" Target="slides/slide1171.xml"/><Relationship Id="rId1178" Type="http://schemas.openxmlformats.org/officeDocument/2006/relationships/slide" Target="slides/slide117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32720" cy="1828800"/>
          </a:xfrm>
          <a:prstGeom prst="rect">
            <a:avLst/>
          </a:prstGeom>
          <a:noFill/>
        </p:spPr>
        <p:txBody>
          <a:bodyPr wrap="square" anchor="ctr">
            <a:spAutoFit/>
          </a:bodyPr>
          <a:lstStyle/>
          <a:p>
            <a:pPr>
              <a:defRPr sz="3600" b="1">
                <a:solidFill>
                  <a:srgbClr val="0F172A"/>
                </a:solidFill>
                <a:latin typeface="Segoe UI Semibold"/>
              </a:defRPr>
            </a:pPr>
            <a:r>
              <a:rPr sz="3600" b="1">
                <a:solidFill>
                  <a:srgbClr val="0F172A"/>
                </a:solidFill>
                <a:latin typeface="Segoe UI Semibold"/>
              </a:rPr>
              <a:t>Python Data Science Program — currículo completo</a:t>
            </a:r>
          </a:p>
        </p:txBody>
      </p:sp>
      <p:sp>
        <p:nvSpPr>
          <p:cNvPr id="6" name="TextBox 5"/>
          <p:cNvSpPr txBox="1"/>
          <p:nvPr/>
        </p:nvSpPr>
        <p:spPr>
          <a:xfrm>
            <a:off x="914400" y="4297680"/>
            <a:ext cx="10332720" cy="1097280"/>
          </a:xfrm>
          <a:prstGeom prst="rect">
            <a:avLst/>
          </a:prstGeom>
          <a:noFill/>
        </p:spPr>
        <p:txBody>
          <a:bodyPr wrap="square">
            <a:spAutoFit/>
          </a:bodyPr>
          <a:lstStyle/>
          <a:p>
            <a:pPr>
              <a:defRPr sz="1800" b="0">
                <a:solidFill>
                  <a:srgbClr val="475569"/>
                </a:solidFill>
                <a:latin typeface="Segoe UI"/>
              </a:defRPr>
            </a:pPr>
            <a:r>
              <a:rPr sz="1800" b="0">
                <a:solidFill>
                  <a:srgbClr val="475569"/>
                </a:solidFill>
                <a:latin typeface="Segoe UI"/>
              </a:rPr>
              <a:t>232 clases · 9 partes · v3.7.0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Índice general del programa</a:t>
            </a:r>
          </a:p>
        </p:txBody>
      </p:sp>
      <p:sp>
        <p:nvSpPr>
          <p:cNvPr id="5" name="Rounded Rectangle 4"/>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Parte 0 — Parte 0 — Prerrequisitos: Python + NumPy + pandas + visualización + SQL + APIs (49 clases)</a:t>
            </a:r>
          </a:p>
          <a:p>
            <a:pPr>
              <a:spcAft>
                <a:spcPts val="1000"/>
              </a:spcAft>
              <a:defRPr sz="1600" b="0">
                <a:solidFill>
                  <a:srgbClr val="0F172A"/>
                </a:solidFill>
                <a:latin typeface="Segoe UI"/>
              </a:defRPr>
            </a:pPr>
            <a:r>
              <a:rPr sz="1600" b="0">
                <a:solidFill>
                  <a:srgbClr val="0F172A"/>
                </a:solidFill>
                <a:latin typeface="Segoe UI"/>
              </a:rPr>
              <a:t>• Parte 1 — Parte 1 — Machine Learning Clásico (50 clases)</a:t>
            </a:r>
          </a:p>
          <a:p>
            <a:pPr>
              <a:spcAft>
                <a:spcPts val="1000"/>
              </a:spcAft>
              <a:defRPr sz="1600" b="0">
                <a:solidFill>
                  <a:srgbClr val="0F172A"/>
                </a:solidFill>
                <a:latin typeface="Segoe UI"/>
              </a:defRPr>
            </a:pPr>
            <a:r>
              <a:rPr sz="1600" b="0">
                <a:solidFill>
                  <a:srgbClr val="0F172A"/>
                </a:solidFill>
                <a:latin typeface="Segoe UI"/>
              </a:rPr>
              <a:t>• Parte 2 — Parte 2 — Deep Learning — Keras, TensorFlow, Transformers, RL y Despliegue (75 clases)</a:t>
            </a:r>
          </a:p>
          <a:p>
            <a:pPr>
              <a:spcAft>
                <a:spcPts val="1000"/>
              </a:spcAft>
              <a:defRPr sz="1600" b="0">
                <a:solidFill>
                  <a:srgbClr val="0F172A"/>
                </a:solidFill>
                <a:latin typeface="Segoe UI"/>
              </a:defRPr>
            </a:pPr>
            <a:r>
              <a:rPr sz="1600" b="0">
                <a:solidFill>
                  <a:srgbClr val="0F172A"/>
                </a:solidFill>
                <a:latin typeface="Segoe UI"/>
              </a:rPr>
              <a:t>• Parte 3 — Parte 3 — Estadística Inferencial y Causal (19 clases)</a:t>
            </a:r>
          </a:p>
          <a:p>
            <a:pPr>
              <a:spcAft>
                <a:spcPts val="1000"/>
              </a:spcAft>
              <a:defRPr sz="1600" b="0">
                <a:solidFill>
                  <a:srgbClr val="0F172A"/>
                </a:solidFill>
                <a:latin typeface="Segoe UI"/>
              </a:defRPr>
            </a:pPr>
            <a:r>
              <a:rPr sz="1600" b="0">
                <a:solidFill>
                  <a:srgbClr val="0F172A"/>
                </a:solidFill>
                <a:latin typeface="Segoe UI"/>
              </a:rPr>
              <a:t>• Parte 4 — Parte 4 — MLOps — Modelos en Producción (14 clases)</a:t>
            </a:r>
          </a:p>
          <a:p>
            <a:pPr>
              <a:spcAft>
                <a:spcPts val="1000"/>
              </a:spcAft>
              <a:defRPr sz="1600" b="0">
                <a:solidFill>
                  <a:srgbClr val="0F172A"/>
                </a:solidFill>
                <a:latin typeface="Segoe UI"/>
              </a:defRPr>
            </a:pPr>
            <a:r>
              <a:rPr sz="1600" b="0">
                <a:solidFill>
                  <a:srgbClr val="0F172A"/>
                </a:solidFill>
                <a:latin typeface="Segoe UI"/>
              </a:rPr>
              <a:t>• Parte 5 — Parte 5 — Ingeniería de Datos (8 clases)</a:t>
            </a:r>
          </a:p>
          <a:p>
            <a:pPr>
              <a:spcAft>
                <a:spcPts val="1000"/>
              </a:spcAft>
              <a:defRPr sz="1600" b="0">
                <a:solidFill>
                  <a:srgbClr val="0F172A"/>
                </a:solidFill>
                <a:latin typeface="Segoe UI"/>
              </a:defRPr>
            </a:pPr>
            <a:r>
              <a:rPr sz="1600" b="0">
                <a:solidFill>
                  <a:srgbClr val="0F172A"/>
                </a:solidFill>
                <a:latin typeface="Segoe UI"/>
              </a:rPr>
              <a:t>• Parte 6 — Parte 6 — Sistemas de Recomendación (7 clases)</a:t>
            </a:r>
          </a:p>
          <a:p>
            <a:pPr>
              <a:spcAft>
                <a:spcPts val="1000"/>
              </a:spcAft>
              <a:defRPr sz="1600" b="0">
                <a:solidFill>
                  <a:srgbClr val="0F172A"/>
                </a:solidFill>
                <a:latin typeface="Segoe UI"/>
              </a:defRPr>
            </a:pPr>
            <a:r>
              <a:rPr sz="1600" b="0">
                <a:solidFill>
                  <a:srgbClr val="0F172A"/>
                </a:solidFill>
                <a:latin typeface="Segoe UI"/>
              </a:rPr>
              <a:t>• Parte 7 — Parte 7 — Ética, Fairness y Privacidad (6 clases)</a:t>
            </a:r>
          </a:p>
          <a:p>
            <a:pPr>
              <a:spcAft>
                <a:spcPts val="1000"/>
              </a:spcAft>
              <a:defRPr sz="1600" b="0">
                <a:solidFill>
                  <a:srgbClr val="0F172A"/>
                </a:solidFill>
                <a:latin typeface="Segoe UI"/>
              </a:defRPr>
            </a:pPr>
            <a:r>
              <a:rPr sz="1600" b="0">
                <a:solidFill>
                  <a:srgbClr val="0F172A"/>
                </a:solidFill>
                <a:latin typeface="Segoe UI"/>
              </a:rPr>
              <a:t>• Parte 8 — Parte 8 — Capstones — Proyectos Integradores (4 clases)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0 — Prerrequisitos: Python + NumPy + pandas + visualización + SQL + APIs · 49 clases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001 — Instalación de Python 3.12+ y entornos virtuales (venv, uv, conda)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001 — Instalación de Python 3.12+ y entornos virtuales (venv, uv, conda)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Python Data Science Handbook, prefacio "Installation Considerations". · Duración estimada: 90 min (45 lectura + 45 práctica).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su máquina lista para trabajar en data science: con Python 3.12+ instalado correctamente, con al menos dos gestores de entornos virtuales funcionando (venv nativo + uv o conda), y con la disciplina de nunca instalar paquetes en el Python del sistema. Al final de la clase, deberá poder crear un entorno limpio, activarlo, instalar dependencias declaradas, y reproducirlo exactamente en otra máquina.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Verificar qué versión de Python tiene su máquina y desde qué ruta se ejecuta (python -V, which python / where python, sys.executable).</a:t>
            </a:r>
          </a:p>
          <a:p>
            <a:pPr>
              <a:spcAft>
                <a:spcPts val="800"/>
              </a:spcAft>
              <a:defRPr sz="1400" b="0">
                <a:solidFill>
                  <a:srgbClr val="0F172A"/>
                </a:solidFill>
                <a:latin typeface="Segoe UI"/>
              </a:defRPr>
            </a:pPr>
            <a:r>
              <a:rPr sz="1400" b="0">
                <a:solidFill>
                  <a:srgbClr val="0F172A"/>
                </a:solidFill>
                <a:latin typeface="Segoe UI"/>
              </a:rPr>
              <a:t>• Crear, activar y destruir entornos virtuales con venv, uv venv y conda create — y explicar cuándo conviene cada uno.</a:t>
            </a:r>
          </a:p>
          <a:p>
            <a:pPr>
              <a:spcAft>
                <a:spcPts val="800"/>
              </a:spcAft>
              <a:defRPr sz="1400" b="0">
                <a:solidFill>
                  <a:srgbClr val="0F172A"/>
                </a:solidFill>
                <a:latin typeface="Segoe UI"/>
              </a:defRPr>
            </a:pPr>
            <a:r>
              <a:rPr sz="1400" b="0">
                <a:solidFill>
                  <a:srgbClr val="0F172A"/>
                </a:solidFill>
                <a:latin typeface="Segoe UI"/>
              </a:rPr>
              <a:t>• Instalar dependencias desde requirements.txt y desde pyproject.toml, y congelar versiones reproducibles (pip freeze, uv pip compile, conda env export).</a:t>
            </a:r>
          </a:p>
          <a:p>
            <a:pPr>
              <a:spcAft>
                <a:spcPts val="800"/>
              </a:spcAft>
              <a:defRPr sz="1400" b="0">
                <a:solidFill>
                  <a:srgbClr val="0F172A"/>
                </a:solidFill>
                <a:latin typeface="Segoe UI"/>
              </a:defRPr>
            </a:pPr>
            <a:r>
              <a:rPr sz="1400" b="0">
                <a:solidFill>
                  <a:srgbClr val="0F172A"/>
                </a:solidFill>
                <a:latin typeface="Segoe UI"/>
              </a:rPr>
              <a:t>• Diagnosticar el error más frecuente del principiante: "instalé un paquete pero el import falla" (causa: pip instaló en un Python distinto del que ejecuta el notebook).</a:t>
            </a:r>
          </a:p>
          <a:p>
            <a:pPr>
              <a:spcAft>
                <a:spcPts val="800"/>
              </a:spcAft>
              <a:defRPr sz="1400" b="0">
                <a:solidFill>
                  <a:srgbClr val="0F172A"/>
                </a:solidFill>
                <a:latin typeface="Segoe UI"/>
              </a:defRPr>
            </a:pPr>
            <a:r>
              <a:rPr sz="1400" b="0">
                <a:solidFill>
                  <a:srgbClr val="0F172A"/>
                </a:solidFill>
                <a:latin typeface="Segoe UI"/>
              </a:rPr>
              <a:t>• Justificar por qué un entorno virtual por proyecto es no-negociable en data science (reproducibilidad, conflictos de versiones, aislamiento de experimentos).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001 — Instalación de Python 3.12+ y entornos virtuales (venv, uv, conda)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Qué es Python "del sistema" y por qué no tocarlo</a:t>
            </a:r>
          </a:p>
          <a:p>
            <a:pPr>
              <a:spcAft>
                <a:spcPts val="1000"/>
              </a:spcAft>
              <a:defRPr sz="1600" b="0">
                <a:solidFill>
                  <a:srgbClr val="0F172A"/>
                </a:solidFill>
                <a:latin typeface="Segoe UI"/>
              </a:defRPr>
            </a:pPr>
            <a:r>
              <a:rPr sz="1600" b="0">
                <a:solidFill>
                  <a:srgbClr val="0F172A"/>
                </a:solidFill>
                <a:latin typeface="Segoe UI"/>
              </a:rPr>
              <a:t>• Instaladores oficiales vs. pyenv / mise</a:t>
            </a:r>
          </a:p>
          <a:p>
            <a:pPr>
              <a:spcAft>
                <a:spcPts val="1000"/>
              </a:spcAft>
              <a:defRPr sz="1600" b="0">
                <a:solidFill>
                  <a:srgbClr val="0F172A"/>
                </a:solidFill>
                <a:latin typeface="Segoe UI"/>
              </a:defRPr>
            </a:pPr>
            <a:r>
              <a:rPr sz="1600" b="0">
                <a:solidFill>
                  <a:srgbClr val="0F172A"/>
                </a:solidFill>
                <a:latin typeface="Segoe UI"/>
              </a:rPr>
              <a:t>• venv (stdlib)</a:t>
            </a:r>
          </a:p>
          <a:p>
            <a:pPr>
              <a:spcAft>
                <a:spcPts val="1000"/>
              </a:spcAft>
              <a:defRPr sz="1600" b="0">
                <a:solidFill>
                  <a:srgbClr val="0F172A"/>
                </a:solidFill>
                <a:latin typeface="Segoe UI"/>
              </a:defRPr>
            </a:pPr>
            <a:r>
              <a:rPr sz="1600" b="0">
                <a:solidFill>
                  <a:srgbClr val="0F172A"/>
                </a:solidFill>
                <a:latin typeface="Segoe UI"/>
              </a:rPr>
              <a:t>• uv (Astral)</a:t>
            </a:r>
          </a:p>
          <a:p>
            <a:pPr>
              <a:spcAft>
                <a:spcPts val="1000"/>
              </a:spcAft>
              <a:defRPr sz="1600" b="0">
                <a:solidFill>
                  <a:srgbClr val="0F172A"/>
                </a:solidFill>
                <a:latin typeface="Segoe UI"/>
              </a:defRPr>
            </a:pPr>
            <a:r>
              <a:rPr sz="1600" b="0">
                <a:solidFill>
                  <a:srgbClr val="0F172A"/>
                </a:solidFill>
                <a:latin typeface="Segoe UI"/>
              </a:rPr>
              <a:t>• conda / mamba</a:t>
            </a:r>
          </a:p>
          <a:p>
            <a:pPr>
              <a:spcAft>
                <a:spcPts val="1000"/>
              </a:spcAft>
              <a:defRPr sz="1600" b="0">
                <a:solidFill>
                  <a:srgbClr val="0F172A"/>
                </a:solidFill>
                <a:latin typeface="Segoe UI"/>
              </a:defRPr>
            </a:pPr>
            <a:r>
              <a:rPr sz="1600" b="0">
                <a:solidFill>
                  <a:srgbClr val="0F172A"/>
                </a:solidFill>
                <a:latin typeface="Segoe UI"/>
              </a:rPr>
              <a:t>• requirements.txt vs pyproject.toml vs environment.yml</a:t>
            </a:r>
          </a:p>
          <a:p>
            <a:pPr>
              <a:spcAft>
                <a:spcPts val="1000"/>
              </a:spcAft>
              <a:defRPr sz="1600" b="0">
                <a:solidFill>
                  <a:srgbClr val="0F172A"/>
                </a:solidFill>
                <a:latin typeface="Segoe UI"/>
              </a:defRPr>
            </a:pPr>
            <a:r>
              <a:rPr sz="1600" b="0">
                <a:solidFill>
                  <a:srgbClr val="0F172A"/>
                </a:solidFill>
                <a:latin typeface="Segoe UI"/>
              </a:rPr>
              <a:t>• El bug más común: "pip install funciona pero import falla"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001 — Instalación de Python 3.12+ y entornos virtuales (venv, uv, conda)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Imports mínimos: sólo stdlib. Esta clase no requiere paquetes externos — el punto es justamente aprender a instalarlos.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sys</a:t>
            </a:r>
          </a:p>
          <a:p>
            <a:pPr>
              <a:defRPr sz="1200" b="0">
                <a:solidFill>
                  <a:srgbClr val="F8FAFC"/>
                </a:solidFill>
                <a:latin typeface="Courier New"/>
              </a:defRPr>
            </a:pPr>
            <a:r>
              <a:rPr sz="1200" b="0">
                <a:solidFill>
                  <a:srgbClr val="F8FAFC"/>
                </a:solidFill>
                <a:latin typeface="Courier New"/>
              </a:rPr>
              <a:t>import platform</a:t>
            </a:r>
          </a:p>
          <a:p>
            <a:pPr>
              <a:defRPr sz="1200" b="0">
                <a:solidFill>
                  <a:srgbClr val="F8FAFC"/>
                </a:solidFill>
                <a:latin typeface="Courier New"/>
              </a:defRPr>
            </a:pPr>
            <a:r>
              <a:rPr sz="1200" b="0">
                <a:solidFill>
                  <a:srgbClr val="F8FAFC"/>
                </a:solidFill>
                <a:latin typeface="Courier New"/>
              </a:rPr>
              <a:t>import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print('python      :', sys.version.split()[0])</a:t>
            </a:r>
          </a:p>
          <a:p>
            <a:pPr>
              <a:defRPr sz="1200" b="0">
                <a:solidFill>
                  <a:srgbClr val="F8FAFC"/>
                </a:solidFill>
                <a:latin typeface="Courier New"/>
              </a:defRPr>
            </a:pPr>
            <a:r>
              <a:rPr sz="1200" b="0">
                <a:solidFill>
                  <a:srgbClr val="F8FAFC"/>
                </a:solidFill>
                <a:latin typeface="Courier New"/>
              </a:rPr>
              <a:t>print('executable  :', sys.executable)</a:t>
            </a:r>
          </a:p>
          <a:p>
            <a:pPr>
              <a:defRPr sz="1200" b="0">
                <a:solidFill>
                  <a:srgbClr val="F8FAFC"/>
                </a:solidFill>
                <a:latin typeface="Courier New"/>
              </a:defRPr>
            </a:pPr>
            <a:r>
              <a:rPr sz="1200" b="0">
                <a:solidFill>
                  <a:srgbClr val="F8FAFC"/>
                </a:solidFill>
                <a:latin typeface="Courier New"/>
              </a:rPr>
              <a:t>print('platform    :', platform.system(), platform.release())</a:t>
            </a:r>
          </a:p>
          <a:p>
            <a:pPr>
              <a:defRPr sz="1200" b="0">
                <a:solidFill>
                  <a:srgbClr val="F8FAFC"/>
                </a:solidFill>
                <a:latin typeface="Courier New"/>
              </a:defRPr>
            </a:pPr>
            <a:r>
              <a:rPr sz="1200" b="0">
                <a:solidFill>
                  <a:srgbClr val="F8FAFC"/>
                </a:solidFill>
                <a:latin typeface="Courier New"/>
              </a:rPr>
              <a:t>print('cwd         :', Path.cwd())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001 — Instalación de Python 3.12+ y entornos virtuales (venv, uv, conda)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Diagnóstico inicial.</a:t>
            </a:r>
          </a:p>
          <a:p>
            <a:pPr>
              <a:spcAft>
                <a:spcPts val="800"/>
              </a:spcAft>
              <a:defRPr sz="1400" b="0">
                <a:solidFill>
                  <a:srgbClr val="0F172A"/>
                </a:solidFill>
                <a:latin typeface="Segoe UI"/>
              </a:defRPr>
            </a:pPr>
            <a:r>
              <a:rPr sz="1400" b="0">
                <a:solidFill>
                  <a:srgbClr val="0F172A"/>
                </a:solidFill>
                <a:latin typeface="Segoe UI"/>
              </a:rPr>
              <a:t>• Crea un entorno venv llamado .venv en un directorio nuevo, actívalo, instala numpy==2.1.0 y pandas==2.2.3, y verifica con pip list.</a:t>
            </a:r>
          </a:p>
          <a:p>
            <a:pPr>
              <a:spcAft>
                <a:spcPts val="800"/>
              </a:spcAft>
              <a:defRPr sz="1400" b="0">
                <a:solidFill>
                  <a:srgbClr val="0F172A"/>
                </a:solidFill>
                <a:latin typeface="Segoe UI"/>
              </a:defRPr>
            </a:pPr>
            <a:r>
              <a:rPr sz="1400" b="0">
                <a:solidFill>
                  <a:srgbClr val="0F172A"/>
                </a:solidFill>
                <a:latin typeface="Segoe UI"/>
              </a:rPr>
              <a:t>• Replica el mismo entorno con uv.</a:t>
            </a:r>
          </a:p>
          <a:p>
            <a:pPr>
              <a:spcAft>
                <a:spcPts val="800"/>
              </a:spcAft>
              <a:defRPr sz="1400" b="0">
                <a:solidFill>
                  <a:srgbClr val="0F172A"/>
                </a:solidFill>
                <a:latin typeface="Segoe UI"/>
              </a:defRPr>
            </a:pPr>
            <a:r>
              <a:rPr sz="1400" b="0">
                <a:solidFill>
                  <a:srgbClr val="0F172A"/>
                </a:solidFill>
                <a:latin typeface="Segoe UI"/>
              </a:rPr>
              <a:t>• Genera requirements.txt congelando versiones exactas con pip freeze &gt; requirements.txt.</a:t>
            </a:r>
          </a:p>
          <a:p>
            <a:pPr>
              <a:spcAft>
                <a:spcPts val="800"/>
              </a:spcAft>
              <a:defRPr sz="1400" b="0">
                <a:solidFill>
                  <a:srgbClr val="0F172A"/>
                </a:solidFill>
                <a:latin typeface="Segoe UI"/>
              </a:defRPr>
            </a:pPr>
            <a:r>
              <a:rPr sz="1400" b="0">
                <a:solidFill>
                  <a:srgbClr val="0F172A"/>
                </a:solidFill>
                <a:latin typeface="Segoe UI"/>
              </a:rPr>
              <a:t>• Provoca y resuelve el bug clásico.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 ] README.md indicando tu OS, versión de Python instalada y gestor elegido (venv / uv / conda).</a:t>
            </a:r>
          </a:p>
          <a:p>
            <a:pPr>
              <a:spcAft>
                <a:spcPts val="800"/>
              </a:spcAft>
              <a:defRPr sz="1400" b="0">
                <a:solidFill>
                  <a:srgbClr val="0F172A"/>
                </a:solidFill>
                <a:latin typeface="Segoe UI"/>
              </a:defRPr>
            </a:pPr>
            <a:r>
              <a:rPr sz="1400" b="0">
                <a:solidFill>
                  <a:srgbClr val="0F172A"/>
                </a:solidFill>
                <a:latin typeface="Segoe UI"/>
              </a:rPr>
              <a:t>• [ ] .gitignore con .venv/ y __pycache__/ (mínimo).</a:t>
            </a:r>
          </a:p>
          <a:p>
            <a:pPr>
              <a:spcAft>
                <a:spcPts val="800"/>
              </a:spcAft>
              <a:defRPr sz="1400" b="0">
                <a:solidFill>
                  <a:srgbClr val="0F172A"/>
                </a:solidFill>
                <a:latin typeface="Segoe UI"/>
              </a:defRPr>
            </a:pPr>
            <a:r>
              <a:rPr sz="1400" b="0">
                <a:solidFill>
                  <a:srgbClr val="0F172A"/>
                </a:solidFill>
                <a:latin typeface="Segoe UI"/>
              </a:rPr>
              <a:t>• [ ] requirements.txt con exactamente: numpy&gt;=2.0, pandas&gt;=2.2, matplotlib&gt;=3.8, jupyter&gt;=1.0.</a:t>
            </a:r>
          </a:p>
          <a:p>
            <a:pPr>
              <a:spcAft>
                <a:spcPts val="800"/>
              </a:spcAft>
              <a:defRPr sz="1400" b="0">
                <a:solidFill>
                  <a:srgbClr val="0F172A"/>
                </a:solidFill>
                <a:latin typeface="Segoe UI"/>
              </a:defRPr>
            </a:pPr>
            <a:r>
              <a:rPr sz="1400" b="0">
                <a:solidFill>
                  <a:srgbClr val="0F172A"/>
                </a:solidFill>
                <a:latin typeface="Segoe UI"/>
              </a:rPr>
              <a:t>• [ ] Un script verify.py que imprima:</a:t>
            </a:r>
          </a:p>
          <a:p>
            <a:pPr>
              <a:spcAft>
                <a:spcPts val="800"/>
              </a:spcAft>
              <a:defRPr sz="1400" b="0">
                <a:solidFill>
                  <a:srgbClr val="0F172A"/>
                </a:solidFill>
                <a:latin typeface="Segoe UI"/>
              </a:defRPr>
            </a:pPr>
            <a:r>
              <a:rPr sz="1400" b="0">
                <a:solidFill>
                  <a:srgbClr val="0F172A"/>
                </a:solidFill>
                <a:latin typeface="Segoe UI"/>
              </a:rPr>
              <a:t>• sys.version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002 — Jupyter y JupyterLab — kernels, magics, debugging, profiling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002 — Jupyter y JupyterLab — kernels, magics, debugging, profiling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Python Data Science Handbook, cap. 1 — IPython: Beyond Normal Python.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de usar Jupyter como un editor de texto con botón "play" y empiece a usarlo como un entorno exploratorio profesional: con magics que ahorran horas, debugger interactivo (%debug), y profiling real (%timeit, %prun). Al final debe poder diagnosticar por qué un notebook es lento sin adivinar.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kernel, frontend (Notebook vs JupyterLab vs VS Code) y servidor — y saber qué pasa cuando uno se cuelga.</a:t>
            </a:r>
          </a:p>
          <a:p>
            <a:pPr>
              <a:spcAft>
                <a:spcPts val="800"/>
              </a:spcAft>
              <a:defRPr sz="1400" b="0">
                <a:solidFill>
                  <a:srgbClr val="0F172A"/>
                </a:solidFill>
                <a:latin typeface="Segoe UI"/>
              </a:defRPr>
            </a:pPr>
            <a:r>
              <a:rPr sz="1400" b="0">
                <a:solidFill>
                  <a:srgbClr val="0F172A"/>
                </a:solidFill>
                <a:latin typeface="Segoe UI"/>
              </a:rPr>
              <a:t>• Usar magics esenciales: %timeit, %%time, %run, %load, %matplotlib inline, %debug, %who, %xmode.</a:t>
            </a:r>
          </a:p>
          <a:p>
            <a:pPr>
              <a:spcAft>
                <a:spcPts val="800"/>
              </a:spcAft>
              <a:defRPr sz="1400" b="0">
                <a:solidFill>
                  <a:srgbClr val="0F172A"/>
                </a:solidFill>
                <a:latin typeface="Segoe UI"/>
              </a:defRPr>
            </a:pPr>
            <a:r>
              <a:rPr sz="1400" b="0">
                <a:solidFill>
                  <a:srgbClr val="0F172A"/>
                </a:solidFill>
                <a:latin typeface="Segoe UI"/>
              </a:rPr>
              <a:t>• Conectar un kernel específico a un notebook (ipykernel install --user --name &lt;env&gt;) sin pelearse con el venv equivocado.</a:t>
            </a:r>
          </a:p>
          <a:p>
            <a:pPr>
              <a:spcAft>
                <a:spcPts val="800"/>
              </a:spcAft>
              <a:defRPr sz="1400" b="0">
                <a:solidFill>
                  <a:srgbClr val="0F172A"/>
                </a:solidFill>
                <a:latin typeface="Segoe UI"/>
              </a:defRPr>
            </a:pPr>
            <a:r>
              <a:rPr sz="1400" b="0">
                <a:solidFill>
                  <a:srgbClr val="0F172A"/>
                </a:solidFill>
                <a:latin typeface="Segoe UI"/>
              </a:rPr>
              <a:t>• Debuggear una excepción con %debug y pdb (n, s, c, q, p, l).</a:t>
            </a:r>
          </a:p>
          <a:p>
            <a:pPr>
              <a:spcAft>
                <a:spcPts val="800"/>
              </a:spcAft>
              <a:defRPr sz="1400" b="0">
                <a:solidFill>
                  <a:srgbClr val="0F172A"/>
                </a:solidFill>
                <a:latin typeface="Segoe UI"/>
              </a:defRPr>
            </a:pPr>
            <a:r>
              <a:rPr sz="1400" b="0">
                <a:solidFill>
                  <a:srgbClr val="0F172A"/>
                </a:solidFill>
                <a:latin typeface="Segoe UI"/>
              </a:rPr>
              <a:t>• Profilar código lento con %timeit (microbenchmark) y %prun (line profiler) para decidir dónde optimizar.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002 — Jupyter y JupyterLab — kernels, magics, debugging, profiling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Kernel ↔ frontend ↔ servidor</a:t>
            </a:r>
          </a:p>
          <a:p>
            <a:pPr>
              <a:spcAft>
                <a:spcPts val="1000"/>
              </a:spcAft>
              <a:defRPr sz="1600" b="0">
                <a:solidFill>
                  <a:srgbClr val="0F172A"/>
                </a:solidFill>
                <a:latin typeface="Segoe UI"/>
              </a:defRPr>
            </a:pPr>
            <a:r>
              <a:rPr sz="1600" b="0">
                <a:solidFill>
                  <a:srgbClr val="0F172A"/>
                </a:solidFill>
                <a:latin typeface="Segoe UI"/>
              </a:rPr>
              <a:t>• Modo comando vs modo edición + atajos</a:t>
            </a:r>
          </a:p>
          <a:p>
            <a:pPr>
              <a:spcAft>
                <a:spcPts val="1000"/>
              </a:spcAft>
              <a:defRPr sz="1600" b="0">
                <a:solidFill>
                  <a:srgbClr val="0F172A"/>
                </a:solidFill>
                <a:latin typeface="Segoe UI"/>
              </a:defRPr>
            </a:pPr>
            <a:r>
              <a:rPr sz="1600" b="0">
                <a:solidFill>
                  <a:srgbClr val="0F172A"/>
                </a:solidFill>
                <a:latin typeface="Segoe UI"/>
              </a:rPr>
              <a:t>• Magics line (%) vs cell (%%)</a:t>
            </a:r>
          </a:p>
          <a:p>
            <a:pPr>
              <a:spcAft>
                <a:spcPts val="1000"/>
              </a:spcAft>
              <a:defRPr sz="1600" b="0">
                <a:solidFill>
                  <a:srgbClr val="0F172A"/>
                </a:solidFill>
                <a:latin typeface="Segoe UI"/>
              </a:defRPr>
            </a:pPr>
            <a:r>
              <a:rPr sz="1600" b="0">
                <a:solidFill>
                  <a:srgbClr val="0F172A"/>
                </a:solidFill>
                <a:latin typeface="Segoe UI"/>
              </a:rPr>
              <a:t>• %timeit y %%time</a:t>
            </a:r>
          </a:p>
          <a:p>
            <a:pPr>
              <a:spcAft>
                <a:spcPts val="1000"/>
              </a:spcAft>
              <a:defRPr sz="1600" b="0">
                <a:solidFill>
                  <a:srgbClr val="0F172A"/>
                </a:solidFill>
                <a:latin typeface="Segoe UI"/>
              </a:defRPr>
            </a:pPr>
            <a:r>
              <a:rPr sz="1600" b="0">
                <a:solidFill>
                  <a:srgbClr val="0F172A"/>
                </a:solidFill>
                <a:latin typeface="Segoe UI"/>
              </a:rPr>
              <a:t>• %debug + pdb</a:t>
            </a:r>
          </a:p>
          <a:p>
            <a:pPr>
              <a:spcAft>
                <a:spcPts val="1000"/>
              </a:spcAft>
              <a:defRPr sz="1600" b="0">
                <a:solidFill>
                  <a:srgbClr val="0F172A"/>
                </a:solidFill>
                <a:latin typeface="Segoe UI"/>
              </a:defRPr>
            </a:pPr>
            <a:r>
              <a:rPr sz="1600" b="0">
                <a:solidFill>
                  <a:srgbClr val="0F172A"/>
                </a:solidFill>
                <a:latin typeface="Segoe UI"/>
              </a:rPr>
              <a:t>• %prun y %lprun</a:t>
            </a:r>
          </a:p>
          <a:p>
            <a:pPr>
              <a:spcAft>
                <a:spcPts val="1000"/>
              </a:spcAft>
              <a:defRPr sz="1600" b="0">
                <a:solidFill>
                  <a:srgbClr val="0F172A"/>
                </a:solidFill>
                <a:latin typeface="Segoe UI"/>
              </a:defRPr>
            </a:pPr>
            <a:r>
              <a:rPr sz="1600" b="0">
                <a:solidFill>
                  <a:srgbClr val="0F172A"/>
                </a:solidFill>
                <a:latin typeface="Segoe UI"/>
              </a:rPr>
              <a:t>• Registro de kernels por venv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002 — Jupyter y JupyterLab — kernels, magics, debugging, profiling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sys, time</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print('python:', sys.version.split()[0])</a:t>
            </a:r>
          </a:p>
          <a:p>
            <a:pPr>
              <a:defRPr sz="1200" b="0">
                <a:solidFill>
                  <a:srgbClr val="F8FAFC"/>
                </a:solidFill>
                <a:latin typeface="Courier New"/>
              </a:defRPr>
            </a:pPr>
            <a:r>
              <a:rPr sz="1200" b="0">
                <a:solidFill>
                  <a:srgbClr val="F8FAFC"/>
                </a:solidFill>
                <a:latin typeface="Courier New"/>
              </a:rPr>
              <a:t>print('exec  :', sys.executable)</a:t>
            </a:r>
          </a:p>
          <a:p>
            <a:pPr>
              <a:defRPr sz="1200" b="0">
                <a:solidFill>
                  <a:srgbClr val="F8FAFC"/>
                </a:solidFill>
                <a:latin typeface="Courier New"/>
              </a:defRPr>
            </a:pPr>
            <a:r>
              <a:rPr sz="1200" b="0">
                <a:solidFill>
                  <a:srgbClr val="F8FAFC"/>
                </a:solidFill>
                <a:latin typeface="Courier New"/>
              </a:rPr>
              <a:t>print('numpy :', np.__version__)</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002 — Jupyter y JupyterLab — kernels, magics, debugging, profiling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Atajos sin mouse.</a:t>
            </a:r>
          </a:p>
          <a:p>
            <a:pPr>
              <a:spcAft>
                <a:spcPts val="800"/>
              </a:spcAft>
              <a:defRPr sz="1400" b="0">
                <a:solidFill>
                  <a:srgbClr val="0F172A"/>
                </a:solidFill>
                <a:latin typeface="Segoe UI"/>
              </a:defRPr>
            </a:pPr>
            <a:r>
              <a:rPr sz="1400" b="0">
                <a:solidFill>
                  <a:srgbClr val="0F172A"/>
                </a:solidFill>
                <a:latin typeface="Segoe UI"/>
              </a:rPr>
              <a:t>• Registra tu kernel.</a:t>
            </a:r>
          </a:p>
          <a:p>
            <a:pPr>
              <a:spcAft>
                <a:spcPts val="800"/>
              </a:spcAft>
              <a:defRPr sz="1400" b="0">
                <a:solidFill>
                  <a:srgbClr val="0F172A"/>
                </a:solidFill>
                <a:latin typeface="Segoe UI"/>
              </a:defRPr>
            </a:pPr>
            <a:r>
              <a:rPr sz="1400" b="0">
                <a:solidFill>
                  <a:srgbClr val="0F172A"/>
                </a:solidFill>
                <a:latin typeface="Segoe UI"/>
              </a:rPr>
              <a:t>• Benchmark vectorización.</a:t>
            </a:r>
          </a:p>
          <a:p>
            <a:pPr>
              <a:spcAft>
                <a:spcPts val="800"/>
              </a:spcAft>
              <a:defRPr sz="1400" b="0">
                <a:solidFill>
                  <a:srgbClr val="0F172A"/>
                </a:solidFill>
                <a:latin typeface="Segoe UI"/>
              </a:defRPr>
            </a:pPr>
            <a:r>
              <a:rPr sz="1400" b="0">
                <a:solidFill>
                  <a:srgbClr val="0F172A"/>
                </a:solidFill>
                <a:latin typeface="Segoe UI"/>
              </a:rPr>
              <a:t>• Post-mortem.</a:t>
            </a:r>
          </a:p>
          <a:p>
            <a:pPr>
              <a:spcAft>
                <a:spcPts val="800"/>
              </a:spcAft>
              <a:defRPr sz="1400" b="0">
                <a:solidFill>
                  <a:srgbClr val="0F172A"/>
                </a:solidFill>
                <a:latin typeface="Segoe UI"/>
              </a:defRPr>
            </a:pPr>
            <a:r>
              <a:rPr sz="1400" b="0">
                <a:solidFill>
                  <a:srgbClr val="0F172A"/>
                </a:solidFill>
                <a:latin typeface="Segoe UI"/>
              </a:rPr>
              <a:t>• Profila una función.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Entrega un notebook homework.ipynb con: (a) celda que muestra sys.executable confirmando que usas un kernel registrado por ti; (b) benchmark %timeit comparando sum(range(N)) vs np.arange(N).sum() para N=10k, 100k, 1M; (c) tabla markdown con los resultados; (d) gráfico simple del speedup.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003 — Git y GitHub para data scientists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003 — Git y GitHub para data scientists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Pro Git (Chacon &amp; Straub) — caps. 2 y 3 · GitHub docs. · Duración estimada: 120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use git no como "botón save" sino como un sistema serio de versionado: commits atómicos con mensajes útiles, branches por feature, PRs con review, y resolución de conflictos sin pánico. Adicionalmente: ignorar correctamente los archivos típicos de DS (datos pesados, notebooks con output, secrets).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Inicializar un repo, hacer commits atómicos con mensajes en formato convencional.</a:t>
            </a:r>
          </a:p>
          <a:p>
            <a:pPr>
              <a:spcAft>
                <a:spcPts val="800"/>
              </a:spcAft>
              <a:defRPr sz="1400" b="0">
                <a:solidFill>
                  <a:srgbClr val="0F172A"/>
                </a:solidFill>
                <a:latin typeface="Segoe UI"/>
              </a:defRPr>
            </a:pPr>
            <a:r>
              <a:rPr sz="1400" b="0">
                <a:solidFill>
                  <a:srgbClr val="0F172A"/>
                </a:solidFill>
                <a:latin typeface="Segoe UI"/>
              </a:rPr>
              <a:t>• Trabajar con branches: crear, cambiar, mergear y resolver un conflicto sin perder código.</a:t>
            </a:r>
          </a:p>
          <a:p>
            <a:pPr>
              <a:spcAft>
                <a:spcPts val="800"/>
              </a:spcAft>
              <a:defRPr sz="1400" b="0">
                <a:solidFill>
                  <a:srgbClr val="0F172A"/>
                </a:solidFill>
                <a:latin typeface="Segoe UI"/>
              </a:defRPr>
            </a:pPr>
            <a:r>
              <a:rPr sz="1400" b="0">
                <a:solidFill>
                  <a:srgbClr val="0F172A"/>
                </a:solidFill>
                <a:latin typeface="Segoe UI"/>
              </a:rPr>
              <a:t>• Configurar .gitignore para un proyecto de DS (datos, .venv, secrets, outputs de notebooks).</a:t>
            </a:r>
          </a:p>
          <a:p>
            <a:pPr>
              <a:spcAft>
                <a:spcPts val="800"/>
              </a:spcAft>
              <a:defRPr sz="1400" b="0">
                <a:solidFill>
                  <a:srgbClr val="0F172A"/>
                </a:solidFill>
                <a:latin typeface="Segoe UI"/>
              </a:defRPr>
            </a:pPr>
            <a:r>
              <a:rPr sz="1400" b="0">
                <a:solidFill>
                  <a:srgbClr val="0F172A"/>
                </a:solidFill>
                <a:latin typeface="Segoe UI"/>
              </a:rPr>
              <a:t>• Abrir y revisar un PR en GitHub desde la línea de comandos con gh.</a:t>
            </a:r>
          </a:p>
          <a:p>
            <a:pPr>
              <a:spcAft>
                <a:spcPts val="800"/>
              </a:spcAft>
              <a:defRPr sz="1400" b="0">
                <a:solidFill>
                  <a:srgbClr val="0F172A"/>
                </a:solidFill>
                <a:latin typeface="Segoe UI"/>
              </a:defRPr>
            </a:pPr>
            <a:r>
              <a:rPr sz="1400" b="0">
                <a:solidFill>
                  <a:srgbClr val="0F172A"/>
                </a:solidFill>
                <a:latin typeface="Segoe UI"/>
              </a:rPr>
              <a:t>• Recuperar trabajo perdido con git reflog (la red de seguridad invisible).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003 — Git y GitHub para data scientists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Modelo de git: working tree → staging → repo → remote</a:t>
            </a:r>
          </a:p>
          <a:p>
            <a:pPr>
              <a:spcAft>
                <a:spcPts val="1000"/>
              </a:spcAft>
              <a:defRPr sz="1600" b="0">
                <a:solidFill>
                  <a:srgbClr val="0F172A"/>
                </a:solidFill>
                <a:latin typeface="Segoe UI"/>
              </a:defRPr>
            </a:pPr>
            <a:r>
              <a:rPr sz="1600" b="0">
                <a:solidFill>
                  <a:srgbClr val="0F172A"/>
                </a:solidFill>
                <a:latin typeface="Segoe UI"/>
              </a:rPr>
              <a:t>• Commits atómicos + mensajes convencionales</a:t>
            </a:r>
          </a:p>
          <a:p>
            <a:pPr>
              <a:spcAft>
                <a:spcPts val="1000"/>
              </a:spcAft>
              <a:defRPr sz="1600" b="0">
                <a:solidFill>
                  <a:srgbClr val="0F172A"/>
                </a:solidFill>
                <a:latin typeface="Segoe UI"/>
              </a:defRPr>
            </a:pPr>
            <a:r>
              <a:rPr sz="1600" b="0">
                <a:solidFill>
                  <a:srgbClr val="0F172A"/>
                </a:solidFill>
                <a:latin typeface="Segoe UI"/>
              </a:rPr>
              <a:t>• Branches y merge vs rebase</a:t>
            </a:r>
          </a:p>
          <a:p>
            <a:pPr>
              <a:spcAft>
                <a:spcPts val="1000"/>
              </a:spcAft>
              <a:defRPr sz="1600" b="0">
                <a:solidFill>
                  <a:srgbClr val="0F172A"/>
                </a:solidFill>
                <a:latin typeface="Segoe UI"/>
              </a:defRPr>
            </a:pPr>
            <a:r>
              <a:rPr sz="1600" b="0">
                <a:solidFill>
                  <a:srgbClr val="0F172A"/>
                </a:solidFill>
                <a:latin typeface="Segoe UI"/>
              </a:rPr>
              <a:t>• .gitignore para data science</a:t>
            </a:r>
          </a:p>
          <a:p>
            <a:pPr>
              <a:spcAft>
                <a:spcPts val="1000"/>
              </a:spcAft>
              <a:defRPr sz="1600" b="0">
                <a:solidFill>
                  <a:srgbClr val="0F172A"/>
                </a:solidFill>
                <a:latin typeface="Segoe UI"/>
              </a:defRPr>
            </a:pPr>
            <a:r>
              <a:rPr sz="1600" b="0">
                <a:solidFill>
                  <a:srgbClr val="0F172A"/>
                </a:solidFill>
                <a:latin typeface="Segoe UI"/>
              </a:rPr>
              <a:t>• Conflictos: anatomía y resolución</a:t>
            </a:r>
          </a:p>
          <a:p>
            <a:pPr>
              <a:spcAft>
                <a:spcPts val="1000"/>
              </a:spcAft>
              <a:defRPr sz="1600" b="0">
                <a:solidFill>
                  <a:srgbClr val="0F172A"/>
                </a:solidFill>
                <a:latin typeface="Segoe UI"/>
              </a:defRPr>
            </a:pPr>
            <a:r>
              <a:rPr sz="1600" b="0">
                <a:solidFill>
                  <a:srgbClr val="0F172A"/>
                </a:solidFill>
                <a:latin typeface="Segoe UI"/>
              </a:rPr>
              <a:t>• Pull Requests + review en GitHub</a:t>
            </a:r>
          </a:p>
          <a:p>
            <a:pPr>
              <a:spcAft>
                <a:spcPts val="1000"/>
              </a:spcAft>
              <a:defRPr sz="1600" b="0">
                <a:solidFill>
                  <a:srgbClr val="0F172A"/>
                </a:solidFill>
                <a:latin typeface="Segoe UI"/>
              </a:defRPr>
            </a:pPr>
            <a:r>
              <a:rPr sz="1600" b="0">
                <a:solidFill>
                  <a:srgbClr val="0F172A"/>
                </a:solidFill>
                <a:latin typeface="Segoe UI"/>
              </a:rPr>
              <a:t>• git reflog — la red de seguridad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003 — Git y GitHub para data scientists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La mayoría de los ejercicios se hacen en terminal. Este notebook documenta los comandos y verifica el estado del repo desde Python.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subprocess</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run(cmd):</a:t>
            </a:r>
          </a:p>
          <a:p>
            <a:pPr>
              <a:defRPr sz="1200" b="0">
                <a:solidFill>
                  <a:srgbClr val="F8FAFC"/>
                </a:solidFill>
                <a:latin typeface="Courier New"/>
              </a:defRPr>
            </a:pPr>
            <a:r>
              <a:rPr sz="1200" b="0">
                <a:solidFill>
                  <a:srgbClr val="F8FAFC"/>
                </a:solidFill>
                <a:latin typeface="Courier New"/>
              </a:rPr>
              <a:t>    r = subprocess.run(cmd, shell=True, capture_output=True, text=True)</a:t>
            </a:r>
          </a:p>
          <a:p>
            <a:pPr>
              <a:defRPr sz="1200" b="0">
                <a:solidFill>
                  <a:srgbClr val="F8FAFC"/>
                </a:solidFill>
                <a:latin typeface="Courier New"/>
              </a:defRPr>
            </a:pPr>
            <a:r>
              <a:rPr sz="1200" b="0">
                <a:solidFill>
                  <a:srgbClr val="F8FAFC"/>
                </a:solidFill>
                <a:latin typeface="Courier New"/>
              </a:rPr>
              <a:t>    return r.stdout.strip() or r.stderr.strip()</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print('git version:', run('git --version'))</a:t>
            </a:r>
          </a:p>
          <a:p>
            <a:pPr>
              <a:defRPr sz="1200" b="0">
                <a:solidFill>
                  <a:srgbClr val="F8FAFC"/>
                </a:solidFill>
                <a:latin typeface="Courier New"/>
              </a:defRPr>
            </a:pPr>
            <a:r>
              <a:rPr sz="1200" b="0">
                <a:solidFill>
                  <a:srgbClr val="F8FAFC"/>
                </a:solidFill>
                <a:latin typeface="Courier New"/>
              </a:rPr>
              <a:t>print('cwd        :', Path.cwd())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003 — Git y GitHub para data scientists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Repo desde cero.</a:t>
            </a:r>
          </a:p>
          <a:p>
            <a:pPr>
              <a:spcAft>
                <a:spcPts val="800"/>
              </a:spcAft>
              <a:defRPr sz="1400" b="0">
                <a:solidFill>
                  <a:srgbClr val="0F172A"/>
                </a:solidFill>
                <a:latin typeface="Segoe UI"/>
              </a:defRPr>
            </a:pPr>
            <a:r>
              <a:rPr sz="1400" b="0">
                <a:solidFill>
                  <a:srgbClr val="0F172A"/>
                </a:solidFill>
                <a:latin typeface="Segoe UI"/>
              </a:rPr>
              <a:t>• Branch + conflicto.</a:t>
            </a:r>
          </a:p>
          <a:p>
            <a:pPr>
              <a:spcAft>
                <a:spcPts val="800"/>
              </a:spcAft>
              <a:defRPr sz="1400" b="0">
                <a:solidFill>
                  <a:srgbClr val="0F172A"/>
                </a:solidFill>
                <a:latin typeface="Segoe UI"/>
              </a:defRPr>
            </a:pPr>
            <a:r>
              <a:rPr sz="1400" b="0">
                <a:solidFill>
                  <a:srgbClr val="0F172A"/>
                </a:solidFill>
                <a:latin typeface="Segoe UI"/>
              </a:rPr>
              <a:t>• .gitignore profesional.</a:t>
            </a:r>
          </a:p>
          <a:p>
            <a:pPr>
              <a:spcAft>
                <a:spcPts val="800"/>
              </a:spcAft>
              <a:defRPr sz="1400" b="0">
                <a:solidFill>
                  <a:srgbClr val="0F172A"/>
                </a:solidFill>
                <a:latin typeface="Segoe UI"/>
              </a:defRPr>
            </a:pPr>
            <a:r>
              <a:rPr sz="1400" b="0">
                <a:solidFill>
                  <a:srgbClr val="0F172A"/>
                </a:solidFill>
                <a:latin typeface="Segoe UI"/>
              </a:rPr>
              <a:t>• PR desde la CLI.</a:t>
            </a:r>
          </a:p>
          <a:p>
            <a:pPr>
              <a:spcAft>
                <a:spcPts val="800"/>
              </a:spcAft>
              <a:defRPr sz="1400" b="0">
                <a:solidFill>
                  <a:srgbClr val="0F172A"/>
                </a:solidFill>
                <a:latin typeface="Segoe UI"/>
              </a:defRPr>
            </a:pPr>
            <a:r>
              <a:rPr sz="1400" b="0">
                <a:solidFill>
                  <a:srgbClr val="0F172A"/>
                </a:solidFill>
                <a:latin typeface="Segoe UI"/>
              </a:rPr>
              <a:t>• Recuperación.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Repo público en GitHub con: 5+ commits en formato convencional, al menos 1 branch mergeada, un .gitignore de DS completo, README con badges (build status si aplica) y un PR cerrado.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004 — Estructura reproducible de proyecto (cookiecutter-data-science)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004 — Estructura reproducible de proyecto (cookiecutter-data-science)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cookiecutter-data-science v2 · Hidden Technical Debt in ML Systems (Sculley et al., 2015).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de crear proyectos como "una carpeta con notebooks" y empiece a usar una estructura estándar que separa código, datos, modelos, notebooks de exploración y documentación. Esto no es estética — es lo que permite que un compañero entienda el proyecto en 5 minutos y que el código viva más allá del notebook donde nació.</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un proyecto con la plantilla cookiecutter-data-science (CCDS v2).</a:t>
            </a:r>
          </a:p>
          <a:p>
            <a:pPr>
              <a:spcAft>
                <a:spcPts val="800"/>
              </a:spcAft>
              <a:defRPr sz="1400" b="0">
                <a:solidFill>
                  <a:srgbClr val="0F172A"/>
                </a:solidFill>
                <a:latin typeface="Segoe UI"/>
              </a:defRPr>
            </a:pPr>
            <a:r>
              <a:rPr sz="1400" b="0">
                <a:solidFill>
                  <a:srgbClr val="0F172A"/>
                </a:solidFill>
                <a:latin typeface="Segoe UI"/>
              </a:rPr>
              <a:t>• Justificar la separación data/raw (inmutable) ↔ data/interim ↔ data/processed.</a:t>
            </a:r>
          </a:p>
          <a:p>
            <a:pPr>
              <a:spcAft>
                <a:spcPts val="800"/>
              </a:spcAft>
              <a:defRPr sz="1400" b="0">
                <a:solidFill>
                  <a:srgbClr val="0F172A"/>
                </a:solidFill>
                <a:latin typeface="Segoe UI"/>
              </a:defRPr>
            </a:pPr>
            <a:r>
              <a:rPr sz="1400" b="0">
                <a:solidFill>
                  <a:srgbClr val="0F172A"/>
                </a:solidFill>
                <a:latin typeface="Segoe UI"/>
              </a:rPr>
              <a:t>• Mover código de un notebook a src/ cuando deja de ser exploratorio.</a:t>
            </a:r>
          </a:p>
          <a:p>
            <a:pPr>
              <a:spcAft>
                <a:spcPts val="800"/>
              </a:spcAft>
              <a:defRPr sz="1400" b="0">
                <a:solidFill>
                  <a:srgbClr val="0F172A"/>
                </a:solidFill>
                <a:latin typeface="Segoe UI"/>
              </a:defRPr>
            </a:pPr>
            <a:r>
              <a:rPr sz="1400" b="0">
                <a:solidFill>
                  <a:srgbClr val="0F172A"/>
                </a:solidFill>
                <a:latin typeface="Segoe UI"/>
              </a:rPr>
              <a:t>• Documentar dependencias en pyproject.toml (no en requirements.txt suelto).</a:t>
            </a:r>
          </a:p>
          <a:p>
            <a:pPr>
              <a:spcAft>
                <a:spcPts val="800"/>
              </a:spcAft>
              <a:defRPr sz="1400" b="0">
                <a:solidFill>
                  <a:srgbClr val="0F172A"/>
                </a:solidFill>
                <a:latin typeface="Segoe UI"/>
              </a:defRPr>
            </a:pPr>
            <a:r>
              <a:rPr sz="1400" b="0">
                <a:solidFill>
                  <a:srgbClr val="0F172A"/>
                </a:solidFill>
                <a:latin typeface="Segoe UI"/>
              </a:rPr>
              <a:t>• Reconocer los olores de un proyecto mal estructurado (notebooks con números 01/02/03, código duplicado, datos en git).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004 — Estructura reproducible de proyecto (cookiecutter-data-science)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Estructura CCDS v2</a:t>
            </a:r>
          </a:p>
          <a:p>
            <a:pPr>
              <a:spcAft>
                <a:spcPts val="1000"/>
              </a:spcAft>
              <a:defRPr sz="1600" b="0">
                <a:solidFill>
                  <a:srgbClr val="0F172A"/>
                </a:solidFill>
                <a:latin typeface="Segoe UI"/>
              </a:defRPr>
            </a:pPr>
            <a:r>
              <a:rPr sz="1600" b="0">
                <a:solidFill>
                  <a:srgbClr val="0F172A"/>
                </a:solidFill>
                <a:latin typeface="Segoe UI"/>
              </a:rPr>
              <a:t>• data/raw es sagrado</a:t>
            </a:r>
          </a:p>
          <a:p>
            <a:pPr>
              <a:spcAft>
                <a:spcPts val="1000"/>
              </a:spcAft>
              <a:defRPr sz="1600" b="0">
                <a:solidFill>
                  <a:srgbClr val="0F172A"/>
                </a:solidFill>
                <a:latin typeface="Segoe UI"/>
              </a:defRPr>
            </a:pPr>
            <a:r>
              <a:rPr sz="1600" b="0">
                <a:solidFill>
                  <a:srgbClr val="0F172A"/>
                </a:solidFill>
                <a:latin typeface="Segoe UI"/>
              </a:rPr>
              <a:t>• notebooks/ vs src/</a:t>
            </a:r>
          </a:p>
          <a:p>
            <a:pPr>
              <a:spcAft>
                <a:spcPts val="1000"/>
              </a:spcAft>
              <a:defRPr sz="1600" b="0">
                <a:solidFill>
                  <a:srgbClr val="0F172A"/>
                </a:solidFill>
                <a:latin typeface="Segoe UI"/>
              </a:defRPr>
            </a:pPr>
            <a:r>
              <a:rPr sz="1600" b="0">
                <a:solidFill>
                  <a:srgbClr val="0F172A"/>
                </a:solidFill>
                <a:latin typeface="Segoe UI"/>
              </a:rPr>
              <a:t>• pyproject.toml como fuente de verdad de deps</a:t>
            </a:r>
          </a:p>
          <a:p>
            <a:pPr>
              <a:spcAft>
                <a:spcPts val="1000"/>
              </a:spcAft>
              <a:defRPr sz="1600" b="0">
                <a:solidFill>
                  <a:srgbClr val="0F172A"/>
                </a:solidFill>
                <a:latin typeface="Segoe UI"/>
              </a:defRPr>
            </a:pPr>
            <a:r>
              <a:rPr sz="1600" b="0">
                <a:solidFill>
                  <a:srgbClr val="0F172A"/>
                </a:solidFill>
                <a:latin typeface="Segoe UI"/>
              </a:rPr>
              <a:t>• Makefile como interfaz</a:t>
            </a:r>
          </a:p>
          <a:p>
            <a:pPr>
              <a:spcAft>
                <a:spcPts val="1000"/>
              </a:spcAft>
              <a:defRPr sz="1600" b="0">
                <a:solidFill>
                  <a:srgbClr val="0F172A"/>
                </a:solidFill>
                <a:latin typeface="Segoe UI"/>
              </a:defRPr>
            </a:pPr>
            <a:r>
              <a:rPr sz="1600" b="0">
                <a:solidFill>
                  <a:srgbClr val="0F172A"/>
                </a:solidFill>
                <a:latin typeface="Segoe UI"/>
              </a:rPr>
              <a:t>• Olores típicos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004 — Estructura reproducible de proyecto (cookiecutter-data-science)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Regla: nunca modifiques un archivo en data/raw/. Todo procesamiento escribe a data/interim/ o data/processed/. Por qué: - Si tu pipeline rompe, puedes regenerar todo desde el origen.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 Demo: estructura típica creada con Path (simulación, no genera nada en disco)</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estructura = [</a:t>
            </a:r>
          </a:p>
          <a:p>
            <a:pPr>
              <a:defRPr sz="1200" b="0">
                <a:solidFill>
                  <a:srgbClr val="F8FAFC"/>
                </a:solidFill>
                <a:latin typeface="Courier New"/>
              </a:defRPr>
            </a:pPr>
            <a:r>
              <a:rPr sz="1200" b="0">
                <a:solidFill>
                  <a:srgbClr val="F8FAFC"/>
                </a:solidFill>
                <a:latin typeface="Courier New"/>
              </a:rPr>
              <a:t>    'mi-proyecto/data/raw/',</a:t>
            </a:r>
          </a:p>
          <a:p>
            <a:pPr>
              <a:defRPr sz="1200" b="0">
                <a:solidFill>
                  <a:srgbClr val="F8FAFC"/>
                </a:solidFill>
                <a:latin typeface="Courier New"/>
              </a:defRPr>
            </a:pPr>
            <a:r>
              <a:rPr sz="1200" b="0">
                <a:solidFill>
                  <a:srgbClr val="F8FAFC"/>
                </a:solidFill>
                <a:latin typeface="Courier New"/>
              </a:rPr>
              <a:t>    'mi-proyecto/data/interim/',</a:t>
            </a:r>
          </a:p>
          <a:p>
            <a:pPr>
              <a:defRPr sz="1200" b="0">
                <a:solidFill>
                  <a:srgbClr val="F8FAFC"/>
                </a:solidFill>
                <a:latin typeface="Courier New"/>
              </a:defRPr>
            </a:pPr>
            <a:r>
              <a:rPr sz="1200" b="0">
                <a:solidFill>
                  <a:srgbClr val="F8FAFC"/>
                </a:solidFill>
                <a:latin typeface="Courier New"/>
              </a:rPr>
              <a:t>    'mi-proyecto/data/processed/',</a:t>
            </a:r>
          </a:p>
          <a:p>
            <a:pPr>
              <a:defRPr sz="1200" b="0">
                <a:solidFill>
                  <a:srgbClr val="F8FAFC"/>
                </a:solidFill>
                <a:latin typeface="Courier New"/>
              </a:defRPr>
            </a:pPr>
            <a:r>
              <a:rPr sz="1200" b="0">
                <a:solidFill>
                  <a:srgbClr val="F8FAFC"/>
                </a:solidFill>
                <a:latin typeface="Courier New"/>
              </a:rPr>
              <a:t>    'mi-proyecto/notebooks/0.01-eda.ipynb',</a:t>
            </a:r>
          </a:p>
          <a:p>
            <a:pPr>
              <a:defRPr sz="1200" b="0">
                <a:solidFill>
                  <a:srgbClr val="F8FAFC"/>
                </a:solidFill>
                <a:latin typeface="Courier New"/>
              </a:defRPr>
            </a:pPr>
            <a:r>
              <a:rPr sz="1200" b="0">
                <a:solidFill>
                  <a:srgbClr val="F8FAFC"/>
                </a:solidFill>
                <a:latin typeface="Courier New"/>
              </a:rPr>
              <a:t>    'mi-proyecto/src/mi_proyecto/__init__.py',</a:t>
            </a:r>
          </a:p>
          <a:p>
            <a:pPr>
              <a:defRPr sz="1200" b="0">
                <a:solidFill>
                  <a:srgbClr val="F8FAFC"/>
                </a:solidFill>
                <a:latin typeface="Courier New"/>
              </a:defRPr>
            </a:pPr>
            <a:r>
              <a:rPr sz="1200" b="0">
                <a:solidFill>
                  <a:srgbClr val="F8FAFC"/>
                </a:solidFill>
                <a:latin typeface="Courier New"/>
              </a:rPr>
              <a:t>    'mi-proyecto/src/mi_proyecto/features.py',</a:t>
            </a:r>
          </a:p>
          <a:p>
            <a:pPr>
              <a:defRPr sz="1200" b="0">
                <a:solidFill>
                  <a:srgbClr val="F8FAFC"/>
                </a:solidFill>
                <a:latin typeface="Courier New"/>
              </a:defRPr>
            </a:pPr>
            <a:r>
              <a:rPr sz="1200" b="0">
                <a:solidFill>
                  <a:srgbClr val="F8FAFC"/>
                </a:solidFill>
                <a:latin typeface="Courier New"/>
              </a:rPr>
              <a:t>    'mi-proyecto/pyproject.toml',</a:t>
            </a:r>
          </a:p>
          <a:p>
            <a:pPr>
              <a:defRPr sz="1200" b="0">
                <a:solidFill>
                  <a:srgbClr val="F8FAFC"/>
                </a:solidFill>
                <a:latin typeface="Courier New"/>
              </a:defRPr>
            </a:pPr>
            <a:r>
              <a:rPr sz="1200" b="0">
                <a:solidFill>
                  <a:srgbClr val="F8FAFC"/>
                </a:solidFill>
                <a:latin typeface="Courier New"/>
              </a:rPr>
              <a:t>    'mi-proyecto/Makefile',</a:t>
            </a:r>
          </a:p>
          <a:p>
            <a:pPr>
              <a:defRPr sz="1200" b="0">
                <a:solidFill>
                  <a:srgbClr val="F8FAFC"/>
                </a:solidFill>
                <a:latin typeface="Courier New"/>
              </a:defRPr>
            </a:pPr>
            <a:r>
              <a:rPr sz="1200" b="0">
                <a:solidFill>
                  <a:srgbClr val="F8FAFC"/>
                </a:solidFill>
                <a:latin typeface="Courier New"/>
              </a:rPr>
              <a:t>    'mi-proyecto/README.md',</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for p in estructura:</a:t>
            </a:r>
          </a:p>
          <a:p>
            <a:pPr>
              <a:defRPr sz="1200" b="0">
                <a:solidFill>
                  <a:srgbClr val="F8FAFC"/>
                </a:solidFill>
                <a:latin typeface="Courier New"/>
              </a:defRPr>
            </a:pPr>
            <a:r>
              <a:rPr sz="1200" b="0">
                <a:solidFill>
                  <a:srgbClr val="F8FAFC"/>
                </a:solidFill>
                <a:latin typeface="Courier New"/>
              </a:rPr>
              <a:t>    icon = '📁' if p.endswith('/') else '📄'</a:t>
            </a:r>
          </a:p>
          <a:p>
            <a:pPr>
              <a:defRPr sz="1200" b="0">
                <a:solidFill>
                  <a:srgbClr val="F8FAFC"/>
                </a:solidFill>
                <a:latin typeface="Courier New"/>
              </a:defRPr>
            </a:pPr>
            <a:r>
              <a:rPr sz="1200" b="0">
                <a:solidFill>
                  <a:srgbClr val="F8FAFC"/>
                </a:solidFill>
                <a:latin typeface="Courier New"/>
              </a:rPr>
              <a:t>    print(f'{icon} {p}')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004 — Estructura reproducible de proyecto (cookiecutter-data-science)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 un proyecto CCDS.</a:t>
            </a:r>
          </a:p>
          <a:p>
            <a:pPr>
              <a:spcAft>
                <a:spcPts val="800"/>
              </a:spcAft>
              <a:defRPr sz="1400" b="0">
                <a:solidFill>
                  <a:srgbClr val="0F172A"/>
                </a:solidFill>
                <a:latin typeface="Segoe UI"/>
              </a:defRPr>
            </a:pPr>
            <a:r>
              <a:rPr sz="1400" b="0">
                <a:solidFill>
                  <a:srgbClr val="0F172A"/>
                </a:solidFill>
                <a:latin typeface="Segoe UI"/>
              </a:rPr>
              <a:t>• Mueve código a src/.</a:t>
            </a:r>
          </a:p>
          <a:p>
            <a:pPr>
              <a:spcAft>
                <a:spcPts val="800"/>
              </a:spcAft>
              <a:defRPr sz="1400" b="0">
                <a:solidFill>
                  <a:srgbClr val="0F172A"/>
                </a:solidFill>
                <a:latin typeface="Segoe UI"/>
              </a:defRPr>
            </a:pPr>
            <a:r>
              <a:rPr sz="1400" b="0">
                <a:solidFill>
                  <a:srgbClr val="0F172A"/>
                </a:solidFill>
                <a:latin typeface="Segoe UI"/>
              </a:rPr>
              <a:t>• Convierte requirements.txt a pyproject.toml (sección [project.dependencies]).</a:t>
            </a:r>
          </a:p>
          <a:p>
            <a:pPr>
              <a:spcAft>
                <a:spcPts val="800"/>
              </a:spcAft>
              <a:defRPr sz="1400" b="0">
                <a:solidFill>
                  <a:srgbClr val="0F172A"/>
                </a:solidFill>
                <a:latin typeface="Segoe UI"/>
              </a:defRPr>
            </a:pPr>
            <a:r>
              <a:rPr sz="1400" b="0">
                <a:solidFill>
                  <a:srgbClr val="0F172A"/>
                </a:solidFill>
                <a:latin typeface="Segoe UI"/>
              </a:rPr>
              <a:t>• Refactoriza un notebook caótico.</a:t>
            </a:r>
          </a:p>
          <a:p>
            <a:pPr>
              <a:spcAft>
                <a:spcPts val="800"/>
              </a:spcAft>
              <a:defRPr sz="1400" b="0">
                <a:solidFill>
                  <a:srgbClr val="0F172A"/>
                </a:solidFill>
                <a:latin typeface="Segoe UI"/>
              </a:defRPr>
            </a:pPr>
            <a:r>
              <a:rPr sz="1400" b="0">
                <a:solidFill>
                  <a:srgbClr val="0F172A"/>
                </a:solidFill>
                <a:latin typeface="Segoe UI"/>
              </a:rPr>
              <a:t>• Lista 5 olores en un repo público que conozcas y propón cómo arreglarlos.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Un repo público con estructura CCDS, data/raw/ con un dataset pequeño, al menos 1 notebook que importa funciones desde src/, pyproject.toml con deps, Makefile con make setup y make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005 — VS Code / Cursor para Python y Jupyter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005 — VS Code / Cursor para Python y Jupyter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VS Code Python docs · Cursor docs · The Pragmatic Programmer cap. "Power Editing".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de usar VS Code como Notepad y lo configure como un IDE serio para Python + Jupyter: selector de intérprete, debugger gráfico, linter (ruff), formatter (ruff format), tests integrados y notebooks editables. Bonus: cuándo conviene Cursor (VS Code + IA integrada).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Configurar VS Code con la extensión Python + Jupyter, seleccionando el intérprete del venv del proyecto.</a:t>
            </a:r>
          </a:p>
          <a:p>
            <a:pPr>
              <a:spcAft>
                <a:spcPts val="800"/>
              </a:spcAft>
              <a:defRPr sz="1400" b="0">
                <a:solidFill>
                  <a:srgbClr val="0F172A"/>
                </a:solidFill>
                <a:latin typeface="Segoe UI"/>
              </a:defRPr>
            </a:pPr>
            <a:r>
              <a:rPr sz="1400" b="0">
                <a:solidFill>
                  <a:srgbClr val="0F172A"/>
                </a:solidFill>
                <a:latin typeface="Segoe UI"/>
              </a:rPr>
              <a:t>• Debuggear un script Python paso a paso desde el panel gráfico (breakpoints, watch, call stack).</a:t>
            </a:r>
          </a:p>
          <a:p>
            <a:pPr>
              <a:spcAft>
                <a:spcPts val="800"/>
              </a:spcAft>
              <a:defRPr sz="1400" b="0">
                <a:solidFill>
                  <a:srgbClr val="0F172A"/>
                </a:solidFill>
                <a:latin typeface="Segoe UI"/>
              </a:defRPr>
            </a:pPr>
            <a:r>
              <a:rPr sz="1400" b="0">
                <a:solidFill>
                  <a:srgbClr val="0F172A"/>
                </a:solidFill>
                <a:latin typeface="Segoe UI"/>
              </a:rPr>
              <a:t>• Editar y ejecutar notebooks sin Jupyter web — con autocompletado, type hints y debug de celda.</a:t>
            </a:r>
          </a:p>
          <a:p>
            <a:pPr>
              <a:spcAft>
                <a:spcPts val="800"/>
              </a:spcAft>
              <a:defRPr sz="1400" b="0">
                <a:solidFill>
                  <a:srgbClr val="0F172A"/>
                </a:solidFill>
                <a:latin typeface="Segoe UI"/>
              </a:defRPr>
            </a:pPr>
            <a:r>
              <a:rPr sz="1400" b="0">
                <a:solidFill>
                  <a:srgbClr val="0F172A"/>
                </a:solidFill>
                <a:latin typeface="Segoe UI"/>
              </a:rPr>
              <a:t>• Configurar ruff como linter + formatter (reemplaza black + isort + flake8 en un solo tool).</a:t>
            </a:r>
          </a:p>
          <a:p>
            <a:pPr>
              <a:spcAft>
                <a:spcPts val="800"/>
              </a:spcAft>
              <a:defRPr sz="1400" b="0">
                <a:solidFill>
                  <a:srgbClr val="0F172A"/>
                </a:solidFill>
                <a:latin typeface="Segoe UI"/>
              </a:defRPr>
            </a:pPr>
            <a:r>
              <a:rPr sz="1400" b="0">
                <a:solidFill>
                  <a:srgbClr val="0F172A"/>
                </a:solidFill>
                <a:latin typeface="Segoe UI"/>
              </a:rPr>
              <a:t>• Decidir cuándo usar Cursor (idéntico a VS Code + IA integrada con autorización por chat).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005 — VS Code / Cursor para Python y Jupyter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Selección de intérprete por workspace</a:t>
            </a:r>
          </a:p>
          <a:p>
            <a:pPr>
              <a:spcAft>
                <a:spcPts val="1000"/>
              </a:spcAft>
              <a:defRPr sz="1600" b="0">
                <a:solidFill>
                  <a:srgbClr val="0F172A"/>
                </a:solidFill>
                <a:latin typeface="Segoe UI"/>
              </a:defRPr>
            </a:pPr>
            <a:r>
              <a:rPr sz="1600" b="0">
                <a:solidFill>
                  <a:srgbClr val="0F172A"/>
                </a:solidFill>
                <a:latin typeface="Segoe UI"/>
              </a:rPr>
              <a:t>• Debugger gráfico vs print</a:t>
            </a:r>
          </a:p>
          <a:p>
            <a:pPr>
              <a:spcAft>
                <a:spcPts val="1000"/>
              </a:spcAft>
              <a:defRPr sz="1600" b="0">
                <a:solidFill>
                  <a:srgbClr val="0F172A"/>
                </a:solidFill>
                <a:latin typeface="Segoe UI"/>
              </a:defRPr>
            </a:pPr>
            <a:r>
              <a:rPr sz="1600" b="0">
                <a:solidFill>
                  <a:srgbClr val="0F172A"/>
                </a:solidFill>
                <a:latin typeface="Segoe UI"/>
              </a:rPr>
              <a:t>• Notebooks nativos en VS Code</a:t>
            </a:r>
          </a:p>
          <a:p>
            <a:pPr>
              <a:spcAft>
                <a:spcPts val="1000"/>
              </a:spcAft>
              <a:defRPr sz="1600" b="0">
                <a:solidFill>
                  <a:srgbClr val="0F172A"/>
                </a:solidFill>
                <a:latin typeface="Segoe UI"/>
              </a:defRPr>
            </a:pPr>
            <a:r>
              <a:rPr sz="1600" b="0">
                <a:solidFill>
                  <a:srgbClr val="0F172A"/>
                </a:solidFill>
                <a:latin typeface="Segoe UI"/>
              </a:rPr>
              <a:t>• ruff = linter + formatter en uno</a:t>
            </a:r>
          </a:p>
          <a:p>
            <a:pPr>
              <a:spcAft>
                <a:spcPts val="1000"/>
              </a:spcAft>
              <a:defRPr sz="1600" b="0">
                <a:solidFill>
                  <a:srgbClr val="0F172A"/>
                </a:solidFill>
                <a:latin typeface="Segoe UI"/>
              </a:defRPr>
            </a:pPr>
            <a:r>
              <a:rPr sz="1600" b="0">
                <a:solidFill>
                  <a:srgbClr val="0F172A"/>
                </a:solidFill>
                <a:latin typeface="Segoe UI"/>
              </a:rPr>
              <a:t>• Tests integrados (pytest)</a:t>
            </a:r>
          </a:p>
          <a:p>
            <a:pPr>
              <a:spcAft>
                <a:spcPts val="1000"/>
              </a:spcAft>
              <a:defRPr sz="1600" b="0">
                <a:solidFill>
                  <a:srgbClr val="0F172A"/>
                </a:solidFill>
                <a:latin typeface="Segoe UI"/>
              </a:defRPr>
            </a:pPr>
            <a:r>
              <a:rPr sz="1600" b="0">
                <a:solidFill>
                  <a:srgbClr val="0F172A"/>
                </a:solidFill>
                <a:latin typeface="Segoe UI"/>
              </a:rPr>
              <a:t>• Extensiones esenciales</a:t>
            </a:r>
          </a:p>
          <a:p>
            <a:pPr>
              <a:spcAft>
                <a:spcPts val="1000"/>
              </a:spcAft>
              <a:defRPr sz="1600" b="0">
                <a:solidFill>
                  <a:srgbClr val="0F172A"/>
                </a:solidFill>
                <a:latin typeface="Segoe UI"/>
              </a:defRPr>
            </a:pPr>
            <a:r>
              <a:rPr sz="1600" b="0">
                <a:solidFill>
                  <a:srgbClr val="0F172A"/>
                </a:solidFill>
                <a:latin typeface="Segoe UI"/>
              </a:rPr>
              <a:t>• Cursor: cuándo sí</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005 — VS Code / Cursor para Python y Jupyter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VS Code recuerda un intérprete por workspace en .vscode/settings.json. Si no lo configuras, usará el primero que encuentre — generalmente el del sistema. Resultado: import funciona en terminal pero no en VS Code (o al revés). Cómo configurarlo bien: `json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sys</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print('Intérprete que ejecuta esta celda:')</a:t>
            </a:r>
          </a:p>
          <a:p>
            <a:pPr>
              <a:defRPr sz="1200" b="0">
                <a:solidFill>
                  <a:srgbClr val="F8FAFC"/>
                </a:solidFill>
                <a:latin typeface="Courier New"/>
              </a:defRPr>
            </a:pPr>
            <a:r>
              <a:rPr sz="1200" b="0">
                <a:solidFill>
                  <a:srgbClr val="F8FAFC"/>
                </a:solidFill>
                <a:latin typeface="Courier New"/>
              </a:rPr>
              <a:t>print(f'  {sys.executable}')</a:t>
            </a:r>
          </a:p>
          <a:p>
            <a:pPr>
              <a:defRPr sz="1200" b="0">
                <a:solidFill>
                  <a:srgbClr val="F8FAFC"/>
                </a:solidFill>
                <a:latin typeface="Courier New"/>
              </a:defRPr>
            </a:pPr>
            <a:r>
              <a:rPr sz="1200" b="0">
                <a:solidFill>
                  <a:srgbClr val="F8FAFC"/>
                </a:solidFill>
                <a:latin typeface="Courier New"/>
              </a:rPr>
              <a:t>print()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in_venv = sys.prefix != sys.base_prefix</a:t>
            </a:r>
          </a:p>
          <a:p>
            <a:pPr>
              <a:defRPr sz="1200" b="0">
                <a:solidFill>
                  <a:srgbClr val="F8FAFC"/>
                </a:solidFill>
                <a:latin typeface="Courier New"/>
              </a:defRPr>
            </a:pPr>
            <a:r>
              <a:rPr sz="1200" b="0">
                <a:solidFill>
                  <a:srgbClr val="F8FAFC"/>
                </a:solidFill>
                <a:latin typeface="Courier New"/>
              </a:rPr>
              <a:t>print(f'¿Estás en un venv? {in_venv}')</a:t>
            </a:r>
          </a:p>
          <a:p>
            <a:pPr>
              <a:defRPr sz="1200" b="0">
                <a:solidFill>
                  <a:srgbClr val="F8FAFC"/>
                </a:solidFill>
                <a:latin typeface="Courier New"/>
              </a:defRPr>
            </a:pPr>
            <a:r>
              <a:rPr sz="1200" b="0">
                <a:solidFill>
                  <a:srgbClr val="F8FAFC"/>
                </a:solidFill>
                <a:latin typeface="Courier New"/>
              </a:rPr>
              <a:t>if in_venv:</a:t>
            </a:r>
          </a:p>
          <a:p>
            <a:pPr>
              <a:defRPr sz="1200" b="0">
                <a:solidFill>
                  <a:srgbClr val="F8FAFC"/>
                </a:solidFill>
                <a:latin typeface="Courier New"/>
              </a:defRPr>
            </a:pPr>
            <a:r>
              <a:rPr sz="1200" b="0">
                <a:solidFill>
                  <a:srgbClr val="F8FAFC"/>
                </a:solidFill>
                <a:latin typeface="Courier New"/>
              </a:rPr>
              <a:t>    print(f'  prefix: {Path(sys.prefix).name}')</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  Selecciona un intérprete del venv del proyecto en VS Code.')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005 — VS Code / Cursor para Python y Jupyter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Selecciona intérprete.</a:t>
            </a:r>
          </a:p>
          <a:p>
            <a:pPr>
              <a:spcAft>
                <a:spcPts val="800"/>
              </a:spcAft>
              <a:defRPr sz="1400" b="0">
                <a:solidFill>
                  <a:srgbClr val="0F172A"/>
                </a:solidFill>
                <a:latin typeface="Segoe UI"/>
              </a:defRPr>
            </a:pPr>
            <a:r>
              <a:rPr sz="1400" b="0">
                <a:solidFill>
                  <a:srgbClr val="0F172A"/>
                </a:solidFill>
                <a:latin typeface="Segoe UI"/>
              </a:rPr>
              <a:t>• Debug paso a paso.</a:t>
            </a:r>
          </a:p>
          <a:p>
            <a:pPr>
              <a:spcAft>
                <a:spcPts val="800"/>
              </a:spcAft>
              <a:defRPr sz="1400" b="0">
                <a:solidFill>
                  <a:srgbClr val="0F172A"/>
                </a:solidFill>
                <a:latin typeface="Segoe UI"/>
              </a:defRPr>
            </a:pPr>
            <a:r>
              <a:rPr sz="1400" b="0">
                <a:solidFill>
                  <a:srgbClr val="0F172A"/>
                </a:solidFill>
                <a:latin typeface="Segoe UI"/>
              </a:rPr>
              <a:t>• Configura ruff.</a:t>
            </a:r>
          </a:p>
          <a:p>
            <a:pPr>
              <a:spcAft>
                <a:spcPts val="800"/>
              </a:spcAft>
              <a:defRPr sz="1400" b="0">
                <a:solidFill>
                  <a:srgbClr val="0F172A"/>
                </a:solidFill>
                <a:latin typeface="Segoe UI"/>
              </a:defRPr>
            </a:pPr>
            <a:r>
              <a:rPr sz="1400" b="0">
                <a:solidFill>
                  <a:srgbClr val="0F172A"/>
                </a:solidFill>
                <a:latin typeface="Segoe UI"/>
              </a:rPr>
              <a:t>• Edita un notebook.</a:t>
            </a:r>
          </a:p>
          <a:p>
            <a:pPr>
              <a:spcAft>
                <a:spcPts val="800"/>
              </a:spcAft>
              <a:defRPr sz="1400" b="0">
                <a:solidFill>
                  <a:srgbClr val="0F172A"/>
                </a:solidFill>
                <a:latin typeface="Segoe UI"/>
              </a:defRPr>
            </a:pPr>
            <a:r>
              <a:rPr sz="1400" b="0">
                <a:solidFill>
                  <a:srgbClr val="0F172A"/>
                </a:solidFill>
                <a:latin typeface="Segoe UI"/>
              </a:rPr>
              <a:t>• Tests con un click.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Repo con pyproject.toml que incluye [tool.ruff], .vscode/settings.json con python.defaultInterpreterPath y format-on-save habilitado, screenshot del debugger gráfico mostrando un breakpoint activo y variables inspeccionadas.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006 — Python: tipos, estructuras, control de flujo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006 — Python: tipos, estructuras, control de flujo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Python Tutorial oficial (caps. 3-5) · Fluent Python (Ramalho, 2ª ed.) cap. 1. · Duración estimada: 120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Refrescar (o instalar) los cimientos de Python que el resto del programa asume: tipos primitivos, las 4 estructuras built-in (list, tuple, set, dict), control de flujo (if/for/while), unpacking, truthiness y la diferencia entre mutables e inmutables — la fuente del 90% de bugs sutiles.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tipos mutables (list, dict, set) vs inmutables (tuple, str, int, frozenset) y predecir el efecto en asignaciones.</a:t>
            </a:r>
          </a:p>
          <a:p>
            <a:pPr>
              <a:spcAft>
                <a:spcPts val="800"/>
              </a:spcAft>
              <a:defRPr sz="1400" b="0">
                <a:solidFill>
                  <a:srgbClr val="0F172A"/>
                </a:solidFill>
                <a:latin typeface="Segoe UI"/>
              </a:defRPr>
            </a:pPr>
            <a:r>
              <a:rPr sz="1400" b="0">
                <a:solidFill>
                  <a:srgbClr val="0F172A"/>
                </a:solidFill>
                <a:latin typeface="Segoe UI"/>
              </a:rPr>
              <a:t>• Usar las 4 estructuras eligiendo bien: list (orden + duplicados), tuple (inmutable, rápida), set (unicidad), dict (lookup O(1)).</a:t>
            </a:r>
          </a:p>
          <a:p>
            <a:pPr>
              <a:spcAft>
                <a:spcPts val="800"/>
              </a:spcAft>
              <a:defRPr sz="1400" b="0">
                <a:solidFill>
                  <a:srgbClr val="0F172A"/>
                </a:solidFill>
                <a:latin typeface="Segoe UI"/>
              </a:defRPr>
            </a:pPr>
            <a:r>
              <a:rPr sz="1400" b="0">
                <a:solidFill>
                  <a:srgbClr val="0F172A"/>
                </a:solidFill>
                <a:latin typeface="Segoe UI"/>
              </a:rPr>
              <a:t>• Aplicar unpacking en for, returns múltiples y args/*kwargs.</a:t>
            </a:r>
          </a:p>
          <a:p>
            <a:pPr>
              <a:spcAft>
                <a:spcPts val="800"/>
              </a:spcAft>
              <a:defRPr sz="1400" b="0">
                <a:solidFill>
                  <a:srgbClr val="0F172A"/>
                </a:solidFill>
                <a:latin typeface="Segoe UI"/>
              </a:defRPr>
            </a:pPr>
            <a:r>
              <a:rPr sz="1400" b="0">
                <a:solidFill>
                  <a:srgbClr val="0F172A"/>
                </a:solidFill>
                <a:latin typeface="Segoe UI"/>
              </a:rPr>
              <a:t>• Evaluar truthiness correctamente ([], {}, 0, '', None son falsy; el resto es truthy).</a:t>
            </a:r>
          </a:p>
          <a:p>
            <a:pPr>
              <a:spcAft>
                <a:spcPts val="800"/>
              </a:spcAft>
              <a:defRPr sz="1400" b="0">
                <a:solidFill>
                  <a:srgbClr val="0F172A"/>
                </a:solidFill>
                <a:latin typeface="Segoe UI"/>
              </a:defRPr>
            </a:pPr>
            <a:r>
              <a:rPr sz="1400" b="0">
                <a:solidFill>
                  <a:srgbClr val="0F172A"/>
                </a:solidFill>
                <a:latin typeface="Segoe UI"/>
              </a:rPr>
              <a:t>• Identificar el bug del default mutable en funciones (def f(x, lst=[])) y por qué es trampa.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006 — Python: tipos, estructuras, control de flujo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Mutables vs inmutables</a:t>
            </a:r>
          </a:p>
          <a:p>
            <a:pPr>
              <a:spcAft>
                <a:spcPts val="1000"/>
              </a:spcAft>
              <a:defRPr sz="1600" b="0">
                <a:solidFill>
                  <a:srgbClr val="0F172A"/>
                </a:solidFill>
                <a:latin typeface="Segoe UI"/>
              </a:defRPr>
            </a:pPr>
            <a:r>
              <a:rPr sz="1600" b="0">
                <a:solidFill>
                  <a:srgbClr val="0F172A"/>
                </a:solidFill>
                <a:latin typeface="Segoe UI"/>
              </a:rPr>
              <a:t>• list, tuple, set, dict — cuándo cada uno</a:t>
            </a:r>
          </a:p>
          <a:p>
            <a:pPr>
              <a:spcAft>
                <a:spcPts val="1000"/>
              </a:spcAft>
              <a:defRPr sz="1600" b="0">
                <a:solidFill>
                  <a:srgbClr val="0F172A"/>
                </a:solidFill>
                <a:latin typeface="Segoe UI"/>
              </a:defRPr>
            </a:pPr>
            <a:r>
              <a:rPr sz="1600" b="0">
                <a:solidFill>
                  <a:srgbClr val="0F172A"/>
                </a:solidFill>
                <a:latin typeface="Segoe UI"/>
              </a:rPr>
              <a:t>• Iteración: for, enumerate, zip</a:t>
            </a:r>
          </a:p>
          <a:p>
            <a:pPr>
              <a:spcAft>
                <a:spcPts val="1000"/>
              </a:spcAft>
              <a:defRPr sz="1600" b="0">
                <a:solidFill>
                  <a:srgbClr val="0F172A"/>
                </a:solidFill>
                <a:latin typeface="Segoe UI"/>
              </a:defRPr>
            </a:pPr>
            <a:r>
              <a:rPr sz="1600" b="0">
                <a:solidFill>
                  <a:srgbClr val="0F172A"/>
                </a:solidFill>
                <a:latin typeface="Segoe UI"/>
              </a:rPr>
              <a:t>• Unpacking y starred expressions</a:t>
            </a:r>
          </a:p>
          <a:p>
            <a:pPr>
              <a:spcAft>
                <a:spcPts val="1000"/>
              </a:spcAft>
              <a:defRPr sz="1600" b="0">
                <a:solidFill>
                  <a:srgbClr val="0F172A"/>
                </a:solidFill>
                <a:latin typeface="Segoe UI"/>
              </a:defRPr>
            </a:pPr>
            <a:r>
              <a:rPr sz="1600" b="0">
                <a:solidFill>
                  <a:srgbClr val="0F172A"/>
                </a:solidFill>
                <a:latin typeface="Segoe UI"/>
              </a:rPr>
              <a:t>• Truthiness y operadores and/or</a:t>
            </a:r>
          </a:p>
          <a:p>
            <a:pPr>
              <a:spcAft>
                <a:spcPts val="1000"/>
              </a:spcAft>
              <a:defRPr sz="1600" b="0">
                <a:solidFill>
                  <a:srgbClr val="0F172A"/>
                </a:solidFill>
                <a:latin typeface="Segoe UI"/>
              </a:defRPr>
            </a:pPr>
            <a:r>
              <a:rPr sz="1600" b="0">
                <a:solidFill>
                  <a:srgbClr val="0F172A"/>
                </a:solidFill>
                <a:latin typeface="Segoe UI"/>
              </a:rPr>
              <a:t>• Default mutables: el clásico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006 — Python: tipos, estructuras, control de flujo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sys</a:t>
            </a:r>
          </a:p>
          <a:p>
            <a:pPr>
              <a:defRPr sz="1200" b="0">
                <a:solidFill>
                  <a:srgbClr val="F8FAFC"/>
                </a:solidFill>
                <a:latin typeface="Courier New"/>
              </a:defRPr>
            </a:pPr>
            <a:r>
              <a:rPr sz="1200" b="0">
                <a:solidFill>
                  <a:srgbClr val="F8FAFC"/>
                </a:solidFill>
                <a:latin typeface="Courier New"/>
              </a:rPr>
              <a:t>from typing import Iterable</a:t>
            </a:r>
          </a:p>
          <a:p>
            <a:pPr>
              <a:defRPr sz="1200" b="0">
                <a:solidFill>
                  <a:srgbClr val="F8FAFC"/>
                </a:solidFill>
                <a:latin typeface="Courier New"/>
              </a:defRPr>
            </a:pPr>
            <a:r>
              <a:rPr sz="1200" b="0">
                <a:solidFill>
                  <a:srgbClr val="F8FAFC"/>
                </a:solidFill>
                <a:latin typeface="Courier New"/>
              </a:rPr>
              <a:t>print('python:', sys.version.split()[0])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006 — Python: tipos, estructuras, control de flujo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Cuenta palabras.</a:t>
            </a:r>
          </a:p>
          <a:p>
            <a:pPr>
              <a:spcAft>
                <a:spcPts val="800"/>
              </a:spcAft>
              <a:defRPr sz="1400" b="0">
                <a:solidFill>
                  <a:srgbClr val="0F172A"/>
                </a:solidFill>
                <a:latin typeface="Segoe UI"/>
              </a:defRPr>
            </a:pPr>
            <a:r>
              <a:rPr sz="1400" b="0">
                <a:solidFill>
                  <a:srgbClr val="0F172A"/>
                </a:solidFill>
                <a:latin typeface="Segoe UI"/>
              </a:rPr>
              <a:t>• Unique con orden.</a:t>
            </a:r>
          </a:p>
          <a:p>
            <a:pPr>
              <a:spcAft>
                <a:spcPts val="800"/>
              </a:spcAft>
              <a:defRPr sz="1400" b="0">
                <a:solidFill>
                  <a:srgbClr val="0F172A"/>
                </a:solidFill>
                <a:latin typeface="Segoe UI"/>
              </a:defRPr>
            </a:pPr>
            <a:r>
              <a:rPr sz="1400" b="0">
                <a:solidFill>
                  <a:srgbClr val="0F172A"/>
                </a:solidFill>
                <a:latin typeface="Segoe UI"/>
              </a:rPr>
              <a:t>• Reproduce el bug del default mutable.</a:t>
            </a:r>
          </a:p>
          <a:p>
            <a:pPr>
              <a:spcAft>
                <a:spcPts val="800"/>
              </a:spcAft>
              <a:defRPr sz="1400" b="0">
                <a:solidFill>
                  <a:srgbClr val="0F172A"/>
                </a:solidFill>
                <a:latin typeface="Segoe UI"/>
              </a:defRPr>
            </a:pPr>
            <a:r>
              <a:rPr sz="1400" b="0">
                <a:solidFill>
                  <a:srgbClr val="0F172A"/>
                </a:solidFill>
                <a:latin typeface="Segoe UI"/>
              </a:rPr>
              <a:t>• Top-K palabras.</a:t>
            </a:r>
          </a:p>
          <a:p>
            <a:pPr>
              <a:spcAft>
                <a:spcPts val="800"/>
              </a:spcAft>
              <a:defRPr sz="1400" b="0">
                <a:solidFill>
                  <a:srgbClr val="0F172A"/>
                </a:solidFill>
                <a:latin typeface="Segoe UI"/>
              </a:defRPr>
            </a:pPr>
            <a:r>
              <a:rPr sz="1400" b="0">
                <a:solidFill>
                  <a:srgbClr val="0F172A"/>
                </a:solidFill>
                <a:latin typeface="Segoe UI"/>
              </a:rPr>
              <a:t>• Grupos por inicial.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homework.ipynb con las 5 funciones de los ejercicios, cada una con: (a) implementación, (b) 3 casos de prueba (incluyendo edge cases — lista vacía, string vacío), (c) docstring corto explicando complejidad.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007 — Comprehensions y generadores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007 — Comprehensions y generadores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Ramalho, Fluent Python 2e — caps. 2 (Sequences) y 17 (Iterators, Generators, Coroutines).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escriba código Python idiomático: list/dict/set comprehensions en vez de for+append, generadores cuando el dataset no cabe en memoria, y entienda la diferencia fundamental entre construir una lista y producir un iterable perezoso.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loops for+append a list/dict/set comprehensions sin perder legibilidad.</a:t>
            </a:r>
          </a:p>
          <a:p>
            <a:pPr>
              <a:spcAft>
                <a:spcPts val="800"/>
              </a:spcAft>
              <a:defRPr sz="1400" b="0">
                <a:solidFill>
                  <a:srgbClr val="0F172A"/>
                </a:solidFill>
                <a:latin typeface="Segoe UI"/>
              </a:defRPr>
            </a:pPr>
            <a:r>
              <a:rPr sz="1400" b="0">
                <a:solidFill>
                  <a:srgbClr val="0F172A"/>
                </a:solidFill>
                <a:latin typeface="Segoe UI"/>
              </a:rPr>
              <a:t>• Usar generadores (yield y generator expressions) para procesar datos que no caben en RAM.</a:t>
            </a:r>
          </a:p>
          <a:p>
            <a:pPr>
              <a:spcAft>
                <a:spcPts val="800"/>
              </a:spcAft>
              <a:defRPr sz="1400" b="0">
                <a:solidFill>
                  <a:srgbClr val="0F172A"/>
                </a:solidFill>
                <a:latin typeface="Segoe UI"/>
              </a:defRPr>
            </a:pPr>
            <a:r>
              <a:rPr sz="1400" b="0">
                <a:solidFill>
                  <a:srgbClr val="0F172A"/>
                </a:solidFill>
                <a:latin typeface="Segoe UI"/>
              </a:rPr>
              <a:t>• Distinguir [x for x in xs] (lista) vs (x for x in xs) (generador): memoria y consumo.</a:t>
            </a:r>
          </a:p>
          <a:p>
            <a:pPr>
              <a:spcAft>
                <a:spcPts val="800"/>
              </a:spcAft>
              <a:defRPr sz="1400" b="0">
                <a:solidFill>
                  <a:srgbClr val="0F172A"/>
                </a:solidFill>
                <a:latin typeface="Segoe UI"/>
              </a:defRPr>
            </a:pPr>
            <a:r>
              <a:rPr sz="1400" b="0">
                <a:solidFill>
                  <a:srgbClr val="0F172A"/>
                </a:solidFill>
                <a:latin typeface="Segoe UI"/>
              </a:rPr>
              <a:t>• Encadenar generadores con itertools (chain, islice, takewhile, groupby).</a:t>
            </a:r>
          </a:p>
          <a:p>
            <a:pPr>
              <a:spcAft>
                <a:spcPts val="800"/>
              </a:spcAft>
              <a:defRPr sz="1400" b="0">
                <a:solidFill>
                  <a:srgbClr val="0F172A"/>
                </a:solidFill>
                <a:latin typeface="Segoe UI"/>
              </a:defRPr>
            </a:pPr>
            <a:r>
              <a:rPr sz="1400" b="0">
                <a:solidFill>
                  <a:srgbClr val="0F172A"/>
                </a:solidFill>
                <a:latin typeface="Segoe UI"/>
              </a:rPr>
              <a:t>• Identificar cuándo NO usar comprehension (lógica compleja, side effects, debug difícil).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007 — Comprehensions y generadores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List comprehension: [expr for x in xs if cond]</a:t>
            </a:r>
          </a:p>
          <a:p>
            <a:pPr>
              <a:spcAft>
                <a:spcPts val="1000"/>
              </a:spcAft>
              <a:defRPr sz="1600" b="0">
                <a:solidFill>
                  <a:srgbClr val="0F172A"/>
                </a:solidFill>
                <a:latin typeface="Segoe UI"/>
              </a:defRPr>
            </a:pPr>
            <a:r>
              <a:rPr sz="1600" b="0">
                <a:solidFill>
                  <a:srgbClr val="0F172A"/>
                </a:solidFill>
                <a:latin typeface="Segoe UI"/>
              </a:rPr>
              <a:t>• Dict/set comprehensions</a:t>
            </a:r>
          </a:p>
          <a:p>
            <a:pPr>
              <a:spcAft>
                <a:spcPts val="1000"/>
              </a:spcAft>
              <a:defRPr sz="1600" b="0">
                <a:solidFill>
                  <a:srgbClr val="0F172A"/>
                </a:solidFill>
                <a:latin typeface="Segoe UI"/>
              </a:defRPr>
            </a:pPr>
            <a:r>
              <a:rPr sz="1600" b="0">
                <a:solidFill>
                  <a:srgbClr val="0F172A"/>
                </a:solidFill>
                <a:latin typeface="Segoe UI"/>
              </a:rPr>
              <a:t>• Generator expressions: (expr for x in xs)</a:t>
            </a:r>
          </a:p>
          <a:p>
            <a:pPr>
              <a:spcAft>
                <a:spcPts val="1000"/>
              </a:spcAft>
              <a:defRPr sz="1600" b="0">
                <a:solidFill>
                  <a:srgbClr val="0F172A"/>
                </a:solidFill>
                <a:latin typeface="Segoe UI"/>
              </a:defRPr>
            </a:pPr>
            <a:r>
              <a:rPr sz="1600" b="0">
                <a:solidFill>
                  <a:srgbClr val="0F172A"/>
                </a:solidFill>
                <a:latin typeface="Segoe UI"/>
              </a:rPr>
              <a:t>• Funciones generadoras con yield</a:t>
            </a:r>
          </a:p>
          <a:p>
            <a:pPr>
              <a:spcAft>
                <a:spcPts val="1000"/>
              </a:spcAft>
              <a:defRPr sz="1600" b="0">
                <a:solidFill>
                  <a:srgbClr val="0F172A"/>
                </a:solidFill>
                <a:latin typeface="Segoe UI"/>
              </a:defRPr>
            </a:pPr>
            <a:r>
              <a:rPr sz="1600" b="0">
                <a:solidFill>
                  <a:srgbClr val="0F172A"/>
                </a:solidFill>
                <a:latin typeface="Segoe UI"/>
              </a:rPr>
              <a:t>• itertools — la caja de herramientas</a:t>
            </a:r>
          </a:p>
          <a:p>
            <a:pPr>
              <a:spcAft>
                <a:spcPts val="1000"/>
              </a:spcAft>
              <a:defRPr sz="1600" b="0">
                <a:solidFill>
                  <a:srgbClr val="0F172A"/>
                </a:solidFill>
                <a:latin typeface="Segoe UI"/>
              </a:defRPr>
            </a:pPr>
            <a:r>
              <a:rPr sz="1600" b="0">
                <a:solidFill>
                  <a:srgbClr val="0F172A"/>
                </a:solidFill>
                <a:latin typeface="Segoe UI"/>
              </a:rPr>
              <a:t>• Comprehension vs loop: cuándo NO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007 — Comprehensions y generadores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sys, time, tracemalloc</a:t>
            </a:r>
          </a:p>
          <a:p>
            <a:pPr>
              <a:defRPr sz="1200" b="0">
                <a:solidFill>
                  <a:srgbClr val="F8FAFC"/>
                </a:solidFill>
                <a:latin typeface="Courier New"/>
              </a:defRPr>
            </a:pPr>
            <a:r>
              <a:rPr sz="1200" b="0">
                <a:solidFill>
                  <a:srgbClr val="F8FAFC"/>
                </a:solidFill>
                <a:latin typeface="Courier New"/>
              </a:rPr>
              <a:t>from itertools import chain, islice, groupby, accumulate, takewhile</a:t>
            </a:r>
          </a:p>
          <a:p>
            <a:pPr>
              <a:defRPr sz="1200" b="0">
                <a:solidFill>
                  <a:srgbClr val="F8FAFC"/>
                </a:solidFill>
                <a:latin typeface="Courier New"/>
              </a:defRPr>
            </a:pPr>
            <a:r>
              <a:rPr sz="1200" b="0">
                <a:solidFill>
                  <a:srgbClr val="F8FAFC"/>
                </a:solidFill>
                <a:latin typeface="Courier New"/>
              </a:rPr>
              <a:t>print('python:', sys.version.split()[0])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007 — Comprehensions y generadores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 for a comprehension.</a:t>
            </a:r>
          </a:p>
          <a:p>
            <a:pPr>
              <a:spcAft>
                <a:spcPts val="800"/>
              </a:spcAft>
              <a:defRPr sz="1400" b="0">
                <a:solidFill>
                  <a:srgbClr val="0F172A"/>
                </a:solidFill>
                <a:latin typeface="Segoe UI"/>
              </a:defRPr>
            </a:pPr>
            <a:r>
              <a:rPr sz="1400" b="0">
                <a:solidFill>
                  <a:srgbClr val="0F172A"/>
                </a:solidFill>
                <a:latin typeface="Segoe UI"/>
              </a:rPr>
              <a:t>• Generador de Fibonacci infinito.</a:t>
            </a:r>
          </a:p>
          <a:p>
            <a:pPr>
              <a:spcAft>
                <a:spcPts val="800"/>
              </a:spcAft>
              <a:defRPr sz="1400" b="0">
                <a:solidFill>
                  <a:srgbClr val="0F172A"/>
                </a:solidFill>
                <a:latin typeface="Segoe UI"/>
              </a:defRPr>
            </a:pPr>
            <a:r>
              <a:rPr sz="1400" b="0">
                <a:solidFill>
                  <a:srgbClr val="0F172A"/>
                </a:solidFill>
                <a:latin typeface="Segoe UI"/>
              </a:rPr>
              <a:t>• Memoria: lista vs generador.</a:t>
            </a:r>
          </a:p>
          <a:p>
            <a:pPr>
              <a:spcAft>
                <a:spcPts val="800"/>
              </a:spcAft>
              <a:defRPr sz="1400" b="0">
                <a:solidFill>
                  <a:srgbClr val="0F172A"/>
                </a:solidFill>
                <a:latin typeface="Segoe UI"/>
              </a:defRPr>
            </a:pPr>
            <a:r>
              <a:rPr sz="1400" b="0">
                <a:solidFill>
                  <a:srgbClr val="0F172A"/>
                </a:solidFill>
                <a:latin typeface="Segoe UI"/>
              </a:rPr>
              <a:t>• Procesa CSV línea por línea.</a:t>
            </a:r>
          </a:p>
          <a:p>
            <a:pPr>
              <a:spcAft>
                <a:spcPts val="800"/>
              </a:spcAft>
              <a:defRPr sz="1400" b="0">
                <a:solidFill>
                  <a:srgbClr val="0F172A"/>
                </a:solidFill>
                <a:latin typeface="Segoe UI"/>
              </a:defRPr>
            </a:pPr>
            <a:r>
              <a:rPr sz="1400" b="0">
                <a:solidFill>
                  <a:srgbClr val="0F172A"/>
                </a:solidFill>
                <a:latin typeface="Segoe UI"/>
              </a:rPr>
              <a:t>• Pivot con dict comprehension.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(1) reescribe 3 loops como comprehensions, (2) implementa generador Fibonacci con islice, (3) comparativa RAM lista vs generador con tracemalloc y tabla de resultados, (4) lee un CSV ≥10k filas con generador y filtra sin cargar entero.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008 — Funciones: args, kwargs, lambdas, closures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008 — Funciones: args, kwargs, lambdas, closures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Ramalho, Fluent Python 2e — cap. 7 (Functions as First-Class Objects), cap. 9 (Decorators and Closures).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use funciones como ciudadanos de primera clase: pasarlas como argumento, retornarlas, escribir lambdas cuando aportan, y entender closures — la base de los decoradores que verán más adelante. Sin esto, el código pandas/sklearn parece magia.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funciones con argumentos posicionales, keyword-only, args y *kwargs.</a:t>
            </a:r>
          </a:p>
          <a:p>
            <a:pPr>
              <a:spcAft>
                <a:spcPts val="800"/>
              </a:spcAft>
              <a:defRPr sz="1400" b="0">
                <a:solidFill>
                  <a:srgbClr val="0F172A"/>
                </a:solidFill>
                <a:latin typeface="Segoe UI"/>
              </a:defRPr>
            </a:pPr>
            <a:r>
              <a:rPr sz="1400" b="0">
                <a:solidFill>
                  <a:srgbClr val="0F172A"/>
                </a:solidFill>
                <a:latin typeface="Segoe UI"/>
              </a:rPr>
              <a:t>• Pasar funciones como argumento (callbacks: sorted(xs, key=fn), df.apply(fn)).</a:t>
            </a:r>
          </a:p>
          <a:p>
            <a:pPr>
              <a:spcAft>
                <a:spcPts val="800"/>
              </a:spcAft>
              <a:defRPr sz="1400" b="0">
                <a:solidFill>
                  <a:srgbClr val="0F172A"/>
                </a:solidFill>
                <a:latin typeface="Segoe UI"/>
              </a:defRPr>
            </a:pPr>
            <a:r>
              <a:rPr sz="1400" b="0">
                <a:solidFill>
                  <a:srgbClr val="0F172A"/>
                </a:solidFill>
                <a:latin typeface="Segoe UI"/>
              </a:rPr>
              <a:t>• Usar lambdas donde son legibles (callbacks cortos) y evitarlas donde no (lógica).</a:t>
            </a:r>
          </a:p>
          <a:p>
            <a:pPr>
              <a:spcAft>
                <a:spcPts val="800"/>
              </a:spcAft>
              <a:defRPr sz="1400" b="0">
                <a:solidFill>
                  <a:srgbClr val="0F172A"/>
                </a:solidFill>
                <a:latin typeface="Segoe UI"/>
              </a:defRPr>
            </a:pPr>
            <a:r>
              <a:rPr sz="1400" b="0">
                <a:solidFill>
                  <a:srgbClr val="0F172A"/>
                </a:solidFill>
                <a:latin typeface="Segoe UI"/>
              </a:rPr>
              <a:t>• Explicar y escribir closures (función que captura variables del scope exterior).</a:t>
            </a:r>
          </a:p>
          <a:p>
            <a:pPr>
              <a:spcAft>
                <a:spcPts val="800"/>
              </a:spcAft>
              <a:defRPr sz="1400" b="0">
                <a:solidFill>
                  <a:srgbClr val="0F172A"/>
                </a:solidFill>
                <a:latin typeface="Segoe UI"/>
              </a:defRPr>
            </a:pPr>
            <a:r>
              <a:rPr sz="1400" b="0">
                <a:solidFill>
                  <a:srgbClr val="0F172A"/>
                </a:solidFill>
                <a:latin typeface="Segoe UI"/>
              </a:rPr>
              <a:t>• Anticipar la diferencia entre args y , args (keyword-only marker).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008 — Funciones: args, kwargs, lambdas, closures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Argumentos: posicional, keyword, default</a:t>
            </a:r>
          </a:p>
          <a:p>
            <a:pPr>
              <a:spcAft>
                <a:spcPts val="1000"/>
              </a:spcAft>
              <a:defRPr sz="1600" b="0">
                <a:solidFill>
                  <a:srgbClr val="0F172A"/>
                </a:solidFill>
                <a:latin typeface="Segoe UI"/>
              </a:defRPr>
            </a:pPr>
            <a:r>
              <a:rPr sz="1600" b="0">
                <a:solidFill>
                  <a:srgbClr val="0F172A"/>
                </a:solidFill>
                <a:latin typeface="Segoe UI"/>
              </a:rPr>
              <a:t>• args y *kwargs</a:t>
            </a:r>
          </a:p>
          <a:p>
            <a:pPr>
              <a:spcAft>
                <a:spcPts val="1000"/>
              </a:spcAft>
              <a:defRPr sz="1600" b="0">
                <a:solidFill>
                  <a:srgbClr val="0F172A"/>
                </a:solidFill>
                <a:latin typeface="Segoe UI"/>
              </a:defRPr>
            </a:pPr>
            <a:r>
              <a:rPr sz="1600" b="0">
                <a:solidFill>
                  <a:srgbClr val="0F172A"/>
                </a:solidFill>
                <a:latin typeface="Segoe UI"/>
              </a:rPr>
              <a:t>• Keyword-only con * separador</a:t>
            </a:r>
          </a:p>
          <a:p>
            <a:pPr>
              <a:spcAft>
                <a:spcPts val="1000"/>
              </a:spcAft>
              <a:defRPr sz="1600" b="0">
                <a:solidFill>
                  <a:srgbClr val="0F172A"/>
                </a:solidFill>
                <a:latin typeface="Segoe UI"/>
              </a:defRPr>
            </a:pPr>
            <a:r>
              <a:rPr sz="1600" b="0">
                <a:solidFill>
                  <a:srgbClr val="0F172A"/>
                </a:solidFill>
                <a:latin typeface="Segoe UI"/>
              </a:rPr>
              <a:t>• Funciones como objetos</a:t>
            </a:r>
          </a:p>
          <a:p>
            <a:pPr>
              <a:spcAft>
                <a:spcPts val="1000"/>
              </a:spcAft>
              <a:defRPr sz="1600" b="0">
                <a:solidFill>
                  <a:srgbClr val="0F172A"/>
                </a:solidFill>
                <a:latin typeface="Segoe UI"/>
              </a:defRPr>
            </a:pPr>
            <a:r>
              <a:rPr sz="1600" b="0">
                <a:solidFill>
                  <a:srgbClr val="0F172A"/>
                </a:solidFill>
                <a:latin typeface="Segoe UI"/>
              </a:rPr>
              <a:t>• Lambdas: dónde sí y dónde no</a:t>
            </a:r>
          </a:p>
          <a:p>
            <a:pPr>
              <a:spcAft>
                <a:spcPts val="1000"/>
              </a:spcAft>
              <a:defRPr sz="1600" b="0">
                <a:solidFill>
                  <a:srgbClr val="0F172A"/>
                </a:solidFill>
                <a:latin typeface="Segoe UI"/>
              </a:defRPr>
            </a:pPr>
            <a:r>
              <a:rPr sz="1600" b="0">
                <a:solidFill>
                  <a:srgbClr val="0F172A"/>
                </a:solidFill>
                <a:latin typeface="Segoe UI"/>
              </a:rPr>
              <a:t>• Closures: capturando scope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008 — Funciones: args, kwargs, lambdas, closures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operator import itemgetter, attrgetter</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from functools import wraps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008 — Funciones: args, kwargs, lambdas, closures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Función con todo.</a:t>
            </a:r>
          </a:p>
          <a:p>
            <a:pPr>
              <a:spcAft>
                <a:spcPts val="800"/>
              </a:spcAft>
              <a:defRPr sz="1400" b="0">
                <a:solidFill>
                  <a:srgbClr val="0F172A"/>
                </a:solidFill>
                <a:latin typeface="Segoe UI"/>
              </a:defRPr>
            </a:pPr>
            <a:r>
              <a:rPr sz="1400" b="0">
                <a:solidFill>
                  <a:srgbClr val="0F172A"/>
                </a:solidFill>
                <a:latin typeface="Segoe UI"/>
              </a:rPr>
              <a:t>• sorted con key.</a:t>
            </a:r>
          </a:p>
          <a:p>
            <a:pPr>
              <a:spcAft>
                <a:spcPts val="800"/>
              </a:spcAft>
              <a:defRPr sz="1400" b="0">
                <a:solidFill>
                  <a:srgbClr val="0F172A"/>
                </a:solidFill>
                <a:latin typeface="Segoe UI"/>
              </a:defRPr>
            </a:pPr>
            <a:r>
              <a:rPr sz="1400" b="0">
                <a:solidFill>
                  <a:srgbClr val="0F172A"/>
                </a:solidFill>
                <a:latin typeface="Segoe UI"/>
              </a:rPr>
              <a:t>• Closure contador.</a:t>
            </a:r>
          </a:p>
          <a:p>
            <a:pPr>
              <a:spcAft>
                <a:spcPts val="800"/>
              </a:spcAft>
              <a:defRPr sz="1400" b="0">
                <a:solidFill>
                  <a:srgbClr val="0F172A"/>
                </a:solidFill>
                <a:latin typeface="Segoe UI"/>
              </a:defRPr>
            </a:pPr>
            <a:r>
              <a:rPr sz="1400" b="0">
                <a:solidFill>
                  <a:srgbClr val="0F172A"/>
                </a:solidFill>
                <a:latin typeface="Segoe UI"/>
              </a:rPr>
              <a:t>• Memoización manual.</a:t>
            </a:r>
          </a:p>
          <a:p>
            <a:pPr>
              <a:spcAft>
                <a:spcPts val="800"/>
              </a:spcAft>
              <a:defRPr sz="1400" b="0">
                <a:solidFill>
                  <a:srgbClr val="0F172A"/>
                </a:solidFill>
                <a:latin typeface="Segoe UI"/>
              </a:defRPr>
            </a:pPr>
            <a:r>
              <a:rPr sz="1400" b="0">
                <a:solidFill>
                  <a:srgbClr val="0F172A"/>
                </a:solidFill>
                <a:latin typeface="Segoe UI"/>
              </a:rPr>
              <a:t>• Compose.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 implementación y demo de make_counter explicando con comentario por qué el contador persiste; (b) @memoize aplicado a Fibonacci recursivo con benchmark (N=35) antes/después; (c) ordenamiento de list[dict] por 2 criterios usando itemgetter.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009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009 — Manejo de excepciones y context managers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009 — Manejo de excepciones y context managers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Python Tutorial cap. 8 (Errors and Exceptions) · Ramalho, Fluent Python 2e — cap. 18 (Context Managers).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maneje excepciones con criterio (sin except: pass), construya jerarquías de excepciones propias cuando aporta, y use context managers (with) — tanto los built-in como propios con @contextmanager — para garantizar limpieza de recursos. Sin esto, el código de carga de datos es una bomba de relojería.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los 3 tipos de errores (Syntax, runtime exceptions, logical) y dónde se manejan.</a:t>
            </a:r>
          </a:p>
          <a:p>
            <a:pPr>
              <a:spcAft>
                <a:spcPts val="800"/>
              </a:spcAft>
              <a:defRPr sz="1400" b="0">
                <a:solidFill>
                  <a:srgbClr val="0F172A"/>
                </a:solidFill>
                <a:latin typeface="Segoe UI"/>
              </a:defRPr>
            </a:pPr>
            <a:r>
              <a:rPr sz="1400" b="0">
                <a:solidFill>
                  <a:srgbClr val="0F172A"/>
                </a:solidFill>
                <a:latin typeface="Segoe UI"/>
              </a:rPr>
              <a:t>• Capturar excepciones específicas (except ValueError, no except:) y propagar las que no sabes manejar.</a:t>
            </a:r>
          </a:p>
          <a:p>
            <a:pPr>
              <a:spcAft>
                <a:spcPts val="800"/>
              </a:spcAft>
              <a:defRPr sz="1400" b="0">
                <a:solidFill>
                  <a:srgbClr val="0F172A"/>
                </a:solidFill>
                <a:latin typeface="Segoe UI"/>
              </a:defRPr>
            </a:pPr>
            <a:r>
              <a:rPr sz="1400" b="0">
                <a:solidFill>
                  <a:srgbClr val="0F172A"/>
                </a:solidFill>
                <a:latin typeface="Segoe UI"/>
              </a:rPr>
              <a:t>• Crear una excepción propia heredando de la jerarquía estándar (class DatasetCorruptoError(Exception)).</a:t>
            </a:r>
          </a:p>
          <a:p>
            <a:pPr>
              <a:spcAft>
                <a:spcPts val="800"/>
              </a:spcAft>
              <a:defRPr sz="1400" b="0">
                <a:solidFill>
                  <a:srgbClr val="0F172A"/>
                </a:solidFill>
                <a:latin typeface="Segoe UI"/>
              </a:defRPr>
            </a:pPr>
            <a:r>
              <a:rPr sz="1400" b="0">
                <a:solidFill>
                  <a:srgbClr val="0F172A"/>
                </a:solidFill>
                <a:latin typeface="Segoe UI"/>
              </a:rPr>
              <a:t>• Usar with para archivos, sesiones HTTP, transacciones DB.</a:t>
            </a:r>
          </a:p>
          <a:p>
            <a:pPr>
              <a:spcAft>
                <a:spcPts val="800"/>
              </a:spcAft>
              <a:defRPr sz="1400" b="0">
                <a:solidFill>
                  <a:srgbClr val="0F172A"/>
                </a:solidFill>
                <a:latin typeface="Segoe UI"/>
              </a:defRPr>
            </a:pPr>
            <a:r>
              <a:rPr sz="1400" b="0">
                <a:solidFill>
                  <a:srgbClr val="0F172A"/>
                </a:solidFill>
                <a:latin typeface="Segoe UI"/>
              </a:rPr>
              <a:t>• Escribir un context manager propio con @contextmanager (timer, supress, change_dir).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009 — Manejo de excepciones y context managers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Jerarquía de excepciones built-in</a:t>
            </a:r>
          </a:p>
          <a:p>
            <a:pPr>
              <a:spcAft>
                <a:spcPts val="1000"/>
              </a:spcAft>
              <a:defRPr sz="1600" b="0">
                <a:solidFill>
                  <a:srgbClr val="0F172A"/>
                </a:solidFill>
                <a:latin typeface="Segoe UI"/>
              </a:defRPr>
            </a:pPr>
            <a:r>
              <a:rPr sz="1600" b="0">
                <a:solidFill>
                  <a:srgbClr val="0F172A"/>
                </a:solidFill>
                <a:latin typeface="Segoe UI"/>
              </a:rPr>
              <a:t>• try/except/else/finally</a:t>
            </a:r>
          </a:p>
          <a:p>
            <a:pPr>
              <a:spcAft>
                <a:spcPts val="1000"/>
              </a:spcAft>
              <a:defRPr sz="1600" b="0">
                <a:solidFill>
                  <a:srgbClr val="0F172A"/>
                </a:solidFill>
                <a:latin typeface="Segoe UI"/>
              </a:defRPr>
            </a:pPr>
            <a:r>
              <a:rPr sz="1600" b="0">
                <a:solidFill>
                  <a:srgbClr val="0F172A"/>
                </a:solidFill>
                <a:latin typeface="Segoe UI"/>
              </a:rPr>
              <a:t>• Capturar específico, no genérico</a:t>
            </a:r>
          </a:p>
          <a:p>
            <a:pPr>
              <a:spcAft>
                <a:spcPts val="1000"/>
              </a:spcAft>
              <a:defRPr sz="1600" b="0">
                <a:solidFill>
                  <a:srgbClr val="0F172A"/>
                </a:solidFill>
                <a:latin typeface="Segoe UI"/>
              </a:defRPr>
            </a:pPr>
            <a:r>
              <a:rPr sz="1600" b="0">
                <a:solidFill>
                  <a:srgbClr val="0F172A"/>
                </a:solidFill>
                <a:latin typeface="Segoe UI"/>
              </a:rPr>
              <a:t>• Excepciones propias</a:t>
            </a:r>
          </a:p>
          <a:p>
            <a:pPr>
              <a:spcAft>
                <a:spcPts val="1000"/>
              </a:spcAft>
              <a:defRPr sz="1600" b="0">
                <a:solidFill>
                  <a:srgbClr val="0F172A"/>
                </a:solidFill>
                <a:latin typeface="Segoe UI"/>
              </a:defRPr>
            </a:pPr>
            <a:r>
              <a:rPr sz="1600" b="0">
                <a:solidFill>
                  <a:srgbClr val="0F172A"/>
                </a:solidFill>
                <a:latin typeface="Segoe UI"/>
              </a:rPr>
              <a:t>• Context managers: protocolo __enter__/__exit__</a:t>
            </a:r>
          </a:p>
          <a:p>
            <a:pPr>
              <a:spcAft>
                <a:spcPts val="1000"/>
              </a:spcAft>
              <a:defRPr sz="1600" b="0">
                <a:solidFill>
                  <a:srgbClr val="0F172A"/>
                </a:solidFill>
                <a:latin typeface="Segoe UI"/>
              </a:defRPr>
            </a:pPr>
            <a:r>
              <a:rPr sz="1600" b="0">
                <a:solidFill>
                  <a:srgbClr val="0F172A"/>
                </a:solidFill>
                <a:latin typeface="Segoe UI"/>
              </a:rPr>
              <a:t>• @contextmanager de contextlib</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009 — Manejo de excepciones y context managers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time, tempfile</a:t>
            </a:r>
          </a:p>
          <a:p>
            <a:pPr>
              <a:defRPr sz="1200" b="0">
                <a:solidFill>
                  <a:srgbClr val="F8FAFC"/>
                </a:solidFill>
                <a:latin typeface="Courier New"/>
              </a:defRPr>
            </a:pPr>
            <a:r>
              <a:rPr sz="1200" b="0">
                <a:solidFill>
                  <a:srgbClr val="F8FAFC"/>
                </a:solidFill>
                <a:latin typeface="Courier New"/>
              </a:rPr>
              <a:t>from contextlib import contextmanager</a:t>
            </a:r>
          </a:p>
          <a:p>
            <a:pPr>
              <a:defRPr sz="1200" b="0">
                <a:solidFill>
                  <a:srgbClr val="F8FAFC"/>
                </a:solidFill>
                <a:latin typeface="Courier New"/>
              </a:defRPr>
            </a:pPr>
            <a:r>
              <a:rPr sz="1200" b="0">
                <a:solidFill>
                  <a:srgbClr val="F8FAFC"/>
                </a:solidFill>
                <a:latin typeface="Courier New"/>
              </a:rPr>
              <a:t>from pathlib import Path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009 — Manejo de excepciones y context managers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Captura específica.</a:t>
            </a:r>
          </a:p>
          <a:p>
            <a:pPr>
              <a:spcAft>
                <a:spcPts val="800"/>
              </a:spcAft>
              <a:defRPr sz="1400" b="0">
                <a:solidFill>
                  <a:srgbClr val="0F172A"/>
                </a:solidFill>
                <a:latin typeface="Segoe UI"/>
              </a:defRPr>
            </a:pPr>
            <a:r>
              <a:rPr sz="1400" b="0">
                <a:solidFill>
                  <a:srgbClr val="0F172A"/>
                </a:solidFill>
                <a:latin typeface="Segoe UI"/>
              </a:rPr>
              <a:t>• Excepción propia.</a:t>
            </a:r>
          </a:p>
          <a:p>
            <a:pPr>
              <a:spcAft>
                <a:spcPts val="800"/>
              </a:spcAft>
              <a:defRPr sz="1400" b="0">
                <a:solidFill>
                  <a:srgbClr val="0F172A"/>
                </a:solidFill>
                <a:latin typeface="Segoe UI"/>
              </a:defRPr>
            </a:pPr>
            <a:r>
              <a:rPr sz="1400" b="0">
                <a:solidFill>
                  <a:srgbClr val="0F172A"/>
                </a:solidFill>
                <a:latin typeface="Segoe UI"/>
              </a:rPr>
              <a:t>• with para archivo.</a:t>
            </a:r>
          </a:p>
          <a:p>
            <a:pPr>
              <a:spcAft>
                <a:spcPts val="800"/>
              </a:spcAft>
              <a:defRPr sz="1400" b="0">
                <a:solidFill>
                  <a:srgbClr val="0F172A"/>
                </a:solidFill>
                <a:latin typeface="Segoe UI"/>
              </a:defRPr>
            </a:pPr>
            <a:r>
              <a:rPr sz="1400" b="0">
                <a:solidFill>
                  <a:srgbClr val="0F172A"/>
                </a:solidFill>
                <a:latin typeface="Segoe UI"/>
              </a:rPr>
              <a:t>• Context manager propio: timer.</a:t>
            </a:r>
          </a:p>
          <a:p>
            <a:pPr>
              <a:spcAft>
                <a:spcPts val="800"/>
              </a:spcAft>
              <a:defRPr sz="1400" b="0">
                <a:solidFill>
                  <a:srgbClr val="0F172A"/>
                </a:solidFill>
                <a:latin typeface="Segoe UI"/>
              </a:defRPr>
            </a:pPr>
            <a:r>
              <a:rPr sz="1400" b="0">
                <a:solidFill>
                  <a:srgbClr val="0F172A"/>
                </a:solidFill>
                <a:latin typeface="Segoe UI"/>
              </a:rPr>
              <a:t>• Context manager: change_dir.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 parse_int_safe con tests de los 3 casos (válido, inválido, otro tipo); (b) DatasetCorruptoError usada en una función cargar_csv que valida #columnas; (c) decorador-context manager timer aplicado a 2 operaciones; (d) cd context manager.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010 — OOP básico, dataclasses, herencia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010 — OOP básico, dataclasses, herencia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Ramalho, Fluent Python 2e — caps. 5 (Data Class Builders) y 14 (Inheritance) · Python Tutorial cap. 9.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escriba clases cuando aportan (no por hábito Java), use @dataclass para records sin boilerplate, entienda herencia con criterio (preferir composición), y conozca los métodos dunder más usados (__repr__, __eq__, __lt__, __len__).</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clases con __init__, atributos de instancia y métodos.</a:t>
            </a:r>
          </a:p>
          <a:p>
            <a:pPr>
              <a:spcAft>
                <a:spcPts val="800"/>
              </a:spcAft>
              <a:defRPr sz="1400" b="0">
                <a:solidFill>
                  <a:srgbClr val="0F172A"/>
                </a:solidFill>
                <a:latin typeface="Segoe UI"/>
              </a:defRPr>
            </a:pPr>
            <a:r>
              <a:rPr sz="1400" b="0">
                <a:solidFill>
                  <a:srgbClr val="0F172A"/>
                </a:solidFill>
                <a:latin typeface="Segoe UI"/>
              </a:rPr>
              <a:t>• Usar @dataclass para records inmutables/mutables sin escribir __init__/__repr__/__eq__.</a:t>
            </a:r>
          </a:p>
          <a:p>
            <a:pPr>
              <a:spcAft>
                <a:spcPts val="800"/>
              </a:spcAft>
              <a:defRPr sz="1400" b="0">
                <a:solidFill>
                  <a:srgbClr val="0F172A"/>
                </a:solidFill>
                <a:latin typeface="Segoe UI"/>
              </a:defRPr>
            </a:pPr>
            <a:r>
              <a:rPr sz="1400" b="0">
                <a:solidFill>
                  <a:srgbClr val="0F172A"/>
                </a:solidFill>
                <a:latin typeface="Segoe UI"/>
              </a:rPr>
              <a:t>• Heredar y sobreescribir métodos con super().</a:t>
            </a:r>
          </a:p>
          <a:p>
            <a:pPr>
              <a:spcAft>
                <a:spcPts val="800"/>
              </a:spcAft>
              <a:defRPr sz="1400" b="0">
                <a:solidFill>
                  <a:srgbClr val="0F172A"/>
                </a:solidFill>
                <a:latin typeface="Segoe UI"/>
              </a:defRPr>
            </a:pPr>
            <a:r>
              <a:rPr sz="1400" b="0">
                <a:solidFill>
                  <a:srgbClr val="0F172A"/>
                </a:solidFill>
                <a:latin typeface="Segoe UI"/>
              </a:rPr>
              <a:t>• Implementar dunders esenciales: __repr__, __str__, __eq__, __lt__, __len__, __iter__.</a:t>
            </a:r>
          </a:p>
          <a:p>
            <a:pPr>
              <a:spcAft>
                <a:spcPts val="800"/>
              </a:spcAft>
              <a:defRPr sz="1400" b="0">
                <a:solidFill>
                  <a:srgbClr val="0F172A"/>
                </a:solidFill>
                <a:latin typeface="Segoe UI"/>
              </a:defRPr>
            </a:pPr>
            <a:r>
              <a:rPr sz="1400" b="0">
                <a:solidFill>
                  <a:srgbClr val="0F172A"/>
                </a:solidFill>
                <a:latin typeface="Segoe UI"/>
              </a:rPr>
              <a:t>• Decidir entre clase, dataclass o NamedTuple según el caso.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010 — OOP básico, dataclasses, herencia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mínima: __init__ + atributos + métodos</a:t>
            </a:r>
          </a:p>
          <a:p>
            <a:pPr>
              <a:spcAft>
                <a:spcPts val="1000"/>
              </a:spcAft>
              <a:defRPr sz="1600" b="0">
                <a:solidFill>
                  <a:srgbClr val="0F172A"/>
                </a:solidFill>
                <a:latin typeface="Segoe UI"/>
              </a:defRPr>
            </a:pPr>
            <a:r>
              <a:rPr sz="1600" b="0">
                <a:solidFill>
                  <a:srgbClr val="0F172A"/>
                </a:solidFill>
                <a:latin typeface="Segoe UI"/>
              </a:rPr>
              <a:t>• @dataclass(frozen=True)</a:t>
            </a:r>
          </a:p>
          <a:p>
            <a:pPr>
              <a:spcAft>
                <a:spcPts val="1000"/>
              </a:spcAft>
              <a:defRPr sz="1600" b="0">
                <a:solidFill>
                  <a:srgbClr val="0F172A"/>
                </a:solidFill>
                <a:latin typeface="Segoe UI"/>
              </a:defRPr>
            </a:pPr>
            <a:r>
              <a:rPr sz="1600" b="0">
                <a:solidFill>
                  <a:srgbClr val="0F172A"/>
                </a:solidFill>
                <a:latin typeface="Segoe UI"/>
              </a:rPr>
              <a:t>• Herencia + super()</a:t>
            </a:r>
          </a:p>
          <a:p>
            <a:pPr>
              <a:spcAft>
                <a:spcPts val="1000"/>
              </a:spcAft>
              <a:defRPr sz="1600" b="0">
                <a:solidFill>
                  <a:srgbClr val="0F172A"/>
                </a:solidFill>
                <a:latin typeface="Segoe UI"/>
              </a:defRPr>
            </a:pPr>
            <a:r>
              <a:rPr sz="1600" b="0">
                <a:solidFill>
                  <a:srgbClr val="0F172A"/>
                </a:solidFill>
                <a:latin typeface="Segoe UI"/>
              </a:rPr>
              <a:t>• Composición &gt; herencia</a:t>
            </a:r>
          </a:p>
          <a:p>
            <a:pPr>
              <a:spcAft>
                <a:spcPts val="1000"/>
              </a:spcAft>
              <a:defRPr sz="1600" b="0">
                <a:solidFill>
                  <a:srgbClr val="0F172A"/>
                </a:solidFill>
                <a:latin typeface="Segoe UI"/>
              </a:defRPr>
            </a:pPr>
            <a:r>
              <a:rPr sz="1600" b="0">
                <a:solidFill>
                  <a:srgbClr val="0F172A"/>
                </a:solidFill>
                <a:latin typeface="Segoe UI"/>
              </a:rPr>
              <a:t>• Métodos dunder</a:t>
            </a:r>
          </a:p>
          <a:p>
            <a:pPr>
              <a:spcAft>
                <a:spcPts val="1000"/>
              </a:spcAft>
              <a:defRPr sz="1600" b="0">
                <a:solidFill>
                  <a:srgbClr val="0F172A"/>
                </a:solidFill>
                <a:latin typeface="Segoe UI"/>
              </a:defRPr>
            </a:pPr>
            <a:r>
              <a:rPr sz="1600" b="0">
                <a:solidFill>
                  <a:srgbClr val="0F172A"/>
                </a:solidFill>
                <a:latin typeface="Segoe UI"/>
              </a:rPr>
              <a:t>• dataclass vs NamedTuple vs TypedDict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010 — OOP básico, dataclasses, herencia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dataclasses import dataclass, field, FrozenInstanceError</a:t>
            </a:r>
          </a:p>
          <a:p>
            <a:pPr>
              <a:defRPr sz="1200" b="0">
                <a:solidFill>
                  <a:srgbClr val="F8FAFC"/>
                </a:solidFill>
                <a:latin typeface="Courier New"/>
              </a:defRPr>
            </a:pPr>
            <a:r>
              <a:rPr sz="1200" b="0">
                <a:solidFill>
                  <a:srgbClr val="F8FAFC"/>
                </a:solidFill>
                <a:latin typeface="Courier New"/>
              </a:rPr>
              <a:t>from math import sqrt</a:t>
            </a:r>
          </a:p>
          <a:p>
            <a:pPr>
              <a:defRPr sz="1200" b="0">
                <a:solidFill>
                  <a:srgbClr val="F8FAFC"/>
                </a:solidFill>
                <a:latin typeface="Courier New"/>
              </a:defRPr>
            </a:pPr>
            <a:r>
              <a:rPr sz="1200" b="0">
                <a:solidFill>
                  <a:srgbClr val="F8FAFC"/>
                </a:solidFill>
                <a:latin typeface="Courier New"/>
              </a:rPr>
              <a:t>from typing import NamedTuple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010 — OOP básico, dataclasses, herencia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Clase Punto.</a:t>
            </a:r>
          </a:p>
          <a:p>
            <a:pPr>
              <a:spcAft>
                <a:spcPts val="800"/>
              </a:spcAft>
              <a:defRPr sz="1400" b="0">
                <a:solidFill>
                  <a:srgbClr val="0F172A"/>
                </a:solidFill>
                <a:latin typeface="Segoe UI"/>
              </a:defRPr>
            </a:pPr>
            <a:r>
              <a:rPr sz="1400" b="0">
                <a:solidFill>
                  <a:srgbClr val="0F172A"/>
                </a:solidFill>
                <a:latin typeface="Segoe UI"/>
              </a:rPr>
              <a:t>• Dataclass Estudiante.</a:t>
            </a:r>
          </a:p>
          <a:p>
            <a:pPr>
              <a:spcAft>
                <a:spcPts val="800"/>
              </a:spcAft>
              <a:defRPr sz="1400" b="0">
                <a:solidFill>
                  <a:srgbClr val="0F172A"/>
                </a:solidFill>
                <a:latin typeface="Segoe UI"/>
              </a:defRPr>
            </a:pPr>
            <a:r>
              <a:rPr sz="1400" b="0">
                <a:solidFill>
                  <a:srgbClr val="0F172A"/>
                </a:solidFill>
                <a:latin typeface="Segoe UI"/>
              </a:rPr>
              <a:t>• Frozen Vector.</a:t>
            </a:r>
          </a:p>
          <a:p>
            <a:pPr>
              <a:spcAft>
                <a:spcPts val="800"/>
              </a:spcAft>
              <a:defRPr sz="1400" b="0">
                <a:solidFill>
                  <a:srgbClr val="0F172A"/>
                </a:solidFill>
                <a:latin typeface="Segoe UI"/>
              </a:defRPr>
            </a:pPr>
            <a:r>
              <a:rPr sz="1400" b="0">
                <a:solidFill>
                  <a:srgbClr val="0F172A"/>
                </a:solidFill>
                <a:latin typeface="Segoe UI"/>
              </a:rPr>
              <a:t>• Herencia.</a:t>
            </a:r>
          </a:p>
          <a:p>
            <a:pPr>
              <a:spcAft>
                <a:spcPts val="800"/>
              </a:spcAft>
              <a:defRPr sz="1400" b="0">
                <a:solidFill>
                  <a:srgbClr val="0F172A"/>
                </a:solidFill>
                <a:latin typeface="Segoe UI"/>
              </a:defRPr>
            </a:pPr>
            <a:r>
              <a:rPr sz="1400" b="0">
                <a:solidFill>
                  <a:srgbClr val="0F172A"/>
                </a:solidFill>
                <a:latin typeface="Segoe UI"/>
              </a:rPr>
              <a:t>• Composición.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 Punto con 4 dunders y tests; (b) @dataclass Estudiante con sort por promedio; (c) @dataclass(frozen=True) Vector que demuestra inmutabilidad lanzando excepción; (d) jerarquía Animal → Perro/Gato con polimorfismo (lista mixta llamando hablar()).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011 — pathlib, lectura y escritura de archivos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011 — pathlib, lectura y escritura de archivos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Python Tutorial cap. 10 · pathlib docs · Effective Python (Slatkin) ítem 38.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de usar os.path.join + strings y adopte pathlib.Path — API orientada a objetos, multiplataforma (Windows/Unix), con métodos legibles para todas las operaciones de filesystem que hace todo el tiempo en DS (leer CSV, listar archivos, crear carpetas).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paths con Path(...) / 'subdir' / 'file.csv' (operador /).</a:t>
            </a:r>
          </a:p>
          <a:p>
            <a:pPr>
              <a:spcAft>
                <a:spcPts val="800"/>
              </a:spcAft>
              <a:defRPr sz="1400" b="0">
                <a:solidFill>
                  <a:srgbClr val="0F172A"/>
                </a:solidFill>
                <a:latin typeface="Segoe UI"/>
              </a:defRPr>
            </a:pPr>
            <a:r>
              <a:rPr sz="1400" b="0">
                <a:solidFill>
                  <a:srgbClr val="0F172A"/>
                </a:solidFill>
                <a:latin typeface="Segoe UI"/>
              </a:rPr>
              <a:t>• Leer/escribir archivos texto y binarios con métodos de Path (read_text, write_bytes).</a:t>
            </a:r>
          </a:p>
          <a:p>
            <a:pPr>
              <a:spcAft>
                <a:spcPts val="800"/>
              </a:spcAft>
              <a:defRPr sz="1400" b="0">
                <a:solidFill>
                  <a:srgbClr val="0F172A"/>
                </a:solidFill>
                <a:latin typeface="Segoe UI"/>
              </a:defRPr>
            </a:pPr>
            <a:r>
              <a:rPr sz="1400" b="0">
                <a:solidFill>
                  <a:srgbClr val="0F172A"/>
                </a:solidFill>
                <a:latin typeface="Segoe UI"/>
              </a:rPr>
              <a:t>• Listar y filtrar archivos con iterdir, glob, rglob (recursivo).</a:t>
            </a:r>
          </a:p>
          <a:p>
            <a:pPr>
              <a:spcAft>
                <a:spcPts val="800"/>
              </a:spcAft>
              <a:defRPr sz="1400" b="0">
                <a:solidFill>
                  <a:srgbClr val="0F172A"/>
                </a:solidFill>
                <a:latin typeface="Segoe UI"/>
              </a:defRPr>
            </a:pPr>
            <a:r>
              <a:rPr sz="1400" b="0">
                <a:solidFill>
                  <a:srgbClr val="0F172A"/>
                </a:solidFill>
                <a:latin typeface="Segoe UI"/>
              </a:rPr>
              <a:t>• Crear/eliminar estructuras de directorios sin pelear con os.makedirs(exist_ok=True).</a:t>
            </a:r>
          </a:p>
          <a:p>
            <a:pPr>
              <a:spcAft>
                <a:spcPts val="800"/>
              </a:spcAft>
              <a:defRPr sz="1400" b="0">
                <a:solidFill>
                  <a:srgbClr val="0F172A"/>
                </a:solidFill>
                <a:latin typeface="Segoe UI"/>
              </a:defRPr>
            </a:pPr>
            <a:r>
              <a:rPr sz="1400" b="0">
                <a:solidFill>
                  <a:srgbClr val="0F172A"/>
                </a:solidFill>
                <a:latin typeface="Segoe UI"/>
              </a:rPr>
              <a:t>• Manejar rutas relativas vs absolutas y entender __file__.</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011 — pathlib, lectura y escritura de archivos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Path vs strings</a:t>
            </a:r>
          </a:p>
          <a:p>
            <a:pPr>
              <a:spcAft>
                <a:spcPts val="1000"/>
              </a:spcAft>
              <a:defRPr sz="1600" b="0">
                <a:solidFill>
                  <a:srgbClr val="0F172A"/>
                </a:solidFill>
                <a:latin typeface="Segoe UI"/>
              </a:defRPr>
            </a:pPr>
            <a:r>
              <a:rPr sz="1600" b="0">
                <a:solidFill>
                  <a:srgbClr val="0F172A"/>
                </a:solidFill>
                <a:latin typeface="Segoe UI"/>
              </a:rPr>
              <a:t>• Operador / para componer</a:t>
            </a:r>
          </a:p>
          <a:p>
            <a:pPr>
              <a:spcAft>
                <a:spcPts val="1000"/>
              </a:spcAft>
              <a:defRPr sz="1600" b="0">
                <a:solidFill>
                  <a:srgbClr val="0F172A"/>
                </a:solidFill>
                <a:latin typeface="Segoe UI"/>
              </a:defRPr>
            </a:pPr>
            <a:r>
              <a:rPr sz="1600" b="0">
                <a:solidFill>
                  <a:srgbClr val="0F172A"/>
                </a:solidFill>
                <a:latin typeface="Segoe UI"/>
              </a:rPr>
              <a:t>• read_text / write_text / read_bytes</a:t>
            </a:r>
          </a:p>
          <a:p>
            <a:pPr>
              <a:spcAft>
                <a:spcPts val="1000"/>
              </a:spcAft>
              <a:defRPr sz="1600" b="0">
                <a:solidFill>
                  <a:srgbClr val="0F172A"/>
                </a:solidFill>
                <a:latin typeface="Segoe UI"/>
              </a:defRPr>
            </a:pPr>
            <a:r>
              <a:rPr sz="1600" b="0">
                <a:solidFill>
                  <a:srgbClr val="0F172A"/>
                </a:solidFill>
                <a:latin typeface="Segoe UI"/>
              </a:rPr>
              <a:t>• glob y rglob</a:t>
            </a:r>
          </a:p>
          <a:p>
            <a:pPr>
              <a:spcAft>
                <a:spcPts val="1000"/>
              </a:spcAft>
              <a:defRPr sz="1600" b="0">
                <a:solidFill>
                  <a:srgbClr val="0F172A"/>
                </a:solidFill>
                <a:latin typeface="Segoe UI"/>
              </a:defRPr>
            </a:pPr>
            <a:r>
              <a:rPr sz="1600" b="0">
                <a:solidFill>
                  <a:srgbClr val="0F172A"/>
                </a:solidFill>
                <a:latin typeface="Segoe UI"/>
              </a:rPr>
              <a:t>• mkdir(parents=True, exist_ok=True)</a:t>
            </a:r>
          </a:p>
          <a:p>
            <a:pPr>
              <a:spcAft>
                <a:spcPts val="1000"/>
              </a:spcAft>
              <a:defRPr sz="1600" b="0">
                <a:solidFill>
                  <a:srgbClr val="0F172A"/>
                </a:solidFill>
                <a:latin typeface="Segoe UI"/>
              </a:defRPr>
            </a:pPr>
            <a:r>
              <a:rPr sz="1600" b="0">
                <a:solidFill>
                  <a:srgbClr val="0F172A"/>
                </a:solidFill>
                <a:latin typeface="Segoe UI"/>
              </a:rPr>
              <a:t>• Path(__file__).parent y resolve()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011 — pathlib, lectura y escritura de archivos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Carpeta de trabajo temporal</a:t>
            </a:r>
          </a:p>
          <a:p>
            <a:pPr>
              <a:defRPr sz="1200" b="0">
                <a:solidFill>
                  <a:srgbClr val="F8FAFC"/>
                </a:solidFill>
                <a:latin typeface="Courier New"/>
              </a:defRPr>
            </a:pPr>
            <a:r>
              <a:rPr sz="1200" b="0">
                <a:solidFill>
                  <a:srgbClr val="F8FAFC"/>
                </a:solidFill>
                <a:latin typeface="Courier New"/>
              </a:rPr>
              <a:t>base = Path(tempfile.mkdtemp(prefix='lab011_'))</a:t>
            </a:r>
          </a:p>
          <a:p>
            <a:pPr>
              <a:defRPr sz="1200" b="0">
                <a:solidFill>
                  <a:srgbClr val="F8FAFC"/>
                </a:solidFill>
                <a:latin typeface="Courier New"/>
              </a:defRPr>
            </a:pPr>
            <a:r>
              <a:rPr sz="1200" b="0">
                <a:solidFill>
                  <a:srgbClr val="F8FAFC"/>
                </a:solidFill>
                <a:latin typeface="Courier New"/>
              </a:rPr>
              <a:t>print(f'trabajo en: {base}')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011 — pathlib, lectura y escritura de archivos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Construye una ruta multiplataforma.</a:t>
            </a:r>
          </a:p>
          <a:p>
            <a:pPr>
              <a:spcAft>
                <a:spcPts val="800"/>
              </a:spcAft>
              <a:defRPr sz="1400" b="0">
                <a:solidFill>
                  <a:srgbClr val="0F172A"/>
                </a:solidFill>
                <a:latin typeface="Segoe UI"/>
              </a:defRPr>
            </a:pPr>
            <a:r>
              <a:rPr sz="1400" b="0">
                <a:solidFill>
                  <a:srgbClr val="0F172A"/>
                </a:solidFill>
                <a:latin typeface="Segoe UI"/>
              </a:rPr>
              <a:t>• Lista CSVs.</a:t>
            </a:r>
          </a:p>
          <a:p>
            <a:pPr>
              <a:spcAft>
                <a:spcPts val="800"/>
              </a:spcAft>
              <a:defRPr sz="1400" b="0">
                <a:solidFill>
                  <a:srgbClr val="0F172A"/>
                </a:solidFill>
                <a:latin typeface="Segoe UI"/>
              </a:defRPr>
            </a:pPr>
            <a:r>
              <a:rPr sz="1400" b="0">
                <a:solidFill>
                  <a:srgbClr val="0F172A"/>
                </a:solidFill>
                <a:latin typeface="Segoe UI"/>
              </a:rPr>
              <a:t>• Búsqueda recursiva.</a:t>
            </a:r>
          </a:p>
          <a:p>
            <a:pPr>
              <a:spcAft>
                <a:spcPts val="800"/>
              </a:spcAft>
              <a:defRPr sz="1400" b="0">
                <a:solidFill>
                  <a:srgbClr val="0F172A"/>
                </a:solidFill>
                <a:latin typeface="Segoe UI"/>
              </a:defRPr>
            </a:pPr>
            <a:r>
              <a:rPr sz="1400" b="0">
                <a:solidFill>
                  <a:srgbClr val="0F172A"/>
                </a:solidFill>
                <a:latin typeface="Segoe UI"/>
              </a:rPr>
              <a:t>• Escribe + lee.</a:t>
            </a:r>
          </a:p>
          <a:p>
            <a:pPr>
              <a:spcAft>
                <a:spcPts val="800"/>
              </a:spcAft>
              <a:defRPr sz="1400" b="0">
                <a:solidFill>
                  <a:srgbClr val="0F172A"/>
                </a:solidFill>
                <a:latin typeface="Segoe UI"/>
              </a:defRPr>
            </a:pPr>
            <a:r>
              <a:rPr sz="1400" b="0">
                <a:solidFill>
                  <a:srgbClr val="0F172A"/>
                </a:solidFill>
                <a:latin typeface="Segoe UI"/>
              </a:rPr>
              <a:t>• Ruta del script.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Script inventario.py que recibe un directorio y produce un reporte CSV con: nombre, tamaño_bytes, extensión, última_modificación para cada archivo recursivamente, usando solo pathlib (no os).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012 — Logging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012 — Logging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Python Tutorial logging HOWTO · The Pragmatic Programmer — "Programming by Coincidence".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de usar print para debug y aprenda el módulo logging estándar: niveles (DEBUG/INFO/WARNING/ERROR/CRITICAL), handlers (consola, archivo), formatters, y configuración por módulo. Es la diferencia entre código que se debuggea reiniciando el notebook y código que se debuggea leyendo logs.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los 5 niveles de logging y cuándo usar cada uno.</a:t>
            </a:r>
          </a:p>
          <a:p>
            <a:pPr>
              <a:spcAft>
                <a:spcPts val="800"/>
              </a:spcAft>
              <a:defRPr sz="1400" b="0">
                <a:solidFill>
                  <a:srgbClr val="0F172A"/>
                </a:solidFill>
                <a:latin typeface="Segoe UI"/>
              </a:defRPr>
            </a:pPr>
            <a:r>
              <a:rPr sz="1400" b="0">
                <a:solidFill>
                  <a:srgbClr val="0F172A"/>
                </a:solidFill>
                <a:latin typeface="Segoe UI"/>
              </a:rPr>
              <a:t>• Configurar un logger con logging.basicConfig y entender por qué basicConfig solo funciona una vez.</a:t>
            </a:r>
          </a:p>
          <a:p>
            <a:pPr>
              <a:spcAft>
                <a:spcPts val="800"/>
              </a:spcAft>
              <a:defRPr sz="1400" b="0">
                <a:solidFill>
                  <a:srgbClr val="0F172A"/>
                </a:solidFill>
                <a:latin typeface="Segoe UI"/>
              </a:defRPr>
            </a:pPr>
            <a:r>
              <a:rPr sz="1400" b="0">
                <a:solidFill>
                  <a:srgbClr val="0F172A"/>
                </a:solidFill>
                <a:latin typeface="Segoe UI"/>
              </a:rPr>
              <a:t>• Crear loggers por módulo con logging.getLogger(__name__).</a:t>
            </a:r>
          </a:p>
          <a:p>
            <a:pPr>
              <a:spcAft>
                <a:spcPts val="800"/>
              </a:spcAft>
              <a:defRPr sz="1400" b="0">
                <a:solidFill>
                  <a:srgbClr val="0F172A"/>
                </a:solidFill>
                <a:latin typeface="Segoe UI"/>
              </a:defRPr>
            </a:pPr>
            <a:r>
              <a:rPr sz="1400" b="0">
                <a:solidFill>
                  <a:srgbClr val="0F172A"/>
                </a:solidFill>
                <a:latin typeface="Segoe UI"/>
              </a:rPr>
              <a:t>• Agregar handlers: uno a consola (INFO+), otro a archivo (DEBUG+).</a:t>
            </a:r>
          </a:p>
          <a:p>
            <a:pPr>
              <a:spcAft>
                <a:spcPts val="800"/>
              </a:spcAft>
              <a:defRPr sz="1400" b="0">
                <a:solidFill>
                  <a:srgbClr val="0F172A"/>
                </a:solidFill>
                <a:latin typeface="Segoe UI"/>
              </a:defRPr>
            </a:pPr>
            <a:r>
              <a:rPr sz="1400" b="0">
                <a:solidFill>
                  <a:srgbClr val="0F172A"/>
                </a:solidFill>
                <a:latin typeface="Segoe UI"/>
              </a:rPr>
              <a:t>• Formatear logs con timestamp, módulo y nivel.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012 — Logging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print vs logging</a:t>
            </a:r>
          </a:p>
          <a:p>
            <a:pPr>
              <a:spcAft>
                <a:spcPts val="1000"/>
              </a:spcAft>
              <a:defRPr sz="1600" b="0">
                <a:solidFill>
                  <a:srgbClr val="0F172A"/>
                </a:solidFill>
                <a:latin typeface="Segoe UI"/>
              </a:defRPr>
            </a:pPr>
            <a:r>
              <a:rPr sz="1600" b="0">
                <a:solidFill>
                  <a:srgbClr val="0F172A"/>
                </a:solidFill>
                <a:latin typeface="Segoe UI"/>
              </a:rPr>
              <a:t>• Niveles: DEBUG/INFO/WARNING/ERROR/CRITICAL</a:t>
            </a:r>
          </a:p>
          <a:p>
            <a:pPr>
              <a:spcAft>
                <a:spcPts val="1000"/>
              </a:spcAft>
              <a:defRPr sz="1600" b="0">
                <a:solidFill>
                  <a:srgbClr val="0F172A"/>
                </a:solidFill>
                <a:latin typeface="Segoe UI"/>
              </a:defRPr>
            </a:pPr>
            <a:r>
              <a:rPr sz="1600" b="0">
                <a:solidFill>
                  <a:srgbClr val="0F172A"/>
                </a:solidFill>
                <a:latin typeface="Segoe UI"/>
              </a:rPr>
              <a:t>• Logger jerárquico por módulo</a:t>
            </a:r>
          </a:p>
          <a:p>
            <a:pPr>
              <a:spcAft>
                <a:spcPts val="1000"/>
              </a:spcAft>
              <a:defRPr sz="1600" b="0">
                <a:solidFill>
                  <a:srgbClr val="0F172A"/>
                </a:solidFill>
                <a:latin typeface="Segoe UI"/>
              </a:defRPr>
            </a:pPr>
            <a:r>
              <a:rPr sz="1600" b="0">
                <a:solidFill>
                  <a:srgbClr val="0F172A"/>
                </a:solidFill>
                <a:latin typeface="Segoe UI"/>
              </a:rPr>
              <a:t>• Handlers: consola, archivo, rotating</a:t>
            </a:r>
          </a:p>
          <a:p>
            <a:pPr>
              <a:spcAft>
                <a:spcPts val="1000"/>
              </a:spcAft>
              <a:defRPr sz="1600" b="0">
                <a:solidFill>
                  <a:srgbClr val="0F172A"/>
                </a:solidFill>
                <a:latin typeface="Segoe UI"/>
              </a:defRPr>
            </a:pPr>
            <a:r>
              <a:rPr sz="1600" b="0">
                <a:solidFill>
                  <a:srgbClr val="0F172A"/>
                </a:solidFill>
                <a:latin typeface="Segoe UI"/>
              </a:rPr>
              <a:t>• Formatters</a:t>
            </a:r>
          </a:p>
          <a:p>
            <a:pPr>
              <a:spcAft>
                <a:spcPts val="1000"/>
              </a:spcAft>
              <a:defRPr sz="1600" b="0">
                <a:solidFill>
                  <a:srgbClr val="0F172A"/>
                </a:solidFill>
                <a:latin typeface="Segoe UI"/>
              </a:defRPr>
            </a:pPr>
            <a:r>
              <a:rPr sz="1600" b="0">
                <a:solidFill>
                  <a:srgbClr val="0F172A"/>
                </a:solidFill>
                <a:latin typeface="Segoe UI"/>
              </a:rPr>
              <a:t>• logging.basicConfig y sus límites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012 — Logging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logging</a:t>
            </a:r>
          </a:p>
          <a:p>
            <a:pPr>
              <a:defRPr sz="1200" b="0">
                <a:solidFill>
                  <a:srgbClr val="F8FAFC"/>
                </a:solidFill>
                <a:latin typeface="Courier New"/>
              </a:defRPr>
            </a:pPr>
            <a:r>
              <a:rPr sz="1200" b="0">
                <a:solidFill>
                  <a:srgbClr val="F8FAFC"/>
                </a:solidFill>
                <a:latin typeface="Courier New"/>
              </a:rPr>
              <a:t>import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from logging.config import dictConfig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012 — Logging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Reemplaza prints.</a:t>
            </a:r>
          </a:p>
          <a:p>
            <a:pPr>
              <a:spcAft>
                <a:spcPts val="800"/>
              </a:spcAft>
              <a:defRPr sz="1400" b="0">
                <a:solidFill>
                  <a:srgbClr val="0F172A"/>
                </a:solidFill>
                <a:latin typeface="Segoe UI"/>
              </a:defRPr>
            </a:pPr>
            <a:r>
              <a:rPr sz="1400" b="0">
                <a:solidFill>
                  <a:srgbClr val="0F172A"/>
                </a:solidFill>
                <a:latin typeface="Segoe UI"/>
              </a:rPr>
              <a:t>• Logger por módulo.</a:t>
            </a:r>
          </a:p>
          <a:p>
            <a:pPr>
              <a:spcAft>
                <a:spcPts val="800"/>
              </a:spcAft>
              <a:defRPr sz="1400" b="0">
                <a:solidFill>
                  <a:srgbClr val="0F172A"/>
                </a:solidFill>
                <a:latin typeface="Segoe UI"/>
              </a:defRPr>
            </a:pPr>
            <a:r>
              <a:rPr sz="1400" b="0">
                <a:solidFill>
                  <a:srgbClr val="0F172A"/>
                </a:solidFill>
                <a:latin typeface="Segoe UI"/>
              </a:rPr>
              <a:t>• Handler doble.</a:t>
            </a:r>
          </a:p>
          <a:p>
            <a:pPr>
              <a:spcAft>
                <a:spcPts val="800"/>
              </a:spcAft>
              <a:defRPr sz="1400" b="0">
                <a:solidFill>
                  <a:srgbClr val="0F172A"/>
                </a:solidFill>
                <a:latin typeface="Segoe UI"/>
              </a:defRPr>
            </a:pPr>
            <a:r>
              <a:rPr sz="1400" b="0">
                <a:solidFill>
                  <a:srgbClr val="0F172A"/>
                </a:solidFill>
                <a:latin typeface="Segoe UI"/>
              </a:rPr>
              <a:t>• Formato con timestamp.</a:t>
            </a:r>
          </a:p>
          <a:p>
            <a:pPr>
              <a:spcAft>
                <a:spcPts val="800"/>
              </a:spcAft>
              <a:defRPr sz="1400" b="0">
                <a:solidFill>
                  <a:srgbClr val="0F172A"/>
                </a:solidFill>
                <a:latin typeface="Segoe UI"/>
              </a:defRPr>
            </a:pPr>
            <a:r>
              <a:rPr sz="1400" b="0">
                <a:solidFill>
                  <a:srgbClr val="0F172A"/>
                </a:solidFill>
                <a:latin typeface="Segoe UI"/>
              </a:rPr>
              <a:t>• Logger en notebook.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+ 2 módulos .py que importan y loguean. Un logging_config.py con dictConfig que define: consola (INFO+, formato corto) y app.log (DEBUG+, formato verbose con timestamp). El notebook ejecuta funciones que generan logs de distintos niveles desde ambos módulos. Adjunta el app.log resultante.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013 — Type hints y mypy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013 — Type hints y mypy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Fluent Python 2e cap. 8 (Type Hints in Functions) · typing docs · mypy docs. · Duración estimada: 75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anote tipos en sus funciones y dataclasses — no por dogma, sino porque permiten que el IDE autocomplete bien, que mypy detecte bugs antes de runtime, y que el lector entienda la intención. Tipos como documentación verificable.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Anotar funciones con tipos en parámetros y retorno (def f(x: int) -&gt; str).</a:t>
            </a:r>
          </a:p>
          <a:p>
            <a:pPr>
              <a:spcAft>
                <a:spcPts val="800"/>
              </a:spcAft>
              <a:defRPr sz="1400" b="0">
                <a:solidFill>
                  <a:srgbClr val="0F172A"/>
                </a:solidFill>
                <a:latin typeface="Segoe UI"/>
              </a:defRPr>
            </a:pPr>
            <a:r>
              <a:rPr sz="1400" b="0">
                <a:solidFill>
                  <a:srgbClr val="0F172A"/>
                </a:solidFill>
                <a:latin typeface="Segoe UI"/>
              </a:rPr>
              <a:t>• Usar tipos compuestos: list[int], dict[str, float], tuple[int, str], Optional[X], X | None.</a:t>
            </a:r>
          </a:p>
          <a:p>
            <a:pPr>
              <a:spcAft>
                <a:spcPts val="800"/>
              </a:spcAft>
              <a:defRPr sz="1400" b="0">
                <a:solidFill>
                  <a:srgbClr val="0F172A"/>
                </a:solidFill>
                <a:latin typeface="Segoe UI"/>
              </a:defRPr>
            </a:pPr>
            <a:r>
              <a:rPr sz="1400" b="0">
                <a:solidFill>
                  <a:srgbClr val="0F172A"/>
                </a:solidFill>
                <a:latin typeface="Segoe UI"/>
              </a:rPr>
              <a:t>• Definir tipos personalizados con TypeAlias y Protocol (structural typing).</a:t>
            </a:r>
          </a:p>
          <a:p>
            <a:pPr>
              <a:spcAft>
                <a:spcPts val="800"/>
              </a:spcAft>
              <a:defRPr sz="1400" b="0">
                <a:solidFill>
                  <a:srgbClr val="0F172A"/>
                </a:solidFill>
                <a:latin typeface="Segoe UI"/>
              </a:defRPr>
            </a:pPr>
            <a:r>
              <a:rPr sz="1400" b="0">
                <a:solidFill>
                  <a:srgbClr val="0F172A"/>
                </a:solidFill>
                <a:latin typeface="Segoe UI"/>
              </a:rPr>
              <a:t>• Ejecutar mypy sobre código y interpretar sus errores.</a:t>
            </a:r>
          </a:p>
          <a:p>
            <a:pPr>
              <a:spcAft>
                <a:spcPts val="800"/>
              </a:spcAft>
              <a:defRPr sz="1400" b="0">
                <a:solidFill>
                  <a:srgbClr val="0F172A"/>
                </a:solidFill>
                <a:latin typeface="Segoe UI"/>
              </a:defRPr>
            </a:pPr>
            <a:r>
              <a:rPr sz="1400" b="0">
                <a:solidFill>
                  <a:srgbClr val="0F172A"/>
                </a:solidFill>
                <a:latin typeface="Segoe UI"/>
              </a:rPr>
              <a:t>• Reconocer cuándo type hints aportan (APIs públicas, data classes) y cuándo no (notebooks exploratorios).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013 — Type hints y mypy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Sintaxis básica: x: int, -&gt; bool</a:t>
            </a:r>
          </a:p>
          <a:p>
            <a:pPr>
              <a:spcAft>
                <a:spcPts val="1000"/>
              </a:spcAft>
              <a:defRPr sz="1600" b="0">
                <a:solidFill>
                  <a:srgbClr val="0F172A"/>
                </a:solidFill>
                <a:latin typeface="Segoe UI"/>
              </a:defRPr>
            </a:pPr>
            <a:r>
              <a:rPr sz="1600" b="0">
                <a:solidFill>
                  <a:srgbClr val="0F172A"/>
                </a:solidFill>
                <a:latin typeface="Segoe UI"/>
              </a:rPr>
              <a:t>• Tipos compuestos modernos (3.9+): list[int]</a:t>
            </a:r>
          </a:p>
          <a:p>
            <a:pPr>
              <a:spcAft>
                <a:spcPts val="1000"/>
              </a:spcAft>
              <a:defRPr sz="1600" b="0">
                <a:solidFill>
                  <a:srgbClr val="0F172A"/>
                </a:solidFill>
                <a:latin typeface="Segoe UI"/>
              </a:defRPr>
            </a:pPr>
            <a:r>
              <a:rPr sz="1600" b="0">
                <a:solidFill>
                  <a:srgbClr val="0F172A"/>
                </a:solidFill>
                <a:latin typeface="Segoe UI"/>
              </a:rPr>
              <a:t>• Optional[X] y `X</a:t>
            </a:r>
          </a:p>
          <a:p>
            <a:pPr>
              <a:spcAft>
                <a:spcPts val="1000"/>
              </a:spcAft>
              <a:defRPr sz="1600" b="0">
                <a:solidFill>
                  <a:srgbClr val="0F172A"/>
                </a:solidFill>
                <a:latin typeface="Segoe UI"/>
              </a:defRPr>
            </a:pPr>
            <a:r>
              <a:rPr sz="1600" b="0">
                <a:solidFill>
                  <a:srgbClr val="0F172A"/>
                </a:solidFill>
                <a:latin typeface="Segoe UI"/>
              </a:rPr>
              <a:t>• Literal, TypedDict, Protocol</a:t>
            </a:r>
          </a:p>
          <a:p>
            <a:pPr>
              <a:spcAft>
                <a:spcPts val="1000"/>
              </a:spcAft>
              <a:defRPr sz="1600" b="0">
                <a:solidFill>
                  <a:srgbClr val="0F172A"/>
                </a:solidFill>
                <a:latin typeface="Segoe UI"/>
              </a:defRPr>
            </a:pPr>
            <a:r>
              <a:rPr sz="1600" b="0">
                <a:solidFill>
                  <a:srgbClr val="0F172A"/>
                </a:solidFill>
                <a:latin typeface="Segoe UI"/>
              </a:rPr>
              <a:t>• mypy: instalar y correr</a:t>
            </a:r>
          </a:p>
          <a:p>
            <a:pPr>
              <a:spcAft>
                <a:spcPts val="1000"/>
              </a:spcAft>
              <a:defRPr sz="1600" b="0">
                <a:solidFill>
                  <a:srgbClr val="0F172A"/>
                </a:solidFill>
                <a:latin typeface="Segoe UI"/>
              </a:defRPr>
            </a:pPr>
            <a:r>
              <a:rPr sz="1600" b="0">
                <a:solidFill>
                  <a:srgbClr val="0F172A"/>
                </a:solidFill>
                <a:latin typeface="Segoe UI"/>
              </a:rPr>
              <a:t>• reveal_type(x) y # type: ignore</a:t>
            </a:r>
          </a:p>
          <a:p>
            <a:pPr>
              <a:spcAft>
                <a:spcPts val="1000"/>
              </a:spcAft>
              <a:defRPr sz="1600" b="0">
                <a:solidFill>
                  <a:srgbClr val="0F172A"/>
                </a:solidFill>
                <a:latin typeface="Segoe UI"/>
              </a:defRPr>
            </a:pPr>
            <a:r>
              <a:rPr sz="1600" b="0">
                <a:solidFill>
                  <a:srgbClr val="0F172A"/>
                </a:solidFill>
                <a:latin typeface="Segoe UI"/>
              </a:rPr>
              <a:t>• Cuándo SÍ y cuándo NO</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013 — Type hints y mypy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typing import Optional, Literal, TypedDict, Protocol, TypeAlias</a:t>
            </a:r>
          </a:p>
          <a:p>
            <a:pPr>
              <a:defRPr sz="1200" b="0">
                <a:solidFill>
                  <a:srgbClr val="F8FAFC"/>
                </a:solidFill>
                <a:latin typeface="Courier New"/>
              </a:defRPr>
            </a:pPr>
            <a:r>
              <a:rPr sz="1200" b="0">
                <a:solidFill>
                  <a:srgbClr val="F8FAFC"/>
                </a:solidFill>
                <a:latin typeface="Courier New"/>
              </a:rPr>
              <a:t>from dataclasses import dataclass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013 — Type hints y mypy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Anota una función.</a:t>
            </a:r>
          </a:p>
          <a:p>
            <a:pPr>
              <a:spcAft>
                <a:spcPts val="800"/>
              </a:spcAft>
              <a:defRPr sz="1400" b="0">
                <a:solidFill>
                  <a:srgbClr val="0F172A"/>
                </a:solidFill>
                <a:latin typeface="Segoe UI"/>
              </a:defRPr>
            </a:pPr>
            <a:r>
              <a:rPr sz="1400" b="0">
                <a:solidFill>
                  <a:srgbClr val="0F172A"/>
                </a:solidFill>
                <a:latin typeface="Segoe UI"/>
              </a:rPr>
              <a:t>• Optional vs default.</a:t>
            </a:r>
          </a:p>
          <a:p>
            <a:pPr>
              <a:spcAft>
                <a:spcPts val="800"/>
              </a:spcAft>
              <a:defRPr sz="1400" b="0">
                <a:solidFill>
                  <a:srgbClr val="0F172A"/>
                </a:solidFill>
                <a:latin typeface="Segoe UI"/>
              </a:defRPr>
            </a:pPr>
            <a:r>
              <a:rPr sz="1400" b="0">
                <a:solidFill>
                  <a:srgbClr val="0F172A"/>
                </a:solidFill>
                <a:latin typeface="Segoe UI"/>
              </a:rPr>
              <a:t>• TypedDict.</a:t>
            </a:r>
          </a:p>
          <a:p>
            <a:pPr>
              <a:spcAft>
                <a:spcPts val="800"/>
              </a:spcAft>
              <a:defRPr sz="1400" b="0">
                <a:solidFill>
                  <a:srgbClr val="0F172A"/>
                </a:solidFill>
                <a:latin typeface="Segoe UI"/>
              </a:defRPr>
            </a:pPr>
            <a:r>
              <a:rPr sz="1400" b="0">
                <a:solidFill>
                  <a:srgbClr val="0F172A"/>
                </a:solidFill>
                <a:latin typeface="Segoe UI"/>
              </a:rPr>
              <a:t>• Corre mypy.</a:t>
            </a:r>
          </a:p>
          <a:p>
            <a:pPr>
              <a:spcAft>
                <a:spcPts val="800"/>
              </a:spcAft>
              <a:defRPr sz="1400" b="0">
                <a:solidFill>
                  <a:srgbClr val="0F172A"/>
                </a:solidFill>
                <a:latin typeface="Segoe UI"/>
              </a:defRPr>
            </a:pPr>
            <a:r>
              <a:rPr sz="1400" b="0">
                <a:solidFill>
                  <a:srgbClr val="0F172A"/>
                </a:solidFill>
                <a:latin typeface="Segoe UI"/>
              </a:rPr>
              <a:t>• Protocol.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Repo con un módulo analytics.py (5+ funciones completamente anotadas), pyproject.toml que incluye mypy en [tool.mypy] con strict = true, y screenshot/log de mypy analytics.py sin errores.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014 — NumPy: tipos, creación, atributos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014 — NumPy: tipos, creación, atributos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Python Data Science Handbook, cap. 2 — Introduction to NumPy, §§ 2.1–2.2.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el modelo mental de un ndarray — bloque contiguo de memoria con shape, dtype y strides — y sepa crear arrays de las 6 formas más útiles (array, zeros, arange, linspace, random, desde lista). Sin este modelo, todo el rendimiento de NumPy parece magia.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por qué ndarray es 50–100× más rápido que list (memoria contigua + dtype fijo + sin overhead Python).</a:t>
            </a:r>
          </a:p>
          <a:p>
            <a:pPr>
              <a:spcAft>
                <a:spcPts val="800"/>
              </a:spcAft>
              <a:defRPr sz="1400" b="0">
                <a:solidFill>
                  <a:srgbClr val="0F172A"/>
                </a:solidFill>
                <a:latin typeface="Segoe UI"/>
              </a:defRPr>
            </a:pPr>
            <a:r>
              <a:rPr sz="1400" b="0">
                <a:solidFill>
                  <a:srgbClr val="0F172A"/>
                </a:solidFill>
                <a:latin typeface="Segoe UI"/>
              </a:rPr>
              <a:t>• Crear arrays con np.array, np.zeros, np.ones, np.full, np.arange, np.linspace.</a:t>
            </a:r>
          </a:p>
          <a:p>
            <a:pPr>
              <a:spcAft>
                <a:spcPts val="800"/>
              </a:spcAft>
              <a:defRPr sz="1400" b="0">
                <a:solidFill>
                  <a:srgbClr val="0F172A"/>
                </a:solidFill>
                <a:latin typeface="Segoe UI"/>
              </a:defRPr>
            </a:pPr>
            <a:r>
              <a:rPr sz="1400" b="0">
                <a:solidFill>
                  <a:srgbClr val="0F172A"/>
                </a:solidFill>
                <a:latin typeface="Segoe UI"/>
              </a:rPr>
              <a:t>• Inspeccionar un array con shape, dtype, ndim, size, nbytes, itemsize.</a:t>
            </a:r>
          </a:p>
          <a:p>
            <a:pPr>
              <a:spcAft>
                <a:spcPts val="800"/>
              </a:spcAft>
              <a:defRPr sz="1400" b="0">
                <a:solidFill>
                  <a:srgbClr val="0F172A"/>
                </a:solidFill>
                <a:latin typeface="Segoe UI"/>
              </a:defRPr>
            </a:pPr>
            <a:r>
              <a:rPr sz="1400" b="0">
                <a:solidFill>
                  <a:srgbClr val="0F172A"/>
                </a:solidFill>
                <a:latin typeface="Segoe UI"/>
              </a:rPr>
              <a:t>• Cambiar dtype explícitamente con astype y entender promociones implícitas (int + float = float).</a:t>
            </a:r>
          </a:p>
          <a:p>
            <a:pPr>
              <a:spcAft>
                <a:spcPts val="800"/>
              </a:spcAft>
              <a:defRPr sz="1400" b="0">
                <a:solidFill>
                  <a:srgbClr val="0F172A"/>
                </a:solidFill>
                <a:latin typeface="Segoe UI"/>
              </a:defRPr>
            </a:pPr>
            <a:r>
              <a:rPr sz="1400" b="0">
                <a:solidFill>
                  <a:srgbClr val="0F172A"/>
                </a:solidFill>
                <a:latin typeface="Segoe UI"/>
              </a:rPr>
              <a:t>• Generar arrays aleatorios reproducibles con np.random.default_rng(seed).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014 — NumPy: tipos, creación, atributos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ndarray: memoria contigua + dtype fijo</a:t>
            </a:r>
          </a:p>
          <a:p>
            <a:pPr>
              <a:spcAft>
                <a:spcPts val="1000"/>
              </a:spcAft>
              <a:defRPr sz="1600" b="0">
                <a:solidFill>
                  <a:srgbClr val="0F172A"/>
                </a:solidFill>
                <a:latin typeface="Segoe UI"/>
              </a:defRPr>
            </a:pPr>
            <a:r>
              <a:rPr sz="1600" b="0">
                <a:solidFill>
                  <a:srgbClr val="0F172A"/>
                </a:solidFill>
                <a:latin typeface="Segoe UI"/>
              </a:rPr>
              <a:t>• Creación: array, zeros, arange, linspace</a:t>
            </a:r>
          </a:p>
          <a:p>
            <a:pPr>
              <a:spcAft>
                <a:spcPts val="1000"/>
              </a:spcAft>
              <a:defRPr sz="1600" b="0">
                <a:solidFill>
                  <a:srgbClr val="0F172A"/>
                </a:solidFill>
                <a:latin typeface="Segoe UI"/>
              </a:defRPr>
            </a:pPr>
            <a:r>
              <a:rPr sz="1600" b="0">
                <a:solidFill>
                  <a:srgbClr val="0F172A"/>
                </a:solidFill>
                <a:latin typeface="Segoe UI"/>
              </a:rPr>
              <a:t>• dtype: int8/16/32/64, float32/64, bool</a:t>
            </a:r>
          </a:p>
          <a:p>
            <a:pPr>
              <a:spcAft>
                <a:spcPts val="1000"/>
              </a:spcAft>
              <a:defRPr sz="1600" b="0">
                <a:solidFill>
                  <a:srgbClr val="0F172A"/>
                </a:solidFill>
                <a:latin typeface="Segoe UI"/>
              </a:defRPr>
            </a:pPr>
            <a:r>
              <a:rPr sz="1600" b="0">
                <a:solidFill>
                  <a:srgbClr val="0F172A"/>
                </a:solidFill>
                <a:latin typeface="Segoe UI"/>
              </a:rPr>
              <a:t>• Atributos: shape, dtype, ndim, size, nbytes</a:t>
            </a:r>
          </a:p>
          <a:p>
            <a:pPr>
              <a:spcAft>
                <a:spcPts val="1000"/>
              </a:spcAft>
              <a:defRPr sz="1600" b="0">
                <a:solidFill>
                  <a:srgbClr val="0F172A"/>
                </a:solidFill>
                <a:latin typeface="Segoe UI"/>
              </a:defRPr>
            </a:pPr>
            <a:r>
              <a:rPr sz="1600" b="0">
                <a:solidFill>
                  <a:srgbClr val="0F172A"/>
                </a:solidFill>
                <a:latin typeface="Segoe UI"/>
              </a:rPr>
              <a:t>• astype y promoción de tipos</a:t>
            </a:r>
          </a:p>
          <a:p>
            <a:pPr>
              <a:spcAft>
                <a:spcPts val="1000"/>
              </a:spcAft>
              <a:defRPr sz="1600" b="0">
                <a:solidFill>
                  <a:srgbClr val="0F172A"/>
                </a:solidFill>
                <a:latin typeface="Segoe UI"/>
              </a:defRPr>
            </a:pPr>
            <a:r>
              <a:rPr sz="1600" b="0">
                <a:solidFill>
                  <a:srgbClr val="0F172A"/>
                </a:solidFill>
                <a:latin typeface="Segoe UI"/>
              </a:rPr>
              <a:t>• random moderno: default_rng(seed)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014 — NumPy: tipos, creación, atributos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sys</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print('numpy:', np.__version__)</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014 — NumPy: tipos, creación, atributos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Memoria.</a:t>
            </a:r>
          </a:p>
          <a:p>
            <a:pPr>
              <a:spcAft>
                <a:spcPts val="800"/>
              </a:spcAft>
              <a:defRPr sz="1400" b="0">
                <a:solidFill>
                  <a:srgbClr val="0F172A"/>
                </a:solidFill>
                <a:latin typeface="Segoe UI"/>
              </a:defRPr>
            </a:pPr>
            <a:r>
              <a:rPr sz="1400" b="0">
                <a:solidFill>
                  <a:srgbClr val="0F172A"/>
                </a:solidFill>
                <a:latin typeface="Segoe UI"/>
              </a:rPr>
              <a:t>• Las 6 formas.</a:t>
            </a:r>
          </a:p>
          <a:p>
            <a:pPr>
              <a:spcAft>
                <a:spcPts val="800"/>
              </a:spcAft>
              <a:defRPr sz="1400" b="0">
                <a:solidFill>
                  <a:srgbClr val="0F172A"/>
                </a:solidFill>
                <a:latin typeface="Segoe UI"/>
              </a:defRPr>
            </a:pPr>
            <a:r>
              <a:rPr sz="1400" b="0">
                <a:solidFill>
                  <a:srgbClr val="0F172A"/>
                </a:solidFill>
                <a:latin typeface="Segoe UI"/>
              </a:rPr>
              <a:t>• Bug de dtype.</a:t>
            </a:r>
          </a:p>
          <a:p>
            <a:pPr>
              <a:spcAft>
                <a:spcPts val="800"/>
              </a:spcAft>
              <a:defRPr sz="1400" b="0">
                <a:solidFill>
                  <a:srgbClr val="0F172A"/>
                </a:solidFill>
                <a:latin typeface="Segoe UI"/>
              </a:defRPr>
            </a:pPr>
            <a:r>
              <a:rPr sz="1400" b="0">
                <a:solidFill>
                  <a:srgbClr val="0F172A"/>
                </a:solidFill>
                <a:latin typeface="Segoe UI"/>
              </a:rPr>
              <a:t>• Diagnóstico.</a:t>
            </a:r>
          </a:p>
          <a:p>
            <a:pPr>
              <a:spcAft>
                <a:spcPts val="800"/>
              </a:spcAft>
              <a:defRPr sz="1400" b="0">
                <a:solidFill>
                  <a:srgbClr val="0F172A"/>
                </a:solidFill>
                <a:latin typeface="Segoe UI"/>
              </a:defRPr>
            </a:pPr>
            <a:r>
              <a:rPr sz="1400" b="0">
                <a:solidFill>
                  <a:srgbClr val="0F172A"/>
                </a:solidFill>
                <a:latin typeface="Segoe UI"/>
              </a:rPr>
              <a:t>• Random reproducible.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compara memoria list vs ndarray para N=1M con tabla; (b) crea las 6 formas y reporta dtype default de cada una; (c) reproduce el bug de overflow int8 con explicación; (d) función info(arr) con diagnóstico completo.</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015 — NumPy: ufuncs y vectorización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015 — NumPy: ufuncs y vectorización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2, § 2.3 Computation on NumPy Arrays: Universal Functions.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abandone los for loops sobre arrays NumPy y use ufuncs (universal functions) para operaciones elementwise — la fuente real del speedup. Ufuncs son C compilado vectorizado; un for Python sobre array es lo peor de ambos mundos.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una ufunc (np.add, np.multiply, np.sin, np.exp, np.log, comparadores).</a:t>
            </a:r>
          </a:p>
          <a:p>
            <a:pPr>
              <a:spcAft>
                <a:spcPts val="800"/>
              </a:spcAft>
              <a:defRPr sz="1400" b="0">
                <a:solidFill>
                  <a:srgbClr val="0F172A"/>
                </a:solidFill>
                <a:latin typeface="Segoe UI"/>
              </a:defRPr>
            </a:pPr>
            <a:r>
              <a:rPr sz="1400" b="0">
                <a:solidFill>
                  <a:srgbClr val="0F172A"/>
                </a:solidFill>
                <a:latin typeface="Segoe UI"/>
              </a:rPr>
              <a:t>• Reemplazar un for+append por una expresión vectorizada y medir el speedup.</a:t>
            </a:r>
          </a:p>
          <a:p>
            <a:pPr>
              <a:spcAft>
                <a:spcPts val="800"/>
              </a:spcAft>
              <a:defRPr sz="1400" b="0">
                <a:solidFill>
                  <a:srgbClr val="0F172A"/>
                </a:solidFill>
                <a:latin typeface="Segoe UI"/>
              </a:defRPr>
            </a:pPr>
            <a:r>
              <a:rPr sz="1400" b="0">
                <a:solidFill>
                  <a:srgbClr val="0F172A"/>
                </a:solidFill>
                <a:latin typeface="Segoe UI"/>
              </a:rPr>
              <a:t>• Usar el parámetro out= para escribir el resultado in-place (evita allocar memoria extra).</a:t>
            </a:r>
          </a:p>
          <a:p>
            <a:pPr>
              <a:spcAft>
                <a:spcPts val="800"/>
              </a:spcAft>
              <a:defRPr sz="1400" b="0">
                <a:solidFill>
                  <a:srgbClr val="0F172A"/>
                </a:solidFill>
                <a:latin typeface="Segoe UI"/>
              </a:defRPr>
            </a:pPr>
            <a:r>
              <a:rPr sz="1400" b="0">
                <a:solidFill>
                  <a:srgbClr val="0F172A"/>
                </a:solidFill>
                <a:latin typeface="Segoe UI"/>
              </a:rPr>
              <a:t>• Combinar ufuncs con operadores aritméticos (+, -, , /, *).</a:t>
            </a:r>
          </a:p>
          <a:p>
            <a:pPr>
              <a:spcAft>
                <a:spcPts val="800"/>
              </a:spcAft>
              <a:defRPr sz="1400" b="0">
                <a:solidFill>
                  <a:srgbClr val="0F172A"/>
                </a:solidFill>
                <a:latin typeface="Segoe UI"/>
              </a:defRPr>
            </a:pPr>
            <a:r>
              <a:rPr sz="1400" b="0">
                <a:solidFill>
                  <a:srgbClr val="0F172A"/>
                </a:solidFill>
                <a:latin typeface="Segoe UI"/>
              </a:rPr>
              <a:t>• Reconocer las trampas de la vectorización (overflow, NaN propagación, división por cero).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015 — NumPy: ufuncs y vectorización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¿Qué es una ufunc?</a:t>
            </a:r>
          </a:p>
          <a:p>
            <a:pPr>
              <a:spcAft>
                <a:spcPts val="1000"/>
              </a:spcAft>
              <a:defRPr sz="1600" b="0">
                <a:solidFill>
                  <a:srgbClr val="0F172A"/>
                </a:solidFill>
                <a:latin typeface="Segoe UI"/>
              </a:defRPr>
            </a:pPr>
            <a:r>
              <a:rPr sz="1600" b="0">
                <a:solidFill>
                  <a:srgbClr val="0F172A"/>
                </a:solidFill>
                <a:latin typeface="Segoe UI"/>
              </a:rPr>
              <a:t>• Ufuncs unarias y binarias</a:t>
            </a:r>
          </a:p>
          <a:p>
            <a:pPr>
              <a:spcAft>
                <a:spcPts val="1000"/>
              </a:spcAft>
              <a:defRPr sz="1600" b="0">
                <a:solidFill>
                  <a:srgbClr val="0F172A"/>
                </a:solidFill>
                <a:latin typeface="Segoe UI"/>
              </a:defRPr>
            </a:pPr>
            <a:r>
              <a:rPr sz="1600" b="0">
                <a:solidFill>
                  <a:srgbClr val="0F172A"/>
                </a:solidFill>
                <a:latin typeface="Segoe UI"/>
              </a:rPr>
              <a:t>• Operadores → ufuncs</a:t>
            </a:r>
          </a:p>
          <a:p>
            <a:pPr>
              <a:spcAft>
                <a:spcPts val="1000"/>
              </a:spcAft>
              <a:defRPr sz="1600" b="0">
                <a:solidFill>
                  <a:srgbClr val="0F172A"/>
                </a:solidFill>
                <a:latin typeface="Segoe UI"/>
              </a:defRPr>
            </a:pPr>
            <a:r>
              <a:rPr sz="1600" b="0">
                <a:solidFill>
                  <a:srgbClr val="0F172A"/>
                </a:solidFill>
                <a:latin typeface="Segoe UI"/>
              </a:rPr>
              <a:t>• out= para in-place</a:t>
            </a:r>
          </a:p>
          <a:p>
            <a:pPr>
              <a:spcAft>
                <a:spcPts val="1000"/>
              </a:spcAft>
              <a:defRPr sz="1600" b="0">
                <a:solidFill>
                  <a:srgbClr val="0F172A"/>
                </a:solidFill>
                <a:latin typeface="Segoe UI"/>
              </a:defRPr>
            </a:pPr>
            <a:r>
              <a:rPr sz="1600" b="0">
                <a:solidFill>
                  <a:srgbClr val="0F172A"/>
                </a:solidFill>
                <a:latin typeface="Segoe UI"/>
              </a:rPr>
              <a:t>• Trampas: overflow, NaN, inf, división por cero</a:t>
            </a:r>
          </a:p>
          <a:p>
            <a:pPr>
              <a:spcAft>
                <a:spcPts val="1000"/>
              </a:spcAft>
              <a:defRPr sz="1600" b="0">
                <a:solidFill>
                  <a:srgbClr val="0F172A"/>
                </a:solidFill>
                <a:latin typeface="Segoe UI"/>
              </a:defRPr>
            </a:pPr>
            <a:r>
              <a:rPr sz="1600" b="0">
                <a:solidFill>
                  <a:srgbClr val="0F172A"/>
                </a:solidFill>
                <a:latin typeface="Segoe UI"/>
              </a:rPr>
              <a:t>• np.where(cond, a, b)</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015 — NumPy: ufuncs y vectorización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time, tracemalloc</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015 — NumPy: ufuncs y vectorización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Benchmark.</a:t>
            </a:r>
          </a:p>
          <a:p>
            <a:pPr>
              <a:spcAft>
                <a:spcPts val="800"/>
              </a:spcAft>
              <a:defRPr sz="1400" b="0">
                <a:solidFill>
                  <a:srgbClr val="0F172A"/>
                </a:solidFill>
                <a:latin typeface="Segoe UI"/>
              </a:defRPr>
            </a:pPr>
            <a:r>
              <a:rPr sz="1400" b="0">
                <a:solidFill>
                  <a:srgbClr val="0F172A"/>
                </a:solidFill>
                <a:latin typeface="Segoe UI"/>
              </a:rPr>
              <a:t>• Logaritmo y exponencial.</a:t>
            </a:r>
          </a:p>
          <a:p>
            <a:pPr>
              <a:spcAft>
                <a:spcPts val="800"/>
              </a:spcAft>
              <a:defRPr sz="1400" b="0">
                <a:solidFill>
                  <a:srgbClr val="0F172A"/>
                </a:solidFill>
                <a:latin typeface="Segoe UI"/>
              </a:defRPr>
            </a:pPr>
            <a:r>
              <a:rPr sz="1400" b="0">
                <a:solidFill>
                  <a:srgbClr val="0F172A"/>
                </a:solidFill>
                <a:latin typeface="Segoe UI"/>
              </a:rPr>
              <a:t>• In-place vs alloc.</a:t>
            </a:r>
          </a:p>
          <a:p>
            <a:pPr>
              <a:spcAft>
                <a:spcPts val="800"/>
              </a:spcAft>
              <a:defRPr sz="1400" b="0">
                <a:solidFill>
                  <a:srgbClr val="0F172A"/>
                </a:solidFill>
                <a:latin typeface="Segoe UI"/>
              </a:defRPr>
            </a:pPr>
            <a:r>
              <a:rPr sz="1400" b="0">
                <a:solidFill>
                  <a:srgbClr val="0F172A"/>
                </a:solidFill>
                <a:latin typeface="Segoe UI"/>
              </a:rPr>
              <a:t>• np.where ternario.</a:t>
            </a:r>
          </a:p>
          <a:p>
            <a:pPr>
              <a:spcAft>
                <a:spcPts val="800"/>
              </a:spcAft>
              <a:defRPr sz="1400" b="0">
                <a:solidFill>
                  <a:srgbClr val="0F172A"/>
                </a:solidFill>
                <a:latin typeface="Segoe UI"/>
              </a:defRPr>
            </a:pPr>
            <a:r>
              <a:rPr sz="1400" b="0">
                <a:solidFill>
                  <a:srgbClr val="0F172A"/>
                </a:solidFill>
                <a:latin typeface="Segoe UI"/>
              </a:rPr>
              <a:t>• Trampa NaN.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(a) reescribe 3 loops como expresiones vectorizadas + tabla con %timeit (3 N distintos); (b) demuestra out= con tracemalloc; (c) usa np.where para clasificar datos; (d) maneja NaN con nansum/nanmean y compara con propagación.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016 — NumPy: agregaciones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016 — NumPy: agregaciones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2 § 2.4 Aggregations: Min, Max, and Everything in Between.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reduzca arrays a estadísticos (sum, mean, std, percentile, min, max) controlando el axis correcto — la fuente del 50% de los bugs de pandas/sklearn cuando alguien se confunde de eje. También: variantes nan* y reducciones acumulativas.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Calcular sum, mean, std, var, median, percentile sobre arrays.</a:t>
            </a:r>
          </a:p>
          <a:p>
            <a:pPr>
              <a:spcAft>
                <a:spcPts val="800"/>
              </a:spcAft>
              <a:defRPr sz="1400" b="0">
                <a:solidFill>
                  <a:srgbClr val="0F172A"/>
                </a:solidFill>
                <a:latin typeface="Segoe UI"/>
              </a:defRPr>
            </a:pPr>
            <a:r>
              <a:rPr sz="1400" b="0">
                <a:solidFill>
                  <a:srgbClr val="0F172A"/>
                </a:solidFill>
                <a:latin typeface="Segoe UI"/>
              </a:rPr>
              <a:t>• Controlar el eje con axis=0 (a lo largo de filas, da resultado por columna) y axis=1 (a lo largo de columnas, da por fila).</a:t>
            </a:r>
          </a:p>
          <a:p>
            <a:pPr>
              <a:spcAft>
                <a:spcPts val="800"/>
              </a:spcAft>
              <a:defRPr sz="1400" b="0">
                <a:solidFill>
                  <a:srgbClr val="0F172A"/>
                </a:solidFill>
                <a:latin typeface="Segoe UI"/>
              </a:defRPr>
            </a:pPr>
            <a:r>
              <a:rPr sz="1400" b="0">
                <a:solidFill>
                  <a:srgbClr val="0F172A"/>
                </a:solidFill>
                <a:latin typeface="Segoe UI"/>
              </a:rPr>
              <a:t>• Usar variantes nan* (nansum, nanmean, etc.) cuando hay datos faltantes.</a:t>
            </a:r>
          </a:p>
          <a:p>
            <a:pPr>
              <a:spcAft>
                <a:spcPts val="800"/>
              </a:spcAft>
              <a:defRPr sz="1400" b="0">
                <a:solidFill>
                  <a:srgbClr val="0F172A"/>
                </a:solidFill>
                <a:latin typeface="Segoe UI"/>
              </a:defRPr>
            </a:pPr>
            <a:r>
              <a:rPr sz="1400" b="0">
                <a:solidFill>
                  <a:srgbClr val="0F172A"/>
                </a:solidFill>
                <a:latin typeface="Segoe UI"/>
              </a:rPr>
              <a:t>• Reducciones acumulativas con cumsum y cumprod.</a:t>
            </a:r>
          </a:p>
          <a:p>
            <a:pPr>
              <a:spcAft>
                <a:spcPts val="800"/>
              </a:spcAft>
              <a:defRPr sz="1400" b="0">
                <a:solidFill>
                  <a:srgbClr val="0F172A"/>
                </a:solidFill>
                <a:latin typeface="Segoe UI"/>
              </a:defRPr>
            </a:pPr>
            <a:r>
              <a:rPr sz="1400" b="0">
                <a:solidFill>
                  <a:srgbClr val="0F172A"/>
                </a:solidFill>
                <a:latin typeface="Segoe UI"/>
              </a:rPr>
              <a:t>• Encontrar índice del min/max con argmin/argmax.</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016 — NumPy: agregaciones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Reducciones básicas</a:t>
            </a:r>
          </a:p>
          <a:p>
            <a:pPr>
              <a:spcAft>
                <a:spcPts val="1000"/>
              </a:spcAft>
              <a:defRPr sz="1600" b="0">
                <a:solidFill>
                  <a:srgbClr val="0F172A"/>
                </a:solidFill>
                <a:latin typeface="Segoe UI"/>
              </a:defRPr>
            </a:pPr>
            <a:r>
              <a:rPr sz="1600" b="0">
                <a:solidFill>
                  <a:srgbClr val="0F172A"/>
                </a:solidFill>
                <a:latin typeface="Segoe UI"/>
              </a:rPr>
              <a:t>• Eje: el bug más común</a:t>
            </a:r>
          </a:p>
          <a:p>
            <a:pPr>
              <a:spcAft>
                <a:spcPts val="1000"/>
              </a:spcAft>
              <a:defRPr sz="1600" b="0">
                <a:solidFill>
                  <a:srgbClr val="0F172A"/>
                </a:solidFill>
                <a:latin typeface="Segoe UI"/>
              </a:defRPr>
            </a:pPr>
            <a:r>
              <a:rPr sz="1600" b="0">
                <a:solidFill>
                  <a:srgbClr val="0F172A"/>
                </a:solidFill>
                <a:latin typeface="Segoe UI"/>
              </a:rPr>
              <a:t>• Variantes NaN-aware</a:t>
            </a:r>
          </a:p>
          <a:p>
            <a:pPr>
              <a:spcAft>
                <a:spcPts val="1000"/>
              </a:spcAft>
              <a:defRPr sz="1600" b="0">
                <a:solidFill>
                  <a:srgbClr val="0F172A"/>
                </a:solidFill>
                <a:latin typeface="Segoe UI"/>
              </a:defRPr>
            </a:pPr>
            <a:r>
              <a:rPr sz="1600" b="0">
                <a:solidFill>
                  <a:srgbClr val="0F172A"/>
                </a:solidFill>
                <a:latin typeface="Segoe UI"/>
              </a:rPr>
              <a:t>• Acumulativas</a:t>
            </a:r>
          </a:p>
          <a:p>
            <a:pPr>
              <a:spcAft>
                <a:spcPts val="1000"/>
              </a:spcAft>
              <a:defRPr sz="1600" b="0">
                <a:solidFill>
                  <a:srgbClr val="0F172A"/>
                </a:solidFill>
                <a:latin typeface="Segoe UI"/>
              </a:defRPr>
            </a:pPr>
            <a:r>
              <a:rPr sz="1600" b="0">
                <a:solidFill>
                  <a:srgbClr val="0F172A"/>
                </a:solidFill>
                <a:latin typeface="Segoe UI"/>
              </a:rPr>
              <a:t>• argmin/argmax</a:t>
            </a:r>
          </a:p>
          <a:p>
            <a:pPr>
              <a:spcAft>
                <a:spcPts val="1000"/>
              </a:spcAft>
              <a:defRPr sz="1600" b="0">
                <a:solidFill>
                  <a:srgbClr val="0F172A"/>
                </a:solidFill>
                <a:latin typeface="Segoe UI"/>
              </a:defRPr>
            </a:pPr>
            <a:r>
              <a:rPr sz="1600" b="0">
                <a:solidFill>
                  <a:srgbClr val="0F172A"/>
                </a:solidFill>
                <a:latin typeface="Segoe UI"/>
              </a:rPr>
              <a:t>• all y any</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016 — NumPy: agregaciones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016 — NumPy: agregaciones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Promedio por columna.</a:t>
            </a:r>
          </a:p>
          <a:p>
            <a:pPr>
              <a:spcAft>
                <a:spcPts val="800"/>
              </a:spcAft>
              <a:defRPr sz="1400" b="0">
                <a:solidFill>
                  <a:srgbClr val="0F172A"/>
                </a:solidFill>
                <a:latin typeface="Segoe UI"/>
              </a:defRPr>
            </a:pPr>
            <a:r>
              <a:rPr sz="1400" b="0">
                <a:solidFill>
                  <a:srgbClr val="0F172A"/>
                </a:solidFill>
                <a:latin typeface="Segoe UI"/>
              </a:rPr>
              <a:t>• Estadísticos completos.</a:t>
            </a:r>
          </a:p>
          <a:p>
            <a:pPr>
              <a:spcAft>
                <a:spcPts val="800"/>
              </a:spcAft>
              <a:defRPr sz="1400" b="0">
                <a:solidFill>
                  <a:srgbClr val="0F172A"/>
                </a:solidFill>
                <a:latin typeface="Segoe UI"/>
              </a:defRPr>
            </a:pPr>
            <a:r>
              <a:rPr sz="1400" b="0">
                <a:solidFill>
                  <a:srgbClr val="0F172A"/>
                </a:solidFill>
                <a:latin typeface="Segoe UI"/>
              </a:rPr>
              <a:t>• Con NaN.</a:t>
            </a:r>
          </a:p>
          <a:p>
            <a:pPr>
              <a:spcAft>
                <a:spcPts val="800"/>
              </a:spcAft>
              <a:defRPr sz="1400" b="0">
                <a:solidFill>
                  <a:srgbClr val="0F172A"/>
                </a:solidFill>
                <a:latin typeface="Segoe UI"/>
              </a:defRPr>
            </a:pPr>
            <a:r>
              <a:rPr sz="1400" b="0">
                <a:solidFill>
                  <a:srgbClr val="0F172A"/>
                </a:solidFill>
                <a:latin typeface="Segoe UI"/>
              </a:rPr>
              <a:t>• Cumsum.</a:t>
            </a:r>
          </a:p>
          <a:p>
            <a:pPr>
              <a:spcAft>
                <a:spcPts val="800"/>
              </a:spcAft>
              <a:defRPr sz="1400" b="0">
                <a:solidFill>
                  <a:srgbClr val="0F172A"/>
                </a:solidFill>
                <a:latin typeface="Segoe UI"/>
              </a:defRPr>
            </a:pPr>
            <a:r>
              <a:rPr sz="1400" b="0">
                <a:solidFill>
                  <a:srgbClr val="0F172A"/>
                </a:solidFill>
                <a:latin typeface="Segoe UI"/>
              </a:rPr>
              <a:t>• Mejor tienda.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matriz simulada 365 días × 5 tiendas de ventas, reportando: media/std por tienda, mejor y peor día de cada tienda, cumsum total anual, % de días con NaN simulados (20 aleatorios) usando variantes nan*.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017 — NumPy: broadcasting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017 — NumPy: broadcasting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2 § 2.5 Computation on Arrays: Broadcasting.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internalice las reglas de broadcasting — el mecanismo por el que NumPy operó arrays de shapes distintos sin copiar datos. Es lo que hace que M - M.mean(axis=0) centrado por columna sea una línea, no un bucle anidado.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Recitar las 3 reglas de broadcasting (alinea por la derecha, dim 1 estira, falla si no es 1 ni igual).</a:t>
            </a:r>
          </a:p>
          <a:p>
            <a:pPr>
              <a:spcAft>
                <a:spcPts val="800"/>
              </a:spcAft>
              <a:defRPr sz="1400" b="0">
                <a:solidFill>
                  <a:srgbClr val="0F172A"/>
                </a:solidFill>
                <a:latin typeface="Segoe UI"/>
              </a:defRPr>
            </a:pPr>
            <a:r>
              <a:rPr sz="1400" b="0">
                <a:solidFill>
                  <a:srgbClr val="0F172A"/>
                </a:solidFill>
                <a:latin typeface="Segoe UI"/>
              </a:rPr>
              <a:t>• Predecir la shape del resultado de una operación entre arrays de shapes distintos.</a:t>
            </a:r>
          </a:p>
          <a:p>
            <a:pPr>
              <a:spcAft>
                <a:spcPts val="800"/>
              </a:spcAft>
              <a:defRPr sz="1400" b="0">
                <a:solidFill>
                  <a:srgbClr val="0F172A"/>
                </a:solidFill>
                <a:latin typeface="Segoe UI"/>
              </a:defRPr>
            </a:pPr>
            <a:r>
              <a:rPr sz="1400" b="0">
                <a:solidFill>
                  <a:srgbClr val="0F172A"/>
                </a:solidFill>
                <a:latin typeface="Segoe UI"/>
              </a:rPr>
              <a:t>• Centrar y escalar matrices por fila/columna sin loops.</a:t>
            </a:r>
          </a:p>
          <a:p>
            <a:pPr>
              <a:spcAft>
                <a:spcPts val="800"/>
              </a:spcAft>
              <a:defRPr sz="1400" b="0">
                <a:solidFill>
                  <a:srgbClr val="0F172A"/>
                </a:solidFill>
                <a:latin typeface="Segoe UI"/>
              </a:defRPr>
            </a:pPr>
            <a:r>
              <a:rPr sz="1400" b="0">
                <a:solidFill>
                  <a:srgbClr val="0F172A"/>
                </a:solidFill>
                <a:latin typeface="Segoe UI"/>
              </a:rPr>
              <a:t>• Usar np.newaxis (o None) para promover un vector a matriz fila/columna.</a:t>
            </a:r>
          </a:p>
          <a:p>
            <a:pPr>
              <a:spcAft>
                <a:spcPts val="800"/>
              </a:spcAft>
              <a:defRPr sz="1400" b="0">
                <a:solidFill>
                  <a:srgbClr val="0F172A"/>
                </a:solidFill>
                <a:latin typeface="Segoe UI"/>
              </a:defRPr>
            </a:pPr>
            <a:r>
              <a:rPr sz="1400" b="0">
                <a:solidFill>
                  <a:srgbClr val="0F172A"/>
                </a:solidFill>
                <a:latin typeface="Segoe UI"/>
              </a:rPr>
              <a:t>• Diagnosticar un ValueError: operands could not be broadcast together leyendo las shapes.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017 — NumPy: broadcasting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Las 3 reglas</a:t>
            </a:r>
          </a:p>
          <a:p>
            <a:pPr>
              <a:spcAft>
                <a:spcPts val="1000"/>
              </a:spcAft>
              <a:defRPr sz="1600" b="0">
                <a:solidFill>
                  <a:srgbClr val="0F172A"/>
                </a:solidFill>
                <a:latin typeface="Segoe UI"/>
              </a:defRPr>
            </a:pPr>
            <a:r>
              <a:rPr sz="1600" b="0">
                <a:solidFill>
                  <a:srgbClr val="0F172A"/>
                </a:solidFill>
                <a:latin typeface="Segoe UI"/>
              </a:rPr>
              <a:t>• Vector + matriz</a:t>
            </a:r>
          </a:p>
          <a:p>
            <a:pPr>
              <a:spcAft>
                <a:spcPts val="1000"/>
              </a:spcAft>
              <a:defRPr sz="1600" b="0">
                <a:solidFill>
                  <a:srgbClr val="0F172A"/>
                </a:solidFill>
                <a:latin typeface="Segoe UI"/>
              </a:defRPr>
            </a:pPr>
            <a:r>
              <a:rPr sz="1600" b="0">
                <a:solidFill>
                  <a:srgbClr val="0F172A"/>
                </a:solidFill>
                <a:latin typeface="Segoe UI"/>
              </a:rPr>
              <a:t>• np.newaxis / None</a:t>
            </a:r>
          </a:p>
          <a:p>
            <a:pPr>
              <a:spcAft>
                <a:spcPts val="1000"/>
              </a:spcAft>
              <a:defRPr sz="1600" b="0">
                <a:solidFill>
                  <a:srgbClr val="0F172A"/>
                </a:solidFill>
                <a:latin typeface="Segoe UI"/>
              </a:defRPr>
            </a:pPr>
            <a:r>
              <a:rPr sz="1600" b="0">
                <a:solidFill>
                  <a:srgbClr val="0F172A"/>
                </a:solidFill>
                <a:latin typeface="Segoe UI"/>
              </a:rPr>
              <a:t>• Caso canónico: centrar/escalar</a:t>
            </a:r>
          </a:p>
          <a:p>
            <a:pPr>
              <a:spcAft>
                <a:spcPts val="1000"/>
              </a:spcAft>
              <a:defRPr sz="1600" b="0">
                <a:solidFill>
                  <a:srgbClr val="0F172A"/>
                </a:solidFill>
                <a:latin typeface="Segoe UI"/>
              </a:defRPr>
            </a:pPr>
            <a:r>
              <a:rPr sz="1600" b="0">
                <a:solidFill>
                  <a:srgbClr val="0F172A"/>
                </a:solidFill>
                <a:latin typeface="Segoe UI"/>
              </a:rPr>
              <a:t>• Outer product sin loop</a:t>
            </a:r>
          </a:p>
          <a:p>
            <a:pPr>
              <a:spcAft>
                <a:spcPts val="1000"/>
              </a:spcAft>
              <a:defRPr sz="1600" b="0">
                <a:solidFill>
                  <a:srgbClr val="0F172A"/>
                </a:solidFill>
                <a:latin typeface="Segoe UI"/>
              </a:defRPr>
            </a:pPr>
            <a:r>
              <a:rPr sz="1600" b="0">
                <a:solidFill>
                  <a:srgbClr val="0F172A"/>
                </a:solidFill>
                <a:latin typeface="Segoe UI"/>
              </a:rPr>
              <a:t>• ValueError común: "operands could not be broadcast together"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017 — NumPy: broadcasting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017 — NumPy: broadcasting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Predice antes de ejecutar.</a:t>
            </a:r>
          </a:p>
          <a:p>
            <a:pPr>
              <a:spcAft>
                <a:spcPts val="800"/>
              </a:spcAft>
              <a:defRPr sz="1400" b="0">
                <a:solidFill>
                  <a:srgbClr val="0F172A"/>
                </a:solidFill>
                <a:latin typeface="Segoe UI"/>
              </a:defRPr>
            </a:pPr>
            <a:r>
              <a:rPr sz="1400" b="0">
                <a:solidFill>
                  <a:srgbClr val="0F172A"/>
                </a:solidFill>
                <a:latin typeface="Segoe UI"/>
              </a:rPr>
              <a:t>• Estandariza features.</a:t>
            </a:r>
          </a:p>
          <a:p>
            <a:pPr>
              <a:spcAft>
                <a:spcPts val="800"/>
              </a:spcAft>
              <a:defRPr sz="1400" b="0">
                <a:solidFill>
                  <a:srgbClr val="0F172A"/>
                </a:solidFill>
                <a:latin typeface="Segoe UI"/>
              </a:defRPr>
            </a:pPr>
            <a:r>
              <a:rPr sz="1400" b="0">
                <a:solidFill>
                  <a:srgbClr val="0F172A"/>
                </a:solidFill>
                <a:latin typeface="Segoe UI"/>
              </a:rPr>
              <a:t>• Outer product.</a:t>
            </a:r>
          </a:p>
          <a:p>
            <a:pPr>
              <a:spcAft>
                <a:spcPts val="800"/>
              </a:spcAft>
              <a:defRPr sz="1400" b="0">
                <a:solidFill>
                  <a:srgbClr val="0F172A"/>
                </a:solidFill>
                <a:latin typeface="Segoe UI"/>
              </a:defRPr>
            </a:pPr>
            <a:r>
              <a:rPr sz="1400" b="0">
                <a:solidFill>
                  <a:srgbClr val="0F172A"/>
                </a:solidFill>
                <a:latin typeface="Segoe UI"/>
              </a:rPr>
              <a:t>• Distance matrix.</a:t>
            </a:r>
          </a:p>
          <a:p>
            <a:pPr>
              <a:spcAft>
                <a:spcPts val="800"/>
              </a:spcAft>
              <a:defRPr sz="1400" b="0">
                <a:solidFill>
                  <a:srgbClr val="0F172A"/>
                </a:solidFill>
                <a:latin typeface="Segoe UI"/>
              </a:defRPr>
            </a:pPr>
            <a:r>
              <a:rPr sz="1400" b="0">
                <a:solidFill>
                  <a:srgbClr val="0F172A"/>
                </a:solidFill>
                <a:latin typeface="Segoe UI"/>
              </a:rPr>
              <a:t>• Diagnostica error.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predice shapes de 4 operaciones broadcasting y verifica; (b) estandariza una matriz feature por columna en una línea; (c) construye distance matrix de 100 puntos sin loop; (d) provoca y explica un error de broadcasting.</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018 — NumPy: boolean masks y fancy indexing</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018 — NumPy: boolean masks y fancy indexing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2, §§ 2.6–2.7 Comparisons, Masks, and Boolean Logic + Fancy Indexing.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seleccione, filtre y modifique sub-arrays de tres formas: slicing (visto), máscaras booleanas (arr[arr &gt; 0]) y fancy indexing (arr[[0, 3, 5]]). Saber cuál devuelve vista vs copia y cuándo cada uno es la herramienta correcta.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Filtrar elementos con máscaras booleanas: arr[arr &gt; 0], arr[(a &gt; 0) &amp; (a &lt; 10)].</a:t>
            </a:r>
          </a:p>
          <a:p>
            <a:pPr>
              <a:spcAft>
                <a:spcPts val="800"/>
              </a:spcAft>
              <a:defRPr sz="1400" b="0">
                <a:solidFill>
                  <a:srgbClr val="0F172A"/>
                </a:solidFill>
                <a:latin typeface="Segoe UI"/>
              </a:defRPr>
            </a:pPr>
            <a:r>
              <a:rPr sz="1400" b="0">
                <a:solidFill>
                  <a:srgbClr val="0F172A"/>
                </a:solidFill>
                <a:latin typeface="Segoe UI"/>
              </a:rPr>
              <a:t>• Combinar máscaras con &amp;, |, ~ — NO con and/or (no vectorizan).</a:t>
            </a:r>
          </a:p>
          <a:p>
            <a:pPr>
              <a:spcAft>
                <a:spcPts val="800"/>
              </a:spcAft>
              <a:defRPr sz="1400" b="0">
                <a:solidFill>
                  <a:srgbClr val="0F172A"/>
                </a:solidFill>
                <a:latin typeface="Segoe UI"/>
              </a:defRPr>
            </a:pPr>
            <a:r>
              <a:rPr sz="1400" b="0">
                <a:solidFill>
                  <a:srgbClr val="0F172A"/>
                </a:solidFill>
                <a:latin typeface="Segoe UI"/>
              </a:rPr>
              <a:t>• Seleccionar por índices con fancy indexing: arr[[0, 3, 5]] o arr[idx_array].</a:t>
            </a:r>
          </a:p>
          <a:p>
            <a:pPr>
              <a:spcAft>
                <a:spcPts val="800"/>
              </a:spcAft>
              <a:defRPr sz="1400" b="0">
                <a:solidFill>
                  <a:srgbClr val="0F172A"/>
                </a:solidFill>
                <a:latin typeface="Segoe UI"/>
              </a:defRPr>
            </a:pPr>
            <a:r>
              <a:rPr sz="1400" b="0">
                <a:solidFill>
                  <a:srgbClr val="0F172A"/>
                </a:solidFill>
                <a:latin typeface="Segoe UI"/>
              </a:rPr>
              <a:t>• Modificar in-place con máscara: arr[arr &lt; 0] = 0 (clipping).</a:t>
            </a:r>
          </a:p>
          <a:p>
            <a:pPr>
              <a:spcAft>
                <a:spcPts val="800"/>
              </a:spcAft>
              <a:defRPr sz="1400" b="0">
                <a:solidFill>
                  <a:srgbClr val="0F172A"/>
                </a:solidFill>
                <a:latin typeface="Segoe UI"/>
              </a:defRPr>
            </a:pPr>
            <a:r>
              <a:rPr sz="1400" b="0">
                <a:solidFill>
                  <a:srgbClr val="0F172A"/>
                </a:solidFill>
                <a:latin typeface="Segoe UI"/>
              </a:rPr>
              <a:t>• Diferenciar vista vs copia: slicing es vista; fancy indexing y máscara son copia.</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018 — NumPy: boolean masks y fancy indexing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Comparaciones elementwise → arrays bool</a:t>
            </a:r>
          </a:p>
          <a:p>
            <a:pPr>
              <a:spcAft>
                <a:spcPts val="1000"/>
              </a:spcAft>
              <a:defRPr sz="1600" b="0">
                <a:solidFill>
                  <a:srgbClr val="0F172A"/>
                </a:solidFill>
                <a:latin typeface="Segoe UI"/>
              </a:defRPr>
            </a:pPr>
            <a:r>
              <a:rPr sz="1600" b="0">
                <a:solidFill>
                  <a:srgbClr val="0F172A"/>
                </a:solidFill>
                <a:latin typeface="Segoe UI"/>
              </a:rPr>
              <a:t>• np.count_nonzero, np.sum sobre bool</a:t>
            </a:r>
          </a:p>
          <a:p>
            <a:pPr>
              <a:spcAft>
                <a:spcPts val="1000"/>
              </a:spcAft>
              <a:defRPr sz="1600" b="0">
                <a:solidFill>
                  <a:srgbClr val="0F172A"/>
                </a:solidFill>
                <a:latin typeface="Segoe UI"/>
              </a:defRPr>
            </a:pPr>
            <a:r>
              <a:rPr sz="1600" b="0">
                <a:solidFill>
                  <a:srgbClr val="0F172A"/>
                </a:solidFill>
                <a:latin typeface="Segoe UI"/>
              </a:rPr>
              <a:t>• Combinar máscaras con &amp;, `</a:t>
            </a:r>
          </a:p>
          <a:p>
            <a:pPr>
              <a:spcAft>
                <a:spcPts val="1000"/>
              </a:spcAft>
              <a:defRPr sz="1600" b="0">
                <a:solidFill>
                  <a:srgbClr val="0F172A"/>
                </a:solidFill>
                <a:latin typeface="Segoe UI"/>
              </a:defRPr>
            </a:pPr>
            <a:r>
              <a:rPr sz="1600" b="0">
                <a:solidFill>
                  <a:srgbClr val="0F172A"/>
                </a:solidFill>
                <a:latin typeface="Segoe UI"/>
              </a:rPr>
              <a:t>• Fancy indexing con array de índices</a:t>
            </a:r>
          </a:p>
          <a:p>
            <a:pPr>
              <a:spcAft>
                <a:spcPts val="1000"/>
              </a:spcAft>
              <a:defRPr sz="1600" b="0">
                <a:solidFill>
                  <a:srgbClr val="0F172A"/>
                </a:solidFill>
                <a:latin typeface="Segoe UI"/>
              </a:defRPr>
            </a:pPr>
            <a:r>
              <a:rPr sz="1600" b="0">
                <a:solidFill>
                  <a:srgbClr val="0F172A"/>
                </a:solidFill>
                <a:latin typeface="Segoe UI"/>
              </a:rPr>
              <a:t>• Vista vs copia</a:t>
            </a:r>
          </a:p>
          <a:p>
            <a:pPr>
              <a:spcAft>
                <a:spcPts val="1000"/>
              </a:spcAft>
              <a:defRPr sz="1600" b="0">
                <a:solidFill>
                  <a:srgbClr val="0F172A"/>
                </a:solidFill>
                <a:latin typeface="Segoe UI"/>
              </a:defRPr>
            </a:pPr>
            <a:r>
              <a:rPr sz="1600" b="0">
                <a:solidFill>
                  <a:srgbClr val="0F172A"/>
                </a:solidFill>
                <a:latin typeface="Segoe UI"/>
              </a:rPr>
              <a:t>• np.where(cond) (sin alternativas)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018 — NumPy: boolean masks y fancy indexing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018 — NumPy: boolean masks y fancy indexing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Cuenta días lluviosos.</a:t>
            </a:r>
          </a:p>
          <a:p>
            <a:pPr>
              <a:spcAft>
                <a:spcPts val="800"/>
              </a:spcAft>
              <a:defRPr sz="1400" b="0">
                <a:solidFill>
                  <a:srgbClr val="0F172A"/>
                </a:solidFill>
                <a:latin typeface="Segoe UI"/>
              </a:defRPr>
            </a:pPr>
            <a:r>
              <a:rPr sz="1400" b="0">
                <a:solidFill>
                  <a:srgbClr val="0F172A"/>
                </a:solidFill>
                <a:latin typeface="Segoe UI"/>
              </a:rPr>
              <a:t>• Estadísticos por máscara.</a:t>
            </a:r>
          </a:p>
          <a:p>
            <a:pPr>
              <a:spcAft>
                <a:spcPts val="800"/>
              </a:spcAft>
              <a:defRPr sz="1400" b="0">
                <a:solidFill>
                  <a:srgbClr val="0F172A"/>
                </a:solidFill>
                <a:latin typeface="Segoe UI"/>
              </a:defRPr>
            </a:pPr>
            <a:r>
              <a:rPr sz="1400" b="0">
                <a:solidFill>
                  <a:srgbClr val="0F172A"/>
                </a:solidFill>
                <a:latin typeface="Segoe UI"/>
              </a:rPr>
              <a:t>• AND/OR combinados.</a:t>
            </a:r>
          </a:p>
          <a:p>
            <a:pPr>
              <a:spcAft>
                <a:spcPts val="800"/>
              </a:spcAft>
              <a:defRPr sz="1400" b="0">
                <a:solidFill>
                  <a:srgbClr val="0F172A"/>
                </a:solidFill>
                <a:latin typeface="Segoe UI"/>
              </a:defRPr>
            </a:pPr>
            <a:r>
              <a:rPr sz="1400" b="0">
                <a:solidFill>
                  <a:srgbClr val="0F172A"/>
                </a:solidFill>
                <a:latin typeface="Segoe UI"/>
              </a:rPr>
              <a:t>• Clipping.</a:t>
            </a:r>
          </a:p>
          <a:p>
            <a:pPr>
              <a:spcAft>
                <a:spcPts val="800"/>
              </a:spcAft>
              <a:defRPr sz="1400" b="0">
                <a:solidFill>
                  <a:srgbClr val="0F172A"/>
                </a:solidFill>
                <a:latin typeface="Segoe UI"/>
              </a:defRPr>
            </a:pPr>
            <a:r>
              <a:rPr sz="1400" b="0">
                <a:solidFill>
                  <a:srgbClr val="0F172A"/>
                </a:solidFill>
                <a:latin typeface="Segoe UI"/>
              </a:rPr>
              <a:t>• Vista vs copia.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array sintético de 365 días de precipitación generado con seed. Calcula: (a) días lluviosos y su media, (b) días extremos (&gt;50mm), (c) demo de vista vs copia, (d) clipping in-place, (e) índices del top 10 días más lluviosos con argsort.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019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019 — NumPy: ordenamiento y búsqueda</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019 — NumPy: ordenamiento y búsqueda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2 § 2.8 Sorting Arrays · NumPy sorting reference.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ordene arrays con criterio: sort vs argsort, ordenamiento por eje, partial sort con partition, y búsqueda binaria con searchsorted. Útil para top-K, rankings, alineación de series.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Ordenar con np.sort(arr) (devuelve copia) y arr.sort() (in-place).</a:t>
            </a:r>
          </a:p>
          <a:p>
            <a:pPr>
              <a:spcAft>
                <a:spcPts val="800"/>
              </a:spcAft>
              <a:defRPr sz="1400" b="0">
                <a:solidFill>
                  <a:srgbClr val="0F172A"/>
                </a:solidFill>
                <a:latin typeface="Segoe UI"/>
              </a:defRPr>
            </a:pPr>
            <a:r>
              <a:rPr sz="1400" b="0">
                <a:solidFill>
                  <a:srgbClr val="0F172A"/>
                </a:solidFill>
                <a:latin typeface="Segoe UI"/>
              </a:rPr>
              <a:t>• Obtener índices del orden con argsort — base de top-K y rankings.</a:t>
            </a:r>
          </a:p>
          <a:p>
            <a:pPr>
              <a:spcAft>
                <a:spcPts val="800"/>
              </a:spcAft>
              <a:defRPr sz="1400" b="0">
                <a:solidFill>
                  <a:srgbClr val="0F172A"/>
                </a:solidFill>
                <a:latin typeface="Segoe UI"/>
              </a:defRPr>
            </a:pPr>
            <a:r>
              <a:rPr sz="1400" b="0">
                <a:solidFill>
                  <a:srgbClr val="0F172A"/>
                </a:solidFill>
                <a:latin typeface="Segoe UI"/>
              </a:rPr>
              <a:t>• Ordenar por eje en matrices con axis=0 o axis=1.</a:t>
            </a:r>
          </a:p>
          <a:p>
            <a:pPr>
              <a:spcAft>
                <a:spcPts val="800"/>
              </a:spcAft>
              <a:defRPr sz="1400" b="0">
                <a:solidFill>
                  <a:srgbClr val="0F172A"/>
                </a:solidFill>
                <a:latin typeface="Segoe UI"/>
              </a:defRPr>
            </a:pPr>
            <a:r>
              <a:rPr sz="1400" b="0">
                <a:solidFill>
                  <a:srgbClr val="0F172A"/>
                </a:solidFill>
                <a:latin typeface="Segoe UI"/>
              </a:rPr>
              <a:t>• Top-K eficiente con np.partition (no ordena completo, solo separa).</a:t>
            </a:r>
          </a:p>
          <a:p>
            <a:pPr>
              <a:spcAft>
                <a:spcPts val="800"/>
              </a:spcAft>
              <a:defRPr sz="1400" b="0">
                <a:solidFill>
                  <a:srgbClr val="0F172A"/>
                </a:solidFill>
                <a:latin typeface="Segoe UI"/>
              </a:defRPr>
            </a:pPr>
            <a:r>
              <a:rPr sz="1400" b="0">
                <a:solidFill>
                  <a:srgbClr val="0F172A"/>
                </a:solidFill>
                <a:latin typeface="Segoe UI"/>
              </a:rPr>
              <a:t>• Búsqueda binaria con np.searchsorted en arrays ordenados (O(log 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019 — NumPy: ordenamiento y búsqueda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np.sort vs arr.sort()</a:t>
            </a:r>
          </a:p>
          <a:p>
            <a:pPr>
              <a:spcAft>
                <a:spcPts val="1000"/>
              </a:spcAft>
              <a:defRPr sz="1600" b="0">
                <a:solidFill>
                  <a:srgbClr val="0F172A"/>
                </a:solidFill>
                <a:latin typeface="Segoe UI"/>
              </a:defRPr>
            </a:pPr>
            <a:r>
              <a:rPr sz="1600" b="0">
                <a:solidFill>
                  <a:srgbClr val="0F172A"/>
                </a:solidFill>
                <a:latin typeface="Segoe UI"/>
              </a:rPr>
              <a:t>• argsort: el truco del top-K</a:t>
            </a:r>
          </a:p>
          <a:p>
            <a:pPr>
              <a:spcAft>
                <a:spcPts val="1000"/>
              </a:spcAft>
              <a:defRPr sz="1600" b="0">
                <a:solidFill>
                  <a:srgbClr val="0F172A"/>
                </a:solidFill>
                <a:latin typeface="Segoe UI"/>
              </a:defRPr>
            </a:pPr>
            <a:r>
              <a:rPr sz="1600" b="0">
                <a:solidFill>
                  <a:srgbClr val="0F172A"/>
                </a:solidFill>
                <a:latin typeface="Segoe UI"/>
              </a:rPr>
              <a:t>• Ordenamiento por eje</a:t>
            </a:r>
          </a:p>
          <a:p>
            <a:pPr>
              <a:spcAft>
                <a:spcPts val="1000"/>
              </a:spcAft>
              <a:defRPr sz="1600" b="0">
                <a:solidFill>
                  <a:srgbClr val="0F172A"/>
                </a:solidFill>
                <a:latin typeface="Segoe UI"/>
              </a:defRPr>
            </a:pPr>
            <a:r>
              <a:rPr sz="1600" b="0">
                <a:solidFill>
                  <a:srgbClr val="0F172A"/>
                </a:solidFill>
                <a:latin typeface="Segoe UI"/>
              </a:rPr>
              <a:t>• np.partition para top-K</a:t>
            </a:r>
          </a:p>
          <a:p>
            <a:pPr>
              <a:spcAft>
                <a:spcPts val="1000"/>
              </a:spcAft>
              <a:defRPr sz="1600" b="0">
                <a:solidFill>
                  <a:srgbClr val="0F172A"/>
                </a:solidFill>
                <a:latin typeface="Segoe UI"/>
              </a:defRPr>
            </a:pPr>
            <a:r>
              <a:rPr sz="1600" b="0">
                <a:solidFill>
                  <a:srgbClr val="0F172A"/>
                </a:solidFill>
                <a:latin typeface="Segoe UI"/>
              </a:rPr>
              <a:t>• np.searchsorted — binaria O(log n)</a:t>
            </a:r>
          </a:p>
          <a:p>
            <a:pPr>
              <a:spcAft>
                <a:spcPts val="1000"/>
              </a:spcAft>
              <a:defRPr sz="1600" b="0">
                <a:solidFill>
                  <a:srgbClr val="0F172A"/>
                </a:solidFill>
                <a:latin typeface="Segoe UI"/>
              </a:defRPr>
            </a:pPr>
            <a:r>
              <a:rPr sz="1600" b="0">
                <a:solidFill>
                  <a:srgbClr val="0F172A"/>
                </a:solidFill>
                <a:latin typeface="Segoe UI"/>
              </a:rPr>
              <a:t>• np.unique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019 — NumPy: ordenamiento y búsqueda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019 — NumPy: ordenamiento y búsqueda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Top-10.</a:t>
            </a:r>
          </a:p>
          <a:p>
            <a:pPr>
              <a:spcAft>
                <a:spcPts val="800"/>
              </a:spcAft>
              <a:defRPr sz="1400" b="0">
                <a:solidFill>
                  <a:srgbClr val="0F172A"/>
                </a:solidFill>
                <a:latin typeface="Segoe UI"/>
              </a:defRPr>
            </a:pPr>
            <a:r>
              <a:rPr sz="1400" b="0">
                <a:solidFill>
                  <a:srgbClr val="0F172A"/>
                </a:solidFill>
                <a:latin typeface="Segoe UI"/>
              </a:rPr>
              <a:t>• Ranking.</a:t>
            </a:r>
          </a:p>
          <a:p>
            <a:pPr>
              <a:spcAft>
                <a:spcPts val="800"/>
              </a:spcAft>
              <a:defRPr sz="1400" b="0">
                <a:solidFill>
                  <a:srgbClr val="0F172A"/>
                </a:solidFill>
                <a:latin typeface="Segoe UI"/>
              </a:defRPr>
            </a:pPr>
            <a:r>
              <a:rPr sz="1400" b="0">
                <a:solidFill>
                  <a:srgbClr val="0F172A"/>
                </a:solidFill>
                <a:latin typeface="Segoe UI"/>
              </a:rPr>
              <a:t>• Ordena matriz por columna.</a:t>
            </a:r>
          </a:p>
          <a:p>
            <a:pPr>
              <a:spcAft>
                <a:spcPts val="800"/>
              </a:spcAft>
              <a:defRPr sz="1400" b="0">
                <a:solidFill>
                  <a:srgbClr val="0F172A"/>
                </a:solidFill>
                <a:latin typeface="Segoe UI"/>
              </a:defRPr>
            </a:pPr>
            <a:r>
              <a:rPr sz="1400" b="0">
                <a:solidFill>
                  <a:srgbClr val="0F172A"/>
                </a:solidFill>
                <a:latin typeface="Segoe UI"/>
              </a:rPr>
              <a:t>• Mediana por bisect.</a:t>
            </a:r>
          </a:p>
          <a:p>
            <a:pPr>
              <a:spcAft>
                <a:spcPts val="800"/>
              </a:spcAft>
              <a:defRPr sz="1400" b="0">
                <a:solidFill>
                  <a:srgbClr val="0F172A"/>
                </a:solidFill>
                <a:latin typeface="Segoe UI"/>
              </a:defRPr>
            </a:pPr>
            <a:r>
              <a:rPr sz="1400" b="0">
                <a:solidFill>
                  <a:srgbClr val="0F172A"/>
                </a:solidFill>
                <a:latin typeface="Segoe UI"/>
              </a:rPr>
              <a:t>• np.unique con cuentas.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array de 100k puntajes: (a) top-100 con partition y benchmark vs sort completo; (b) ranking con argsort.argsort(); (c) percentil de un valor dado con searchsorted; (d) unique con return_counts y barplot top-10 categorías.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020 — NumPy: álgebra lineal con numpy.linalg</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020 — NumPy: álgebra lineal con numpy.linalg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2 § 2.9 Structured Arrays (referencia) · Numerical Linear Algebra (Trefethen &amp; Bau).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opere con vectores y matrices al nivel necesario para entender ML: producto punto, multiplicación matricial, inversa, sistema de ecuaciones (solve), descomposiciones (SVD, eigen). Saber cuándo no usar la inversa (lentitud + inestabilidad numérica).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Multiplicar vectores y matrices con @ (operador moderno) y np.dot.</a:t>
            </a:r>
          </a:p>
          <a:p>
            <a:pPr>
              <a:spcAft>
                <a:spcPts val="800"/>
              </a:spcAft>
              <a:defRPr sz="1400" b="0">
                <a:solidFill>
                  <a:srgbClr val="0F172A"/>
                </a:solidFill>
                <a:latin typeface="Segoe UI"/>
              </a:defRPr>
            </a:pPr>
            <a:r>
              <a:rPr sz="1400" b="0">
                <a:solidFill>
                  <a:srgbClr val="0F172A"/>
                </a:solidFill>
                <a:latin typeface="Segoe UI"/>
              </a:rPr>
              <a:t>• Resolver sistemas Ax = b con np.linalg.solve (NO con inv(A) @ b).</a:t>
            </a:r>
          </a:p>
          <a:p>
            <a:pPr>
              <a:spcAft>
                <a:spcPts val="800"/>
              </a:spcAft>
              <a:defRPr sz="1400" b="0">
                <a:solidFill>
                  <a:srgbClr val="0F172A"/>
                </a:solidFill>
                <a:latin typeface="Segoe UI"/>
              </a:defRPr>
            </a:pPr>
            <a:r>
              <a:rPr sz="1400" b="0">
                <a:solidFill>
                  <a:srgbClr val="0F172A"/>
                </a:solidFill>
                <a:latin typeface="Segoe UI"/>
              </a:rPr>
              <a:t>• Calcular norma, determinante, rango, traza.</a:t>
            </a:r>
          </a:p>
          <a:p>
            <a:pPr>
              <a:spcAft>
                <a:spcPts val="800"/>
              </a:spcAft>
              <a:defRPr sz="1400" b="0">
                <a:solidFill>
                  <a:srgbClr val="0F172A"/>
                </a:solidFill>
                <a:latin typeface="Segoe UI"/>
              </a:defRPr>
            </a:pPr>
            <a:r>
              <a:rPr sz="1400" b="0">
                <a:solidFill>
                  <a:srgbClr val="0F172A"/>
                </a:solidFill>
                <a:latin typeface="Segoe UI"/>
              </a:rPr>
              <a:t>• Computar SVD con np.linalg.svd y entender qué retorna.</a:t>
            </a:r>
          </a:p>
          <a:p>
            <a:pPr>
              <a:spcAft>
                <a:spcPts val="800"/>
              </a:spcAft>
              <a:defRPr sz="1400" b="0">
                <a:solidFill>
                  <a:srgbClr val="0F172A"/>
                </a:solidFill>
                <a:latin typeface="Segoe UI"/>
              </a:defRPr>
            </a:pPr>
            <a:r>
              <a:rPr sz="1400" b="0">
                <a:solidFill>
                  <a:srgbClr val="0F172A"/>
                </a:solidFill>
                <a:latin typeface="Segoe UI"/>
              </a:rPr>
              <a:t>• Calcular eigenvalores/eigenvectores con np.linalg.eig / eigh (simétrica).</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020 — NumPy: álgebra lineal con numpy.linalg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 operador (PEP 465): multiplicación matricial</a:t>
            </a:r>
          </a:p>
          <a:p>
            <a:pPr>
              <a:spcAft>
                <a:spcPts val="1000"/>
              </a:spcAft>
              <a:defRPr sz="1600" b="0">
                <a:solidFill>
                  <a:srgbClr val="0F172A"/>
                </a:solidFill>
                <a:latin typeface="Segoe UI"/>
              </a:defRPr>
            </a:pPr>
            <a:r>
              <a:rPr sz="1600" b="0">
                <a:solidFill>
                  <a:srgbClr val="0F172A"/>
                </a:solidFill>
                <a:latin typeface="Segoe UI"/>
              </a:rPr>
              <a:t>• Producto punto vs producto matricial</a:t>
            </a:r>
          </a:p>
          <a:p>
            <a:pPr>
              <a:spcAft>
                <a:spcPts val="1000"/>
              </a:spcAft>
              <a:defRPr sz="1600" b="0">
                <a:solidFill>
                  <a:srgbClr val="0F172A"/>
                </a:solidFill>
                <a:latin typeface="Segoe UI"/>
              </a:defRPr>
            </a:pPr>
            <a:r>
              <a:rPr sz="1600" b="0">
                <a:solidFill>
                  <a:srgbClr val="0F172A"/>
                </a:solidFill>
                <a:latin typeface="Segoe UI"/>
              </a:rPr>
              <a:t>• Resolver sistemas: solve vs inv</a:t>
            </a:r>
          </a:p>
          <a:p>
            <a:pPr>
              <a:spcAft>
                <a:spcPts val="1000"/>
              </a:spcAft>
              <a:defRPr sz="1600" b="0">
                <a:solidFill>
                  <a:srgbClr val="0F172A"/>
                </a:solidFill>
                <a:latin typeface="Segoe UI"/>
              </a:defRPr>
            </a:pPr>
            <a:r>
              <a:rPr sz="1600" b="0">
                <a:solidFill>
                  <a:srgbClr val="0F172A"/>
                </a:solidFill>
                <a:latin typeface="Segoe UI"/>
              </a:rPr>
              <a:t>• Norma, det, rank, trace</a:t>
            </a:r>
          </a:p>
          <a:p>
            <a:pPr>
              <a:spcAft>
                <a:spcPts val="1000"/>
              </a:spcAft>
              <a:defRPr sz="1600" b="0">
                <a:solidFill>
                  <a:srgbClr val="0F172A"/>
                </a:solidFill>
                <a:latin typeface="Segoe UI"/>
              </a:defRPr>
            </a:pPr>
            <a:r>
              <a:rPr sz="1600" b="0">
                <a:solidFill>
                  <a:srgbClr val="0F172A"/>
                </a:solidFill>
                <a:latin typeface="Segoe UI"/>
              </a:rPr>
              <a:t>• SVD — la factorización universal</a:t>
            </a:r>
          </a:p>
          <a:p>
            <a:pPr>
              <a:spcAft>
                <a:spcPts val="1000"/>
              </a:spcAft>
              <a:defRPr sz="1600" b="0">
                <a:solidFill>
                  <a:srgbClr val="0F172A"/>
                </a:solidFill>
                <a:latin typeface="Segoe UI"/>
              </a:defRPr>
            </a:pPr>
            <a:r>
              <a:rPr sz="1600" b="0">
                <a:solidFill>
                  <a:srgbClr val="0F172A"/>
                </a:solidFill>
                <a:latin typeface="Segoe UI"/>
              </a:rPr>
              <a:t>• Eigen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020 — NumPy: álgebra lineal con numpy.linalg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020 — NumPy: álgebra lineal con numpy.linalg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Producto punto.</a:t>
            </a:r>
          </a:p>
          <a:p>
            <a:pPr>
              <a:spcAft>
                <a:spcPts val="800"/>
              </a:spcAft>
              <a:defRPr sz="1400" b="0">
                <a:solidFill>
                  <a:srgbClr val="0F172A"/>
                </a:solidFill>
                <a:latin typeface="Segoe UI"/>
              </a:defRPr>
            </a:pPr>
            <a:r>
              <a:rPr sz="1400" b="0">
                <a:solidFill>
                  <a:srgbClr val="0F172A"/>
                </a:solidFill>
                <a:latin typeface="Segoe UI"/>
              </a:rPr>
              <a:t>• Multiplicación matricial.</a:t>
            </a:r>
          </a:p>
          <a:p>
            <a:pPr>
              <a:spcAft>
                <a:spcPts val="800"/>
              </a:spcAft>
              <a:defRPr sz="1400" b="0">
                <a:solidFill>
                  <a:srgbClr val="0F172A"/>
                </a:solidFill>
                <a:latin typeface="Segoe UI"/>
              </a:defRPr>
            </a:pPr>
            <a:r>
              <a:rPr sz="1400" b="0">
                <a:solidFill>
                  <a:srgbClr val="0F172A"/>
                </a:solidFill>
                <a:latin typeface="Segoe UI"/>
              </a:rPr>
              <a:t>• Resuelve sistema.</a:t>
            </a:r>
          </a:p>
          <a:p>
            <a:pPr>
              <a:spcAft>
                <a:spcPts val="800"/>
              </a:spcAft>
              <a:defRPr sz="1400" b="0">
                <a:solidFill>
                  <a:srgbClr val="0F172A"/>
                </a:solidFill>
                <a:latin typeface="Segoe UI"/>
              </a:defRPr>
            </a:pPr>
            <a:r>
              <a:rPr sz="1400" b="0">
                <a:solidFill>
                  <a:srgbClr val="0F172A"/>
                </a:solidFill>
                <a:latin typeface="Segoe UI"/>
              </a:rPr>
              <a:t>• Inv vs solve benchmark.</a:t>
            </a:r>
          </a:p>
          <a:p>
            <a:pPr>
              <a:spcAft>
                <a:spcPts val="800"/>
              </a:spcAft>
              <a:defRPr sz="1400" b="0">
                <a:solidFill>
                  <a:srgbClr val="0F172A"/>
                </a:solidFill>
                <a:latin typeface="Segoe UI"/>
              </a:defRPr>
            </a:pPr>
            <a:r>
              <a:rPr sz="1400" b="0">
                <a:solidFill>
                  <a:srgbClr val="0F172A"/>
                </a:solidFill>
                <a:latin typeface="Segoe UI"/>
              </a:rPr>
              <a:t>• SVD de matriz baja rank.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compara inv(A) @ b vs solve(A, b) en tiempo Y precisión (np.allclose); (b) implementa regresión lineal cerrada β = (XᵀX)⁻¹ Xᵀy y luego con solve; (c) calcula SVD de una matriz y verifica M = U @ diag(s) @ Vt; (d) eigen de matriz de covarianza.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021 — NumPy: aleatoriedad y semillas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021 — NumPy: aleatoriedad y semillas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Numerical Recipes cap. 7 (Random Numbers) · NumPy random.Generator docs.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genere números aleatorios reproduciblemente con el API moderno (np.random.default_rng(seed)), use las distribuciones más comunes (uniforme, normal, Bernoulli, Poisson, exponencial), y entienda por qué la reproducibilidad es no-negociable en ciencia de datos.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un Generator con np.random.default_rng(seed) y usarlo para reproducibilidad.</a:t>
            </a:r>
          </a:p>
          <a:p>
            <a:pPr>
              <a:spcAft>
                <a:spcPts val="800"/>
              </a:spcAft>
              <a:defRPr sz="1400" b="0">
                <a:solidFill>
                  <a:srgbClr val="0F172A"/>
                </a:solidFill>
                <a:latin typeface="Segoe UI"/>
              </a:defRPr>
            </a:pPr>
            <a:r>
              <a:rPr sz="1400" b="0">
                <a:solidFill>
                  <a:srgbClr val="0F172A"/>
                </a:solidFill>
                <a:latin typeface="Segoe UI"/>
              </a:rPr>
              <a:t>• Generar muestras de uniforme, normal, integers, binomial, Poisson, exponencial.</a:t>
            </a:r>
          </a:p>
          <a:p>
            <a:pPr>
              <a:spcAft>
                <a:spcPts val="800"/>
              </a:spcAft>
              <a:defRPr sz="1400" b="0">
                <a:solidFill>
                  <a:srgbClr val="0F172A"/>
                </a:solidFill>
                <a:latin typeface="Segoe UI"/>
              </a:defRPr>
            </a:pPr>
            <a:r>
              <a:rPr sz="1400" b="0">
                <a:solidFill>
                  <a:srgbClr val="0F172A"/>
                </a:solidFill>
                <a:latin typeface="Segoe UI"/>
              </a:rPr>
              <a:t>• Permutar y muestrear sin/con reemplazo con permutation y choice.</a:t>
            </a:r>
          </a:p>
          <a:p>
            <a:pPr>
              <a:spcAft>
                <a:spcPts val="800"/>
              </a:spcAft>
              <a:defRPr sz="1400" b="0">
                <a:solidFill>
                  <a:srgbClr val="0F172A"/>
                </a:solidFill>
                <a:latin typeface="Segoe UI"/>
              </a:defRPr>
            </a:pPr>
            <a:r>
              <a:rPr sz="1400" b="0">
                <a:solidFill>
                  <a:srgbClr val="0F172A"/>
                </a:solidFill>
                <a:latin typeface="Segoe UI"/>
              </a:rPr>
              <a:t>• Reproducir un experimento exactamente con el mismo seed.</a:t>
            </a:r>
          </a:p>
          <a:p>
            <a:pPr>
              <a:spcAft>
                <a:spcPts val="800"/>
              </a:spcAft>
              <a:defRPr sz="1400" b="0">
                <a:solidFill>
                  <a:srgbClr val="0F172A"/>
                </a:solidFill>
                <a:latin typeface="Segoe UI"/>
              </a:defRPr>
            </a:pPr>
            <a:r>
              <a:rPr sz="1400" b="0">
                <a:solidFill>
                  <a:srgbClr val="0F172A"/>
                </a:solidFill>
                <a:latin typeface="Segoe UI"/>
              </a:rPr>
              <a:t>• Saber por qué np.random.seed() (API legacy) es deprecated en favor de Generator.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021 — NumPy: aleatoriedad y semillas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np.random.default_rng(seed)</a:t>
            </a:r>
          </a:p>
          <a:p>
            <a:pPr>
              <a:spcAft>
                <a:spcPts val="1000"/>
              </a:spcAft>
              <a:defRPr sz="1600" b="0">
                <a:solidFill>
                  <a:srgbClr val="0F172A"/>
                </a:solidFill>
                <a:latin typeface="Segoe UI"/>
              </a:defRPr>
            </a:pPr>
            <a:r>
              <a:rPr sz="1600" b="0">
                <a:solidFill>
                  <a:srgbClr val="0F172A"/>
                </a:solidFill>
                <a:latin typeface="Segoe UI"/>
              </a:rPr>
              <a:t>• Distribuciones continuas: uniform, normal, exponential, gamma, beta</a:t>
            </a:r>
          </a:p>
          <a:p>
            <a:pPr>
              <a:spcAft>
                <a:spcPts val="1000"/>
              </a:spcAft>
              <a:defRPr sz="1600" b="0">
                <a:solidFill>
                  <a:srgbClr val="0F172A"/>
                </a:solidFill>
                <a:latin typeface="Segoe UI"/>
              </a:defRPr>
            </a:pPr>
            <a:r>
              <a:rPr sz="1600" b="0">
                <a:solidFill>
                  <a:srgbClr val="0F172A"/>
                </a:solidFill>
                <a:latin typeface="Segoe UI"/>
              </a:rPr>
              <a:t>• Distribuciones discretas: integers, binomial, poisson</a:t>
            </a:r>
          </a:p>
          <a:p>
            <a:pPr>
              <a:spcAft>
                <a:spcPts val="1000"/>
              </a:spcAft>
              <a:defRPr sz="1600" b="0">
                <a:solidFill>
                  <a:srgbClr val="0F172A"/>
                </a:solidFill>
                <a:latin typeface="Segoe UI"/>
              </a:defRPr>
            </a:pPr>
            <a:r>
              <a:rPr sz="1600" b="0">
                <a:solidFill>
                  <a:srgbClr val="0F172A"/>
                </a:solidFill>
                <a:latin typeface="Segoe UI"/>
              </a:rPr>
              <a:t>• permutation y choice</a:t>
            </a:r>
          </a:p>
          <a:p>
            <a:pPr>
              <a:spcAft>
                <a:spcPts val="1000"/>
              </a:spcAft>
              <a:defRPr sz="1600" b="0">
                <a:solidFill>
                  <a:srgbClr val="0F172A"/>
                </a:solidFill>
                <a:latin typeface="Segoe UI"/>
              </a:defRPr>
            </a:pPr>
            <a:r>
              <a:rPr sz="1600" b="0">
                <a:solidFill>
                  <a:srgbClr val="0F172A"/>
                </a:solidFill>
                <a:latin typeface="Segoe UI"/>
              </a:rPr>
              <a:t>• Reproducibilidad: por qué importa</a:t>
            </a:r>
          </a:p>
          <a:p>
            <a:pPr>
              <a:spcAft>
                <a:spcPts val="1000"/>
              </a:spcAft>
              <a:defRPr sz="1600" b="0">
                <a:solidFill>
                  <a:srgbClr val="0F172A"/>
                </a:solidFill>
                <a:latin typeface="Segoe UI"/>
              </a:defRPr>
            </a:pPr>
            <a:r>
              <a:rPr sz="1600" b="0">
                <a:solidFill>
                  <a:srgbClr val="0F172A"/>
                </a:solidFill>
                <a:latin typeface="Segoe UI"/>
              </a:rPr>
              <a:t>• Múltiples generadores independientes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021 — NumPy: aleatoriedad y semillas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math</a:t>
            </a:r>
          </a:p>
          <a:p>
            <a:pPr>
              <a:defRPr sz="1200" b="0">
                <a:solidFill>
                  <a:srgbClr val="F8FAFC"/>
                </a:solidFill>
                <a:latin typeface="Courier New"/>
              </a:defRPr>
            </a:pPr>
            <a:r>
              <a:rPr sz="1200" b="0">
                <a:solidFill>
                  <a:srgbClr val="F8FAFC"/>
                </a:solidFill>
                <a:latin typeface="Courier New"/>
              </a:rPr>
              <a:t>rng = np.random.default_rng(seed=42)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021 — NumPy: aleatoriedad y semillas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Reproducibilidad.</a:t>
            </a:r>
          </a:p>
          <a:p>
            <a:pPr>
              <a:spcAft>
                <a:spcPts val="800"/>
              </a:spcAft>
              <a:defRPr sz="1400" b="0">
                <a:solidFill>
                  <a:srgbClr val="0F172A"/>
                </a:solidFill>
                <a:latin typeface="Segoe UI"/>
              </a:defRPr>
            </a:pPr>
            <a:r>
              <a:rPr sz="1400" b="0">
                <a:solidFill>
                  <a:srgbClr val="0F172A"/>
                </a:solidFill>
                <a:latin typeface="Segoe UI"/>
              </a:rPr>
              <a:t>• Distribuciones.</a:t>
            </a:r>
          </a:p>
          <a:p>
            <a:pPr>
              <a:spcAft>
                <a:spcPts val="800"/>
              </a:spcAft>
              <a:defRPr sz="1400" b="0">
                <a:solidFill>
                  <a:srgbClr val="0F172A"/>
                </a:solidFill>
                <a:latin typeface="Segoe UI"/>
              </a:defRPr>
            </a:pPr>
            <a:r>
              <a:rPr sz="1400" b="0">
                <a:solidFill>
                  <a:srgbClr val="0F172A"/>
                </a:solidFill>
                <a:latin typeface="Segoe UI"/>
              </a:rPr>
              <a:t>• Monte Carlo de π.</a:t>
            </a:r>
          </a:p>
          <a:p>
            <a:pPr>
              <a:spcAft>
                <a:spcPts val="800"/>
              </a:spcAft>
              <a:defRPr sz="1400" b="0">
                <a:solidFill>
                  <a:srgbClr val="0F172A"/>
                </a:solidFill>
                <a:latin typeface="Segoe UI"/>
              </a:defRPr>
            </a:pPr>
            <a:r>
              <a:rPr sz="1400" b="0">
                <a:solidFill>
                  <a:srgbClr val="0F172A"/>
                </a:solidFill>
                <a:latin typeface="Segoe UI"/>
              </a:rPr>
              <a:t>• Bootstrap.</a:t>
            </a:r>
          </a:p>
          <a:p>
            <a:pPr>
              <a:spcAft>
                <a:spcPts val="800"/>
              </a:spcAft>
              <a:defRPr sz="1400" b="0">
                <a:solidFill>
                  <a:srgbClr val="0F172A"/>
                </a:solidFill>
                <a:latin typeface="Segoe UI"/>
              </a:defRPr>
            </a:pPr>
            <a:r>
              <a:rPr sz="1400" b="0">
                <a:solidFill>
                  <a:srgbClr val="0F172A"/>
                </a:solidFill>
                <a:latin typeface="Segoe UI"/>
              </a:rPr>
              <a:t>• Permutación.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 Monte Carlo de π con N=10k, 100k, 1M reportando error; (b) bootstrap de la media de un sample (95% CI vs CLT); (c) demo de reproducibilidad con dos rngs; (d) tabla comparando momento empírico vs teórico para 4 distribuciones.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022 — Pandas: Series y DataFrame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022 — Pandas: Series y DataFrame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3.1–3.2 Introducing Pandas Objects.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qué es una Series (ndarray + index) y un DataFrame (dict de Series alineadas por index), cómo se construyen desde 5 fuentes distintas, y por qué el index es el rasgo que distingue pandas de NumPy.</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Series y DataFrames desde dict, lista de tuplas, arrays NumPy, CSV y desde otro DataFrame.</a:t>
            </a:r>
          </a:p>
          <a:p>
            <a:pPr>
              <a:spcAft>
                <a:spcPts val="800"/>
              </a:spcAft>
              <a:defRPr sz="1400" b="0">
                <a:solidFill>
                  <a:srgbClr val="0F172A"/>
                </a:solidFill>
                <a:latin typeface="Segoe UI"/>
              </a:defRPr>
            </a:pPr>
            <a:r>
              <a:rPr sz="1400" b="0">
                <a:solidFill>
                  <a:srgbClr val="0F172A"/>
                </a:solidFill>
                <a:latin typeface="Segoe UI"/>
              </a:rPr>
              <a:t>• Inspeccionar un DataFrame con head, tail, info, describe, dtypes, shape.</a:t>
            </a:r>
          </a:p>
          <a:p>
            <a:pPr>
              <a:spcAft>
                <a:spcPts val="800"/>
              </a:spcAft>
              <a:defRPr sz="1400" b="0">
                <a:solidFill>
                  <a:srgbClr val="0F172A"/>
                </a:solidFill>
                <a:latin typeface="Segoe UI"/>
              </a:defRPr>
            </a:pPr>
            <a:r>
              <a:rPr sz="1400" b="0">
                <a:solidFill>
                  <a:srgbClr val="0F172A"/>
                </a:solidFill>
                <a:latin typeface="Segoe UI"/>
              </a:rPr>
              <a:t>• Acceder a columnas como atributo (df.col) y como key (df['col']) — y saber cuándo cada uno falla.</a:t>
            </a:r>
          </a:p>
          <a:p>
            <a:pPr>
              <a:spcAft>
                <a:spcPts val="800"/>
              </a:spcAft>
              <a:defRPr sz="1400" b="0">
                <a:solidFill>
                  <a:srgbClr val="0F172A"/>
                </a:solidFill>
                <a:latin typeface="Segoe UI"/>
              </a:defRPr>
            </a:pPr>
            <a:r>
              <a:rPr sz="1400" b="0">
                <a:solidFill>
                  <a:srgbClr val="0F172A"/>
                </a:solidFill>
                <a:latin typeface="Segoe UI"/>
              </a:rPr>
              <a:t>• Modificar el index con set_index, reset_index, rename.</a:t>
            </a:r>
          </a:p>
          <a:p>
            <a:pPr>
              <a:spcAft>
                <a:spcPts val="800"/>
              </a:spcAft>
              <a:defRPr sz="1400" b="0">
                <a:solidFill>
                  <a:srgbClr val="0F172A"/>
                </a:solidFill>
                <a:latin typeface="Segoe UI"/>
              </a:defRPr>
            </a:pPr>
            <a:r>
              <a:rPr sz="1400" b="0">
                <a:solidFill>
                  <a:srgbClr val="0F172A"/>
                </a:solidFill>
                <a:latin typeface="Segoe UI"/>
              </a:rPr>
              <a:t>• Convertir Series ↔ DataFrame ↔ ndarray cuando sea necesario.</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022 — Pandas: Series y DataFrame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Series = ndarray + index</a:t>
            </a:r>
          </a:p>
          <a:p>
            <a:pPr>
              <a:spcAft>
                <a:spcPts val="1000"/>
              </a:spcAft>
              <a:defRPr sz="1600" b="0">
                <a:solidFill>
                  <a:srgbClr val="0F172A"/>
                </a:solidFill>
                <a:latin typeface="Segoe UI"/>
              </a:defRPr>
            </a:pPr>
            <a:r>
              <a:rPr sz="1600" b="0">
                <a:solidFill>
                  <a:srgbClr val="0F172A"/>
                </a:solidFill>
                <a:latin typeface="Segoe UI"/>
              </a:rPr>
              <a:t>• DataFrame = dict de Series alineadas</a:t>
            </a:r>
          </a:p>
          <a:p>
            <a:pPr>
              <a:spcAft>
                <a:spcPts val="1000"/>
              </a:spcAft>
              <a:defRPr sz="1600" b="0">
                <a:solidFill>
                  <a:srgbClr val="0F172A"/>
                </a:solidFill>
                <a:latin typeface="Segoe UI"/>
              </a:defRPr>
            </a:pPr>
            <a:r>
              <a:rPr sz="1600" b="0">
                <a:solidFill>
                  <a:srgbClr val="0F172A"/>
                </a:solidFill>
                <a:latin typeface="Segoe UI"/>
              </a:rPr>
              <a:t>• Construcción desde 5 fuentes</a:t>
            </a:r>
          </a:p>
          <a:p>
            <a:pPr>
              <a:spcAft>
                <a:spcPts val="1000"/>
              </a:spcAft>
              <a:defRPr sz="1600" b="0">
                <a:solidFill>
                  <a:srgbClr val="0F172A"/>
                </a:solidFill>
                <a:latin typeface="Segoe UI"/>
              </a:defRPr>
            </a:pPr>
            <a:r>
              <a:rPr sz="1600" b="0">
                <a:solidFill>
                  <a:srgbClr val="0F172A"/>
                </a:solidFill>
                <a:latin typeface="Segoe UI"/>
              </a:rPr>
              <a:t>• .loc vs .iloc vs []</a:t>
            </a:r>
          </a:p>
          <a:p>
            <a:pPr>
              <a:spcAft>
                <a:spcPts val="1000"/>
              </a:spcAft>
              <a:defRPr sz="1600" b="0">
                <a:solidFill>
                  <a:srgbClr val="0F172A"/>
                </a:solidFill>
                <a:latin typeface="Segoe UI"/>
              </a:defRPr>
            </a:pPr>
            <a:r>
              <a:rPr sz="1600" b="0">
                <a:solidFill>
                  <a:srgbClr val="0F172A"/>
                </a:solidFill>
                <a:latin typeface="Segoe UI"/>
              </a:rPr>
              <a:t>• Index labels vs posición</a:t>
            </a:r>
          </a:p>
          <a:p>
            <a:pPr>
              <a:spcAft>
                <a:spcPts val="1000"/>
              </a:spcAft>
              <a:defRPr sz="1600" b="0">
                <a:solidFill>
                  <a:srgbClr val="0F172A"/>
                </a:solidFill>
                <a:latin typeface="Segoe UI"/>
              </a:defRPr>
            </a:pPr>
            <a:r>
              <a:rPr sz="1600" b="0">
                <a:solidFill>
                  <a:srgbClr val="0F172A"/>
                </a:solidFill>
                <a:latin typeface="Segoe UI"/>
              </a:rPr>
              <a:t>• info y describe como first-look</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022 — Pandas: Series y DataFrame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print('pandas:', pd.__version__)</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022 — Pandas: Series y DataFrame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Series desde dict.</a:t>
            </a:r>
          </a:p>
          <a:p>
            <a:pPr>
              <a:spcAft>
                <a:spcPts val="800"/>
              </a:spcAft>
              <a:defRPr sz="1400" b="0">
                <a:solidFill>
                  <a:srgbClr val="0F172A"/>
                </a:solidFill>
                <a:latin typeface="Segoe UI"/>
              </a:defRPr>
            </a:pPr>
            <a:r>
              <a:rPr sz="1400" b="0">
                <a:solidFill>
                  <a:srgbClr val="0F172A"/>
                </a:solidFill>
                <a:latin typeface="Segoe UI"/>
              </a:rPr>
              <a:t>• DataFrame desde dict de listas.</a:t>
            </a:r>
          </a:p>
          <a:p>
            <a:pPr>
              <a:spcAft>
                <a:spcPts val="800"/>
              </a:spcAft>
              <a:defRPr sz="1400" b="0">
                <a:solidFill>
                  <a:srgbClr val="0F172A"/>
                </a:solidFill>
                <a:latin typeface="Segoe UI"/>
              </a:defRPr>
            </a:pPr>
            <a:r>
              <a:rPr sz="1400" b="0">
                <a:solidFill>
                  <a:srgbClr val="0F172A"/>
                </a:solidFill>
                <a:latin typeface="Segoe UI"/>
              </a:rPr>
              <a:t>• Lee Palmer Penguins.</a:t>
            </a:r>
          </a:p>
          <a:p>
            <a:pPr>
              <a:spcAft>
                <a:spcPts val="800"/>
              </a:spcAft>
              <a:defRPr sz="1400" b="0">
                <a:solidFill>
                  <a:srgbClr val="0F172A"/>
                </a:solidFill>
                <a:latin typeface="Segoe UI"/>
              </a:defRPr>
            </a:pPr>
            <a:r>
              <a:rPr sz="1400" b="0">
                <a:solidFill>
                  <a:srgbClr val="0F172A"/>
                </a:solidFill>
                <a:latin typeface="Segoe UI"/>
              </a:rPr>
              <a:t>• Index labeled.</a:t>
            </a:r>
          </a:p>
          <a:p>
            <a:pPr>
              <a:spcAft>
                <a:spcPts val="800"/>
              </a:spcAft>
              <a:defRPr sz="1400" b="0">
                <a:solidFill>
                  <a:srgbClr val="0F172A"/>
                </a:solidFill>
                <a:latin typeface="Segoe UI"/>
              </a:defRPr>
            </a:pPr>
            <a:r>
              <a:rPr sz="1400" b="0">
                <a:solidFill>
                  <a:srgbClr val="0F172A"/>
                </a:solidFill>
                <a:latin typeface="Segoe UI"/>
              </a:rPr>
              <a:t>• Alineación automática.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carga Palmer Penguins y reporta info(), describe(), missing por col; (b) muestra los 3 métodos de acceso a una columna (df.col, df['col'], df.loc[:, 'col']); (c) cambia el index a species, vuelve a default con reset_index; (d) demuestra alineación automática sumando dos Series.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023 — Pandas: indexación (loc, iloc, at, iat)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023 — Pandas: indexación (loc, iloc, at, iat)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3.3 Data Indexing and Selection.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domine los 4 indexers de pandas y elija el correcto según el caso. El bug "SettingWithCopyWarning" y el bug del slicing por label inclusivo nacen aquí — saber qué indexer usar evita ambos.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.loc[row_label, col_label] para acceso por etiqueta (inclusivo en slicing).</a:t>
            </a:r>
          </a:p>
          <a:p>
            <a:pPr>
              <a:spcAft>
                <a:spcPts val="800"/>
              </a:spcAft>
              <a:defRPr sz="1400" b="0">
                <a:solidFill>
                  <a:srgbClr val="0F172A"/>
                </a:solidFill>
                <a:latin typeface="Segoe UI"/>
              </a:defRPr>
            </a:pPr>
            <a:r>
              <a:rPr sz="1400" b="0">
                <a:solidFill>
                  <a:srgbClr val="0F172A"/>
                </a:solidFill>
                <a:latin typeface="Segoe UI"/>
              </a:rPr>
              <a:t>• Usar .iloc[row_pos, col_pos] para acceso por posición entera (exclusivo, como Python).</a:t>
            </a:r>
          </a:p>
          <a:p>
            <a:pPr>
              <a:spcAft>
                <a:spcPts val="800"/>
              </a:spcAft>
              <a:defRPr sz="1400" b="0">
                <a:solidFill>
                  <a:srgbClr val="0F172A"/>
                </a:solidFill>
                <a:latin typeface="Segoe UI"/>
              </a:defRPr>
            </a:pPr>
            <a:r>
              <a:rPr sz="1400" b="0">
                <a:solidFill>
                  <a:srgbClr val="0F172A"/>
                </a:solidFill>
                <a:latin typeface="Segoe UI"/>
              </a:rPr>
              <a:t>• Usar .at / .iat para acceso a un único valor (más rápido que loc/iloc).</a:t>
            </a:r>
          </a:p>
          <a:p>
            <a:pPr>
              <a:spcAft>
                <a:spcPts val="800"/>
              </a:spcAft>
              <a:defRPr sz="1400" b="0">
                <a:solidFill>
                  <a:srgbClr val="0F172A"/>
                </a:solidFill>
                <a:latin typeface="Segoe UI"/>
              </a:defRPr>
            </a:pPr>
            <a:r>
              <a:rPr sz="1400" b="0">
                <a:solidFill>
                  <a:srgbClr val="0F172A"/>
                </a:solidFill>
                <a:latin typeface="Segoe UI"/>
              </a:rPr>
              <a:t>• Evitar SettingWithCopyWarning usando .loc para asignar en una vista.</a:t>
            </a:r>
          </a:p>
          <a:p>
            <a:pPr>
              <a:spcAft>
                <a:spcPts val="800"/>
              </a:spcAft>
              <a:defRPr sz="1400" b="0">
                <a:solidFill>
                  <a:srgbClr val="0F172A"/>
                </a:solidFill>
                <a:latin typeface="Segoe UI"/>
              </a:defRPr>
            </a:pPr>
            <a:r>
              <a:rPr sz="1400" b="0">
                <a:solidFill>
                  <a:srgbClr val="0F172A"/>
                </a:solidFill>
                <a:latin typeface="Segoe UI"/>
              </a:rPr>
              <a:t>• Filtrar filas con boolean mask dentro de .loc: df.loc[df['edad'] &gt; 30, 'nombre'].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023 — Pandas: indexación (loc, iloc, at, iat)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 directo: shortcut con quirks</a:t>
            </a:r>
          </a:p>
          <a:p>
            <a:pPr>
              <a:spcAft>
                <a:spcPts val="1000"/>
              </a:spcAft>
              <a:defRPr sz="1600" b="0">
                <a:solidFill>
                  <a:srgbClr val="0F172A"/>
                </a:solidFill>
                <a:latin typeface="Segoe UI"/>
              </a:defRPr>
            </a:pPr>
            <a:r>
              <a:rPr sz="1600" b="0">
                <a:solidFill>
                  <a:srgbClr val="0F172A"/>
                </a:solidFill>
                <a:latin typeface="Segoe UI"/>
              </a:rPr>
              <a:t>• .loc: por label, slicing inclusivo</a:t>
            </a:r>
          </a:p>
          <a:p>
            <a:pPr>
              <a:spcAft>
                <a:spcPts val="1000"/>
              </a:spcAft>
              <a:defRPr sz="1600" b="0">
                <a:solidFill>
                  <a:srgbClr val="0F172A"/>
                </a:solidFill>
                <a:latin typeface="Segoe UI"/>
              </a:defRPr>
            </a:pPr>
            <a:r>
              <a:rPr sz="1600" b="0">
                <a:solidFill>
                  <a:srgbClr val="0F172A"/>
                </a:solidFill>
                <a:latin typeface="Segoe UI"/>
              </a:rPr>
              <a:t>• .iloc: por posición, slicing exclusivo (como Python)</a:t>
            </a:r>
          </a:p>
          <a:p>
            <a:pPr>
              <a:spcAft>
                <a:spcPts val="1000"/>
              </a:spcAft>
              <a:defRPr sz="1600" b="0">
                <a:solidFill>
                  <a:srgbClr val="0F172A"/>
                </a:solidFill>
                <a:latin typeface="Segoe UI"/>
              </a:defRPr>
            </a:pPr>
            <a:r>
              <a:rPr sz="1600" b="0">
                <a:solidFill>
                  <a:srgbClr val="0F172A"/>
                </a:solidFill>
                <a:latin typeface="Segoe UI"/>
              </a:rPr>
              <a:t>• .at / .iat: single value</a:t>
            </a:r>
          </a:p>
          <a:p>
            <a:pPr>
              <a:spcAft>
                <a:spcPts val="1000"/>
              </a:spcAft>
              <a:defRPr sz="1600" b="0">
                <a:solidFill>
                  <a:srgbClr val="0F172A"/>
                </a:solidFill>
                <a:latin typeface="Segoe UI"/>
              </a:defRPr>
            </a:pPr>
            <a:r>
              <a:rPr sz="1600" b="0">
                <a:solidFill>
                  <a:srgbClr val="0F172A"/>
                </a:solidFill>
                <a:latin typeface="Segoe UI"/>
              </a:rPr>
              <a:t>• Mask + loc para filtros con asignación</a:t>
            </a:r>
          </a:p>
          <a:p>
            <a:pPr>
              <a:spcAft>
                <a:spcPts val="1000"/>
              </a:spcAft>
              <a:defRPr sz="1600" b="0">
                <a:solidFill>
                  <a:srgbClr val="0F172A"/>
                </a:solidFill>
                <a:latin typeface="Segoe UI"/>
              </a:defRPr>
            </a:pPr>
            <a:r>
              <a:rPr sz="1600" b="0">
                <a:solidFill>
                  <a:srgbClr val="0F172A"/>
                </a:solidFill>
                <a:latin typeface="Segoe UI"/>
              </a:rPr>
              <a:t>• SettingWithCopyWarning: qué es y cómo evitarlo</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023 — Pandas: indexación (loc, iloc, at, iat)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DataFrame de demo</a:t>
            </a:r>
          </a:p>
          <a:p>
            <a:pPr>
              <a:defRPr sz="1200" b="0">
                <a:solidFill>
                  <a:srgbClr val="F8FAFC"/>
                </a:solidFill>
                <a:latin typeface="Courier New"/>
              </a:defRPr>
            </a:pPr>
            <a:r>
              <a:rPr sz="1200" b="0">
                <a:solidFill>
                  <a:srgbClr val="F8FAFC"/>
                </a:solidFill>
                <a:latin typeface="Courier New"/>
              </a:rPr>
              <a:t>df = pd.DataFrame({</a:t>
            </a:r>
          </a:p>
          <a:p>
            <a:pPr>
              <a:defRPr sz="1200" b="0">
                <a:solidFill>
                  <a:srgbClr val="F8FAFC"/>
                </a:solidFill>
                <a:latin typeface="Courier New"/>
              </a:defRPr>
            </a:pPr>
            <a:r>
              <a:rPr sz="1200" b="0">
                <a:solidFill>
                  <a:srgbClr val="F8FAFC"/>
                </a:solidFill>
                <a:latin typeface="Courier New"/>
              </a:rPr>
              <a:t>    'nombre': ['Ana', 'Bob', 'Cris', 'Dan', 'Eli'],</a:t>
            </a:r>
          </a:p>
          <a:p>
            <a:pPr>
              <a:defRPr sz="1200" b="0">
                <a:solidFill>
                  <a:srgbClr val="F8FAFC"/>
                </a:solidFill>
                <a:latin typeface="Courier New"/>
              </a:defRPr>
            </a:pPr>
            <a:r>
              <a:rPr sz="1200" b="0">
                <a:solidFill>
                  <a:srgbClr val="F8FAFC"/>
                </a:solidFill>
                <a:latin typeface="Courier New"/>
              </a:rPr>
              <a:t>    'edad'  : [30, 25, 28, 35, 22],</a:t>
            </a:r>
          </a:p>
          <a:p>
            <a:pPr>
              <a:defRPr sz="1200" b="0">
                <a:solidFill>
                  <a:srgbClr val="F8FAFC"/>
                </a:solidFill>
                <a:latin typeface="Courier New"/>
              </a:defRPr>
            </a:pPr>
            <a:r>
              <a:rPr sz="1200" b="0">
                <a:solidFill>
                  <a:srgbClr val="F8FAFC"/>
                </a:solidFill>
                <a:latin typeface="Courier New"/>
              </a:rPr>
              <a:t>    'nota'  : [7.5, 6.0, 8.2, 5.8, 9.1],</a:t>
            </a:r>
          </a:p>
          <a:p>
            <a:pPr>
              <a:defRPr sz="1200" b="0">
                <a:solidFill>
                  <a:srgbClr val="F8FAFC"/>
                </a:solidFill>
                <a:latin typeface="Courier New"/>
              </a:defRPr>
            </a:pPr>
            <a:r>
              <a:rPr sz="1200" b="0">
                <a:solidFill>
                  <a:srgbClr val="F8FAFC"/>
                </a:solidFill>
                <a:latin typeface="Courier New"/>
              </a:rPr>
              <a:t>}, index=['a', 'b', 'c', 'd', 'e'])</a:t>
            </a:r>
          </a:p>
          <a:p>
            <a:pPr>
              <a:defRPr sz="1200" b="0">
                <a:solidFill>
                  <a:srgbClr val="F8FAFC"/>
                </a:solidFill>
                <a:latin typeface="Courier New"/>
              </a:defRPr>
            </a:pPr>
            <a:r>
              <a:rPr sz="1200" b="0">
                <a:solidFill>
                  <a:srgbClr val="F8FAFC"/>
                </a:solidFill>
                <a:latin typeface="Courier New"/>
              </a:rPr>
              <a:t>print(df)</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023 — Pandas: indexación (loc, iloc, at, iat)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Acceso simple.</a:t>
            </a:r>
          </a:p>
          <a:p>
            <a:pPr>
              <a:spcAft>
                <a:spcPts val="800"/>
              </a:spcAft>
              <a:defRPr sz="1400" b="0">
                <a:solidFill>
                  <a:srgbClr val="0F172A"/>
                </a:solidFill>
                <a:latin typeface="Segoe UI"/>
              </a:defRPr>
            </a:pPr>
            <a:r>
              <a:rPr sz="1400" b="0">
                <a:solidFill>
                  <a:srgbClr val="0F172A"/>
                </a:solidFill>
                <a:latin typeface="Segoe UI"/>
              </a:rPr>
              <a:t>• loc inclusivo vs iloc exclusivo.</a:t>
            </a:r>
          </a:p>
          <a:p>
            <a:pPr>
              <a:spcAft>
                <a:spcPts val="800"/>
              </a:spcAft>
              <a:defRPr sz="1400" b="0">
                <a:solidFill>
                  <a:srgbClr val="0F172A"/>
                </a:solidFill>
                <a:latin typeface="Segoe UI"/>
              </a:defRPr>
            </a:pPr>
            <a:r>
              <a:rPr sz="1400" b="0">
                <a:solidFill>
                  <a:srgbClr val="0F172A"/>
                </a:solidFill>
                <a:latin typeface="Segoe UI"/>
              </a:rPr>
              <a:t>• Filtro + columnas seleccionadas.</a:t>
            </a:r>
          </a:p>
          <a:p>
            <a:pPr>
              <a:spcAft>
                <a:spcPts val="800"/>
              </a:spcAft>
              <a:defRPr sz="1400" b="0">
                <a:solidFill>
                  <a:srgbClr val="0F172A"/>
                </a:solidFill>
                <a:latin typeface="Segoe UI"/>
              </a:defRPr>
            </a:pPr>
            <a:r>
              <a:rPr sz="1400" b="0">
                <a:solidFill>
                  <a:srgbClr val="0F172A"/>
                </a:solidFill>
                <a:latin typeface="Segoe UI"/>
              </a:rPr>
              <a:t>• Asignación segura.</a:t>
            </a:r>
          </a:p>
          <a:p>
            <a:pPr>
              <a:spcAft>
                <a:spcPts val="800"/>
              </a:spcAft>
              <a:defRPr sz="1400" b="0">
                <a:solidFill>
                  <a:srgbClr val="0F172A"/>
                </a:solidFill>
                <a:latin typeface="Segoe UI"/>
              </a:defRPr>
            </a:pPr>
            <a:r>
              <a:rPr sz="1400" b="0">
                <a:solidFill>
                  <a:srgbClr val="0F172A"/>
                </a:solidFill>
                <a:latin typeface="Segoe UI"/>
              </a:rPr>
              <a:t>• Provoca y arregla SettingWithCopyWarning.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muestra los 3 métodos de acceso a columna; (b) compara loc vs iloc en slicing con tabla; (c) filtra Adelie machos con bill_length&gt;40 mostrando 3 columnas; (d) reproduce y arregla SettingWithCopyWarning con explicación.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024 — Pandas: operaciones y alineación</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024 — Pandas: operaciones y alineación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3.4 Operating on Data in Pandas.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cómo pandas alinea automáticamente por index en operaciones entre Series/DataFrames, cómo manejar NaN resultantes, y use apply/map para transformaciones custom (con consciencia de cuándo es lento).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Predecir el resultado de operar dos Series/DataFrames con indexes parcialmente distintos.</a:t>
            </a:r>
          </a:p>
          <a:p>
            <a:pPr>
              <a:spcAft>
                <a:spcPts val="800"/>
              </a:spcAft>
              <a:defRPr sz="1400" b="0">
                <a:solidFill>
                  <a:srgbClr val="0F172A"/>
                </a:solidFill>
                <a:latin typeface="Segoe UI"/>
              </a:defRPr>
            </a:pPr>
            <a:r>
              <a:rPr sz="1400" b="0">
                <a:solidFill>
                  <a:srgbClr val="0F172A"/>
                </a:solidFill>
                <a:latin typeface="Segoe UI"/>
              </a:rPr>
              <a:t>• Usar fill_value en operaciones para no propagar NaN: s1.add(s2, fill_value=0).</a:t>
            </a:r>
          </a:p>
          <a:p>
            <a:pPr>
              <a:spcAft>
                <a:spcPts val="800"/>
              </a:spcAft>
              <a:defRPr sz="1400" b="0">
                <a:solidFill>
                  <a:srgbClr val="0F172A"/>
                </a:solidFill>
                <a:latin typeface="Segoe UI"/>
              </a:defRPr>
            </a:pPr>
            <a:r>
              <a:rPr sz="1400" b="0">
                <a:solidFill>
                  <a:srgbClr val="0F172A"/>
                </a:solidFill>
                <a:latin typeface="Segoe UI"/>
              </a:rPr>
              <a:t>• Aplicar funciones con apply (lento, flexible), map (Series), applymap / df.map (elementwise).</a:t>
            </a:r>
          </a:p>
          <a:p>
            <a:pPr>
              <a:spcAft>
                <a:spcPts val="800"/>
              </a:spcAft>
              <a:defRPr sz="1400" b="0">
                <a:solidFill>
                  <a:srgbClr val="0F172A"/>
                </a:solidFill>
                <a:latin typeface="Segoe UI"/>
              </a:defRPr>
            </a:pPr>
            <a:r>
              <a:rPr sz="1400" b="0">
                <a:solidFill>
                  <a:srgbClr val="0F172A"/>
                </a:solidFill>
                <a:latin typeface="Segoe UI"/>
              </a:rPr>
              <a:t>• Vectorizar transformaciones cuando se puede en vez de apply (10–100× más rápido).</a:t>
            </a:r>
          </a:p>
          <a:p>
            <a:pPr>
              <a:spcAft>
                <a:spcPts val="800"/>
              </a:spcAft>
              <a:defRPr sz="1400" b="0">
                <a:solidFill>
                  <a:srgbClr val="0F172A"/>
                </a:solidFill>
                <a:latin typeface="Segoe UI"/>
              </a:defRPr>
            </a:pPr>
            <a:r>
              <a:rPr sz="1400" b="0">
                <a:solidFill>
                  <a:srgbClr val="0F172A"/>
                </a:solidFill>
                <a:latin typeface="Segoe UI"/>
              </a:rPr>
              <a:t>• Usar ufuncs NumPy sobre Series — pandas las soporta directamente y preserva el index.</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024 — Pandas: operaciones y alineación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Alineación automática por index</a:t>
            </a:r>
          </a:p>
          <a:p>
            <a:pPr>
              <a:spcAft>
                <a:spcPts val="1000"/>
              </a:spcAft>
              <a:defRPr sz="1600" b="0">
                <a:solidFill>
                  <a:srgbClr val="0F172A"/>
                </a:solidFill>
                <a:latin typeface="Segoe UI"/>
              </a:defRPr>
            </a:pPr>
            <a:r>
              <a:rPr sz="1600" b="0">
                <a:solidFill>
                  <a:srgbClr val="0F172A"/>
                </a:solidFill>
                <a:latin typeface="Segoe UI"/>
              </a:rPr>
              <a:t>• fill_value para operaciones</a:t>
            </a:r>
          </a:p>
          <a:p>
            <a:pPr>
              <a:spcAft>
                <a:spcPts val="1000"/>
              </a:spcAft>
              <a:defRPr sz="1600" b="0">
                <a:solidFill>
                  <a:srgbClr val="0F172A"/>
                </a:solidFill>
                <a:latin typeface="Segoe UI"/>
              </a:defRPr>
            </a:pPr>
            <a:r>
              <a:rPr sz="1600" b="0">
                <a:solidFill>
                  <a:srgbClr val="0F172A"/>
                </a:solidFill>
                <a:latin typeface="Segoe UI"/>
              </a:rPr>
              <a:t>• apply axis=0 vs axis=1</a:t>
            </a:r>
          </a:p>
          <a:p>
            <a:pPr>
              <a:spcAft>
                <a:spcPts val="1000"/>
              </a:spcAft>
              <a:defRPr sz="1600" b="0">
                <a:solidFill>
                  <a:srgbClr val="0F172A"/>
                </a:solidFill>
                <a:latin typeface="Segoe UI"/>
              </a:defRPr>
            </a:pPr>
            <a:r>
              <a:rPr sz="1600" b="0">
                <a:solidFill>
                  <a:srgbClr val="0F172A"/>
                </a:solidFill>
                <a:latin typeface="Segoe UI"/>
              </a:rPr>
              <a:t>• map para Series con dict</a:t>
            </a:r>
          </a:p>
          <a:p>
            <a:pPr>
              <a:spcAft>
                <a:spcPts val="1000"/>
              </a:spcAft>
              <a:defRPr sz="1600" b="0">
                <a:solidFill>
                  <a:srgbClr val="0F172A"/>
                </a:solidFill>
                <a:latin typeface="Segoe UI"/>
              </a:defRPr>
            </a:pPr>
            <a:r>
              <a:rPr sz="1600" b="0">
                <a:solidFill>
                  <a:srgbClr val="0F172A"/>
                </a:solidFill>
                <a:latin typeface="Segoe UI"/>
              </a:rPr>
              <a:t>• df.map (era applymap) — elementwise</a:t>
            </a:r>
          </a:p>
          <a:p>
            <a:pPr>
              <a:spcAft>
                <a:spcPts val="1000"/>
              </a:spcAft>
              <a:defRPr sz="1600" b="0">
                <a:solidFill>
                  <a:srgbClr val="0F172A"/>
                </a:solidFill>
                <a:latin typeface="Segoe UI"/>
              </a:defRPr>
            </a:pPr>
            <a:r>
              <a:rPr sz="1600" b="0">
                <a:solidFill>
                  <a:srgbClr val="0F172A"/>
                </a:solidFill>
                <a:latin typeface="Segoe UI"/>
              </a:rPr>
              <a:t>• Vectorización &gt; apply</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024 — Pandas: operaciones y alineación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time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024 — Pandas: operaciones y alineación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Suma con alineación.</a:t>
            </a:r>
          </a:p>
          <a:p>
            <a:pPr>
              <a:spcAft>
                <a:spcPts val="800"/>
              </a:spcAft>
              <a:defRPr sz="1400" b="0">
                <a:solidFill>
                  <a:srgbClr val="0F172A"/>
                </a:solidFill>
                <a:latin typeface="Segoe UI"/>
              </a:defRPr>
            </a:pPr>
            <a:r>
              <a:rPr sz="1400" b="0">
                <a:solidFill>
                  <a:srgbClr val="0F172A"/>
                </a:solidFill>
                <a:latin typeface="Segoe UI"/>
              </a:rPr>
              <a:t>• apply por fila.</a:t>
            </a:r>
          </a:p>
          <a:p>
            <a:pPr>
              <a:spcAft>
                <a:spcPts val="800"/>
              </a:spcAft>
              <a:defRPr sz="1400" b="0">
                <a:solidFill>
                  <a:srgbClr val="0F172A"/>
                </a:solidFill>
                <a:latin typeface="Segoe UI"/>
              </a:defRPr>
            </a:pPr>
            <a:r>
              <a:rPr sz="1400" b="0">
                <a:solidFill>
                  <a:srgbClr val="0F172A"/>
                </a:solidFill>
                <a:latin typeface="Segoe UI"/>
              </a:rPr>
              <a:t>• Mismo cálculo vectorizado.</a:t>
            </a:r>
          </a:p>
          <a:p>
            <a:pPr>
              <a:spcAft>
                <a:spcPts val="800"/>
              </a:spcAft>
              <a:defRPr sz="1400" b="0">
                <a:solidFill>
                  <a:srgbClr val="0F172A"/>
                </a:solidFill>
                <a:latin typeface="Segoe UI"/>
              </a:defRPr>
            </a:pPr>
            <a:r>
              <a:rPr sz="1400" b="0">
                <a:solidFill>
                  <a:srgbClr val="0F172A"/>
                </a:solidFill>
                <a:latin typeface="Segoe UI"/>
              </a:rPr>
              <a:t>• map con dict.</a:t>
            </a:r>
          </a:p>
          <a:p>
            <a:pPr>
              <a:spcAft>
                <a:spcPts val="800"/>
              </a:spcAft>
              <a:defRPr sz="1400" b="0">
                <a:solidFill>
                  <a:srgbClr val="0F172A"/>
                </a:solidFill>
                <a:latin typeface="Segoe UI"/>
              </a:defRPr>
            </a:pPr>
            <a:r>
              <a:rPr sz="1400" b="0">
                <a:solidFill>
                  <a:srgbClr val="0F172A"/>
                </a:solidFill>
                <a:latin typeface="Segoe UI"/>
              </a:rPr>
              <a:t>• ufunc NumPy preserva index.</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penguins: (a) BMI por fila con apply vs vectorizado (tabla %timeit); (b) species → código numérico con map; (c) demo de alineación con fill_value; (d) np.log sobre body_mass preservando index.</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025 — Pandas: datos faltantes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025 — Pandas: datos faltantes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3.5 Handling Missing Data.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detecte, cuantifique y maneje datos faltantes con criterio. Eliminar es la opción fácil pero suele ser incorrecta: cuándo eliminar, cuándo imputar (media, mediana, forward-fill), y cuándo el faltante es señal que merece su propia columna.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Detectar NaN con isna(), notna() y cuantificar por columna/fila.</a:t>
            </a:r>
          </a:p>
          <a:p>
            <a:pPr>
              <a:spcAft>
                <a:spcPts val="800"/>
              </a:spcAft>
              <a:defRPr sz="1400" b="0">
                <a:solidFill>
                  <a:srgbClr val="0F172A"/>
                </a:solidFill>
                <a:latin typeface="Segoe UI"/>
              </a:defRPr>
            </a:pPr>
            <a:r>
              <a:rPr sz="1400" b="0">
                <a:solidFill>
                  <a:srgbClr val="0F172A"/>
                </a:solidFill>
                <a:latin typeface="Segoe UI"/>
              </a:rPr>
              <a:t>• Eliminar filas/columnas con NaN usando dropna con how/thresh/subset.</a:t>
            </a:r>
          </a:p>
          <a:p>
            <a:pPr>
              <a:spcAft>
                <a:spcPts val="800"/>
              </a:spcAft>
              <a:defRPr sz="1400" b="0">
                <a:solidFill>
                  <a:srgbClr val="0F172A"/>
                </a:solidFill>
                <a:latin typeface="Segoe UI"/>
              </a:defRPr>
            </a:pPr>
            <a:r>
              <a:rPr sz="1400" b="0">
                <a:solidFill>
                  <a:srgbClr val="0F172A"/>
                </a:solidFill>
                <a:latin typeface="Segoe UI"/>
              </a:rPr>
              <a:t>• Imputar con fillna: valor escalar, media/mediana, forward/backward fill, interpolación.</a:t>
            </a:r>
          </a:p>
          <a:p>
            <a:pPr>
              <a:spcAft>
                <a:spcPts val="800"/>
              </a:spcAft>
              <a:defRPr sz="1400" b="0">
                <a:solidFill>
                  <a:srgbClr val="0F172A"/>
                </a:solidFill>
                <a:latin typeface="Segoe UI"/>
              </a:defRPr>
            </a:pPr>
            <a:r>
              <a:rPr sz="1400" b="0">
                <a:solidFill>
                  <a:srgbClr val="0F172A"/>
                </a:solidFill>
                <a:latin typeface="Segoe UI"/>
              </a:rPr>
              <a:t>• Distinguir NaN vs None vs pd.NA y por qué importan los dtypes nullable (Int64, boolean).</a:t>
            </a:r>
          </a:p>
          <a:p>
            <a:pPr>
              <a:spcAft>
                <a:spcPts val="800"/>
              </a:spcAft>
              <a:defRPr sz="1400" b="0">
                <a:solidFill>
                  <a:srgbClr val="0F172A"/>
                </a:solidFill>
                <a:latin typeface="Segoe UI"/>
              </a:defRPr>
            </a:pPr>
            <a:r>
              <a:rPr sz="1400" b="0">
                <a:solidFill>
                  <a:srgbClr val="0F172A"/>
                </a:solidFill>
                <a:latin typeface="Segoe UI"/>
              </a:rPr>
              <a:t>• Decidir entre eliminar/imputar/dejar — y crear columna was_missing cuando el faltante es informativo.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025 — Pandas: datos faltantes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Tipos de missing en pandas: NaN, None, NaT, pd.NA</a:t>
            </a:r>
          </a:p>
          <a:p>
            <a:pPr>
              <a:spcAft>
                <a:spcPts val="1000"/>
              </a:spcAft>
              <a:defRPr sz="1600" b="0">
                <a:solidFill>
                  <a:srgbClr val="0F172A"/>
                </a:solidFill>
                <a:latin typeface="Segoe UI"/>
              </a:defRPr>
            </a:pPr>
            <a:r>
              <a:rPr sz="1600" b="0">
                <a:solidFill>
                  <a:srgbClr val="0F172A"/>
                </a:solidFill>
                <a:latin typeface="Segoe UI"/>
              </a:rPr>
              <a:t>• Detección: isna, notna, isna().sum()</a:t>
            </a:r>
          </a:p>
          <a:p>
            <a:pPr>
              <a:spcAft>
                <a:spcPts val="1000"/>
              </a:spcAft>
              <a:defRPr sz="1600" b="0">
                <a:solidFill>
                  <a:srgbClr val="0F172A"/>
                </a:solidFill>
                <a:latin typeface="Segoe UI"/>
              </a:defRPr>
            </a:pPr>
            <a:r>
              <a:rPr sz="1600" b="0">
                <a:solidFill>
                  <a:srgbClr val="0F172A"/>
                </a:solidFill>
                <a:latin typeface="Segoe UI"/>
              </a:rPr>
              <a:t>• dropna: how='any'/'all', thresh, subset</a:t>
            </a:r>
          </a:p>
          <a:p>
            <a:pPr>
              <a:spcAft>
                <a:spcPts val="1000"/>
              </a:spcAft>
              <a:defRPr sz="1600" b="0">
                <a:solidFill>
                  <a:srgbClr val="0F172A"/>
                </a:solidFill>
                <a:latin typeface="Segoe UI"/>
              </a:defRPr>
            </a:pPr>
            <a:r>
              <a:rPr sz="1600" b="0">
                <a:solidFill>
                  <a:srgbClr val="0F172A"/>
                </a:solidFill>
                <a:latin typeface="Segoe UI"/>
              </a:rPr>
              <a:t>• fillna: escalar, dict, ffill, bfill, interpolate</a:t>
            </a:r>
          </a:p>
          <a:p>
            <a:pPr>
              <a:spcAft>
                <a:spcPts val="1000"/>
              </a:spcAft>
              <a:defRPr sz="1600" b="0">
                <a:solidFill>
                  <a:srgbClr val="0F172A"/>
                </a:solidFill>
                <a:latin typeface="Segoe UI"/>
              </a:defRPr>
            </a:pPr>
            <a:r>
              <a:rPr sz="1600" b="0">
                <a:solidFill>
                  <a:srgbClr val="0F172A"/>
                </a:solidFill>
                <a:latin typeface="Segoe UI"/>
              </a:rPr>
              <a:t>• Dtypes nullable: Int64, Float64, boolean</a:t>
            </a:r>
          </a:p>
          <a:p>
            <a:pPr>
              <a:spcAft>
                <a:spcPts val="1000"/>
              </a:spcAft>
              <a:defRPr sz="1600" b="0">
                <a:solidFill>
                  <a:srgbClr val="0F172A"/>
                </a:solidFill>
                <a:latin typeface="Segoe UI"/>
              </a:defRPr>
            </a:pPr>
            <a:r>
              <a:rPr sz="1600" b="0">
                <a:solidFill>
                  <a:srgbClr val="0F172A"/>
                </a:solidFill>
                <a:latin typeface="Segoe UI"/>
              </a:rPr>
              <a:t>• was_missing como feature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025 — Pandas: datos faltantes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025 — Pandas: datos faltantes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Cuantifica.</a:t>
            </a:r>
          </a:p>
          <a:p>
            <a:pPr>
              <a:spcAft>
                <a:spcPts val="800"/>
              </a:spcAft>
              <a:defRPr sz="1400" b="0">
                <a:solidFill>
                  <a:srgbClr val="0F172A"/>
                </a:solidFill>
                <a:latin typeface="Segoe UI"/>
              </a:defRPr>
            </a:pPr>
            <a:r>
              <a:rPr sz="1400" b="0">
                <a:solidFill>
                  <a:srgbClr val="0F172A"/>
                </a:solidFill>
                <a:latin typeface="Segoe UI"/>
              </a:rPr>
              <a:t>• Eliminar filas con cualquier NaN.</a:t>
            </a:r>
          </a:p>
          <a:p>
            <a:pPr>
              <a:spcAft>
                <a:spcPts val="800"/>
              </a:spcAft>
              <a:defRPr sz="1400" b="0">
                <a:solidFill>
                  <a:srgbClr val="0F172A"/>
                </a:solidFill>
                <a:latin typeface="Segoe UI"/>
              </a:defRPr>
            </a:pPr>
            <a:r>
              <a:rPr sz="1400" b="0">
                <a:solidFill>
                  <a:srgbClr val="0F172A"/>
                </a:solidFill>
                <a:latin typeface="Segoe UI"/>
              </a:rPr>
              <a:t>• Eliminar solo filas con NaN en sex.</a:t>
            </a:r>
          </a:p>
          <a:p>
            <a:pPr>
              <a:spcAft>
                <a:spcPts val="800"/>
              </a:spcAft>
              <a:defRPr sz="1400" b="0">
                <a:solidFill>
                  <a:srgbClr val="0F172A"/>
                </a:solidFill>
                <a:latin typeface="Segoe UI"/>
              </a:defRPr>
            </a:pPr>
            <a:r>
              <a:rPr sz="1400" b="0">
                <a:solidFill>
                  <a:srgbClr val="0F172A"/>
                </a:solidFill>
                <a:latin typeface="Segoe UI"/>
              </a:rPr>
              <a:t>• Imputar.</a:t>
            </a:r>
          </a:p>
          <a:p>
            <a:pPr>
              <a:spcAft>
                <a:spcPts val="800"/>
              </a:spcAft>
              <a:defRPr sz="1400" b="0">
                <a:solidFill>
                  <a:srgbClr val="0F172A"/>
                </a:solidFill>
                <a:latin typeface="Segoe UI"/>
              </a:defRPr>
            </a:pPr>
            <a:r>
              <a:rPr sz="1400" b="0">
                <a:solidFill>
                  <a:srgbClr val="0F172A"/>
                </a:solidFill>
                <a:latin typeface="Segoe UI"/>
              </a:rPr>
              <a:t>• Forward fill en series temporales.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penguins: (a) reporte completo de missing (% por col, % por fila, filas más incompletas); (b) 3 estrategias: drop all, drop subset, imputar por grupo; (c) columna bill_was_missing y demuestra que el flag puede mejorar un modelo simple; (d) demo de dtypes nullable Int64.</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026 — Pandas: MultiIndex</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026 — Pandas: MultiIndex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3.6 Hierarchical Indexing.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use índices jerárquicos (MultiIndex) cuando hay estructura natural en los datos (país × ciudad, año × mes, sector × empresa). Saber cuándo aporta vs cuándo complica — el 80% del tiempo en data science aplanado es mejor.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MultiIndex desde tuplas, arrays, producto cartesiano (from_product).</a:t>
            </a:r>
          </a:p>
          <a:p>
            <a:pPr>
              <a:spcAft>
                <a:spcPts val="800"/>
              </a:spcAft>
              <a:defRPr sz="1400" b="0">
                <a:solidFill>
                  <a:srgbClr val="0F172A"/>
                </a:solidFill>
                <a:latin typeface="Segoe UI"/>
              </a:defRPr>
            </a:pPr>
            <a:r>
              <a:rPr sz="1400" b="0">
                <a:solidFill>
                  <a:srgbClr val="0F172A"/>
                </a:solidFill>
                <a:latin typeface="Segoe UI"/>
              </a:rPr>
              <a:t>• Indexar con .loc[(nivel1, nivel2)] y .loc[:, ('grupo', 'col')].</a:t>
            </a:r>
          </a:p>
          <a:p>
            <a:pPr>
              <a:spcAft>
                <a:spcPts val="800"/>
              </a:spcAft>
              <a:defRPr sz="1400" b="0">
                <a:solidFill>
                  <a:srgbClr val="0F172A"/>
                </a:solidFill>
                <a:latin typeface="Segoe UI"/>
              </a:defRPr>
            </a:pPr>
            <a:r>
              <a:rPr sz="1400" b="0">
                <a:solidFill>
                  <a:srgbClr val="0F172A"/>
                </a:solidFill>
                <a:latin typeface="Segoe UI"/>
              </a:rPr>
              <a:t>• Aplanar y reconstruir con unstack(), stack(), reset_index().</a:t>
            </a:r>
          </a:p>
          <a:p>
            <a:pPr>
              <a:spcAft>
                <a:spcPts val="800"/>
              </a:spcAft>
              <a:defRPr sz="1400" b="0">
                <a:solidFill>
                  <a:srgbClr val="0F172A"/>
                </a:solidFill>
                <a:latin typeface="Segoe UI"/>
              </a:defRPr>
            </a:pPr>
            <a:r>
              <a:rPr sz="1400" b="0">
                <a:solidFill>
                  <a:srgbClr val="0F172A"/>
                </a:solidFill>
                <a:latin typeface="Segoe UI"/>
              </a:rPr>
              <a:t>• Decidir cuándo MultiIndex aporta (groupby con múltiples claves devuelve uno automáticamente) y cuándo es más legible aplanar.</a:t>
            </a:r>
          </a:p>
          <a:p>
            <a:pPr>
              <a:spcAft>
                <a:spcPts val="800"/>
              </a:spcAft>
              <a:defRPr sz="1400" b="0">
                <a:solidFill>
                  <a:srgbClr val="0F172A"/>
                </a:solidFill>
                <a:latin typeface="Segoe UI"/>
              </a:defRPr>
            </a:pPr>
            <a:r>
              <a:rPr sz="1400" b="0">
                <a:solidFill>
                  <a:srgbClr val="0F172A"/>
                </a:solidFill>
                <a:latin typeface="Segoe UI"/>
              </a:rPr>
              <a:t>• Renombrar niveles con rename(level=...) y reordenarlos con swaplevel.</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026 — Pandas: MultiIndex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MultiIndex: motivación</a:t>
            </a:r>
          </a:p>
          <a:p>
            <a:pPr>
              <a:spcAft>
                <a:spcPts val="1000"/>
              </a:spcAft>
              <a:defRPr sz="1600" b="0">
                <a:solidFill>
                  <a:srgbClr val="0F172A"/>
                </a:solidFill>
                <a:latin typeface="Segoe UI"/>
              </a:defRPr>
            </a:pPr>
            <a:r>
              <a:rPr sz="1600" b="0">
                <a:solidFill>
                  <a:srgbClr val="0F172A"/>
                </a:solidFill>
                <a:latin typeface="Segoe UI"/>
              </a:rPr>
              <a:t>• Construcción: tuples, arrays, from_product</a:t>
            </a:r>
          </a:p>
          <a:p>
            <a:pPr>
              <a:spcAft>
                <a:spcPts val="1000"/>
              </a:spcAft>
              <a:defRPr sz="1600" b="0">
                <a:solidFill>
                  <a:srgbClr val="0F172A"/>
                </a:solidFill>
                <a:latin typeface="Segoe UI"/>
              </a:defRPr>
            </a:pPr>
            <a:r>
              <a:rPr sz="1600" b="0">
                <a:solidFill>
                  <a:srgbClr val="0F172A"/>
                </a:solidFill>
                <a:latin typeface="Segoe UI"/>
              </a:rPr>
              <a:t>• Indexación: tuple selector</a:t>
            </a:r>
          </a:p>
          <a:p>
            <a:pPr>
              <a:spcAft>
                <a:spcPts val="1000"/>
              </a:spcAft>
              <a:defRPr sz="1600" b="0">
                <a:solidFill>
                  <a:srgbClr val="0F172A"/>
                </a:solidFill>
                <a:latin typeface="Segoe UI"/>
              </a:defRPr>
            </a:pPr>
            <a:r>
              <a:rPr sz="1600" b="0">
                <a:solidFill>
                  <a:srgbClr val="0F172A"/>
                </a:solidFill>
                <a:latin typeface="Segoe UI"/>
              </a:rPr>
              <a:t>• stack / unstack — pivot rápido</a:t>
            </a:r>
          </a:p>
          <a:p>
            <a:pPr>
              <a:spcAft>
                <a:spcPts val="1000"/>
              </a:spcAft>
              <a:defRPr sz="1600" b="0">
                <a:solidFill>
                  <a:srgbClr val="0F172A"/>
                </a:solidFill>
                <a:latin typeface="Segoe UI"/>
              </a:defRPr>
            </a:pPr>
            <a:r>
              <a:rPr sz="1600" b="0">
                <a:solidFill>
                  <a:srgbClr val="0F172A"/>
                </a:solidFill>
                <a:latin typeface="Segoe UI"/>
              </a:rPr>
              <a:t>• groupby + multiindex resultado</a:t>
            </a:r>
          </a:p>
          <a:p>
            <a:pPr>
              <a:spcAft>
                <a:spcPts val="1000"/>
              </a:spcAft>
              <a:defRPr sz="1600" b="0">
                <a:solidFill>
                  <a:srgbClr val="0F172A"/>
                </a:solidFill>
                <a:latin typeface="Segoe UI"/>
              </a:defRPr>
            </a:pPr>
            <a:r>
              <a:rPr sz="1600" b="0">
                <a:solidFill>
                  <a:srgbClr val="0F172A"/>
                </a:solidFill>
                <a:latin typeface="Segoe UI"/>
              </a:rPr>
              <a:t>• Cuándo aplanar</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026 — Pandas: MultiIndex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026 — Pandas: MultiIndex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Construye desde tuplas.</a:t>
            </a:r>
          </a:p>
          <a:p>
            <a:pPr>
              <a:spcAft>
                <a:spcPts val="800"/>
              </a:spcAft>
              <a:defRPr sz="1400" b="0">
                <a:solidFill>
                  <a:srgbClr val="0F172A"/>
                </a:solidFill>
                <a:latin typeface="Segoe UI"/>
              </a:defRPr>
            </a:pPr>
            <a:r>
              <a:rPr sz="1400" b="0">
                <a:solidFill>
                  <a:srgbClr val="0F172A"/>
                </a:solidFill>
                <a:latin typeface="Segoe UI"/>
              </a:rPr>
              <a:t>• from_product.</a:t>
            </a:r>
          </a:p>
          <a:p>
            <a:pPr>
              <a:spcAft>
                <a:spcPts val="800"/>
              </a:spcAft>
              <a:defRPr sz="1400" b="0">
                <a:solidFill>
                  <a:srgbClr val="0F172A"/>
                </a:solidFill>
                <a:latin typeface="Segoe UI"/>
              </a:defRPr>
            </a:pPr>
            <a:r>
              <a:rPr sz="1400" b="0">
                <a:solidFill>
                  <a:srgbClr val="0F172A"/>
                </a:solidFill>
                <a:latin typeface="Segoe UI"/>
              </a:rPr>
              <a:t>• Acceso jerárquico.</a:t>
            </a:r>
          </a:p>
          <a:p>
            <a:pPr>
              <a:spcAft>
                <a:spcPts val="800"/>
              </a:spcAft>
              <a:defRPr sz="1400" b="0">
                <a:solidFill>
                  <a:srgbClr val="0F172A"/>
                </a:solidFill>
                <a:latin typeface="Segoe UI"/>
              </a:defRPr>
            </a:pPr>
            <a:r>
              <a:rPr sz="1400" b="0">
                <a:solidFill>
                  <a:srgbClr val="0F172A"/>
                </a:solidFill>
                <a:latin typeface="Segoe UI"/>
              </a:rPr>
              <a:t>• unstack y stack.</a:t>
            </a:r>
          </a:p>
          <a:p>
            <a:pPr>
              <a:spcAft>
                <a:spcPts val="800"/>
              </a:spcAft>
              <a:defRPr sz="1400" b="0">
                <a:solidFill>
                  <a:srgbClr val="0F172A"/>
                </a:solidFill>
                <a:latin typeface="Segoe UI"/>
              </a:defRPr>
            </a:pPr>
            <a:r>
              <a:rPr sz="1400" b="0">
                <a:solidFill>
                  <a:srgbClr val="0F172A"/>
                </a:solidFill>
                <a:latin typeface="Segoe UI"/>
              </a:rPr>
              <a:t>• groupby produce MultiIndex.</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ventas trimestre×región sintéticas (4 trimestres × 3 regiones × 2 años): (a) construir con from_product; (b) acceso a un trimestre específico; (c) total por región (unstack); (d) groupby penguins por (species, sex) → MultiIndex → aplanar.</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027 — Pandas: concat, merge, join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027 — Pandas: concat, merge, join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3.7–3.8 Combining Datasets: Concat/Merge.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junte datasets correctamente: concat (apilado simple), merge (SQL-style joins) y join (atajo por index). El error más común es usar el join equivocado y obtener duplicados o filas perdidas — saber qué tipo (inner/left/right/outer) evita semanas de bugs.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Apilar DataFrames con pd.concat por filas (axis=0) o columnas (axis=1).</a:t>
            </a:r>
          </a:p>
          <a:p>
            <a:pPr>
              <a:spcAft>
                <a:spcPts val="800"/>
              </a:spcAft>
              <a:defRPr sz="1400" b="0">
                <a:solidFill>
                  <a:srgbClr val="0F172A"/>
                </a:solidFill>
                <a:latin typeface="Segoe UI"/>
              </a:defRPr>
            </a:pPr>
            <a:r>
              <a:rPr sz="1400" b="0">
                <a:solidFill>
                  <a:srgbClr val="0F172A"/>
                </a:solidFill>
                <a:latin typeface="Segoe UI"/>
              </a:rPr>
              <a:t>• Hacer joins SQL-style con pd.merge: inner, left, right, outer, cross.</a:t>
            </a:r>
          </a:p>
          <a:p>
            <a:pPr>
              <a:spcAft>
                <a:spcPts val="800"/>
              </a:spcAft>
              <a:defRPr sz="1400" b="0">
                <a:solidFill>
                  <a:srgbClr val="0F172A"/>
                </a:solidFill>
                <a:latin typeface="Segoe UI"/>
              </a:defRPr>
            </a:pPr>
            <a:r>
              <a:rPr sz="1400" b="0">
                <a:solidFill>
                  <a:srgbClr val="0F172A"/>
                </a:solidFill>
                <a:latin typeface="Segoe UI"/>
              </a:rPr>
              <a:t>• Diagnosticar duplicados generados por merge con validate='one_to_one' | 'many_to_one' | ….</a:t>
            </a:r>
          </a:p>
          <a:p>
            <a:pPr>
              <a:spcAft>
                <a:spcPts val="800"/>
              </a:spcAft>
              <a:defRPr sz="1400" b="0">
                <a:solidFill>
                  <a:srgbClr val="0F172A"/>
                </a:solidFill>
                <a:latin typeface="Segoe UI"/>
              </a:defRPr>
            </a:pPr>
            <a:r>
              <a:rPr sz="1400" b="0">
                <a:solidFill>
                  <a:srgbClr val="0F172A"/>
                </a:solidFill>
                <a:latin typeface="Segoe UI"/>
              </a:rPr>
              <a:t>• Joinear por index con df1.join(df2) (atajo para merge por index).</a:t>
            </a:r>
          </a:p>
          <a:p>
            <a:pPr>
              <a:spcAft>
                <a:spcPts val="800"/>
              </a:spcAft>
              <a:defRPr sz="1400" b="0">
                <a:solidFill>
                  <a:srgbClr val="0F172A"/>
                </a:solidFill>
                <a:latin typeface="Segoe UI"/>
              </a:defRPr>
            </a:pPr>
            <a:r>
              <a:rPr sz="1400" b="0">
                <a:solidFill>
                  <a:srgbClr val="0F172A"/>
                </a:solidFill>
                <a:latin typeface="Segoe UI"/>
              </a:rPr>
              <a:t>• Usar indicator=True para saber qué filas vienen de cada lado del merge.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027 — Pandas: concat, merge, join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concat axis=0 (filas) vs axis=1 (columnas)</a:t>
            </a:r>
          </a:p>
          <a:p>
            <a:pPr>
              <a:spcAft>
                <a:spcPts val="1000"/>
              </a:spcAft>
              <a:defRPr sz="1600" b="0">
                <a:solidFill>
                  <a:srgbClr val="0F172A"/>
                </a:solidFill>
                <a:latin typeface="Segoe UI"/>
              </a:defRPr>
            </a:pPr>
            <a:r>
              <a:rPr sz="1600" b="0">
                <a:solidFill>
                  <a:srgbClr val="0F172A"/>
                </a:solidFill>
                <a:latin typeface="Segoe UI"/>
              </a:rPr>
              <a:t>• merge how='inner'/'left'/'right'/'outer'</a:t>
            </a:r>
          </a:p>
          <a:p>
            <a:pPr>
              <a:spcAft>
                <a:spcPts val="1000"/>
              </a:spcAft>
              <a:defRPr sz="1600" b="0">
                <a:solidFill>
                  <a:srgbClr val="0F172A"/>
                </a:solidFill>
                <a:latin typeface="Segoe UI"/>
              </a:defRPr>
            </a:pPr>
            <a:r>
              <a:rPr sz="1600" b="0">
                <a:solidFill>
                  <a:srgbClr val="0F172A"/>
                </a:solidFill>
                <a:latin typeface="Segoe UI"/>
              </a:rPr>
              <a:t>• on vs left_on/right_on</a:t>
            </a:r>
          </a:p>
          <a:p>
            <a:pPr>
              <a:spcAft>
                <a:spcPts val="1000"/>
              </a:spcAft>
              <a:defRPr sz="1600" b="0">
                <a:solidFill>
                  <a:srgbClr val="0F172A"/>
                </a:solidFill>
                <a:latin typeface="Segoe UI"/>
              </a:defRPr>
            </a:pPr>
            <a:r>
              <a:rPr sz="1600" b="0">
                <a:solidFill>
                  <a:srgbClr val="0F172A"/>
                </a:solidFill>
                <a:latin typeface="Segoe UI"/>
              </a:rPr>
              <a:t>• validate para evitar duplicación</a:t>
            </a:r>
          </a:p>
          <a:p>
            <a:pPr>
              <a:spcAft>
                <a:spcPts val="1000"/>
              </a:spcAft>
              <a:defRPr sz="1600" b="0">
                <a:solidFill>
                  <a:srgbClr val="0F172A"/>
                </a:solidFill>
                <a:latin typeface="Segoe UI"/>
              </a:defRPr>
            </a:pPr>
            <a:r>
              <a:rPr sz="1600" b="0">
                <a:solidFill>
                  <a:srgbClr val="0F172A"/>
                </a:solidFill>
                <a:latin typeface="Segoe UI"/>
              </a:rPr>
              <a:t>• indicator=True para auditar</a:t>
            </a:r>
          </a:p>
          <a:p>
            <a:pPr>
              <a:spcAft>
                <a:spcPts val="1000"/>
              </a:spcAft>
              <a:defRPr sz="1600" b="0">
                <a:solidFill>
                  <a:srgbClr val="0F172A"/>
                </a:solidFill>
                <a:latin typeface="Segoe UI"/>
              </a:defRPr>
            </a:pPr>
            <a:r>
              <a:rPr sz="1600" b="0">
                <a:solidFill>
                  <a:srgbClr val="0F172A"/>
                </a:solidFill>
                <a:latin typeface="Segoe UI"/>
              </a:rPr>
              <a:t>• df.join por index</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027 — Pandas: concat, merge, join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027 — Pandas: concat, merge, join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Concat por filas.</a:t>
            </a:r>
          </a:p>
          <a:p>
            <a:pPr>
              <a:spcAft>
                <a:spcPts val="800"/>
              </a:spcAft>
              <a:defRPr sz="1400" b="0">
                <a:solidFill>
                  <a:srgbClr val="0F172A"/>
                </a:solidFill>
                <a:latin typeface="Segoe UI"/>
              </a:defRPr>
            </a:pPr>
            <a:r>
              <a:rPr sz="1400" b="0">
                <a:solidFill>
                  <a:srgbClr val="0F172A"/>
                </a:solidFill>
                <a:latin typeface="Segoe UI"/>
              </a:rPr>
              <a:t>• Inner join.</a:t>
            </a:r>
          </a:p>
          <a:p>
            <a:pPr>
              <a:spcAft>
                <a:spcPts val="800"/>
              </a:spcAft>
              <a:defRPr sz="1400" b="0">
                <a:solidFill>
                  <a:srgbClr val="0F172A"/>
                </a:solidFill>
                <a:latin typeface="Segoe UI"/>
              </a:defRPr>
            </a:pPr>
            <a:r>
              <a:rPr sz="1400" b="0">
                <a:solidFill>
                  <a:srgbClr val="0F172A"/>
                </a:solidFill>
                <a:latin typeface="Segoe UI"/>
              </a:rPr>
              <a:t>• Left join.</a:t>
            </a:r>
          </a:p>
          <a:p>
            <a:pPr>
              <a:spcAft>
                <a:spcPts val="800"/>
              </a:spcAft>
              <a:defRPr sz="1400" b="0">
                <a:solidFill>
                  <a:srgbClr val="0F172A"/>
                </a:solidFill>
                <a:latin typeface="Segoe UI"/>
              </a:defRPr>
            </a:pPr>
            <a:r>
              <a:rPr sz="1400" b="0">
                <a:solidFill>
                  <a:srgbClr val="0F172A"/>
                </a:solidFill>
                <a:latin typeface="Segoe UI"/>
              </a:rPr>
              <a:t>• Detectar duplicados.</a:t>
            </a:r>
          </a:p>
          <a:p>
            <a:pPr>
              <a:spcAft>
                <a:spcPts val="800"/>
              </a:spcAft>
              <a:defRPr sz="1400" b="0">
                <a:solidFill>
                  <a:srgbClr val="0F172A"/>
                </a:solidFill>
                <a:latin typeface="Segoe UI"/>
              </a:defRPr>
            </a:pPr>
            <a:r>
              <a:rPr sz="1400" b="0">
                <a:solidFill>
                  <a:srgbClr val="0F172A"/>
                </a:solidFill>
                <a:latin typeface="Segoe UI"/>
              </a:rPr>
              <a:t>• indicator=True.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clientes (10) + órdenes (25): (a) 4 tipos de join con _merge indicator; (b) tabla con conteo de cada tipo; (c) detección de relación con validate; (d) join por index con df.join.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028 — Pandas: groupby (split-apply-combine)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028 — Pandas: groupby (split-apply-combine)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3.9 Aggregation and Grouping.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aplique el patrón split-apply-combine que es el patrón fundamental de análisis tabular: dividir por grupo, aplicar función, recombinar. Saber elegir entre agg, transform, filter y apply — cada uno tiene su rol.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Agrupar por una o más columnas con groupby y aplicar agregaciones (sum, mean, count).</a:t>
            </a:r>
          </a:p>
          <a:p>
            <a:pPr>
              <a:spcAft>
                <a:spcPts val="800"/>
              </a:spcAft>
              <a:defRPr sz="1400" b="0">
                <a:solidFill>
                  <a:srgbClr val="0F172A"/>
                </a:solidFill>
                <a:latin typeface="Segoe UI"/>
              </a:defRPr>
            </a:pPr>
            <a:r>
              <a:rPr sz="1400" b="0">
                <a:solidFill>
                  <a:srgbClr val="0F172A"/>
                </a:solidFill>
                <a:latin typeface="Segoe UI"/>
              </a:rPr>
              <a:t>• Usar agg con dict para distintas funciones por columna: agg({'a': 'sum', 'b': 'mean'}).</a:t>
            </a:r>
          </a:p>
          <a:p>
            <a:pPr>
              <a:spcAft>
                <a:spcPts val="800"/>
              </a:spcAft>
              <a:defRPr sz="1400" b="0">
                <a:solidFill>
                  <a:srgbClr val="0F172A"/>
                </a:solidFill>
                <a:latin typeface="Segoe UI"/>
              </a:defRPr>
            </a:pPr>
            <a:r>
              <a:rPr sz="1400" b="0">
                <a:solidFill>
                  <a:srgbClr val="0F172A"/>
                </a:solidFill>
                <a:latin typeface="Segoe UI"/>
              </a:rPr>
              <a:t>• transform para preservar la shape original (broadcasting del estadístico de grupo).</a:t>
            </a:r>
          </a:p>
          <a:p>
            <a:pPr>
              <a:spcAft>
                <a:spcPts val="800"/>
              </a:spcAft>
              <a:defRPr sz="1400" b="0">
                <a:solidFill>
                  <a:srgbClr val="0F172A"/>
                </a:solidFill>
                <a:latin typeface="Segoe UI"/>
              </a:defRPr>
            </a:pPr>
            <a:r>
              <a:rPr sz="1400" b="0">
                <a:solidFill>
                  <a:srgbClr val="0F172A"/>
                </a:solidFill>
                <a:latin typeface="Segoe UI"/>
              </a:rPr>
              <a:t>• filter para filtrar grupos enteros según condición.</a:t>
            </a:r>
          </a:p>
          <a:p>
            <a:pPr>
              <a:spcAft>
                <a:spcPts val="800"/>
              </a:spcAft>
              <a:defRPr sz="1400" b="0">
                <a:solidFill>
                  <a:srgbClr val="0F172A"/>
                </a:solidFill>
                <a:latin typeface="Segoe UI"/>
              </a:defRPr>
            </a:pPr>
            <a:r>
              <a:rPr sz="1400" b="0">
                <a:solidFill>
                  <a:srgbClr val="0F172A"/>
                </a:solidFill>
                <a:latin typeface="Segoe UI"/>
              </a:rPr>
              <a:t>• Diferenciar los 4 métodos del groupby y elegir el correcto.</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028 — Pandas: groupby (split-apply-combine)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Split-apply-combine: el patrón</a:t>
            </a:r>
          </a:p>
          <a:p>
            <a:pPr>
              <a:spcAft>
                <a:spcPts val="1000"/>
              </a:spcAft>
              <a:defRPr sz="1600" b="0">
                <a:solidFill>
                  <a:srgbClr val="0F172A"/>
                </a:solidFill>
                <a:latin typeface="Segoe UI"/>
              </a:defRPr>
            </a:pPr>
            <a:r>
              <a:rPr sz="1600" b="0">
                <a:solidFill>
                  <a:srgbClr val="0F172A"/>
                </a:solidFill>
                <a:latin typeface="Segoe UI"/>
              </a:rPr>
              <a:t>• agg (= aggregate)</a:t>
            </a:r>
          </a:p>
          <a:p>
            <a:pPr>
              <a:spcAft>
                <a:spcPts val="1000"/>
              </a:spcAft>
              <a:defRPr sz="1600" b="0">
                <a:solidFill>
                  <a:srgbClr val="0F172A"/>
                </a:solidFill>
                <a:latin typeface="Segoe UI"/>
              </a:defRPr>
            </a:pPr>
            <a:r>
              <a:rPr sz="1600" b="0">
                <a:solidFill>
                  <a:srgbClr val="0F172A"/>
                </a:solidFill>
                <a:latin typeface="Segoe UI"/>
              </a:rPr>
              <a:t>• transform</a:t>
            </a:r>
          </a:p>
          <a:p>
            <a:pPr>
              <a:spcAft>
                <a:spcPts val="1000"/>
              </a:spcAft>
              <a:defRPr sz="1600" b="0">
                <a:solidFill>
                  <a:srgbClr val="0F172A"/>
                </a:solidFill>
                <a:latin typeface="Segoe UI"/>
              </a:defRPr>
            </a:pPr>
            <a:r>
              <a:rPr sz="1600" b="0">
                <a:solidFill>
                  <a:srgbClr val="0F172A"/>
                </a:solidFill>
                <a:latin typeface="Segoe UI"/>
              </a:rPr>
              <a:t>• filter</a:t>
            </a:r>
          </a:p>
          <a:p>
            <a:pPr>
              <a:spcAft>
                <a:spcPts val="1000"/>
              </a:spcAft>
              <a:defRPr sz="1600" b="0">
                <a:solidFill>
                  <a:srgbClr val="0F172A"/>
                </a:solidFill>
                <a:latin typeface="Segoe UI"/>
              </a:defRPr>
            </a:pPr>
            <a:r>
              <a:rPr sz="1600" b="0">
                <a:solidFill>
                  <a:srgbClr val="0F172A"/>
                </a:solidFill>
                <a:latin typeface="Segoe UI"/>
              </a:rPr>
              <a:t>• apply: el más flexible, el más lento</a:t>
            </a:r>
          </a:p>
          <a:p>
            <a:pPr>
              <a:spcAft>
                <a:spcPts val="1000"/>
              </a:spcAft>
              <a:defRPr sz="1600" b="0">
                <a:solidFill>
                  <a:srgbClr val="0F172A"/>
                </a:solidFill>
                <a:latin typeface="Segoe UI"/>
              </a:defRPr>
            </a:pPr>
            <a:r>
              <a:rPr sz="1600" b="0">
                <a:solidFill>
                  <a:srgbClr val="0F172A"/>
                </a:solidFill>
                <a:latin typeface="Segoe UI"/>
              </a:rPr>
              <a:t>• Múltiples columnas de agrupación</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028 — Pandas: groupby (split-apply-combine)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Mini-dataset penguin-like</a:t>
            </a:r>
          </a:p>
          <a:p>
            <a:pPr>
              <a:defRPr sz="1200" b="0">
                <a:solidFill>
                  <a:srgbClr val="F8FAFC"/>
                </a:solidFill>
                <a:latin typeface="Courier New"/>
              </a:defRPr>
            </a:pPr>
            <a:r>
              <a:rPr sz="1200" b="0">
                <a:solidFill>
                  <a:srgbClr val="F8FAFC"/>
                </a:solidFill>
                <a:latin typeface="Courier New"/>
              </a:rPr>
              <a:t>df = pd.DataFrame({</a:t>
            </a:r>
          </a:p>
          <a:p>
            <a:pPr>
              <a:defRPr sz="1200" b="0">
                <a:solidFill>
                  <a:srgbClr val="F8FAFC"/>
                </a:solidFill>
                <a:latin typeface="Courier New"/>
              </a:defRPr>
            </a:pPr>
            <a:r>
              <a:rPr sz="1200" b="0">
                <a:solidFill>
                  <a:srgbClr val="F8FAFC"/>
                </a:solidFill>
                <a:latin typeface="Courier New"/>
              </a:rPr>
              <a:t>    'species': ['Adelie']*5 + ['Chinstrap']*4 + ['Gentoo']*5,</a:t>
            </a:r>
          </a:p>
          <a:p>
            <a:pPr>
              <a:defRPr sz="1200" b="0">
                <a:solidFill>
                  <a:srgbClr val="F8FAFC"/>
                </a:solidFill>
                <a:latin typeface="Courier New"/>
              </a:defRPr>
            </a:pPr>
            <a:r>
              <a:rPr sz="1200" b="0">
                <a:solidFill>
                  <a:srgbClr val="F8FAFC"/>
                </a:solidFill>
                <a:latin typeface="Courier New"/>
              </a:rPr>
              <a:t>    'sex'    : ['M','F','M','F','M', 'M','F','M','F',  'M','F','M','F','M'],</a:t>
            </a:r>
          </a:p>
          <a:p>
            <a:pPr>
              <a:defRPr sz="1200" b="0">
                <a:solidFill>
                  <a:srgbClr val="F8FAFC"/>
                </a:solidFill>
                <a:latin typeface="Courier New"/>
              </a:defRPr>
            </a:pPr>
            <a:r>
              <a:rPr sz="1200" b="0">
                <a:solidFill>
                  <a:srgbClr val="F8FAFC"/>
                </a:solidFill>
                <a:latin typeface="Courier New"/>
              </a:rPr>
              <a:t>    'masa'   : [3750, 3800, 3650, 3900, 3700,  3500, 3400, 3600, 3550,  5050, 4800, 5200, 4900, 5100],</a:t>
            </a:r>
          </a:p>
          <a:p>
            <a:pPr>
              <a:defRPr sz="1200" b="0">
                <a:solidFill>
                  <a:srgbClr val="F8FAFC"/>
                </a:solidFill>
                <a:latin typeface="Courier New"/>
              </a:defRPr>
            </a:pPr>
            <a:r>
              <a:rPr sz="1200" b="0">
                <a:solidFill>
                  <a:srgbClr val="F8FAFC"/>
                </a:solidFill>
                <a:latin typeface="Courier New"/>
              </a:rPr>
              <a:t>    'pico'   : [39.1, 39.5, 40.3, 38.8, 39.3,  46.5, 46.0, 46.8, 45.9,  48.6, 47.5, 49.0, 48.2, 48.8],</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print(df.head())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028 — Pandas: groupby (split-apply-combine)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Agg básico.</a:t>
            </a:r>
          </a:p>
          <a:p>
            <a:pPr>
              <a:spcAft>
                <a:spcPts val="800"/>
              </a:spcAft>
              <a:defRPr sz="1400" b="0">
                <a:solidFill>
                  <a:srgbClr val="0F172A"/>
                </a:solidFill>
                <a:latin typeface="Segoe UI"/>
              </a:defRPr>
            </a:pPr>
            <a:r>
              <a:rPr sz="1400" b="0">
                <a:solidFill>
                  <a:srgbClr val="0F172A"/>
                </a:solidFill>
                <a:latin typeface="Segoe UI"/>
              </a:rPr>
              <a:t>• Agg con dict.</a:t>
            </a:r>
          </a:p>
          <a:p>
            <a:pPr>
              <a:spcAft>
                <a:spcPts val="800"/>
              </a:spcAft>
              <a:defRPr sz="1400" b="0">
                <a:solidFill>
                  <a:srgbClr val="0F172A"/>
                </a:solidFill>
                <a:latin typeface="Segoe UI"/>
              </a:defRPr>
            </a:pPr>
            <a:r>
              <a:rPr sz="1400" b="0">
                <a:solidFill>
                  <a:srgbClr val="0F172A"/>
                </a:solidFill>
                <a:latin typeface="Segoe UI"/>
              </a:rPr>
              <a:t>• Transform: z-score por grupo.</a:t>
            </a:r>
          </a:p>
          <a:p>
            <a:pPr>
              <a:spcAft>
                <a:spcPts val="800"/>
              </a:spcAft>
              <a:defRPr sz="1400" b="0">
                <a:solidFill>
                  <a:srgbClr val="0F172A"/>
                </a:solidFill>
                <a:latin typeface="Segoe UI"/>
              </a:defRPr>
            </a:pPr>
            <a:r>
              <a:rPr sz="1400" b="0">
                <a:solidFill>
                  <a:srgbClr val="0F172A"/>
                </a:solidFill>
                <a:latin typeface="Segoe UI"/>
              </a:rPr>
              <a:t>• Filter: solo grupos grandes.</a:t>
            </a:r>
          </a:p>
          <a:p>
            <a:pPr>
              <a:spcAft>
                <a:spcPts val="800"/>
              </a:spcAft>
              <a:defRPr sz="1400" b="0">
                <a:solidFill>
                  <a:srgbClr val="0F172A"/>
                </a:solidFill>
                <a:latin typeface="Segoe UI"/>
              </a:defRPr>
            </a:pPr>
            <a:r>
              <a:rPr sz="1400" b="0">
                <a:solidFill>
                  <a:srgbClr val="0F172A"/>
                </a:solidFill>
                <a:latin typeface="Segoe UI"/>
              </a:rPr>
              <a:t>• Apply custom.</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penguins: (a) agg múltiple por (species, sex); (b) transform z-score por species; (c) filter species con n&gt;50; (d) apply que devuelva el top-3 más pesado por species; (e) tabla groupby.size() por sex × island.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029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029 — Pandas: pivot tables y crosstab</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029 — Pandas: pivot tables y crosstab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3.10 Pivot Tables.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construya tablas pivot (estilo Excel) con pivot_table y tablas de contingencia con crosstab. Son atajos sobre groupby pensados para resumen×visualización rápida.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pivot_table con index, columns, values, aggfunc.</a:t>
            </a:r>
          </a:p>
          <a:p>
            <a:pPr>
              <a:spcAft>
                <a:spcPts val="800"/>
              </a:spcAft>
              <a:defRPr sz="1400" b="0">
                <a:solidFill>
                  <a:srgbClr val="0F172A"/>
                </a:solidFill>
                <a:latin typeface="Segoe UI"/>
              </a:defRPr>
            </a:pPr>
            <a:r>
              <a:rPr sz="1400" b="0">
                <a:solidFill>
                  <a:srgbClr val="0F172A"/>
                </a:solidFill>
                <a:latin typeface="Segoe UI"/>
              </a:rPr>
              <a:t>• Añadir totales con margins=True.</a:t>
            </a:r>
          </a:p>
          <a:p>
            <a:pPr>
              <a:spcAft>
                <a:spcPts val="800"/>
              </a:spcAft>
              <a:defRPr sz="1400" b="0">
                <a:solidFill>
                  <a:srgbClr val="0F172A"/>
                </a:solidFill>
                <a:latin typeface="Segoe UI"/>
              </a:defRPr>
            </a:pPr>
            <a:r>
              <a:rPr sz="1400" b="0">
                <a:solidFill>
                  <a:srgbClr val="0F172A"/>
                </a:solidFill>
                <a:latin typeface="Segoe UI"/>
              </a:rPr>
              <a:t>• Construir tablas de contingencia con pd.crosstab y normalizar (normalize='all'/'index'/'columns').</a:t>
            </a:r>
          </a:p>
          <a:p>
            <a:pPr>
              <a:spcAft>
                <a:spcPts val="800"/>
              </a:spcAft>
              <a:defRPr sz="1400" b="0">
                <a:solidFill>
                  <a:srgbClr val="0F172A"/>
                </a:solidFill>
                <a:latin typeface="Segoe UI"/>
              </a:defRPr>
            </a:pPr>
            <a:r>
              <a:rPr sz="1400" b="0">
                <a:solidFill>
                  <a:srgbClr val="0F172A"/>
                </a:solidFill>
                <a:latin typeface="Segoe UI"/>
              </a:rPr>
              <a:t>• Diferenciar pivot (sin agregar) vs pivot_table (con aggfunc, agrega duplicados).</a:t>
            </a:r>
          </a:p>
          <a:p>
            <a:pPr>
              <a:spcAft>
                <a:spcPts val="800"/>
              </a:spcAft>
              <a:defRPr sz="1400" b="0">
                <a:solidFill>
                  <a:srgbClr val="0F172A"/>
                </a:solidFill>
                <a:latin typeface="Segoe UI"/>
              </a:defRPr>
            </a:pPr>
            <a:r>
              <a:rPr sz="1400" b="0">
                <a:solidFill>
                  <a:srgbClr val="0F172A"/>
                </a:solidFill>
                <a:latin typeface="Segoe UI"/>
              </a:rPr>
              <a:t>• Visualizar una pivot como heatmap básico para confirmar patrones.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029 — Pandas: pivot tables y crosstab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pivot vs pivot_table</a:t>
            </a:r>
          </a:p>
          <a:p>
            <a:pPr>
              <a:spcAft>
                <a:spcPts val="1000"/>
              </a:spcAft>
              <a:defRPr sz="1600" b="0">
                <a:solidFill>
                  <a:srgbClr val="0F172A"/>
                </a:solidFill>
                <a:latin typeface="Segoe UI"/>
              </a:defRPr>
            </a:pPr>
            <a:r>
              <a:rPr sz="1600" b="0">
                <a:solidFill>
                  <a:srgbClr val="0F172A"/>
                </a:solidFill>
                <a:latin typeface="Segoe UI"/>
              </a:rPr>
              <a:t>• Parámetros: index, columns, values, aggfunc</a:t>
            </a:r>
          </a:p>
          <a:p>
            <a:pPr>
              <a:spcAft>
                <a:spcPts val="1000"/>
              </a:spcAft>
              <a:defRPr sz="1600" b="0">
                <a:solidFill>
                  <a:srgbClr val="0F172A"/>
                </a:solidFill>
                <a:latin typeface="Segoe UI"/>
              </a:defRPr>
            </a:pPr>
            <a:r>
              <a:rPr sz="1600" b="0">
                <a:solidFill>
                  <a:srgbClr val="0F172A"/>
                </a:solidFill>
                <a:latin typeface="Segoe UI"/>
              </a:rPr>
              <a:t>• margins=True: totales</a:t>
            </a:r>
          </a:p>
          <a:p>
            <a:pPr>
              <a:spcAft>
                <a:spcPts val="1000"/>
              </a:spcAft>
              <a:defRPr sz="1600" b="0">
                <a:solidFill>
                  <a:srgbClr val="0F172A"/>
                </a:solidFill>
                <a:latin typeface="Segoe UI"/>
              </a:defRPr>
            </a:pPr>
            <a:r>
              <a:rPr sz="1600" b="0">
                <a:solidFill>
                  <a:srgbClr val="0F172A"/>
                </a:solidFill>
                <a:latin typeface="Segoe UI"/>
              </a:rPr>
              <a:t>• crosstab: tabla de contingencia</a:t>
            </a:r>
          </a:p>
          <a:p>
            <a:pPr>
              <a:spcAft>
                <a:spcPts val="1000"/>
              </a:spcAft>
              <a:defRPr sz="1600" b="0">
                <a:solidFill>
                  <a:srgbClr val="0F172A"/>
                </a:solidFill>
                <a:latin typeface="Segoe UI"/>
              </a:defRPr>
            </a:pPr>
            <a:r>
              <a:rPr sz="1600" b="0">
                <a:solidFill>
                  <a:srgbClr val="0F172A"/>
                </a:solidFill>
                <a:latin typeface="Segoe UI"/>
              </a:rPr>
              <a:t>• normalize en crosstab</a:t>
            </a:r>
          </a:p>
          <a:p>
            <a:pPr>
              <a:spcAft>
                <a:spcPts val="1000"/>
              </a:spcAft>
              <a:defRPr sz="1600" b="0">
                <a:solidFill>
                  <a:srgbClr val="0F172A"/>
                </a:solidFill>
                <a:latin typeface="Segoe UI"/>
              </a:defRPr>
            </a:pPr>
            <a:r>
              <a:rPr sz="1600" b="0">
                <a:solidFill>
                  <a:srgbClr val="0F172A"/>
                </a:solidFill>
                <a:latin typeface="Segoe UI"/>
              </a:rPr>
              <a:t>• Pivot → heatmap</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029 — Pandas: pivot tables y crosstab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df = pd.DataFrame({</a:t>
            </a:r>
          </a:p>
          <a:p>
            <a:pPr>
              <a:defRPr sz="1200" b="0">
                <a:solidFill>
                  <a:srgbClr val="F8FAFC"/>
                </a:solidFill>
                <a:latin typeface="Courier New"/>
              </a:defRPr>
            </a:pPr>
            <a:r>
              <a:rPr sz="1200" b="0">
                <a:solidFill>
                  <a:srgbClr val="F8FAFC"/>
                </a:solidFill>
                <a:latin typeface="Courier New"/>
              </a:rPr>
              <a:t>    'species': np.repeat(['Adelie', 'Chinstrap', 'Gentoo'], [12, 8, 10]),</a:t>
            </a:r>
          </a:p>
          <a:p>
            <a:pPr>
              <a:defRPr sz="1200" b="0">
                <a:solidFill>
                  <a:srgbClr val="F8FAFC"/>
                </a:solidFill>
                <a:latin typeface="Courier New"/>
              </a:defRPr>
            </a:pPr>
            <a:r>
              <a:rPr sz="1200" b="0">
                <a:solidFill>
                  <a:srgbClr val="F8FAFC"/>
                </a:solidFill>
                <a:latin typeface="Courier New"/>
              </a:rPr>
              <a:t>    'island' : rng.choice(['Biscoe', 'Dream', 'Torgersen'], 30),</a:t>
            </a:r>
          </a:p>
          <a:p>
            <a:pPr>
              <a:defRPr sz="1200" b="0">
                <a:solidFill>
                  <a:srgbClr val="F8FAFC"/>
                </a:solidFill>
                <a:latin typeface="Courier New"/>
              </a:defRPr>
            </a:pPr>
            <a:r>
              <a:rPr sz="1200" b="0">
                <a:solidFill>
                  <a:srgbClr val="F8FAFC"/>
                </a:solidFill>
                <a:latin typeface="Courier New"/>
              </a:rPr>
              <a:t>    'sex'    : rng.choice(['M', 'F'], 30),</a:t>
            </a:r>
          </a:p>
          <a:p>
            <a:pPr>
              <a:defRPr sz="1200" b="0">
                <a:solidFill>
                  <a:srgbClr val="F8FAFC"/>
                </a:solidFill>
                <a:latin typeface="Courier New"/>
              </a:defRPr>
            </a:pPr>
            <a:r>
              <a:rPr sz="1200" b="0">
                <a:solidFill>
                  <a:srgbClr val="F8FAFC"/>
                </a:solidFill>
                <a:latin typeface="Courier New"/>
              </a:rPr>
              <a:t>    'masa'   : rng.normal(4200, 600, 30),</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print(df.head())</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029 — Pandas: pivot tables y crosstab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Pivot básico.</a:t>
            </a:r>
          </a:p>
          <a:p>
            <a:pPr>
              <a:spcAft>
                <a:spcPts val="800"/>
              </a:spcAft>
              <a:defRPr sz="1400" b="0">
                <a:solidFill>
                  <a:srgbClr val="0F172A"/>
                </a:solidFill>
                <a:latin typeface="Segoe UI"/>
              </a:defRPr>
            </a:pPr>
            <a:r>
              <a:rPr sz="1400" b="0">
                <a:solidFill>
                  <a:srgbClr val="0F172A"/>
                </a:solidFill>
                <a:latin typeface="Segoe UI"/>
              </a:rPr>
              <a:t>• Pivot con totales.</a:t>
            </a:r>
          </a:p>
          <a:p>
            <a:pPr>
              <a:spcAft>
                <a:spcPts val="800"/>
              </a:spcAft>
              <a:defRPr sz="1400" b="0">
                <a:solidFill>
                  <a:srgbClr val="0F172A"/>
                </a:solidFill>
                <a:latin typeface="Segoe UI"/>
              </a:defRPr>
            </a:pPr>
            <a:r>
              <a:rPr sz="1400" b="0">
                <a:solidFill>
                  <a:srgbClr val="0F172A"/>
                </a:solidFill>
                <a:latin typeface="Segoe UI"/>
              </a:rPr>
              <a:t>• Crosstab counts.</a:t>
            </a:r>
          </a:p>
          <a:p>
            <a:pPr>
              <a:spcAft>
                <a:spcPts val="800"/>
              </a:spcAft>
              <a:defRPr sz="1400" b="0">
                <a:solidFill>
                  <a:srgbClr val="0F172A"/>
                </a:solidFill>
                <a:latin typeface="Segoe UI"/>
              </a:defRPr>
            </a:pPr>
            <a:r>
              <a:rPr sz="1400" b="0">
                <a:solidFill>
                  <a:srgbClr val="0F172A"/>
                </a:solidFill>
                <a:latin typeface="Segoe UI"/>
              </a:rPr>
              <a:t>• Crosstab normalizado.</a:t>
            </a:r>
          </a:p>
          <a:p>
            <a:pPr>
              <a:spcAft>
                <a:spcPts val="800"/>
              </a:spcAft>
              <a:defRPr sz="1400" b="0">
                <a:solidFill>
                  <a:srgbClr val="0F172A"/>
                </a:solidFill>
                <a:latin typeface="Segoe UI"/>
              </a:defRPr>
            </a:pPr>
            <a:r>
              <a:rPr sz="1400" b="0">
                <a:solidFill>
                  <a:srgbClr val="0F172A"/>
                </a:solidFill>
                <a:latin typeface="Segoe UI"/>
              </a:rPr>
              <a:t>• Pivot → heatmap.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penguins: (a) pivot_table (species × island, mean body_mass); (b) crosstab species × island, count y normalizado; (c) verificación de totales con margins; (d) heatmap simple del pivot.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030 — Pandas: operaciones vectorizadas sobre strings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030 — Pandas: operaciones vectorizadas sobre strings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3.11 Vectorized String Operations.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limpie y transforme columnas de texto sin caer en apply(lambda x: ...), usando el accessor .str de pandas — vectorizado, NaN-aware, con métodos análogos a los de Python (lower, strip, replace, split, contains, regex).</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.str para aplicar operaciones de string vectorizadamente a una Series.</a:t>
            </a:r>
          </a:p>
          <a:p>
            <a:pPr>
              <a:spcAft>
                <a:spcPts val="800"/>
              </a:spcAft>
              <a:defRPr sz="1400" b="0">
                <a:solidFill>
                  <a:srgbClr val="0F172A"/>
                </a:solidFill>
                <a:latin typeface="Segoe UI"/>
              </a:defRPr>
            </a:pPr>
            <a:r>
              <a:rPr sz="1400" b="0">
                <a:solidFill>
                  <a:srgbClr val="0F172A"/>
                </a:solidFill>
                <a:latin typeface="Segoe UI"/>
              </a:rPr>
              <a:t>• Manejar NaN automáticamente (los métodos .str propagan NaN sin error).</a:t>
            </a:r>
          </a:p>
          <a:p>
            <a:pPr>
              <a:spcAft>
                <a:spcPts val="800"/>
              </a:spcAft>
              <a:defRPr sz="1400" b="0">
                <a:solidFill>
                  <a:srgbClr val="0F172A"/>
                </a:solidFill>
                <a:latin typeface="Segoe UI"/>
              </a:defRPr>
            </a:pPr>
            <a:r>
              <a:rPr sz="1400" b="0">
                <a:solidFill>
                  <a:srgbClr val="0F172A"/>
                </a:solidFill>
                <a:latin typeface="Segoe UI"/>
              </a:rPr>
              <a:t>• Aplicar regex con .str.contains(patron), .str.extract(...), .str.replace(...).</a:t>
            </a:r>
          </a:p>
          <a:p>
            <a:pPr>
              <a:spcAft>
                <a:spcPts val="800"/>
              </a:spcAft>
              <a:defRPr sz="1400" b="0">
                <a:solidFill>
                  <a:srgbClr val="0F172A"/>
                </a:solidFill>
                <a:latin typeface="Segoe UI"/>
              </a:defRPr>
            </a:pPr>
            <a:r>
              <a:rPr sz="1400" b="0">
                <a:solidFill>
                  <a:srgbClr val="0F172A"/>
                </a:solidFill>
                <a:latin typeface="Segoe UI"/>
              </a:rPr>
              <a:t>• Dividir y unir con .str.split(sep, expand=True) que produce un DataFrame.</a:t>
            </a:r>
          </a:p>
          <a:p>
            <a:pPr>
              <a:spcAft>
                <a:spcPts val="800"/>
              </a:spcAft>
              <a:defRPr sz="1400" b="0">
                <a:solidFill>
                  <a:srgbClr val="0F172A"/>
                </a:solidFill>
                <a:latin typeface="Segoe UI"/>
              </a:defRPr>
            </a:pPr>
            <a:r>
              <a:rPr sz="1400" b="0">
                <a:solidFill>
                  <a:srgbClr val="0F172A"/>
                </a:solidFill>
                <a:latin typeface="Segoe UI"/>
              </a:rPr>
              <a:t>• Trabajar con categorical cuando el cardinalidad es baja (memoria y speedup).</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030 — Pandas: operaciones vectorizadas sobre strings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Accessor .str</a:t>
            </a:r>
          </a:p>
          <a:p>
            <a:pPr>
              <a:spcAft>
                <a:spcPts val="1000"/>
              </a:spcAft>
              <a:defRPr sz="1600" b="0">
                <a:solidFill>
                  <a:srgbClr val="0F172A"/>
                </a:solidFill>
                <a:latin typeface="Segoe UI"/>
              </a:defRPr>
            </a:pPr>
            <a:r>
              <a:rPr sz="1600" b="0">
                <a:solidFill>
                  <a:srgbClr val="0F172A"/>
                </a:solidFill>
                <a:latin typeface="Segoe UI"/>
              </a:rPr>
              <a:t>• Casos típicos: lower, strip, replace, contains</a:t>
            </a:r>
          </a:p>
          <a:p>
            <a:pPr>
              <a:spcAft>
                <a:spcPts val="1000"/>
              </a:spcAft>
              <a:defRPr sz="1600" b="0">
                <a:solidFill>
                  <a:srgbClr val="0F172A"/>
                </a:solidFill>
                <a:latin typeface="Segoe UI"/>
              </a:defRPr>
            </a:pPr>
            <a:r>
              <a:rPr sz="1600" b="0">
                <a:solidFill>
                  <a:srgbClr val="0F172A"/>
                </a:solidFill>
                <a:latin typeface="Segoe UI"/>
              </a:rPr>
              <a:t>• Regex con .str.extract y grupos nombrados</a:t>
            </a:r>
          </a:p>
          <a:p>
            <a:pPr>
              <a:spcAft>
                <a:spcPts val="1000"/>
              </a:spcAft>
              <a:defRPr sz="1600" b="0">
                <a:solidFill>
                  <a:srgbClr val="0F172A"/>
                </a:solidFill>
                <a:latin typeface="Segoe UI"/>
              </a:defRPr>
            </a:pPr>
            <a:r>
              <a:rPr sz="1600" b="0">
                <a:solidFill>
                  <a:srgbClr val="0F172A"/>
                </a:solidFill>
                <a:latin typeface="Segoe UI"/>
              </a:rPr>
              <a:t>• .str.split(expand=True) → DataFrame</a:t>
            </a:r>
          </a:p>
          <a:p>
            <a:pPr>
              <a:spcAft>
                <a:spcPts val="1000"/>
              </a:spcAft>
              <a:defRPr sz="1600" b="0">
                <a:solidFill>
                  <a:srgbClr val="0F172A"/>
                </a:solidFill>
                <a:latin typeface="Segoe UI"/>
              </a:defRPr>
            </a:pPr>
            <a:r>
              <a:rPr sz="1600" b="0">
                <a:solidFill>
                  <a:srgbClr val="0F172A"/>
                </a:solidFill>
                <a:latin typeface="Segoe UI"/>
              </a:rPr>
              <a:t>• dtype='string' (nullable) vs object</a:t>
            </a:r>
          </a:p>
          <a:p>
            <a:pPr>
              <a:spcAft>
                <a:spcPts val="1000"/>
              </a:spcAft>
              <a:defRPr sz="1600" b="0">
                <a:solidFill>
                  <a:srgbClr val="0F172A"/>
                </a:solidFill>
                <a:latin typeface="Segoe UI"/>
              </a:defRPr>
            </a:pPr>
            <a:r>
              <a:rPr sz="1600" b="0">
                <a:solidFill>
                  <a:srgbClr val="0F172A"/>
                </a:solidFill>
                <a:latin typeface="Segoe UI"/>
              </a:rPr>
              <a:t>• Categorical para baja cardinalidad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030 — Pandas: operaciones vectorizadas sobre strings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numpy as np</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030 — Pandas: operaciones vectorizadas sobre strings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Lower + strip.</a:t>
            </a:r>
          </a:p>
          <a:p>
            <a:pPr>
              <a:spcAft>
                <a:spcPts val="800"/>
              </a:spcAft>
              <a:defRPr sz="1400" b="0">
                <a:solidFill>
                  <a:srgbClr val="0F172A"/>
                </a:solidFill>
                <a:latin typeface="Segoe UI"/>
              </a:defRPr>
            </a:pPr>
            <a:r>
              <a:rPr sz="1400" b="0">
                <a:solidFill>
                  <a:srgbClr val="0F172A"/>
                </a:solidFill>
                <a:latin typeface="Segoe UI"/>
              </a:rPr>
              <a:t>• Extract dominio.</a:t>
            </a:r>
          </a:p>
          <a:p>
            <a:pPr>
              <a:spcAft>
                <a:spcPts val="800"/>
              </a:spcAft>
              <a:defRPr sz="1400" b="0">
                <a:solidFill>
                  <a:srgbClr val="0F172A"/>
                </a:solidFill>
                <a:latin typeface="Segoe UI"/>
              </a:defRPr>
            </a:pPr>
            <a:r>
              <a:rPr sz="1400" b="0">
                <a:solidFill>
                  <a:srgbClr val="0F172A"/>
                </a:solidFill>
                <a:latin typeface="Segoe UI"/>
              </a:rPr>
              <a:t>• Split nombre completo.</a:t>
            </a:r>
          </a:p>
          <a:p>
            <a:pPr>
              <a:spcAft>
                <a:spcPts val="800"/>
              </a:spcAft>
              <a:defRPr sz="1400" b="0">
                <a:solidFill>
                  <a:srgbClr val="0F172A"/>
                </a:solidFill>
                <a:latin typeface="Segoe UI"/>
              </a:defRPr>
            </a:pPr>
            <a:r>
              <a:rPr sz="1400" b="0">
                <a:solidFill>
                  <a:srgbClr val="0F172A"/>
                </a:solidFill>
                <a:latin typeface="Segoe UI"/>
              </a:rPr>
              <a:t>• Filtro por contains.</a:t>
            </a:r>
          </a:p>
          <a:p>
            <a:pPr>
              <a:spcAft>
                <a:spcPts val="800"/>
              </a:spcAft>
              <a:defRPr sz="1400" b="0">
                <a:solidFill>
                  <a:srgbClr val="0F172A"/>
                </a:solidFill>
                <a:latin typeface="Segoe UI"/>
              </a:defRPr>
            </a:pPr>
            <a:r>
              <a:rPr sz="1400" b="0">
                <a:solidFill>
                  <a:srgbClr val="0F172A"/>
                </a:solidFill>
                <a:latin typeface="Segoe UI"/>
              </a:rPr>
              <a:t>• Categorical.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CSV sintético de contactos (nombre, email, teléfono): (a) normalizar email (lower+strip); (b) extraer dominio; (c) separar nombre/apellido; (d) flag de email corporativo (no gmail/yahoo/hotmail); (e) convertir país a Categorical y reportar memoria.</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031 — Pandas: series de tiempo, resampling, rolling</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031 — Pandas: series de tiempo, resampling, rolling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3.12 Working with Time Series. · Duración estimada: 90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trabaje con datos temporales correctamente: parsear fechas, indexar por DatetimeIndex, hacer resampling (cambiar la frecuencia) y rolling (ventanas móviles para tendencias).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Parsear strings de fecha con pd.to_datetime(..., format=..., errors=...).</a:t>
            </a:r>
          </a:p>
          <a:p>
            <a:pPr>
              <a:spcAft>
                <a:spcPts val="800"/>
              </a:spcAft>
              <a:defRPr sz="1400" b="0">
                <a:solidFill>
                  <a:srgbClr val="0F172A"/>
                </a:solidFill>
                <a:latin typeface="Segoe UI"/>
              </a:defRPr>
            </a:pPr>
            <a:r>
              <a:rPr sz="1400" b="0">
                <a:solidFill>
                  <a:srgbClr val="0F172A"/>
                </a:solidFill>
                <a:latin typeface="Segoe UI"/>
              </a:rPr>
              <a:t>• Indexar por DatetimeIndex y slicear con strings de fecha (df.loc['2024-01':'2024-03']).</a:t>
            </a:r>
          </a:p>
          <a:p>
            <a:pPr>
              <a:spcAft>
                <a:spcPts val="800"/>
              </a:spcAft>
              <a:defRPr sz="1400" b="0">
                <a:solidFill>
                  <a:srgbClr val="0F172A"/>
                </a:solidFill>
                <a:latin typeface="Segoe UI"/>
              </a:defRPr>
            </a:pPr>
            <a:r>
              <a:rPr sz="1400" b="0">
                <a:solidFill>
                  <a:srgbClr val="0F172A"/>
                </a:solidFill>
                <a:latin typeface="Segoe UI"/>
              </a:rPr>
              <a:t>• Resamplear a otra frecuencia: df.resample('M').sum(), 'W', 'D', 'H'.</a:t>
            </a:r>
          </a:p>
          <a:p>
            <a:pPr>
              <a:spcAft>
                <a:spcPts val="800"/>
              </a:spcAft>
              <a:defRPr sz="1400" b="0">
                <a:solidFill>
                  <a:srgbClr val="0F172A"/>
                </a:solidFill>
                <a:latin typeface="Segoe UI"/>
              </a:defRPr>
            </a:pPr>
            <a:r>
              <a:rPr sz="1400" b="0">
                <a:solidFill>
                  <a:srgbClr val="0F172A"/>
                </a:solidFill>
                <a:latin typeface="Segoe UI"/>
              </a:rPr>
              <a:t>• Aplicar ventanas móviles con rolling(window).mean() para suavizar tendencias.</a:t>
            </a:r>
          </a:p>
          <a:p>
            <a:pPr>
              <a:spcAft>
                <a:spcPts val="800"/>
              </a:spcAft>
              <a:defRPr sz="1400" b="0">
                <a:solidFill>
                  <a:srgbClr val="0F172A"/>
                </a:solidFill>
                <a:latin typeface="Segoe UI"/>
              </a:defRPr>
            </a:pPr>
            <a:r>
              <a:rPr sz="1400" b="0">
                <a:solidFill>
                  <a:srgbClr val="0F172A"/>
                </a:solidFill>
                <a:latin typeface="Segoe UI"/>
              </a:rPr>
              <a:t>• Manejar zonas horarias con tz_localize y tz_convert.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031 — Pandas: series de tiempo, resampling, rolling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pd.to_datetime con errors='coerce'</a:t>
            </a:r>
          </a:p>
          <a:p>
            <a:pPr>
              <a:spcAft>
                <a:spcPts val="1000"/>
              </a:spcAft>
              <a:defRPr sz="1600" b="0">
                <a:solidFill>
                  <a:srgbClr val="0F172A"/>
                </a:solidFill>
                <a:latin typeface="Segoe UI"/>
              </a:defRPr>
            </a:pPr>
            <a:r>
              <a:rPr sz="1600" b="0">
                <a:solidFill>
                  <a:srgbClr val="0F172A"/>
                </a:solidFill>
                <a:latin typeface="Segoe UI"/>
              </a:rPr>
              <a:t>• DatetimeIndex y slicing por fecha</a:t>
            </a:r>
          </a:p>
          <a:p>
            <a:pPr>
              <a:spcAft>
                <a:spcPts val="1000"/>
              </a:spcAft>
              <a:defRPr sz="1600" b="0">
                <a:solidFill>
                  <a:srgbClr val="0F172A"/>
                </a:solidFill>
                <a:latin typeface="Segoe UI"/>
              </a:defRPr>
            </a:pPr>
            <a:r>
              <a:rPr sz="1600" b="0">
                <a:solidFill>
                  <a:srgbClr val="0F172A"/>
                </a:solidFill>
                <a:latin typeface="Segoe UI"/>
              </a:rPr>
              <a:t>• Resampling: 'D', 'W', 'M', 'Q', 'Y', 'H'</a:t>
            </a:r>
          </a:p>
          <a:p>
            <a:pPr>
              <a:spcAft>
                <a:spcPts val="1000"/>
              </a:spcAft>
              <a:defRPr sz="1600" b="0">
                <a:solidFill>
                  <a:srgbClr val="0F172A"/>
                </a:solidFill>
                <a:latin typeface="Segoe UI"/>
              </a:defRPr>
            </a:pPr>
            <a:r>
              <a:rPr sz="1600" b="0">
                <a:solidFill>
                  <a:srgbClr val="0F172A"/>
                </a:solidFill>
                <a:latin typeface="Segoe UI"/>
              </a:rPr>
              <a:t>• Rolling windows</a:t>
            </a:r>
          </a:p>
          <a:p>
            <a:pPr>
              <a:spcAft>
                <a:spcPts val="1000"/>
              </a:spcAft>
              <a:defRPr sz="1600" b="0">
                <a:solidFill>
                  <a:srgbClr val="0F172A"/>
                </a:solidFill>
                <a:latin typeface="Segoe UI"/>
              </a:defRPr>
            </a:pPr>
            <a:r>
              <a:rPr sz="1600" b="0">
                <a:solidFill>
                  <a:srgbClr val="0F172A"/>
                </a:solidFill>
                <a:latin typeface="Segoe UI"/>
              </a:rPr>
              <a:t>• shift y diff</a:t>
            </a:r>
          </a:p>
          <a:p>
            <a:pPr>
              <a:spcAft>
                <a:spcPts val="1000"/>
              </a:spcAft>
              <a:defRPr sz="1600" b="0">
                <a:solidFill>
                  <a:srgbClr val="0F172A"/>
                </a:solidFill>
                <a:latin typeface="Segoe UI"/>
              </a:defRPr>
            </a:pPr>
            <a:r>
              <a:rPr sz="1600" b="0">
                <a:solidFill>
                  <a:srgbClr val="0F172A"/>
                </a:solidFill>
                <a:latin typeface="Segoe UI"/>
              </a:rPr>
              <a:t>• Timezones: localize → convert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031 — Pandas: series de tiempo, resampling, rolling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fechas = pd.date_range('2024-01-01', '2025-12-31', freq='D')</a:t>
            </a:r>
          </a:p>
          <a:p>
            <a:pPr>
              <a:defRPr sz="1200" b="0">
                <a:solidFill>
                  <a:srgbClr val="F8FAFC"/>
                </a:solidFill>
                <a:latin typeface="Courier New"/>
              </a:defRPr>
            </a:pPr>
            <a:r>
              <a:rPr sz="1200" b="0">
                <a:solidFill>
                  <a:srgbClr val="F8FAFC"/>
                </a:solidFill>
                <a:latin typeface="Courier New"/>
              </a:rPr>
              <a:t>ventas = pd.Series(</a:t>
            </a:r>
          </a:p>
          <a:p>
            <a:pPr>
              <a:defRPr sz="1200" b="0">
                <a:solidFill>
                  <a:srgbClr val="F8FAFC"/>
                </a:solidFill>
                <a:latin typeface="Courier New"/>
              </a:defRPr>
            </a:pPr>
            <a:r>
              <a:rPr sz="1200" b="0">
                <a:solidFill>
                  <a:srgbClr val="F8FAFC"/>
                </a:solidFill>
                <a:latin typeface="Courier New"/>
              </a:rPr>
              <a:t>    rng.normal(1000, 200, len(fechas)).cumsum().clip(min=0).astype(int),</a:t>
            </a:r>
          </a:p>
          <a:p>
            <a:pPr>
              <a:defRPr sz="1200" b="0">
                <a:solidFill>
                  <a:srgbClr val="F8FAFC"/>
                </a:solidFill>
                <a:latin typeface="Courier New"/>
              </a:defRPr>
            </a:pPr>
            <a:r>
              <a:rPr sz="1200" b="0">
                <a:solidFill>
                  <a:srgbClr val="F8FAFC"/>
                </a:solidFill>
                <a:latin typeface="Courier New"/>
              </a:rPr>
              <a:t>    index=fechas,</a:t>
            </a:r>
          </a:p>
          <a:p>
            <a:pPr>
              <a:defRPr sz="1200" b="0">
                <a:solidFill>
                  <a:srgbClr val="F8FAFC"/>
                </a:solidFill>
                <a:latin typeface="Courier New"/>
              </a:defRPr>
            </a:pPr>
            <a:r>
              <a:rPr sz="1200" b="0">
                <a:solidFill>
                  <a:srgbClr val="F8FAFC"/>
                </a:solidFill>
                <a:latin typeface="Courier New"/>
              </a:rPr>
              <a:t>    name='ventas',</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print(ventas.head())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031 — Pandas: series de tiempo, resampling, rolling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Parseo robusto.</a:t>
            </a:r>
          </a:p>
          <a:p>
            <a:pPr>
              <a:spcAft>
                <a:spcPts val="800"/>
              </a:spcAft>
              <a:defRPr sz="1400" b="0">
                <a:solidFill>
                  <a:srgbClr val="0F172A"/>
                </a:solidFill>
                <a:latin typeface="Segoe UI"/>
              </a:defRPr>
            </a:pPr>
            <a:r>
              <a:rPr sz="1400" b="0">
                <a:solidFill>
                  <a:srgbClr val="0F172A"/>
                </a:solidFill>
                <a:latin typeface="Segoe UI"/>
              </a:rPr>
              <a:t>• Slice por fecha.</a:t>
            </a:r>
          </a:p>
          <a:p>
            <a:pPr>
              <a:spcAft>
                <a:spcPts val="800"/>
              </a:spcAft>
              <a:defRPr sz="1400" b="0">
                <a:solidFill>
                  <a:srgbClr val="0F172A"/>
                </a:solidFill>
                <a:latin typeface="Segoe UI"/>
              </a:defRPr>
            </a:pPr>
            <a:r>
              <a:rPr sz="1400" b="0">
                <a:solidFill>
                  <a:srgbClr val="0F172A"/>
                </a:solidFill>
                <a:latin typeface="Segoe UI"/>
              </a:rPr>
              <a:t>• Resample diaria → mensual.</a:t>
            </a:r>
          </a:p>
          <a:p>
            <a:pPr>
              <a:spcAft>
                <a:spcPts val="800"/>
              </a:spcAft>
              <a:defRPr sz="1400" b="0">
                <a:solidFill>
                  <a:srgbClr val="0F172A"/>
                </a:solidFill>
                <a:latin typeface="Segoe UI"/>
              </a:defRPr>
            </a:pPr>
            <a:r>
              <a:rPr sz="1400" b="0">
                <a:solidFill>
                  <a:srgbClr val="0F172A"/>
                </a:solidFill>
                <a:latin typeface="Segoe UI"/>
              </a:rPr>
              <a:t>• Rolling 7-day mean.</a:t>
            </a:r>
          </a:p>
          <a:p>
            <a:pPr>
              <a:spcAft>
                <a:spcPts val="800"/>
              </a:spcAft>
              <a:defRPr sz="1400" b="0">
                <a:solidFill>
                  <a:srgbClr val="0F172A"/>
                </a:solidFill>
                <a:latin typeface="Segoe UI"/>
              </a:defRPr>
            </a:pPr>
            <a:r>
              <a:rPr sz="1400" b="0">
                <a:solidFill>
                  <a:srgbClr val="0F172A"/>
                </a:solidFill>
                <a:latin typeface="Segoe UI"/>
              </a:rPr>
              <a:t>• shift para lag feature.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serie sintética de 2 años: (a) parseo robusto; (b) slice por trimestre; (c) resample a mensual con sum y mean; (d) rolling 7/30 días con plot; (e) diff y pct_change para variación.</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032 — Pandas: eval y query</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032 — Pandas: eval y query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3 § 3.13 High-Performance Pandas: eval and query. · Duración estimada: 45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conozca df.eval y df.query — herramientas para expresar operaciones y filtros con sintaxis tipo SQL en strings. Útiles para legibilidad en cadenas largas y, en datasets muy grandes, también más rápidos (usan numexpr).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Filtrar con df.query("col &gt; 10 and other == 'X'").</a:t>
            </a:r>
          </a:p>
          <a:p>
            <a:pPr>
              <a:spcAft>
                <a:spcPts val="800"/>
              </a:spcAft>
              <a:defRPr sz="1400" b="0">
                <a:solidFill>
                  <a:srgbClr val="0F172A"/>
                </a:solidFill>
                <a:latin typeface="Segoe UI"/>
              </a:defRPr>
            </a:pPr>
            <a:r>
              <a:rPr sz="1400" b="0">
                <a:solidFill>
                  <a:srgbClr val="0F172A"/>
                </a:solidFill>
                <a:latin typeface="Segoe UI"/>
              </a:rPr>
              <a:t>• Calcular columnas nuevas con df.eval('z = x + y') o df.eval('x * 2').</a:t>
            </a:r>
          </a:p>
          <a:p>
            <a:pPr>
              <a:spcAft>
                <a:spcPts val="800"/>
              </a:spcAft>
              <a:defRPr sz="1400" b="0">
                <a:solidFill>
                  <a:srgbClr val="0F172A"/>
                </a:solidFill>
                <a:latin typeface="Segoe UI"/>
              </a:defRPr>
            </a:pPr>
            <a:r>
              <a:rPr sz="1400" b="0">
                <a:solidFill>
                  <a:srgbClr val="0F172A"/>
                </a:solidFill>
                <a:latin typeface="Segoe UI"/>
              </a:rPr>
              <a:t>• Referenciar variables locales en query/eval con prefijo @: df.query('x &gt; @threshold').</a:t>
            </a:r>
          </a:p>
          <a:p>
            <a:pPr>
              <a:spcAft>
                <a:spcPts val="800"/>
              </a:spcAft>
              <a:defRPr sz="1400" b="0">
                <a:solidFill>
                  <a:srgbClr val="0F172A"/>
                </a:solidFill>
                <a:latin typeface="Segoe UI"/>
              </a:defRPr>
            </a:pPr>
            <a:r>
              <a:rPr sz="1400" b="0">
                <a:solidFill>
                  <a:srgbClr val="0F172A"/>
                </a:solidFill>
                <a:latin typeface="Segoe UI"/>
              </a:rPr>
              <a:t>• Decidir cuándo usar query (legibilidad en cadenas largas) vs filtro tradicional (mejor autocompletado IDE).</a:t>
            </a:r>
          </a:p>
          <a:p>
            <a:pPr>
              <a:spcAft>
                <a:spcPts val="800"/>
              </a:spcAft>
              <a:defRPr sz="1400" b="0">
                <a:solidFill>
                  <a:srgbClr val="0F172A"/>
                </a:solidFill>
                <a:latin typeface="Segoe UI"/>
              </a:defRPr>
            </a:pPr>
            <a:r>
              <a:rPr sz="1400" b="0">
                <a:solidFill>
                  <a:srgbClr val="0F172A"/>
                </a:solidFill>
                <a:latin typeface="Segoe UI"/>
              </a:rPr>
              <a:t>• Saber que el speedup real solo aparece con datasets &gt;10k filas y expresiones complejas.</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032 — Pandas: eval y query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df.query — sintaxis tipo SQL</a:t>
            </a:r>
          </a:p>
          <a:p>
            <a:pPr>
              <a:spcAft>
                <a:spcPts val="1000"/>
              </a:spcAft>
              <a:defRPr sz="1600" b="0">
                <a:solidFill>
                  <a:srgbClr val="0F172A"/>
                </a:solidFill>
                <a:latin typeface="Segoe UI"/>
              </a:defRPr>
            </a:pPr>
            <a:r>
              <a:rPr sz="1600" b="0">
                <a:solidFill>
                  <a:srgbClr val="0F172A"/>
                </a:solidFill>
                <a:latin typeface="Segoe UI"/>
              </a:rPr>
              <a:t>• df.eval — expresiones aritméticas</a:t>
            </a:r>
          </a:p>
          <a:p>
            <a:pPr>
              <a:spcAft>
                <a:spcPts val="1000"/>
              </a:spcAft>
              <a:defRPr sz="1600" b="0">
                <a:solidFill>
                  <a:srgbClr val="0F172A"/>
                </a:solidFill>
                <a:latin typeface="Segoe UI"/>
              </a:defRPr>
            </a:pPr>
            <a:r>
              <a:rPr sz="1600" b="0">
                <a:solidFill>
                  <a:srgbClr val="0F172A"/>
                </a:solidFill>
                <a:latin typeface="Segoe UI"/>
              </a:rPr>
              <a:t>• Variables locales con @</a:t>
            </a:r>
          </a:p>
          <a:p>
            <a:pPr>
              <a:spcAft>
                <a:spcPts val="1000"/>
              </a:spcAft>
              <a:defRPr sz="1600" b="0">
                <a:solidFill>
                  <a:srgbClr val="0F172A"/>
                </a:solidFill>
                <a:latin typeface="Segoe UI"/>
              </a:defRPr>
            </a:pPr>
            <a:r>
              <a:rPr sz="1600" b="0">
                <a:solidFill>
                  <a:srgbClr val="0F172A"/>
                </a:solidFill>
                <a:latin typeface="Segoe UI"/>
              </a:rPr>
              <a:t>• numexpr para speedup</a:t>
            </a:r>
          </a:p>
          <a:p>
            <a:pPr>
              <a:spcAft>
                <a:spcPts val="1000"/>
              </a:spcAft>
              <a:defRPr sz="1600" b="0">
                <a:solidFill>
                  <a:srgbClr val="0F172A"/>
                </a:solidFill>
                <a:latin typeface="Segoe UI"/>
              </a:defRPr>
            </a:pPr>
            <a:r>
              <a:rPr sz="1600" b="0">
                <a:solidFill>
                  <a:srgbClr val="0F172A"/>
                </a:solidFill>
                <a:latin typeface="Segoe UI"/>
              </a:rPr>
              <a:t>• Trade-off: legibilidad vs introspección IDE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032 — Pandas: eval y query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032 — Pandas: eval y query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Filter tradicional vs query.</a:t>
            </a:r>
          </a:p>
          <a:p>
            <a:pPr>
              <a:spcAft>
                <a:spcPts val="800"/>
              </a:spcAft>
              <a:defRPr sz="1400" b="0">
                <a:solidFill>
                  <a:srgbClr val="0F172A"/>
                </a:solidFill>
                <a:latin typeface="Segoe UI"/>
              </a:defRPr>
            </a:pPr>
            <a:r>
              <a:rPr sz="1400" b="0">
                <a:solidFill>
                  <a:srgbClr val="0F172A"/>
                </a:solidFill>
                <a:latin typeface="Segoe UI"/>
              </a:rPr>
              <a:t>• Variable local.</a:t>
            </a:r>
          </a:p>
          <a:p>
            <a:pPr>
              <a:spcAft>
                <a:spcPts val="800"/>
              </a:spcAft>
              <a:defRPr sz="1400" b="0">
                <a:solidFill>
                  <a:srgbClr val="0F172A"/>
                </a:solidFill>
                <a:latin typeface="Segoe UI"/>
              </a:defRPr>
            </a:pPr>
            <a:r>
              <a:rPr sz="1400" b="0">
                <a:solidFill>
                  <a:srgbClr val="0F172A"/>
                </a:solidFill>
                <a:latin typeface="Segoe UI"/>
              </a:rPr>
              <a:t>• eval para nueva columna.</a:t>
            </a:r>
          </a:p>
          <a:p>
            <a:pPr>
              <a:spcAft>
                <a:spcPts val="800"/>
              </a:spcAft>
              <a:defRPr sz="1400" b="0">
                <a:solidFill>
                  <a:srgbClr val="0F172A"/>
                </a:solidFill>
                <a:latin typeface="Segoe UI"/>
              </a:defRPr>
            </a:pPr>
            <a:r>
              <a:rPr sz="1400" b="0">
                <a:solidFill>
                  <a:srgbClr val="0F172A"/>
                </a:solidFill>
                <a:latin typeface="Segoe UI"/>
              </a:rPr>
              <a:t>• Benchmark.</a:t>
            </a:r>
          </a:p>
          <a:p>
            <a:pPr>
              <a:spcAft>
                <a:spcPts val="800"/>
              </a:spcAft>
              <a:defRPr sz="1400" b="0">
                <a:solidFill>
                  <a:srgbClr val="0F172A"/>
                </a:solidFill>
                <a:latin typeface="Segoe UI"/>
              </a:defRPr>
            </a:pPr>
            <a:r>
              <a:rPr sz="1400" b="0">
                <a:solidFill>
                  <a:srgbClr val="0F172A"/>
                </a:solidFill>
                <a:latin typeface="Segoe UI"/>
              </a:rPr>
              <a:t>• eval con inplace=False vs cálculo tradicional df['total'] = df['precio'] * df['cantidad'] — verifica resultados idénticos.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df 100k filas: (a) 3 filtros equivalentes (mask, query, query con @var); (b) eval para crear 2 columnas derivadas; (c) benchmark tradicional vs query en N=100k y N=1M; (d) reporte: cuándo conviene cada uno.</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033 — Polars: DataFrames modernos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033 — Polars: DataFrames modernos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Polars User Guide + Vink (2020+) ·  Duración estimada: 75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Polars — la librería de DataFrames moderna (Rust + Arrow) que está reemplazando a pandas en proyectos donde performance importa. Aprender su API (similar a pandas pero con expresiones lazy y paralelismo automático) y entender cuándo conviene Polars sobre pandas (datasets &gt; 1 GB, pipelines con muchas transformaciones, multi-core).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Instalar Polars (pip install polars) y leer datos con pl.read_csv, pl.read_parquet, pl.scan_csv (lazy).</a:t>
            </a:r>
          </a:p>
          <a:p>
            <a:pPr>
              <a:spcAft>
                <a:spcPts val="800"/>
              </a:spcAft>
              <a:defRPr sz="1400" b="0">
                <a:solidFill>
                  <a:srgbClr val="0F172A"/>
                </a:solidFill>
                <a:latin typeface="Segoe UI"/>
              </a:defRPr>
            </a:pPr>
            <a:r>
              <a:rPr sz="1400" b="0">
                <a:solidFill>
                  <a:srgbClr val="0F172A"/>
                </a:solidFill>
                <a:latin typeface="Segoe UI"/>
              </a:rPr>
              <a:t>• Aplicar la API de expresiones: df.select(pl.col('precio').sum()), pl.col('x').filter(pl.col('y') &gt; 0).mean().</a:t>
            </a:r>
          </a:p>
          <a:p>
            <a:pPr>
              <a:spcAft>
                <a:spcPts val="800"/>
              </a:spcAft>
              <a:defRPr sz="1400" b="0">
                <a:solidFill>
                  <a:srgbClr val="0F172A"/>
                </a:solidFill>
                <a:latin typeface="Segoe UI"/>
              </a:defRPr>
            </a:pPr>
            <a:r>
              <a:rPr sz="1400" b="0">
                <a:solidFill>
                  <a:srgbClr val="0F172A"/>
                </a:solidFill>
                <a:latin typeface="Segoe UI"/>
              </a:rPr>
              <a:t>• Diferenciar eager (DataFrame) de lazy (LazyFrame) — y por qué lazy permite optimizaciones del query planner.</a:t>
            </a:r>
          </a:p>
          <a:p>
            <a:pPr>
              <a:spcAft>
                <a:spcPts val="800"/>
              </a:spcAft>
              <a:defRPr sz="1400" b="0">
                <a:solidFill>
                  <a:srgbClr val="0F172A"/>
                </a:solidFill>
                <a:latin typeface="Segoe UI"/>
              </a:defRPr>
            </a:pPr>
            <a:r>
              <a:rPr sz="1400" b="0">
                <a:solidFill>
                  <a:srgbClr val="0F172A"/>
                </a:solidFill>
                <a:latin typeface="Segoe UI"/>
              </a:rPr>
              <a:t>• Hacer groupby, join, pivot, unpivot con sintaxis Polars y comparar con pandas.</a:t>
            </a:r>
          </a:p>
          <a:p>
            <a:pPr>
              <a:spcAft>
                <a:spcPts val="800"/>
              </a:spcAft>
              <a:defRPr sz="1400" b="0">
                <a:solidFill>
                  <a:srgbClr val="0F172A"/>
                </a:solidFill>
                <a:latin typeface="Segoe UI"/>
              </a:defRPr>
            </a:pPr>
            <a:r>
              <a:rPr sz="1400" b="0">
                <a:solidFill>
                  <a:srgbClr val="0F172A"/>
                </a:solidFill>
                <a:latin typeface="Segoe UI"/>
              </a:rPr>
              <a:t>• Reconocer el speedup típico: 5-30× sobre pandas en operaciones comunes (single-machine, multi-core).</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033 — Polars: DataFrames modernos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Polars vs pandas vs DuckDB: el panorama 2026.</a:t>
            </a:r>
          </a:p>
          <a:p>
            <a:pPr>
              <a:spcAft>
                <a:spcPts val="1000"/>
              </a:spcAft>
              <a:defRPr sz="1600" b="0">
                <a:solidFill>
                  <a:srgbClr val="0F172A"/>
                </a:solidFill>
                <a:latin typeface="Segoe UI"/>
              </a:defRPr>
            </a:pPr>
            <a:r>
              <a:rPr sz="1600" b="0">
                <a:solidFill>
                  <a:srgbClr val="0F172A"/>
                </a:solidFill>
                <a:latin typeface="Segoe UI"/>
              </a:rPr>
              <a:t>• Arrow como formato columnar in-memory.</a:t>
            </a:r>
          </a:p>
          <a:p>
            <a:pPr>
              <a:spcAft>
                <a:spcPts val="1000"/>
              </a:spcAft>
              <a:defRPr sz="1600" b="0">
                <a:solidFill>
                  <a:srgbClr val="0F172A"/>
                </a:solidFill>
                <a:latin typeface="Segoe UI"/>
              </a:defRPr>
            </a:pPr>
            <a:r>
              <a:rPr sz="1600" b="0">
                <a:solidFill>
                  <a:srgbClr val="0F172A"/>
                </a:solidFill>
                <a:latin typeface="Segoe UI"/>
              </a:rPr>
              <a:t>• Eager (DataFrame) vs Lazy (LazyFrame).</a:t>
            </a:r>
          </a:p>
          <a:p>
            <a:pPr>
              <a:spcAft>
                <a:spcPts val="1000"/>
              </a:spcAft>
              <a:defRPr sz="1600" b="0">
                <a:solidFill>
                  <a:srgbClr val="0F172A"/>
                </a:solidFill>
                <a:latin typeface="Segoe UI"/>
              </a:defRPr>
            </a:pPr>
            <a:r>
              <a:rPr sz="1600" b="0">
                <a:solidFill>
                  <a:srgbClr val="0F172A"/>
                </a:solidFill>
                <a:latin typeface="Segoe UI"/>
              </a:rPr>
              <a:t>• Expresiones encadenables: pl.col(...).operation().</a:t>
            </a:r>
          </a:p>
          <a:p>
            <a:pPr>
              <a:spcAft>
                <a:spcPts val="1000"/>
              </a:spcAft>
              <a:defRPr sz="1600" b="0">
                <a:solidFill>
                  <a:srgbClr val="0F172A"/>
                </a:solidFill>
                <a:latin typeface="Segoe UI"/>
              </a:defRPr>
            </a:pPr>
            <a:r>
              <a:rPr sz="1600" b="0">
                <a:solidFill>
                  <a:srgbClr val="0F172A"/>
                </a:solidFill>
                <a:latin typeface="Segoe UI"/>
              </a:rPr>
              <a:t>• Query optimization automática: predicate pushdown, projection pushdown.</a:t>
            </a:r>
          </a:p>
          <a:p>
            <a:pPr>
              <a:spcAft>
                <a:spcPts val="1000"/>
              </a:spcAft>
              <a:defRPr sz="1600" b="0">
                <a:solidFill>
                  <a:srgbClr val="0F172A"/>
                </a:solidFill>
                <a:latin typeface="Segoe UI"/>
              </a:defRPr>
            </a:pPr>
            <a:r>
              <a:rPr sz="1600" b="0">
                <a:solidFill>
                  <a:srgbClr val="0F172A"/>
                </a:solidFill>
                <a:latin typeface="Segoe UI"/>
              </a:rPr>
              <a:t>• Multi-threading automático.</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033 — Polars: DataFrames modernos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Comparamos Polars vs pandas sobre un dataset sintético generado en disco. Requiere: pip install polars pandas pyarrow numpy.</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time, tempfile, os</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polars as pl</a:t>
            </a:r>
          </a:p>
          <a:p>
            <a:pPr>
              <a:defRPr sz="1200" b="0">
                <a:solidFill>
                  <a:srgbClr val="F8FAFC"/>
                </a:solidFill>
                <a:latin typeface="Courier New"/>
              </a:defRPr>
            </a:pPr>
            <a:r>
              <a:rPr sz="1200" b="0">
                <a:solidFill>
                  <a:srgbClr val="F8FAFC"/>
                </a:solidFill>
                <a:latin typeface="Courier New"/>
              </a:rPr>
              <a:t>except ImportError as e:</a:t>
            </a:r>
          </a:p>
          <a:p>
            <a:pPr>
              <a:defRPr sz="1200" b="0">
                <a:solidFill>
                  <a:srgbClr val="F8FAFC"/>
                </a:solidFill>
                <a:latin typeface="Courier New"/>
              </a:defRPr>
            </a:pPr>
            <a:r>
              <a:rPr sz="1200" b="0">
                <a:solidFill>
                  <a:srgbClr val="F8FAFC"/>
                </a:solidFill>
                <a:latin typeface="Courier New"/>
              </a:rPr>
              <a:t>    raise ImportError('Instalá polars: pip install polars pyarrow') from 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print(f'polars {pl.__version__} | pandas {pd.__version__} | numpy {np.__version__}')</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033 — Polars: DataFrames modernos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Eager básico: df = pl.read_csv('archivo.csv'); df.head(); df.describe().</a:t>
            </a:r>
          </a:p>
          <a:p>
            <a:pPr>
              <a:spcAft>
                <a:spcPts val="800"/>
              </a:spcAft>
              <a:defRPr sz="1400" b="0">
                <a:solidFill>
                  <a:srgbClr val="0F172A"/>
                </a:solidFill>
                <a:latin typeface="Segoe UI"/>
              </a:defRPr>
            </a:pPr>
            <a:r>
              <a:rPr sz="1400" b="0">
                <a:solidFill>
                  <a:srgbClr val="0F172A"/>
                </a:solidFill>
                <a:latin typeface="Segoe UI"/>
              </a:rPr>
              <a:t>• Expresiones: df.filter(pl.col('precio') &gt; 100).group_by('categoria').agg(pl.col('precio').mean().alias('precio_medio')).</a:t>
            </a:r>
          </a:p>
          <a:p>
            <a:pPr>
              <a:spcAft>
                <a:spcPts val="800"/>
              </a:spcAft>
              <a:defRPr sz="1400" b="0">
                <a:solidFill>
                  <a:srgbClr val="0F172A"/>
                </a:solidFill>
                <a:latin typeface="Segoe UI"/>
              </a:defRPr>
            </a:pPr>
            <a:r>
              <a:rPr sz="1400" b="0">
                <a:solidFill>
                  <a:srgbClr val="0F172A"/>
                </a:solidFill>
                <a:latin typeface="Segoe UI"/>
              </a:rPr>
              <a:t>• Lazy + collect: lf = pl.scan_csv('big.csv').filter(...).group_by(...).agg(...); result = lf.collect().</a:t>
            </a:r>
          </a:p>
          <a:p>
            <a:pPr>
              <a:spcAft>
                <a:spcPts val="800"/>
              </a:spcAft>
              <a:defRPr sz="1400" b="0">
                <a:solidFill>
                  <a:srgbClr val="0F172A"/>
                </a:solidFill>
                <a:latin typeface="Segoe UI"/>
              </a:defRPr>
            </a:pPr>
            <a:r>
              <a:rPr sz="1400" b="0">
                <a:solidFill>
                  <a:srgbClr val="0F172A"/>
                </a:solidFill>
                <a:latin typeface="Segoe UI"/>
              </a:rPr>
              <a:t>• Query plan: lf.explain() muestra el plan optimizado.</a:t>
            </a:r>
          </a:p>
          <a:p>
            <a:pPr>
              <a:spcAft>
                <a:spcPts val="800"/>
              </a:spcAft>
              <a:defRPr sz="1400" b="0">
                <a:solidFill>
                  <a:srgbClr val="0F172A"/>
                </a:solidFill>
                <a:latin typeface="Segoe UI"/>
              </a:defRPr>
            </a:pPr>
            <a:r>
              <a:rPr sz="1400" b="0">
                <a:solidFill>
                  <a:srgbClr val="0F172A"/>
                </a:solidFill>
                <a:latin typeface="Segoe UI"/>
              </a:rPr>
              <a:t>• Pandas ↔ Polars: df.to_pandas() y pl.from_pandas(pd_df).</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en pandas y en Polars (lazy): filtrar viajes con tip_amount &gt; 5, agrupar por hora del día, calcular media y desviación.</a:t>
            </a:r>
          </a:p>
          <a:p>
            <a:pPr>
              <a:spcAft>
                <a:spcPts val="800"/>
              </a:spcAft>
              <a:defRPr sz="1500" b="0">
                <a:solidFill>
                  <a:srgbClr val="0F172A"/>
                </a:solidFill>
                <a:latin typeface="Segoe UI"/>
              </a:defRPr>
            </a:pPr>
            <a:r>
              <a:rPr sz="1500" b="0">
                <a:solidFill>
                  <a:srgbClr val="0F172A"/>
                </a:solidFill>
                <a:latin typeface="Segoe UI"/>
              </a:rPr>
              <a:t>• Medir wall time de cada uno.</a:t>
            </a:r>
          </a:p>
          <a:p>
            <a:pPr>
              <a:spcAft>
                <a:spcPts val="800"/>
              </a:spcAft>
              <a:defRPr sz="1500" b="0">
                <a:solidFill>
                  <a:srgbClr val="0F172A"/>
                </a:solidFill>
                <a:latin typeface="Segoe UI"/>
              </a:defRPr>
            </a:pPr>
            <a:r>
              <a:rPr sz="1500" b="0">
                <a:solidFill>
                  <a:srgbClr val="0F172A"/>
                </a:solidFill>
                <a:latin typeface="Segoe UI"/>
              </a:rPr>
              <a:t>• Reportar speedup.</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034 — Parquet, Arrow, PyArrow, DuckDB</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034 — Parquet, Arrow, PyArrow, DuckDB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docs Apache Arrow + DuckDB + Wes McKinney blogs.  Duración estimada: 75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el stack columnar moderno que reemplaza al CSV para datos serios: Parquet (formato en disco), Arrow (formato in-memory), PyArrow (la implementación Python), y DuckDB (SQL embebido sobre Parquet/Arrow). Saber por qué el ecosistema entero (Polars, pandas 2.x, Spark, BigQuery, DataFusion) convergió a este stack.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Leer y escribir Parquet con pandas, polars y pyarrow.</a:t>
            </a:r>
          </a:p>
          <a:p>
            <a:pPr>
              <a:spcAft>
                <a:spcPts val="800"/>
              </a:spcAft>
              <a:defRPr sz="1400" b="0">
                <a:solidFill>
                  <a:srgbClr val="0F172A"/>
                </a:solidFill>
                <a:latin typeface="Segoe UI"/>
              </a:defRPr>
            </a:pPr>
            <a:r>
              <a:rPr sz="1400" b="0">
                <a:solidFill>
                  <a:srgbClr val="0F172A"/>
                </a:solidFill>
                <a:latin typeface="Segoe UI"/>
              </a:rPr>
              <a:t>• Aplicar column pruning (leer solo columnas necesarias) y predicate pushdown (leer solo filas necesarias).</a:t>
            </a:r>
          </a:p>
          <a:p>
            <a:pPr>
              <a:spcAft>
                <a:spcPts val="800"/>
              </a:spcAft>
              <a:defRPr sz="1400" b="0">
                <a:solidFill>
                  <a:srgbClr val="0F172A"/>
                </a:solidFill>
                <a:latin typeface="Segoe UI"/>
              </a:defRPr>
            </a:pPr>
            <a:r>
              <a:rPr sz="1400" b="0">
                <a:solidFill>
                  <a:srgbClr val="0F172A"/>
                </a:solidFill>
                <a:latin typeface="Segoe UI"/>
              </a:rPr>
              <a:t>• Manejar particionado por columna (year=2024/month=03/) para queries eficientes.</a:t>
            </a:r>
          </a:p>
          <a:p>
            <a:pPr>
              <a:spcAft>
                <a:spcPts val="800"/>
              </a:spcAft>
              <a:defRPr sz="1400" b="0">
                <a:solidFill>
                  <a:srgbClr val="0F172A"/>
                </a:solidFill>
                <a:latin typeface="Segoe UI"/>
              </a:defRPr>
            </a:pPr>
            <a:r>
              <a:rPr sz="1400" b="0">
                <a:solidFill>
                  <a:srgbClr val="0F172A"/>
                </a:solidFill>
                <a:latin typeface="Segoe UI"/>
              </a:rPr>
              <a:t>• Hacer queries SQL con DuckDB directamente sobre Parquet sin cargarlo a RAM.</a:t>
            </a:r>
          </a:p>
          <a:p>
            <a:pPr>
              <a:spcAft>
                <a:spcPts val="800"/>
              </a:spcAft>
              <a:defRPr sz="1400" b="0">
                <a:solidFill>
                  <a:srgbClr val="0F172A"/>
                </a:solidFill>
                <a:latin typeface="Segoe UI"/>
              </a:defRPr>
            </a:pPr>
            <a:r>
              <a:rPr sz="1400" b="0">
                <a:solidFill>
                  <a:srgbClr val="0F172A"/>
                </a:solidFill>
                <a:latin typeface="Segoe UI"/>
              </a:rPr>
              <a:t>• Reconocer ventajas de Arrow: zero-copy entre librerías (Polars ↔ pandas ↔ Spark).</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034 — Parquet, Arrow, PyArrow, DuckDB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CSV: limitaciones (sin tipos, fila por fila, sin compresión).</a:t>
            </a:r>
          </a:p>
          <a:p>
            <a:pPr>
              <a:spcAft>
                <a:spcPts val="1000"/>
              </a:spcAft>
              <a:defRPr sz="1600" b="0">
                <a:solidFill>
                  <a:srgbClr val="0F172A"/>
                </a:solidFill>
                <a:latin typeface="Segoe UI"/>
              </a:defRPr>
            </a:pPr>
            <a:r>
              <a:rPr sz="1600" b="0">
                <a:solidFill>
                  <a:srgbClr val="0F172A"/>
                </a:solidFill>
                <a:latin typeface="Segoe UI"/>
              </a:rPr>
              <a:t>• Parquet: columnar, comprimido (snappy/zstd), tipos preservados, metadata por chunk.</a:t>
            </a:r>
          </a:p>
          <a:p>
            <a:pPr>
              <a:spcAft>
                <a:spcPts val="1000"/>
              </a:spcAft>
              <a:defRPr sz="1600" b="0">
                <a:solidFill>
                  <a:srgbClr val="0F172A"/>
                </a:solidFill>
                <a:latin typeface="Segoe UI"/>
              </a:defRPr>
            </a:pPr>
            <a:r>
              <a:rPr sz="1600" b="0">
                <a:solidFill>
                  <a:srgbClr val="0F172A"/>
                </a:solidFill>
                <a:latin typeface="Segoe UI"/>
              </a:rPr>
              <a:t>• Arrow: formato in-memory zero-copy.</a:t>
            </a:r>
          </a:p>
          <a:p>
            <a:pPr>
              <a:spcAft>
                <a:spcPts val="1000"/>
              </a:spcAft>
              <a:defRPr sz="1600" b="0">
                <a:solidFill>
                  <a:srgbClr val="0F172A"/>
                </a:solidFill>
                <a:latin typeface="Segoe UI"/>
              </a:defRPr>
            </a:pPr>
            <a:r>
              <a:rPr sz="1600" b="0">
                <a:solidFill>
                  <a:srgbClr val="0F172A"/>
                </a:solidFill>
                <a:latin typeface="Segoe UI"/>
              </a:rPr>
              <a:t>• PyArrow: API Python para ambos.</a:t>
            </a:r>
          </a:p>
          <a:p>
            <a:pPr>
              <a:spcAft>
                <a:spcPts val="1000"/>
              </a:spcAft>
              <a:defRPr sz="1600" b="0">
                <a:solidFill>
                  <a:srgbClr val="0F172A"/>
                </a:solidFill>
                <a:latin typeface="Segoe UI"/>
              </a:defRPr>
            </a:pPr>
            <a:r>
              <a:rPr sz="1600" b="0">
                <a:solidFill>
                  <a:srgbClr val="0F172A"/>
                </a:solidFill>
                <a:latin typeface="Segoe UI"/>
              </a:rPr>
              <a:t>• DuckDB: "SQLite para analytics", consulta Parquet directo.</a:t>
            </a:r>
          </a:p>
          <a:p>
            <a:pPr>
              <a:spcAft>
                <a:spcPts val="1000"/>
              </a:spcAft>
              <a:defRPr sz="1600" b="0">
                <a:solidFill>
                  <a:srgbClr val="0F172A"/>
                </a:solidFill>
                <a:latin typeface="Segoe UI"/>
              </a:defRPr>
            </a:pPr>
            <a:r>
              <a:rPr sz="1600" b="0">
                <a:solidFill>
                  <a:srgbClr val="0F172A"/>
                </a:solidFill>
                <a:latin typeface="Segoe UI"/>
              </a:rPr>
              <a:t>• Particionado tipo Hive.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034 — Parquet, Arrow, PyArrow, DuckDB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Stack columnar moderno: generamos un dataset sintético, lo escribimos en CSV vs Parquet (varias compresiones), inspeccionamos metadata, y consultamos con DuckDB sin cargar a RAM.</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time,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pyarrow as pa</a:t>
            </a:r>
          </a:p>
          <a:p>
            <a:pPr>
              <a:defRPr sz="1200" b="0">
                <a:solidFill>
                  <a:srgbClr val="F8FAFC"/>
                </a:solidFill>
                <a:latin typeface="Courier New"/>
              </a:defRPr>
            </a:pPr>
            <a:r>
              <a:rPr sz="1200" b="0">
                <a:solidFill>
                  <a:srgbClr val="F8FAFC"/>
                </a:solidFill>
                <a:latin typeface="Courier New"/>
              </a:rPr>
              <a:t>    import pyarrow.parquet as pq</a:t>
            </a:r>
          </a:p>
          <a:p>
            <a:pPr>
              <a:defRPr sz="1200" b="0">
                <a:solidFill>
                  <a:srgbClr val="F8FAFC"/>
                </a:solidFill>
                <a:latin typeface="Courier New"/>
              </a:defRPr>
            </a:pPr>
            <a:r>
              <a:rPr sz="1200" b="0">
                <a:solidFill>
                  <a:srgbClr val="F8FAFC"/>
                </a:solidFill>
                <a:latin typeface="Courier New"/>
              </a:rPr>
              <a:t>    import duckdb</a:t>
            </a:r>
          </a:p>
          <a:p>
            <a:pPr>
              <a:defRPr sz="1200" b="0">
                <a:solidFill>
                  <a:srgbClr val="F8FAFC"/>
                </a:solidFill>
                <a:latin typeface="Courier New"/>
              </a:defRPr>
            </a:pPr>
            <a:r>
              <a:rPr sz="1200" b="0">
                <a:solidFill>
                  <a:srgbClr val="F8FAFC"/>
                </a:solidFill>
                <a:latin typeface="Courier New"/>
              </a:rPr>
              <a:t>except ImportError as e:</a:t>
            </a:r>
          </a:p>
          <a:p>
            <a:pPr>
              <a:defRPr sz="1200" b="0">
                <a:solidFill>
                  <a:srgbClr val="F8FAFC"/>
                </a:solidFill>
                <a:latin typeface="Courier New"/>
              </a:defRPr>
            </a:pPr>
            <a:r>
              <a:rPr sz="1200" b="0">
                <a:solidFill>
                  <a:srgbClr val="F8FAFC"/>
                </a:solidFill>
                <a:latin typeface="Courier New"/>
              </a:rPr>
              <a:t>    raise ImportError('Instalá: pip install pyarrow duckdb pandas') from 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print(f'pyarrow {pa.__version__} | duckdb {duckdb.__version__} | pandas {pd.__version__}')</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034 — Parquet, Arrow, PyArrow, DuckDB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CSV → Parquet: leer un CSV grande con pandas, escribir Parquet con df.to_parquet('file.parquet', compression='zstd').</a:t>
            </a:r>
          </a:p>
          <a:p>
            <a:pPr>
              <a:spcAft>
                <a:spcPts val="800"/>
              </a:spcAft>
              <a:defRPr sz="1400" b="0">
                <a:solidFill>
                  <a:srgbClr val="0F172A"/>
                </a:solidFill>
                <a:latin typeface="Segoe UI"/>
              </a:defRPr>
            </a:pPr>
            <a:r>
              <a:rPr sz="1400" b="0">
                <a:solidFill>
                  <a:srgbClr val="0F172A"/>
                </a:solidFill>
                <a:latin typeface="Segoe UI"/>
              </a:rPr>
              <a:t>• Column pruning: leer SOLO 2 columnas de un Parquet de 50 columnas con pq.read_table('f.parquet', columns=['a', 'b']).</a:t>
            </a:r>
          </a:p>
          <a:p>
            <a:pPr>
              <a:spcAft>
                <a:spcPts val="800"/>
              </a:spcAft>
              <a:defRPr sz="1400" b="0">
                <a:solidFill>
                  <a:srgbClr val="0F172A"/>
                </a:solidFill>
                <a:latin typeface="Segoe UI"/>
              </a:defRPr>
            </a:pPr>
            <a:r>
              <a:rPr sz="1400" b="0">
                <a:solidFill>
                  <a:srgbClr val="0F172A"/>
                </a:solidFill>
                <a:latin typeface="Segoe UI"/>
              </a:rPr>
              <a:t>• DuckDB sobre Parquet: duckdb.sql("SELECT date, AVG(amount) FROM 'taxi/*.parquet' WHERE amount &gt; 10 GROUP BY date").df().</a:t>
            </a:r>
          </a:p>
          <a:p>
            <a:pPr>
              <a:spcAft>
                <a:spcPts val="800"/>
              </a:spcAft>
              <a:defRPr sz="1400" b="0">
                <a:solidFill>
                  <a:srgbClr val="0F172A"/>
                </a:solidFill>
                <a:latin typeface="Segoe UI"/>
              </a:defRPr>
            </a:pPr>
            <a:r>
              <a:rPr sz="1400" b="0">
                <a:solidFill>
                  <a:srgbClr val="0F172A"/>
                </a:solidFill>
                <a:latin typeface="Segoe UI"/>
              </a:rPr>
              <a:t>• Particionado: escribir df.to_parquet('out/', partition_cols=['year', 'month']).</a:t>
            </a:r>
          </a:p>
          <a:p>
            <a:pPr>
              <a:spcAft>
                <a:spcPts val="800"/>
              </a:spcAft>
              <a:defRPr sz="1400" b="0">
                <a:solidFill>
                  <a:srgbClr val="0F172A"/>
                </a:solidFill>
                <a:latin typeface="Segoe UI"/>
              </a:defRPr>
            </a:pPr>
            <a:r>
              <a:rPr sz="1400" b="0">
                <a:solidFill>
                  <a:srgbClr val="0F172A"/>
                </a:solidFill>
                <a:latin typeface="Segoe UI"/>
              </a:rPr>
              <a:t>• Arrow zero-copy: arrow_table = polars_df.to_arrow(); pandas_df = arrow_table.to_pandas().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Query con DuckDB: total tip_amount por mes para passenger_count &gt;= 2. Sin descargar todos los archivos a memoria.</a:t>
            </a:r>
          </a:p>
          <a:p>
            <a:pPr>
              <a:spcAft>
                <a:spcPts val="800"/>
              </a:spcAft>
              <a:defRPr sz="1500" b="0">
                <a:solidFill>
                  <a:srgbClr val="0F172A"/>
                </a:solidFill>
                <a:latin typeface="Segoe UI"/>
              </a:defRPr>
            </a:pPr>
            <a:r>
              <a:rPr sz="1500" b="0">
                <a:solidFill>
                  <a:srgbClr val="0F172A"/>
                </a:solidFill>
                <a:latin typeface="Segoe UI"/>
              </a:rPr>
              <a:t>• Reportar tiempo y RAM peak (psutil o resource).</a:t>
            </a:r>
          </a:p>
          <a:p>
            <a:pPr>
              <a:spcAft>
                <a:spcPts val="800"/>
              </a:spcAft>
              <a:defRPr sz="1500" b="0">
                <a:solidFill>
                  <a:srgbClr val="0F172A"/>
                </a:solidFill>
                <a:latin typeface="Segoe UI"/>
              </a:defRPr>
            </a:pPr>
            <a:r>
              <a:rPr sz="1500" b="0">
                <a:solidFill>
                  <a:srgbClr val="0F172A"/>
                </a:solidFill>
                <a:latin typeface="Segoe UI"/>
              </a:rPr>
              <a:t>• Comparar contra pandas leyendo todo y filtrando.</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035 — Matplotlib: anatomía figura/axes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035 — Matplotlib: anatomía figura/axes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4 § 4.1 Visualization with Matplotlib.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la jerarquía de objetos de matplotlib (Figure → Axes → Artist) y use la API orientada a objetos (fig, ax = plt.subplots()) en vez del interfaz pyplot estilo MATLAB. Esto es lo que separa gráficos publicables de notebooks de cualquier curso introductorio.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jerarquía Figure → Axes → Artist y por qué la API OO es preferible.</a:t>
            </a:r>
          </a:p>
          <a:p>
            <a:pPr>
              <a:spcAft>
                <a:spcPts val="800"/>
              </a:spcAft>
              <a:defRPr sz="1400" b="0">
                <a:solidFill>
                  <a:srgbClr val="0F172A"/>
                </a:solidFill>
                <a:latin typeface="Segoe UI"/>
              </a:defRPr>
            </a:pPr>
            <a:r>
              <a:rPr sz="1400" b="0">
                <a:solidFill>
                  <a:srgbClr val="0F172A"/>
                </a:solidFill>
                <a:latin typeface="Segoe UI"/>
              </a:rPr>
              <a:t>• Crear una figura con fig, ax = plt.subplots(figsize=(8, 4)) y configurar título, ejes, leyenda.</a:t>
            </a:r>
          </a:p>
          <a:p>
            <a:pPr>
              <a:spcAft>
                <a:spcPts val="800"/>
              </a:spcAft>
              <a:defRPr sz="1400" b="0">
                <a:solidFill>
                  <a:srgbClr val="0F172A"/>
                </a:solidFill>
                <a:latin typeface="Segoe UI"/>
              </a:defRPr>
            </a:pPr>
            <a:r>
              <a:rPr sz="1400" b="0">
                <a:solidFill>
                  <a:srgbClr val="0F172A"/>
                </a:solidFill>
                <a:latin typeface="Segoe UI"/>
              </a:rPr>
              <a:t>• Guardar una figura a PNG/SVG/PDF con DPI controlado.</a:t>
            </a:r>
          </a:p>
          <a:p>
            <a:pPr>
              <a:spcAft>
                <a:spcPts val="800"/>
              </a:spcAft>
              <a:defRPr sz="1400" b="0">
                <a:solidFill>
                  <a:srgbClr val="0F172A"/>
                </a:solidFill>
                <a:latin typeface="Segoe UI"/>
              </a:defRPr>
            </a:pPr>
            <a:r>
              <a:rPr sz="1400" b="0">
                <a:solidFill>
                  <a:srgbClr val="0F172A"/>
                </a:solidFill>
                <a:latin typeface="Segoe UI"/>
              </a:rPr>
              <a:t>• Cerrar figuras explícitamente para liberar memoria en notebooks que generan muchas.</a:t>
            </a:r>
          </a:p>
          <a:p>
            <a:pPr>
              <a:spcAft>
                <a:spcPts val="800"/>
              </a:spcAft>
              <a:defRPr sz="1400" b="0">
                <a:solidFill>
                  <a:srgbClr val="0F172A"/>
                </a:solidFill>
                <a:latin typeface="Segoe UI"/>
              </a:defRPr>
            </a:pPr>
            <a:r>
              <a:rPr sz="1400" b="0">
                <a:solidFill>
                  <a:srgbClr val="0F172A"/>
                </a:solidFill>
                <a:latin typeface="Segoe UI"/>
              </a:rPr>
              <a:t>• Configurar defaults con plt.rcParams (font, line width, colors).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035 — Matplotlib: anatomía figura/axes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Figure (canvas) → Axes (gráfico) → Artist (elementos)</a:t>
            </a:r>
          </a:p>
          <a:p>
            <a:pPr>
              <a:spcAft>
                <a:spcPts val="1000"/>
              </a:spcAft>
              <a:defRPr sz="1600" b="0">
                <a:solidFill>
                  <a:srgbClr val="0F172A"/>
                </a:solidFill>
                <a:latin typeface="Segoe UI"/>
              </a:defRPr>
            </a:pPr>
            <a:r>
              <a:rPr sz="1600" b="0">
                <a:solidFill>
                  <a:srgbClr val="0F172A"/>
                </a:solidFill>
                <a:latin typeface="Segoe UI"/>
              </a:rPr>
              <a:t>• pyplot vs OO API</a:t>
            </a:r>
          </a:p>
          <a:p>
            <a:pPr>
              <a:spcAft>
                <a:spcPts val="1000"/>
              </a:spcAft>
              <a:defRPr sz="1600" b="0">
                <a:solidFill>
                  <a:srgbClr val="0F172A"/>
                </a:solidFill>
                <a:latin typeface="Segoe UI"/>
              </a:defRPr>
            </a:pPr>
            <a:r>
              <a:rPr sz="1600" b="0">
                <a:solidFill>
                  <a:srgbClr val="0F172A"/>
                </a:solidFill>
                <a:latin typeface="Segoe UI"/>
              </a:rPr>
              <a:t>• fig, ax = plt.subplots()</a:t>
            </a:r>
          </a:p>
          <a:p>
            <a:pPr>
              <a:spcAft>
                <a:spcPts val="1000"/>
              </a:spcAft>
              <a:defRPr sz="1600" b="0">
                <a:solidFill>
                  <a:srgbClr val="0F172A"/>
                </a:solidFill>
                <a:latin typeface="Segoe UI"/>
              </a:defRPr>
            </a:pPr>
            <a:r>
              <a:rPr sz="1600" b="0">
                <a:solidFill>
                  <a:srgbClr val="0F172A"/>
                </a:solidFill>
                <a:latin typeface="Segoe UI"/>
              </a:rPr>
              <a:t>• fig.savefig y formatos</a:t>
            </a:r>
          </a:p>
          <a:p>
            <a:pPr>
              <a:spcAft>
                <a:spcPts val="1000"/>
              </a:spcAft>
              <a:defRPr sz="1600" b="0">
                <a:solidFill>
                  <a:srgbClr val="0F172A"/>
                </a:solidFill>
                <a:latin typeface="Segoe UI"/>
              </a:defRPr>
            </a:pPr>
            <a:r>
              <a:rPr sz="1600" b="0">
                <a:solidFill>
                  <a:srgbClr val="0F172A"/>
                </a:solidFill>
                <a:latin typeface="Segoe UI"/>
              </a:rPr>
              <a:t>• Liberar memoria: plt.close(fig)</a:t>
            </a:r>
          </a:p>
          <a:p>
            <a:pPr>
              <a:spcAft>
                <a:spcPts val="1000"/>
              </a:spcAft>
              <a:defRPr sz="1600" b="0">
                <a:solidFill>
                  <a:srgbClr val="0F172A"/>
                </a:solidFill>
                <a:latin typeface="Segoe UI"/>
              </a:defRPr>
            </a:pPr>
            <a:r>
              <a:rPr sz="1600" b="0">
                <a:solidFill>
                  <a:srgbClr val="0F172A"/>
                </a:solidFill>
                <a:latin typeface="Segoe UI"/>
              </a:rPr>
              <a:t>• plt.rcParams y stylesheets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035 — Matplotlib: anatomía figura/axes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print('matplotlib:', plt.matplotlib.__version__)</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035 — Matplotlib: anatomía figura/axes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Hello world.</a:t>
            </a:r>
          </a:p>
          <a:p>
            <a:pPr>
              <a:spcAft>
                <a:spcPts val="800"/>
              </a:spcAft>
              <a:defRPr sz="1400" b="0">
                <a:solidFill>
                  <a:srgbClr val="0F172A"/>
                </a:solidFill>
                <a:latin typeface="Segoe UI"/>
              </a:defRPr>
            </a:pPr>
            <a:r>
              <a:rPr sz="1400" b="0">
                <a:solidFill>
                  <a:srgbClr val="0F172A"/>
                </a:solidFill>
                <a:latin typeface="Segoe UI"/>
              </a:rPr>
              <a:t>• Dos líneas en un axes.</a:t>
            </a:r>
          </a:p>
          <a:p>
            <a:pPr>
              <a:spcAft>
                <a:spcPts val="800"/>
              </a:spcAft>
              <a:defRPr sz="1400" b="0">
                <a:solidFill>
                  <a:srgbClr val="0F172A"/>
                </a:solidFill>
                <a:latin typeface="Segoe UI"/>
              </a:defRPr>
            </a:pPr>
            <a:r>
              <a:rPr sz="1400" b="0">
                <a:solidFill>
                  <a:srgbClr val="0F172A"/>
                </a:solidFill>
                <a:latin typeface="Segoe UI"/>
              </a:rPr>
              <a:t>• Guarda 3 formatos.</a:t>
            </a:r>
          </a:p>
          <a:p>
            <a:pPr>
              <a:spcAft>
                <a:spcPts val="800"/>
              </a:spcAft>
              <a:defRPr sz="1400" b="0">
                <a:solidFill>
                  <a:srgbClr val="0F172A"/>
                </a:solidFill>
                <a:latin typeface="Segoe UI"/>
              </a:defRPr>
            </a:pPr>
            <a:r>
              <a:rPr sz="1400" b="0">
                <a:solidFill>
                  <a:srgbClr val="0F172A"/>
                </a:solidFill>
                <a:latin typeface="Segoe UI"/>
              </a:rPr>
              <a:t>• Loop sin leak.</a:t>
            </a:r>
          </a:p>
          <a:p>
            <a:pPr>
              <a:spcAft>
                <a:spcPts val="800"/>
              </a:spcAft>
              <a:defRPr sz="1400" b="0">
                <a:solidFill>
                  <a:srgbClr val="0F172A"/>
                </a:solidFill>
                <a:latin typeface="Segoe UI"/>
              </a:defRPr>
            </a:pPr>
            <a:r>
              <a:rPr sz="1400" b="0">
                <a:solidFill>
                  <a:srgbClr val="0F172A"/>
                </a:solidFill>
                <a:latin typeface="Segoe UI"/>
              </a:rPr>
              <a:t>• rcParams.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(a) figura sin/cos con todos los elementos (título, labels, leyenda, grid); (b) guardar PNG@300dpi y SVG; (c) generar 50 plots en loop sin memory leak; (d) demo de rcParams modificados.</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036 — Matplotlib: line, scatter, bar, histogram, boxplot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036 — Matplotlib: line, scatter, bar, histogram, boxplot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4 §§ 4.2–4.5 Simple Line/Scatter/Bar/Histogram Plots.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conozca los 5 plots básicos que cubren el 80% del trabajo de EDA, y sepa cuándo cada uno: line (tendencia temporal), scatter (relación dos variables), bar (categóricas), histogram (distribución), boxplot (5 estadísticos + outliers).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Elegir el plot correcto según el tipo de variables (continua/categórica) y el objetivo.</a:t>
            </a:r>
          </a:p>
          <a:p>
            <a:pPr>
              <a:spcAft>
                <a:spcPts val="800"/>
              </a:spcAft>
              <a:defRPr sz="1400" b="0">
                <a:solidFill>
                  <a:srgbClr val="0F172A"/>
                </a:solidFill>
                <a:latin typeface="Segoe UI"/>
              </a:defRPr>
            </a:pPr>
            <a:r>
              <a:rPr sz="1400" b="0">
                <a:solidFill>
                  <a:srgbClr val="0F172A"/>
                </a:solidFill>
                <a:latin typeface="Segoe UI"/>
              </a:rPr>
              <a:t>• Ajustar marker, color, linestyle, alpha para legibilidad.</a:t>
            </a:r>
          </a:p>
          <a:p>
            <a:pPr>
              <a:spcAft>
                <a:spcPts val="800"/>
              </a:spcAft>
              <a:defRPr sz="1400" b="0">
                <a:solidFill>
                  <a:srgbClr val="0F172A"/>
                </a:solidFill>
                <a:latin typeface="Segoe UI"/>
              </a:defRPr>
            </a:pPr>
            <a:r>
              <a:rPr sz="1400" b="0">
                <a:solidFill>
                  <a:srgbClr val="0F172A"/>
                </a:solidFill>
                <a:latin typeface="Segoe UI"/>
              </a:rPr>
              <a:t>• Construir histogramas con bins adecuados (regla de Freedman-Diaconis o 'auto').</a:t>
            </a:r>
          </a:p>
          <a:p>
            <a:pPr>
              <a:spcAft>
                <a:spcPts val="800"/>
              </a:spcAft>
              <a:defRPr sz="1400" b="0">
                <a:solidFill>
                  <a:srgbClr val="0F172A"/>
                </a:solidFill>
                <a:latin typeface="Segoe UI"/>
              </a:defRPr>
            </a:pPr>
            <a:r>
              <a:rPr sz="1400" b="0">
                <a:solidFill>
                  <a:srgbClr val="0F172A"/>
                </a:solidFill>
                <a:latin typeface="Segoe UI"/>
              </a:rPr>
              <a:t>• Interpretar boxplot: mediana, Q1/Q3, whiskers, outliers.</a:t>
            </a:r>
          </a:p>
          <a:p>
            <a:pPr>
              <a:spcAft>
                <a:spcPts val="800"/>
              </a:spcAft>
              <a:defRPr sz="1400" b="0">
                <a:solidFill>
                  <a:srgbClr val="0F172A"/>
                </a:solidFill>
                <a:latin typeface="Segoe UI"/>
              </a:defRPr>
            </a:pPr>
            <a:r>
              <a:rPr sz="1400" b="0">
                <a:solidFill>
                  <a:srgbClr val="0F172A"/>
                </a:solidFill>
                <a:latin typeface="Segoe UI"/>
              </a:rPr>
              <a:t>• Combinar bar + error bars para mostrar incertidumbre.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036 — Matplotlib: line, scatter, bar, histogram, boxplot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Line: tendencias y series temporales</a:t>
            </a:r>
          </a:p>
          <a:p>
            <a:pPr>
              <a:spcAft>
                <a:spcPts val="1000"/>
              </a:spcAft>
              <a:defRPr sz="1600" b="0">
                <a:solidFill>
                  <a:srgbClr val="0F172A"/>
                </a:solidFill>
                <a:latin typeface="Segoe UI"/>
              </a:defRPr>
            </a:pPr>
            <a:r>
              <a:rPr sz="1600" b="0">
                <a:solidFill>
                  <a:srgbClr val="0F172A"/>
                </a:solidFill>
                <a:latin typeface="Segoe UI"/>
              </a:rPr>
              <a:t>• Scatter: relación entre dos variables</a:t>
            </a:r>
          </a:p>
          <a:p>
            <a:pPr>
              <a:spcAft>
                <a:spcPts val="1000"/>
              </a:spcAft>
              <a:defRPr sz="1600" b="0">
                <a:solidFill>
                  <a:srgbClr val="0F172A"/>
                </a:solidFill>
                <a:latin typeface="Segoe UI"/>
              </a:defRPr>
            </a:pPr>
            <a:r>
              <a:rPr sz="1600" b="0">
                <a:solidFill>
                  <a:srgbClr val="0F172A"/>
                </a:solidFill>
                <a:latin typeface="Segoe UI"/>
              </a:rPr>
              <a:t>• Bar y barh: categóricas</a:t>
            </a:r>
          </a:p>
          <a:p>
            <a:pPr>
              <a:spcAft>
                <a:spcPts val="1000"/>
              </a:spcAft>
              <a:defRPr sz="1600" b="0">
                <a:solidFill>
                  <a:srgbClr val="0F172A"/>
                </a:solidFill>
                <a:latin typeface="Segoe UI"/>
              </a:defRPr>
            </a:pPr>
            <a:r>
              <a:rPr sz="1600" b="0">
                <a:solidFill>
                  <a:srgbClr val="0F172A"/>
                </a:solidFill>
                <a:latin typeface="Segoe UI"/>
              </a:rPr>
              <a:t>• Histogram: distribución de una continua</a:t>
            </a:r>
          </a:p>
          <a:p>
            <a:pPr>
              <a:spcAft>
                <a:spcPts val="1000"/>
              </a:spcAft>
              <a:defRPr sz="1600" b="0">
                <a:solidFill>
                  <a:srgbClr val="0F172A"/>
                </a:solidFill>
                <a:latin typeface="Segoe UI"/>
              </a:defRPr>
            </a:pPr>
            <a:r>
              <a:rPr sz="1600" b="0">
                <a:solidFill>
                  <a:srgbClr val="0F172A"/>
                </a:solidFill>
                <a:latin typeface="Segoe UI"/>
              </a:rPr>
              <a:t>• Boxplot: distribución resumida + outliers</a:t>
            </a:r>
          </a:p>
          <a:p>
            <a:pPr>
              <a:spcAft>
                <a:spcPts val="1000"/>
              </a:spcAft>
              <a:defRPr sz="1600" b="0">
                <a:solidFill>
                  <a:srgbClr val="0F172A"/>
                </a:solidFill>
                <a:latin typeface="Segoe UI"/>
              </a:defRPr>
            </a:pPr>
            <a:r>
              <a:rPr sz="1600" b="0">
                <a:solidFill>
                  <a:srgbClr val="0F172A"/>
                </a:solidFill>
                <a:latin typeface="Segoe UI"/>
              </a:rPr>
              <a:t>• Errorbar y fill_between</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036 — Matplotlib: line, scatter, bar, histogram, boxplot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Penguins-like sintético</a:t>
            </a:r>
          </a:p>
          <a:p>
            <a:pPr>
              <a:defRPr sz="1200" b="0">
                <a:solidFill>
                  <a:srgbClr val="F8FAFC"/>
                </a:solidFill>
                <a:latin typeface="Courier New"/>
              </a:defRPr>
            </a:pPr>
            <a:r>
              <a:rPr sz="1200" b="0">
                <a:solidFill>
                  <a:srgbClr val="F8FAFC"/>
                </a:solidFill>
                <a:latin typeface="Courier New"/>
              </a:rPr>
              <a:t>df = pd.DataFrame({</a:t>
            </a:r>
          </a:p>
          <a:p>
            <a:pPr>
              <a:defRPr sz="1200" b="0">
                <a:solidFill>
                  <a:srgbClr val="F8FAFC"/>
                </a:solidFill>
                <a:latin typeface="Courier New"/>
              </a:defRPr>
            </a:pPr>
            <a:r>
              <a:rPr sz="1200" b="0">
                <a:solidFill>
                  <a:srgbClr val="F8FAFC"/>
                </a:solidFill>
                <a:latin typeface="Courier New"/>
              </a:rPr>
              <a:t>    'species'    : np.repeat(['Adelie', 'Chinstrap', 'Gentoo'], [50, 30, 40]),</a:t>
            </a:r>
          </a:p>
          <a:p>
            <a:pPr>
              <a:defRPr sz="1200" b="0">
                <a:solidFill>
                  <a:srgbClr val="F8FAFC"/>
                </a:solidFill>
                <a:latin typeface="Courier New"/>
              </a:defRPr>
            </a:pPr>
            <a:r>
              <a:rPr sz="1200" b="0">
                <a:solidFill>
                  <a:srgbClr val="F8FAFC"/>
                </a:solidFill>
                <a:latin typeface="Courier New"/>
              </a:rPr>
              <a:t>    'body_mass'  : np.concatenate([rng.normal(3700, 400, 50), rng.normal(3700, 400, 30), rng.normal(5050, 500, 40)]),</a:t>
            </a:r>
          </a:p>
          <a:p>
            <a:pPr>
              <a:defRPr sz="1200" b="0">
                <a:solidFill>
                  <a:srgbClr val="F8FAFC"/>
                </a:solidFill>
                <a:latin typeface="Courier New"/>
              </a:defRPr>
            </a:pPr>
            <a:r>
              <a:rPr sz="1200" b="0">
                <a:solidFill>
                  <a:srgbClr val="F8FAFC"/>
                </a:solidFill>
                <a:latin typeface="Courier New"/>
              </a:rPr>
              <a:t>    'bill_length': np.concatenate([rng.normal(39, 2, 50),     rng.normal(48, 3, 30),     rng.normal(48, 3, 40)]),</a:t>
            </a:r>
          </a:p>
          <a:p>
            <a:pPr>
              <a:defRPr sz="1200" b="0">
                <a:solidFill>
                  <a:srgbClr val="F8FAFC"/>
                </a:solidFill>
                <a:latin typeface="Courier New"/>
              </a:defRPr>
            </a:pPr>
            <a:r>
              <a:rPr sz="1200" b="0">
                <a:solidFill>
                  <a:srgbClr val="F8FAFC"/>
                </a:solidFill>
                <a:latin typeface="Courier New"/>
              </a:rPr>
              <a:t>    'flipper'    : np.concatenate([rng.normal(190, 6, 50),    rng.normal(196, 7, 30),    rng.normal(217, 7, 40)]),</a:t>
            </a:r>
          </a:p>
          <a:p>
            <a:pPr>
              <a:defRPr sz="1200" b="0">
                <a:solidFill>
                  <a:srgbClr val="F8FAFC"/>
                </a:solidFill>
                <a:latin typeface="Courier New"/>
              </a:defRPr>
            </a:pPr>
            <a:r>
              <a:rPr sz="1200" b="0">
                <a:solidFill>
                  <a:srgbClr val="F8FAFC"/>
                </a:solidFill>
                <a:latin typeface="Courier New"/>
              </a:rPr>
              <a: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036 — Matplotlib: line, scatter, bar, histogram, boxplot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Line.</a:t>
            </a:r>
          </a:p>
          <a:p>
            <a:pPr>
              <a:spcAft>
                <a:spcPts val="800"/>
              </a:spcAft>
              <a:defRPr sz="1400" b="0">
                <a:solidFill>
                  <a:srgbClr val="0F172A"/>
                </a:solidFill>
                <a:latin typeface="Segoe UI"/>
              </a:defRPr>
            </a:pPr>
            <a:r>
              <a:rPr sz="1400" b="0">
                <a:solidFill>
                  <a:srgbClr val="0F172A"/>
                </a:solidFill>
                <a:latin typeface="Segoe UI"/>
              </a:rPr>
              <a:t>• Scatter.</a:t>
            </a:r>
          </a:p>
          <a:p>
            <a:pPr>
              <a:spcAft>
                <a:spcPts val="800"/>
              </a:spcAft>
              <a:defRPr sz="1400" b="0">
                <a:solidFill>
                  <a:srgbClr val="0F172A"/>
                </a:solidFill>
                <a:latin typeface="Segoe UI"/>
              </a:defRPr>
            </a:pPr>
            <a:r>
              <a:rPr sz="1400" b="0">
                <a:solidFill>
                  <a:srgbClr val="0F172A"/>
                </a:solidFill>
                <a:latin typeface="Segoe UI"/>
              </a:rPr>
              <a:t>• Bar.</a:t>
            </a:r>
          </a:p>
          <a:p>
            <a:pPr>
              <a:spcAft>
                <a:spcPts val="800"/>
              </a:spcAft>
              <a:defRPr sz="1400" b="0">
                <a:solidFill>
                  <a:srgbClr val="0F172A"/>
                </a:solidFill>
                <a:latin typeface="Segoe UI"/>
              </a:defRPr>
            </a:pPr>
            <a:r>
              <a:rPr sz="1400" b="0">
                <a:solidFill>
                  <a:srgbClr val="0F172A"/>
                </a:solidFill>
                <a:latin typeface="Segoe UI"/>
              </a:rPr>
              <a:t>• Histogram.</a:t>
            </a:r>
          </a:p>
          <a:p>
            <a:pPr>
              <a:spcAft>
                <a:spcPts val="800"/>
              </a:spcAft>
              <a:defRPr sz="1400" b="0">
                <a:solidFill>
                  <a:srgbClr val="0F172A"/>
                </a:solidFill>
                <a:latin typeface="Segoe UI"/>
              </a:defRPr>
            </a:pPr>
            <a:r>
              <a:rPr sz="1400" b="0">
                <a:solidFill>
                  <a:srgbClr val="0F172A"/>
                </a:solidFill>
                <a:latin typeface="Segoe UI"/>
              </a:rPr>
              <a:t>• Boxplot.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penguins: (a) 5 plots básicos cada uno bien etiquetado; (b) scatter decorado con color y tamaño codificando 3 dimensiones; (c) bar con errorbars de std; (d) boxplot agrupado con interpretación de outliers.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037 — Matplotlib: subplots y gridspec</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037 — Matplotlib: subplots y gridspec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4 § 4.6 Multiple Subplots.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organice múltiples plots en una sola figura — con plt.subplots(n, m) para grillas regulares y con GridSpec para layouts irregulares (un plot grande + varios pequeños). Crítico para informes y dashboards.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grillas regulares con fig, axes = plt.subplots(2, 3, figsize=...).</a:t>
            </a:r>
          </a:p>
          <a:p>
            <a:pPr>
              <a:spcAft>
                <a:spcPts val="800"/>
              </a:spcAft>
              <a:defRPr sz="1400" b="0">
                <a:solidFill>
                  <a:srgbClr val="0F172A"/>
                </a:solidFill>
                <a:latin typeface="Segoe UI"/>
              </a:defRPr>
            </a:pPr>
            <a:r>
              <a:rPr sz="1400" b="0">
                <a:solidFill>
                  <a:srgbClr val="0F172A"/>
                </a:solidFill>
                <a:latin typeface="Segoe UI"/>
              </a:rPr>
              <a:t>• Iterar sobre axes.flat para llenar la grilla con loops.</a:t>
            </a:r>
          </a:p>
          <a:p>
            <a:pPr>
              <a:spcAft>
                <a:spcPts val="800"/>
              </a:spcAft>
              <a:defRPr sz="1400" b="0">
                <a:solidFill>
                  <a:srgbClr val="0F172A"/>
                </a:solidFill>
                <a:latin typeface="Segoe UI"/>
              </a:defRPr>
            </a:pPr>
            <a:r>
              <a:rPr sz="1400" b="0">
                <a:solidFill>
                  <a:srgbClr val="0F172A"/>
                </a:solidFill>
                <a:latin typeface="Segoe UI"/>
              </a:rPr>
              <a:t>• Compartir ejes con sharex=True, sharey=True para comparar.</a:t>
            </a:r>
          </a:p>
          <a:p>
            <a:pPr>
              <a:spcAft>
                <a:spcPts val="800"/>
              </a:spcAft>
              <a:defRPr sz="1400" b="0">
                <a:solidFill>
                  <a:srgbClr val="0F172A"/>
                </a:solidFill>
                <a:latin typeface="Segoe UI"/>
              </a:defRPr>
            </a:pPr>
            <a:r>
              <a:rPr sz="1400" b="0">
                <a:solidFill>
                  <a:srgbClr val="0F172A"/>
                </a:solidFill>
                <a:latin typeface="Segoe UI"/>
              </a:rPr>
              <a:t>• Usar GridSpec para layouts irregulares (1 grande + 3 pequeños).</a:t>
            </a:r>
          </a:p>
          <a:p>
            <a:pPr>
              <a:spcAft>
                <a:spcPts val="800"/>
              </a:spcAft>
              <a:defRPr sz="1400" b="0">
                <a:solidFill>
                  <a:srgbClr val="0F172A"/>
                </a:solidFill>
                <a:latin typeface="Segoe UI"/>
              </a:defRPr>
            </a:pPr>
            <a:r>
              <a:rPr sz="1400" b="0">
                <a:solidFill>
                  <a:srgbClr val="0F172A"/>
                </a:solidFill>
                <a:latin typeface="Segoe UI"/>
              </a:rPr>
              <a:t>• Usar constrained_layout=True en vez de tight_layout() (más confiable).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037 — Matplotlib: subplots y gridspec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plt.subplots(nrows, ncols)</a:t>
            </a:r>
          </a:p>
          <a:p>
            <a:pPr>
              <a:spcAft>
                <a:spcPts val="1000"/>
              </a:spcAft>
              <a:defRPr sz="1600" b="0">
                <a:solidFill>
                  <a:srgbClr val="0F172A"/>
                </a:solidFill>
                <a:latin typeface="Segoe UI"/>
              </a:defRPr>
            </a:pPr>
            <a:r>
              <a:rPr sz="1600" b="0">
                <a:solidFill>
                  <a:srgbClr val="0F172A"/>
                </a:solidFill>
                <a:latin typeface="Segoe UI"/>
              </a:rPr>
              <a:t>• Iterar con .flat</a:t>
            </a:r>
          </a:p>
          <a:p>
            <a:pPr>
              <a:spcAft>
                <a:spcPts val="1000"/>
              </a:spcAft>
              <a:defRPr sz="1600" b="0">
                <a:solidFill>
                  <a:srgbClr val="0F172A"/>
                </a:solidFill>
                <a:latin typeface="Segoe UI"/>
              </a:defRPr>
            </a:pPr>
            <a:r>
              <a:rPr sz="1600" b="0">
                <a:solidFill>
                  <a:srgbClr val="0F172A"/>
                </a:solidFill>
                <a:latin typeface="Segoe UI"/>
              </a:rPr>
              <a:t>• sharex/sharey</a:t>
            </a:r>
          </a:p>
          <a:p>
            <a:pPr>
              <a:spcAft>
                <a:spcPts val="1000"/>
              </a:spcAft>
              <a:defRPr sz="1600" b="0">
                <a:solidFill>
                  <a:srgbClr val="0F172A"/>
                </a:solidFill>
                <a:latin typeface="Segoe UI"/>
              </a:defRPr>
            </a:pPr>
            <a:r>
              <a:rPr sz="1600" b="0">
                <a:solidFill>
                  <a:srgbClr val="0F172A"/>
                </a:solidFill>
                <a:latin typeface="Segoe UI"/>
              </a:rPr>
              <a:t>• GridSpec para layouts irregulares</a:t>
            </a:r>
          </a:p>
          <a:p>
            <a:pPr>
              <a:spcAft>
                <a:spcPts val="1000"/>
              </a:spcAft>
              <a:defRPr sz="1600" b="0">
                <a:solidFill>
                  <a:srgbClr val="0F172A"/>
                </a:solidFill>
                <a:latin typeface="Segoe UI"/>
              </a:defRPr>
            </a:pPr>
            <a:r>
              <a:rPr sz="1600" b="0">
                <a:solidFill>
                  <a:srgbClr val="0F172A"/>
                </a:solidFill>
                <a:latin typeface="Segoe UI"/>
              </a:rPr>
              <a:t>• constrained_layout vs tight_layout</a:t>
            </a:r>
          </a:p>
          <a:p>
            <a:pPr>
              <a:spcAft>
                <a:spcPts val="1000"/>
              </a:spcAft>
              <a:defRPr sz="1600" b="0">
                <a:solidFill>
                  <a:srgbClr val="0F172A"/>
                </a:solidFill>
                <a:latin typeface="Segoe UI"/>
              </a:defRPr>
            </a:pPr>
            <a:r>
              <a:rPr sz="1600" b="0">
                <a:solidFill>
                  <a:srgbClr val="0F172A"/>
                </a:solidFill>
                <a:latin typeface="Segoe UI"/>
              </a:rPr>
              <a:t>• add_subplot con posiciones custom</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037 — Matplotlib: subplots y gridspec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matplotlib.gridspec import GridSpec</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 200</a:t>
            </a:r>
          </a:p>
          <a:p>
            <a:pPr>
              <a:defRPr sz="1200" b="0">
                <a:solidFill>
                  <a:srgbClr val="F8FAFC"/>
                </a:solidFill>
                <a:latin typeface="Courier New"/>
              </a:defRPr>
            </a:pPr>
            <a:r>
              <a:rPr sz="1200" b="0">
                <a:solidFill>
                  <a:srgbClr val="F8FAFC"/>
                </a:solidFill>
                <a:latin typeface="Courier New"/>
              </a:rPr>
              <a:t>df = pd.DataFrame({</a:t>
            </a:r>
          </a:p>
          <a:p>
            <a:pPr>
              <a:defRPr sz="1200" b="0">
                <a:solidFill>
                  <a:srgbClr val="F8FAFC"/>
                </a:solidFill>
                <a:latin typeface="Courier New"/>
              </a:defRPr>
            </a:pPr>
            <a:r>
              <a:rPr sz="1200" b="0">
                <a:solidFill>
                  <a:srgbClr val="F8FAFC"/>
                </a:solidFill>
                <a:latin typeface="Courier New"/>
              </a:rPr>
              <a:t>    'x'   : rng.normal(0, 1, N),</a:t>
            </a:r>
          </a:p>
          <a:p>
            <a:pPr>
              <a:defRPr sz="1200" b="0">
                <a:solidFill>
                  <a:srgbClr val="F8FAFC"/>
                </a:solidFill>
                <a:latin typeface="Courier New"/>
              </a:defRPr>
            </a:pPr>
            <a:r>
              <a:rPr sz="1200" b="0">
                <a:solidFill>
                  <a:srgbClr val="F8FAFC"/>
                </a:solidFill>
                <a:latin typeface="Courier New"/>
              </a:rPr>
              <a:t>    'y'   : rng.normal(0, 1, N),</a:t>
            </a:r>
          </a:p>
          <a:p>
            <a:pPr>
              <a:defRPr sz="1200" b="0">
                <a:solidFill>
                  <a:srgbClr val="F8FAFC"/>
                </a:solidFill>
                <a:latin typeface="Courier New"/>
              </a:defRPr>
            </a:pPr>
            <a:r>
              <a:rPr sz="1200" b="0">
                <a:solidFill>
                  <a:srgbClr val="F8FAFC"/>
                </a:solidFill>
                <a:latin typeface="Courier New"/>
              </a:rPr>
              <a:t>    'mass': rng.uniform(3000, 5000, N),</a:t>
            </a:r>
          </a:p>
          <a:p>
            <a:pPr>
              <a:defRPr sz="1200" b="0">
                <a:solidFill>
                  <a:srgbClr val="F8FAFC"/>
                </a:solidFill>
                <a:latin typeface="Courier New"/>
              </a:defRPr>
            </a:pPr>
            <a:r>
              <a:rPr sz="1200" b="0">
                <a:solidFill>
                  <a:srgbClr val="F8FAFC"/>
                </a:solidFill>
                <a:latin typeface="Courier New"/>
              </a:rPr>
              <a:t>    'bill': rng.uniform(35, 50, N),</a:t>
            </a:r>
          </a:p>
          <a:p>
            <a:pPr>
              <a:defRPr sz="1200" b="0">
                <a:solidFill>
                  <a:srgbClr val="F8FAFC"/>
                </a:solidFill>
                <a:latin typeface="Courier New"/>
              </a:defRPr>
            </a:pPr>
            <a:r>
              <a:rPr sz="1200" b="0">
                <a:solidFill>
                  <a:srgbClr val="F8FAFC"/>
                </a:solidFill>
                <a:latin typeface="Courier New"/>
              </a:rPr>
              <a:t>})</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037 — Matplotlib: subplots y gridspec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Grilla 2×2.</a:t>
            </a:r>
          </a:p>
          <a:p>
            <a:pPr>
              <a:spcAft>
                <a:spcPts val="800"/>
              </a:spcAft>
              <a:defRPr sz="1400" b="0">
                <a:solidFill>
                  <a:srgbClr val="0F172A"/>
                </a:solidFill>
                <a:latin typeface="Segoe UI"/>
              </a:defRPr>
            </a:pPr>
            <a:r>
              <a:rPr sz="1400" b="0">
                <a:solidFill>
                  <a:srgbClr val="0F172A"/>
                </a:solidFill>
                <a:latin typeface="Segoe UI"/>
              </a:rPr>
              <a:t>• Grilla con loop.</a:t>
            </a:r>
          </a:p>
          <a:p>
            <a:pPr>
              <a:spcAft>
                <a:spcPts val="800"/>
              </a:spcAft>
              <a:defRPr sz="1400" b="0">
                <a:solidFill>
                  <a:srgbClr val="0F172A"/>
                </a:solidFill>
                <a:latin typeface="Segoe UI"/>
              </a:defRPr>
            </a:pPr>
            <a:r>
              <a:rPr sz="1400" b="0">
                <a:solidFill>
                  <a:srgbClr val="0F172A"/>
                </a:solidFill>
                <a:latin typeface="Segoe UI"/>
              </a:rPr>
              <a:t>• sharey=True.</a:t>
            </a:r>
          </a:p>
          <a:p>
            <a:pPr>
              <a:spcAft>
                <a:spcPts val="800"/>
              </a:spcAft>
              <a:defRPr sz="1400" b="0">
                <a:solidFill>
                  <a:srgbClr val="0F172A"/>
                </a:solidFill>
                <a:latin typeface="Segoe UI"/>
              </a:defRPr>
            </a:pPr>
            <a:r>
              <a:rPr sz="1400" b="0">
                <a:solidFill>
                  <a:srgbClr val="0F172A"/>
                </a:solidFill>
                <a:latin typeface="Segoe UI"/>
              </a:rPr>
              <a:t>• GridSpec irregular.</a:t>
            </a:r>
          </a:p>
          <a:p>
            <a:pPr>
              <a:spcAft>
                <a:spcPts val="800"/>
              </a:spcAft>
              <a:defRPr sz="1400" b="0">
                <a:solidFill>
                  <a:srgbClr val="0F172A"/>
                </a:solidFill>
                <a:latin typeface="Segoe UI"/>
              </a:defRPr>
            </a:pPr>
            <a:r>
              <a:rPr sz="1400" b="0">
                <a:solidFill>
                  <a:srgbClr val="0F172A"/>
                </a:solidFill>
                <a:latin typeface="Segoe UI"/>
              </a:rPr>
              <a:t>• constrained_layout.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penguins: (a) grilla 2×2 hists; (b) 3 boxplots con sharey; (c) layout GridSpec con scatter central + marginales arriba/derecha; (d) misma figura comparando tight_layout vs constrained_layout.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038 — Matplotlib: legends, colorbars, ticks, anotaciones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038 — Matplotlib: legends, colorbars, ticks, anotaciones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4 §§ 4.7–4.9 Customizing Legends, Colorbars, Ticks.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controle los detalles que distinguen un plot ad-hoc de uno publicable: leyenda fuera del gráfico, colorbar discreto, ticks personalizados, y anotaciones (flechas, texto) para guiar la atención del lector.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Posicionar leyenda fuera del axes con bbox_to_anchor.</a:t>
            </a:r>
          </a:p>
          <a:p>
            <a:pPr>
              <a:spcAft>
                <a:spcPts val="800"/>
              </a:spcAft>
              <a:defRPr sz="1400" b="0">
                <a:solidFill>
                  <a:srgbClr val="0F172A"/>
                </a:solidFill>
                <a:latin typeface="Segoe UI"/>
              </a:defRPr>
            </a:pPr>
            <a:r>
              <a:rPr sz="1400" b="0">
                <a:solidFill>
                  <a:srgbClr val="0F172A"/>
                </a:solidFill>
                <a:latin typeface="Segoe UI"/>
              </a:rPr>
              <a:t>• Configurar colorbar con label, ticks discretos, y categoría.</a:t>
            </a:r>
          </a:p>
          <a:p>
            <a:pPr>
              <a:spcAft>
                <a:spcPts val="800"/>
              </a:spcAft>
              <a:defRPr sz="1400" b="0">
                <a:solidFill>
                  <a:srgbClr val="0F172A"/>
                </a:solidFill>
                <a:latin typeface="Segoe UI"/>
              </a:defRPr>
            </a:pPr>
            <a:r>
              <a:rPr sz="1400" b="0">
                <a:solidFill>
                  <a:srgbClr val="0F172A"/>
                </a:solidFill>
                <a:latin typeface="Segoe UI"/>
              </a:rPr>
              <a:t>• Personalizar ticks: rotación, formato (FuncFormatter, PercentFormatter), scale log.</a:t>
            </a:r>
          </a:p>
          <a:p>
            <a:pPr>
              <a:spcAft>
                <a:spcPts val="800"/>
              </a:spcAft>
              <a:defRPr sz="1400" b="0">
                <a:solidFill>
                  <a:srgbClr val="0F172A"/>
                </a:solidFill>
                <a:latin typeface="Segoe UI"/>
              </a:defRPr>
            </a:pPr>
            <a:r>
              <a:rPr sz="1400" b="0">
                <a:solidFill>
                  <a:srgbClr val="0F172A"/>
                </a:solidFill>
                <a:latin typeface="Segoe UI"/>
              </a:rPr>
              <a:t>• Anotar puntos con ax.annotate(..., xy=..., xytext=..., arrowprops=...).</a:t>
            </a:r>
          </a:p>
          <a:p>
            <a:pPr>
              <a:spcAft>
                <a:spcPts val="800"/>
              </a:spcAft>
              <a:defRPr sz="1400" b="0">
                <a:solidFill>
                  <a:srgbClr val="0F172A"/>
                </a:solidFill>
                <a:latin typeface="Segoe UI"/>
              </a:defRPr>
            </a:pPr>
            <a:r>
              <a:rPr sz="1400" b="0">
                <a:solidFill>
                  <a:srgbClr val="0F172A"/>
                </a:solidFill>
                <a:latin typeface="Segoe UI"/>
              </a:rPr>
              <a:t>• Añadir líneas de referencia con axhline/axvline (umbrales, medias).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038 — Matplotlib: legends, colorbars, ticks, anotaciones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Legend con bbox_to_anchor</a:t>
            </a:r>
          </a:p>
          <a:p>
            <a:pPr>
              <a:spcAft>
                <a:spcPts val="1000"/>
              </a:spcAft>
              <a:defRPr sz="1600" b="0">
                <a:solidFill>
                  <a:srgbClr val="0F172A"/>
                </a:solidFill>
                <a:latin typeface="Segoe UI"/>
              </a:defRPr>
            </a:pPr>
            <a:r>
              <a:rPr sz="1600" b="0">
                <a:solidFill>
                  <a:srgbClr val="0F172A"/>
                </a:solidFill>
                <a:latin typeface="Segoe UI"/>
              </a:rPr>
              <a:t>• Colorbar con label y ticks discretos</a:t>
            </a:r>
          </a:p>
          <a:p>
            <a:pPr>
              <a:spcAft>
                <a:spcPts val="1000"/>
              </a:spcAft>
              <a:defRPr sz="1600" b="0">
                <a:solidFill>
                  <a:srgbClr val="0F172A"/>
                </a:solidFill>
                <a:latin typeface="Segoe UI"/>
              </a:defRPr>
            </a:pPr>
            <a:r>
              <a:rPr sz="1600" b="0">
                <a:solidFill>
                  <a:srgbClr val="0F172A"/>
                </a:solidFill>
                <a:latin typeface="Segoe UI"/>
              </a:rPr>
              <a:t>• Tick formatters: percent, scientific, custom</a:t>
            </a:r>
          </a:p>
          <a:p>
            <a:pPr>
              <a:spcAft>
                <a:spcPts val="1000"/>
              </a:spcAft>
              <a:defRPr sz="1600" b="0">
                <a:solidFill>
                  <a:srgbClr val="0F172A"/>
                </a:solidFill>
                <a:latin typeface="Segoe UI"/>
              </a:defRPr>
            </a:pPr>
            <a:r>
              <a:rPr sz="1600" b="0">
                <a:solidFill>
                  <a:srgbClr val="0F172A"/>
                </a:solidFill>
                <a:latin typeface="Segoe UI"/>
              </a:rPr>
              <a:t>• ax.annotate con flecha</a:t>
            </a:r>
          </a:p>
          <a:p>
            <a:pPr>
              <a:spcAft>
                <a:spcPts val="1000"/>
              </a:spcAft>
              <a:defRPr sz="1600" b="0">
                <a:solidFill>
                  <a:srgbClr val="0F172A"/>
                </a:solidFill>
                <a:latin typeface="Segoe UI"/>
              </a:defRPr>
            </a:pPr>
            <a:r>
              <a:rPr sz="1600" b="0">
                <a:solidFill>
                  <a:srgbClr val="0F172A"/>
                </a:solidFill>
                <a:latin typeface="Segoe UI"/>
              </a:rPr>
              <a:t>• axhline / axvline / axhspan</a:t>
            </a:r>
          </a:p>
          <a:p>
            <a:pPr>
              <a:spcAft>
                <a:spcPts val="1000"/>
              </a:spcAft>
              <a:defRPr sz="1600" b="0">
                <a:solidFill>
                  <a:srgbClr val="0F172A"/>
                </a:solidFill>
                <a:latin typeface="Segoe UI"/>
              </a:defRPr>
            </a:pPr>
            <a:r>
              <a:rPr sz="1600" b="0">
                <a:solidFill>
                  <a:srgbClr val="0F172A"/>
                </a:solidFill>
                <a:latin typeface="Segoe UI"/>
              </a:rPr>
              <a:t>• Log scale: ax.set_yscale('log')</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038 — Matplotlib: legends, colorbars, ticks, anotaciones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matplotlib.ticker import PercentFormatter, FuncFormatter</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038 — Matplotlib: legends, colorbars, ticks, anotaciones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Leyenda fuera.</a:t>
            </a:r>
          </a:p>
          <a:p>
            <a:pPr>
              <a:spcAft>
                <a:spcPts val="800"/>
              </a:spcAft>
              <a:defRPr sz="1400" b="0">
                <a:solidFill>
                  <a:srgbClr val="0F172A"/>
                </a:solidFill>
                <a:latin typeface="Segoe UI"/>
              </a:defRPr>
            </a:pPr>
            <a:r>
              <a:rPr sz="1400" b="0">
                <a:solidFill>
                  <a:srgbClr val="0F172A"/>
                </a:solidFill>
                <a:latin typeface="Segoe UI"/>
              </a:rPr>
              <a:t>• Colorbar.</a:t>
            </a:r>
          </a:p>
          <a:p>
            <a:pPr>
              <a:spcAft>
                <a:spcPts val="800"/>
              </a:spcAft>
              <a:defRPr sz="1400" b="0">
                <a:solidFill>
                  <a:srgbClr val="0F172A"/>
                </a:solidFill>
                <a:latin typeface="Segoe UI"/>
              </a:defRPr>
            </a:pPr>
            <a:r>
              <a:rPr sz="1400" b="0">
                <a:solidFill>
                  <a:srgbClr val="0F172A"/>
                </a:solidFill>
                <a:latin typeface="Segoe UI"/>
              </a:rPr>
              <a:t>• PercentFormatter.</a:t>
            </a:r>
          </a:p>
          <a:p>
            <a:pPr>
              <a:spcAft>
                <a:spcPts val="800"/>
              </a:spcAft>
              <a:defRPr sz="1400" b="0">
                <a:solidFill>
                  <a:srgbClr val="0F172A"/>
                </a:solidFill>
                <a:latin typeface="Segoe UI"/>
              </a:defRPr>
            </a:pPr>
            <a:r>
              <a:rPr sz="1400" b="0">
                <a:solidFill>
                  <a:srgbClr val="0F172A"/>
                </a:solidFill>
                <a:latin typeface="Segoe UI"/>
              </a:rPr>
              <a:t>• Anotar outlier.</a:t>
            </a:r>
          </a:p>
          <a:p>
            <a:pPr>
              <a:spcAft>
                <a:spcPts val="800"/>
              </a:spcAft>
              <a:defRPr sz="1400" b="0">
                <a:solidFill>
                  <a:srgbClr val="0F172A"/>
                </a:solidFill>
                <a:latin typeface="Segoe UI"/>
              </a:defRPr>
            </a:pPr>
            <a:r>
              <a:rPr sz="1400" b="0">
                <a:solidFill>
                  <a:srgbClr val="0F172A"/>
                </a:solidFill>
                <a:latin typeface="Segoe UI"/>
              </a:rPr>
              <a:t>• Log scale.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 plot multi-línea con leyenda externa; (b) scatter con colorbar etiquetado; (c) bar % usando PercentFormatter; (d) plot con anotación de máximo via flecha; (e) comparativa lineal vs log en datos exponenciales.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039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039 — Matplotlib: stylesheets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039 — Matplotlib: stylesheets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4 § 4.11 Customizing Matplotlib: Configurations and Stylesheets. · Duración estimada: 30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aproveche stylesheets built-in y propios para mantener consistencia visual entre plots y proyectos — y deje de configurar manualmente rcParams en cada notebook.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Listar stylesheets disponibles con plt.style.available.</a:t>
            </a:r>
          </a:p>
          <a:p>
            <a:pPr>
              <a:spcAft>
                <a:spcPts val="800"/>
              </a:spcAft>
              <a:defRPr sz="1400" b="0">
                <a:solidFill>
                  <a:srgbClr val="0F172A"/>
                </a:solidFill>
                <a:latin typeface="Segoe UI"/>
              </a:defRPr>
            </a:pPr>
            <a:r>
              <a:rPr sz="1400" b="0">
                <a:solidFill>
                  <a:srgbClr val="0F172A"/>
                </a:solidFill>
                <a:latin typeface="Segoe UI"/>
              </a:rPr>
              <a:t>• Aplicar un style globalmente (plt.style.use(...)) o solo a un bloque (with plt.style.context(...)).</a:t>
            </a:r>
          </a:p>
          <a:p>
            <a:pPr>
              <a:spcAft>
                <a:spcPts val="800"/>
              </a:spcAft>
              <a:defRPr sz="1400" b="0">
                <a:solidFill>
                  <a:srgbClr val="0F172A"/>
                </a:solidFill>
                <a:latin typeface="Segoe UI"/>
              </a:defRPr>
            </a:pPr>
            <a:r>
              <a:rPr sz="1400" b="0">
                <a:solidFill>
                  <a:srgbClr val="0F172A"/>
                </a:solidFill>
                <a:latin typeface="Segoe UI"/>
              </a:rPr>
              <a:t>• Crear style propio en un archivo .mplstyle y usarlo.</a:t>
            </a:r>
          </a:p>
          <a:p>
            <a:pPr>
              <a:spcAft>
                <a:spcPts val="800"/>
              </a:spcAft>
              <a:defRPr sz="1400" b="0">
                <a:solidFill>
                  <a:srgbClr val="0F172A"/>
                </a:solidFill>
                <a:latin typeface="Segoe UI"/>
              </a:defRPr>
            </a:pPr>
            <a:r>
              <a:rPr sz="1400" b="0">
                <a:solidFill>
                  <a:srgbClr val="0F172A"/>
                </a:solidFill>
                <a:latin typeface="Segoe UI"/>
              </a:rPr>
              <a:t>• Combinar styles (uno + ajustes manuales).</a:t>
            </a:r>
          </a:p>
          <a:p>
            <a:pPr>
              <a:spcAft>
                <a:spcPts val="800"/>
              </a:spcAft>
              <a:defRPr sz="1400" b="0">
                <a:solidFill>
                  <a:srgbClr val="0F172A"/>
                </a:solidFill>
                <a:latin typeface="Segoe UI"/>
              </a:defRPr>
            </a:pPr>
            <a:r>
              <a:rPr sz="1400" b="0">
                <a:solidFill>
                  <a:srgbClr val="0F172A"/>
                </a:solidFill>
                <a:latin typeface="Segoe UI"/>
              </a:rPr>
              <a:t>• Elegir style según contexto (informe, presentación, B&amp;N para impresión).</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039 — Matplotlib: stylesheets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plt.style.available</a:t>
            </a:r>
          </a:p>
          <a:p>
            <a:pPr>
              <a:spcAft>
                <a:spcPts val="1000"/>
              </a:spcAft>
              <a:defRPr sz="1600" b="0">
                <a:solidFill>
                  <a:srgbClr val="0F172A"/>
                </a:solidFill>
                <a:latin typeface="Segoe UI"/>
              </a:defRPr>
            </a:pPr>
            <a:r>
              <a:rPr sz="1600" b="0">
                <a:solidFill>
                  <a:srgbClr val="0F172A"/>
                </a:solidFill>
                <a:latin typeface="Segoe UI"/>
              </a:rPr>
              <a:t>• plt.style.use(...) global</a:t>
            </a:r>
          </a:p>
          <a:p>
            <a:pPr>
              <a:spcAft>
                <a:spcPts val="1000"/>
              </a:spcAft>
              <a:defRPr sz="1600" b="0">
                <a:solidFill>
                  <a:srgbClr val="0F172A"/>
                </a:solidFill>
                <a:latin typeface="Segoe UI"/>
              </a:defRPr>
            </a:pPr>
            <a:r>
              <a:rPr sz="1600" b="0">
                <a:solidFill>
                  <a:srgbClr val="0F172A"/>
                </a:solidFill>
                <a:latin typeface="Segoe UI"/>
              </a:rPr>
              <a:t>• with plt.style.context(...)</a:t>
            </a:r>
          </a:p>
          <a:p>
            <a:pPr>
              <a:spcAft>
                <a:spcPts val="1000"/>
              </a:spcAft>
              <a:defRPr sz="1600" b="0">
                <a:solidFill>
                  <a:srgbClr val="0F172A"/>
                </a:solidFill>
                <a:latin typeface="Segoe UI"/>
              </a:defRPr>
            </a:pPr>
            <a:r>
              <a:rPr sz="1600" b="0">
                <a:solidFill>
                  <a:srgbClr val="0F172A"/>
                </a:solidFill>
                <a:latin typeface="Segoe UI"/>
              </a:rPr>
              <a:t>• Archivo .mplstyle propio</a:t>
            </a:r>
          </a:p>
          <a:p>
            <a:pPr>
              <a:spcAft>
                <a:spcPts val="1000"/>
              </a:spcAft>
              <a:defRPr sz="1600" b="0">
                <a:solidFill>
                  <a:srgbClr val="0F172A"/>
                </a:solidFill>
                <a:latin typeface="Segoe UI"/>
              </a:defRPr>
            </a:pPr>
            <a:r>
              <a:rPr sz="1600" b="0">
                <a:solidFill>
                  <a:srgbClr val="0F172A"/>
                </a:solidFill>
                <a:latin typeface="Segoe UI"/>
              </a:rPr>
              <a:t>• Stylesheets comunes</a:t>
            </a:r>
          </a:p>
          <a:p>
            <a:pPr>
              <a:spcAft>
                <a:spcPts val="1000"/>
              </a:spcAft>
              <a:defRPr sz="1600" b="0">
                <a:solidFill>
                  <a:srgbClr val="0F172A"/>
                </a:solidFill>
                <a:latin typeface="Segoe UI"/>
              </a:defRPr>
            </a:pPr>
            <a:r>
              <a:rPr sz="1600" b="0">
                <a:solidFill>
                  <a:srgbClr val="0F172A"/>
                </a:solidFill>
                <a:latin typeface="Segoe UI"/>
              </a:rPr>
              <a:t>• rcParams override puntual</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039 — Matplotlib: stylesheets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styles = sorted(plt.style.available)</a:t>
            </a:r>
          </a:p>
          <a:p>
            <a:pPr>
              <a:defRPr sz="1200" b="0">
                <a:solidFill>
                  <a:srgbClr val="F8FAFC"/>
                </a:solidFill>
                <a:latin typeface="Courier New"/>
              </a:defRPr>
            </a:pPr>
            <a:r>
              <a:rPr sz="1200" b="0">
                <a:solidFill>
                  <a:srgbClr val="F8FAFC"/>
                </a:solidFill>
                <a:latin typeface="Courier New"/>
              </a:rPr>
              <a:t>print(f'{len(styles)} styles disponibles. Primeros 10:')</a:t>
            </a:r>
          </a:p>
          <a:p>
            <a:pPr>
              <a:defRPr sz="1200" b="0">
                <a:solidFill>
                  <a:srgbClr val="F8FAFC"/>
                </a:solidFill>
                <a:latin typeface="Courier New"/>
              </a:defRPr>
            </a:pPr>
            <a:r>
              <a:rPr sz="1200" b="0">
                <a:solidFill>
                  <a:srgbClr val="F8FAFC"/>
                </a:solidFill>
                <a:latin typeface="Courier New"/>
              </a:rPr>
              <a:t>for s in styles[:10]:</a:t>
            </a:r>
          </a:p>
          <a:p>
            <a:pPr>
              <a:defRPr sz="1200" b="0">
                <a:solidFill>
                  <a:srgbClr val="F8FAFC"/>
                </a:solidFill>
                <a:latin typeface="Courier New"/>
              </a:defRPr>
            </a:pPr>
            <a:r>
              <a:rPr sz="1200" b="0">
                <a:solidFill>
                  <a:srgbClr val="F8FAFC"/>
                </a:solidFill>
                <a:latin typeface="Courier New"/>
              </a:rPr>
              <a:t>    print(f'  - {s}')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039 — Matplotlib: stylesheets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Catalogo.</a:t>
            </a:r>
          </a:p>
          <a:p>
            <a:pPr>
              <a:spcAft>
                <a:spcPts val="800"/>
              </a:spcAft>
              <a:defRPr sz="1400" b="0">
                <a:solidFill>
                  <a:srgbClr val="0F172A"/>
                </a:solidFill>
                <a:latin typeface="Segoe UI"/>
              </a:defRPr>
            </a:pPr>
            <a:r>
              <a:rPr sz="1400" b="0">
                <a:solidFill>
                  <a:srgbClr val="0F172A"/>
                </a:solidFill>
                <a:latin typeface="Segoe UI"/>
              </a:rPr>
              <a:t>• Galería visual.</a:t>
            </a:r>
          </a:p>
          <a:p>
            <a:pPr>
              <a:spcAft>
                <a:spcPts val="800"/>
              </a:spcAft>
              <a:defRPr sz="1400" b="0">
                <a:solidFill>
                  <a:srgbClr val="0F172A"/>
                </a:solidFill>
                <a:latin typeface="Segoe UI"/>
              </a:defRPr>
            </a:pPr>
            <a:r>
              <a:rPr sz="1400" b="0">
                <a:solidFill>
                  <a:srgbClr val="0F172A"/>
                </a:solidFill>
                <a:latin typeface="Segoe UI"/>
              </a:rPr>
              <a:t>• Bloque temporal.</a:t>
            </a:r>
          </a:p>
          <a:p>
            <a:pPr>
              <a:spcAft>
                <a:spcPts val="800"/>
              </a:spcAft>
              <a:defRPr sz="1400" b="0">
                <a:solidFill>
                  <a:srgbClr val="0F172A"/>
                </a:solidFill>
                <a:latin typeface="Segoe UI"/>
              </a:defRPr>
            </a:pPr>
            <a:r>
              <a:rPr sz="1400" b="0">
                <a:solidFill>
                  <a:srgbClr val="0F172A"/>
                </a:solidFill>
                <a:latin typeface="Segoe UI"/>
              </a:rPr>
              <a:t>• Style propio.</a:t>
            </a:r>
          </a:p>
          <a:p>
            <a:pPr>
              <a:spcAft>
                <a:spcPts val="800"/>
              </a:spcAft>
              <a:defRPr sz="1400" b="0">
                <a:solidFill>
                  <a:srgbClr val="0F172A"/>
                </a:solidFill>
                <a:latin typeface="Segoe UI"/>
              </a:defRPr>
            </a:pPr>
            <a:r>
              <a:rPr sz="1400" b="0">
                <a:solidFill>
                  <a:srgbClr val="0F172A"/>
                </a:solidFill>
                <a:latin typeface="Segoe UI"/>
              </a:rPr>
              <a:t>• Style + override.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(a) galería de 4 styles sobre un mismo dataset; (b) crear informe.mplstyle con paleta corporativa simulada (3 colores principales); (c) demo de uso temporal con plt.style.context; (d) comparativa B&amp;N (grayscale) vs color para una figura que podría imprimirse.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040 — Matplotlib: 3D plotting</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040 — Matplotlib: 3D plotting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4 § 4.12 Three-Dimensional Plotting in Matplotlib. · Duración estimada: 45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sepa cuándo (raramente) usar 3D y cómo hacerlo bien: scatter 3D, superficies (plot_surface), wireframes y contornos. Spoiler: la mayoría de las veces un buen 2D + color comunica mejor.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Crear axes 3D con projection='3d'.</a:t>
            </a:r>
          </a:p>
          <a:p>
            <a:pPr>
              <a:spcAft>
                <a:spcPts val="800"/>
              </a:spcAft>
              <a:defRPr sz="1500" b="0">
                <a:solidFill>
                  <a:srgbClr val="0F172A"/>
                </a:solidFill>
                <a:latin typeface="Segoe UI"/>
              </a:defRPr>
            </a:pPr>
            <a:r>
              <a:rPr sz="1500" b="0">
                <a:solidFill>
                  <a:srgbClr val="0F172A"/>
                </a:solidFill>
                <a:latin typeface="Segoe UI"/>
              </a:rPr>
              <a:t>• Scatter, line, surface, wireframe, contour en 3D.</a:t>
            </a:r>
          </a:p>
          <a:p>
            <a:pPr>
              <a:spcAft>
                <a:spcPts val="800"/>
              </a:spcAft>
              <a:defRPr sz="1500" b="0">
                <a:solidFill>
                  <a:srgbClr val="0F172A"/>
                </a:solidFill>
                <a:latin typeface="Segoe UI"/>
              </a:defRPr>
            </a:pPr>
            <a:r>
              <a:rPr sz="1500" b="0">
                <a:solidFill>
                  <a:srgbClr val="0F172A"/>
                </a:solidFill>
                <a:latin typeface="Segoe UI"/>
              </a:rPr>
              <a:t>• Controlar ángulo de vista con ax.view_init(elev, azim).</a:t>
            </a:r>
          </a:p>
          <a:p>
            <a:pPr>
              <a:spcAft>
                <a:spcPts val="800"/>
              </a:spcAft>
              <a:defRPr sz="1500" b="0">
                <a:solidFill>
                  <a:srgbClr val="0F172A"/>
                </a:solidFill>
                <a:latin typeface="Segoe UI"/>
              </a:defRPr>
            </a:pPr>
            <a:r>
              <a:rPr sz="1500" b="0">
                <a:solidFill>
                  <a:srgbClr val="0F172A"/>
                </a:solidFill>
                <a:latin typeface="Segoe UI"/>
              </a:rPr>
              <a:t>• Reconocer cuándo NO usar 3D: la mayoría de las veces hay una alternativa 2D mejor.</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040 — Matplotlib: 3D plotting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projection='3d'</a:t>
            </a:r>
          </a:p>
          <a:p>
            <a:pPr>
              <a:spcAft>
                <a:spcPts val="1000"/>
              </a:spcAft>
              <a:defRPr sz="1600" b="0">
                <a:solidFill>
                  <a:srgbClr val="0F172A"/>
                </a:solidFill>
                <a:latin typeface="Segoe UI"/>
              </a:defRPr>
            </a:pPr>
            <a:r>
              <a:rPr sz="1600" b="0">
                <a:solidFill>
                  <a:srgbClr val="0F172A"/>
                </a:solidFill>
                <a:latin typeface="Segoe UI"/>
              </a:rPr>
              <a:t>• Scatter 3D con codificación por color</a:t>
            </a:r>
          </a:p>
          <a:p>
            <a:pPr>
              <a:spcAft>
                <a:spcPts val="1000"/>
              </a:spcAft>
              <a:defRPr sz="1600" b="0">
                <a:solidFill>
                  <a:srgbClr val="0F172A"/>
                </a:solidFill>
                <a:latin typeface="Segoe UI"/>
              </a:defRPr>
            </a:pPr>
            <a:r>
              <a:rPr sz="1600" b="0">
                <a:solidFill>
                  <a:srgbClr val="0F172A"/>
                </a:solidFill>
                <a:latin typeface="Segoe UI"/>
              </a:rPr>
              <a:t>• plot_surface para z = f(x, y)</a:t>
            </a:r>
          </a:p>
          <a:p>
            <a:pPr>
              <a:spcAft>
                <a:spcPts val="1000"/>
              </a:spcAft>
              <a:defRPr sz="1600" b="0">
                <a:solidFill>
                  <a:srgbClr val="0F172A"/>
                </a:solidFill>
                <a:latin typeface="Segoe UI"/>
              </a:defRPr>
            </a:pPr>
            <a:r>
              <a:rPr sz="1600" b="0">
                <a:solidFill>
                  <a:srgbClr val="0F172A"/>
                </a:solidFill>
                <a:latin typeface="Segoe UI"/>
              </a:rPr>
              <a:t>• plot_wireframe y contour3D</a:t>
            </a:r>
          </a:p>
          <a:p>
            <a:pPr>
              <a:spcAft>
                <a:spcPts val="1000"/>
              </a:spcAft>
              <a:defRPr sz="1600" b="0">
                <a:solidFill>
                  <a:srgbClr val="0F172A"/>
                </a:solidFill>
                <a:latin typeface="Segoe UI"/>
              </a:defRPr>
            </a:pPr>
            <a:r>
              <a:rPr sz="1600" b="0">
                <a:solidFill>
                  <a:srgbClr val="0F172A"/>
                </a:solidFill>
                <a:latin typeface="Segoe UI"/>
              </a:rPr>
              <a:t>• view_init: rotar interactivo</a:t>
            </a:r>
          </a:p>
          <a:p>
            <a:pPr>
              <a:spcAft>
                <a:spcPts val="1000"/>
              </a:spcAft>
              <a:defRPr sz="1600" b="0">
                <a:solidFill>
                  <a:srgbClr val="0F172A"/>
                </a:solidFill>
                <a:latin typeface="Segoe UI"/>
              </a:defRPr>
            </a:pPr>
            <a:r>
              <a:rPr sz="1600" b="0">
                <a:solidFill>
                  <a:srgbClr val="0F172A"/>
                </a:solidFill>
                <a:latin typeface="Segoe UI"/>
              </a:rPr>
              <a:t>• Cuándo NO usar 3D</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040 — Matplotlib: 3D plotting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040 — Matplotlib: 3D plotting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Scatter 3D.</a:t>
            </a:r>
          </a:p>
          <a:p>
            <a:pPr>
              <a:spcAft>
                <a:spcPts val="800"/>
              </a:spcAft>
              <a:defRPr sz="1400" b="0">
                <a:solidFill>
                  <a:srgbClr val="0F172A"/>
                </a:solidFill>
                <a:latin typeface="Segoe UI"/>
              </a:defRPr>
            </a:pPr>
            <a:r>
              <a:rPr sz="1400" b="0">
                <a:solidFill>
                  <a:srgbClr val="0F172A"/>
                </a:solidFill>
                <a:latin typeface="Segoe UI"/>
              </a:rPr>
              <a:t>• Superficie.</a:t>
            </a:r>
          </a:p>
          <a:p>
            <a:pPr>
              <a:spcAft>
                <a:spcPts val="800"/>
              </a:spcAft>
              <a:defRPr sz="1400" b="0">
                <a:solidFill>
                  <a:srgbClr val="0F172A"/>
                </a:solidFill>
                <a:latin typeface="Segoe UI"/>
              </a:defRPr>
            </a:pPr>
            <a:r>
              <a:rPr sz="1400" b="0">
                <a:solidFill>
                  <a:srgbClr val="0F172A"/>
                </a:solidFill>
                <a:latin typeface="Segoe UI"/>
              </a:rPr>
              <a:t>• Wireframe + contour.</a:t>
            </a:r>
          </a:p>
          <a:p>
            <a:pPr>
              <a:spcAft>
                <a:spcPts val="800"/>
              </a:spcAft>
              <a:defRPr sz="1400" b="0">
                <a:solidFill>
                  <a:srgbClr val="0F172A"/>
                </a:solidFill>
                <a:latin typeface="Segoe UI"/>
              </a:defRPr>
            </a:pPr>
            <a:r>
              <a:rPr sz="1400" b="0">
                <a:solidFill>
                  <a:srgbClr val="0F172A"/>
                </a:solidFill>
                <a:latin typeface="Segoe UI"/>
              </a:rPr>
              <a:t>• view_init.</a:t>
            </a:r>
          </a:p>
          <a:p>
            <a:pPr>
              <a:spcAft>
                <a:spcPts val="800"/>
              </a:spcAft>
              <a:defRPr sz="1400" b="0">
                <a:solidFill>
                  <a:srgbClr val="0F172A"/>
                </a:solidFill>
                <a:latin typeface="Segoe UI"/>
              </a:defRPr>
            </a:pPr>
            <a:r>
              <a:rPr sz="1400" b="0">
                <a:solidFill>
                  <a:srgbClr val="0F172A"/>
                </a:solidFill>
                <a:latin typeface="Segoe UI"/>
              </a:rPr>
              <a:t>• Reto: 2D que vence al 3D.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(a) scatter 3D con 4 dimensiones (xyz + color); (b) superficie z=f(x,y); (c) wireframe del mismo z; (d) grilla 2×2 con 4 view_init distintos; (e) ejercicio de "2D vence al 3D": versión 2D del scatter.</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041 — Seaborn: distribuciones, relaciones, categóricas, facetas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041 — Seaborn: distribuciones, relaciones, categóricas, facetas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VanderPlas, cap. 4 § 4.13 Visualization with Seaborn · seaborn docs.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use seaborn cuando aporta sobre matplotlib puro: defaults estéticos, API tipada para DataFrames (x=, y=, hue=, col=), distribuciones (histplot, kdeplot, displot), relaciones (scatterplot, lmplot), categóricas (boxplot, violinplot, swarmplot), y facetas (grilla automática por categoría).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la API moderna (figure-level vs axes-level) y elegir la correcta.</a:t>
            </a:r>
          </a:p>
          <a:p>
            <a:pPr>
              <a:spcAft>
                <a:spcPts val="800"/>
              </a:spcAft>
              <a:defRPr sz="1400" b="0">
                <a:solidFill>
                  <a:srgbClr val="0F172A"/>
                </a:solidFill>
                <a:latin typeface="Segoe UI"/>
              </a:defRPr>
            </a:pPr>
            <a:r>
              <a:rPr sz="1400" b="0">
                <a:solidFill>
                  <a:srgbClr val="0F172A"/>
                </a:solidFill>
                <a:latin typeface="Segoe UI"/>
              </a:rPr>
              <a:t>• Construir un pairplot para EDA rápido de un DataFrame.</a:t>
            </a:r>
          </a:p>
          <a:p>
            <a:pPr>
              <a:spcAft>
                <a:spcPts val="800"/>
              </a:spcAft>
              <a:defRPr sz="1400" b="0">
                <a:solidFill>
                  <a:srgbClr val="0F172A"/>
                </a:solidFill>
                <a:latin typeface="Segoe UI"/>
              </a:defRPr>
            </a:pPr>
            <a:r>
              <a:rPr sz="1400" b="0">
                <a:solidFill>
                  <a:srgbClr val="0F172A"/>
                </a:solidFill>
                <a:latin typeface="Segoe UI"/>
              </a:rPr>
              <a:t>• Codificar 3 dimensiones con hue, style, size.</a:t>
            </a:r>
          </a:p>
          <a:p>
            <a:pPr>
              <a:spcAft>
                <a:spcPts val="800"/>
              </a:spcAft>
              <a:defRPr sz="1400" b="0">
                <a:solidFill>
                  <a:srgbClr val="0F172A"/>
                </a:solidFill>
                <a:latin typeface="Segoe UI"/>
              </a:defRPr>
            </a:pPr>
            <a:r>
              <a:rPr sz="1400" b="0">
                <a:solidFill>
                  <a:srgbClr val="0F172A"/>
                </a:solidFill>
                <a:latin typeface="Segoe UI"/>
              </a:rPr>
              <a:t>• Hacer facetas con col= y row= para grillas automáticas.</a:t>
            </a:r>
          </a:p>
          <a:p>
            <a:pPr>
              <a:spcAft>
                <a:spcPts val="800"/>
              </a:spcAft>
              <a:defRPr sz="1400" b="0">
                <a:solidFill>
                  <a:srgbClr val="0F172A"/>
                </a:solidFill>
                <a:latin typeface="Segoe UI"/>
              </a:defRPr>
            </a:pPr>
            <a:r>
              <a:rPr sz="1400" b="0">
                <a:solidFill>
                  <a:srgbClr val="0F172A"/>
                </a:solidFill>
                <a:latin typeface="Segoe UI"/>
              </a:rPr>
              <a:t>• Personalizar themes con sns.set_theme(style=..., palette=...).</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041 — Seaborn: distribuciones, relaciones, categóricas, facetas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seaborn vs matplotlib</a:t>
            </a:r>
          </a:p>
          <a:p>
            <a:pPr>
              <a:spcAft>
                <a:spcPts val="1000"/>
              </a:spcAft>
              <a:defRPr sz="1600" b="0">
                <a:solidFill>
                  <a:srgbClr val="0F172A"/>
                </a:solidFill>
                <a:latin typeface="Segoe UI"/>
              </a:defRPr>
            </a:pPr>
            <a:r>
              <a:rPr sz="1600" b="0">
                <a:solidFill>
                  <a:srgbClr val="0F172A"/>
                </a:solidFill>
                <a:latin typeface="Segoe UI"/>
              </a:rPr>
              <a:t>• Figure-level (displot, relplot, catplot) vs axes-level (histplot, scatterplot, boxplot)</a:t>
            </a:r>
          </a:p>
          <a:p>
            <a:pPr>
              <a:spcAft>
                <a:spcPts val="1000"/>
              </a:spcAft>
              <a:defRPr sz="1600" b="0">
                <a:solidFill>
                  <a:srgbClr val="0F172A"/>
                </a:solidFill>
                <a:latin typeface="Segoe UI"/>
              </a:defRPr>
            </a:pPr>
            <a:r>
              <a:rPr sz="1600" b="0">
                <a:solidFill>
                  <a:srgbClr val="0F172A"/>
                </a:solidFill>
                <a:latin typeface="Segoe UI"/>
              </a:rPr>
              <a:t>• hue, style, size</a:t>
            </a:r>
          </a:p>
          <a:p>
            <a:pPr>
              <a:spcAft>
                <a:spcPts val="1000"/>
              </a:spcAft>
              <a:defRPr sz="1600" b="0">
                <a:solidFill>
                  <a:srgbClr val="0F172A"/>
                </a:solidFill>
                <a:latin typeface="Segoe UI"/>
              </a:defRPr>
            </a:pPr>
            <a:r>
              <a:rPr sz="1600" b="0">
                <a:solidFill>
                  <a:srgbClr val="0F172A"/>
                </a:solidFill>
                <a:latin typeface="Segoe UI"/>
              </a:rPr>
              <a:t>• Facetas con col, row</a:t>
            </a:r>
          </a:p>
          <a:p>
            <a:pPr>
              <a:spcAft>
                <a:spcPts val="1000"/>
              </a:spcAft>
              <a:defRPr sz="1600" b="0">
                <a:solidFill>
                  <a:srgbClr val="0F172A"/>
                </a:solidFill>
                <a:latin typeface="Segoe UI"/>
              </a:defRPr>
            </a:pPr>
            <a:r>
              <a:rPr sz="1600" b="0">
                <a:solidFill>
                  <a:srgbClr val="0F172A"/>
                </a:solidFill>
                <a:latin typeface="Segoe UI"/>
              </a:rPr>
              <a:t>• pairplot para EDA</a:t>
            </a:r>
          </a:p>
          <a:p>
            <a:pPr>
              <a:spcAft>
                <a:spcPts val="1000"/>
              </a:spcAft>
              <a:defRPr sz="1600" b="0">
                <a:solidFill>
                  <a:srgbClr val="0F172A"/>
                </a:solidFill>
                <a:latin typeface="Segoe UI"/>
              </a:defRPr>
            </a:pPr>
            <a:r>
              <a:rPr sz="1600" b="0">
                <a:solidFill>
                  <a:srgbClr val="0F172A"/>
                </a:solidFill>
                <a:latin typeface="Segoe UI"/>
              </a:rPr>
              <a:t>• Themes y paletas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041 — Seaborn: distribuciones, relaciones, categóricas, facetas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import seaborn as sns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sns.set_theme(style='whitegrid', palette='deep')</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peng = sns.load_dataset('penguins').dropna()</a:t>
            </a:r>
          </a:p>
          <a:p>
            <a:pPr>
              <a:defRPr sz="1200" b="0">
                <a:solidFill>
                  <a:srgbClr val="F8FAFC"/>
                </a:solidFill>
                <a:latin typeface="Courier New"/>
              </a:defRPr>
            </a:pPr>
            <a:r>
              <a:rPr sz="1200" b="0">
                <a:solidFill>
                  <a:srgbClr val="F8FAFC"/>
                </a:solidFill>
                <a:latin typeface="Courier New"/>
              </a:rPr>
              <a:t>    print(f'penguins cargado: {peng.shape}')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print(f'fallback sintético: {e}')</a:t>
            </a:r>
          </a:p>
          <a:p>
            <a:pPr>
              <a:defRPr sz="1200" b="0">
                <a:solidFill>
                  <a:srgbClr val="F8FAFC"/>
                </a:solidFill>
                <a:latin typeface="Courier New"/>
              </a:defRPr>
            </a:pPr>
            <a:r>
              <a:rPr sz="1200" b="0">
                <a:solidFill>
                  <a:srgbClr val="F8FAFC"/>
                </a:solidFill>
                <a:latin typeface="Courier New"/>
              </a:rPr>
              <a:t>    rng = np.random.default_rng(42)</a:t>
            </a:r>
          </a:p>
          <a:p>
            <a:pPr>
              <a:defRPr sz="1200" b="0">
                <a:solidFill>
                  <a:srgbClr val="F8FAFC"/>
                </a:solidFill>
                <a:latin typeface="Courier New"/>
              </a:defRPr>
            </a:pPr>
            <a:r>
              <a:rPr sz="1200" b="0">
                <a:solidFill>
                  <a:srgbClr val="F8FAFC"/>
                </a:solidFill>
                <a:latin typeface="Courier New"/>
              </a:rPr>
              <a:t>    peng = pd.DataFrame({</a:t>
            </a:r>
          </a:p>
          <a:p>
            <a:pPr>
              <a:defRPr sz="1200" b="0">
                <a:solidFill>
                  <a:srgbClr val="F8FAFC"/>
                </a:solidFill>
                <a:latin typeface="Courier New"/>
              </a:defRPr>
            </a:pPr>
            <a:r>
              <a:rPr sz="1200" b="0">
                <a:solidFill>
                  <a:srgbClr val="F8FAFC"/>
                </a:solidFill>
                <a:latin typeface="Courier New"/>
              </a:rPr>
              <a:t>        'species': np.repeat(['Adelie', 'Chinstrap', 'Gentoo'], [50, 30, 40]),</a:t>
            </a:r>
          </a:p>
          <a:p>
            <a:pPr>
              <a:defRPr sz="1200" b="0">
                <a:solidFill>
                  <a:srgbClr val="F8FAFC"/>
                </a:solidFill>
                <a:latin typeface="Courier New"/>
              </a:defRPr>
            </a:pPr>
            <a:r>
              <a:rPr sz="1200" b="0">
                <a:solidFill>
                  <a:srgbClr val="F8FAFC"/>
                </a:solidFill>
                <a:latin typeface="Courier New"/>
              </a:rPr>
              <a:t>        'sex'    : np.tile(['Male', 'Female'], 60),</a:t>
            </a:r>
          </a:p>
          <a:p>
            <a:pPr>
              <a:defRPr sz="1200" b="0">
                <a:solidFill>
                  <a:srgbClr val="F8FAFC"/>
                </a:solidFill>
                <a:latin typeface="Courier New"/>
              </a:defRPr>
            </a:pPr>
            <a:r>
              <a:rPr sz="1200" b="0">
                <a:solidFill>
                  <a:srgbClr val="F8FAFC"/>
                </a:solidFill>
                <a:latin typeface="Courier New"/>
              </a:rPr>
              <a:t>        'bill_length_mm'  : np.concatenate([rng.normal(39, 2, 50), rng.normal(48, 3, 30), rng.normal(48, 3, 40)]),</a:t>
            </a:r>
          </a:p>
          <a:p>
            <a:pPr>
              <a:defRPr sz="1200" b="0">
                <a:solidFill>
                  <a:srgbClr val="F8FAFC"/>
                </a:solidFill>
                <a:latin typeface="Courier New"/>
              </a:defRPr>
            </a:pPr>
            <a:r>
              <a:rPr sz="1200" b="0">
                <a:solidFill>
                  <a:srgbClr val="F8FAFC"/>
                </a:solidFill>
                <a:latin typeface="Courier New"/>
              </a:rPr>
              <a:t>        'bill_depth_mm'   : np.concatenate([rng.normal(18, 1, 50), rng.normal(18, 1, 30), rng.normal(15, 1, 40)]),</a:t>
            </a:r>
          </a:p>
          <a:p>
            <a:pPr>
              <a:defRPr sz="1200" b="0">
                <a:solidFill>
                  <a:srgbClr val="F8FAFC"/>
                </a:solidFill>
                <a:latin typeface="Courier New"/>
              </a:defRPr>
            </a:pPr>
            <a:r>
              <a:rPr sz="1200" b="0">
                <a:solidFill>
                  <a:srgbClr val="F8FAFC"/>
                </a:solidFill>
                <a:latin typeface="Courier New"/>
              </a:rPr>
              <a:t>        'flipper_length_mm': np.concatenate([rng.normal(190, 6, 50), rng.normal(196, 7, 30), rng.normal(217, 7, 40)]),</a:t>
            </a:r>
          </a:p>
          <a:p>
            <a:pPr>
              <a:defRPr sz="1200" b="0">
                <a:solidFill>
                  <a:srgbClr val="F8FAFC"/>
                </a:solidFill>
                <a:latin typeface="Courier New"/>
              </a:defRPr>
            </a:pPr>
            <a:r>
              <a:rPr sz="1200" b="0">
                <a:solidFill>
                  <a:srgbClr val="F8FAFC"/>
                </a:solidFill>
                <a:latin typeface="Courier New"/>
              </a:rPr>
              <a:t>        'body_mass_g'     : np.concatenate([rng.normal(3700, 400, 50), rng.normal(3700, 400, 30), rng.normal(5050, 500, 40)]),</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041 — Seaborn: distribuciones, relaciones, categóricas, facetas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Pairplot.</a:t>
            </a:r>
          </a:p>
          <a:p>
            <a:pPr>
              <a:spcAft>
                <a:spcPts val="800"/>
              </a:spcAft>
              <a:defRPr sz="1400" b="0">
                <a:solidFill>
                  <a:srgbClr val="0F172A"/>
                </a:solidFill>
                <a:latin typeface="Segoe UI"/>
              </a:defRPr>
            </a:pPr>
            <a:r>
              <a:rPr sz="1400" b="0">
                <a:solidFill>
                  <a:srgbClr val="0F172A"/>
                </a:solidFill>
                <a:latin typeface="Segoe UI"/>
              </a:rPr>
              <a:t>• Scatter con hue + size.</a:t>
            </a:r>
          </a:p>
          <a:p>
            <a:pPr>
              <a:spcAft>
                <a:spcPts val="800"/>
              </a:spcAft>
              <a:defRPr sz="1400" b="0">
                <a:solidFill>
                  <a:srgbClr val="0F172A"/>
                </a:solidFill>
                <a:latin typeface="Segoe UI"/>
              </a:defRPr>
            </a:pPr>
            <a:r>
              <a:rPr sz="1400" b="0">
                <a:solidFill>
                  <a:srgbClr val="0F172A"/>
                </a:solidFill>
                <a:latin typeface="Segoe UI"/>
              </a:rPr>
              <a:t>• KDE distribución.</a:t>
            </a:r>
          </a:p>
          <a:p>
            <a:pPr>
              <a:spcAft>
                <a:spcPts val="800"/>
              </a:spcAft>
              <a:defRPr sz="1400" b="0">
                <a:solidFill>
                  <a:srgbClr val="0F172A"/>
                </a:solidFill>
                <a:latin typeface="Segoe UI"/>
              </a:defRPr>
            </a:pPr>
            <a:r>
              <a:rPr sz="1400" b="0">
                <a:solidFill>
                  <a:srgbClr val="0F172A"/>
                </a:solidFill>
                <a:latin typeface="Segoe UI"/>
              </a:rPr>
              <a:t>• Boxplot + swarm.</a:t>
            </a:r>
          </a:p>
          <a:p>
            <a:pPr>
              <a:spcAft>
                <a:spcPts val="800"/>
              </a:spcAft>
              <a:defRPr sz="1400" b="0">
                <a:solidFill>
                  <a:srgbClr val="0F172A"/>
                </a:solidFill>
                <a:latin typeface="Segoe UI"/>
              </a:defRPr>
            </a:pPr>
            <a:r>
              <a:rPr sz="1400" b="0">
                <a:solidFill>
                  <a:srgbClr val="0F172A"/>
                </a:solidFill>
                <a:latin typeface="Segoe UI"/>
              </a:rPr>
              <a:t>• Facetas.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penguins: (a) pairplot completo; (b) violin + swarm de body_mass por (species, sex); (c) faceta 2×3 de scatter; (d) tema custom + paleta; (e) decisión documentada: cuándo usar figure-level vs axes-level.</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042 — Visualización geográfica (Plotly / folium)</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042 — Visualización geográfica (Plotly / folium)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Plotly Choropleth docs · folium docs · Cartographies of the Mind (background). · Duración estimada: 60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construya mapas básicos cuando los datos tienen componente geográfico: folium (mapas Leaflet interactivos, markers, choropleth), plotly (choropleth, scatter geo). Sin entrar a GIS profundo (eso es geopandas, fuera del scope de Parte 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mapa folium centrado, con tile layer básico.</a:t>
            </a:r>
          </a:p>
          <a:p>
            <a:pPr>
              <a:spcAft>
                <a:spcPts val="800"/>
              </a:spcAft>
              <a:defRPr sz="1400" b="0">
                <a:solidFill>
                  <a:srgbClr val="0F172A"/>
                </a:solidFill>
                <a:latin typeface="Segoe UI"/>
              </a:defRPr>
            </a:pPr>
            <a:r>
              <a:rPr sz="1400" b="0">
                <a:solidFill>
                  <a:srgbClr val="0F172A"/>
                </a:solidFill>
                <a:latin typeface="Segoe UI"/>
              </a:rPr>
              <a:t>• Añadir markers con popup, tooltip, color según valor.</a:t>
            </a:r>
          </a:p>
          <a:p>
            <a:pPr>
              <a:spcAft>
                <a:spcPts val="800"/>
              </a:spcAft>
              <a:defRPr sz="1400" b="0">
                <a:solidFill>
                  <a:srgbClr val="0F172A"/>
                </a:solidFill>
                <a:latin typeface="Segoe UI"/>
              </a:defRPr>
            </a:pPr>
            <a:r>
              <a:rPr sz="1400" b="0">
                <a:solidFill>
                  <a:srgbClr val="0F172A"/>
                </a:solidFill>
                <a:latin typeface="Segoe UI"/>
              </a:rPr>
              <a:t>• Construir choropleth (mapa de calor por región) con folium o plotly.</a:t>
            </a:r>
          </a:p>
          <a:p>
            <a:pPr>
              <a:spcAft>
                <a:spcPts val="800"/>
              </a:spcAft>
              <a:defRPr sz="1400" b="0">
                <a:solidFill>
                  <a:srgbClr val="0F172A"/>
                </a:solidFill>
                <a:latin typeface="Segoe UI"/>
              </a:defRPr>
            </a:pPr>
            <a:r>
              <a:rPr sz="1400" b="0">
                <a:solidFill>
                  <a:srgbClr val="0F172A"/>
                </a:solidFill>
                <a:latin typeface="Segoe UI"/>
              </a:rPr>
              <a:t>• Decidir entre folium y plotly geo según destino (HTML standalone vs dashboard).</a:t>
            </a:r>
          </a:p>
          <a:p>
            <a:pPr>
              <a:spcAft>
                <a:spcPts val="800"/>
              </a:spcAft>
              <a:defRPr sz="1400" b="0">
                <a:solidFill>
                  <a:srgbClr val="0F172A"/>
                </a:solidFill>
                <a:latin typeface="Segoe UI"/>
              </a:defRPr>
            </a:pPr>
            <a:r>
              <a:rPr sz="1400" b="0">
                <a:solidFill>
                  <a:srgbClr val="0F172A"/>
                </a:solidFill>
                <a:latin typeface="Segoe UI"/>
              </a:rPr>
              <a:t>• Citar fuentes de tiles y GeoJSON públicos.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042 — Visualización geográfica (Plotly / folium)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Sistemas de coordenadas: lat/lng</a:t>
            </a:r>
          </a:p>
          <a:p>
            <a:pPr>
              <a:spcAft>
                <a:spcPts val="1000"/>
              </a:spcAft>
              <a:defRPr sz="1600" b="0">
                <a:solidFill>
                  <a:srgbClr val="0F172A"/>
                </a:solidFill>
                <a:latin typeface="Segoe UI"/>
              </a:defRPr>
            </a:pPr>
            <a:r>
              <a:rPr sz="1600" b="0">
                <a:solidFill>
                  <a:srgbClr val="0F172A"/>
                </a:solidFill>
                <a:latin typeface="Segoe UI"/>
              </a:rPr>
              <a:t>• folium: mapa + markers + popups</a:t>
            </a:r>
          </a:p>
          <a:p>
            <a:pPr>
              <a:spcAft>
                <a:spcPts val="1000"/>
              </a:spcAft>
              <a:defRPr sz="1600" b="0">
                <a:solidFill>
                  <a:srgbClr val="0F172A"/>
                </a:solidFill>
                <a:latin typeface="Segoe UI"/>
              </a:defRPr>
            </a:pPr>
            <a:r>
              <a:rPr sz="1600" b="0">
                <a:solidFill>
                  <a:srgbClr val="0F172A"/>
                </a:solidFill>
                <a:latin typeface="Segoe UI"/>
              </a:rPr>
              <a:t>• folium choropleth con GeoJSON</a:t>
            </a:r>
          </a:p>
          <a:p>
            <a:pPr>
              <a:spcAft>
                <a:spcPts val="1000"/>
              </a:spcAft>
              <a:defRPr sz="1600" b="0">
                <a:solidFill>
                  <a:srgbClr val="0F172A"/>
                </a:solidFill>
                <a:latin typeface="Segoe UI"/>
              </a:defRPr>
            </a:pPr>
            <a:r>
              <a:rPr sz="1600" b="0">
                <a:solidFill>
                  <a:srgbClr val="0F172A"/>
                </a:solidFill>
                <a:latin typeface="Segoe UI"/>
              </a:rPr>
              <a:t>• plotly choropleth y scatter_geo</a:t>
            </a:r>
          </a:p>
          <a:p>
            <a:pPr>
              <a:spcAft>
                <a:spcPts val="1000"/>
              </a:spcAft>
              <a:defRPr sz="1600" b="0">
                <a:solidFill>
                  <a:srgbClr val="0F172A"/>
                </a:solidFill>
                <a:latin typeface="Segoe UI"/>
              </a:defRPr>
            </a:pPr>
            <a:r>
              <a:rPr sz="1600" b="0">
                <a:solidFill>
                  <a:srgbClr val="0F172A"/>
                </a:solidFill>
                <a:latin typeface="Segoe UI"/>
              </a:rPr>
              <a:t>• Tile providers (OSM, CartoDB)</a:t>
            </a:r>
          </a:p>
          <a:p>
            <a:pPr>
              <a:spcAft>
                <a:spcPts val="1000"/>
              </a:spcAft>
              <a:defRPr sz="1600" b="0">
                <a:solidFill>
                  <a:srgbClr val="0F172A"/>
                </a:solidFill>
                <a:latin typeface="Segoe UI"/>
              </a:defRPr>
            </a:pPr>
            <a:r>
              <a:rPr sz="1600" b="0">
                <a:solidFill>
                  <a:srgbClr val="0F172A"/>
                </a:solidFill>
                <a:latin typeface="Segoe UI"/>
              </a:rPr>
              <a:t>• Cuándo geopandas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042 — Visualización geográfica (Plotly / folium)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`bash pip install folium plotly `</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folium</a:t>
            </a:r>
          </a:p>
          <a:p>
            <a:pPr>
              <a:defRPr sz="1200" b="0">
                <a:solidFill>
                  <a:srgbClr val="F8FAFC"/>
                </a:solidFill>
                <a:latin typeface="Courier New"/>
              </a:defRPr>
            </a:pPr>
            <a:r>
              <a:rPr sz="1200" b="0">
                <a:solidFill>
                  <a:srgbClr val="F8FAFC"/>
                </a:solidFill>
                <a:latin typeface="Courier New"/>
              </a:rPr>
              <a:t>    import plotly.express as px</a:t>
            </a:r>
          </a:p>
          <a:p>
            <a:pPr>
              <a:defRPr sz="1200" b="0">
                <a:solidFill>
                  <a:srgbClr val="F8FAFC"/>
                </a:solidFill>
                <a:latin typeface="Courier New"/>
              </a:defRPr>
            </a:pPr>
            <a:r>
              <a:rPr sz="1200" b="0">
                <a:solidFill>
                  <a:srgbClr val="F8FAFC"/>
                </a:solidFill>
                <a:latin typeface="Courier New"/>
              </a:rPr>
              <a:t>    print(f'folium: {folium.__version__}')</a:t>
            </a:r>
          </a:p>
          <a:p>
            <a:pPr>
              <a:defRPr sz="1200" b="0">
                <a:solidFill>
                  <a:srgbClr val="F8FAFC"/>
                </a:solidFill>
                <a:latin typeface="Courier New"/>
              </a:defRPr>
            </a:pPr>
            <a:r>
              <a:rPr sz="1200" b="0">
                <a:solidFill>
                  <a:srgbClr val="F8FAFC"/>
                </a:solidFill>
                <a:latin typeface="Courier New"/>
              </a:rPr>
              <a:t>    print('plotly OK')</a:t>
            </a:r>
          </a:p>
          <a:p>
            <a:pPr>
              <a:defRPr sz="1200" b="0">
                <a:solidFill>
                  <a:srgbClr val="F8FAFC"/>
                </a:solidFill>
                <a:latin typeface="Courier New"/>
              </a:defRPr>
            </a:pPr>
            <a:r>
              <a:rPr sz="1200" b="0">
                <a:solidFill>
                  <a:srgbClr val="F8FAFC"/>
                </a:solidFill>
                <a:latin typeface="Courier New"/>
              </a:rPr>
              <a:t>except ImportError as e:</a:t>
            </a:r>
          </a:p>
          <a:p>
            <a:pPr>
              <a:defRPr sz="1200" b="0">
                <a:solidFill>
                  <a:srgbClr val="F8FAFC"/>
                </a:solidFill>
                <a:latin typeface="Courier New"/>
              </a:defRPr>
            </a:pPr>
            <a:r>
              <a:rPr sz="1200" b="0">
                <a:solidFill>
                  <a:srgbClr val="F8FAFC"/>
                </a:solidFill>
                <a:latin typeface="Courier New"/>
              </a:rPr>
              <a:t>    print(f'Instala dependencias: pip install folium plotly  ({e})')</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042 — Visualización geográfica (Plotly / folium)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Mapa con markers.</a:t>
            </a:r>
          </a:p>
          <a:p>
            <a:pPr>
              <a:spcAft>
                <a:spcPts val="800"/>
              </a:spcAft>
              <a:defRPr sz="1400" b="0">
                <a:solidFill>
                  <a:srgbClr val="0F172A"/>
                </a:solidFill>
                <a:latin typeface="Segoe UI"/>
              </a:defRPr>
            </a:pPr>
            <a:r>
              <a:rPr sz="1400" b="0">
                <a:solidFill>
                  <a:srgbClr val="0F172A"/>
                </a:solidFill>
                <a:latin typeface="Segoe UI"/>
              </a:rPr>
              <a:t>• Markers coloreados.</a:t>
            </a:r>
          </a:p>
          <a:p>
            <a:pPr>
              <a:spcAft>
                <a:spcPts val="800"/>
              </a:spcAft>
              <a:defRPr sz="1400" b="0">
                <a:solidFill>
                  <a:srgbClr val="0F172A"/>
                </a:solidFill>
                <a:latin typeface="Segoe UI"/>
              </a:defRPr>
            </a:pPr>
            <a:r>
              <a:rPr sz="1400" b="0">
                <a:solidFill>
                  <a:srgbClr val="0F172A"/>
                </a:solidFill>
                <a:latin typeface="Segoe UI"/>
              </a:rPr>
              <a:t>• Choropleth folium.</a:t>
            </a:r>
          </a:p>
          <a:p>
            <a:pPr>
              <a:spcAft>
                <a:spcPts val="800"/>
              </a:spcAft>
              <a:defRPr sz="1400" b="0">
                <a:solidFill>
                  <a:srgbClr val="0F172A"/>
                </a:solidFill>
                <a:latin typeface="Segoe UI"/>
              </a:defRPr>
            </a:pPr>
            <a:r>
              <a:rPr sz="1400" b="0">
                <a:solidFill>
                  <a:srgbClr val="0F172A"/>
                </a:solidFill>
                <a:latin typeface="Segoe UI"/>
              </a:rPr>
              <a:t>• Choropleth plotly.</a:t>
            </a:r>
          </a:p>
          <a:p>
            <a:pPr>
              <a:spcAft>
                <a:spcPts val="800"/>
              </a:spcAft>
              <a:defRPr sz="1400" b="0">
                <a:solidFill>
                  <a:srgbClr val="0F172A"/>
                </a:solidFill>
                <a:latin typeface="Segoe UI"/>
              </a:defRPr>
            </a:pPr>
            <a:r>
              <a:rPr sz="1400" b="0">
                <a:solidFill>
                  <a:srgbClr val="0F172A"/>
                </a:solidFill>
                <a:latin typeface="Segoe UI"/>
              </a:rPr>
              <a:t>• Comparar.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(a) mapa folium con 10+ markers + popups + tooltips; (b) choropleth folium de un dataset por país; (c) mismo choropleth con plotly express; (d) reporte 1-párrafo comparando ambos.</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043 — SQL fundamental: SELECT, WHERE, JOIN, GROUP BY, HAVING</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043 — SQL fundamental: SELECT, WHERE, JOIN, GROUP BY, HAVING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SQL for Data Scientists (Tanimura) caps. 1-3 · SQLite docs · DuckDB docs. · Duración estimada: 120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escriba consultas SQL no triviales — SELECT con filtros, JOINs (inner/left), agregaciones con GROUP BY y filtros sobre agregados con HAVING. Y entienda el orden de ejecución lógico (FROM → WHERE → GROUP BY → HAVING → SELECT → ORDER BY → LIMIT), que es lo que confunde a todo el mundo al principio.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SELECT con filtros WHERE y operadores (=, &lt;&gt;, IN, BETWEEN, LIKE, IS NULL).</a:t>
            </a:r>
          </a:p>
          <a:p>
            <a:pPr>
              <a:spcAft>
                <a:spcPts val="800"/>
              </a:spcAft>
              <a:defRPr sz="1400" b="0">
                <a:solidFill>
                  <a:srgbClr val="0F172A"/>
                </a:solidFill>
                <a:latin typeface="Segoe UI"/>
              </a:defRPr>
            </a:pPr>
            <a:r>
              <a:rPr sz="1400" b="0">
                <a:solidFill>
                  <a:srgbClr val="0F172A"/>
                </a:solidFill>
                <a:latin typeface="Segoe UI"/>
              </a:rPr>
              <a:t>• Hacer JOIN (INNER, LEFT, RIGHT, FULL) y reconocer cuándo cada uno.</a:t>
            </a:r>
          </a:p>
          <a:p>
            <a:pPr>
              <a:spcAft>
                <a:spcPts val="800"/>
              </a:spcAft>
              <a:defRPr sz="1400" b="0">
                <a:solidFill>
                  <a:srgbClr val="0F172A"/>
                </a:solidFill>
                <a:latin typeface="Segoe UI"/>
              </a:defRPr>
            </a:pPr>
            <a:r>
              <a:rPr sz="1400" b="0">
                <a:solidFill>
                  <a:srgbClr val="0F172A"/>
                </a:solidFill>
                <a:latin typeface="Segoe UI"/>
              </a:rPr>
              <a:t>• Agrupar y agregar con GROUP BY + COUNT, SUM, AVG, MAX, MIN.</a:t>
            </a:r>
          </a:p>
          <a:p>
            <a:pPr>
              <a:spcAft>
                <a:spcPts val="800"/>
              </a:spcAft>
              <a:defRPr sz="1400" b="0">
                <a:solidFill>
                  <a:srgbClr val="0F172A"/>
                </a:solidFill>
                <a:latin typeface="Segoe UI"/>
              </a:defRPr>
            </a:pPr>
            <a:r>
              <a:rPr sz="1400" b="0">
                <a:solidFill>
                  <a:srgbClr val="0F172A"/>
                </a:solidFill>
                <a:latin typeface="Segoe UI"/>
              </a:rPr>
              <a:t>• Filtrar agregados con HAVING (no se puede con WHERE).</a:t>
            </a:r>
          </a:p>
          <a:p>
            <a:pPr>
              <a:spcAft>
                <a:spcPts val="800"/>
              </a:spcAft>
              <a:defRPr sz="1400" b="0">
                <a:solidFill>
                  <a:srgbClr val="0F172A"/>
                </a:solidFill>
                <a:latin typeface="Segoe UI"/>
              </a:defRPr>
            </a:pPr>
            <a:r>
              <a:rPr sz="1400" b="0">
                <a:solidFill>
                  <a:srgbClr val="0F172A"/>
                </a:solidFill>
                <a:latin typeface="Segoe UI"/>
              </a:rPr>
              <a:t>• Recitar el orden lógico: FROM → WHERE → GROUP BY → HAVING → SELECT → ORDER BY → LIMIT.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043 — SQL fundamental: SELECT, WHERE, JOIN, GROUP BY, HAVING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SELECT, FROM, WHERE</a:t>
            </a:r>
          </a:p>
          <a:p>
            <a:pPr>
              <a:spcAft>
                <a:spcPts val="1000"/>
              </a:spcAft>
              <a:defRPr sz="1600" b="0">
                <a:solidFill>
                  <a:srgbClr val="0F172A"/>
                </a:solidFill>
                <a:latin typeface="Segoe UI"/>
              </a:defRPr>
            </a:pPr>
            <a:r>
              <a:rPr sz="1600" b="0">
                <a:solidFill>
                  <a:srgbClr val="0F172A"/>
                </a:solidFill>
                <a:latin typeface="Segoe UI"/>
              </a:rPr>
              <a:t>• Operadores WHERE</a:t>
            </a:r>
          </a:p>
          <a:p>
            <a:pPr>
              <a:spcAft>
                <a:spcPts val="1000"/>
              </a:spcAft>
              <a:defRPr sz="1600" b="0">
                <a:solidFill>
                  <a:srgbClr val="0F172A"/>
                </a:solidFill>
                <a:latin typeface="Segoe UI"/>
              </a:defRPr>
            </a:pPr>
            <a:r>
              <a:rPr sz="1600" b="0">
                <a:solidFill>
                  <a:srgbClr val="0F172A"/>
                </a:solidFill>
                <a:latin typeface="Segoe UI"/>
              </a:rPr>
              <a:t>• JOINs (inner/left/right/full)</a:t>
            </a:r>
          </a:p>
          <a:p>
            <a:pPr>
              <a:spcAft>
                <a:spcPts val="1000"/>
              </a:spcAft>
              <a:defRPr sz="1600" b="0">
                <a:solidFill>
                  <a:srgbClr val="0F172A"/>
                </a:solidFill>
                <a:latin typeface="Segoe UI"/>
              </a:defRPr>
            </a:pPr>
            <a:r>
              <a:rPr sz="1600" b="0">
                <a:solidFill>
                  <a:srgbClr val="0F172A"/>
                </a:solidFill>
                <a:latin typeface="Segoe UI"/>
              </a:rPr>
              <a:t>• GROUP BY + agregadas</a:t>
            </a:r>
          </a:p>
          <a:p>
            <a:pPr>
              <a:spcAft>
                <a:spcPts val="1000"/>
              </a:spcAft>
              <a:defRPr sz="1600" b="0">
                <a:solidFill>
                  <a:srgbClr val="0F172A"/>
                </a:solidFill>
                <a:latin typeface="Segoe UI"/>
              </a:defRPr>
            </a:pPr>
            <a:r>
              <a:rPr sz="1600" b="0">
                <a:solidFill>
                  <a:srgbClr val="0F172A"/>
                </a:solidFill>
                <a:latin typeface="Segoe UI"/>
              </a:rPr>
              <a:t>• HAVING vs WHERE</a:t>
            </a:r>
          </a:p>
          <a:p>
            <a:pPr>
              <a:spcAft>
                <a:spcPts val="1000"/>
              </a:spcAft>
              <a:defRPr sz="1600" b="0">
                <a:solidFill>
                  <a:srgbClr val="0F172A"/>
                </a:solidFill>
                <a:latin typeface="Segoe UI"/>
              </a:defRPr>
            </a:pPr>
            <a:r>
              <a:rPr sz="1600" b="0">
                <a:solidFill>
                  <a:srgbClr val="0F172A"/>
                </a:solidFill>
                <a:latin typeface="Segoe UI"/>
              </a:rPr>
              <a:t>• ORDER BY, LIMIT, OFFSET</a:t>
            </a:r>
          </a:p>
          <a:p>
            <a:pPr>
              <a:spcAft>
                <a:spcPts val="1000"/>
              </a:spcAft>
              <a:defRPr sz="1600" b="0">
                <a:solidFill>
                  <a:srgbClr val="0F172A"/>
                </a:solidFill>
                <a:latin typeface="Segoe UI"/>
              </a:defRPr>
            </a:pPr>
            <a:r>
              <a:rPr sz="1600" b="0">
                <a:solidFill>
                  <a:srgbClr val="0F172A"/>
                </a:solidFill>
                <a:latin typeface="Segoe UI"/>
              </a:rPr>
              <a:t>• Orden lógico ≠ orden escrito</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043 — SQL fundamental: SELECT, WHERE, JOIN, GROUP BY, HAVING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sqlite3</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con = sqlite3.connect(':memory:')</a:t>
            </a:r>
          </a:p>
          <a:p>
            <a:pPr>
              <a:defRPr sz="1200" b="0">
                <a:solidFill>
                  <a:srgbClr val="F8FAFC"/>
                </a:solidFill>
                <a:latin typeface="Courier New"/>
              </a:defRPr>
            </a:pPr>
            <a:r>
              <a:rPr sz="1200" b="0">
                <a:solidFill>
                  <a:srgbClr val="F8FAFC"/>
                </a:solidFill>
                <a:latin typeface="Courier New"/>
              </a:rPr>
              <a:t>con.executescript('''</a:t>
            </a:r>
          </a:p>
          <a:p>
            <a:pPr>
              <a:defRPr sz="1200" b="0">
                <a:solidFill>
                  <a:srgbClr val="F8FAFC"/>
                </a:solidFill>
                <a:latin typeface="Courier New"/>
              </a:defRPr>
            </a:pPr>
            <a:r>
              <a:rPr sz="1200" b="0">
                <a:solidFill>
                  <a:srgbClr val="F8FAFC"/>
                </a:solidFill>
                <a:latin typeface="Courier New"/>
              </a:rPr>
              <a:t>CREATE TABLE clientes (</a:t>
            </a:r>
          </a:p>
          <a:p>
            <a:pPr>
              <a:defRPr sz="1200" b="0">
                <a:solidFill>
                  <a:srgbClr val="F8FAFC"/>
                </a:solidFill>
                <a:latin typeface="Courier New"/>
              </a:defRPr>
            </a:pPr>
            <a:r>
              <a:rPr sz="1200" b="0">
                <a:solidFill>
                  <a:srgbClr val="F8FAFC"/>
                </a:solidFill>
                <a:latin typeface="Courier New"/>
              </a:rPr>
              <a:t>    cliente_id INTEGER PRIMARY KEY,</a:t>
            </a:r>
          </a:p>
          <a:p>
            <a:pPr>
              <a:defRPr sz="1200" b="0">
                <a:solidFill>
                  <a:srgbClr val="F8FAFC"/>
                </a:solidFill>
                <a:latin typeface="Courier New"/>
              </a:defRPr>
            </a:pPr>
            <a:r>
              <a:rPr sz="1200" b="0">
                <a:solidFill>
                  <a:srgbClr val="F8FAFC"/>
                </a:solidFill>
                <a:latin typeface="Courier New"/>
              </a:rPr>
              <a:t>    nombre TEXT NOT NULL,</a:t>
            </a:r>
          </a:p>
          <a:p>
            <a:pPr>
              <a:defRPr sz="1200" b="0">
                <a:solidFill>
                  <a:srgbClr val="F8FAFC"/>
                </a:solidFill>
                <a:latin typeface="Courier New"/>
              </a:defRPr>
            </a:pPr>
            <a:r>
              <a:rPr sz="1200" b="0">
                <a:solidFill>
                  <a:srgbClr val="F8FAFC"/>
                </a:solidFill>
                <a:latin typeface="Courier New"/>
              </a:rPr>
              <a:t>    pais TEXT,</a:t>
            </a:r>
          </a:p>
          <a:p>
            <a:pPr>
              <a:defRPr sz="1200" b="0">
                <a:solidFill>
                  <a:srgbClr val="F8FAFC"/>
                </a:solidFill>
                <a:latin typeface="Courier New"/>
              </a:defRPr>
            </a:pPr>
            <a:r>
              <a:rPr sz="1200" b="0">
                <a:solidFill>
                  <a:srgbClr val="F8FAFC"/>
                </a:solidFill>
                <a:latin typeface="Courier New"/>
              </a:rPr>
              <a:t>    plan TEXT</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CREATE TABLE ordenes (</a:t>
            </a:r>
          </a:p>
          <a:p>
            <a:pPr>
              <a:defRPr sz="1200" b="0">
                <a:solidFill>
                  <a:srgbClr val="F8FAFC"/>
                </a:solidFill>
                <a:latin typeface="Courier New"/>
              </a:defRPr>
            </a:pPr>
            <a:r>
              <a:rPr sz="1200" b="0">
                <a:solidFill>
                  <a:srgbClr val="F8FAFC"/>
                </a:solidFill>
                <a:latin typeface="Courier New"/>
              </a:rPr>
              <a:t>    orden_id INTEGER PRIMARY KEY,</a:t>
            </a:r>
          </a:p>
          <a:p>
            <a:pPr>
              <a:defRPr sz="1200" b="0">
                <a:solidFill>
                  <a:srgbClr val="F8FAFC"/>
                </a:solidFill>
                <a:latin typeface="Courier New"/>
              </a:defRPr>
            </a:pPr>
            <a:r>
              <a:rPr sz="1200" b="0">
                <a:solidFill>
                  <a:srgbClr val="F8FAFC"/>
                </a:solidFill>
                <a:latin typeface="Courier New"/>
              </a:rPr>
              <a:t>    cliente_id INTEGER REFERENCES clientes(cliente_id),</a:t>
            </a:r>
          </a:p>
          <a:p>
            <a:pPr>
              <a:defRPr sz="1200" b="0">
                <a:solidFill>
                  <a:srgbClr val="F8FAFC"/>
                </a:solidFill>
                <a:latin typeface="Courier New"/>
              </a:defRPr>
            </a:pPr>
            <a:r>
              <a:rPr sz="1200" b="0">
                <a:solidFill>
                  <a:srgbClr val="F8FAFC"/>
                </a:solidFill>
                <a:latin typeface="Courier New"/>
              </a:rPr>
              <a:t>    fecha DATE,</a:t>
            </a:r>
          </a:p>
          <a:p>
            <a:pPr>
              <a:defRPr sz="1200" b="0">
                <a:solidFill>
                  <a:srgbClr val="F8FAFC"/>
                </a:solidFill>
                <a:latin typeface="Courier New"/>
              </a:defRPr>
            </a:pPr>
            <a:r>
              <a:rPr sz="1200" b="0">
                <a:solidFill>
                  <a:srgbClr val="F8FAFC"/>
                </a:solidFill>
                <a:latin typeface="Courier New"/>
              </a:rPr>
              <a:t>    monto REAL</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INSERT INTO clientes (nombre, pais, plan) VALUES</a:t>
            </a:r>
          </a:p>
          <a:p>
            <a:pPr>
              <a:defRPr sz="1200" b="0">
                <a:solidFill>
                  <a:srgbClr val="F8FAFC"/>
                </a:solidFill>
                <a:latin typeface="Courier New"/>
              </a:defRPr>
            </a:pPr>
            <a:r>
              <a:rPr sz="1200" b="0">
                <a:solidFill>
                  <a:srgbClr val="F8FAFC"/>
                </a:solidFill>
                <a:latin typeface="Courier New"/>
              </a:rPr>
              <a:t>    ('Ana',  'ES', 'pro'),</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043 — SQL fundamental: SELECT, WHERE, JOIN, GROUP BY, HAVING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SELECT básico.</a:t>
            </a:r>
          </a:p>
          <a:p>
            <a:pPr>
              <a:spcAft>
                <a:spcPts val="800"/>
              </a:spcAft>
              <a:defRPr sz="1400" b="0">
                <a:solidFill>
                  <a:srgbClr val="0F172A"/>
                </a:solidFill>
                <a:latin typeface="Segoe UI"/>
              </a:defRPr>
            </a:pPr>
            <a:r>
              <a:rPr sz="1400" b="0">
                <a:solidFill>
                  <a:srgbClr val="0F172A"/>
                </a:solidFill>
                <a:latin typeface="Segoe UI"/>
              </a:rPr>
              <a:t>• JOIN.</a:t>
            </a:r>
          </a:p>
          <a:p>
            <a:pPr>
              <a:spcAft>
                <a:spcPts val="800"/>
              </a:spcAft>
              <a:defRPr sz="1400" b="0">
                <a:solidFill>
                  <a:srgbClr val="0F172A"/>
                </a:solidFill>
                <a:latin typeface="Segoe UI"/>
              </a:defRPr>
            </a:pPr>
            <a:r>
              <a:rPr sz="1400" b="0">
                <a:solidFill>
                  <a:srgbClr val="0F172A"/>
                </a:solidFill>
                <a:latin typeface="Segoe UI"/>
              </a:rPr>
              <a:t>• LEFT JOIN.</a:t>
            </a:r>
          </a:p>
          <a:p>
            <a:pPr>
              <a:spcAft>
                <a:spcPts val="800"/>
              </a:spcAft>
              <a:defRPr sz="1400" b="0">
                <a:solidFill>
                  <a:srgbClr val="0F172A"/>
                </a:solidFill>
                <a:latin typeface="Segoe UI"/>
              </a:defRPr>
            </a:pPr>
            <a:r>
              <a:rPr sz="1400" b="0">
                <a:solidFill>
                  <a:srgbClr val="0F172A"/>
                </a:solidFill>
                <a:latin typeface="Segoe UI"/>
              </a:rPr>
              <a:t>• GROUP BY + HAVING.</a:t>
            </a:r>
          </a:p>
          <a:p>
            <a:pPr>
              <a:spcAft>
                <a:spcPts val="800"/>
              </a:spcAft>
              <a:defRPr sz="1400" b="0">
                <a:solidFill>
                  <a:srgbClr val="0F172A"/>
                </a:solidFill>
                <a:latin typeface="Segoe UI"/>
              </a:defRPr>
            </a:pPr>
            <a:r>
              <a:rPr sz="1400" b="0">
                <a:solidFill>
                  <a:srgbClr val="0F172A"/>
                </a:solidFill>
                <a:latin typeface="Segoe UI"/>
              </a:rPr>
              <a:t>• Orden lógico.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SQLite en memoria: (a) crea 2 tablas y carga datos sintéticos; (b) 5 consultas progresivas (filter, join, group, having, top-N); (c) explica el orden lógico con un ejemplo; (d) mismo ejercicio con DuckDB (sustituye sqlite3.connect(':memory:')).</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044 — SQL avanzado: CTEs, window functions, subqueries correlacionadas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044 — SQL avanzado: CTEs, window functions, subqueries correlacionadas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Tanimura, SQL for Data Scientists caps. 4-5 · PostgreSQL docs (window functions). · Duración estimada: 120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escriba SQL legible y potente: CTEs (WITH) para descomponer queries complejas, window functions (OVER) para rankings/totales corridos/lag/lead sin perder filas, y subqueries correlacionadas cuando aportan.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CTEs con WITH name AS (...) para mejorar legibilidad.</a:t>
            </a:r>
          </a:p>
          <a:p>
            <a:pPr>
              <a:spcAft>
                <a:spcPts val="800"/>
              </a:spcAft>
              <a:defRPr sz="1400" b="0">
                <a:solidFill>
                  <a:srgbClr val="0F172A"/>
                </a:solidFill>
                <a:latin typeface="Segoe UI"/>
              </a:defRPr>
            </a:pPr>
            <a:r>
              <a:rPr sz="1400" b="0">
                <a:solidFill>
                  <a:srgbClr val="0F172A"/>
                </a:solidFill>
                <a:latin typeface="Segoe UI"/>
              </a:rPr>
              <a:t>• Encadenar múltiples CTEs: WITH a AS (...), b AS (...) SELECT ....</a:t>
            </a:r>
          </a:p>
          <a:p>
            <a:pPr>
              <a:spcAft>
                <a:spcPts val="800"/>
              </a:spcAft>
              <a:defRPr sz="1400" b="0">
                <a:solidFill>
                  <a:srgbClr val="0F172A"/>
                </a:solidFill>
                <a:latin typeface="Segoe UI"/>
              </a:defRPr>
            </a:pPr>
            <a:r>
              <a:rPr sz="1400" b="0">
                <a:solidFill>
                  <a:srgbClr val="0F172A"/>
                </a:solidFill>
                <a:latin typeface="Segoe UI"/>
              </a:rPr>
              <a:t>• Aplicar window functions: ROW_NUMBER(), RANK(), LAG(), LEAD(), SUM() OVER (PARTITION BY ... ORDER BY ...).</a:t>
            </a:r>
          </a:p>
          <a:p>
            <a:pPr>
              <a:spcAft>
                <a:spcPts val="800"/>
              </a:spcAft>
              <a:defRPr sz="1400" b="0">
                <a:solidFill>
                  <a:srgbClr val="0F172A"/>
                </a:solidFill>
                <a:latin typeface="Segoe UI"/>
              </a:defRPr>
            </a:pPr>
            <a:r>
              <a:rPr sz="1400" b="0">
                <a:solidFill>
                  <a:srgbClr val="0F172A"/>
                </a:solidFill>
                <a:latin typeface="Segoe UI"/>
              </a:rPr>
              <a:t>• Calcular ranking por grupo con ROW_NUMBER() OVER (PARTITION BY ...).</a:t>
            </a:r>
          </a:p>
          <a:p>
            <a:pPr>
              <a:spcAft>
                <a:spcPts val="800"/>
              </a:spcAft>
              <a:defRPr sz="1400" b="0">
                <a:solidFill>
                  <a:srgbClr val="0F172A"/>
                </a:solidFill>
                <a:latin typeface="Segoe UI"/>
              </a:defRPr>
            </a:pPr>
            <a:r>
              <a:rPr sz="1400" b="0">
                <a:solidFill>
                  <a:srgbClr val="0F172A"/>
                </a:solidFill>
                <a:latin typeface="Segoe UI"/>
              </a:rPr>
              <a:t>• Diferenciar subquery (independiente) vs correlacionada (depende de la outer).</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044 — SQL avanzado: CTEs, window functions, subqueries correlacionadas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CTEs: WITH name AS (...)</a:t>
            </a:r>
          </a:p>
          <a:p>
            <a:pPr>
              <a:spcAft>
                <a:spcPts val="1000"/>
              </a:spcAft>
              <a:defRPr sz="1600" b="0">
                <a:solidFill>
                  <a:srgbClr val="0F172A"/>
                </a:solidFill>
                <a:latin typeface="Segoe UI"/>
              </a:defRPr>
            </a:pPr>
            <a:r>
              <a:rPr sz="1600" b="0">
                <a:solidFill>
                  <a:srgbClr val="0F172A"/>
                </a:solidFill>
                <a:latin typeface="Segoe UI"/>
              </a:rPr>
              <a:t>• Múltiples CTEs encadenadas</a:t>
            </a:r>
          </a:p>
          <a:p>
            <a:pPr>
              <a:spcAft>
                <a:spcPts val="1000"/>
              </a:spcAft>
              <a:defRPr sz="1600" b="0">
                <a:solidFill>
                  <a:srgbClr val="0F172A"/>
                </a:solidFill>
                <a:latin typeface="Segoe UI"/>
              </a:defRPr>
            </a:pPr>
            <a:r>
              <a:rPr sz="1600" b="0">
                <a:solidFill>
                  <a:srgbClr val="0F172A"/>
                </a:solidFill>
                <a:latin typeface="Segoe UI"/>
              </a:rPr>
              <a:t>• Recursive CTEs</a:t>
            </a:r>
          </a:p>
          <a:p>
            <a:pPr>
              <a:spcAft>
                <a:spcPts val="1000"/>
              </a:spcAft>
              <a:defRPr sz="1600" b="0">
                <a:solidFill>
                  <a:srgbClr val="0F172A"/>
                </a:solidFill>
                <a:latin typeface="Segoe UI"/>
              </a:defRPr>
            </a:pPr>
            <a:r>
              <a:rPr sz="1600" b="0">
                <a:solidFill>
                  <a:srgbClr val="0F172A"/>
                </a:solidFill>
                <a:latin typeface="Segoe UI"/>
              </a:rPr>
              <a:t>• Window functions: OVER (PARTITION BY ... ORDER BY ...)</a:t>
            </a:r>
          </a:p>
          <a:p>
            <a:pPr>
              <a:spcAft>
                <a:spcPts val="1000"/>
              </a:spcAft>
              <a:defRPr sz="1600" b="0">
                <a:solidFill>
                  <a:srgbClr val="0F172A"/>
                </a:solidFill>
                <a:latin typeface="Segoe UI"/>
              </a:defRPr>
            </a:pPr>
            <a:r>
              <a:rPr sz="1600" b="0">
                <a:solidFill>
                  <a:srgbClr val="0F172A"/>
                </a:solidFill>
                <a:latin typeface="Segoe UI"/>
              </a:rPr>
              <a:t>• ROW_NUMBER, RANK, DENSE_RANK</a:t>
            </a:r>
          </a:p>
          <a:p>
            <a:pPr>
              <a:spcAft>
                <a:spcPts val="1000"/>
              </a:spcAft>
              <a:defRPr sz="1600" b="0">
                <a:solidFill>
                  <a:srgbClr val="0F172A"/>
                </a:solidFill>
                <a:latin typeface="Segoe UI"/>
              </a:defRPr>
            </a:pPr>
            <a:r>
              <a:rPr sz="1600" b="0">
                <a:solidFill>
                  <a:srgbClr val="0F172A"/>
                </a:solidFill>
                <a:latin typeface="Segoe UI"/>
              </a:rPr>
              <a:t>• LAG, LEAD: comparar con fila anterior/siguiente</a:t>
            </a:r>
          </a:p>
          <a:p>
            <a:pPr>
              <a:spcAft>
                <a:spcPts val="1000"/>
              </a:spcAft>
              <a:defRPr sz="1600" b="0">
                <a:solidFill>
                  <a:srgbClr val="0F172A"/>
                </a:solidFill>
                <a:latin typeface="Segoe UI"/>
              </a:defRPr>
            </a:pPr>
            <a:r>
              <a:rPr sz="1600" b="0">
                <a:solidFill>
                  <a:srgbClr val="0F172A"/>
                </a:solidFill>
                <a:latin typeface="Segoe UI"/>
              </a:rPr>
              <a:t>• Subqueries correlacionadas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044 — SQL avanzado: CTEs, window functions, subqueries correlacionadas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sqlite3</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con = sqlite3.connect(':memory:')</a:t>
            </a:r>
          </a:p>
          <a:p>
            <a:pPr>
              <a:defRPr sz="1200" b="0">
                <a:solidFill>
                  <a:srgbClr val="F8FAFC"/>
                </a:solidFill>
                <a:latin typeface="Courier New"/>
              </a:defRPr>
            </a:pPr>
            <a:r>
              <a:rPr sz="1200" b="0">
                <a:solidFill>
                  <a:srgbClr val="F8FAFC"/>
                </a:solidFill>
                <a:latin typeface="Courier New"/>
              </a:rPr>
              <a:t>con.executescript('''</a:t>
            </a:r>
          </a:p>
          <a:p>
            <a:pPr>
              <a:defRPr sz="1200" b="0">
                <a:solidFill>
                  <a:srgbClr val="F8FAFC"/>
                </a:solidFill>
                <a:latin typeface="Courier New"/>
              </a:defRPr>
            </a:pPr>
            <a:r>
              <a:rPr sz="1200" b="0">
                <a:solidFill>
                  <a:srgbClr val="F8FAFC"/>
                </a:solidFill>
                <a:latin typeface="Courier New"/>
              </a:rPr>
              <a:t>CREATE TABLE ordenes (</a:t>
            </a:r>
          </a:p>
          <a:p>
            <a:pPr>
              <a:defRPr sz="1200" b="0">
                <a:solidFill>
                  <a:srgbClr val="F8FAFC"/>
                </a:solidFill>
                <a:latin typeface="Courier New"/>
              </a:defRPr>
            </a:pPr>
            <a:r>
              <a:rPr sz="1200" b="0">
                <a:solidFill>
                  <a:srgbClr val="F8FAFC"/>
                </a:solidFill>
                <a:latin typeface="Courier New"/>
              </a:rPr>
              <a:t>    orden_id INTEGER PRIMARY KEY,</a:t>
            </a:r>
          </a:p>
          <a:p>
            <a:pPr>
              <a:defRPr sz="1200" b="0">
                <a:solidFill>
                  <a:srgbClr val="F8FAFC"/>
                </a:solidFill>
                <a:latin typeface="Courier New"/>
              </a:defRPr>
            </a:pPr>
            <a:r>
              <a:rPr sz="1200" b="0">
                <a:solidFill>
                  <a:srgbClr val="F8FAFC"/>
                </a:solidFill>
                <a:latin typeface="Courier New"/>
              </a:rPr>
              <a:t>    cliente_id INTEGER,</a:t>
            </a:r>
          </a:p>
          <a:p>
            <a:pPr>
              <a:defRPr sz="1200" b="0">
                <a:solidFill>
                  <a:srgbClr val="F8FAFC"/>
                </a:solidFill>
                <a:latin typeface="Courier New"/>
              </a:defRPr>
            </a:pPr>
            <a:r>
              <a:rPr sz="1200" b="0">
                <a:solidFill>
                  <a:srgbClr val="F8FAFC"/>
                </a:solidFill>
                <a:latin typeface="Courier New"/>
              </a:rPr>
              <a:t>    fecha DATE,</a:t>
            </a:r>
          </a:p>
          <a:p>
            <a:pPr>
              <a:defRPr sz="1200" b="0">
                <a:solidFill>
                  <a:srgbClr val="F8FAFC"/>
                </a:solidFill>
                <a:latin typeface="Courier New"/>
              </a:defRPr>
            </a:pPr>
            <a:r>
              <a:rPr sz="1200" b="0">
                <a:solidFill>
                  <a:srgbClr val="F8FAFC"/>
                </a:solidFill>
                <a:latin typeface="Courier New"/>
              </a:rPr>
              <a:t>    monto REAL</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INSERT INTO ordenes (cliente_id, fecha, monto) VALUES</a:t>
            </a:r>
          </a:p>
          <a:p>
            <a:pPr>
              <a:defRPr sz="1200" b="0">
                <a:solidFill>
                  <a:srgbClr val="F8FAFC"/>
                </a:solidFill>
                <a:latin typeface="Courier New"/>
              </a:defRPr>
            </a:pPr>
            <a:r>
              <a:rPr sz="1200" b="0">
                <a:solidFill>
                  <a:srgbClr val="F8FAFC"/>
                </a:solidFill>
                <a:latin typeface="Courier New"/>
              </a:rPr>
              <a:t>    (1, '2024-01-15', 120),(1, '2024-02-20',  80),(1, '2024-03-12', 150),(1, '2024-04-05',  60),</a:t>
            </a:r>
          </a:p>
          <a:p>
            <a:pPr>
              <a:defRPr sz="1200" b="0">
                <a:solidFill>
                  <a:srgbClr val="F8FAFC"/>
                </a:solidFill>
                <a:latin typeface="Courier New"/>
              </a:defRPr>
            </a:pPr>
            <a:r>
              <a:rPr sz="1200" b="0">
                <a:solidFill>
                  <a:srgbClr val="F8FAFC"/>
                </a:solidFill>
                <a:latin typeface="Courier New"/>
              </a:rPr>
              <a:t>    (2, '2024-02-10',  40),(2, '2024-03-15',  70),(2, '2024-04-22',  50),</a:t>
            </a:r>
          </a:p>
          <a:p>
            <a:pPr>
              <a:defRPr sz="1200" b="0">
                <a:solidFill>
                  <a:srgbClr val="F8FAFC"/>
                </a:solidFill>
                <a:latin typeface="Courier New"/>
              </a:defRPr>
            </a:pPr>
            <a:r>
              <a:rPr sz="1200" b="0">
                <a:solidFill>
                  <a:srgbClr val="F8FAFC"/>
                </a:solidFill>
                <a:latin typeface="Courier New"/>
              </a:rPr>
              <a:t>    (3, '2024-01-22', 200),(3, '2024-03-15', 180),(3, '2024-04-01', 220),</a:t>
            </a:r>
          </a:p>
          <a:p>
            <a:pPr>
              <a:defRPr sz="1200" b="0">
                <a:solidFill>
                  <a:srgbClr val="F8FAFC"/>
                </a:solidFill>
                <a:latin typeface="Courier New"/>
              </a:defRPr>
            </a:pPr>
            <a:r>
              <a:rPr sz="1200" b="0">
                <a:solidFill>
                  <a:srgbClr val="F8FAFC"/>
                </a:solidFill>
                <a:latin typeface="Courier New"/>
              </a:rPr>
              <a:t>    (5, '2024-02-28', 300),(5, '2024-03-22',  90),(5, '2024-04-15', 400);</a:t>
            </a:r>
          </a:p>
          <a:p>
            <a:pPr>
              <a:defRPr sz="1200" b="0">
                <a:solidFill>
                  <a:srgbClr val="F8FAFC"/>
                </a:solidFill>
                <a:latin typeface="Courier New"/>
              </a:defRPr>
            </a:pPr>
            <a:r>
              <a:rPr sz="1200" b="0">
                <a:solidFill>
                  <a:srgbClr val="F8FAFC"/>
                </a:solidFill>
                <a:latin typeface="Courier New"/>
              </a:rPr>
              <a:t>''')</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044 — SQL avanzado: CTEs, window functions, subqueries correlacionadas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CTE básica.</a:t>
            </a:r>
          </a:p>
          <a:p>
            <a:pPr>
              <a:spcAft>
                <a:spcPts val="800"/>
              </a:spcAft>
              <a:defRPr sz="1400" b="0">
                <a:solidFill>
                  <a:srgbClr val="0F172A"/>
                </a:solidFill>
                <a:latin typeface="Segoe UI"/>
              </a:defRPr>
            </a:pPr>
            <a:r>
              <a:rPr sz="1400" b="0">
                <a:solidFill>
                  <a:srgbClr val="0F172A"/>
                </a:solidFill>
                <a:latin typeface="Segoe UI"/>
              </a:rPr>
              <a:t>• ROW_NUMBER por grupo.</a:t>
            </a:r>
          </a:p>
          <a:p>
            <a:pPr>
              <a:spcAft>
                <a:spcPts val="800"/>
              </a:spcAft>
              <a:defRPr sz="1400" b="0">
                <a:solidFill>
                  <a:srgbClr val="0F172A"/>
                </a:solidFill>
                <a:latin typeface="Segoe UI"/>
              </a:defRPr>
            </a:pPr>
            <a:r>
              <a:rPr sz="1400" b="0">
                <a:solidFill>
                  <a:srgbClr val="0F172A"/>
                </a:solidFill>
                <a:latin typeface="Segoe UI"/>
              </a:rPr>
              <a:t>• Total corrido.</a:t>
            </a:r>
          </a:p>
          <a:p>
            <a:pPr>
              <a:spcAft>
                <a:spcPts val="800"/>
              </a:spcAft>
              <a:defRPr sz="1400" b="0">
                <a:solidFill>
                  <a:srgbClr val="0F172A"/>
                </a:solidFill>
                <a:latin typeface="Segoe UI"/>
              </a:defRPr>
            </a:pPr>
            <a:r>
              <a:rPr sz="1400" b="0">
                <a:solidFill>
                  <a:srgbClr val="0F172A"/>
                </a:solidFill>
                <a:latin typeface="Segoe UI"/>
              </a:rPr>
              <a:t>• LAG.</a:t>
            </a:r>
          </a:p>
          <a:p>
            <a:pPr>
              <a:spcAft>
                <a:spcPts val="800"/>
              </a:spcAft>
              <a:defRPr sz="1400" b="0">
                <a:solidFill>
                  <a:srgbClr val="0F172A"/>
                </a:solidFill>
                <a:latin typeface="Segoe UI"/>
              </a:defRPr>
            </a:pPr>
            <a:r>
              <a:rPr sz="1400" b="0">
                <a:solidFill>
                  <a:srgbClr val="0F172A"/>
                </a:solidFill>
                <a:latin typeface="Segoe UI"/>
              </a:rPr>
              <a:t>• Recursive CTE.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(a) 3 versiones de la misma query (anidada → CTE → CTEs múltiples) comparando legibilidad; (b) top-3 órdenes por cliente con ROW_NUMBER; (c) total corrido y delta vs orden anterior; (d) recursive CTE para calendario diario.</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045 — SQL desde Python: sqlite3, SQLAlchemy, DuckDB</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045 — SQL desde Python: sqlite3, SQLAlchemy, DuckDB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Python stdlib sqlite3 · SQLAlchemy docs · DuckDB Python docs.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conecte Python con SQL de las 3 formas que va a encontrar en producción: sqlite3 (stdlib, demo local), SQLAlchemy (ORM/engine genérico para PostgreSQL/MySQL), y DuckDB (columnar embebido para análisis sobre CSV/Parquet sin servidor).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Conectar y consultar con sqlite3 stdlib, usando placeholders ? (NUNCA concatenar SQL).</a:t>
            </a:r>
          </a:p>
          <a:p>
            <a:pPr>
              <a:spcAft>
                <a:spcPts val="800"/>
              </a:spcAft>
              <a:defRPr sz="1400" b="0">
                <a:solidFill>
                  <a:srgbClr val="0F172A"/>
                </a:solidFill>
                <a:latin typeface="Segoe UI"/>
              </a:defRPr>
            </a:pPr>
            <a:r>
              <a:rPr sz="1400" b="0">
                <a:solidFill>
                  <a:srgbClr val="0F172A"/>
                </a:solidFill>
                <a:latin typeface="Segoe UI"/>
              </a:rPr>
              <a:t>• Usar SQLAlchemy create_engine(URL) + pd.read_sql para queries a cualquier RDBMS.</a:t>
            </a:r>
          </a:p>
          <a:p>
            <a:pPr>
              <a:spcAft>
                <a:spcPts val="800"/>
              </a:spcAft>
              <a:defRPr sz="1400" b="0">
                <a:solidFill>
                  <a:srgbClr val="0F172A"/>
                </a:solidFill>
                <a:latin typeface="Segoe UI"/>
              </a:defRPr>
            </a:pPr>
            <a:r>
              <a:rPr sz="1400" b="0">
                <a:solidFill>
                  <a:srgbClr val="0F172A"/>
                </a:solidFill>
                <a:latin typeface="Segoe UI"/>
              </a:rPr>
              <a:t>• Usar DuckDB para hacer SQL sobre DataFrames y CSV/Parquet directamente.</a:t>
            </a:r>
          </a:p>
          <a:p>
            <a:pPr>
              <a:spcAft>
                <a:spcPts val="800"/>
              </a:spcAft>
              <a:defRPr sz="1400" b="0">
                <a:solidFill>
                  <a:srgbClr val="0F172A"/>
                </a:solidFill>
                <a:latin typeface="Segoe UI"/>
              </a:defRPr>
            </a:pPr>
            <a:r>
              <a:rPr sz="1400" b="0">
                <a:solidFill>
                  <a:srgbClr val="0F172A"/>
                </a:solidFill>
                <a:latin typeface="Segoe UI"/>
              </a:rPr>
              <a:t>• Prevenir SQL injection con queries parametrizadas.</a:t>
            </a:r>
          </a:p>
          <a:p>
            <a:pPr>
              <a:spcAft>
                <a:spcPts val="800"/>
              </a:spcAft>
              <a:defRPr sz="1400" b="0">
                <a:solidFill>
                  <a:srgbClr val="0F172A"/>
                </a:solidFill>
                <a:latin typeface="Segoe UI"/>
              </a:defRPr>
            </a:pPr>
            <a:r>
              <a:rPr sz="1400" b="0">
                <a:solidFill>
                  <a:srgbClr val="0F172A"/>
                </a:solidFill>
                <a:latin typeface="Segoe UI"/>
              </a:rPr>
              <a:t>• Decidir entre sqlite/SQLAlchemy/DuckDB según el caso.</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045 — SQL desde Python: sqlite3, SQLAlchemy, DuckDB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sqlite3 stdlib: connect, cursor, fetchall</a:t>
            </a:r>
          </a:p>
          <a:p>
            <a:pPr>
              <a:spcAft>
                <a:spcPts val="1000"/>
              </a:spcAft>
              <a:defRPr sz="1600" b="0">
                <a:solidFill>
                  <a:srgbClr val="0F172A"/>
                </a:solidFill>
                <a:latin typeface="Segoe UI"/>
              </a:defRPr>
            </a:pPr>
            <a:r>
              <a:rPr sz="1600" b="0">
                <a:solidFill>
                  <a:srgbClr val="0F172A"/>
                </a:solidFill>
                <a:latin typeface="Segoe UI"/>
              </a:rPr>
              <a:t>• Placeholders ? y :nombre</a:t>
            </a:r>
          </a:p>
          <a:p>
            <a:pPr>
              <a:spcAft>
                <a:spcPts val="1000"/>
              </a:spcAft>
              <a:defRPr sz="1600" b="0">
                <a:solidFill>
                  <a:srgbClr val="0F172A"/>
                </a:solidFill>
                <a:latin typeface="Segoe UI"/>
              </a:defRPr>
            </a:pPr>
            <a:r>
              <a:rPr sz="1600" b="0">
                <a:solidFill>
                  <a:srgbClr val="0F172A"/>
                </a:solidFill>
                <a:latin typeface="Segoe UI"/>
              </a:rPr>
              <a:t>• SQLAlchemy create_engine('postgresql://...')</a:t>
            </a:r>
          </a:p>
          <a:p>
            <a:pPr>
              <a:spcAft>
                <a:spcPts val="1000"/>
              </a:spcAft>
              <a:defRPr sz="1600" b="0">
                <a:solidFill>
                  <a:srgbClr val="0F172A"/>
                </a:solidFill>
                <a:latin typeface="Segoe UI"/>
              </a:defRPr>
            </a:pPr>
            <a:r>
              <a:rPr sz="1600" b="0">
                <a:solidFill>
                  <a:srgbClr val="0F172A"/>
                </a:solidFill>
                <a:latin typeface="Segoe UI"/>
              </a:rPr>
              <a:t>• pd.read_sql y df.to_sql</a:t>
            </a:r>
          </a:p>
          <a:p>
            <a:pPr>
              <a:spcAft>
                <a:spcPts val="1000"/>
              </a:spcAft>
              <a:defRPr sz="1600" b="0">
                <a:solidFill>
                  <a:srgbClr val="0F172A"/>
                </a:solidFill>
                <a:latin typeface="Segoe UI"/>
              </a:defRPr>
            </a:pPr>
            <a:r>
              <a:rPr sz="1600" b="0">
                <a:solidFill>
                  <a:srgbClr val="0F172A"/>
                </a:solidFill>
                <a:latin typeface="Segoe UI"/>
              </a:rPr>
              <a:t>• DuckDB: SQL sobre DataFrames y archivos</a:t>
            </a:r>
          </a:p>
          <a:p>
            <a:pPr>
              <a:spcAft>
                <a:spcPts val="1000"/>
              </a:spcAft>
              <a:defRPr sz="1600" b="0">
                <a:solidFill>
                  <a:srgbClr val="0F172A"/>
                </a:solidFill>
                <a:latin typeface="Segoe UI"/>
              </a:defRPr>
            </a:pPr>
            <a:r>
              <a:rPr sz="1600" b="0">
                <a:solidFill>
                  <a:srgbClr val="0F172A"/>
                </a:solidFill>
                <a:latin typeface="Segoe UI"/>
              </a:rPr>
              <a:t>• Cuándo cada uno</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045 — SQL desde Python: sqlite3, SQLAlchemy, DuckDB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sqlite3</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DataFrame demo</a:t>
            </a:r>
          </a:p>
          <a:p>
            <a:pPr>
              <a:defRPr sz="1200" b="0">
                <a:solidFill>
                  <a:srgbClr val="F8FAFC"/>
                </a:solidFill>
                <a:latin typeface="Courier New"/>
              </a:defRPr>
            </a:pPr>
            <a:r>
              <a:rPr sz="1200" b="0">
                <a:solidFill>
                  <a:srgbClr val="F8FAFC"/>
                </a:solidFill>
                <a:latin typeface="Courier New"/>
              </a:rPr>
              <a:t>df = pd.DataFrame({</a:t>
            </a:r>
          </a:p>
          <a:p>
            <a:pPr>
              <a:defRPr sz="1200" b="0">
                <a:solidFill>
                  <a:srgbClr val="F8FAFC"/>
                </a:solidFill>
                <a:latin typeface="Courier New"/>
              </a:defRPr>
            </a:pPr>
            <a:r>
              <a:rPr sz="1200" b="0">
                <a:solidFill>
                  <a:srgbClr val="F8FAFC"/>
                </a:solidFill>
                <a:latin typeface="Courier New"/>
              </a:rPr>
              <a:t>    'cliente_id': range(1, 11),</a:t>
            </a:r>
          </a:p>
          <a:p>
            <a:pPr>
              <a:defRPr sz="1200" b="0">
                <a:solidFill>
                  <a:srgbClr val="F8FAFC"/>
                </a:solidFill>
                <a:latin typeface="Courier New"/>
              </a:defRPr>
            </a:pPr>
            <a:r>
              <a:rPr sz="1200" b="0">
                <a:solidFill>
                  <a:srgbClr val="F8FAFC"/>
                </a:solidFill>
                <a:latin typeface="Courier New"/>
              </a:rPr>
              <a:t>    'nombre': [f'Cliente {i}' for i in range(1, 11)],</a:t>
            </a:r>
          </a:p>
          <a:p>
            <a:pPr>
              <a:defRPr sz="1200" b="0">
                <a:solidFill>
                  <a:srgbClr val="F8FAFC"/>
                </a:solidFill>
                <a:latin typeface="Courier New"/>
              </a:defRPr>
            </a:pPr>
            <a:r>
              <a:rPr sz="1200" b="0">
                <a:solidFill>
                  <a:srgbClr val="F8FAFC"/>
                </a:solidFill>
                <a:latin typeface="Courier New"/>
              </a:rPr>
              <a:t>    'pais': rng.choice(['ES', 'CL', 'MX'], 10),</a:t>
            </a:r>
          </a:p>
          <a:p>
            <a:pPr>
              <a:defRPr sz="1200" b="0">
                <a:solidFill>
                  <a:srgbClr val="F8FAFC"/>
                </a:solidFill>
                <a:latin typeface="Courier New"/>
              </a:defRPr>
            </a:pPr>
            <a:r>
              <a:rPr sz="1200" b="0">
                <a:solidFill>
                  <a:srgbClr val="F8FAFC"/>
                </a:solidFill>
                <a:latin typeface="Courier New"/>
              </a:rPr>
              <a:t>    'monto': rng.uniform(50, 500, 10).round(2),</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print(df.head())</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045 — SQL desde Python: sqlite3, SQLAlchemy, DuckDB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sqlite3 con placeholders.</a:t>
            </a:r>
          </a:p>
          <a:p>
            <a:pPr>
              <a:spcAft>
                <a:spcPts val="800"/>
              </a:spcAft>
              <a:defRPr sz="1400" b="0">
                <a:solidFill>
                  <a:srgbClr val="0F172A"/>
                </a:solidFill>
                <a:latin typeface="Segoe UI"/>
              </a:defRPr>
            </a:pPr>
            <a:r>
              <a:rPr sz="1400" b="0">
                <a:solidFill>
                  <a:srgbClr val="0F172A"/>
                </a:solidFill>
                <a:latin typeface="Segoe UI"/>
              </a:rPr>
              <a:t>• df.to_sql y pd.read_sql.</a:t>
            </a:r>
          </a:p>
          <a:p>
            <a:pPr>
              <a:spcAft>
                <a:spcPts val="800"/>
              </a:spcAft>
              <a:defRPr sz="1400" b="0">
                <a:solidFill>
                  <a:srgbClr val="0F172A"/>
                </a:solidFill>
                <a:latin typeface="Segoe UI"/>
              </a:defRPr>
            </a:pPr>
            <a:r>
              <a:rPr sz="1400" b="0">
                <a:solidFill>
                  <a:srgbClr val="0F172A"/>
                </a:solidFill>
                <a:latin typeface="Segoe UI"/>
              </a:rPr>
              <a:t>• SQLAlchemy engine.</a:t>
            </a:r>
          </a:p>
          <a:p>
            <a:pPr>
              <a:spcAft>
                <a:spcPts val="800"/>
              </a:spcAft>
              <a:defRPr sz="1400" b="0">
                <a:solidFill>
                  <a:srgbClr val="0F172A"/>
                </a:solidFill>
                <a:latin typeface="Segoe UI"/>
              </a:defRPr>
            </a:pPr>
            <a:r>
              <a:rPr sz="1400" b="0">
                <a:solidFill>
                  <a:srgbClr val="0F172A"/>
                </a:solidFill>
                <a:latin typeface="Segoe UI"/>
              </a:rPr>
              <a:t>• DuckDB sobre DataFrame.</a:t>
            </a:r>
          </a:p>
          <a:p>
            <a:pPr>
              <a:spcAft>
                <a:spcPts val="800"/>
              </a:spcAft>
              <a:defRPr sz="1400" b="0">
                <a:solidFill>
                  <a:srgbClr val="0F172A"/>
                </a:solidFill>
                <a:latin typeface="Segoe UI"/>
              </a:defRPr>
            </a:pPr>
            <a:r>
              <a:rPr sz="1400" b="0">
                <a:solidFill>
                  <a:srgbClr val="0F172A"/>
                </a:solidFill>
                <a:latin typeface="Segoe UI"/>
              </a:rPr>
              <a:t>• DuckDB sobre CSV.</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3 backends del mismo análisis: (a) sqlite3 stdlib + cursor; (b) SQLAlchemy engine + pd.read_sql; (c) DuckDB sobre CSV. Documenta cuándo elegirías cada uno. Demuestra explícitamente el peligro de SQL injection con concatenación vs placeholders.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046 — NoSQL: MongoDB con pymongo</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046 — NoSQL: MongoDB con pymongo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MongoDB docs · pymongo docs · MongoDB: The Definitive Guide (Bradshaw et al.) cap. 1. · Duración estimada: 75 min. · Nivel: Básico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el modelo NoSQL documento (collections de JSON-like), cuándo conviene sobre SQL, y use pymongo para CRUD básico + queries con operadores típicos. Sin pretender competir con un curso entero de MongoDB.</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modelo relacional (tablas + filas) vs documento (collections + docs JSON).</a:t>
            </a:r>
          </a:p>
          <a:p>
            <a:pPr>
              <a:spcAft>
                <a:spcPts val="800"/>
              </a:spcAft>
              <a:defRPr sz="1400" b="0">
                <a:solidFill>
                  <a:srgbClr val="0F172A"/>
                </a:solidFill>
                <a:latin typeface="Segoe UI"/>
              </a:defRPr>
            </a:pPr>
            <a:r>
              <a:rPr sz="1400" b="0">
                <a:solidFill>
                  <a:srgbClr val="0F172A"/>
                </a:solidFill>
                <a:latin typeface="Segoe UI"/>
              </a:rPr>
              <a:t>• Reconocer cuándo NoSQL aporta (schema flexible, datos jerárquicos, escala horizontal).</a:t>
            </a:r>
          </a:p>
          <a:p>
            <a:pPr>
              <a:spcAft>
                <a:spcPts val="800"/>
              </a:spcAft>
              <a:defRPr sz="1400" b="0">
                <a:solidFill>
                  <a:srgbClr val="0F172A"/>
                </a:solidFill>
                <a:latin typeface="Segoe UI"/>
              </a:defRPr>
            </a:pPr>
            <a:r>
              <a:rPr sz="1400" b="0">
                <a:solidFill>
                  <a:srgbClr val="0F172A"/>
                </a:solidFill>
                <a:latin typeface="Segoe UI"/>
              </a:rPr>
              <a:t>• Conectar con pymongo, hacer insert/find/update/delete.</a:t>
            </a:r>
          </a:p>
          <a:p>
            <a:pPr>
              <a:spcAft>
                <a:spcPts val="800"/>
              </a:spcAft>
              <a:defRPr sz="1400" b="0">
                <a:solidFill>
                  <a:srgbClr val="0F172A"/>
                </a:solidFill>
                <a:latin typeface="Segoe UI"/>
              </a:defRPr>
            </a:pPr>
            <a:r>
              <a:rPr sz="1400" b="0">
                <a:solidFill>
                  <a:srgbClr val="0F172A"/>
                </a:solidFill>
                <a:latin typeface="Segoe UI"/>
              </a:rPr>
              <a:t>• Filtrar con operadores: $gt, $lt, $in, $regex, $and, $or.</a:t>
            </a:r>
          </a:p>
          <a:p>
            <a:pPr>
              <a:spcAft>
                <a:spcPts val="800"/>
              </a:spcAft>
              <a:defRPr sz="1400" b="0">
                <a:solidFill>
                  <a:srgbClr val="0F172A"/>
                </a:solidFill>
                <a:latin typeface="Segoe UI"/>
              </a:defRPr>
            </a:pPr>
            <a:r>
              <a:rPr sz="1400" b="0">
                <a:solidFill>
                  <a:srgbClr val="0F172A"/>
                </a:solidFill>
                <a:latin typeface="Segoe UI"/>
              </a:rPr>
              <a:t>• Hacer agregaciones con el pipeline ($match, $group, $sort).</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046 — NoSQL: MongoDB con pymongo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SQL vs NoSQL — cuándo cada uno</a:t>
            </a:r>
          </a:p>
          <a:p>
            <a:pPr>
              <a:spcAft>
                <a:spcPts val="1000"/>
              </a:spcAft>
              <a:defRPr sz="1600" b="0">
                <a:solidFill>
                  <a:srgbClr val="0F172A"/>
                </a:solidFill>
                <a:latin typeface="Segoe UI"/>
              </a:defRPr>
            </a:pPr>
            <a:r>
              <a:rPr sz="1600" b="0">
                <a:solidFill>
                  <a:srgbClr val="0F172A"/>
                </a:solidFill>
                <a:latin typeface="Segoe UI"/>
              </a:rPr>
              <a:t>• Modelo documento: collections + docs JSON</a:t>
            </a:r>
          </a:p>
          <a:p>
            <a:pPr>
              <a:spcAft>
                <a:spcPts val="1000"/>
              </a:spcAft>
              <a:defRPr sz="1600" b="0">
                <a:solidFill>
                  <a:srgbClr val="0F172A"/>
                </a:solidFill>
                <a:latin typeface="Segoe UI"/>
              </a:defRPr>
            </a:pPr>
            <a:r>
              <a:rPr sz="1600" b="0">
                <a:solidFill>
                  <a:srgbClr val="0F172A"/>
                </a:solidFill>
                <a:latin typeface="Segoe UI"/>
              </a:rPr>
              <a:t>• pymongo: connect, insert_one, find, update_one</a:t>
            </a:r>
          </a:p>
          <a:p>
            <a:pPr>
              <a:spcAft>
                <a:spcPts val="1000"/>
              </a:spcAft>
              <a:defRPr sz="1600" b="0">
                <a:solidFill>
                  <a:srgbClr val="0F172A"/>
                </a:solidFill>
                <a:latin typeface="Segoe UI"/>
              </a:defRPr>
            </a:pPr>
            <a:r>
              <a:rPr sz="1600" b="0">
                <a:solidFill>
                  <a:srgbClr val="0F172A"/>
                </a:solidFill>
                <a:latin typeface="Segoe UI"/>
              </a:rPr>
              <a:t>• Operadores de query: $gt/$lt/$in/$regex</a:t>
            </a:r>
          </a:p>
          <a:p>
            <a:pPr>
              <a:spcAft>
                <a:spcPts val="1000"/>
              </a:spcAft>
              <a:defRPr sz="1600" b="0">
                <a:solidFill>
                  <a:srgbClr val="0F172A"/>
                </a:solidFill>
                <a:latin typeface="Segoe UI"/>
              </a:defRPr>
            </a:pPr>
            <a:r>
              <a:rPr sz="1600" b="0">
                <a:solidFill>
                  <a:srgbClr val="0F172A"/>
                </a:solidFill>
                <a:latin typeface="Segoe UI"/>
              </a:rPr>
              <a:t>• Aggregation pipeline</a:t>
            </a:r>
          </a:p>
          <a:p>
            <a:pPr>
              <a:spcAft>
                <a:spcPts val="1000"/>
              </a:spcAft>
              <a:defRPr sz="1600" b="0">
                <a:solidFill>
                  <a:srgbClr val="0F172A"/>
                </a:solidFill>
                <a:latin typeface="Segoe UI"/>
              </a:defRPr>
            </a:pPr>
            <a:r>
              <a:rPr sz="1600" b="0">
                <a:solidFill>
                  <a:srgbClr val="0F172A"/>
                </a:solidFill>
                <a:latin typeface="Segoe UI"/>
              </a:rPr>
              <a:t>• Cuándo NO usar Mongo</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046 — NoSQL: MongoDB con pymongo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Para este notebook usamos mongomock para no requerir Mongo real: `bash pip install mongomock pymongo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mongomock</a:t>
            </a:r>
          </a:p>
          <a:p>
            <a:pPr>
              <a:defRPr sz="1200" b="0">
                <a:solidFill>
                  <a:srgbClr val="F8FAFC"/>
                </a:solidFill>
                <a:latin typeface="Courier New"/>
              </a:defRPr>
            </a:pPr>
            <a:r>
              <a:rPr sz="1200" b="0">
                <a:solidFill>
                  <a:srgbClr val="F8FAFC"/>
                </a:solidFill>
                <a:latin typeface="Courier New"/>
              </a:rPr>
              <a:t>    client = mongomock.MongoClient()</a:t>
            </a:r>
          </a:p>
          <a:p>
            <a:pPr>
              <a:defRPr sz="1200" b="0">
                <a:solidFill>
                  <a:srgbClr val="F8FAFC"/>
                </a:solidFill>
                <a:latin typeface="Courier New"/>
              </a:defRPr>
            </a:pPr>
            <a:r>
              <a:rPr sz="1200" b="0">
                <a:solidFill>
                  <a:srgbClr val="F8FAFC"/>
                </a:solidFill>
                <a:latin typeface="Courier New"/>
              </a:rPr>
              <a:t>    print('mongomock OK')</a:t>
            </a:r>
          </a:p>
          <a:p>
            <a:pPr>
              <a:defRPr sz="1200" b="0">
                <a:solidFill>
                  <a:srgbClr val="F8FAFC"/>
                </a:solidFill>
                <a:latin typeface="Courier New"/>
              </a:defRPr>
            </a:pPr>
            <a:r>
              <a:rPr sz="1200" b="0">
                <a:solidFill>
                  <a:srgbClr val="F8FAFC"/>
                </a:solidFill>
                <a:latin typeface="Courier New"/>
              </a:rPr>
              <a:t>except ImportError:</a:t>
            </a:r>
          </a:p>
          <a:p>
            <a:pPr>
              <a:defRPr sz="1200" b="0">
                <a:solidFill>
                  <a:srgbClr val="F8FAFC"/>
                </a:solidFill>
                <a:latin typeface="Courier New"/>
              </a:defRPr>
            </a:pPr>
            <a:r>
              <a:rPr sz="1200" b="0">
                <a:solidFill>
                  <a:srgbClr val="F8FAFC"/>
                </a:solidFill>
                <a:latin typeface="Courier New"/>
              </a:rPr>
              <a:t>    print('Instala: pip install mongomock')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db = client['lab044']</a:t>
            </a:r>
          </a:p>
          <a:p>
            <a:pPr>
              <a:defRPr sz="1200" b="0">
                <a:solidFill>
                  <a:srgbClr val="F8FAFC"/>
                </a:solidFill>
                <a:latin typeface="Courier New"/>
              </a:defRPr>
            </a:pPr>
            <a:r>
              <a:rPr sz="1200" b="0">
                <a:solidFill>
                  <a:srgbClr val="F8FAFC"/>
                </a:solidFill>
                <a:latin typeface="Courier New"/>
              </a:rPr>
              <a:t>productos = db['productos']</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046 — NoSQL: MongoDB con pymongo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CRUD básico.</a:t>
            </a:r>
          </a:p>
          <a:p>
            <a:pPr>
              <a:spcAft>
                <a:spcPts val="800"/>
              </a:spcAft>
              <a:defRPr sz="1400" b="0">
                <a:solidFill>
                  <a:srgbClr val="0F172A"/>
                </a:solidFill>
                <a:latin typeface="Segoe UI"/>
              </a:defRPr>
            </a:pPr>
            <a:r>
              <a:rPr sz="1400" b="0">
                <a:solidFill>
                  <a:srgbClr val="0F172A"/>
                </a:solidFill>
                <a:latin typeface="Segoe UI"/>
              </a:rPr>
              <a:t>• Find con operadores.</a:t>
            </a:r>
          </a:p>
          <a:p>
            <a:pPr>
              <a:spcAft>
                <a:spcPts val="800"/>
              </a:spcAft>
              <a:defRPr sz="1400" b="0">
                <a:solidFill>
                  <a:srgbClr val="0F172A"/>
                </a:solidFill>
                <a:latin typeface="Segoe UI"/>
              </a:defRPr>
            </a:pPr>
            <a:r>
              <a:rPr sz="1400" b="0">
                <a:solidFill>
                  <a:srgbClr val="0F172A"/>
                </a:solidFill>
                <a:latin typeface="Segoe UI"/>
              </a:rPr>
              <a:t>• Update con $set y $inc.</a:t>
            </a:r>
          </a:p>
          <a:p>
            <a:pPr>
              <a:spcAft>
                <a:spcPts val="800"/>
              </a:spcAft>
              <a:defRPr sz="1400" b="0">
                <a:solidFill>
                  <a:srgbClr val="0F172A"/>
                </a:solidFill>
                <a:latin typeface="Segoe UI"/>
              </a:defRPr>
            </a:pPr>
            <a:r>
              <a:rPr sz="1400" b="0">
                <a:solidFill>
                  <a:srgbClr val="0F172A"/>
                </a:solidFill>
                <a:latin typeface="Segoe UI"/>
              </a:rPr>
              <a:t>• Aggregation pipeline.</a:t>
            </a:r>
          </a:p>
          <a:p>
            <a:pPr>
              <a:spcAft>
                <a:spcPts val="800"/>
              </a:spcAft>
              <a:defRPr sz="1400" b="0">
                <a:solidFill>
                  <a:srgbClr val="0F172A"/>
                </a:solidFill>
                <a:latin typeface="Segoe UI"/>
              </a:defRPr>
            </a:pPr>
            <a:r>
              <a:rPr sz="1400" b="0">
                <a:solidFill>
                  <a:srgbClr val="0F172A"/>
                </a:solidFill>
                <a:latin typeface="Segoe UI"/>
              </a:rPr>
              <a:t>• Documento jerárquico.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mongomock (no requiere Mongo real): (a) collection productos con 20 docs sintéticos; (b) 5 queries demostrando operadores; (c) aggregation pipeline con $match → $group → $sort; (d) reporte: 3 casos donde Mongo es mejor que SQL y 3 donde no.</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047 — APIs REST con requests</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047 — APIs REST con requests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HTTP: The Definitive Guide caps. 1-2 · requests docs. · Duración estimada: 90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consuma APIs REST públicas con requests: GET con parámetros, manejo de status codes, autenticación (header, bearer token), paginación, rate limiting con Retry, y carga eficiente con Session. Lo mínimo para no romper la API del proveedor ni tu pipeline.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Hacer GET/POST con requests, manejar params, headers, body JSON.</a:t>
            </a:r>
          </a:p>
          <a:p>
            <a:pPr>
              <a:spcAft>
                <a:spcPts val="800"/>
              </a:spcAft>
              <a:defRPr sz="1400" b="0">
                <a:solidFill>
                  <a:srgbClr val="0F172A"/>
                </a:solidFill>
                <a:latin typeface="Segoe UI"/>
              </a:defRPr>
            </a:pPr>
            <a:r>
              <a:rPr sz="1400" b="0">
                <a:solidFill>
                  <a:srgbClr val="0F172A"/>
                </a:solidFill>
                <a:latin typeface="Segoe UI"/>
              </a:rPr>
              <a:t>• Verificar status code (200 vs 4xx vs 5xx) y usar raise_for_status().</a:t>
            </a:r>
          </a:p>
          <a:p>
            <a:pPr>
              <a:spcAft>
                <a:spcPts val="800"/>
              </a:spcAft>
              <a:defRPr sz="1400" b="0">
                <a:solidFill>
                  <a:srgbClr val="0F172A"/>
                </a:solidFill>
                <a:latin typeface="Segoe UI"/>
              </a:defRPr>
            </a:pPr>
            <a:r>
              <a:rPr sz="1400" b="0">
                <a:solidFill>
                  <a:srgbClr val="0F172A"/>
                </a:solidFill>
                <a:latin typeface="Segoe UI"/>
              </a:rPr>
              <a:t>• Autenticarse con header Authorization: Bearer ... o API key en header/query.</a:t>
            </a:r>
          </a:p>
          <a:p>
            <a:pPr>
              <a:spcAft>
                <a:spcPts val="800"/>
              </a:spcAft>
              <a:defRPr sz="1400" b="0">
                <a:solidFill>
                  <a:srgbClr val="0F172A"/>
                </a:solidFill>
                <a:latin typeface="Segoe UI"/>
              </a:defRPr>
            </a:pPr>
            <a:r>
              <a:rPr sz="1400" b="0">
                <a:solidFill>
                  <a:srgbClr val="0F172A"/>
                </a:solidFill>
                <a:latin typeface="Segoe UI"/>
              </a:rPr>
              <a:t>• Paginar correctamente cuando la API devuelve resultados en páginas.</a:t>
            </a:r>
          </a:p>
          <a:p>
            <a:pPr>
              <a:spcAft>
                <a:spcPts val="800"/>
              </a:spcAft>
              <a:defRPr sz="1400" b="0">
                <a:solidFill>
                  <a:srgbClr val="0F172A"/>
                </a:solidFill>
                <a:latin typeface="Segoe UI"/>
              </a:defRPr>
            </a:pPr>
            <a:r>
              <a:rPr sz="1400" b="0">
                <a:solidFill>
                  <a:srgbClr val="0F172A"/>
                </a:solidFill>
                <a:latin typeface="Segoe UI"/>
              </a:rPr>
              <a:t>• Rate-limiting con urllib3.util.retry.Retry para reintentos exponenciales.</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047 — APIs REST con requests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Métodos HTTP: GET, POST, PUT, DELETE</a:t>
            </a:r>
          </a:p>
          <a:p>
            <a:pPr>
              <a:spcAft>
                <a:spcPts val="1000"/>
              </a:spcAft>
              <a:defRPr sz="1600" b="0">
                <a:solidFill>
                  <a:srgbClr val="0F172A"/>
                </a:solidFill>
                <a:latin typeface="Segoe UI"/>
              </a:defRPr>
            </a:pPr>
            <a:r>
              <a:rPr sz="1600" b="0">
                <a:solidFill>
                  <a:srgbClr val="0F172A"/>
                </a:solidFill>
                <a:latin typeface="Segoe UI"/>
              </a:rPr>
              <a:t>• Status codes: 2xx/3xx/4xx/5xx</a:t>
            </a:r>
          </a:p>
          <a:p>
            <a:pPr>
              <a:spcAft>
                <a:spcPts val="1000"/>
              </a:spcAft>
              <a:defRPr sz="1600" b="0">
                <a:solidFill>
                  <a:srgbClr val="0F172A"/>
                </a:solidFill>
                <a:latin typeface="Segoe UI"/>
              </a:defRPr>
            </a:pPr>
            <a:r>
              <a:rPr sz="1600" b="0">
                <a:solidFill>
                  <a:srgbClr val="0F172A"/>
                </a:solidFill>
                <a:latin typeface="Segoe UI"/>
              </a:rPr>
              <a:t>• Params, headers, body</a:t>
            </a:r>
          </a:p>
          <a:p>
            <a:pPr>
              <a:spcAft>
                <a:spcPts val="1000"/>
              </a:spcAft>
              <a:defRPr sz="1600" b="0">
                <a:solidFill>
                  <a:srgbClr val="0F172A"/>
                </a:solidFill>
                <a:latin typeface="Segoe UI"/>
              </a:defRPr>
            </a:pPr>
            <a:r>
              <a:rPr sz="1600" b="0">
                <a:solidFill>
                  <a:srgbClr val="0F172A"/>
                </a:solidFill>
                <a:latin typeface="Segoe UI"/>
              </a:rPr>
              <a:t>• Autenticación: Bearer token, API key</a:t>
            </a:r>
          </a:p>
          <a:p>
            <a:pPr>
              <a:spcAft>
                <a:spcPts val="1000"/>
              </a:spcAft>
              <a:defRPr sz="1600" b="0">
                <a:solidFill>
                  <a:srgbClr val="0F172A"/>
                </a:solidFill>
                <a:latin typeface="Segoe UI"/>
              </a:defRPr>
            </a:pPr>
            <a:r>
              <a:rPr sz="1600" b="0">
                <a:solidFill>
                  <a:srgbClr val="0F172A"/>
                </a:solidFill>
                <a:latin typeface="Segoe UI"/>
              </a:rPr>
              <a:t>• Paginación: offset/limit, cursor, link header</a:t>
            </a:r>
          </a:p>
          <a:p>
            <a:pPr>
              <a:spcAft>
                <a:spcPts val="1000"/>
              </a:spcAft>
              <a:defRPr sz="1600" b="0">
                <a:solidFill>
                  <a:srgbClr val="0F172A"/>
                </a:solidFill>
                <a:latin typeface="Segoe UI"/>
              </a:defRPr>
            </a:pPr>
            <a:r>
              <a:rPr sz="1600" b="0">
                <a:solidFill>
                  <a:srgbClr val="0F172A"/>
                </a:solidFill>
                <a:latin typeface="Segoe UI"/>
              </a:rPr>
              <a:t>• Rate limiting + retry exponencial</a:t>
            </a:r>
          </a:p>
          <a:p>
            <a:pPr>
              <a:spcAft>
                <a:spcPts val="1000"/>
              </a:spcAft>
              <a:defRPr sz="1600" b="0">
                <a:solidFill>
                  <a:srgbClr val="0F172A"/>
                </a:solidFill>
                <a:latin typeface="Segoe UI"/>
              </a:defRPr>
            </a:pPr>
            <a:r>
              <a:rPr sz="1600" b="0">
                <a:solidFill>
                  <a:srgbClr val="0F172A"/>
                </a:solidFill>
                <a:latin typeface="Segoe UI"/>
              </a:rPr>
              <a:t>• requests.Session para reuso</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047 — APIs REST con requests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requests</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from requests.adapters import HTTPAdapter</a:t>
            </a:r>
          </a:p>
          <a:p>
            <a:pPr>
              <a:defRPr sz="1200" b="0">
                <a:solidFill>
                  <a:srgbClr val="F8FAFC"/>
                </a:solidFill>
                <a:latin typeface="Courier New"/>
              </a:defRPr>
            </a:pPr>
            <a:r>
              <a:rPr sz="1200" b="0">
                <a:solidFill>
                  <a:srgbClr val="F8FAFC"/>
                </a:solidFill>
                <a:latin typeface="Courier New"/>
              </a:rPr>
              <a:t>from urllib3.util.retry import Retry</a:t>
            </a:r>
          </a:p>
          <a:p>
            <a:pPr>
              <a:defRPr sz="1200" b="0">
                <a:solidFill>
                  <a:srgbClr val="F8FAFC"/>
                </a:solidFill>
                <a:latin typeface="Courier New"/>
              </a:defRPr>
            </a:pPr>
            <a:r>
              <a:rPr sz="1200" b="0">
                <a:solidFill>
                  <a:srgbClr val="F8FAFC"/>
                </a:solidFill>
                <a:latin typeface="Courier New"/>
              </a:rPr>
              <a:t>print(f'requests: {requests.__version__}')</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047 — APIs REST con requests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GET básico.</a:t>
            </a:r>
          </a:p>
          <a:p>
            <a:pPr>
              <a:spcAft>
                <a:spcPts val="800"/>
              </a:spcAft>
              <a:defRPr sz="1400" b="0">
                <a:solidFill>
                  <a:srgbClr val="0F172A"/>
                </a:solidFill>
                <a:latin typeface="Segoe UI"/>
              </a:defRPr>
            </a:pPr>
            <a:r>
              <a:rPr sz="1400" b="0">
                <a:solidFill>
                  <a:srgbClr val="0F172A"/>
                </a:solidFill>
                <a:latin typeface="Segoe UI"/>
              </a:rPr>
              <a:t>• Con params.</a:t>
            </a:r>
          </a:p>
          <a:p>
            <a:pPr>
              <a:spcAft>
                <a:spcPts val="800"/>
              </a:spcAft>
              <a:defRPr sz="1400" b="0">
                <a:solidFill>
                  <a:srgbClr val="0F172A"/>
                </a:solidFill>
                <a:latin typeface="Segoe UI"/>
              </a:defRPr>
            </a:pPr>
            <a:r>
              <a:rPr sz="1400" b="0">
                <a:solidFill>
                  <a:srgbClr val="0F172A"/>
                </a:solidFill>
                <a:latin typeface="Segoe UI"/>
              </a:rPr>
              <a:t>• raise_for_status + try.</a:t>
            </a:r>
          </a:p>
          <a:p>
            <a:pPr>
              <a:spcAft>
                <a:spcPts val="800"/>
              </a:spcAft>
              <a:defRPr sz="1400" b="0">
                <a:solidFill>
                  <a:srgbClr val="0F172A"/>
                </a:solidFill>
                <a:latin typeface="Segoe UI"/>
              </a:defRPr>
            </a:pPr>
            <a:r>
              <a:rPr sz="1400" b="0">
                <a:solidFill>
                  <a:srgbClr val="0F172A"/>
                </a:solidFill>
                <a:latin typeface="Segoe UI"/>
              </a:rPr>
              <a:t>• Paginación.</a:t>
            </a:r>
          </a:p>
          <a:p>
            <a:pPr>
              <a:spcAft>
                <a:spcPts val="800"/>
              </a:spcAft>
              <a:defRPr sz="1400" b="0">
                <a:solidFill>
                  <a:srgbClr val="0F172A"/>
                </a:solidFill>
                <a:latin typeface="Segoe UI"/>
              </a:defRPr>
            </a:pPr>
            <a:r>
              <a:rPr sz="1400" b="0">
                <a:solidFill>
                  <a:srgbClr val="0F172A"/>
                </a:solidFill>
                <a:latin typeface="Segoe UI"/>
              </a:rPr>
              <a:t>• Session + Retry.</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consulta una API pública (CoinGecko, GitHub, JSONPlaceholder) con GET; (b) maneja status codes con try/except; (c) pagina 3+ páginas; (d) configura Session con Retry exponencial; (e) reporta cuánto se tardó vs un loop sin Session.</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048 — Web scraping con BeautifulSoup</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048 — Web scraping con BeautifulSoup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Web Scraping with Python (Mitchell, 2ª ed.) caps. 1-3 · BeautifulSoup docs. · Duración estimada: 75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extraiga datos de páginas HTML cuando no hay API disponible, usando requests + BeautifulSoup. Y entienda los límites éticos y legales: robots.txt, rate limiting humano, ToS, datos personales, copyright. Lo último que debe hacer al scrapear es tirar abajo el sitio o meterse en problemas.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Parsear HTML con BeautifulSoup(html, 'html.parser').</a:t>
            </a:r>
          </a:p>
          <a:p>
            <a:pPr>
              <a:spcAft>
                <a:spcPts val="800"/>
              </a:spcAft>
              <a:defRPr sz="1400" b="0">
                <a:solidFill>
                  <a:srgbClr val="0F172A"/>
                </a:solidFill>
                <a:latin typeface="Segoe UI"/>
              </a:defRPr>
            </a:pPr>
            <a:r>
              <a:rPr sz="1400" b="0">
                <a:solidFill>
                  <a:srgbClr val="0F172A"/>
                </a:solidFill>
                <a:latin typeface="Segoe UI"/>
              </a:rPr>
              <a:t>• Encontrar elementos con find, find_all, select (CSS selectors).</a:t>
            </a:r>
          </a:p>
          <a:p>
            <a:pPr>
              <a:spcAft>
                <a:spcPts val="800"/>
              </a:spcAft>
              <a:defRPr sz="1400" b="0">
                <a:solidFill>
                  <a:srgbClr val="0F172A"/>
                </a:solidFill>
                <a:latin typeface="Segoe UI"/>
              </a:defRPr>
            </a:pPr>
            <a:r>
              <a:rPr sz="1400" b="0">
                <a:solidFill>
                  <a:srgbClr val="0F172A"/>
                </a:solidFill>
                <a:latin typeface="Segoe UI"/>
              </a:rPr>
              <a:t>• Extraer texto y atributos (.text, ['href']).</a:t>
            </a:r>
          </a:p>
          <a:p>
            <a:pPr>
              <a:spcAft>
                <a:spcPts val="800"/>
              </a:spcAft>
              <a:defRPr sz="1400" b="0">
                <a:solidFill>
                  <a:srgbClr val="0F172A"/>
                </a:solidFill>
                <a:latin typeface="Segoe UI"/>
              </a:defRPr>
            </a:pPr>
            <a:r>
              <a:rPr sz="1400" b="0">
                <a:solidFill>
                  <a:srgbClr val="0F172A"/>
                </a:solidFill>
                <a:latin typeface="Segoe UI"/>
              </a:rPr>
              <a:t>• Respetar robots.txt y rate limit (delay entre requests).</a:t>
            </a:r>
          </a:p>
          <a:p>
            <a:pPr>
              <a:spcAft>
                <a:spcPts val="800"/>
              </a:spcAft>
              <a:defRPr sz="1400" b="0">
                <a:solidFill>
                  <a:srgbClr val="0F172A"/>
                </a:solidFill>
                <a:latin typeface="Segoe UI"/>
              </a:defRPr>
            </a:pPr>
            <a:r>
              <a:rPr sz="1400" b="0">
                <a:solidFill>
                  <a:srgbClr val="0F172A"/>
                </a:solidFill>
                <a:latin typeface="Segoe UI"/>
              </a:rPr>
              <a:t>• Identificar cuándo scraping es buena idea vs cuándo buscar otra fuente (API, dataset público).</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048 — Web scraping con BeautifulSoup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HTTP → HTML → parser tree</a:t>
            </a:r>
          </a:p>
          <a:p>
            <a:pPr>
              <a:spcAft>
                <a:spcPts val="1000"/>
              </a:spcAft>
              <a:defRPr sz="1600" b="0">
                <a:solidFill>
                  <a:srgbClr val="0F172A"/>
                </a:solidFill>
                <a:latin typeface="Segoe UI"/>
              </a:defRPr>
            </a:pPr>
            <a:r>
              <a:rPr sz="1600" b="0">
                <a:solidFill>
                  <a:srgbClr val="0F172A"/>
                </a:solidFill>
                <a:latin typeface="Segoe UI"/>
              </a:rPr>
              <a:t>• BeautifulSoup: find vs select</a:t>
            </a:r>
          </a:p>
          <a:p>
            <a:pPr>
              <a:spcAft>
                <a:spcPts val="1000"/>
              </a:spcAft>
              <a:defRPr sz="1600" b="0">
                <a:solidFill>
                  <a:srgbClr val="0F172A"/>
                </a:solidFill>
                <a:latin typeface="Segoe UI"/>
              </a:defRPr>
            </a:pPr>
            <a:r>
              <a:rPr sz="1600" b="0">
                <a:solidFill>
                  <a:srgbClr val="0F172A"/>
                </a:solidFill>
                <a:latin typeface="Segoe UI"/>
              </a:rPr>
              <a:t>• Extracción de texto y atributos</a:t>
            </a:r>
          </a:p>
          <a:p>
            <a:pPr>
              <a:spcAft>
                <a:spcPts val="1000"/>
              </a:spcAft>
              <a:defRPr sz="1600" b="0">
                <a:solidFill>
                  <a:srgbClr val="0F172A"/>
                </a:solidFill>
                <a:latin typeface="Segoe UI"/>
              </a:defRPr>
            </a:pPr>
            <a:r>
              <a:rPr sz="1600" b="0">
                <a:solidFill>
                  <a:srgbClr val="0F172A"/>
                </a:solidFill>
                <a:latin typeface="Segoe UI"/>
              </a:rPr>
              <a:t>• Páginas dinámicas (JS) — requests no las renderiza</a:t>
            </a:r>
          </a:p>
          <a:p>
            <a:pPr>
              <a:spcAft>
                <a:spcPts val="1000"/>
              </a:spcAft>
              <a:defRPr sz="1600" b="0">
                <a:solidFill>
                  <a:srgbClr val="0F172A"/>
                </a:solidFill>
                <a:latin typeface="Segoe UI"/>
              </a:defRPr>
            </a:pPr>
            <a:r>
              <a:rPr sz="1600" b="0">
                <a:solidFill>
                  <a:srgbClr val="0F172A"/>
                </a:solidFill>
                <a:latin typeface="Segoe UI"/>
              </a:rPr>
              <a:t>• robots.txt — qué dice y por qué respetar</a:t>
            </a:r>
          </a:p>
          <a:p>
            <a:pPr>
              <a:spcAft>
                <a:spcPts val="1000"/>
              </a:spcAft>
              <a:defRPr sz="1600" b="0">
                <a:solidFill>
                  <a:srgbClr val="0F172A"/>
                </a:solidFill>
                <a:latin typeface="Segoe UI"/>
              </a:defRPr>
            </a:pPr>
            <a:r>
              <a:rPr sz="1600" b="0">
                <a:solidFill>
                  <a:srgbClr val="0F172A"/>
                </a:solidFill>
                <a:latin typeface="Segoe UI"/>
              </a:rPr>
              <a:t>• Ética: ToS, rate limiting, datos personales</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048 — Web scraping con BeautifulSoup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`bash pip install beautifulsoup4 lxml `</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requests</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from bs4 import BeautifulSoup</a:t>
            </a:r>
          </a:p>
          <a:p>
            <a:pPr>
              <a:defRPr sz="1200" b="0">
                <a:solidFill>
                  <a:srgbClr val="F8FAFC"/>
                </a:solidFill>
                <a:latin typeface="Courier New"/>
              </a:defRPr>
            </a:pPr>
            <a:r>
              <a:rPr sz="1200" b="0">
                <a:solidFill>
                  <a:srgbClr val="F8FAFC"/>
                </a:solidFill>
                <a:latin typeface="Courier New"/>
              </a:rPr>
              <a:t>print(f'bs4 OK')</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048 — Web scraping con BeautifulSoup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Parsea HTML local.</a:t>
            </a:r>
          </a:p>
          <a:p>
            <a:pPr>
              <a:spcAft>
                <a:spcPts val="800"/>
              </a:spcAft>
              <a:defRPr sz="1400" b="0">
                <a:solidFill>
                  <a:srgbClr val="0F172A"/>
                </a:solidFill>
                <a:latin typeface="Segoe UI"/>
              </a:defRPr>
            </a:pPr>
            <a:r>
              <a:rPr sz="1400" b="0">
                <a:solidFill>
                  <a:srgbClr val="0F172A"/>
                </a:solidFill>
                <a:latin typeface="Segoe UI"/>
              </a:rPr>
              <a:t>• Selectores CSS.</a:t>
            </a:r>
          </a:p>
          <a:p>
            <a:pPr>
              <a:spcAft>
                <a:spcPts val="800"/>
              </a:spcAft>
              <a:defRPr sz="1400" b="0">
                <a:solidFill>
                  <a:srgbClr val="0F172A"/>
                </a:solidFill>
                <a:latin typeface="Segoe UI"/>
              </a:defRPr>
            </a:pPr>
            <a:r>
              <a:rPr sz="1400" b="0">
                <a:solidFill>
                  <a:srgbClr val="0F172A"/>
                </a:solidFill>
                <a:latin typeface="Segoe UI"/>
              </a:rPr>
              <a:t>• Tabla a DataFrame.</a:t>
            </a:r>
          </a:p>
          <a:p>
            <a:pPr>
              <a:spcAft>
                <a:spcPts val="800"/>
              </a:spcAft>
              <a:defRPr sz="1400" b="0">
                <a:solidFill>
                  <a:srgbClr val="0F172A"/>
                </a:solidFill>
                <a:latin typeface="Segoe UI"/>
              </a:defRPr>
            </a:pPr>
            <a:r>
              <a:rPr sz="1400" b="0">
                <a:solidFill>
                  <a:srgbClr val="0F172A"/>
                </a:solidFill>
                <a:latin typeface="Segoe UI"/>
              </a:rPr>
              <a:t>• Scrape ético.</a:t>
            </a:r>
          </a:p>
          <a:p>
            <a:pPr>
              <a:spcAft>
                <a:spcPts val="800"/>
              </a:spcAft>
              <a:defRPr sz="1400" b="0">
                <a:solidFill>
                  <a:srgbClr val="0F172A"/>
                </a:solidFill>
                <a:latin typeface="Segoe UI"/>
              </a:defRPr>
            </a:pPr>
            <a:r>
              <a:rPr sz="1400" b="0">
                <a:solidFill>
                  <a:srgbClr val="0F172A"/>
                </a:solidFill>
                <a:latin typeface="Segoe UI"/>
              </a:rPr>
              <a:t>• Inspeccionar robots.txt.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(a) HTML local con 5 productos, extrae nombre/precio/url; (b) scrape quotes.toscrape.com (3 páginas, con delay); (c) consulta robots.txt y razona; (d) listado de 3 escenarios cuando scrapear es buena idea y 3 cuando no.</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049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049 — async / httpx / aiohttp para data scientists</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049 — async / httpx / aiohttp para data scientists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0 — Prerrequisitos · Fuente: docs asyncio + httpx + Beazley Python Concurrency.  Duración estimada: 80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asyncio y httpx —el HTTP client moderno con soporte sync + async + HTTP/2— para hacer scraping y consumo de APIs en paralelo sin bloquear. Pasar de "1 request por segundo" con requests a "100+ concurrentes" con httpx.AsyncClient. Comparar con aiohttp (alternativa popular) y concurrent.futures (parallelism con threads).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async def y await; ejecutar con asyncio.run.</a:t>
            </a:r>
          </a:p>
          <a:p>
            <a:pPr>
              <a:spcAft>
                <a:spcPts val="800"/>
              </a:spcAft>
              <a:defRPr sz="1400" b="0">
                <a:solidFill>
                  <a:srgbClr val="0F172A"/>
                </a:solidFill>
                <a:latin typeface="Segoe UI"/>
              </a:defRPr>
            </a:pPr>
            <a:r>
              <a:rPr sz="1400" b="0">
                <a:solidFill>
                  <a:srgbClr val="0F172A"/>
                </a:solidFill>
                <a:latin typeface="Segoe UI"/>
              </a:rPr>
              <a:t>• Usar httpx.AsyncClient para fetches concurrentes con asyncio.gather.</a:t>
            </a:r>
          </a:p>
          <a:p>
            <a:pPr>
              <a:spcAft>
                <a:spcPts val="800"/>
              </a:spcAft>
              <a:defRPr sz="1400" b="0">
                <a:solidFill>
                  <a:srgbClr val="0F172A"/>
                </a:solidFill>
                <a:latin typeface="Segoe UI"/>
              </a:defRPr>
            </a:pPr>
            <a:r>
              <a:rPr sz="1400" b="0">
                <a:solidFill>
                  <a:srgbClr val="0F172A"/>
                </a:solidFill>
                <a:latin typeface="Segoe UI"/>
              </a:rPr>
              <a:t>• Limitar concurrencia con asyncio.Semaphore para no DOS-ear a la API.</a:t>
            </a:r>
          </a:p>
          <a:p>
            <a:pPr>
              <a:spcAft>
                <a:spcPts val="800"/>
              </a:spcAft>
              <a:defRPr sz="1400" b="0">
                <a:solidFill>
                  <a:srgbClr val="0F172A"/>
                </a:solidFill>
                <a:latin typeface="Segoe UI"/>
              </a:defRPr>
            </a:pPr>
            <a:r>
              <a:rPr sz="1400" b="0">
                <a:solidFill>
                  <a:srgbClr val="0F172A"/>
                </a:solidFill>
                <a:latin typeface="Segoe UI"/>
              </a:rPr>
              <a:t>• Implementar rate limiting + retries con backoff exponencial.</a:t>
            </a:r>
          </a:p>
          <a:p>
            <a:pPr>
              <a:spcAft>
                <a:spcPts val="800"/>
              </a:spcAft>
              <a:defRPr sz="1400" b="0">
                <a:solidFill>
                  <a:srgbClr val="0F172A"/>
                </a:solidFill>
                <a:latin typeface="Segoe UI"/>
              </a:defRPr>
            </a:pPr>
            <a:r>
              <a:rPr sz="1400" b="0">
                <a:solidFill>
                  <a:srgbClr val="0F172A"/>
                </a:solidFill>
                <a:latin typeface="Segoe UI"/>
              </a:rPr>
              <a:t>• Decidir entre asyncio, threading, multiprocessing según I/O-bound vs CPU-bound.</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049 — async / httpx / aiohttp para data scientists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Event loop, coroutines, await.</a:t>
            </a:r>
          </a:p>
          <a:p>
            <a:pPr>
              <a:spcAft>
                <a:spcPts val="1000"/>
              </a:spcAft>
              <a:defRPr sz="1600" b="0">
                <a:solidFill>
                  <a:srgbClr val="0F172A"/>
                </a:solidFill>
                <a:latin typeface="Segoe UI"/>
              </a:defRPr>
            </a:pPr>
            <a:r>
              <a:rPr sz="1600" b="0">
                <a:solidFill>
                  <a:srgbClr val="0F172A"/>
                </a:solidFill>
                <a:latin typeface="Segoe UI"/>
              </a:rPr>
              <a:t>• httpx: API unificada sync/async, HTTP/2, timeouts.</a:t>
            </a:r>
          </a:p>
          <a:p>
            <a:pPr>
              <a:spcAft>
                <a:spcPts val="1000"/>
              </a:spcAft>
              <a:defRPr sz="1600" b="0">
                <a:solidFill>
                  <a:srgbClr val="0F172A"/>
                </a:solidFill>
                <a:latin typeface="Segoe UI"/>
              </a:defRPr>
            </a:pPr>
            <a:r>
              <a:rPr sz="1600" b="0">
                <a:solidFill>
                  <a:srgbClr val="0F172A"/>
                </a:solidFill>
                <a:latin typeface="Segoe UI"/>
              </a:rPr>
              <a:t>• asyncio.gather, asyncio.as_completed.</a:t>
            </a:r>
          </a:p>
          <a:p>
            <a:pPr>
              <a:spcAft>
                <a:spcPts val="1000"/>
              </a:spcAft>
              <a:defRPr sz="1600" b="0">
                <a:solidFill>
                  <a:srgbClr val="0F172A"/>
                </a:solidFill>
                <a:latin typeface="Segoe UI"/>
              </a:defRPr>
            </a:pPr>
            <a:r>
              <a:rPr sz="1600" b="0">
                <a:solidFill>
                  <a:srgbClr val="0F172A"/>
                </a:solidFill>
                <a:latin typeface="Segoe UI"/>
              </a:rPr>
              <a:t>• Semaphore para limitar concurrencia.</a:t>
            </a:r>
          </a:p>
          <a:p>
            <a:pPr>
              <a:spcAft>
                <a:spcPts val="1000"/>
              </a:spcAft>
              <a:defRPr sz="1600" b="0">
                <a:solidFill>
                  <a:srgbClr val="0F172A"/>
                </a:solidFill>
                <a:latin typeface="Segoe UI"/>
              </a:defRPr>
            </a:pPr>
            <a:r>
              <a:rPr sz="1600" b="0">
                <a:solidFill>
                  <a:srgbClr val="0F172A"/>
                </a:solidFill>
                <a:latin typeface="Segoe UI"/>
              </a:rPr>
              <a:t>• Backoff exponencial con tenacity o backoff lib.</a:t>
            </a:r>
          </a:p>
          <a:p>
            <a:pPr>
              <a:spcAft>
                <a:spcPts val="1000"/>
              </a:spcAft>
              <a:defRPr sz="1600" b="0">
                <a:solidFill>
                  <a:srgbClr val="0F172A"/>
                </a:solidFill>
                <a:latin typeface="Segoe UI"/>
              </a:defRPr>
            </a:pPr>
            <a:r>
              <a:rPr sz="1600" b="0">
                <a:solidFill>
                  <a:srgbClr val="0F172A"/>
                </a:solidFill>
                <a:latin typeface="Segoe UI"/>
              </a:rPr>
              <a:t>• aiohttp como alternativa (más antigua, más utilities).</a:t>
            </a:r>
          </a:p>
          <a:p>
            <a:pPr>
              <a:spcAft>
                <a:spcPts val="1000"/>
              </a:spcAft>
              <a:defRPr sz="1600" b="0">
                <a:solidFill>
                  <a:srgbClr val="0F172A"/>
                </a:solidFill>
                <a:latin typeface="Segoe UI"/>
              </a:defRPr>
            </a:pPr>
            <a:r>
              <a:rPr sz="1600" b="0">
                <a:solidFill>
                  <a:srgbClr val="0F172A"/>
                </a:solidFill>
                <a:latin typeface="Segoe UI"/>
              </a:rPr>
              <a:t>• Cuándo NO async: tareas CPU-bound (usar multiprocessing).</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049 — async / httpx / aiohttp para data scientists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Self-contained: levantamos un mock server local con aiohttp (sin internet) y comparamos requests sync vs httpx.AsyncClient con asyncio.gather. Vemos Semaphore, retry con backoff y patrón productor-consumidor.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asyncio, time, threading, random</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httpx</a:t>
            </a:r>
          </a:p>
          <a:p>
            <a:pPr>
              <a:defRPr sz="1200" b="0">
                <a:solidFill>
                  <a:srgbClr val="F8FAFC"/>
                </a:solidFill>
                <a:latin typeface="Courier New"/>
              </a:defRPr>
            </a:pPr>
            <a:r>
              <a:rPr sz="1200" b="0">
                <a:solidFill>
                  <a:srgbClr val="F8FAFC"/>
                </a:solidFill>
                <a:latin typeface="Courier New"/>
              </a:rPr>
              <a:t>    import aiohttp</a:t>
            </a:r>
          </a:p>
          <a:p>
            <a:pPr>
              <a:defRPr sz="1200" b="0">
                <a:solidFill>
                  <a:srgbClr val="F8FAFC"/>
                </a:solidFill>
                <a:latin typeface="Courier New"/>
              </a:defRPr>
            </a:pPr>
            <a:r>
              <a:rPr sz="1200" b="0">
                <a:solidFill>
                  <a:srgbClr val="F8FAFC"/>
                </a:solidFill>
                <a:latin typeface="Courier New"/>
              </a:rPr>
              <a:t>    from aiohttp import web</a:t>
            </a:r>
          </a:p>
          <a:p>
            <a:pPr>
              <a:defRPr sz="1200" b="0">
                <a:solidFill>
                  <a:srgbClr val="F8FAFC"/>
                </a:solidFill>
                <a:latin typeface="Courier New"/>
              </a:defRPr>
            </a:pPr>
            <a:r>
              <a:rPr sz="1200" b="0">
                <a:solidFill>
                  <a:srgbClr val="F8FAFC"/>
                </a:solidFill>
                <a:latin typeface="Courier New"/>
              </a:rPr>
              <a:t>    import requests</a:t>
            </a:r>
          </a:p>
          <a:p>
            <a:pPr>
              <a:defRPr sz="1200" b="0">
                <a:solidFill>
                  <a:srgbClr val="F8FAFC"/>
                </a:solidFill>
                <a:latin typeface="Courier New"/>
              </a:defRPr>
            </a:pPr>
            <a:r>
              <a:rPr sz="1200" b="0">
                <a:solidFill>
                  <a:srgbClr val="F8FAFC"/>
                </a:solidFill>
                <a:latin typeface="Courier New"/>
              </a:rPr>
              <a:t>except ImportError as e:</a:t>
            </a:r>
          </a:p>
          <a:p>
            <a:pPr>
              <a:defRPr sz="1200" b="0">
                <a:solidFill>
                  <a:srgbClr val="F8FAFC"/>
                </a:solidFill>
                <a:latin typeface="Courier New"/>
              </a:defRPr>
            </a:pPr>
            <a:r>
              <a:rPr sz="1200" b="0">
                <a:solidFill>
                  <a:srgbClr val="F8FAFC"/>
                </a:solidFill>
                <a:latin typeface="Courier New"/>
              </a:rPr>
              <a:t>    raise ImportError('Instalá: pip install httpx aiohttp requests') from 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En Jupyter el loop ya corre — habilitamos nesting si está disponible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nest_asyncio; nest_asyncio.apply()</a:t>
            </a:r>
          </a:p>
          <a:p>
            <a:pPr>
              <a:defRPr sz="1200" b="0">
                <a:solidFill>
                  <a:srgbClr val="F8FAFC"/>
                </a:solidFill>
                <a:latin typeface="Courier New"/>
              </a:defRPr>
            </a:pPr>
            <a:r>
              <a:rPr sz="1200" b="0">
                <a:solidFill>
                  <a:srgbClr val="F8FAFC"/>
                </a:solidFill>
                <a:latin typeface="Courier New"/>
              </a:rPr>
              <a:t>except ImportError:</a:t>
            </a:r>
          </a:p>
          <a:p>
            <a:pPr>
              <a:defRPr sz="1200" b="0">
                <a:solidFill>
                  <a:srgbClr val="F8FAFC"/>
                </a:solidFill>
                <a:latin typeface="Courier New"/>
              </a:defRPr>
            </a:pPr>
            <a:r>
              <a:rPr sz="1200" b="0">
                <a:solidFill>
                  <a:srgbClr val="F8FAFC"/>
                </a:solidFill>
                <a:latin typeface="Courier New"/>
              </a:rPr>
              <a:t>    pass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random.seed(42)</a:t>
            </a:r>
          </a:p>
          <a:p>
            <a:pPr>
              <a:defRPr sz="1200" b="0">
                <a:solidFill>
                  <a:srgbClr val="F8FAFC"/>
                </a:solidFill>
                <a:latin typeface="Courier New"/>
              </a:defRPr>
            </a:pPr>
            <a:r>
              <a:rPr sz="1200" b="0">
                <a:solidFill>
                  <a:srgbClr val="F8FAFC"/>
                </a:solidFill>
                <a:latin typeface="Courier New"/>
              </a:rPr>
              <a:t>print(f'httpx {httpx.__version__} | aiohttp {aiohttp.__version__} | requests {requests.__version__}')</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049 — async / httpx / aiohttp para data scientists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Sync baseline: fetcher de 50 URLs con requests.get en loop.</a:t>
            </a:r>
          </a:p>
          <a:p>
            <a:pPr>
              <a:spcAft>
                <a:spcPts val="800"/>
              </a:spcAft>
              <a:defRPr sz="1400" b="0">
                <a:solidFill>
                  <a:srgbClr val="0F172A"/>
                </a:solidFill>
                <a:latin typeface="Segoe UI"/>
              </a:defRPr>
            </a:pPr>
            <a:r>
              <a:rPr sz="1400" b="0">
                <a:solidFill>
                  <a:srgbClr val="0F172A"/>
                </a:solidFill>
                <a:latin typeface="Segoe UI"/>
              </a:rPr>
              <a:t>• Async con httpx: async with httpx.AsyncClient() as c: results = await asyncio.gather(*[c.get(url) for url in urls]).</a:t>
            </a:r>
          </a:p>
          <a:p>
            <a:pPr>
              <a:spcAft>
                <a:spcPts val="800"/>
              </a:spcAft>
              <a:defRPr sz="1400" b="0">
                <a:solidFill>
                  <a:srgbClr val="0F172A"/>
                </a:solidFill>
                <a:latin typeface="Segoe UI"/>
              </a:defRPr>
            </a:pPr>
            <a:r>
              <a:rPr sz="1400" b="0">
                <a:solidFill>
                  <a:srgbClr val="0F172A"/>
                </a:solidFill>
                <a:latin typeface="Segoe UI"/>
              </a:rPr>
              <a:t>• Semaphore: limitar a 10 concurrent.</a:t>
            </a:r>
          </a:p>
          <a:p>
            <a:pPr>
              <a:spcAft>
                <a:spcPts val="800"/>
              </a:spcAft>
              <a:defRPr sz="1400" b="0">
                <a:solidFill>
                  <a:srgbClr val="0F172A"/>
                </a:solidFill>
                <a:latin typeface="Segoe UI"/>
              </a:defRPr>
            </a:pPr>
            <a:r>
              <a:rPr sz="1400" b="0">
                <a:solidFill>
                  <a:srgbClr val="0F172A"/>
                </a:solidFill>
                <a:latin typeface="Segoe UI"/>
              </a:rPr>
              <a:t>• Retry exponencial: usar tenacity.retry(stop=stop_after_attempt(5), wait=wait_exponential(min=1, max=30)) sobre un fetcher.</a:t>
            </a:r>
          </a:p>
          <a:p>
            <a:pPr>
              <a:spcAft>
                <a:spcPts val="800"/>
              </a:spcAft>
              <a:defRPr sz="1400" b="0">
                <a:solidFill>
                  <a:srgbClr val="0F172A"/>
                </a:solidFill>
                <a:latin typeface="Segoe UI"/>
              </a:defRPr>
            </a:pPr>
            <a:r>
              <a:rPr sz="1400" b="0">
                <a:solidFill>
                  <a:srgbClr val="0F172A"/>
                </a:solidFill>
                <a:latin typeface="Segoe UI"/>
              </a:rPr>
              <a:t>• httpx vs aiohttp: hacer el mismo benchmark con ambos.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con httpx.AsyncClient + asyncio.gather.</a:t>
            </a:r>
          </a:p>
          <a:p>
            <a:pPr>
              <a:spcAft>
                <a:spcPts val="800"/>
              </a:spcAft>
              <a:defRPr sz="1500" b="0">
                <a:solidFill>
                  <a:srgbClr val="0F172A"/>
                </a:solidFill>
                <a:latin typeface="Segoe UI"/>
              </a:defRPr>
            </a:pPr>
            <a:r>
              <a:rPr sz="1500" b="0">
                <a:solidFill>
                  <a:srgbClr val="0F172A"/>
                </a:solidFill>
                <a:latin typeface="Segoe UI"/>
              </a:rPr>
              <a:t>• Limitar a 20 concurrent con Semaphore.</a:t>
            </a:r>
          </a:p>
          <a:p>
            <a:pPr>
              <a:spcAft>
                <a:spcPts val="800"/>
              </a:spcAft>
              <a:defRPr sz="1500" b="0">
                <a:solidFill>
                  <a:srgbClr val="0F172A"/>
                </a:solidFill>
                <a:latin typeface="Segoe UI"/>
              </a:defRPr>
            </a:pPr>
            <a:r>
              <a:rPr sz="1500" b="0">
                <a:solidFill>
                  <a:srgbClr val="0F172A"/>
                </a:solidFill>
                <a:latin typeface="Segoe UI"/>
              </a:rPr>
              <a:t>• Retry con backoff sobre errores 5xx.</a:t>
            </a:r>
          </a:p>
          <a:p>
            <a:pPr>
              <a:spcAft>
                <a:spcPts val="800"/>
              </a:spcAft>
              <a:defRPr sz="1500" b="0">
                <a:solidFill>
                  <a:srgbClr val="0F172A"/>
                </a:solidFill>
                <a:latin typeface="Segoe UI"/>
              </a:defRPr>
            </a:pPr>
            <a:r>
              <a:rPr sz="1500" b="0">
                <a:solidFill>
                  <a:srgbClr val="0F172A"/>
                </a:solidFill>
                <a:latin typeface="Segoe UI"/>
              </a:rPr>
              <a:t>• Reportar tiempo total y % de éxito.</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1 — Machine Learning Clásico · 50 clases</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050 — Panorama del ML: tipos, batch vs online, instance vs model-based</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050 — Panorama del ML: tipos, batch vs online, instance vs model-based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1.  Duración estimada: 60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arme un mapa mental claro del campo de ML antes de entrar en algoritmos concretos: qué tipos de aprendizaje existen, en qué se diferencia entrenar de una sola vez (batch) vs en streaming (online), y por qué algunos modelos "memorizan ejemplos" (instance-based) y otros "abstraen una regla" (model-based). Sirve de andamio para ubicar cada algoritmo de las próximas clases dentro de esta taxonomía.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Clasificar un problema dado como supervisado, no supervisado, semi-supervisado o reforzado, justificando con la pinta de los datos (¿hay etiquetas?, ¿hay recompensa?).</a:t>
            </a:r>
          </a:p>
          <a:p>
            <a:pPr>
              <a:spcAft>
                <a:spcPts val="800"/>
              </a:spcAft>
              <a:defRPr sz="1400" b="0">
                <a:solidFill>
                  <a:srgbClr val="0F172A"/>
                </a:solidFill>
                <a:latin typeface="Segoe UI"/>
              </a:defRPr>
            </a:pPr>
            <a:r>
              <a:rPr sz="1400" b="0">
                <a:solidFill>
                  <a:srgbClr val="0F172A"/>
                </a:solidFill>
                <a:latin typeface="Segoe UI"/>
              </a:rPr>
              <a:t>• Decidir batch vs online según el volumen de datos, la velocidad a la que cambia la distribución y el costo de reentrenar.</a:t>
            </a:r>
          </a:p>
          <a:p>
            <a:pPr>
              <a:spcAft>
                <a:spcPts val="800"/>
              </a:spcAft>
              <a:defRPr sz="1400" b="0">
                <a:solidFill>
                  <a:srgbClr val="0F172A"/>
                </a:solidFill>
                <a:latin typeface="Segoe UI"/>
              </a:defRPr>
            </a:pPr>
            <a:r>
              <a:rPr sz="1400" b="0">
                <a:solidFill>
                  <a:srgbClr val="0F172A"/>
                </a:solidFill>
                <a:latin typeface="Segoe UI"/>
              </a:rPr>
              <a:t>• Distinguir instance-based de model-based y reconocer cuál usa scikit-learn por debajo en un algoritmo dado (KNN vs regresión lineal, por ejemplo).</a:t>
            </a:r>
          </a:p>
          <a:p>
            <a:pPr>
              <a:spcAft>
                <a:spcPts val="800"/>
              </a:spcAft>
              <a:defRPr sz="1400" b="0">
                <a:solidFill>
                  <a:srgbClr val="0F172A"/>
                </a:solidFill>
                <a:latin typeface="Segoe UI"/>
              </a:defRPr>
            </a:pPr>
            <a:r>
              <a:rPr sz="1400" b="0">
                <a:solidFill>
                  <a:srgbClr val="0F172A"/>
                </a:solidFill>
                <a:latin typeface="Segoe UI"/>
              </a:rPr>
              <a:t>• Detectar señales de mala generalización (overfitting / data drift) en términos del marco del cap. 1 — anticipo de la clase 048.</a:t>
            </a:r>
          </a:p>
          <a:p>
            <a:pPr>
              <a:spcAft>
                <a:spcPts val="800"/>
              </a:spcAft>
              <a:defRPr sz="1400" b="0">
                <a:solidFill>
                  <a:srgbClr val="0F172A"/>
                </a:solidFill>
                <a:latin typeface="Segoe UI"/>
              </a:defRPr>
            </a:pPr>
            <a:r>
              <a:rPr sz="1400" b="0">
                <a:solidFill>
                  <a:srgbClr val="0F172A"/>
                </a:solidFill>
                <a:latin typeface="Segoe UI"/>
              </a:rPr>
              <a:t>• Ubicar cualquier algoritmo del curso dentro de la grilla (supervisión × batch/online × instance/model) sin googlear.</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050 — Panorama del ML: tipos, batch vs online, instance vs model-based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Qué es ML (Samuel 1959, Mitchell 1997)</a:t>
            </a:r>
          </a:p>
          <a:p>
            <a:pPr>
              <a:spcAft>
                <a:spcPts val="1000"/>
              </a:spcAft>
              <a:defRPr sz="1600" b="0">
                <a:solidFill>
                  <a:srgbClr val="0F172A"/>
                </a:solidFill>
                <a:latin typeface="Segoe UI"/>
              </a:defRPr>
            </a:pPr>
            <a:r>
              <a:rPr sz="1600" b="0">
                <a:solidFill>
                  <a:srgbClr val="0F172A"/>
                </a:solidFill>
                <a:latin typeface="Segoe UI"/>
              </a:rPr>
              <a:t>• Aprendizaje supervisado</a:t>
            </a:r>
          </a:p>
          <a:p>
            <a:pPr>
              <a:spcAft>
                <a:spcPts val="1000"/>
              </a:spcAft>
              <a:defRPr sz="1600" b="0">
                <a:solidFill>
                  <a:srgbClr val="0F172A"/>
                </a:solidFill>
                <a:latin typeface="Segoe UI"/>
              </a:defRPr>
            </a:pPr>
            <a:r>
              <a:rPr sz="1600" b="0">
                <a:solidFill>
                  <a:srgbClr val="0F172A"/>
                </a:solidFill>
                <a:latin typeface="Segoe UI"/>
              </a:rPr>
              <a:t>• Aprendizaje no supervisado</a:t>
            </a:r>
          </a:p>
          <a:p>
            <a:pPr>
              <a:spcAft>
                <a:spcPts val="1000"/>
              </a:spcAft>
              <a:defRPr sz="1600" b="0">
                <a:solidFill>
                  <a:srgbClr val="0F172A"/>
                </a:solidFill>
                <a:latin typeface="Segoe UI"/>
              </a:defRPr>
            </a:pPr>
            <a:r>
              <a:rPr sz="1600" b="0">
                <a:solidFill>
                  <a:srgbClr val="0F172A"/>
                </a:solidFill>
                <a:latin typeface="Segoe UI"/>
              </a:rPr>
              <a:t>• Semi-supervisado y auto-supervisado</a:t>
            </a:r>
          </a:p>
          <a:p>
            <a:pPr>
              <a:spcAft>
                <a:spcPts val="1000"/>
              </a:spcAft>
              <a:defRPr sz="1600" b="0">
                <a:solidFill>
                  <a:srgbClr val="0F172A"/>
                </a:solidFill>
                <a:latin typeface="Segoe UI"/>
              </a:defRPr>
            </a:pPr>
            <a:r>
              <a:rPr sz="1600" b="0">
                <a:solidFill>
                  <a:srgbClr val="0F172A"/>
                </a:solidFill>
                <a:latin typeface="Segoe UI"/>
              </a:rPr>
              <a:t>• Aprendizaje por refuerzo</a:t>
            </a:r>
          </a:p>
          <a:p>
            <a:pPr>
              <a:spcAft>
                <a:spcPts val="1000"/>
              </a:spcAft>
              <a:defRPr sz="1600" b="0">
                <a:solidFill>
                  <a:srgbClr val="0F172A"/>
                </a:solidFill>
                <a:latin typeface="Segoe UI"/>
              </a:defRPr>
            </a:pPr>
            <a:r>
              <a:rPr sz="1600" b="0">
                <a:solidFill>
                  <a:srgbClr val="0F172A"/>
                </a:solidFill>
                <a:latin typeface="Segoe UI"/>
              </a:rPr>
              <a:t>• Batch vs online learning</a:t>
            </a:r>
          </a:p>
          <a:p>
            <a:pPr>
              <a:spcAft>
                <a:spcPts val="1000"/>
              </a:spcAft>
              <a:defRPr sz="1600" b="0">
                <a:solidFill>
                  <a:srgbClr val="0F172A"/>
                </a:solidFill>
                <a:latin typeface="Segoe UI"/>
              </a:defRPr>
            </a:pPr>
            <a:r>
              <a:rPr sz="1600" b="0">
                <a:solidFill>
                  <a:srgbClr val="0F172A"/>
                </a:solidFill>
                <a:latin typeface="Segoe UI"/>
              </a:rPr>
              <a:t>• Instance-based vs model-based</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050 — Panorama del ML: tipos, batch vs online, instance vs model-based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Ubicamos cada algoritmo en la grilla (supervisión × batch/online × instance/model). Comparamos KNN (instance-based) contra LogisticRegression (model-based) y mostramos el patrón canónico de online learning con partial_fit.</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pickle</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load_iris, make_regression</a:t>
            </a:r>
          </a:p>
          <a:p>
            <a:pPr>
              <a:defRPr sz="1200" b="0">
                <a:solidFill>
                  <a:srgbClr val="F8FAFC"/>
                </a:solidFill>
                <a:latin typeface="Courier New"/>
              </a:defRPr>
            </a:pPr>
            <a:r>
              <a:rPr sz="1200" b="0">
                <a:solidFill>
                  <a:srgbClr val="F8FAFC"/>
                </a:solidFill>
                <a:latin typeface="Courier New"/>
              </a:rPr>
              <a:t>from sklearn.neighbors import KNeighborsClassifier</a:t>
            </a:r>
          </a:p>
          <a:p>
            <a:pPr>
              <a:defRPr sz="1200" b="0">
                <a:solidFill>
                  <a:srgbClr val="F8FAFC"/>
                </a:solidFill>
                <a:latin typeface="Courier New"/>
              </a:defRPr>
            </a:pPr>
            <a:r>
              <a:rPr sz="1200" b="0">
                <a:solidFill>
                  <a:srgbClr val="F8FAFC"/>
                </a:solidFill>
                <a:latin typeface="Courier New"/>
              </a:rPr>
              <a:t>from sklearn.linear_model import LogisticRegression, SGDRegressor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sklearn.metrics import accuracy_score, mean_squared_error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print('setup ok')</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050 — Panorama del ML: tipos, batch vs online, instance vs model-based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Clasificá 6 problemas reales.</a:t>
            </a:r>
          </a:p>
          <a:p>
            <a:pPr>
              <a:spcAft>
                <a:spcPts val="800"/>
              </a:spcAft>
              <a:defRPr sz="1400" b="0">
                <a:solidFill>
                  <a:srgbClr val="0F172A"/>
                </a:solidFill>
                <a:latin typeface="Segoe UI"/>
              </a:defRPr>
            </a:pPr>
            <a:r>
              <a:rPr sz="1400" b="0">
                <a:solidFill>
                  <a:srgbClr val="0F172A"/>
                </a:solidFill>
                <a:latin typeface="Segoe UI"/>
              </a:rPr>
              <a:t>• Batch o online.</a:t>
            </a:r>
          </a:p>
          <a:p>
            <a:pPr>
              <a:spcAft>
                <a:spcPts val="800"/>
              </a:spcAft>
              <a:defRPr sz="1400" b="0">
                <a:solidFill>
                  <a:srgbClr val="0F172A"/>
                </a:solidFill>
                <a:latin typeface="Segoe UI"/>
              </a:defRPr>
            </a:pPr>
            <a:r>
              <a:rPr sz="1400" b="0">
                <a:solidFill>
                  <a:srgbClr val="0F172A"/>
                </a:solidFill>
                <a:latin typeface="Segoe UI"/>
              </a:rPr>
              <a:t>• KNN vs LogReg en Iris.</a:t>
            </a:r>
          </a:p>
          <a:p>
            <a:pPr>
              <a:spcAft>
                <a:spcPts val="800"/>
              </a:spcAft>
              <a:defRPr sz="1400" b="0">
                <a:solidFill>
                  <a:srgbClr val="0F172A"/>
                </a:solidFill>
                <a:latin typeface="Segoe UI"/>
              </a:defRPr>
            </a:pPr>
            <a:r>
              <a:rPr sz="1400" b="0">
                <a:solidFill>
                  <a:srgbClr val="0F172A"/>
                </a:solidFill>
                <a:latin typeface="Segoe UI"/>
              </a:rPr>
              <a:t>• Out-of-core con SGDRegressor.</a:t>
            </a:r>
          </a:p>
          <a:p>
            <a:pPr>
              <a:spcAft>
                <a:spcPts val="800"/>
              </a:spcAft>
              <a:defRPr sz="1400" b="0">
                <a:solidFill>
                  <a:srgbClr val="0F172A"/>
                </a:solidFill>
                <a:latin typeface="Segoe UI"/>
              </a:defRPr>
            </a:pPr>
            <a:r>
              <a:rPr sz="1400" b="0">
                <a:solidFill>
                  <a:srgbClr val="0F172A"/>
                </a:solidFill>
                <a:latin typeface="Segoe UI"/>
              </a:rPr>
              <a:t>• Mapa mental.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carga Iris y California Housing; (b) entrena 4 modelos — KNeighborsClassifier, LogisticRegression, KNeighborsRegressor, SGDRegressor con partial_fit en 10 batches; (c) reporta para cada uno: tipo de aprendizaje (sup/no-sup), batch o online, instance o model-based, métrica en test (accuracy o RMSE) y tamaño en bytes del modelo serializado; (d) produce una tabla resumen en markdown al final del notebook.</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051 — Desafíos del ML: overfitting, underfitting, datos insuficientes</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051 — Desafíos del ML: overfitting, underfitting, datos insuficientes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1.  Duración estimada: 60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identifique los seis problemas que hacen fracasar un proyecto de ML — datos insuficientes, no representativos, de mala calidad, features irrelevantes, overfitting y underfitting — y sepa qué herramienta aplicar a cada uno (más datos, mejor muestreo, limpieza, feature engineering, regularización, o un modelo más expresivo). El eje conceptual es el bias-variance tradeoff y la intuición de que "el modelo memorizó vs. generalizó".</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overfitting de underfitting mirando la brecha entre error de entrenamiento y error de validación.</a:t>
            </a:r>
          </a:p>
          <a:p>
            <a:pPr>
              <a:spcAft>
                <a:spcPts val="800"/>
              </a:spcAft>
              <a:defRPr sz="1400" b="0">
                <a:solidFill>
                  <a:srgbClr val="0F172A"/>
                </a:solidFill>
                <a:latin typeface="Segoe UI"/>
              </a:defRPr>
            </a:pPr>
            <a:r>
              <a:rPr sz="1400" b="0">
                <a:solidFill>
                  <a:srgbClr val="0F172A"/>
                </a:solidFill>
                <a:latin typeface="Segoe UI"/>
              </a:rPr>
              <a:t>• Diagnosticar cuál de los seis desafíos de Géron está rompiendo un pipeline concreto.</a:t>
            </a:r>
          </a:p>
          <a:p>
            <a:pPr>
              <a:spcAft>
                <a:spcPts val="800"/>
              </a:spcAft>
              <a:defRPr sz="1400" b="0">
                <a:solidFill>
                  <a:srgbClr val="0F172A"/>
                </a:solidFill>
                <a:latin typeface="Segoe UI"/>
              </a:defRPr>
            </a:pPr>
            <a:r>
              <a:rPr sz="1400" b="0">
                <a:solidFill>
                  <a:srgbClr val="0F172A"/>
                </a:solidFill>
                <a:latin typeface="Segoe UI"/>
              </a:rPr>
              <a:t>• Aplicar regularización (L1/L2, reducir capacidad del modelo, más datos) como contramedida al overfitting.</a:t>
            </a:r>
          </a:p>
          <a:p>
            <a:pPr>
              <a:spcAft>
                <a:spcPts val="800"/>
              </a:spcAft>
              <a:defRPr sz="1400" b="0">
                <a:solidFill>
                  <a:srgbClr val="0F172A"/>
                </a:solidFill>
                <a:latin typeface="Segoe UI"/>
              </a:defRPr>
            </a:pPr>
            <a:r>
              <a:rPr sz="1400" b="0">
                <a:solidFill>
                  <a:srgbClr val="0F172A"/>
                </a:solidFill>
                <a:latin typeface="Segoe UI"/>
              </a:rPr>
              <a:t>• Detectar sampling bias y data snooping bias antes de medir performance.</a:t>
            </a:r>
          </a:p>
          <a:p>
            <a:pPr>
              <a:spcAft>
                <a:spcPts val="800"/>
              </a:spcAft>
              <a:defRPr sz="1400" b="0">
                <a:solidFill>
                  <a:srgbClr val="0F172A"/>
                </a:solidFill>
                <a:latin typeface="Segoe UI"/>
              </a:defRPr>
            </a:pPr>
            <a:r>
              <a:rPr sz="1400" b="0">
                <a:solidFill>
                  <a:srgbClr val="0F172A"/>
                </a:solidFill>
                <a:latin typeface="Segoe UI"/>
              </a:rPr>
              <a:t>• Justificar por qué "más datos" suele ganarle a "modelo más complejo" (Banko &amp; Brill 2001 / "The Unreasonable Effectiveness of Data").</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051 — Desafíos del ML: overfitting, underfitting, datos insuficientes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Datos insuficientes</a:t>
            </a:r>
          </a:p>
          <a:p>
            <a:pPr>
              <a:spcAft>
                <a:spcPts val="1000"/>
              </a:spcAft>
              <a:defRPr sz="1600" b="0">
                <a:solidFill>
                  <a:srgbClr val="0F172A"/>
                </a:solidFill>
                <a:latin typeface="Segoe UI"/>
              </a:defRPr>
            </a:pPr>
            <a:r>
              <a:rPr sz="1600" b="0">
                <a:solidFill>
                  <a:srgbClr val="0F172A"/>
                </a:solidFill>
                <a:latin typeface="Segoe UI"/>
              </a:rPr>
              <a:t>• Datos no representativos (sampling bias)</a:t>
            </a:r>
          </a:p>
          <a:p>
            <a:pPr>
              <a:spcAft>
                <a:spcPts val="1000"/>
              </a:spcAft>
              <a:defRPr sz="1600" b="0">
                <a:solidFill>
                  <a:srgbClr val="0F172A"/>
                </a:solidFill>
                <a:latin typeface="Segoe UI"/>
              </a:defRPr>
            </a:pPr>
            <a:r>
              <a:rPr sz="1600" b="0">
                <a:solidFill>
                  <a:srgbClr val="0F172A"/>
                </a:solidFill>
                <a:latin typeface="Segoe UI"/>
              </a:rPr>
              <a:t>• Datos de mala calidad (outliers, NaN, ruido)</a:t>
            </a:r>
          </a:p>
          <a:p>
            <a:pPr>
              <a:spcAft>
                <a:spcPts val="1000"/>
              </a:spcAft>
              <a:defRPr sz="1600" b="0">
                <a:solidFill>
                  <a:srgbClr val="0F172A"/>
                </a:solidFill>
                <a:latin typeface="Segoe UI"/>
              </a:defRPr>
            </a:pPr>
            <a:r>
              <a:rPr sz="1600" b="0">
                <a:solidFill>
                  <a:srgbClr val="0F172A"/>
                </a:solidFill>
                <a:latin typeface="Segoe UI"/>
              </a:rPr>
              <a:t>• Features irrelevantes / feature engineering</a:t>
            </a:r>
          </a:p>
          <a:p>
            <a:pPr>
              <a:spcAft>
                <a:spcPts val="1000"/>
              </a:spcAft>
              <a:defRPr sz="1600" b="0">
                <a:solidFill>
                  <a:srgbClr val="0F172A"/>
                </a:solidFill>
                <a:latin typeface="Segoe UI"/>
              </a:defRPr>
            </a:pPr>
            <a:r>
              <a:rPr sz="1600" b="0">
                <a:solidFill>
                  <a:srgbClr val="0F172A"/>
                </a:solidFill>
                <a:latin typeface="Segoe UI"/>
              </a:rPr>
              <a:t>• Overfitting</a:t>
            </a:r>
          </a:p>
          <a:p>
            <a:pPr>
              <a:spcAft>
                <a:spcPts val="1000"/>
              </a:spcAft>
              <a:defRPr sz="1600" b="0">
                <a:solidFill>
                  <a:srgbClr val="0F172A"/>
                </a:solidFill>
                <a:latin typeface="Segoe UI"/>
              </a:defRPr>
            </a:pPr>
            <a:r>
              <a:rPr sz="1600" b="0">
                <a:solidFill>
                  <a:srgbClr val="0F172A"/>
                </a:solidFill>
                <a:latin typeface="Segoe UI"/>
              </a:rPr>
              <a:t>• Underfitting</a:t>
            </a:r>
          </a:p>
          <a:p>
            <a:pPr>
              <a:spcAft>
                <a:spcPts val="1000"/>
              </a:spcAft>
              <a:defRPr sz="1600" b="0">
                <a:solidFill>
                  <a:srgbClr val="0F172A"/>
                </a:solidFill>
                <a:latin typeface="Segoe UI"/>
              </a:defRPr>
            </a:pPr>
            <a:r>
              <a:rPr sz="1600" b="0">
                <a:solidFill>
                  <a:srgbClr val="0F172A"/>
                </a:solidFill>
                <a:latin typeface="Segoe UI"/>
              </a:rPr>
              <a:t>• Regularización (L1/L2, early stopping, dropout)</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051 — Desafíos del ML: overfitting, underfitting, datos insuficientes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Diagnosticamos sub/overfitting mirando la brecha train-validation, visualizamos el bias-variance tradeoff y usamos regularización (Ridge) como contramedida. Requiere: numpy, pandas,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sklearn.pipeline import make_pipeline</a:t>
            </a:r>
          </a:p>
          <a:p>
            <a:pPr>
              <a:defRPr sz="1200" b="0">
                <a:solidFill>
                  <a:srgbClr val="F8FAFC"/>
                </a:solidFill>
                <a:latin typeface="Courier New"/>
              </a:defRPr>
            </a:pPr>
            <a:r>
              <a:rPr sz="1200" b="0">
                <a:solidFill>
                  <a:srgbClr val="F8FAFC"/>
                </a:solidFill>
                <a:latin typeface="Courier New"/>
              </a:rPr>
              <a:t>from sklearn.preprocessing import PolynomialFeatures, StandardScaler</a:t>
            </a:r>
          </a:p>
          <a:p>
            <a:pPr>
              <a:defRPr sz="1200" b="0">
                <a:solidFill>
                  <a:srgbClr val="F8FAFC"/>
                </a:solidFill>
                <a:latin typeface="Courier New"/>
              </a:defRPr>
            </a:pPr>
            <a:r>
              <a:rPr sz="1200" b="0">
                <a:solidFill>
                  <a:srgbClr val="F8FAFC"/>
                </a:solidFill>
                <a:latin typeface="Courier New"/>
              </a:rPr>
              <a:t>from sklearn.linear_model import LinearRegression, Ridge</a:t>
            </a:r>
          </a:p>
          <a:p>
            <a:pPr>
              <a:defRPr sz="1200" b="0">
                <a:solidFill>
                  <a:srgbClr val="F8FAFC"/>
                </a:solidFill>
                <a:latin typeface="Courier New"/>
              </a:defRPr>
            </a:pPr>
            <a:r>
              <a:rPr sz="1200" b="0">
                <a:solidFill>
                  <a:srgbClr val="F8FAFC"/>
                </a:solidFill>
                <a:latin typeface="Courier New"/>
              </a:rPr>
              <a:t>from sklearn.model_selection import train_test_split, learning_curve, validation_curve</a:t>
            </a:r>
          </a:p>
          <a:p>
            <a:pPr>
              <a:defRPr sz="1200" b="0">
                <a:solidFill>
                  <a:srgbClr val="F8FAFC"/>
                </a:solidFill>
                <a:latin typeface="Courier New"/>
              </a:defRPr>
            </a:pPr>
            <a:r>
              <a:rPr sz="1200" b="0">
                <a:solidFill>
                  <a:srgbClr val="F8FAFC"/>
                </a:solidFill>
                <a:latin typeface="Courier New"/>
              </a:rPr>
              <a:t>from sklearn.metrics import r2_score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print('setup ok')</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051 — Desafíos del ML: overfitting, underfitting, datos insuficientes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Diagnóstico visual.</a:t>
            </a:r>
          </a:p>
          <a:p>
            <a:pPr>
              <a:spcAft>
                <a:spcPts val="800"/>
              </a:spcAft>
              <a:defRPr sz="1400" b="0">
                <a:solidFill>
                  <a:srgbClr val="0F172A"/>
                </a:solidFill>
                <a:latin typeface="Segoe UI"/>
              </a:defRPr>
            </a:pPr>
            <a:r>
              <a:rPr sz="1400" b="0">
                <a:solidFill>
                  <a:srgbClr val="0F172A"/>
                </a:solidFill>
                <a:latin typeface="Segoe UI"/>
              </a:rPr>
              <a:t>• Learning curve.</a:t>
            </a:r>
          </a:p>
          <a:p>
            <a:pPr>
              <a:spcAft>
                <a:spcPts val="800"/>
              </a:spcAft>
              <a:defRPr sz="1400" b="0">
                <a:solidFill>
                  <a:srgbClr val="0F172A"/>
                </a:solidFill>
                <a:latin typeface="Segoe UI"/>
              </a:defRPr>
            </a:pPr>
            <a:r>
              <a:rPr sz="1400" b="0">
                <a:solidFill>
                  <a:srgbClr val="0F172A"/>
                </a:solidFill>
                <a:latin typeface="Segoe UI"/>
              </a:rPr>
              <a:t>• Ridge vs.</a:t>
            </a:r>
          </a:p>
          <a:p>
            <a:pPr>
              <a:spcAft>
                <a:spcPts val="800"/>
              </a:spcAft>
              <a:defRPr sz="1400" b="0">
                <a:solidFill>
                  <a:srgbClr val="0F172A"/>
                </a:solidFill>
                <a:latin typeface="Segoe UI"/>
              </a:defRPr>
            </a:pPr>
            <a:r>
              <a:rPr sz="1400" b="0">
                <a:solidFill>
                  <a:srgbClr val="0F172A"/>
                </a:solidFill>
                <a:latin typeface="Segoe UI"/>
              </a:rPr>
              <a:t>• Sampling bias simulado.</a:t>
            </a:r>
          </a:p>
          <a:p>
            <a:pPr>
              <a:spcAft>
                <a:spcPts val="800"/>
              </a:spcAft>
              <a:defRPr sz="1400" b="0">
                <a:solidFill>
                  <a:srgbClr val="0F172A"/>
                </a:solidFill>
                <a:latin typeface="Segoe UI"/>
              </a:defRPr>
            </a:pPr>
            <a:r>
              <a:rPr sz="1400" b="0">
                <a:solidFill>
                  <a:srgbClr val="0F172A"/>
                </a:solidFill>
                <a:latin typeface="Segoe UI"/>
              </a:rPr>
              <a:t>• Feature engineering manual.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tome sklearn.datasets.fetch_california_housing, entrene tres modelos: (a) LinearRegression baseline, (b) LinearRegression sobre PolynomialFeatures(degree=3) sin regularizar, (c) Ridge(alpha=10) sobre las mismas polynomial features. Para cada uno reportá train_R² y test_R² con train_test_split(random_state=42). Plotea las tres barras lado a lado.</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052 — Testing, validación, hyperparameter tuning, no free lunch theorem</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052 — Testing, validación, hyperparameter tuning, no free lunch theorem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2 + sklearn user guide.  Duración estimada: 70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cómo medir generalización sin engañarse — separar train/val/test correctamente, usar cross-validation para estimar performance con poca varianza, tunear hiperparámetros con GridSearchCV / RandomizedSearchCV, y aceptar el no free lunch theorem: ningún modelo gana en todos los datasets.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Separar un dataset en train/validation/test y justificar por qué el test no se toca hasta el final.</a:t>
            </a:r>
          </a:p>
          <a:p>
            <a:pPr>
              <a:spcAft>
                <a:spcPts val="800"/>
              </a:spcAft>
              <a:defRPr sz="1400" b="0">
                <a:solidFill>
                  <a:srgbClr val="0F172A"/>
                </a:solidFill>
                <a:latin typeface="Segoe UI"/>
              </a:defRPr>
            </a:pPr>
            <a:r>
              <a:rPr sz="1400" b="0">
                <a:solidFill>
                  <a:srgbClr val="0F172A"/>
                </a:solidFill>
                <a:latin typeface="Segoe UI"/>
              </a:rPr>
              <a:t>• Aplicar KFold y StratifiedKFold con cross_val_score para estimar generalización.</a:t>
            </a:r>
          </a:p>
          <a:p>
            <a:pPr>
              <a:spcAft>
                <a:spcPts val="800"/>
              </a:spcAft>
              <a:defRPr sz="1400" b="0">
                <a:solidFill>
                  <a:srgbClr val="0F172A"/>
                </a:solidFill>
                <a:latin typeface="Segoe UI"/>
              </a:defRPr>
            </a:pPr>
            <a:r>
              <a:rPr sz="1400" b="0">
                <a:solidFill>
                  <a:srgbClr val="0F172A"/>
                </a:solidFill>
                <a:latin typeface="Segoe UI"/>
              </a:rPr>
              <a:t>• Tunear hiperparámetros con GridSearchCV y RandomizedSearchCV, leyendo cv_results_.</a:t>
            </a:r>
          </a:p>
          <a:p>
            <a:pPr>
              <a:spcAft>
                <a:spcPts val="800"/>
              </a:spcAft>
              <a:defRPr sz="1400" b="0">
                <a:solidFill>
                  <a:srgbClr val="0F172A"/>
                </a:solidFill>
                <a:latin typeface="Segoe UI"/>
              </a:defRPr>
            </a:pPr>
            <a:r>
              <a:rPr sz="1400" b="0">
                <a:solidFill>
                  <a:srgbClr val="0F172A"/>
                </a:solidFill>
                <a:latin typeface="Segoe UI"/>
              </a:rPr>
              <a:t>• Reconocer cuándo KFold rompe (datos temporales, grupos) y elegir el splitter correcto.</a:t>
            </a:r>
          </a:p>
          <a:p>
            <a:pPr>
              <a:spcAft>
                <a:spcPts val="800"/>
              </a:spcAft>
              <a:defRPr sz="1400" b="0">
                <a:solidFill>
                  <a:srgbClr val="0F172A"/>
                </a:solidFill>
                <a:latin typeface="Segoe UI"/>
              </a:defRPr>
            </a:pPr>
            <a:r>
              <a:rPr sz="1400" b="0">
                <a:solidFill>
                  <a:srgbClr val="0F172A"/>
                </a:solidFill>
                <a:latin typeface="Segoe UI"/>
              </a:rPr>
              <a:t>• Explicar el no free lunch theorem y por qué siempre conviene comparar varios modelos.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052 — Testing, validación, hyperparameter tuning, no free lunch theorem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Train / validation / test split</a:t>
            </a:r>
          </a:p>
          <a:p>
            <a:pPr>
              <a:spcAft>
                <a:spcPts val="1000"/>
              </a:spcAft>
              <a:defRPr sz="1600" b="0">
                <a:solidFill>
                  <a:srgbClr val="0F172A"/>
                </a:solidFill>
                <a:latin typeface="Segoe UI"/>
              </a:defRPr>
            </a:pPr>
            <a:r>
              <a:rPr sz="1600" b="0">
                <a:solidFill>
                  <a:srgbClr val="0F172A"/>
                </a:solidFill>
                <a:latin typeface="Segoe UI"/>
              </a:rPr>
              <a:t>• KFold y StratifiedKFold</a:t>
            </a:r>
          </a:p>
          <a:p>
            <a:pPr>
              <a:spcAft>
                <a:spcPts val="1000"/>
              </a:spcAft>
              <a:defRPr sz="1600" b="0">
                <a:solidFill>
                  <a:srgbClr val="0F172A"/>
                </a:solidFill>
                <a:latin typeface="Segoe UI"/>
              </a:defRPr>
            </a:pPr>
            <a:r>
              <a:rPr sz="1600" b="0">
                <a:solidFill>
                  <a:srgbClr val="0F172A"/>
                </a:solidFill>
                <a:latin typeface="Segoe UI"/>
              </a:rPr>
              <a:t>• cross_val_score y cross_validate</a:t>
            </a:r>
          </a:p>
          <a:p>
            <a:pPr>
              <a:spcAft>
                <a:spcPts val="1000"/>
              </a:spcAft>
              <a:defRPr sz="1600" b="0">
                <a:solidFill>
                  <a:srgbClr val="0F172A"/>
                </a:solidFill>
                <a:latin typeface="Segoe UI"/>
              </a:defRPr>
            </a:pPr>
            <a:r>
              <a:rPr sz="1600" b="0">
                <a:solidFill>
                  <a:srgbClr val="0F172A"/>
                </a:solidFill>
                <a:latin typeface="Segoe UI"/>
              </a:rPr>
              <a:t>• GridSearchCV vs RandomizedSearchCV</a:t>
            </a:r>
          </a:p>
          <a:p>
            <a:pPr>
              <a:spcAft>
                <a:spcPts val="1000"/>
              </a:spcAft>
              <a:defRPr sz="1600" b="0">
                <a:solidFill>
                  <a:srgbClr val="0F172A"/>
                </a:solidFill>
                <a:latin typeface="Segoe UI"/>
              </a:defRPr>
            </a:pPr>
            <a:r>
              <a:rPr sz="1600" b="0">
                <a:solidFill>
                  <a:srgbClr val="0F172A"/>
                </a:solidFill>
                <a:latin typeface="Segoe UI"/>
              </a:rPr>
              <a:t>• Pipeline + CV (evitar leakage del scaler)</a:t>
            </a:r>
          </a:p>
          <a:p>
            <a:pPr>
              <a:spcAft>
                <a:spcPts val="1000"/>
              </a:spcAft>
              <a:defRPr sz="1600" b="0">
                <a:solidFill>
                  <a:srgbClr val="0F172A"/>
                </a:solidFill>
                <a:latin typeface="Segoe UI"/>
              </a:defRPr>
            </a:pPr>
            <a:r>
              <a:rPr sz="1600" b="0">
                <a:solidFill>
                  <a:srgbClr val="0F172A"/>
                </a:solidFill>
                <a:latin typeface="Segoe UI"/>
              </a:rPr>
              <a:t>• No free lunch theorem</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052 — Testing, validación, hyperparameter tuning, no free lunch theorem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Medir generalización sin engañarse: hold-out vs cross-validation, StratifiedKFold, GridSearchCV/RandomizedSearchCV dentro de un Pipeline, y el no free lunch theorem. Requiere: numpy, pandas, scipy,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scipy.stats import loguniform</a:t>
            </a:r>
          </a:p>
          <a:p>
            <a:pPr>
              <a:defRPr sz="1200" b="0">
                <a:solidFill>
                  <a:srgbClr val="F8FAFC"/>
                </a:solidFill>
                <a:latin typeface="Courier New"/>
              </a:defRPr>
            </a:pPr>
            <a:r>
              <a:rPr sz="1200" b="0">
                <a:solidFill>
                  <a:srgbClr val="F8FAFC"/>
                </a:solidFill>
                <a:latin typeface="Courier New"/>
              </a:rPr>
              <a:t>from sklearn.datasets import load_breast_cancer, make_classification</a:t>
            </a:r>
          </a:p>
          <a:p>
            <a:pPr>
              <a:defRPr sz="1200" b="0">
                <a:solidFill>
                  <a:srgbClr val="F8FAFC"/>
                </a:solidFill>
                <a:latin typeface="Courier New"/>
              </a:defRPr>
            </a:pPr>
            <a:r>
              <a:rPr sz="1200" b="0">
                <a:solidFill>
                  <a:srgbClr val="F8FAFC"/>
                </a:solidFill>
                <a:latin typeface="Courier New"/>
              </a:rPr>
              <a:t>from sklearn.model_selection import (train_test_split, cross_val_score, KFold,</a:t>
            </a:r>
          </a:p>
          <a:p>
            <a:pPr>
              <a:defRPr sz="1200" b="0">
                <a:solidFill>
                  <a:srgbClr val="F8FAFC"/>
                </a:solidFill>
                <a:latin typeface="Courier New"/>
              </a:defRPr>
            </a:pPr>
            <a:r>
              <a:rPr sz="1200" b="0">
                <a:solidFill>
                  <a:srgbClr val="F8FAFC"/>
                </a:solidFill>
                <a:latin typeface="Courier New"/>
              </a:rPr>
              <a:t>                                     StratifiedKFold, GridSearchCV, RandomizedSearchCV)</a:t>
            </a:r>
          </a:p>
          <a:p>
            <a:pPr>
              <a:defRPr sz="1200" b="0">
                <a:solidFill>
                  <a:srgbClr val="F8FAFC"/>
                </a:solidFill>
                <a:latin typeface="Courier New"/>
              </a:defRPr>
            </a:pPr>
            <a:r>
              <a:rPr sz="1200" b="0">
                <a:solidFill>
                  <a:srgbClr val="F8FAFC"/>
                </a:solidFill>
                <a:latin typeface="Courier New"/>
              </a:rPr>
              <a:t>from sklearn.pipeline import Pipeline</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sklearn.svm import SVC</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from sklearn.dummy import DummyClassifier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data = load_breast_cancer()</a:t>
            </a:r>
          </a:p>
          <a:p>
            <a:pPr>
              <a:defRPr sz="1200" b="0">
                <a:solidFill>
                  <a:srgbClr val="F8FAFC"/>
                </a:solidFill>
                <a:latin typeface="Courier New"/>
              </a:defRPr>
            </a:pPr>
            <a:r>
              <a:rPr sz="1200" b="0">
                <a:solidFill>
                  <a:srgbClr val="F8FAFC"/>
                </a:solidFill>
                <a:latin typeface="Courier New"/>
              </a:rPr>
              <a:t>X, y = data.data, data.target</a:t>
            </a:r>
          </a:p>
          <a:p>
            <a:pPr>
              <a:defRPr sz="1200" b="0">
                <a:solidFill>
                  <a:srgbClr val="F8FAFC"/>
                </a:solidFill>
                <a:latin typeface="Courier New"/>
              </a:defRPr>
            </a:pPr>
            <a:r>
              <a:rPr sz="1200" b="0">
                <a:solidFill>
                  <a:srgbClr val="F8FAFC"/>
                </a:solidFill>
                <a:latin typeface="Courier New"/>
              </a:rPr>
              <a:t>print('breast_cancer:', X.shape, 'clases', np.bincount(y))</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052 — Testing, validación, hyperparameter tuning, no free lunch theorem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Hold-out vs CV.</a:t>
            </a:r>
          </a:p>
          <a:p>
            <a:pPr>
              <a:spcAft>
                <a:spcPts val="800"/>
              </a:spcAft>
              <a:defRPr sz="1400" b="0">
                <a:solidFill>
                  <a:srgbClr val="0F172A"/>
                </a:solidFill>
                <a:latin typeface="Segoe UI"/>
              </a:defRPr>
            </a:pPr>
            <a:r>
              <a:rPr sz="1400" b="0">
                <a:solidFill>
                  <a:srgbClr val="0F172A"/>
                </a:solidFill>
                <a:latin typeface="Segoe UI"/>
              </a:rPr>
              <a:t>• StratifiedKFold.</a:t>
            </a:r>
          </a:p>
          <a:p>
            <a:pPr>
              <a:spcAft>
                <a:spcPts val="800"/>
              </a:spcAft>
              <a:defRPr sz="1400" b="0">
                <a:solidFill>
                  <a:srgbClr val="0F172A"/>
                </a:solidFill>
                <a:latin typeface="Segoe UI"/>
              </a:defRPr>
            </a:pPr>
            <a:r>
              <a:rPr sz="1400" b="0">
                <a:solidFill>
                  <a:srgbClr val="0F172A"/>
                </a:solidFill>
                <a:latin typeface="Segoe UI"/>
              </a:rPr>
              <a:t>• GridSearchCV en pipeline.</a:t>
            </a:r>
          </a:p>
          <a:p>
            <a:pPr>
              <a:spcAft>
                <a:spcPts val="800"/>
              </a:spcAft>
              <a:defRPr sz="1400" b="0">
                <a:solidFill>
                  <a:srgbClr val="0F172A"/>
                </a:solidFill>
                <a:latin typeface="Segoe UI"/>
              </a:defRPr>
            </a:pPr>
            <a:r>
              <a:rPr sz="1400" b="0">
                <a:solidFill>
                  <a:srgbClr val="0F172A"/>
                </a:solidFill>
                <a:latin typeface="Segoe UI"/>
              </a:rPr>
              <a:t>• RandomizedSearchCV.</a:t>
            </a:r>
          </a:p>
          <a:p>
            <a:pPr>
              <a:spcAft>
                <a:spcPts val="800"/>
              </a:spcAft>
              <a:defRPr sz="1400" b="0">
                <a:solidFill>
                  <a:srgbClr val="0F172A"/>
                </a:solidFill>
                <a:latin typeface="Segoe UI"/>
              </a:defRPr>
            </a:pPr>
            <a:r>
              <a:rPr sz="1400" b="0">
                <a:solidFill>
                  <a:srgbClr val="0F172A"/>
                </a:solidFill>
                <a:latin typeface="Segoe UI"/>
              </a:rPr>
              <a:t>• TimeSeriesSplit.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sobre california_housing: (a) split 80/20 train/test con random_state=42; (b) GridSearchCV(cv=5) con RandomForestRegressor sobre n_estimators ∈ {100, 300} y max_depth ∈ {None, 10, 20}; (c) reportar best_params_ y best_score_; (d) evaluar el mejor modelo una sola vez sobre test; (e) comparar contra un baseline DummyRegressor(strategy='mean').</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053 — Validación temporal: TimeSeriesSplit, walk-forward, blocking</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053 — Validación temporal: TimeSeriesSplit, walk-forward, blocking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Bergmeir &amp; Benítez (2012) + sklearn TimeSeriesSplit docs.  Duración estimada: 70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validación correcta para series temporales — donde KFold y train_test_split aleatorio causan leakage del futuro al pasado y métricas infladas. Cubrir TimeSeriesSplit, walk-forward validation (rolling y expanding), blocking para datos con dependencias intra-cluster, purged + embargoed CV (López de Prado, finanzas).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sklearn.model_selection.TimeSeriesSplit(n_splits, max_train_size, test_size, gap).</a:t>
            </a:r>
          </a:p>
          <a:p>
            <a:pPr>
              <a:spcAft>
                <a:spcPts val="800"/>
              </a:spcAft>
              <a:defRPr sz="1400" b="0">
                <a:solidFill>
                  <a:srgbClr val="0F172A"/>
                </a:solidFill>
                <a:latin typeface="Segoe UI"/>
              </a:defRPr>
            </a:pPr>
            <a:r>
              <a:rPr sz="1400" b="0">
                <a:solidFill>
                  <a:srgbClr val="0F172A"/>
                </a:solidFill>
                <a:latin typeface="Segoe UI"/>
              </a:rPr>
              <a:t>• Implementar walk-forward rolling (ventana fija) y expanding (acumulativo).</a:t>
            </a:r>
          </a:p>
          <a:p>
            <a:pPr>
              <a:spcAft>
                <a:spcPts val="800"/>
              </a:spcAft>
              <a:defRPr sz="1400" b="0">
                <a:solidFill>
                  <a:srgbClr val="0F172A"/>
                </a:solidFill>
                <a:latin typeface="Segoe UI"/>
              </a:defRPr>
            </a:pPr>
            <a:r>
              <a:rPr sz="1400" b="0">
                <a:solidFill>
                  <a:srgbClr val="0F172A"/>
                </a:solidFill>
                <a:latin typeface="Segoe UI"/>
              </a:rPr>
              <a:t>• Detectar leakage cuando KFold se usa sobre datos temporales.</a:t>
            </a:r>
          </a:p>
          <a:p>
            <a:pPr>
              <a:spcAft>
                <a:spcPts val="800"/>
              </a:spcAft>
              <a:defRPr sz="1400" b="0">
                <a:solidFill>
                  <a:srgbClr val="0F172A"/>
                </a:solidFill>
                <a:latin typeface="Segoe UI"/>
              </a:defRPr>
            </a:pPr>
            <a:r>
              <a:rPr sz="1400" b="0">
                <a:solidFill>
                  <a:srgbClr val="0F172A"/>
                </a:solidFill>
                <a:latin typeface="Segoe UI"/>
              </a:rPr>
              <a:t>• Aplicar purged + embargoed K-Fold para evitar leakage por feature engineering con lags.</a:t>
            </a:r>
          </a:p>
          <a:p>
            <a:pPr>
              <a:spcAft>
                <a:spcPts val="800"/>
              </a:spcAft>
              <a:defRPr sz="1400" b="0">
                <a:solidFill>
                  <a:srgbClr val="0F172A"/>
                </a:solidFill>
                <a:latin typeface="Segoe UI"/>
              </a:defRPr>
            </a:pPr>
            <a:r>
              <a:rPr sz="1400" b="0">
                <a:solidFill>
                  <a:srgbClr val="0F172A"/>
                </a:solidFill>
                <a:latin typeface="Segoe UI"/>
              </a:rPr>
              <a:t>• Reportar métricas multi-fold con dispersión (no solo promedio).</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053 — Validación temporal: TimeSeriesSplit, walk-forward, blocking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KFold falla en series? Aleatorización mezcla pasado y futuro.</a:t>
            </a:r>
          </a:p>
          <a:p>
            <a:pPr>
              <a:spcAft>
                <a:spcPts val="1000"/>
              </a:spcAft>
              <a:defRPr sz="1600" b="0">
                <a:solidFill>
                  <a:srgbClr val="0F172A"/>
                </a:solidFill>
                <a:latin typeface="Segoe UI"/>
              </a:defRPr>
            </a:pPr>
            <a:r>
              <a:rPr sz="1600" b="0">
                <a:solidFill>
                  <a:srgbClr val="0F172A"/>
                </a:solidFill>
                <a:latin typeface="Segoe UI"/>
              </a:rPr>
              <a:t>• TimeSeriesSplit: split secuencial, train siempre antes que test.</a:t>
            </a:r>
          </a:p>
          <a:p>
            <a:pPr>
              <a:spcAft>
                <a:spcPts val="1000"/>
              </a:spcAft>
              <a:defRPr sz="1600" b="0">
                <a:solidFill>
                  <a:srgbClr val="0F172A"/>
                </a:solidFill>
                <a:latin typeface="Segoe UI"/>
              </a:defRPr>
            </a:pPr>
            <a:r>
              <a:rPr sz="1600" b="0">
                <a:solidFill>
                  <a:srgbClr val="0F172A"/>
                </a:solidFill>
                <a:latin typeface="Segoe UI"/>
              </a:rPr>
              <a:t>• Expanding vs rolling window.</a:t>
            </a:r>
          </a:p>
          <a:p>
            <a:pPr>
              <a:spcAft>
                <a:spcPts val="1000"/>
              </a:spcAft>
              <a:defRPr sz="1600" b="0">
                <a:solidFill>
                  <a:srgbClr val="0F172A"/>
                </a:solidFill>
                <a:latin typeface="Segoe UI"/>
              </a:defRPr>
            </a:pPr>
            <a:r>
              <a:rPr sz="1600" b="0">
                <a:solidFill>
                  <a:srgbClr val="0F172A"/>
                </a:solidFill>
                <a:latin typeface="Segoe UI"/>
              </a:rPr>
              <a:t>• gap (embargo) para target leakage con lags.</a:t>
            </a:r>
          </a:p>
          <a:p>
            <a:pPr>
              <a:spcAft>
                <a:spcPts val="1000"/>
              </a:spcAft>
              <a:defRPr sz="1600" b="0">
                <a:solidFill>
                  <a:srgbClr val="0F172A"/>
                </a:solidFill>
                <a:latin typeface="Segoe UI"/>
              </a:defRPr>
            </a:pPr>
            <a:r>
              <a:rPr sz="1600" b="0">
                <a:solidFill>
                  <a:srgbClr val="0F172A"/>
                </a:solidFill>
                <a:latin typeface="Segoe UI"/>
              </a:rPr>
              <a:t>• Purged CV (López de Prado): elimina overlap entre train y test.</a:t>
            </a:r>
          </a:p>
          <a:p>
            <a:pPr>
              <a:spcAft>
                <a:spcPts val="1000"/>
              </a:spcAft>
              <a:defRPr sz="1600" b="0">
                <a:solidFill>
                  <a:srgbClr val="0F172A"/>
                </a:solidFill>
                <a:latin typeface="Segoe UI"/>
              </a:defRPr>
            </a:pPr>
            <a:r>
              <a:rPr sz="1600" b="0">
                <a:solidFill>
                  <a:srgbClr val="0F172A"/>
                </a:solidFill>
                <a:latin typeface="Segoe UI"/>
              </a:rPr>
              <a:t>• CombinatorialPurgedKFold para backtesting.</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053 — Validación temporal: TimeSeriesSplit, walk-forward, blocking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Serie sintética (trend + seasonality + noise). Comparamos KFold (leak) vs TimeSeriesSplit vs walk-forward expanding/rolling. Requiere: numpy, pandas,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sklearn.linear_model import Ridge</a:t>
            </a:r>
          </a:p>
          <a:p>
            <a:pPr>
              <a:defRPr sz="1200" b="0">
                <a:solidFill>
                  <a:srgbClr val="F8FAFC"/>
                </a:solidFill>
                <a:latin typeface="Courier New"/>
              </a:defRPr>
            </a:pPr>
            <a:r>
              <a:rPr sz="1200" b="0">
                <a:solidFill>
                  <a:srgbClr val="F8FAFC"/>
                </a:solidFill>
                <a:latin typeface="Courier New"/>
              </a:rPr>
              <a:t>from sklearn.model_selection import KFold, TimeSeriesSplit, cross_val_score</a:t>
            </a:r>
          </a:p>
          <a:p>
            <a:pPr>
              <a:defRPr sz="1200" b="0">
                <a:solidFill>
                  <a:srgbClr val="F8FAFC"/>
                </a:solidFill>
                <a:latin typeface="Courier New"/>
              </a:defRPr>
            </a:pPr>
            <a:r>
              <a:rPr sz="1200" b="0">
                <a:solidFill>
                  <a:srgbClr val="F8FAFC"/>
                </a:solidFill>
                <a:latin typeface="Courier New"/>
              </a:rPr>
              <a:t>from sklearn.metrics import mean_absolute_error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 1000</a:t>
            </a:r>
          </a:p>
          <a:p>
            <a:pPr>
              <a:defRPr sz="1200" b="0">
                <a:solidFill>
                  <a:srgbClr val="F8FAFC"/>
                </a:solidFill>
                <a:latin typeface="Courier New"/>
              </a:defRPr>
            </a:pPr>
            <a:r>
              <a:rPr sz="1200" b="0">
                <a:solidFill>
                  <a:srgbClr val="F8FAFC"/>
                </a:solidFill>
                <a:latin typeface="Courier New"/>
              </a:rPr>
              <a:t>t = np.arange(n)</a:t>
            </a:r>
          </a:p>
          <a:p>
            <a:pPr>
              <a:defRPr sz="1200" b="0">
                <a:solidFill>
                  <a:srgbClr val="F8FAFC"/>
                </a:solidFill>
                <a:latin typeface="Courier New"/>
              </a:defRPr>
            </a:pPr>
            <a:r>
              <a:rPr sz="1200" b="0">
                <a:solidFill>
                  <a:srgbClr val="F8FAFC"/>
                </a:solidFill>
                <a:latin typeface="Courier New"/>
              </a:rPr>
              <a:t>trend = 0.02 * t</a:t>
            </a:r>
          </a:p>
          <a:p>
            <a:pPr>
              <a:defRPr sz="1200" b="0">
                <a:solidFill>
                  <a:srgbClr val="F8FAFC"/>
                </a:solidFill>
                <a:latin typeface="Courier New"/>
              </a:defRPr>
            </a:pPr>
            <a:r>
              <a:rPr sz="1200" b="0">
                <a:solidFill>
                  <a:srgbClr val="F8FAFC"/>
                </a:solidFill>
                <a:latin typeface="Courier New"/>
              </a:rPr>
              <a:t>season = 3 * np.sin(2 * np.pi * t / 50)</a:t>
            </a:r>
          </a:p>
          <a:p>
            <a:pPr>
              <a:defRPr sz="1200" b="0">
                <a:solidFill>
                  <a:srgbClr val="F8FAFC"/>
                </a:solidFill>
                <a:latin typeface="Courier New"/>
              </a:defRPr>
            </a:pPr>
            <a:r>
              <a:rPr sz="1200" b="0">
                <a:solidFill>
                  <a:srgbClr val="F8FAFC"/>
                </a:solidFill>
                <a:latin typeface="Courier New"/>
              </a:rPr>
              <a:t>noise = rng.normal(0, 0.5, n)</a:t>
            </a:r>
          </a:p>
          <a:p>
            <a:pPr>
              <a:defRPr sz="1200" b="0">
                <a:solidFill>
                  <a:srgbClr val="F8FAFC"/>
                </a:solidFill>
                <a:latin typeface="Courier New"/>
              </a:defRPr>
            </a:pPr>
            <a:r>
              <a:rPr sz="1200" b="0">
                <a:solidFill>
                  <a:srgbClr val="F8FAFC"/>
                </a:solidFill>
                <a:latin typeface="Courier New"/>
              </a:rPr>
              <a:t>y = trend + season + noise</a:t>
            </a:r>
          </a:p>
          <a:p>
            <a:pPr>
              <a:defRPr sz="1200" b="0">
                <a:solidFill>
                  <a:srgbClr val="F8FAFC"/>
                </a:solidFill>
                <a:latin typeface="Courier New"/>
              </a:defRPr>
            </a:pPr>
            <a:r>
              <a:rPr sz="1200" b="0">
                <a:solidFill>
                  <a:srgbClr val="F8FAFC"/>
                </a:solidFill>
                <a:latin typeface="Courier New"/>
              </a:rPr>
              <a:t>print('serie:', y.shape, 'min', y.min().round(2), 'max', y.max().round(2))</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053 — Validación temporal: TimeSeriesSplit, walk-forward, blocking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TSSplit vs KFold leak: con serie sintética con tendencia, comparar score CV con KFold aleatorio vs TimeSeriesSplit.</a:t>
            </a:r>
          </a:p>
          <a:p>
            <a:pPr>
              <a:spcAft>
                <a:spcPts val="800"/>
              </a:spcAft>
              <a:defRPr sz="1400" b="0">
                <a:solidFill>
                  <a:srgbClr val="0F172A"/>
                </a:solidFill>
                <a:latin typeface="Segoe UI"/>
              </a:defRPr>
            </a:pPr>
            <a:r>
              <a:rPr sz="1400" b="0">
                <a:solidFill>
                  <a:srgbClr val="0F172A"/>
                </a:solidFill>
                <a:latin typeface="Segoe UI"/>
              </a:rPr>
              <a:t>• Walk-forward expanding: tscv = TimeSeriesSplit(n_splits=5).</a:t>
            </a:r>
          </a:p>
          <a:p>
            <a:pPr>
              <a:spcAft>
                <a:spcPts val="800"/>
              </a:spcAft>
              <a:defRPr sz="1400" b="0">
                <a:solidFill>
                  <a:srgbClr val="0F172A"/>
                </a:solidFill>
                <a:latin typeface="Segoe UI"/>
              </a:defRPr>
            </a:pPr>
            <a:r>
              <a:rPr sz="1400" b="0">
                <a:solidFill>
                  <a:srgbClr val="0F172A"/>
                </a:solidFill>
                <a:latin typeface="Segoe UI"/>
              </a:rPr>
              <a:t>• Rolling window: con max_train_size=100, simular walk-forward de window fijo.</a:t>
            </a:r>
          </a:p>
          <a:p>
            <a:pPr>
              <a:spcAft>
                <a:spcPts val="800"/>
              </a:spcAft>
              <a:defRPr sz="1400" b="0">
                <a:solidFill>
                  <a:srgbClr val="0F172A"/>
                </a:solidFill>
                <a:latin typeface="Segoe UI"/>
              </a:defRPr>
            </a:pPr>
            <a:r>
              <a:rPr sz="1400" b="0">
                <a:solidFill>
                  <a:srgbClr val="0F172A"/>
                </a:solidFill>
                <a:latin typeface="Segoe UI"/>
              </a:rPr>
              <a:t>• gap: con feature y_t-1 (target lag), aplicar gap=1 para evitar que test "vea" su propio target.</a:t>
            </a:r>
          </a:p>
          <a:p>
            <a:pPr>
              <a:spcAft>
                <a:spcPts val="800"/>
              </a:spcAft>
              <a:defRPr sz="1400" b="0">
                <a:solidFill>
                  <a:srgbClr val="0F172A"/>
                </a:solidFill>
                <a:latin typeface="Segoe UI"/>
              </a:defRPr>
            </a:pPr>
            <a:r>
              <a:rPr sz="1400" b="0">
                <a:solidFill>
                  <a:srgbClr val="0F172A"/>
                </a:solidFill>
                <a:latin typeface="Segoe UI"/>
              </a:rPr>
              <a:t>• Score con dispersión: reportar mean ± std de RMSE por fold, no solo mean.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Feature engineering: lags 1, 7, 30 + rolling mean.</a:t>
            </a:r>
          </a:p>
          <a:p>
            <a:pPr>
              <a:spcAft>
                <a:spcPts val="800"/>
              </a:spcAft>
              <a:defRPr sz="1500" b="0">
                <a:solidFill>
                  <a:srgbClr val="0F172A"/>
                </a:solidFill>
                <a:latin typeface="Segoe UI"/>
              </a:defRPr>
            </a:pPr>
            <a:r>
              <a:rPr sz="1500" b="0">
                <a:solidFill>
                  <a:srgbClr val="0F172A"/>
                </a:solidFill>
                <a:latin typeface="Segoe UI"/>
              </a:rPr>
              <a:t>• CV con TimeSeriesSplit(5, gap=30).</a:t>
            </a:r>
          </a:p>
          <a:p>
            <a:pPr>
              <a:spcAft>
                <a:spcPts val="800"/>
              </a:spcAft>
              <a:defRPr sz="1500" b="0">
                <a:solidFill>
                  <a:srgbClr val="0F172A"/>
                </a:solidFill>
                <a:latin typeface="Segoe UI"/>
              </a:defRPr>
            </a:pPr>
            <a:r>
              <a:rPr sz="1500" b="0">
                <a:solidFill>
                  <a:srgbClr val="0F172A"/>
                </a:solidFill>
                <a:latin typeface="Segoe UI"/>
              </a:rPr>
              <a:t>• Reportar RMSE por fold + global.</a:t>
            </a:r>
          </a:p>
          <a:p>
            <a:pPr>
              <a:spcAft>
                <a:spcPts val="800"/>
              </a:spcAft>
              <a:defRPr sz="1500" b="0">
                <a:solidFill>
                  <a:srgbClr val="0F172A"/>
                </a:solidFill>
                <a:latin typeface="Segoe UI"/>
              </a:defRPr>
            </a:pPr>
            <a:r>
              <a:rPr sz="1500" b="0">
                <a:solidFill>
                  <a:srgbClr val="0F172A"/>
                </a:solidFill>
                <a:latin typeface="Segoe UI"/>
              </a:rPr>
              <a:t>• Comparar contra KFold ingenuo — mostrar inflación.</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054 — Proyecto end-to-end: visión, datos, exploración, preparación</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054 — Proyecto end-to-end: visión, datos, exploración, preparación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2 (California Housing).  Duración estimada: 90 min. · Nivel: Básico-Intermedio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recorra la primera mitad de un proyecto de ML real de punta a punta: framear el problema en términos de negocio, conseguir los datos, hacer un EDA honesto, separar train/test sin contaminarse, y dejar el pipeline de preparación (limpieza, encoding, scaling) listo para entrenar — todo sobre el dataset California Housing del capítulo 2 de Géron.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Framear el problema en términos de negocio: tipo de tarea (regresión/clasificación), métrica, baseline.</a:t>
            </a:r>
          </a:p>
          <a:p>
            <a:pPr>
              <a:spcAft>
                <a:spcPts val="800"/>
              </a:spcAft>
              <a:defRPr sz="1400" b="0">
                <a:solidFill>
                  <a:srgbClr val="0F172A"/>
                </a:solidFill>
                <a:latin typeface="Segoe UI"/>
              </a:defRPr>
            </a:pPr>
            <a:r>
              <a:rPr sz="1400" b="0">
                <a:solidFill>
                  <a:srgbClr val="0F172A"/>
                </a:solidFill>
                <a:latin typeface="Segoe UI"/>
              </a:rPr>
              <a:t>• Hacer un EDA reproducible: describe, info, hist, corr, scatter matrix, mapas geográficos.</a:t>
            </a:r>
          </a:p>
          <a:p>
            <a:pPr>
              <a:spcAft>
                <a:spcPts val="800"/>
              </a:spcAft>
              <a:defRPr sz="1400" b="0">
                <a:solidFill>
                  <a:srgbClr val="0F172A"/>
                </a:solidFill>
                <a:latin typeface="Segoe UI"/>
              </a:defRPr>
            </a:pPr>
            <a:r>
              <a:rPr sz="1400" b="0">
                <a:solidFill>
                  <a:srgbClr val="0F172A"/>
                </a:solidFill>
                <a:latin typeface="Segoe UI"/>
              </a:rPr>
              <a:t>• Separar train/test correctamente con train_test_split estratificado por una variable clave (income bucket).</a:t>
            </a:r>
          </a:p>
          <a:p>
            <a:pPr>
              <a:spcAft>
                <a:spcPts val="800"/>
              </a:spcAft>
              <a:defRPr sz="1400" b="0">
                <a:solidFill>
                  <a:srgbClr val="0F172A"/>
                </a:solidFill>
                <a:latin typeface="Segoe UI"/>
              </a:defRPr>
            </a:pPr>
            <a:r>
              <a:rPr sz="1400" b="0">
                <a:solidFill>
                  <a:srgbClr val="0F172A"/>
                </a:solidFill>
                <a:latin typeface="Segoe UI"/>
              </a:rPr>
              <a:t>• Construir un pipeline con Pipeline + ColumnTransformer que limpie, encode (OneHotEncoder) y escale (StandardScaler) en un solo objeto.</a:t>
            </a:r>
          </a:p>
          <a:p>
            <a:pPr>
              <a:spcAft>
                <a:spcPts val="800"/>
              </a:spcAft>
              <a:defRPr sz="1400" b="0">
                <a:solidFill>
                  <a:srgbClr val="0F172A"/>
                </a:solidFill>
                <a:latin typeface="Segoe UI"/>
              </a:defRPr>
            </a:pPr>
            <a:r>
              <a:rPr sz="1400" b="0">
                <a:solidFill>
                  <a:srgbClr val="0F172A"/>
                </a:solidFill>
                <a:latin typeface="Segoe UI"/>
              </a:rPr>
              <a:t>• Evitar data leakage: todo cálculo (medias, encodings, scalers) se ajusta solo en train y se aplica en test.</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054 — Proyecto end-to-end: visión, datos, exploración, preparación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Framing del problema</a:t>
            </a:r>
          </a:p>
          <a:p>
            <a:pPr>
              <a:spcAft>
                <a:spcPts val="1000"/>
              </a:spcAft>
              <a:defRPr sz="1600" b="0">
                <a:solidFill>
                  <a:srgbClr val="0F172A"/>
                </a:solidFill>
                <a:latin typeface="Segoe UI"/>
              </a:defRPr>
            </a:pPr>
            <a:r>
              <a:rPr sz="1600" b="0">
                <a:solidFill>
                  <a:srgbClr val="0F172A"/>
                </a:solidFill>
                <a:latin typeface="Segoe UI"/>
              </a:rPr>
              <a:t>• EDA: describe, hist, corr, geo plot</a:t>
            </a:r>
          </a:p>
          <a:p>
            <a:pPr>
              <a:spcAft>
                <a:spcPts val="1000"/>
              </a:spcAft>
              <a:defRPr sz="1600" b="0">
                <a:solidFill>
                  <a:srgbClr val="0F172A"/>
                </a:solidFill>
                <a:latin typeface="Segoe UI"/>
              </a:defRPr>
            </a:pPr>
            <a:r>
              <a:rPr sz="1600" b="0">
                <a:solidFill>
                  <a:srgbClr val="0F172A"/>
                </a:solidFill>
                <a:latin typeface="Segoe UI"/>
              </a:rPr>
              <a:t>• Stratified split por income bucket</a:t>
            </a:r>
          </a:p>
          <a:p>
            <a:pPr>
              <a:spcAft>
                <a:spcPts val="1000"/>
              </a:spcAft>
              <a:defRPr sz="1600" b="0">
                <a:solidFill>
                  <a:srgbClr val="0F172A"/>
                </a:solidFill>
                <a:latin typeface="Segoe UI"/>
              </a:defRPr>
            </a:pPr>
            <a:r>
              <a:rPr sz="1600" b="0">
                <a:solidFill>
                  <a:srgbClr val="0F172A"/>
                </a:solidFill>
                <a:latin typeface="Segoe UI"/>
              </a:rPr>
              <a:t>• Limpieza: NaN, outliers, tipos</a:t>
            </a:r>
          </a:p>
          <a:p>
            <a:pPr>
              <a:spcAft>
                <a:spcPts val="1000"/>
              </a:spcAft>
              <a:defRPr sz="1600" b="0">
                <a:solidFill>
                  <a:srgbClr val="0F172A"/>
                </a:solidFill>
                <a:latin typeface="Segoe UI"/>
              </a:defRPr>
            </a:pPr>
            <a:r>
              <a:rPr sz="1600" b="0">
                <a:solidFill>
                  <a:srgbClr val="0F172A"/>
                </a:solidFill>
                <a:latin typeface="Segoe UI"/>
              </a:rPr>
              <a:t>• Encoding categórico (OneHotEncoder, OrdinalEncoder)</a:t>
            </a:r>
          </a:p>
          <a:p>
            <a:pPr>
              <a:spcAft>
                <a:spcPts val="1000"/>
              </a:spcAft>
              <a:defRPr sz="1600" b="0">
                <a:solidFill>
                  <a:srgbClr val="0F172A"/>
                </a:solidFill>
                <a:latin typeface="Segoe UI"/>
              </a:defRPr>
            </a:pPr>
            <a:r>
              <a:rPr sz="1600" b="0">
                <a:solidFill>
                  <a:srgbClr val="0F172A"/>
                </a:solidFill>
                <a:latin typeface="Segoe UI"/>
              </a:rPr>
              <a:t>• Scaling (StandardScaler, MinMaxScaler)</a:t>
            </a:r>
          </a:p>
          <a:p>
            <a:pPr>
              <a:spcAft>
                <a:spcPts val="1000"/>
              </a:spcAft>
              <a:defRPr sz="1600" b="0">
                <a:solidFill>
                  <a:srgbClr val="0F172A"/>
                </a:solidFill>
                <a:latin typeface="Segoe UI"/>
              </a:defRPr>
            </a:pPr>
            <a:r>
              <a:rPr sz="1600" b="0">
                <a:solidFill>
                  <a:srgbClr val="0F172A"/>
                </a:solidFill>
                <a:latin typeface="Segoe UI"/>
              </a:rPr>
              <a:t>• Pipelines + ColumnTransformer</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054 — Proyecto end-to-end: visión, datos, exploración, preparación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Primera mitad de un proyecto real: framing, EDA, split estratificado sin contaminarse y un Pipeline + ColumnTransformer que limpia, encodea y escala sin data leakage. Usamos un dataset sintético tipo "housing" (numéricas + categórica + NaN) para correr offline.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sklearn.model_selection import StratifiedShuffleSplit</a:t>
            </a:r>
          </a:p>
          <a:p>
            <a:pPr>
              <a:defRPr sz="1200" b="0">
                <a:solidFill>
                  <a:srgbClr val="F8FAFC"/>
                </a:solidFill>
                <a:latin typeface="Courier New"/>
              </a:defRPr>
            </a:pPr>
            <a:r>
              <a:rPr sz="1200" b="0">
                <a:solidFill>
                  <a:srgbClr val="F8FAFC"/>
                </a:solidFill>
                <a:latin typeface="Courier New"/>
              </a:rPr>
              <a:t>from sklearn.pipeline import Pipeline</a:t>
            </a:r>
          </a:p>
          <a:p>
            <a:pPr>
              <a:defRPr sz="1200" b="0">
                <a:solidFill>
                  <a:srgbClr val="F8FAFC"/>
                </a:solidFill>
                <a:latin typeface="Courier New"/>
              </a:defRPr>
            </a:pPr>
            <a:r>
              <a:rPr sz="1200" b="0">
                <a:solidFill>
                  <a:srgbClr val="F8FAFC"/>
                </a:solidFill>
                <a:latin typeface="Courier New"/>
              </a:rPr>
              <a:t>from sklearn.compose import ColumnTransformer</a:t>
            </a:r>
          </a:p>
          <a:p>
            <a:pPr>
              <a:defRPr sz="1200" b="0">
                <a:solidFill>
                  <a:srgbClr val="F8FAFC"/>
                </a:solidFill>
                <a:latin typeface="Courier New"/>
              </a:defRPr>
            </a:pPr>
            <a:r>
              <a:rPr sz="1200" b="0">
                <a:solidFill>
                  <a:srgbClr val="F8FAFC"/>
                </a:solidFill>
                <a:latin typeface="Courier New"/>
              </a:rPr>
              <a:t>from sklearn.impute import SimpleImputer</a:t>
            </a:r>
          </a:p>
          <a:p>
            <a:pPr>
              <a:defRPr sz="1200" b="0">
                <a:solidFill>
                  <a:srgbClr val="F8FAFC"/>
                </a:solidFill>
                <a:latin typeface="Courier New"/>
              </a:defRPr>
            </a:pPr>
            <a:r>
              <a:rPr sz="1200" b="0">
                <a:solidFill>
                  <a:srgbClr val="F8FAFC"/>
                </a:solidFill>
                <a:latin typeface="Courier New"/>
              </a:rPr>
              <a:t>from sklearn.preprocessing import StandardScaler, OneHotEncoder</a:t>
            </a:r>
          </a:p>
          <a:p>
            <a:pPr>
              <a:defRPr sz="1200" b="0">
                <a:solidFill>
                  <a:srgbClr val="F8FAFC"/>
                </a:solidFill>
                <a:latin typeface="Courier New"/>
              </a:defRPr>
            </a:pPr>
            <a:r>
              <a:rPr sz="1200" b="0">
                <a:solidFill>
                  <a:srgbClr val="F8FAFC"/>
                </a:solidFill>
                <a:latin typeface="Courier New"/>
              </a:rPr>
              <a:t>from sklearn.linear_model import LinearRegression</a:t>
            </a:r>
          </a:p>
          <a:p>
            <a:pPr>
              <a:defRPr sz="1200" b="0">
                <a:solidFill>
                  <a:srgbClr val="F8FAFC"/>
                </a:solidFill>
                <a:latin typeface="Courier New"/>
              </a:defRPr>
            </a:pPr>
            <a:r>
              <a:rPr sz="1200" b="0">
                <a:solidFill>
                  <a:srgbClr val="F8FAFC"/>
                </a:solidFill>
                <a:latin typeface="Courier New"/>
              </a:rPr>
              <a:t>from sklearn.metrics import root_mean_squared_error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054 — Proyecto end-to-end: visión, datos, exploración, preparación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EDA mínimo.</a:t>
            </a:r>
          </a:p>
          <a:p>
            <a:pPr>
              <a:spcAft>
                <a:spcPts val="800"/>
              </a:spcAft>
              <a:defRPr sz="1400" b="0">
                <a:solidFill>
                  <a:srgbClr val="0F172A"/>
                </a:solidFill>
                <a:latin typeface="Segoe UI"/>
              </a:defRPr>
            </a:pPr>
            <a:r>
              <a:rPr sz="1400" b="0">
                <a:solidFill>
                  <a:srgbClr val="0F172A"/>
                </a:solidFill>
                <a:latin typeface="Segoe UI"/>
              </a:rPr>
              <a:t>• Stratified split por income bucket.</a:t>
            </a:r>
          </a:p>
          <a:p>
            <a:pPr>
              <a:spcAft>
                <a:spcPts val="800"/>
              </a:spcAft>
              <a:defRPr sz="1400" b="0">
                <a:solidFill>
                  <a:srgbClr val="0F172A"/>
                </a:solidFill>
                <a:latin typeface="Segoe UI"/>
              </a:defRPr>
            </a:pPr>
            <a:r>
              <a:rPr sz="1400" b="0">
                <a:solidFill>
                  <a:srgbClr val="0F172A"/>
                </a:solidFill>
                <a:latin typeface="Segoe UI"/>
              </a:rPr>
              <a:t>• Target encoding sin leakage.</a:t>
            </a:r>
          </a:p>
          <a:p>
            <a:pPr>
              <a:spcAft>
                <a:spcPts val="800"/>
              </a:spcAft>
              <a:defRPr sz="1400" b="0">
                <a:solidFill>
                  <a:srgbClr val="0F172A"/>
                </a:solidFill>
                <a:latin typeface="Segoe UI"/>
              </a:defRPr>
            </a:pPr>
            <a:r>
              <a:rPr sz="1400" b="0">
                <a:solidFill>
                  <a:srgbClr val="0F172A"/>
                </a:solidFill>
                <a:latin typeface="Segoe UI"/>
              </a:rPr>
              <a:t>• KNNImputer vs SimpleImputer.</a:t>
            </a:r>
          </a:p>
          <a:p>
            <a:pPr>
              <a:spcAft>
                <a:spcPts val="800"/>
              </a:spcAft>
              <a:defRPr sz="1400" b="0">
                <a:solidFill>
                  <a:srgbClr val="0F172A"/>
                </a:solidFill>
                <a:latin typeface="Segoe UI"/>
              </a:defRPr>
            </a:pPr>
            <a:r>
              <a:rPr sz="1400" b="0">
                <a:solidFill>
                  <a:srgbClr val="0F172A"/>
                </a:solidFill>
                <a:latin typeface="Segoe UI"/>
              </a:rPr>
              <a:t>• Pipeline completo.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 carga del dataset + EDA con al menos 4 gráficos; (b) stratified split por income bucket con verificación de proporciones; (c) pipeline ColumnTransformer (numéricas con KNNImputer+StandardScaler, categóricas con OneHotEncoder); (d) feature engineering manual con al menos 2 features derivadas (rooms_per_household, bedrooms_per_room); (e) baseline LinearRegression con RMSE reportado en train y test.</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055 — Feature Engineering avanzado: target encoding + MICE imputation</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055 — Feature Engineering avanzado: target encoding + MICE imputation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Micci-Barreca (2001) target encoding + Van Buuren (2018) Flexible Imputation of Missing Data.  Duración estimada: 85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feature engineering moderno más allá de one-hot y SimpleImputer: target encoding con regularización + cross-validation (evita leakage), KNNImputer y IterativeImputer (MICE) para imputación multivariada inteligente, y category_encoders library para codificaciones modernas (CatBoost, James-Stein, hashing).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target encoding con CV (no leak): category_encoders.TargetEncoder(cv=5, smoothing=10.0).</a:t>
            </a:r>
          </a:p>
          <a:p>
            <a:pPr>
              <a:spcAft>
                <a:spcPts val="800"/>
              </a:spcAft>
              <a:defRPr sz="1400" b="0">
                <a:solidFill>
                  <a:srgbClr val="0F172A"/>
                </a:solidFill>
                <a:latin typeface="Segoe UI"/>
              </a:defRPr>
            </a:pPr>
            <a:r>
              <a:rPr sz="1400" b="0">
                <a:solidFill>
                  <a:srgbClr val="0F172A"/>
                </a:solidFill>
                <a:latin typeface="Segoe UI"/>
              </a:rPr>
              <a:t>• Aplicar KNNImputer: imputa basado en vecinos.</a:t>
            </a:r>
          </a:p>
          <a:p>
            <a:pPr>
              <a:spcAft>
                <a:spcPts val="800"/>
              </a:spcAft>
              <a:defRPr sz="1400" b="0">
                <a:solidFill>
                  <a:srgbClr val="0F172A"/>
                </a:solidFill>
                <a:latin typeface="Segoe UI"/>
              </a:defRPr>
            </a:pPr>
            <a:r>
              <a:rPr sz="1400" b="0">
                <a:solidFill>
                  <a:srgbClr val="0F172A"/>
                </a:solidFill>
                <a:latin typeface="Segoe UI"/>
              </a:rPr>
              <a:t>• Aplicar IterativeImputer (MICE) de sklearn — predice cada feature con modelo de las demás.</a:t>
            </a:r>
          </a:p>
          <a:p>
            <a:pPr>
              <a:spcAft>
                <a:spcPts val="800"/>
              </a:spcAft>
              <a:defRPr sz="1400" b="0">
                <a:solidFill>
                  <a:srgbClr val="0F172A"/>
                </a:solidFill>
                <a:latin typeface="Segoe UI"/>
              </a:defRPr>
            </a:pPr>
            <a:r>
              <a:rPr sz="1400" b="0">
                <a:solidFill>
                  <a:srgbClr val="0F172A"/>
                </a:solidFill>
                <a:latin typeface="Segoe UI"/>
              </a:rPr>
              <a:t>• Decidir entre métodos: SimpleImputer (baseline), KNN (correlaciones locales), MICE (multivariada).</a:t>
            </a:r>
          </a:p>
          <a:p>
            <a:pPr>
              <a:spcAft>
                <a:spcPts val="800"/>
              </a:spcAft>
              <a:defRPr sz="1400" b="0">
                <a:solidFill>
                  <a:srgbClr val="0F172A"/>
                </a:solidFill>
                <a:latin typeface="Segoe UI"/>
              </a:defRPr>
            </a:pPr>
            <a:r>
              <a:rPr sz="1400" b="0">
                <a:solidFill>
                  <a:srgbClr val="0F172A"/>
                </a:solidFill>
                <a:latin typeface="Segoe UI"/>
              </a:rPr>
              <a:t>• Reconocer leakage en target encoding y evitarlo con CV interno.</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055 — Feature Engineering avanzado: target encoding + MICE imputation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Target encoding clásico + smoothing bayesiano.</a:t>
            </a:r>
          </a:p>
          <a:p>
            <a:pPr>
              <a:spcAft>
                <a:spcPts val="1000"/>
              </a:spcAft>
              <a:defRPr sz="1600" b="0">
                <a:solidFill>
                  <a:srgbClr val="0F172A"/>
                </a:solidFill>
                <a:latin typeface="Segoe UI"/>
              </a:defRPr>
            </a:pPr>
            <a:r>
              <a:rPr sz="1600" b="0">
                <a:solidFill>
                  <a:srgbClr val="0F172A"/>
                </a:solidFill>
                <a:latin typeface="Segoe UI"/>
              </a:rPr>
              <a:t>• Leak en target encoding sin CV: features ven sus propios targets.</a:t>
            </a:r>
          </a:p>
          <a:p>
            <a:pPr>
              <a:spcAft>
                <a:spcPts val="1000"/>
              </a:spcAft>
              <a:defRPr sz="1600" b="0">
                <a:solidFill>
                  <a:srgbClr val="0F172A"/>
                </a:solidFill>
                <a:latin typeface="Segoe UI"/>
              </a:defRPr>
            </a:pPr>
            <a:r>
              <a:rPr sz="1600" b="0">
                <a:solidFill>
                  <a:srgbClr val="0F172A"/>
                </a:solidFill>
                <a:latin typeface="Segoe UI"/>
              </a:rPr>
              <a:t>• KNNImputer (sklearn): nearest neighbors por filas.</a:t>
            </a:r>
          </a:p>
          <a:p>
            <a:pPr>
              <a:spcAft>
                <a:spcPts val="1000"/>
              </a:spcAft>
              <a:defRPr sz="1600" b="0">
                <a:solidFill>
                  <a:srgbClr val="0F172A"/>
                </a:solidFill>
                <a:latin typeface="Segoe UI"/>
              </a:defRPr>
            </a:pPr>
            <a:r>
              <a:rPr sz="1600" b="0">
                <a:solidFill>
                  <a:srgbClr val="0F172A"/>
                </a:solidFill>
                <a:latin typeface="Segoe UI"/>
              </a:rPr>
              <a:t>• IterativeImputer / MICE: estima cada feature con regresión.</a:t>
            </a:r>
          </a:p>
          <a:p>
            <a:pPr>
              <a:spcAft>
                <a:spcPts val="1000"/>
              </a:spcAft>
              <a:defRPr sz="1600" b="0">
                <a:solidFill>
                  <a:srgbClr val="0F172A"/>
                </a:solidFill>
                <a:latin typeface="Segoe UI"/>
              </a:defRPr>
            </a:pPr>
            <a:r>
              <a:rPr sz="1600" b="0">
                <a:solidFill>
                  <a:srgbClr val="0F172A"/>
                </a:solidFill>
                <a:latin typeface="Segoe UI"/>
              </a:rPr>
              <a:t>• category_encoders: CatBoost, James-Stein, target, hashing.</a:t>
            </a:r>
          </a:p>
          <a:p>
            <a:pPr>
              <a:spcAft>
                <a:spcPts val="1000"/>
              </a:spcAft>
              <a:defRPr sz="1600" b="0">
                <a:solidFill>
                  <a:srgbClr val="0F172A"/>
                </a:solidFill>
                <a:latin typeface="Segoe UI"/>
              </a:defRPr>
            </a:pPr>
            <a:r>
              <a:rPr sz="1600" b="0">
                <a:solidFill>
                  <a:srgbClr val="0F172A"/>
                </a:solidFill>
                <a:latin typeface="Segoe UI"/>
              </a:rPr>
              <a:t>• Pipeline-safe imputation.</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055 — Feature Engineering avanzado: target encoding + MICE imputation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Dataset sintético de clasificación con 3 categóricas de alta cardinalidad (1000 niveles) + missing values. Comparamos one-hot vs target encoding, y SimpleImputer vs MICE.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sklearn.ensemble import GradientBoostingClassifier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sklearn.metrics import roc_auc_score</a:t>
            </a:r>
          </a:p>
          <a:p>
            <a:pPr>
              <a:defRPr sz="1200" b="0">
                <a:solidFill>
                  <a:srgbClr val="F8FAFC"/>
                </a:solidFill>
                <a:latin typeface="Courier New"/>
              </a:defRPr>
            </a:pPr>
            <a:r>
              <a:rPr sz="1200" b="0">
                <a:solidFill>
                  <a:srgbClr val="F8FAFC"/>
                </a:solidFill>
                <a:latin typeface="Courier New"/>
              </a:rPr>
              <a:t>from sklearn.preprocessing import OneHotEncoder</a:t>
            </a:r>
          </a:p>
          <a:p>
            <a:pPr>
              <a:defRPr sz="1200" b="0">
                <a:solidFill>
                  <a:srgbClr val="F8FAFC"/>
                </a:solidFill>
                <a:latin typeface="Courier New"/>
              </a:defRPr>
            </a:pPr>
            <a:r>
              <a:rPr sz="1200" b="0">
                <a:solidFill>
                  <a:srgbClr val="F8FAFC"/>
                </a:solidFill>
                <a:latin typeface="Courier New"/>
              </a:rPr>
              <a:t>from sklearn.experimental import enable_iterative_imputer  # noqa</a:t>
            </a:r>
          </a:p>
          <a:p>
            <a:pPr>
              <a:defRPr sz="1200" b="0">
                <a:solidFill>
                  <a:srgbClr val="F8FAFC"/>
                </a:solidFill>
                <a:latin typeface="Courier New"/>
              </a:defRPr>
            </a:pPr>
            <a:r>
              <a:rPr sz="1200" b="0">
                <a:solidFill>
                  <a:srgbClr val="F8FAFC"/>
                </a:solidFill>
                <a:latin typeface="Courier New"/>
              </a:rPr>
              <a:t>from sklearn.impute import IterativeImputer, SimpleImputer</a:t>
            </a:r>
          </a:p>
          <a:p>
            <a:pPr>
              <a:defRPr sz="1200" b="0">
                <a:solidFill>
                  <a:srgbClr val="F8FAFC"/>
                </a:solidFill>
                <a:latin typeface="Courier New"/>
              </a:defRPr>
            </a:pPr>
            <a:r>
              <a:rPr sz="1200" b="0">
                <a:solidFill>
                  <a:srgbClr val="F8FAFC"/>
                </a:solidFill>
                <a:latin typeface="Courier New"/>
              </a:rPr>
              <a:t>from sklearn.linear_model import BayesianRidge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055 — Feature Engineering avanzado: target encoding + MICE imputation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Target encoding leak: encoding sobre train+test → métrica inflada.</a:t>
            </a:r>
          </a:p>
          <a:p>
            <a:pPr>
              <a:spcAft>
                <a:spcPts val="800"/>
              </a:spcAft>
              <a:defRPr sz="1400" b="0">
                <a:solidFill>
                  <a:srgbClr val="0F172A"/>
                </a:solidFill>
                <a:latin typeface="Segoe UI"/>
              </a:defRPr>
            </a:pPr>
            <a:r>
              <a:rPr sz="1400" b="0">
                <a:solidFill>
                  <a:srgbClr val="0F172A"/>
                </a:solidFill>
                <a:latin typeface="Segoe UI"/>
              </a:rPr>
              <a:t>• Target encoding con CV: TargetEncoder(cv=5, smoothing=10) dentro de pipeline.</a:t>
            </a:r>
          </a:p>
          <a:p>
            <a:pPr>
              <a:spcAft>
                <a:spcPts val="800"/>
              </a:spcAft>
              <a:defRPr sz="1400" b="0">
                <a:solidFill>
                  <a:srgbClr val="0F172A"/>
                </a:solidFill>
                <a:latin typeface="Segoe UI"/>
              </a:defRPr>
            </a:pPr>
            <a:r>
              <a:rPr sz="1400" b="0">
                <a:solidFill>
                  <a:srgbClr val="0F172A"/>
                </a:solidFill>
                <a:latin typeface="Segoe UI"/>
              </a:rPr>
              <a:t>• CatBoost encoder: alternativa sin CV.</a:t>
            </a:r>
          </a:p>
          <a:p>
            <a:pPr>
              <a:spcAft>
                <a:spcPts val="800"/>
              </a:spcAft>
              <a:defRPr sz="1400" b="0">
                <a:solidFill>
                  <a:srgbClr val="0F172A"/>
                </a:solidFill>
                <a:latin typeface="Segoe UI"/>
              </a:defRPr>
            </a:pPr>
            <a:r>
              <a:rPr sz="1400" b="0">
                <a:solidFill>
                  <a:srgbClr val="0F172A"/>
                </a:solidFill>
                <a:latin typeface="Segoe UI"/>
              </a:rPr>
              <a:t>• KNNImputer: con dataset con NaN, imputar con k=5; comparar contra SimpleImputer (mean).</a:t>
            </a:r>
          </a:p>
          <a:p>
            <a:pPr>
              <a:spcAft>
                <a:spcPts val="800"/>
              </a:spcAft>
              <a:defRPr sz="1400" b="0">
                <a:solidFill>
                  <a:srgbClr val="0F172A"/>
                </a:solidFill>
                <a:latin typeface="Segoe UI"/>
              </a:defRPr>
            </a:pPr>
            <a:r>
              <a:rPr sz="1400" b="0">
                <a:solidFill>
                  <a:srgbClr val="0F172A"/>
                </a:solidFill>
                <a:latin typeface="Segoe UI"/>
              </a:rPr>
              <a:t>• MICE: IterativeImputer(estimator=BayesianRidge(), max_iter=10).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1: SimpleImputer + OneHot + LogReg.</a:t>
            </a:r>
          </a:p>
          <a:p>
            <a:pPr>
              <a:spcAft>
                <a:spcPts val="800"/>
              </a:spcAft>
              <a:defRPr sz="1500" b="0">
                <a:solidFill>
                  <a:srgbClr val="0F172A"/>
                </a:solidFill>
                <a:latin typeface="Segoe UI"/>
              </a:defRPr>
            </a:pPr>
            <a:r>
              <a:rPr sz="1500" b="0">
                <a:solidFill>
                  <a:srgbClr val="0F172A"/>
                </a:solidFill>
                <a:latin typeface="Segoe UI"/>
              </a:rPr>
              <a:t>• Pipeline 2: KNNImputer + TargetEncoder(CV) + LogReg.</a:t>
            </a:r>
          </a:p>
          <a:p>
            <a:pPr>
              <a:spcAft>
                <a:spcPts val="800"/>
              </a:spcAft>
              <a:defRPr sz="1500" b="0">
                <a:solidFill>
                  <a:srgbClr val="0F172A"/>
                </a:solidFill>
                <a:latin typeface="Segoe UI"/>
              </a:defRPr>
            </a:pPr>
            <a:r>
              <a:rPr sz="1500" b="0">
                <a:solidFill>
                  <a:srgbClr val="0F172A"/>
                </a:solidFill>
                <a:latin typeface="Segoe UI"/>
              </a:rPr>
              <a:t>• Pipeline 3: MICE + CatBoostEncoder + LogReg.</a:t>
            </a:r>
          </a:p>
          <a:p>
            <a:pPr>
              <a:spcAft>
                <a:spcPts val="800"/>
              </a:spcAft>
              <a:defRPr sz="1500" b="0">
                <a:solidFill>
                  <a:srgbClr val="0F172A"/>
                </a:solidFill>
                <a:latin typeface="Segoe UI"/>
              </a:defRPr>
            </a:pPr>
            <a:r>
              <a:rPr sz="1500" b="0">
                <a:solidFill>
                  <a:srgbClr val="0F172A"/>
                </a:solidFill>
                <a:latin typeface="Segoe UI"/>
              </a:rPr>
              <a:t>• Comparar accuracy + tiempo.</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056 — Selección y entrenamiento de modelo</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056 — Selección y entrenamiento de modelo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2 § Select and Train a Model. ·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entrene varios modelos baseline sobre un dataset de regresión (el notebook usa load_diabetes de scikit-learn, sin descargas), los compare con cross-validation en vez de un único split, identifique sub/overfitting con learning curves, y elija el candidato más prometedor para pasar a fine-tuning — sin malgastar tiempo afinando un modelo que no tiene techo.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Entrenar baselines (LinearRegression, DecisionTreeRegressor, RandomForestRegressor) sobre el X_prepared del pipeline de la clase anterior.</a:t>
            </a:r>
          </a:p>
          <a:p>
            <a:pPr>
              <a:spcAft>
                <a:spcPts val="800"/>
              </a:spcAft>
              <a:defRPr sz="1400" b="0">
                <a:solidFill>
                  <a:srgbClr val="0F172A"/>
                </a:solidFill>
                <a:latin typeface="Segoe UI"/>
              </a:defRPr>
            </a:pPr>
            <a:r>
              <a:rPr sz="1400" b="0">
                <a:solidFill>
                  <a:srgbClr val="0F172A"/>
                </a:solidFill>
                <a:latin typeface="Segoe UI"/>
              </a:rPr>
              <a:t>• Evaluar con cross_val_score usando K-Fold y scoring='neg_root_mean_squared_error' en vez de un solo train/test.</a:t>
            </a:r>
          </a:p>
          <a:p>
            <a:pPr>
              <a:spcAft>
                <a:spcPts val="800"/>
              </a:spcAft>
              <a:defRPr sz="1400" b="0">
                <a:solidFill>
                  <a:srgbClr val="0F172A"/>
                </a:solidFill>
                <a:latin typeface="Segoe UI"/>
              </a:defRPr>
            </a:pPr>
            <a:r>
              <a:rPr sz="1400" b="0">
                <a:solidFill>
                  <a:srgbClr val="0F172A"/>
                </a:solidFill>
                <a:latin typeface="Segoe UI"/>
              </a:rPr>
              <a:t>• Leer learning curves para diagnosticar bias vs varianza (underfitting vs overfitting).</a:t>
            </a:r>
          </a:p>
          <a:p>
            <a:pPr>
              <a:spcAft>
                <a:spcPts val="800"/>
              </a:spcAft>
              <a:defRPr sz="1400" b="0">
                <a:solidFill>
                  <a:srgbClr val="0F172A"/>
                </a:solidFill>
                <a:latin typeface="Segoe UI"/>
              </a:defRPr>
            </a:pPr>
            <a:r>
              <a:rPr sz="1400" b="0">
                <a:solidFill>
                  <a:srgbClr val="0F172A"/>
                </a:solidFill>
                <a:latin typeface="Segoe UI"/>
              </a:rPr>
              <a:t>• Comparar modelos con media ± desvío de los folds y decidir cuál merece HPO.</a:t>
            </a:r>
          </a:p>
          <a:p>
            <a:pPr>
              <a:spcAft>
                <a:spcPts val="800"/>
              </a:spcAft>
              <a:defRPr sz="1400" b="0">
                <a:solidFill>
                  <a:srgbClr val="0F172A"/>
                </a:solidFill>
                <a:latin typeface="Segoe UI"/>
              </a:defRPr>
            </a:pPr>
            <a:r>
              <a:rPr sz="1400" b="0">
                <a:solidFill>
                  <a:srgbClr val="0F172A"/>
                </a:solidFill>
                <a:latin typeface="Segoe UI"/>
              </a:rPr>
              <a:t>• Persistir el modelo elegido con joblib.dump(...) para retomarlo en la próxima clase.</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056 — Selección y entrenamiento de modelo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Entrenar baseline LinearRegression y medir RMSE en train</a:t>
            </a:r>
          </a:p>
          <a:p>
            <a:pPr>
              <a:spcAft>
                <a:spcPts val="1000"/>
              </a:spcAft>
              <a:defRPr sz="1600" b="0">
                <a:solidFill>
                  <a:srgbClr val="0F172A"/>
                </a:solidFill>
                <a:latin typeface="Segoe UI"/>
              </a:defRPr>
            </a:pPr>
            <a:r>
              <a:rPr sz="1600" b="0">
                <a:solidFill>
                  <a:srgbClr val="0F172A"/>
                </a:solidFill>
                <a:latin typeface="Segoe UI"/>
              </a:rPr>
              <a:t>• DecisionTreeRegressor con RMSE = 0 en train</a:t>
            </a:r>
          </a:p>
          <a:p>
            <a:pPr>
              <a:spcAft>
                <a:spcPts val="1000"/>
              </a:spcAft>
              <a:defRPr sz="1600" b="0">
                <a:solidFill>
                  <a:srgbClr val="0F172A"/>
                </a:solidFill>
                <a:latin typeface="Segoe UI"/>
              </a:defRPr>
            </a:pPr>
            <a:r>
              <a:rPr sz="1600" b="0">
                <a:solidFill>
                  <a:srgbClr val="0F172A"/>
                </a:solidFill>
                <a:latin typeface="Segoe UI"/>
              </a:rPr>
              <a:t>• cross_val_score(..., cv=10, scoring='neg_root_mean_squared_error')</a:t>
            </a:r>
          </a:p>
          <a:p>
            <a:pPr>
              <a:spcAft>
                <a:spcPts val="1000"/>
              </a:spcAft>
              <a:defRPr sz="1600" b="0">
                <a:solidFill>
                  <a:srgbClr val="0F172A"/>
                </a:solidFill>
                <a:latin typeface="Segoe UI"/>
              </a:defRPr>
            </a:pPr>
            <a:r>
              <a:rPr sz="1600" b="0">
                <a:solidFill>
                  <a:srgbClr val="0F172A"/>
                </a:solidFill>
                <a:latin typeface="Segoe UI"/>
              </a:rPr>
              <a:t>• RandomForestRegressor y comparación con los anteriores</a:t>
            </a:r>
          </a:p>
          <a:p>
            <a:pPr>
              <a:spcAft>
                <a:spcPts val="1000"/>
              </a:spcAft>
              <a:defRPr sz="1600" b="0">
                <a:solidFill>
                  <a:srgbClr val="0F172A"/>
                </a:solidFill>
                <a:latin typeface="Segoe UI"/>
              </a:defRPr>
            </a:pPr>
            <a:r>
              <a:rPr sz="1600" b="0">
                <a:solidFill>
                  <a:srgbClr val="0F172A"/>
                </a:solidFill>
                <a:latin typeface="Segoe UI"/>
              </a:rPr>
              <a:t>• learning_curve — train vs validation score vs tamaño de muestra</a:t>
            </a:r>
          </a:p>
          <a:p>
            <a:pPr>
              <a:spcAft>
                <a:spcPts val="1000"/>
              </a:spcAft>
              <a:defRPr sz="1600" b="0">
                <a:solidFill>
                  <a:srgbClr val="0F172A"/>
                </a:solidFill>
                <a:latin typeface="Segoe UI"/>
              </a:defRPr>
            </a:pPr>
            <a:r>
              <a:rPr sz="1600" b="0">
                <a:solidFill>
                  <a:srgbClr val="0F172A"/>
                </a:solidFill>
                <a:latin typeface="Segoe UI"/>
              </a:rPr>
              <a:t>• validation_curve — score vs un hiperparámetro</a:t>
            </a:r>
          </a:p>
          <a:p>
            <a:pPr>
              <a:spcAft>
                <a:spcPts val="1000"/>
              </a:spcAft>
              <a:defRPr sz="1600" b="0">
                <a:solidFill>
                  <a:srgbClr val="0F172A"/>
                </a:solidFill>
                <a:latin typeface="Segoe UI"/>
              </a:defRPr>
            </a:pPr>
            <a:r>
              <a:rPr sz="1600" b="0">
                <a:solidFill>
                  <a:srgbClr val="0F172A"/>
                </a:solidFill>
                <a:latin typeface="Segoe UI"/>
              </a:rPr>
              <a:t>• Decidir cuándo pasar a HPO vs cuándo seguir feature-engineering</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056 — Selección y entrenamiento de modelo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Entrenamos baselines, los comparamos con cross-validation (no un solo split), leemos learning curves para diagnosticar bias/varianza y elegimos el candidato para fine-tuning. Persistimos el ganador con joblib.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time, joblib, tempfile, os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load_diabetes</a:t>
            </a:r>
          </a:p>
          <a:p>
            <a:pPr>
              <a:defRPr sz="1200" b="0">
                <a:solidFill>
                  <a:srgbClr val="F8FAFC"/>
                </a:solidFill>
                <a:latin typeface="Courier New"/>
              </a:defRPr>
            </a:pPr>
            <a:r>
              <a:rPr sz="1200" b="0">
                <a:solidFill>
                  <a:srgbClr val="F8FAFC"/>
                </a:solidFill>
                <a:latin typeface="Courier New"/>
              </a:rPr>
              <a:t>from sklearn.linear_model import LinearRegression</a:t>
            </a:r>
          </a:p>
          <a:p>
            <a:pPr>
              <a:defRPr sz="1200" b="0">
                <a:solidFill>
                  <a:srgbClr val="F8FAFC"/>
                </a:solidFill>
                <a:latin typeface="Courier New"/>
              </a:defRPr>
            </a:pPr>
            <a:r>
              <a:rPr sz="1200" b="0">
                <a:solidFill>
                  <a:srgbClr val="F8FAFC"/>
                </a:solidFill>
                <a:latin typeface="Courier New"/>
              </a:rPr>
              <a:t>from sklearn.tree import DecisionTreeRegressor</a:t>
            </a:r>
          </a:p>
          <a:p>
            <a:pPr>
              <a:defRPr sz="1200" b="0">
                <a:solidFill>
                  <a:srgbClr val="F8FAFC"/>
                </a:solidFill>
                <a:latin typeface="Courier New"/>
              </a:defRPr>
            </a:pPr>
            <a:r>
              <a:rPr sz="1200" b="0">
                <a:solidFill>
                  <a:srgbClr val="F8FAFC"/>
                </a:solidFill>
                <a:latin typeface="Courier New"/>
              </a:rPr>
              <a:t>from sklearn.ensemble import RandomForestRegressor</a:t>
            </a:r>
          </a:p>
          <a:p>
            <a:pPr>
              <a:defRPr sz="1200" b="0">
                <a:solidFill>
                  <a:srgbClr val="F8FAFC"/>
                </a:solidFill>
                <a:latin typeface="Courier New"/>
              </a:defRPr>
            </a:pPr>
            <a:r>
              <a:rPr sz="1200" b="0">
                <a:solidFill>
                  <a:srgbClr val="F8FAFC"/>
                </a:solidFill>
                <a:latin typeface="Courier New"/>
              </a:rPr>
              <a:t>from sklearn.model_selection import cross_val_score, learning_curve</a:t>
            </a:r>
          </a:p>
          <a:p>
            <a:pPr>
              <a:defRPr sz="1200" b="0">
                <a:solidFill>
                  <a:srgbClr val="F8FAFC"/>
                </a:solidFill>
                <a:latin typeface="Courier New"/>
              </a:defRPr>
            </a:pPr>
            <a:r>
              <a:rPr sz="1200" b="0">
                <a:solidFill>
                  <a:srgbClr val="F8FAFC"/>
                </a:solidFill>
                <a:latin typeface="Courier New"/>
              </a:rPr>
              <a:t>from sklearn.metrics import root_mean_squared_error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data = load_diabetes()</a:t>
            </a:r>
          </a:p>
          <a:p>
            <a:pPr>
              <a:defRPr sz="1200" b="0">
                <a:solidFill>
                  <a:srgbClr val="F8FAFC"/>
                </a:solidFill>
                <a:latin typeface="Courier New"/>
              </a:defRPr>
            </a:pPr>
            <a:r>
              <a:rPr sz="1200" b="0">
                <a:solidFill>
                  <a:srgbClr val="F8FAFC"/>
                </a:solidFill>
                <a:latin typeface="Courier New"/>
              </a:rPr>
              <a:t>X, y = data.data, data.target</a:t>
            </a:r>
          </a:p>
          <a:p>
            <a:pPr>
              <a:defRPr sz="1200" b="0">
                <a:solidFill>
                  <a:srgbClr val="F8FAFC"/>
                </a:solidFill>
                <a:latin typeface="Courier New"/>
              </a:defRPr>
            </a:pPr>
            <a:r>
              <a:rPr sz="1200" b="0">
                <a:solidFill>
                  <a:srgbClr val="F8FAFC"/>
                </a:solidFill>
                <a:latin typeface="Courier New"/>
              </a:rPr>
              <a:t>print('diabetes:', X.shape, '| target rango', y.min(), '-', y.max())</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056 — Selección y entrenamiento de modelo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Baseline lineal.</a:t>
            </a:r>
          </a:p>
          <a:p>
            <a:pPr>
              <a:spcAft>
                <a:spcPts val="800"/>
              </a:spcAft>
              <a:defRPr sz="1400" b="0">
                <a:solidFill>
                  <a:srgbClr val="0F172A"/>
                </a:solidFill>
                <a:latin typeface="Segoe UI"/>
              </a:defRPr>
            </a:pPr>
            <a:r>
              <a:rPr sz="1400" b="0">
                <a:solidFill>
                  <a:srgbClr val="0F172A"/>
                </a:solidFill>
                <a:latin typeface="Segoe UI"/>
              </a:rPr>
              <a:t>• Árbol que memoriza.</a:t>
            </a:r>
          </a:p>
          <a:p>
            <a:pPr>
              <a:spcAft>
                <a:spcPts val="800"/>
              </a:spcAft>
              <a:defRPr sz="1400" b="0">
                <a:solidFill>
                  <a:srgbClr val="0F172A"/>
                </a:solidFill>
                <a:latin typeface="Segoe UI"/>
              </a:defRPr>
            </a:pPr>
            <a:r>
              <a:rPr sz="1400" b="0">
                <a:solidFill>
                  <a:srgbClr val="0F172A"/>
                </a:solidFill>
                <a:latin typeface="Segoe UI"/>
              </a:rPr>
              <a:t>• Cross-validation honesto.</a:t>
            </a:r>
          </a:p>
          <a:p>
            <a:pPr>
              <a:spcAft>
                <a:spcPts val="800"/>
              </a:spcAft>
              <a:defRPr sz="1400" b="0">
                <a:solidFill>
                  <a:srgbClr val="0F172A"/>
                </a:solidFill>
                <a:latin typeface="Segoe UI"/>
              </a:defRPr>
            </a:pPr>
            <a:r>
              <a:rPr sz="1400" b="0">
                <a:solidFill>
                  <a:srgbClr val="0F172A"/>
                </a:solidFill>
                <a:latin typeface="Segoe UI"/>
              </a:rPr>
              <a:t>• Random Forest.</a:t>
            </a:r>
          </a:p>
          <a:p>
            <a:pPr>
              <a:spcAft>
                <a:spcPts val="800"/>
              </a:spcAft>
              <a:defRPr sz="1400" b="0">
                <a:solidFill>
                  <a:srgbClr val="0F172A"/>
                </a:solidFill>
                <a:latin typeface="Segoe UI"/>
              </a:defRPr>
            </a:pPr>
            <a:r>
              <a:rPr sz="1400" b="0">
                <a:solidFill>
                  <a:srgbClr val="0F172A"/>
                </a:solidFill>
                <a:latin typeface="Segoe UI"/>
              </a:rPr>
              <a:t>• Learning curve.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entrene los 3 baselines sobre X_prepared; (b) corra CV de 10 folds para cada uno y guarde los arrays de scores; (c) genere una tabla comparativa con RMSE media, RMSE desvío, tiempo de fit; (d) elija el modelo más prometedor con justificación de 3 líneas en markdown; (e) plottee la learning curve del elegido; (f) serialice el modelo entrenado en models/modelo_baseline.pkl con joblib.dump.</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057 — Fine-tuning: grid search y randomized search</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057 — Fine-tuning: grid search y randomized search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2.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de tunear hiperparámetros "a ojo" y use búsquedas sistemáticas con validación cruzada — GridSearchCV cuando el espacio es chico y discreto, RandomizedSearchCV cuando es grande o continuo — integradas dentro de un Pipeline para evitar data leakage del preprocesamiento.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parámetros entrenados (pesos del modelo) de hiperparámetros (los que vos fijás antes del fit).</a:t>
            </a:r>
          </a:p>
          <a:p>
            <a:pPr>
              <a:spcAft>
                <a:spcPts val="800"/>
              </a:spcAft>
              <a:defRPr sz="1400" b="0">
                <a:solidFill>
                  <a:srgbClr val="0F172A"/>
                </a:solidFill>
                <a:latin typeface="Segoe UI"/>
              </a:defRPr>
            </a:pPr>
            <a:r>
              <a:rPr sz="1400" b="0">
                <a:solidFill>
                  <a:srgbClr val="0F172A"/>
                </a:solidFill>
                <a:latin typeface="Segoe UI"/>
              </a:rPr>
              <a:t>• Configurar GridSearchCV con param_grid, cv, scoring, n_jobs=-1 y leer best_params_ / best_estimator_ / cv_results_.</a:t>
            </a:r>
          </a:p>
          <a:p>
            <a:pPr>
              <a:spcAft>
                <a:spcPts val="800"/>
              </a:spcAft>
              <a:defRPr sz="1400" b="0">
                <a:solidFill>
                  <a:srgbClr val="0F172A"/>
                </a:solidFill>
                <a:latin typeface="Segoe UI"/>
              </a:defRPr>
            </a:pPr>
            <a:r>
              <a:rPr sz="1400" b="0">
                <a:solidFill>
                  <a:srgbClr val="0F172A"/>
                </a:solidFill>
                <a:latin typeface="Segoe UI"/>
              </a:rPr>
              <a:t>• Usar RandomizedSearchCV con param_distributions (scipy.stats: randint, uniform, loguniform) y n_iter para presupuestar trials.</a:t>
            </a:r>
          </a:p>
          <a:p>
            <a:pPr>
              <a:spcAft>
                <a:spcPts val="800"/>
              </a:spcAft>
              <a:defRPr sz="1400" b="0">
                <a:solidFill>
                  <a:srgbClr val="0F172A"/>
                </a:solidFill>
                <a:latin typeface="Segoe UI"/>
              </a:defRPr>
            </a:pPr>
            <a:r>
              <a:rPr sz="1400" b="0">
                <a:solidFill>
                  <a:srgbClr val="0F172A"/>
                </a:solidFill>
                <a:latin typeface="Segoe UI"/>
              </a:rPr>
              <a:t>• Integrar HPO dentro de un Pipeline usando claves del tipo 'step__hparam' para tunear preprocesamiento + modelo juntos.</a:t>
            </a:r>
          </a:p>
          <a:p>
            <a:pPr>
              <a:spcAft>
                <a:spcPts val="800"/>
              </a:spcAft>
              <a:defRPr sz="1400" b="0">
                <a:solidFill>
                  <a:srgbClr val="0F172A"/>
                </a:solidFill>
                <a:latin typeface="Segoe UI"/>
              </a:defRPr>
            </a:pPr>
            <a:r>
              <a:rPr sz="1400" b="0">
                <a:solidFill>
                  <a:srgbClr val="0F172A"/>
                </a:solidFill>
                <a:latin typeface="Segoe UI"/>
              </a:rPr>
              <a:t>• Decidir grid vs random vs bayesiano según tamaño del espacio, costo por fit y continuidad de los hiperparámetros.</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057 — Fine-tuning: grid search y randomized search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Hiperparámetros vs parámetros</a:t>
            </a:r>
          </a:p>
          <a:p>
            <a:pPr>
              <a:spcAft>
                <a:spcPts val="1000"/>
              </a:spcAft>
              <a:defRPr sz="1600" b="0">
                <a:solidFill>
                  <a:srgbClr val="0F172A"/>
                </a:solidFill>
                <a:latin typeface="Segoe UI"/>
              </a:defRPr>
            </a:pPr>
            <a:r>
              <a:rPr sz="1600" b="0">
                <a:solidFill>
                  <a:srgbClr val="0F172A"/>
                </a:solidFill>
                <a:latin typeface="Segoe UI"/>
              </a:rPr>
              <a:t>• param_grid y scoring</a:t>
            </a:r>
          </a:p>
          <a:p>
            <a:pPr>
              <a:spcAft>
                <a:spcPts val="1000"/>
              </a:spcAft>
              <a:defRPr sz="1600" b="0">
                <a:solidFill>
                  <a:srgbClr val="0F172A"/>
                </a:solidFill>
                <a:latin typeface="Segoe UI"/>
              </a:defRPr>
            </a:pPr>
            <a:r>
              <a:rPr sz="1600" b="0">
                <a:solidFill>
                  <a:srgbClr val="0F172A"/>
                </a:solidFill>
                <a:latin typeface="Segoe UI"/>
              </a:rPr>
              <a:t>• cv y n_jobs=-1</a:t>
            </a:r>
          </a:p>
          <a:p>
            <a:pPr>
              <a:spcAft>
                <a:spcPts val="1000"/>
              </a:spcAft>
              <a:defRPr sz="1600" b="0">
                <a:solidFill>
                  <a:srgbClr val="0F172A"/>
                </a:solidFill>
                <a:latin typeface="Segoe UI"/>
              </a:defRPr>
            </a:pPr>
            <a:r>
              <a:rPr sz="1600" b="0">
                <a:solidFill>
                  <a:srgbClr val="0F172A"/>
                </a:solidFill>
                <a:latin typeface="Segoe UI"/>
              </a:rPr>
              <a:t>• GridSearchCV</a:t>
            </a:r>
          </a:p>
          <a:p>
            <a:pPr>
              <a:spcAft>
                <a:spcPts val="1000"/>
              </a:spcAft>
              <a:defRPr sz="1600" b="0">
                <a:solidFill>
                  <a:srgbClr val="0F172A"/>
                </a:solidFill>
                <a:latin typeface="Segoe UI"/>
              </a:defRPr>
            </a:pPr>
            <a:r>
              <a:rPr sz="1600" b="0">
                <a:solidFill>
                  <a:srgbClr val="0F172A"/>
                </a:solidFill>
                <a:latin typeface="Segoe UI"/>
              </a:rPr>
              <a:t>• RandomizedSearchCV con distribuciones (randint, loguniform)</a:t>
            </a:r>
          </a:p>
          <a:p>
            <a:pPr>
              <a:spcAft>
                <a:spcPts val="1000"/>
              </a:spcAft>
              <a:defRPr sz="1600" b="0">
                <a:solidFill>
                  <a:srgbClr val="0F172A"/>
                </a:solidFill>
                <a:latin typeface="Segoe UI"/>
              </a:defRPr>
            </a:pPr>
            <a:r>
              <a:rPr sz="1600" b="0">
                <a:solidFill>
                  <a:srgbClr val="0F172A"/>
                </a:solidFill>
                <a:latin typeface="Segoe UI"/>
              </a:rPr>
              <a:t>• Pipelines + HPO con sintaxis step__hparam</a:t>
            </a:r>
          </a:p>
          <a:p>
            <a:pPr>
              <a:spcAft>
                <a:spcPts val="1000"/>
              </a:spcAft>
              <a:defRPr sz="1600" b="0">
                <a:solidFill>
                  <a:srgbClr val="0F172A"/>
                </a:solidFill>
                <a:latin typeface="Segoe UI"/>
              </a:defRPr>
            </a:pPr>
            <a:r>
              <a:rPr sz="1600" b="0">
                <a:solidFill>
                  <a:srgbClr val="0F172A"/>
                </a:solidFill>
                <a:latin typeface="Segoe UI"/>
              </a:rPr>
              <a:t>• Inspeccionar cv_results_</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057 — Fine-tuning: grid search y randomized search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Dejamos de tunear "a ojo": GridSearchCV para espacios chicos y discretos, RandomizedSearchCV con distribuciones para espacios grandes o continuos, todo dentro de un Pipeline para evitar leakage del preprocesamiento.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scipy.stats import randint, loguniform</a:t>
            </a:r>
          </a:p>
          <a:p>
            <a:pPr>
              <a:defRPr sz="1200" b="0">
                <a:solidFill>
                  <a:srgbClr val="F8FAFC"/>
                </a:solidFill>
                <a:latin typeface="Courier New"/>
              </a:defRPr>
            </a:pPr>
            <a:r>
              <a:rPr sz="1200" b="0">
                <a:solidFill>
                  <a:srgbClr val="F8FAFC"/>
                </a:solidFill>
                <a:latin typeface="Courier New"/>
              </a:rPr>
              <a:t>from sklearn.datasets import load_diabetes</a:t>
            </a:r>
          </a:p>
          <a:p>
            <a:pPr>
              <a:defRPr sz="1200" b="0">
                <a:solidFill>
                  <a:srgbClr val="F8FAFC"/>
                </a:solidFill>
                <a:latin typeface="Courier New"/>
              </a:defRPr>
            </a:pPr>
            <a:r>
              <a:rPr sz="1200" b="0">
                <a:solidFill>
                  <a:srgbClr val="F8FAFC"/>
                </a:solidFill>
                <a:latin typeface="Courier New"/>
              </a:rPr>
              <a:t>from sklearn.model_selection import train_test_split, GridSearchCV, RandomizedSearchCV</a:t>
            </a:r>
          </a:p>
          <a:p>
            <a:pPr>
              <a:defRPr sz="1200" b="0">
                <a:solidFill>
                  <a:srgbClr val="F8FAFC"/>
                </a:solidFill>
                <a:latin typeface="Courier New"/>
              </a:defRPr>
            </a:pPr>
            <a:r>
              <a:rPr sz="1200" b="0">
                <a:solidFill>
                  <a:srgbClr val="F8FAFC"/>
                </a:solidFill>
                <a:latin typeface="Courier New"/>
              </a:rPr>
              <a:t>from sklearn.pipeline import Pipeline</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sklearn.ensemble import RandomForestRegressor</a:t>
            </a:r>
          </a:p>
          <a:p>
            <a:pPr>
              <a:defRPr sz="1200" b="0">
                <a:solidFill>
                  <a:srgbClr val="F8FAFC"/>
                </a:solidFill>
                <a:latin typeface="Courier New"/>
              </a:defRPr>
            </a:pPr>
            <a:r>
              <a:rPr sz="1200" b="0">
                <a:solidFill>
                  <a:srgbClr val="F8FAFC"/>
                </a:solidFill>
                <a:latin typeface="Courier New"/>
              </a:rPr>
              <a:t>from sklearn.svm import SVR</a:t>
            </a:r>
          </a:p>
          <a:p>
            <a:pPr>
              <a:defRPr sz="1200" b="0">
                <a:solidFill>
                  <a:srgbClr val="F8FAFC"/>
                </a:solidFill>
                <a:latin typeface="Courier New"/>
              </a:defRPr>
            </a:pPr>
            <a:r>
              <a:rPr sz="1200" b="0">
                <a:solidFill>
                  <a:srgbClr val="F8FAFC"/>
                </a:solidFill>
                <a:latin typeface="Courier New"/>
              </a:rPr>
              <a:t>from sklearn.metrics import root_mean_squared_error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X, y = load_diabetes(return_X_y=True)</a:t>
            </a:r>
          </a:p>
          <a:p>
            <a:pPr>
              <a:defRPr sz="1200" b="0">
                <a:solidFill>
                  <a:srgbClr val="F8FAFC"/>
                </a:solidFill>
                <a:latin typeface="Courier New"/>
              </a:defRPr>
            </a:pPr>
            <a:r>
              <a:rPr sz="1200" b="0">
                <a:solidFill>
                  <a:srgbClr val="F8FAFC"/>
                </a:solidFill>
                <a:latin typeface="Courier New"/>
              </a:rPr>
              <a:t>Xtr, Xte, ytr, yte = train_test_split(X, y, test_size=0.2, random_state=42)</a:t>
            </a:r>
          </a:p>
          <a:p>
            <a:pPr>
              <a:defRPr sz="1200" b="0">
                <a:solidFill>
                  <a:srgbClr val="F8FAFC"/>
                </a:solidFill>
                <a:latin typeface="Courier New"/>
              </a:defRPr>
            </a:pPr>
            <a:r>
              <a:rPr sz="1200" b="0">
                <a:solidFill>
                  <a:srgbClr val="F8FAFC"/>
                </a:solidFill>
                <a:latin typeface="Courier New"/>
              </a:rPr>
              <a:t>print('train', Xtr.shape, 'test', Xte.shape)</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057 — Fine-tuning: grid search y randomized search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GridSearchCV sobre RandomForestRegressor.</a:t>
            </a:r>
          </a:p>
          <a:p>
            <a:pPr>
              <a:spcAft>
                <a:spcPts val="800"/>
              </a:spcAft>
              <a:defRPr sz="1400" b="0">
                <a:solidFill>
                  <a:srgbClr val="0F172A"/>
                </a:solidFill>
                <a:latin typeface="Segoe UI"/>
              </a:defRPr>
            </a:pPr>
            <a:r>
              <a:rPr sz="1400" b="0">
                <a:solidFill>
                  <a:srgbClr val="0F172A"/>
                </a:solidFill>
                <a:latin typeface="Segoe UI"/>
              </a:rPr>
              <a:t>• RandomizedSearchCV con distribuciones.</a:t>
            </a:r>
          </a:p>
          <a:p>
            <a:pPr>
              <a:spcAft>
                <a:spcPts val="800"/>
              </a:spcAft>
              <a:defRPr sz="1400" b="0">
                <a:solidFill>
                  <a:srgbClr val="0F172A"/>
                </a:solidFill>
                <a:latin typeface="Segoe UI"/>
              </a:defRPr>
            </a:pPr>
            <a:r>
              <a:rPr sz="1400" b="0">
                <a:solidFill>
                  <a:srgbClr val="0F172A"/>
                </a:solidFill>
                <a:latin typeface="Segoe UI"/>
              </a:rPr>
              <a:t>• Pipeline + HPO.</a:t>
            </a:r>
          </a:p>
          <a:p>
            <a:pPr>
              <a:spcAft>
                <a:spcPts val="800"/>
              </a:spcAft>
              <a:defRPr sz="1400" b="0">
                <a:solidFill>
                  <a:srgbClr val="0F172A"/>
                </a:solidFill>
                <a:latin typeface="Segoe UI"/>
              </a:defRPr>
            </a:pPr>
            <a:r>
              <a:rPr sz="1400" b="0">
                <a:solidFill>
                  <a:srgbClr val="0F172A"/>
                </a:solidFill>
                <a:latin typeface="Segoe UI"/>
              </a:rPr>
              <a:t>• Inspección de cv_results_.</a:t>
            </a:r>
          </a:p>
          <a:p>
            <a:pPr>
              <a:spcAft>
                <a:spcPts val="800"/>
              </a:spcAft>
              <a:defRPr sz="1400" b="0">
                <a:solidFill>
                  <a:srgbClr val="0F172A"/>
                </a:solidFill>
                <a:latin typeface="Segoe UI"/>
              </a:defRPr>
            </a:pPr>
            <a:r>
              <a:rPr sz="1400" b="0">
                <a:solidFill>
                  <a:srgbClr val="0F172A"/>
                </a:solidFill>
                <a:latin typeface="Segoe UI"/>
              </a:rPr>
              <a:t>• Optuna sobre el mismo problema.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baseline con RandomForestRegressor sin tunear; (b) GridSearchCV con grid chico (≤27 combos); (c) RandomizedSearchCV con n_iter=30 y distribuciones log; (d) Optuna con n_trials=30 y MedianPruner; (e) tabla comparativa con RMSE en test, tiempo de búsqueda y mejor combinación de cada método.</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058 — Optuna y HPO bayesiano dedicado</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058 — Optuna y HPO bayesiano dedicado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Akiba et al. (2019) + Optuna docs.  Duración estimada: 80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Profundizar en Optuna —el framework de hyperparameter optimization estándar industrial 2026— aplicado a ML clásico (sklearn, XGBoost, LightGBM, CatBoost). Pasar de Grid/Random Search (clase 052) a TPE (Tree-structured Parzen Estimator) + Hyperband Pruner + persistencia con SQLite. Aprender a interpretar plot_optimization_history, plot_param_importances y plot_slice para entender qué hiperparámetros mueven la aguja.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un objective(trial) con suggest_int, suggest_float, suggest_categorical, suggest_float('lr', 1e-5, 1e-1, log=True).</a:t>
            </a:r>
          </a:p>
          <a:p>
            <a:pPr>
              <a:spcAft>
                <a:spcPts val="800"/>
              </a:spcAft>
              <a:defRPr sz="1400" b="0">
                <a:solidFill>
                  <a:srgbClr val="0F172A"/>
                </a:solidFill>
                <a:latin typeface="Segoe UI"/>
              </a:defRPr>
            </a:pPr>
            <a:r>
              <a:rPr sz="1400" b="0">
                <a:solidFill>
                  <a:srgbClr val="0F172A"/>
                </a:solidFill>
                <a:latin typeface="Segoe UI"/>
              </a:rPr>
              <a:t>• Aplicar TPE (default) vs CmaEs vs NSGAIISampler (multi-objective).</a:t>
            </a:r>
          </a:p>
          <a:p>
            <a:pPr>
              <a:spcAft>
                <a:spcPts val="800"/>
              </a:spcAft>
              <a:defRPr sz="1400" b="0">
                <a:solidFill>
                  <a:srgbClr val="0F172A"/>
                </a:solidFill>
                <a:latin typeface="Segoe UI"/>
              </a:defRPr>
            </a:pPr>
            <a:r>
              <a:rPr sz="1400" b="0">
                <a:solidFill>
                  <a:srgbClr val="0F172A"/>
                </a:solidFill>
                <a:latin typeface="Segoe UI"/>
              </a:rPr>
              <a:t>• Aplicar pruners (MedianPruner, HyperbandPruner) para cortar trials malos temprano.</a:t>
            </a:r>
          </a:p>
          <a:p>
            <a:pPr>
              <a:spcAft>
                <a:spcPts val="800"/>
              </a:spcAft>
              <a:defRPr sz="1400" b="0">
                <a:solidFill>
                  <a:srgbClr val="0F172A"/>
                </a:solidFill>
                <a:latin typeface="Segoe UI"/>
              </a:defRPr>
            </a:pPr>
            <a:r>
              <a:rPr sz="1400" b="0">
                <a:solidFill>
                  <a:srgbClr val="0F172A"/>
                </a:solidFill>
                <a:latin typeface="Segoe UI"/>
              </a:rPr>
              <a:t>• Persistir el study con storage='sqlite:///study.db' y resumir trials.</a:t>
            </a:r>
          </a:p>
          <a:p>
            <a:pPr>
              <a:spcAft>
                <a:spcPts val="800"/>
              </a:spcAft>
              <a:defRPr sz="1400" b="0">
                <a:solidFill>
                  <a:srgbClr val="0F172A"/>
                </a:solidFill>
                <a:latin typeface="Segoe UI"/>
              </a:defRPr>
            </a:pPr>
            <a:r>
              <a:rPr sz="1400" b="0">
                <a:solidFill>
                  <a:srgbClr val="0F172A"/>
                </a:solidFill>
                <a:latin typeface="Segoe UI"/>
              </a:rPr>
              <a:t>• Visualizar e interpretar los 5 plots de Optuna.</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058 — Optuna y HPO bayesiano dedicado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TPE: modela P(x | y &lt; γ) y P(x | y ≥ γ) con KDE; samplea de la primera.</a:t>
            </a:r>
          </a:p>
          <a:p>
            <a:pPr>
              <a:spcAft>
                <a:spcPts val="1000"/>
              </a:spcAft>
              <a:defRPr sz="1600" b="0">
                <a:solidFill>
                  <a:srgbClr val="0F172A"/>
                </a:solidFill>
                <a:latin typeface="Segoe UI"/>
              </a:defRPr>
            </a:pPr>
            <a:r>
              <a:rPr sz="1600" b="0">
                <a:solidFill>
                  <a:srgbClr val="0F172A"/>
                </a:solidFill>
                <a:latin typeface="Segoe UI"/>
              </a:rPr>
              <a:t>• Pruning: callback que reporta progreso intermedio; si va mal vs históricos, kill.</a:t>
            </a:r>
          </a:p>
          <a:p>
            <a:pPr>
              <a:spcAft>
                <a:spcPts val="1000"/>
              </a:spcAft>
              <a:defRPr sz="1600" b="0">
                <a:solidFill>
                  <a:srgbClr val="0F172A"/>
                </a:solidFill>
                <a:latin typeface="Segoe UI"/>
              </a:defRPr>
            </a:pPr>
            <a:r>
              <a:rPr sz="1600" b="0">
                <a:solidFill>
                  <a:srgbClr val="0F172A"/>
                </a:solidFill>
                <a:latin typeface="Segoe UI"/>
              </a:rPr>
              <a:t>• Multi-objective: optimizar accuracy AND latencia.</a:t>
            </a:r>
          </a:p>
          <a:p>
            <a:pPr>
              <a:spcAft>
                <a:spcPts val="1000"/>
              </a:spcAft>
              <a:defRPr sz="1600" b="0">
                <a:solidFill>
                  <a:srgbClr val="0F172A"/>
                </a:solidFill>
                <a:latin typeface="Segoe UI"/>
              </a:defRPr>
            </a:pPr>
            <a:r>
              <a:rPr sz="1600" b="0">
                <a:solidFill>
                  <a:srgbClr val="0F172A"/>
                </a:solidFill>
                <a:latin typeface="Segoe UI"/>
              </a:rPr>
              <a:t>• Distributed: varios workers contra el mismo SQLite/PostgreSQL.</a:t>
            </a:r>
          </a:p>
          <a:p>
            <a:pPr>
              <a:spcAft>
                <a:spcPts val="1000"/>
              </a:spcAft>
              <a:defRPr sz="1600" b="0">
                <a:solidFill>
                  <a:srgbClr val="0F172A"/>
                </a:solidFill>
                <a:latin typeface="Segoe UI"/>
              </a:defRPr>
            </a:pPr>
            <a:r>
              <a:rPr sz="1600" b="0">
                <a:solidFill>
                  <a:srgbClr val="0F172A"/>
                </a:solidFill>
                <a:latin typeface="Segoe UI"/>
              </a:rPr>
              <a:t>• Integration con sklearn, XGBoost, LightGBM, CatBoost.</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058 — Optuna y HPO bayesiano dedicado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TPE sampler + MedianPruner sobre GradientBoostingClassifier. Comparamos vs GridSearchCV con presupuesto similar. Instalar: pip install optuna.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sklearn.ensemble import GradientBoostingClassifier</a:t>
            </a:r>
          </a:p>
          <a:p>
            <a:pPr>
              <a:defRPr sz="1200" b="0">
                <a:solidFill>
                  <a:srgbClr val="F8FAFC"/>
                </a:solidFill>
                <a:latin typeface="Courier New"/>
              </a:defRPr>
            </a:pPr>
            <a:r>
              <a:rPr sz="1200" b="0">
                <a:solidFill>
                  <a:srgbClr val="F8FAFC"/>
                </a:solidFill>
                <a:latin typeface="Courier New"/>
              </a:rPr>
              <a:t>from sklearn.model_selection import StratifiedKFold, GridSearchCV, cross_val_score</a:t>
            </a:r>
          </a:p>
          <a:p>
            <a:pPr>
              <a:defRPr sz="1200" b="0">
                <a:solidFill>
                  <a:srgbClr val="F8FAFC"/>
                </a:solidFill>
                <a:latin typeface="Courier New"/>
              </a:defRPr>
            </a:pPr>
            <a:r>
              <a:rPr sz="1200" b="0">
                <a:solidFill>
                  <a:srgbClr val="F8FAFC"/>
                </a:solidFill>
                <a:latin typeface="Courier New"/>
              </a:rPr>
              <a:t>from sklearn.metrics import roc_auc_score</a:t>
            </a:r>
          </a:p>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optuna</a:t>
            </a:r>
          </a:p>
          <a:p>
            <a:pPr>
              <a:defRPr sz="1200" b="0">
                <a:solidFill>
                  <a:srgbClr val="F8FAFC"/>
                </a:solidFill>
                <a:latin typeface="Courier New"/>
              </a:defRPr>
            </a:pPr>
            <a:r>
              <a:rPr sz="1200" b="0">
                <a:solidFill>
                  <a:srgbClr val="F8FAFC"/>
                </a:solidFill>
                <a:latin typeface="Courier New"/>
              </a:rPr>
              <a:t>    optuna.logging.set_verbosity(optuna.logging.WARNING)</a:t>
            </a:r>
          </a:p>
          <a:p>
            <a:pPr>
              <a:defRPr sz="1200" b="0">
                <a:solidFill>
                  <a:srgbClr val="F8FAFC"/>
                </a:solidFill>
                <a:latin typeface="Courier New"/>
              </a:defRPr>
            </a:pPr>
            <a:r>
              <a:rPr sz="1200" b="0">
                <a:solidFill>
                  <a:srgbClr val="F8FAFC"/>
                </a:solidFill>
                <a:latin typeface="Courier New"/>
              </a:rPr>
              <a:t>    OPTUNA_OK = True</a:t>
            </a:r>
          </a:p>
          <a:p>
            <a:pPr>
              <a:defRPr sz="1200" b="0">
                <a:solidFill>
                  <a:srgbClr val="F8FAFC"/>
                </a:solidFill>
                <a:latin typeface="Courier New"/>
              </a:defRPr>
            </a:pPr>
            <a:r>
              <a:rPr sz="1200" b="0">
                <a:solidFill>
                  <a:srgbClr val="F8FAFC"/>
                </a:solidFill>
                <a:latin typeface="Courier New"/>
              </a:rPr>
              <a:t>except ImportError:</a:t>
            </a:r>
          </a:p>
          <a:p>
            <a:pPr>
              <a:defRPr sz="1200" b="0">
                <a:solidFill>
                  <a:srgbClr val="F8FAFC"/>
                </a:solidFill>
                <a:latin typeface="Courier New"/>
              </a:defRPr>
            </a:pPr>
            <a:r>
              <a:rPr sz="1200" b="0">
                <a:solidFill>
                  <a:srgbClr val="F8FAFC"/>
                </a:solidFill>
                <a:latin typeface="Courier New"/>
              </a:rPr>
              <a:t>    print('optuna no instalado: `pip install optuna`')</a:t>
            </a:r>
          </a:p>
          <a:p>
            <a:pPr>
              <a:defRPr sz="1200" b="0">
                <a:solidFill>
                  <a:srgbClr val="F8FAFC"/>
                </a:solidFill>
                <a:latin typeface="Courier New"/>
              </a:defRPr>
            </a:pPr>
            <a:r>
              <a:rPr sz="1200" b="0">
                <a:solidFill>
                  <a:srgbClr val="F8FAFC"/>
                </a:solidFill>
                <a:latin typeface="Courier New"/>
              </a:rPr>
              <a:t>    OPTUNA_OK = False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058 — Optuna y HPO bayesiano dedicado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Objective básico: tunear LogisticRegression(C, penalty) y RandomForest(n_estimators, max_depth) con TPE.</a:t>
            </a:r>
          </a:p>
          <a:p>
            <a:pPr>
              <a:spcAft>
                <a:spcPts val="800"/>
              </a:spcAft>
              <a:defRPr sz="1400" b="0">
                <a:solidFill>
                  <a:srgbClr val="0F172A"/>
                </a:solidFill>
                <a:latin typeface="Segoe UI"/>
              </a:defRPr>
            </a:pPr>
            <a:r>
              <a:rPr sz="1400" b="0">
                <a:solidFill>
                  <a:srgbClr val="0F172A"/>
                </a:solidFill>
                <a:latin typeface="Segoe UI"/>
              </a:rPr>
              <a:t>• Search space compuesto: hiperparámetros condicionales (e.g., solver=liblinear solo permite ciertos penalty).</a:t>
            </a:r>
          </a:p>
          <a:p>
            <a:pPr>
              <a:spcAft>
                <a:spcPts val="800"/>
              </a:spcAft>
              <a:defRPr sz="1400" b="0">
                <a:solidFill>
                  <a:srgbClr val="0F172A"/>
                </a:solidFill>
                <a:latin typeface="Segoe UI"/>
              </a:defRPr>
            </a:pPr>
            <a:r>
              <a:rPr sz="1400" b="0">
                <a:solidFill>
                  <a:srgbClr val="0F172A"/>
                </a:solidFill>
                <a:latin typeface="Segoe UI"/>
              </a:rPr>
              <a:t>• Pruning en XGBoost: usar XGBoostPruningCallback que reporta validación por boosting round → mata trials malos.</a:t>
            </a:r>
          </a:p>
          <a:p>
            <a:pPr>
              <a:spcAft>
                <a:spcPts val="800"/>
              </a:spcAft>
              <a:defRPr sz="1400" b="0">
                <a:solidFill>
                  <a:srgbClr val="0F172A"/>
                </a:solidFill>
                <a:latin typeface="Segoe UI"/>
              </a:defRPr>
            </a:pPr>
            <a:r>
              <a:rPr sz="1400" b="0">
                <a:solidFill>
                  <a:srgbClr val="0F172A"/>
                </a:solidFill>
                <a:latin typeface="Segoe UI"/>
              </a:rPr>
              <a:t>• Persistencia: optuna.create_study(study_name='exp1', storage='sqlite:///opt.db', load_if_exists=True).</a:t>
            </a:r>
          </a:p>
          <a:p>
            <a:pPr>
              <a:spcAft>
                <a:spcPts val="800"/>
              </a:spcAft>
              <a:defRPr sz="1400" b="0">
                <a:solidFill>
                  <a:srgbClr val="0F172A"/>
                </a:solidFill>
                <a:latin typeface="Segoe UI"/>
              </a:defRPr>
            </a:pPr>
            <a:r>
              <a:rPr sz="1400" b="0">
                <a:solidFill>
                  <a:srgbClr val="0F172A"/>
                </a:solidFill>
                <a:latin typeface="Segoe UI"/>
              </a:rPr>
              <a:t>• Multi-objective: maximizar accuracy AND minimizar inference time; obtener Pareto front con optuna.create_study(directions=['maximize', 'minimize']).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Espacio: n_estimators, max_depth, lr, subsample, colsample_bytree, reg_alpha, reg_lambda.</a:t>
            </a:r>
          </a:p>
          <a:p>
            <a:pPr>
              <a:spcAft>
                <a:spcPts val="800"/>
              </a:spcAft>
              <a:defRPr sz="1500" b="0">
                <a:solidFill>
                  <a:srgbClr val="0F172A"/>
                </a:solidFill>
                <a:latin typeface="Segoe UI"/>
              </a:defRPr>
            </a:pPr>
            <a:r>
              <a:rPr sz="1500" b="0">
                <a:solidFill>
                  <a:srgbClr val="0F172A"/>
                </a:solidFill>
                <a:latin typeface="Segoe UI"/>
              </a:rPr>
              <a:t>• 100 trials con TPE + Hyperband pruning.</a:t>
            </a:r>
          </a:p>
          <a:p>
            <a:pPr>
              <a:spcAft>
                <a:spcPts val="800"/>
              </a:spcAft>
              <a:defRPr sz="1500" b="0">
                <a:solidFill>
                  <a:srgbClr val="0F172A"/>
                </a:solidFill>
                <a:latin typeface="Segoe UI"/>
              </a:defRPr>
            </a:pPr>
            <a:r>
              <a:rPr sz="1500" b="0">
                <a:solidFill>
                  <a:srgbClr val="0F172A"/>
                </a:solidFill>
                <a:latin typeface="Segoe UI"/>
              </a:rPr>
              <a:t>• Reportar best_params, best_value, plot history + importances.</a:t>
            </a:r>
          </a:p>
          <a:p>
            <a:pPr>
              <a:spcAft>
                <a:spcPts val="800"/>
              </a:spcAft>
              <a:defRPr sz="1500" b="0">
                <a:solidFill>
                  <a:srgbClr val="0F172A"/>
                </a:solidFill>
                <a:latin typeface="Segoe UI"/>
              </a:defRPr>
            </a:pPr>
            <a:r>
              <a:rPr sz="1500" b="0">
                <a:solidFill>
                  <a:srgbClr val="0F172A"/>
                </a:solidFill>
                <a:latin typeface="Segoe UI"/>
              </a:rPr>
              <a:t>• Comparar contra RandomizedSearchCV(50 trials).</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059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059 — Launch, monitoreo y mantenimiento de modelos</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059 — Launch, monitoreo y mantenimiento de modelos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2 § Launch, Monitor, and Maintain Your System. ·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que entrenar el modelo es la mitad del trabajo: el resto es ponerlo en producción de forma segura, monitorearlo para detectar degradación (data drift, model drift) y mantenerlo vivo con un ciclo de retraining. Además, documentar el modelo con una Model Card para que terceros (compliance, negocio, usuarios) sepan qué hace, dónde falla y qué no hay que hacerle.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Diseñar un pipeline de deploy mínimo (serialización con joblib, servicio detrás de una API, versionado del artefacto).</a:t>
            </a:r>
          </a:p>
          <a:p>
            <a:pPr>
              <a:spcAft>
                <a:spcPts val="800"/>
              </a:spcAft>
              <a:defRPr sz="1400" b="0">
                <a:solidFill>
                  <a:srgbClr val="0F172A"/>
                </a:solidFill>
                <a:latin typeface="Segoe UI"/>
              </a:defRPr>
            </a:pPr>
            <a:r>
              <a:rPr sz="1400" b="0">
                <a:solidFill>
                  <a:srgbClr val="0F172A"/>
                </a:solidFill>
                <a:latin typeface="Segoe UI"/>
              </a:rPr>
              <a:t>• Distinguir data drift de model drift y elegir métricas para cada uno (PSI, KS, accuracy en holdout móvil).</a:t>
            </a:r>
          </a:p>
          <a:p>
            <a:pPr>
              <a:spcAft>
                <a:spcPts val="800"/>
              </a:spcAft>
              <a:defRPr sz="1400" b="0">
                <a:solidFill>
                  <a:srgbClr val="0F172A"/>
                </a:solidFill>
                <a:latin typeface="Segoe UI"/>
              </a:defRPr>
            </a:pPr>
            <a:r>
              <a:rPr sz="1400" b="0">
                <a:solidFill>
                  <a:srgbClr val="0F172A"/>
                </a:solidFill>
                <a:latin typeface="Segoe UI"/>
              </a:rPr>
              <a:t>• Definir un retraining trigger (calendario fijo vs. trigger por drift vs. trigger por caída de KPI de negocio).</a:t>
            </a:r>
          </a:p>
          <a:p>
            <a:pPr>
              <a:spcAft>
                <a:spcPts val="800"/>
              </a:spcAft>
              <a:defRPr sz="1400" b="0">
                <a:solidFill>
                  <a:srgbClr val="0F172A"/>
                </a:solidFill>
                <a:latin typeface="Segoe UI"/>
              </a:defRPr>
            </a:pPr>
            <a:r>
              <a:rPr sz="1400" b="0">
                <a:solidFill>
                  <a:srgbClr val="0F172A"/>
                </a:solidFill>
                <a:latin typeface="Segoe UI"/>
              </a:rPr>
              <a:t>• Comparar estrategias de release (canary, shadow deploy, A/B test) y elegir según riesgo.</a:t>
            </a:r>
          </a:p>
          <a:p>
            <a:pPr>
              <a:spcAft>
                <a:spcPts val="800"/>
              </a:spcAft>
              <a:defRPr sz="1400" b="0">
                <a:solidFill>
                  <a:srgbClr val="0F172A"/>
                </a:solidFill>
                <a:latin typeface="Segoe UI"/>
              </a:defRPr>
            </a:pPr>
            <a:r>
              <a:rPr sz="1400" b="0">
                <a:solidFill>
                  <a:srgbClr val="0F172A"/>
                </a:solidFill>
                <a:latin typeface="Segoe UI"/>
              </a:rPr>
              <a:t>• Redactar una Model Card con secciones mínimas (uso previsto, métricas por subgrupo, limitaciones).</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059 — Launch, monitoreo y mantenimiento de modelos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Pipeline de deploy: joblib.dump, contenedor, endpoint</a:t>
            </a:r>
          </a:p>
          <a:p>
            <a:pPr>
              <a:spcAft>
                <a:spcPts val="1000"/>
              </a:spcAft>
              <a:defRPr sz="1600" b="0">
                <a:solidFill>
                  <a:srgbClr val="0F172A"/>
                </a:solidFill>
                <a:latin typeface="Segoe UI"/>
              </a:defRPr>
            </a:pPr>
            <a:r>
              <a:rPr sz="1600" b="0">
                <a:solidFill>
                  <a:srgbClr val="0F172A"/>
                </a:solidFill>
                <a:latin typeface="Segoe UI"/>
              </a:rPr>
              <a:t>• Data drift (inputs cambian) vs. model drift (performance baja)</a:t>
            </a:r>
          </a:p>
          <a:p>
            <a:pPr>
              <a:spcAft>
                <a:spcPts val="1000"/>
              </a:spcAft>
              <a:defRPr sz="1600" b="0">
                <a:solidFill>
                  <a:srgbClr val="0F172A"/>
                </a:solidFill>
                <a:latin typeface="Segoe UI"/>
              </a:defRPr>
            </a:pPr>
            <a:r>
              <a:rPr sz="1600" b="0">
                <a:solidFill>
                  <a:srgbClr val="0F172A"/>
                </a:solidFill>
                <a:latin typeface="Segoe UI"/>
              </a:rPr>
              <a:t>• Métricas de drift: PSI, KS-test, distancia de Wasserstein</a:t>
            </a:r>
          </a:p>
          <a:p>
            <a:pPr>
              <a:spcAft>
                <a:spcPts val="1000"/>
              </a:spcAft>
              <a:defRPr sz="1600" b="0">
                <a:solidFill>
                  <a:srgbClr val="0F172A"/>
                </a:solidFill>
                <a:latin typeface="Segoe UI"/>
              </a:defRPr>
            </a:pPr>
            <a:r>
              <a:rPr sz="1600" b="0">
                <a:solidFill>
                  <a:srgbClr val="0F172A"/>
                </a:solidFill>
                <a:latin typeface="Segoe UI"/>
              </a:rPr>
              <a:t>• Retraining: calendario, trigger por drift, trigger por KPI</a:t>
            </a:r>
          </a:p>
          <a:p>
            <a:pPr>
              <a:spcAft>
                <a:spcPts val="1000"/>
              </a:spcAft>
              <a:defRPr sz="1600" b="0">
                <a:solidFill>
                  <a:srgbClr val="0F172A"/>
                </a:solidFill>
                <a:latin typeface="Segoe UI"/>
              </a:defRPr>
            </a:pPr>
            <a:r>
              <a:rPr sz="1600" b="0">
                <a:solidFill>
                  <a:srgbClr val="0F172A"/>
                </a:solidFill>
                <a:latin typeface="Segoe UI"/>
              </a:rPr>
              <a:t>• Estrategias de release: shadow, canary, A/B</a:t>
            </a:r>
          </a:p>
          <a:p>
            <a:pPr>
              <a:spcAft>
                <a:spcPts val="1000"/>
              </a:spcAft>
              <a:defRPr sz="1600" b="0">
                <a:solidFill>
                  <a:srgbClr val="0F172A"/>
                </a:solidFill>
                <a:latin typeface="Segoe UI"/>
              </a:defRPr>
            </a:pPr>
            <a:r>
              <a:rPr sz="1600" b="0">
                <a:solidFill>
                  <a:srgbClr val="0F172A"/>
                </a:solidFill>
                <a:latin typeface="Segoe UI"/>
              </a:rPr>
              <a:t>• Alertas y observabilidad</a:t>
            </a:r>
          </a:p>
          <a:p>
            <a:pPr>
              <a:spcAft>
                <a:spcPts val="1000"/>
              </a:spcAft>
              <a:defRPr sz="1600" b="0">
                <a:solidFill>
                  <a:srgbClr val="0F172A"/>
                </a:solidFill>
                <a:latin typeface="Segoe UI"/>
              </a:defRPr>
            </a:pPr>
            <a:r>
              <a:rPr sz="1600" b="0">
                <a:solidFill>
                  <a:srgbClr val="0F172A"/>
                </a:solidFill>
                <a:latin typeface="Segoe UI"/>
              </a:rPr>
              <a:t>• Model Cards y Datasheets</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059 — Launch, monitoreo y mantenimiento de modelos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Entrenar es la mitad: el resto es serializar, detectar data drift (PSI, KS-test), disparar retraining y comparar releases (shadow deploy). Simulamos todo de forma ejecutable. Requiere: numpy, pandas, scipy, scikit-learn, joblib,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joblib, tempfile, os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scipy.stats import ks_2samp</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059 — Launch, monitoreo y mantenimiento de modelos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Serializar y cargar.</a:t>
            </a:r>
          </a:p>
          <a:p>
            <a:pPr>
              <a:spcAft>
                <a:spcPts val="800"/>
              </a:spcAft>
              <a:defRPr sz="1400" b="0">
                <a:solidFill>
                  <a:srgbClr val="0F172A"/>
                </a:solidFill>
                <a:latin typeface="Segoe UI"/>
              </a:defRPr>
            </a:pPr>
            <a:r>
              <a:rPr sz="1400" b="0">
                <a:solidFill>
                  <a:srgbClr val="0F172A"/>
                </a:solidFill>
                <a:latin typeface="Segoe UI"/>
              </a:rPr>
              <a:t>• Detectar data drift con PSI.</a:t>
            </a:r>
          </a:p>
          <a:p>
            <a:pPr>
              <a:spcAft>
                <a:spcPts val="800"/>
              </a:spcAft>
              <a:defRPr sz="1400" b="0">
                <a:solidFill>
                  <a:srgbClr val="0F172A"/>
                </a:solidFill>
                <a:latin typeface="Segoe UI"/>
              </a:defRPr>
            </a:pPr>
            <a:r>
              <a:rPr sz="1400" b="0">
                <a:solidFill>
                  <a:srgbClr val="0F172A"/>
                </a:solidFill>
                <a:latin typeface="Segoe UI"/>
              </a:rPr>
              <a:t>• KS-test para drift.</a:t>
            </a:r>
          </a:p>
          <a:p>
            <a:pPr>
              <a:spcAft>
                <a:spcPts val="800"/>
              </a:spcAft>
              <a:defRPr sz="1400" b="0">
                <a:solidFill>
                  <a:srgbClr val="0F172A"/>
                </a:solidFill>
                <a:latin typeface="Segoe UI"/>
              </a:defRPr>
            </a:pPr>
            <a:r>
              <a:rPr sz="1400" b="0">
                <a:solidFill>
                  <a:srgbClr val="0F172A"/>
                </a:solidFill>
                <a:latin typeface="Segoe UI"/>
              </a:rPr>
              <a:t>• Simular shadow deploy.</a:t>
            </a:r>
          </a:p>
          <a:p>
            <a:pPr>
              <a:spcAft>
                <a:spcPts val="800"/>
              </a:spcAft>
              <a:defRPr sz="1400" b="0">
                <a:solidFill>
                  <a:srgbClr val="0F172A"/>
                </a:solidFill>
                <a:latin typeface="Segoe UI"/>
              </a:defRPr>
            </a:pPr>
            <a:r>
              <a:rPr sz="1400" b="0">
                <a:solidFill>
                  <a:srgbClr val="0F172A"/>
                </a:solidFill>
                <a:latin typeface="Segoe UI"/>
              </a:rPr>
              <a:t>• Redactar una Model Card.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entrene un clasificador, (b) lo serialice con joblib, (c) simule un mes de tráfico productivo con una feature drifteada, (d) calcule PSI por feature, (e) dispare una alerta si PSI &gt; 0.25, (f) entregue un archivo MODEL_CARD.md completo en la carpeta del homework.</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060 — Model Cards y Responsible ML</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060 — Model Cards y Responsible ML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Mitchell et al. (2018) Model Cards for Model Reporting + EU AI Act + NIST AI RMF.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a documentar modelos para producción y auditoría: el Model Card (Mitchell et al. 2018, adoptado por Google y luego por la industria) — ficha estandarizada con: propósito, métricas, limitaciones, distribución de datos, riesgos. Conocer el EU AI Act (en vigor 2025-2026), NIST AI RMF, y las plantillas modernas (HuggingFace model cards, Datasheets for Datasets).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Model Card completo con las 9 secciones de Mitchell et al.</a:t>
            </a:r>
          </a:p>
          <a:p>
            <a:pPr>
              <a:spcAft>
                <a:spcPts val="800"/>
              </a:spcAft>
              <a:defRPr sz="1400" b="0">
                <a:solidFill>
                  <a:srgbClr val="0F172A"/>
                </a:solidFill>
                <a:latin typeface="Segoe UI"/>
              </a:defRPr>
            </a:pPr>
            <a:r>
              <a:rPr sz="1400" b="0">
                <a:solidFill>
                  <a:srgbClr val="0F172A"/>
                </a:solidFill>
                <a:latin typeface="Segoe UI"/>
              </a:rPr>
              <a:t>• Distinguir un Model Card (sobre el modelo) de un Datasheet (sobre el dataset, Gebru et al. 2018).</a:t>
            </a:r>
          </a:p>
          <a:p>
            <a:pPr>
              <a:spcAft>
                <a:spcPts val="800"/>
              </a:spcAft>
              <a:defRPr sz="1400" b="0">
                <a:solidFill>
                  <a:srgbClr val="0F172A"/>
                </a:solidFill>
                <a:latin typeface="Segoe UI"/>
              </a:defRPr>
            </a:pPr>
            <a:r>
              <a:rPr sz="1400" b="0">
                <a:solidFill>
                  <a:srgbClr val="0F172A"/>
                </a:solidFill>
                <a:latin typeface="Segoe UI"/>
              </a:rPr>
              <a:t>• Reportar métricas por subgrupo (no solo global) — clave en fairness.</a:t>
            </a:r>
          </a:p>
          <a:p>
            <a:pPr>
              <a:spcAft>
                <a:spcPts val="800"/>
              </a:spcAft>
              <a:defRPr sz="1400" b="0">
                <a:solidFill>
                  <a:srgbClr val="0F172A"/>
                </a:solidFill>
                <a:latin typeface="Segoe UI"/>
              </a:defRPr>
            </a:pPr>
            <a:r>
              <a:rPr sz="1400" b="0">
                <a:solidFill>
                  <a:srgbClr val="0F172A"/>
                </a:solidFill>
                <a:latin typeface="Segoe UI"/>
              </a:rPr>
              <a:t>• Reconocer los 4 tiers de riesgo del EU AI Act (prohibido, alto, transparencia, mínimo).</a:t>
            </a:r>
          </a:p>
          <a:p>
            <a:pPr>
              <a:spcAft>
                <a:spcPts val="800"/>
              </a:spcAft>
              <a:defRPr sz="1400" b="0">
                <a:solidFill>
                  <a:srgbClr val="0F172A"/>
                </a:solidFill>
                <a:latin typeface="Segoe UI"/>
              </a:defRPr>
            </a:pPr>
            <a:r>
              <a:rPr sz="1400" b="0">
                <a:solidFill>
                  <a:srgbClr val="0F172A"/>
                </a:solidFill>
                <a:latin typeface="Segoe UI"/>
              </a:rPr>
              <a:t>• Aplicar el NIST AI RMF (Map, Measure, Manage, Govern) en un proyecto real.</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060 — Model Cards y Responsible ML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Secciones de un Model Card: Model Details, Intended Use, Factors, Metrics, Evaluation Data, Training Data, Quant Analyses, Ethical Considerations, Caveats.</a:t>
            </a:r>
          </a:p>
          <a:p>
            <a:pPr>
              <a:spcAft>
                <a:spcPts val="1000"/>
              </a:spcAft>
              <a:defRPr sz="1600" b="0">
                <a:solidFill>
                  <a:srgbClr val="0F172A"/>
                </a:solidFill>
                <a:latin typeface="Segoe UI"/>
              </a:defRPr>
            </a:pPr>
            <a:r>
              <a:rPr sz="1600" b="0">
                <a:solidFill>
                  <a:srgbClr val="0F172A"/>
                </a:solidFill>
                <a:latin typeface="Segoe UI"/>
              </a:rPr>
              <a:t>• Métricas por subgrupo (sexo, edad, raza, geografía).</a:t>
            </a:r>
          </a:p>
          <a:p>
            <a:pPr>
              <a:spcAft>
                <a:spcPts val="1000"/>
              </a:spcAft>
              <a:defRPr sz="1600" b="0">
                <a:solidFill>
                  <a:srgbClr val="0F172A"/>
                </a:solidFill>
                <a:latin typeface="Segoe UI"/>
              </a:defRPr>
            </a:pPr>
            <a:r>
              <a:rPr sz="1600" b="0">
                <a:solidFill>
                  <a:srgbClr val="0F172A"/>
                </a:solidFill>
                <a:latin typeface="Segoe UI"/>
              </a:rPr>
              <a:t>• HuggingFace Model Card auto-generation.</a:t>
            </a:r>
          </a:p>
          <a:p>
            <a:pPr>
              <a:spcAft>
                <a:spcPts val="1000"/>
              </a:spcAft>
              <a:defRPr sz="1600" b="0">
                <a:solidFill>
                  <a:srgbClr val="0F172A"/>
                </a:solidFill>
                <a:latin typeface="Segoe UI"/>
              </a:defRPr>
            </a:pPr>
            <a:r>
              <a:rPr sz="1600" b="0">
                <a:solidFill>
                  <a:srgbClr val="0F172A"/>
                </a:solidFill>
                <a:latin typeface="Segoe UI"/>
              </a:rPr>
              <a:t>• EU AI Act: clasificación de riesgo, obligaciones por tier.</a:t>
            </a:r>
          </a:p>
          <a:p>
            <a:pPr>
              <a:spcAft>
                <a:spcPts val="1000"/>
              </a:spcAft>
              <a:defRPr sz="1600" b="0">
                <a:solidFill>
                  <a:srgbClr val="0F172A"/>
                </a:solidFill>
                <a:latin typeface="Segoe UI"/>
              </a:defRPr>
            </a:pPr>
            <a:r>
              <a:rPr sz="1600" b="0">
                <a:solidFill>
                  <a:srgbClr val="0F172A"/>
                </a:solidFill>
                <a:latin typeface="Segoe UI"/>
              </a:rPr>
              <a:t>• NIST AI RMF: framework de gestión.</a:t>
            </a:r>
          </a:p>
          <a:p>
            <a:pPr>
              <a:spcAft>
                <a:spcPts val="1000"/>
              </a:spcAft>
              <a:defRPr sz="1600" b="0">
                <a:solidFill>
                  <a:srgbClr val="0F172A"/>
                </a:solidFill>
                <a:latin typeface="Segoe UI"/>
              </a:defRPr>
            </a:pPr>
            <a:r>
              <a:rPr sz="1600" b="0">
                <a:solidFill>
                  <a:srgbClr val="0F172A"/>
                </a:solidFill>
                <a:latin typeface="Segoe UI"/>
              </a:rPr>
              <a:t>• ISO/IEC 42001 — sistema de gestión de IA.</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060 — Model Cards y Responsible ML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un ModelCard dataclass al estilo Mitchell et al. (2019) y lo rellenamos automáticamente para un LogReg entrenado sobre datos sintéticos con un atributo protegido binario.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json</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from dataclasses import dataclass, field, asdict</a:t>
            </a:r>
          </a:p>
          <a:p>
            <a:pPr>
              <a:defRPr sz="1200" b="0">
                <a:solidFill>
                  <a:srgbClr val="F8FAFC"/>
                </a:solidFill>
                <a:latin typeface="Courier New"/>
              </a:defRPr>
            </a:pPr>
            <a:r>
              <a:rPr sz="1200" b="0">
                <a:solidFill>
                  <a:srgbClr val="F8FAFC"/>
                </a:solidFill>
                <a:latin typeface="Courier New"/>
              </a:rPr>
              <a:t>from typing import Any</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sklearn.metrics import accuracy_score, confusion_matrix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060 — Model Cards y Responsible ML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Model Card básico: para un Random Forest entrenado en California Housing, llenar las 9 secciones.</a:t>
            </a:r>
          </a:p>
          <a:p>
            <a:pPr>
              <a:spcAft>
                <a:spcPts val="800"/>
              </a:spcAft>
              <a:defRPr sz="1400" b="0">
                <a:solidFill>
                  <a:srgbClr val="0F172A"/>
                </a:solidFill>
                <a:latin typeface="Segoe UI"/>
              </a:defRPr>
            </a:pPr>
            <a:r>
              <a:rPr sz="1400" b="0">
                <a:solidFill>
                  <a:srgbClr val="0F172A"/>
                </a:solidFill>
                <a:latin typeface="Segoe UI"/>
              </a:rPr>
              <a:t>• Subgroup metrics: para un clasificador de credit-g, reportar accuracy y FPR por sex y age_group.</a:t>
            </a:r>
          </a:p>
          <a:p>
            <a:pPr>
              <a:spcAft>
                <a:spcPts val="800"/>
              </a:spcAft>
              <a:defRPr sz="1400" b="0">
                <a:solidFill>
                  <a:srgbClr val="0F172A"/>
                </a:solidFill>
                <a:latin typeface="Segoe UI"/>
              </a:defRPr>
            </a:pPr>
            <a:r>
              <a:rPr sz="1400" b="0">
                <a:solidFill>
                  <a:srgbClr val="0F172A"/>
                </a:solidFill>
                <a:latin typeface="Segoe UI"/>
              </a:rPr>
              <a:t>• Risk classification (EU AI Act): para 5 use cases (recomendación de películas, score crediticio, recurso humano selection, marketing email, detector de spam), clasificar el tier.</a:t>
            </a:r>
          </a:p>
          <a:p>
            <a:pPr>
              <a:spcAft>
                <a:spcPts val="800"/>
              </a:spcAft>
              <a:defRPr sz="1400" b="0">
                <a:solidFill>
                  <a:srgbClr val="0F172A"/>
                </a:solidFill>
                <a:latin typeface="Segoe UI"/>
              </a:defRPr>
            </a:pPr>
            <a:r>
              <a:rPr sz="1400" b="0">
                <a:solidFill>
                  <a:srgbClr val="0F172A"/>
                </a:solidFill>
                <a:latin typeface="Segoe UI"/>
              </a:rPr>
              <a:t>• HuggingFace Card: usar el template de HF; subirla a un repo público si tenés modelo en Hub.</a:t>
            </a:r>
          </a:p>
          <a:p>
            <a:pPr>
              <a:spcAft>
                <a:spcPts val="800"/>
              </a:spcAft>
              <a:defRPr sz="1400" b="0">
                <a:solidFill>
                  <a:srgbClr val="0F172A"/>
                </a:solidFill>
                <a:latin typeface="Segoe UI"/>
              </a:defRPr>
            </a:pPr>
            <a:r>
              <a:rPr sz="1400" b="0">
                <a:solidFill>
                  <a:srgbClr val="0F172A"/>
                </a:solidFill>
                <a:latin typeface="Segoe UI"/>
              </a:rPr>
              <a:t>• NIST RMF: para un proyecto propio, llenar las 4 categorías (Map: contexto, Measure: métricas, Manage: mitigaciones, Govern: ownership).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Las 9 secciones de Mitchell et al. llenadas con datos reales.</a:t>
            </a:r>
          </a:p>
          <a:p>
            <a:pPr>
              <a:spcAft>
                <a:spcPts val="800"/>
              </a:spcAft>
              <a:defRPr sz="1500" b="0">
                <a:solidFill>
                  <a:srgbClr val="0F172A"/>
                </a:solidFill>
                <a:latin typeface="Segoe UI"/>
              </a:defRPr>
            </a:pPr>
            <a:r>
              <a:rPr sz="1500" b="0">
                <a:solidFill>
                  <a:srgbClr val="0F172A"/>
                </a:solidFill>
                <a:latin typeface="Segoe UI"/>
              </a:rPr>
              <a:t>• Métricas por al menos 2 subgrupos demográficos.</a:t>
            </a:r>
          </a:p>
          <a:p>
            <a:pPr>
              <a:spcAft>
                <a:spcPts val="800"/>
              </a:spcAft>
              <a:defRPr sz="1500" b="0">
                <a:solidFill>
                  <a:srgbClr val="0F172A"/>
                </a:solidFill>
                <a:latin typeface="Segoe UI"/>
              </a:defRPr>
            </a:pPr>
            <a:r>
              <a:rPr sz="1500" b="0">
                <a:solidFill>
                  <a:srgbClr val="0F172A"/>
                </a:solidFill>
                <a:latin typeface="Segoe UI"/>
              </a:rPr>
              <a:t>• Sección "Ethical Considerations" con ≥ 3 riesgos identificados y mitigaciones.</a:t>
            </a:r>
          </a:p>
          <a:p>
            <a:pPr>
              <a:spcAft>
                <a:spcPts val="800"/>
              </a:spcAft>
              <a:defRPr sz="1500" b="0">
                <a:solidFill>
                  <a:srgbClr val="0F172A"/>
                </a:solidFill>
                <a:latin typeface="Segoe UI"/>
              </a:defRPr>
            </a:pPr>
            <a:r>
              <a:rPr sz="1500" b="0">
                <a:solidFill>
                  <a:srgbClr val="0F172A"/>
                </a:solidFill>
                <a:latin typeface="Segoe UI"/>
              </a:rPr>
              <a:t>• Sección "Caveats and Recommendations" con limitaciones de validez.</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061 — CRISP-DM como framework metodológico</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061 — CRISP-DM como framework metodológico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CRISP-DM 1.0 spec + Géron cap. 2.  Duración estimada: 50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CRISP-DM (Cross-Industry Standard Process for Data Mining) como esqueleto metodológico para todo proyecto de ML/DS — sus 6 fases, su naturaleza iterativa (no en cascada), y cuándo conviene complementarlo o reemplazarlo por TDSP de Microsoft o por el "ML lifecycle moderno" con MLOps. La idea es dejar de improvisar el orden del trabajo y tener un mapa al que volver cuando un proyecto se trabe.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Enumerar y explicar las 6 fases de CRISP-DM y los entregables típicos de cada una.</a:t>
            </a:r>
          </a:p>
          <a:p>
            <a:pPr>
              <a:spcAft>
                <a:spcPts val="800"/>
              </a:spcAft>
              <a:defRPr sz="1400" b="0">
                <a:solidFill>
                  <a:srgbClr val="0F172A"/>
                </a:solidFill>
                <a:latin typeface="Segoe UI"/>
              </a:defRPr>
            </a:pPr>
            <a:r>
              <a:rPr sz="1400" b="0">
                <a:solidFill>
                  <a:srgbClr val="0F172A"/>
                </a:solidFill>
                <a:latin typeface="Segoe UI"/>
              </a:rPr>
              <a:t>• Identificar la fase actual de un proyecto real y la próxima transición esperada.</a:t>
            </a:r>
          </a:p>
          <a:p>
            <a:pPr>
              <a:spcAft>
                <a:spcPts val="800"/>
              </a:spcAft>
              <a:defRPr sz="1400" b="0">
                <a:solidFill>
                  <a:srgbClr val="0F172A"/>
                </a:solidFill>
                <a:latin typeface="Segoe UI"/>
              </a:defRPr>
            </a:pPr>
            <a:r>
              <a:rPr sz="1400" b="0">
                <a:solidFill>
                  <a:srgbClr val="0F172A"/>
                </a:solidFill>
                <a:latin typeface="Segoe UI"/>
              </a:rPr>
              <a:t>• Definir business success criteria antes de tocar datos, distinguiéndolos de métricas técnicas (accuracy, RMSE).</a:t>
            </a:r>
          </a:p>
          <a:p>
            <a:pPr>
              <a:spcAft>
                <a:spcPts val="800"/>
              </a:spcAft>
              <a:defRPr sz="1400" b="0">
                <a:solidFill>
                  <a:srgbClr val="0F172A"/>
                </a:solidFill>
                <a:latin typeface="Segoe UI"/>
              </a:defRPr>
            </a:pPr>
            <a:r>
              <a:rPr sz="1400" b="0">
                <a:solidFill>
                  <a:srgbClr val="0F172A"/>
                </a:solidFill>
                <a:latin typeface="Segoe UI"/>
              </a:rPr>
              <a:t>• Reconocer iteraciones legítimas (volver de Evaluation a Business Understanding) vs. retrabajo por mala planificación.</a:t>
            </a:r>
          </a:p>
          <a:p>
            <a:pPr>
              <a:spcAft>
                <a:spcPts val="800"/>
              </a:spcAft>
              <a:defRPr sz="1400" b="0">
                <a:solidFill>
                  <a:srgbClr val="0F172A"/>
                </a:solidFill>
                <a:latin typeface="Segoe UI"/>
              </a:defRPr>
            </a:pPr>
            <a:r>
              <a:rPr sz="1400" b="0">
                <a:solidFill>
                  <a:srgbClr val="0F172A"/>
                </a:solidFill>
                <a:latin typeface="Segoe UI"/>
              </a:rPr>
              <a:t>• Comparar CRISP-DM con TDSP y el ML lifecycle moderno y elegir según contexto (PoC, equipo chico, producción seria, MLOps).</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061 — CRISP-DM como framework metodológico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Business Understanding</a:t>
            </a:r>
          </a:p>
          <a:p>
            <a:pPr>
              <a:spcAft>
                <a:spcPts val="1000"/>
              </a:spcAft>
              <a:defRPr sz="1600" b="0">
                <a:solidFill>
                  <a:srgbClr val="0F172A"/>
                </a:solidFill>
                <a:latin typeface="Segoe UI"/>
              </a:defRPr>
            </a:pPr>
            <a:r>
              <a:rPr sz="1600" b="0">
                <a:solidFill>
                  <a:srgbClr val="0F172A"/>
                </a:solidFill>
                <a:latin typeface="Segoe UI"/>
              </a:rPr>
              <a:t>• Data Understanding</a:t>
            </a:r>
          </a:p>
          <a:p>
            <a:pPr>
              <a:spcAft>
                <a:spcPts val="1000"/>
              </a:spcAft>
              <a:defRPr sz="1600" b="0">
                <a:solidFill>
                  <a:srgbClr val="0F172A"/>
                </a:solidFill>
                <a:latin typeface="Segoe UI"/>
              </a:defRPr>
            </a:pPr>
            <a:r>
              <a:rPr sz="1600" b="0">
                <a:solidFill>
                  <a:srgbClr val="0F172A"/>
                </a:solidFill>
                <a:latin typeface="Segoe UI"/>
              </a:rPr>
              <a:t>• Data Preparation</a:t>
            </a:r>
          </a:p>
          <a:p>
            <a:pPr>
              <a:spcAft>
                <a:spcPts val="1000"/>
              </a:spcAft>
              <a:defRPr sz="1600" b="0">
                <a:solidFill>
                  <a:srgbClr val="0F172A"/>
                </a:solidFill>
                <a:latin typeface="Segoe UI"/>
              </a:defRPr>
            </a:pPr>
            <a:r>
              <a:rPr sz="1600" b="0">
                <a:solidFill>
                  <a:srgbClr val="0F172A"/>
                </a:solidFill>
                <a:latin typeface="Segoe UI"/>
              </a:rPr>
              <a:t>• Modeling</a:t>
            </a:r>
          </a:p>
          <a:p>
            <a:pPr>
              <a:spcAft>
                <a:spcPts val="1000"/>
              </a:spcAft>
              <a:defRPr sz="1600" b="0">
                <a:solidFill>
                  <a:srgbClr val="0F172A"/>
                </a:solidFill>
                <a:latin typeface="Segoe UI"/>
              </a:defRPr>
            </a:pPr>
            <a:r>
              <a:rPr sz="1600" b="0">
                <a:solidFill>
                  <a:srgbClr val="0F172A"/>
                </a:solidFill>
                <a:latin typeface="Segoe UI"/>
              </a:rPr>
              <a:t>• Evaluation</a:t>
            </a:r>
          </a:p>
          <a:p>
            <a:pPr>
              <a:spcAft>
                <a:spcPts val="1000"/>
              </a:spcAft>
              <a:defRPr sz="1600" b="0">
                <a:solidFill>
                  <a:srgbClr val="0F172A"/>
                </a:solidFill>
                <a:latin typeface="Segoe UI"/>
              </a:defRPr>
            </a:pPr>
            <a:r>
              <a:rPr sz="1600" b="0">
                <a:solidFill>
                  <a:srgbClr val="0F172A"/>
                </a:solidFill>
                <a:latin typeface="Segoe UI"/>
              </a:rPr>
              <a:t>• Deployment</a:t>
            </a:r>
          </a:p>
          <a:p>
            <a:pPr>
              <a:spcAft>
                <a:spcPts val="1000"/>
              </a:spcAft>
              <a:defRPr sz="1600" b="0">
                <a:solidFill>
                  <a:srgbClr val="0F172A"/>
                </a:solidFill>
                <a:latin typeface="Segoe UI"/>
              </a:defRPr>
            </a:pPr>
            <a:r>
              <a:rPr sz="1600" b="0">
                <a:solidFill>
                  <a:srgbClr val="0F172A"/>
                </a:solidFill>
                <a:latin typeface="Segoe UI"/>
              </a:rPr>
              <a:t>• Iteración + comparación TDSP / ML lifecycle</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061 — CRISP-DM como framework metodológico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Recorremos las 6 fases de CRISP-DM como un mini proyecto end-to-end ejecutable: de los business success criteria al deployment, mostrando que iterar es la norma, no la excepción. Requiere: numpy, pandas, scikit-learn, joblib,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joblib, tempfile, os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sklearn.model_selection import train_test_split, cross_val_score</a:t>
            </a:r>
          </a:p>
          <a:p>
            <a:pPr>
              <a:defRPr sz="1200" b="0">
                <a:solidFill>
                  <a:srgbClr val="F8FAFC"/>
                </a:solidFill>
                <a:latin typeface="Courier New"/>
              </a:defRPr>
            </a:pPr>
            <a:r>
              <a:rPr sz="1200" b="0">
                <a:solidFill>
                  <a:srgbClr val="F8FAFC"/>
                </a:solidFill>
                <a:latin typeface="Courier New"/>
              </a:rPr>
              <a:t>from sklearn.pipeline import Pipeline</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from sklearn.metrics import recall_score, precision_score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061 — CRISP-DM como framework metodológico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la fase.</a:t>
            </a:r>
          </a:p>
          <a:p>
            <a:pPr>
              <a:spcAft>
                <a:spcPts val="800"/>
              </a:spcAft>
              <a:defRPr sz="1400" b="0">
                <a:solidFill>
                  <a:srgbClr val="0F172A"/>
                </a:solidFill>
                <a:latin typeface="Segoe UI"/>
              </a:defRPr>
            </a:pPr>
            <a:r>
              <a:rPr sz="1400" b="0">
                <a:solidFill>
                  <a:srgbClr val="0F172A"/>
                </a:solidFill>
                <a:latin typeface="Segoe UI"/>
              </a:rPr>
              <a:t>• Business success criteria.</a:t>
            </a:r>
          </a:p>
          <a:p>
            <a:pPr>
              <a:spcAft>
                <a:spcPts val="800"/>
              </a:spcAft>
              <a:defRPr sz="1400" b="0">
                <a:solidFill>
                  <a:srgbClr val="0F172A"/>
                </a:solidFill>
                <a:latin typeface="Segoe UI"/>
              </a:defRPr>
            </a:pPr>
            <a:r>
              <a:rPr sz="1400" b="0">
                <a:solidFill>
                  <a:srgbClr val="0F172A"/>
                </a:solidFill>
                <a:latin typeface="Segoe UI"/>
              </a:rPr>
              <a:t>• Aplicar las 6 fases a un caso real.</a:t>
            </a:r>
          </a:p>
          <a:p>
            <a:pPr>
              <a:spcAft>
                <a:spcPts val="800"/>
              </a:spcAft>
              <a:defRPr sz="1400" b="0">
                <a:solidFill>
                  <a:srgbClr val="0F172A"/>
                </a:solidFill>
                <a:latin typeface="Segoe UI"/>
              </a:defRPr>
            </a:pPr>
            <a:r>
              <a:rPr sz="1400" b="0">
                <a:solidFill>
                  <a:srgbClr val="0F172A"/>
                </a:solidFill>
                <a:latin typeface="Segoe UI"/>
              </a:rPr>
              <a:t>• Comparar frameworks.</a:t>
            </a:r>
          </a:p>
          <a:p>
            <a:pPr>
              <a:spcAft>
                <a:spcPts val="800"/>
              </a:spcAft>
              <a:defRPr sz="1400" b="0">
                <a:solidFill>
                  <a:srgbClr val="0F172A"/>
                </a:solidFill>
                <a:latin typeface="Segoe UI"/>
              </a:defRPr>
            </a:pPr>
            <a:r>
              <a:rPr sz="1400" b="0">
                <a:solidFill>
                  <a:srgbClr val="0F172A"/>
                </a:solidFill>
                <a:latin typeface="Segoe UI"/>
              </a:rPr>
              <a:t>• Detectar iteración legítima vs retrabajo.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Documento Markdown (1–2 páginas) tomando un proyecto propio (real o sintético) y desarrollando las 6 fases de CRISP-DM con: (a) objetivo de negocio en una frase; (b) 2 business success criteria cuantificables; (c) descripción mínima de datos disponibles; (d) plan de data prep en bullets; (e) 2 algoritmos candidatos justificados; (f) cómo se evaluará contra los criterios de (b); (g) cómo se desplegaría y monitorearía.</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062 — Clasificación binaria con MNIST</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062 — Clasificación binaria con MNIST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3.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arme su primer clasificador binario "de verdad" sobre MNIST (¿este dígito es un 5 o no?), entrenando un SGDClassifier, evaluándolo con cross_val_score sobre StratifiedKFold, y entendiendo por qué la accuracy sola miente cuando las clases están desbalanceadas.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MNIST con fetch_openml('mnist_784', as_frame=False) y separar train/test respetando el split original (60k/10k).</a:t>
            </a:r>
          </a:p>
          <a:p>
            <a:pPr>
              <a:spcAft>
                <a:spcPts val="800"/>
              </a:spcAft>
              <a:defRPr sz="1400" b="0">
                <a:solidFill>
                  <a:srgbClr val="0F172A"/>
                </a:solidFill>
                <a:latin typeface="Segoe UI"/>
              </a:defRPr>
            </a:pPr>
            <a:r>
              <a:rPr sz="1400" b="0">
                <a:solidFill>
                  <a:srgbClr val="0F172A"/>
                </a:solidFill>
                <a:latin typeface="Segoe UI"/>
              </a:rPr>
              <a:t>• Construir un target binario y_train_5 = (y_train == 5) y entrenar un SGDClassifier sobre él.</a:t>
            </a:r>
          </a:p>
          <a:p>
            <a:pPr>
              <a:spcAft>
                <a:spcPts val="800"/>
              </a:spcAft>
              <a:defRPr sz="1400" b="0">
                <a:solidFill>
                  <a:srgbClr val="0F172A"/>
                </a:solidFill>
                <a:latin typeface="Segoe UI"/>
              </a:defRPr>
            </a:pPr>
            <a:r>
              <a:rPr sz="1400" b="0">
                <a:solidFill>
                  <a:srgbClr val="0F172A"/>
                </a:solidFill>
                <a:latin typeface="Segoe UI"/>
              </a:rPr>
              <a:t>• Predecir y obtener scores con predict() y decision_function(), entendiendo la diferencia entre clase y score continuo.</a:t>
            </a:r>
          </a:p>
          <a:p>
            <a:pPr>
              <a:spcAft>
                <a:spcPts val="800"/>
              </a:spcAft>
              <a:defRPr sz="1400" b="0">
                <a:solidFill>
                  <a:srgbClr val="0F172A"/>
                </a:solidFill>
                <a:latin typeface="Segoe UI"/>
              </a:defRPr>
            </a:pPr>
            <a:r>
              <a:rPr sz="1400" b="0">
                <a:solidFill>
                  <a:srgbClr val="0F172A"/>
                </a:solidFill>
                <a:latin typeface="Segoe UI"/>
              </a:rPr>
              <a:t>• Validar con cross_val_score sobre StratifiedKFold y leer los 3 valores que devuelve.</a:t>
            </a:r>
          </a:p>
          <a:p>
            <a:pPr>
              <a:spcAft>
                <a:spcPts val="800"/>
              </a:spcAft>
              <a:defRPr sz="1400" b="0">
                <a:solidFill>
                  <a:srgbClr val="0F172A"/>
                </a:solidFill>
                <a:latin typeface="Segoe UI"/>
              </a:defRPr>
            </a:pPr>
            <a:r>
              <a:rPr sz="1400" b="0">
                <a:solidFill>
                  <a:srgbClr val="0F172A"/>
                </a:solidFill>
                <a:latin typeface="Segoe UI"/>
              </a:rPr>
              <a:t>• Detectar el accuracy paradox: comparar contra un clasificador trivial "nunca-5" y ver que también saca ~90%.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062 — Clasificación binaria con MNIST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fetch_openml('mnist_784')</a:t>
            </a:r>
          </a:p>
          <a:p>
            <a:pPr>
              <a:spcAft>
                <a:spcPts val="1000"/>
              </a:spcAft>
              <a:defRPr sz="1600" b="0">
                <a:solidFill>
                  <a:srgbClr val="0F172A"/>
                </a:solidFill>
                <a:latin typeface="Segoe UI"/>
              </a:defRPr>
            </a:pPr>
            <a:r>
              <a:rPr sz="1600" b="0">
                <a:solidFill>
                  <a:srgbClr val="0F172A"/>
                </a:solidFill>
                <a:latin typeface="Segoe UI"/>
              </a:rPr>
              <a:t>• Target binario 5 vs no-5</a:t>
            </a:r>
          </a:p>
          <a:p>
            <a:pPr>
              <a:spcAft>
                <a:spcPts val="1000"/>
              </a:spcAft>
              <a:defRPr sz="1600" b="0">
                <a:solidFill>
                  <a:srgbClr val="0F172A"/>
                </a:solidFill>
                <a:latin typeface="Segoe UI"/>
              </a:defRPr>
            </a:pPr>
            <a:r>
              <a:rPr sz="1600" b="0">
                <a:solidFill>
                  <a:srgbClr val="0F172A"/>
                </a:solidFill>
                <a:latin typeface="Segoe UI"/>
              </a:rPr>
              <a:t>• SGDClassifier(random_state=42)</a:t>
            </a:r>
          </a:p>
          <a:p>
            <a:pPr>
              <a:spcAft>
                <a:spcPts val="1000"/>
              </a:spcAft>
              <a:defRPr sz="1600" b="0">
                <a:solidFill>
                  <a:srgbClr val="0F172A"/>
                </a:solidFill>
                <a:latin typeface="Segoe UI"/>
              </a:defRPr>
            </a:pPr>
            <a:r>
              <a:rPr sz="1600" b="0">
                <a:solidFill>
                  <a:srgbClr val="0F172A"/>
                </a:solidFill>
                <a:latin typeface="Segoe UI"/>
              </a:rPr>
              <a:t>• cross_val_score + StratifiedKFold</a:t>
            </a:r>
          </a:p>
          <a:p>
            <a:pPr>
              <a:spcAft>
                <a:spcPts val="1000"/>
              </a:spcAft>
              <a:defRPr sz="1600" b="0">
                <a:solidFill>
                  <a:srgbClr val="0F172A"/>
                </a:solidFill>
                <a:latin typeface="Segoe UI"/>
              </a:defRPr>
            </a:pPr>
            <a:r>
              <a:rPr sz="1600" b="0">
                <a:solidFill>
                  <a:srgbClr val="0F172A"/>
                </a:solidFill>
                <a:latin typeface="Segoe UI"/>
              </a:rPr>
              <a:t>• Accuracy paradox</a:t>
            </a:r>
          </a:p>
          <a:p>
            <a:pPr>
              <a:spcAft>
                <a:spcPts val="1000"/>
              </a:spcAft>
              <a:defRPr sz="1600" b="0">
                <a:solidFill>
                  <a:srgbClr val="0F172A"/>
                </a:solidFill>
                <a:latin typeface="Segoe UI"/>
              </a:defRPr>
            </a:pPr>
            <a:r>
              <a:rPr sz="1600" b="0">
                <a:solidFill>
                  <a:srgbClr val="0F172A"/>
                </a:solidFill>
                <a:latin typeface="Segoe UI"/>
              </a:rPr>
              <a:t>• predict vs decision_function vs predict_proba</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062 — Clasificación binaria con MNIST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clasificador binario "de verdad": ¿este dígito es un 5 o no? Entrenamos un SGDClassifier, validamos con StratifiedKFold y descubrimos por qué la accuracy sola miente cuando las clases están desbalanceadas. &gt; Nota: usamos load_digits() (imágenes 8×8, sin conexión a internet) en lugar de MNIST 28×28, pero el planteo es idéntico. Requiere: numpy,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load_digits</a:t>
            </a:r>
          </a:p>
          <a:p>
            <a:pPr>
              <a:defRPr sz="1200" b="0">
                <a:solidFill>
                  <a:srgbClr val="F8FAFC"/>
                </a:solidFill>
                <a:latin typeface="Courier New"/>
              </a:defRPr>
            </a:pPr>
            <a:r>
              <a:rPr sz="1200" b="0">
                <a:solidFill>
                  <a:srgbClr val="F8FAFC"/>
                </a:solidFill>
                <a:latin typeface="Courier New"/>
              </a:rPr>
              <a:t>from sklearn.linear_model import SGDClassifier</a:t>
            </a:r>
          </a:p>
          <a:p>
            <a:pPr>
              <a:defRPr sz="1200" b="0">
                <a:solidFill>
                  <a:srgbClr val="F8FAFC"/>
                </a:solidFill>
                <a:latin typeface="Courier New"/>
              </a:defRPr>
            </a:pPr>
            <a:r>
              <a:rPr sz="1200" b="0">
                <a:solidFill>
                  <a:srgbClr val="F8FAFC"/>
                </a:solidFill>
                <a:latin typeface="Courier New"/>
              </a:rPr>
              <a:t>from sklearn.model_selection import StratifiedKFold, cross_val_score, train_test_split</a:t>
            </a:r>
          </a:p>
          <a:p>
            <a:pPr>
              <a:defRPr sz="1200" b="0">
                <a:solidFill>
                  <a:srgbClr val="F8FAFC"/>
                </a:solidFill>
                <a:latin typeface="Courier New"/>
              </a:defRPr>
            </a:pPr>
            <a:r>
              <a:rPr sz="1200" b="0">
                <a:solidFill>
                  <a:srgbClr val="F8FAFC"/>
                </a:solidFill>
                <a:latin typeface="Courier New"/>
              </a:rPr>
              <a:t>from sklearn.base import BaseEstimator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digits = load_digits()</a:t>
            </a:r>
          </a:p>
          <a:p>
            <a:pPr>
              <a:defRPr sz="1200" b="0">
                <a:solidFill>
                  <a:srgbClr val="F8FAFC"/>
                </a:solidFill>
                <a:latin typeface="Courier New"/>
              </a:defRPr>
            </a:pPr>
            <a:r>
              <a:rPr sz="1200" b="0">
                <a:solidFill>
                  <a:srgbClr val="F8FAFC"/>
                </a:solidFill>
                <a:latin typeface="Courier New"/>
              </a:rPr>
              <a:t>X, y = digits.data, digits.target</a:t>
            </a:r>
          </a:p>
          <a:p>
            <a:pPr>
              <a:defRPr sz="1200" b="0">
                <a:solidFill>
                  <a:srgbClr val="F8FAFC"/>
                </a:solidFill>
                <a:latin typeface="Courier New"/>
              </a:defRPr>
            </a:pPr>
            <a:r>
              <a:rPr sz="1200" b="0">
                <a:solidFill>
                  <a:srgbClr val="F8FAFC"/>
                </a:solidFill>
                <a:latin typeface="Courier New"/>
              </a:rPr>
              <a:t>print('X', X.shape, 'y', y.shape)</a:t>
            </a:r>
          </a:p>
          <a:p>
            <a:pPr>
              <a:defRPr sz="1200" b="0">
                <a:solidFill>
                  <a:srgbClr val="F8FAFC"/>
                </a:solidFill>
                <a:latin typeface="Courier New"/>
              </a:defRPr>
            </a:pPr>
            <a:r>
              <a:rPr sz="1200" b="0">
                <a:solidFill>
                  <a:srgbClr val="F8FAFC"/>
                </a:solidFill>
                <a:latin typeface="Courier New"/>
              </a:rPr>
              <a:t>print('clases:', np.unique(y))</a:t>
            </a:r>
          </a:p>
          <a:p>
            <a:pPr>
              <a:defRPr sz="1200" b="0">
                <a:solidFill>
                  <a:srgbClr val="F8FAFC"/>
                </a:solidFill>
                <a:latin typeface="Courier New"/>
              </a:defRPr>
            </a:pPr>
            <a:r>
              <a:rPr sz="1200" b="0">
                <a:solidFill>
                  <a:srgbClr val="F8FAFC"/>
                </a:solidFill>
                <a:latin typeface="Courier New"/>
              </a:rPr>
              <a:t>print('proporcion de 5s: {:.3f}'.format((y == 5).mean()))</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062 — Clasificación binaria con MNIST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y explorar.</a:t>
            </a:r>
          </a:p>
          <a:p>
            <a:pPr>
              <a:spcAft>
                <a:spcPts val="800"/>
              </a:spcAft>
              <a:defRPr sz="1400" b="0">
                <a:solidFill>
                  <a:srgbClr val="0F172A"/>
                </a:solidFill>
                <a:latin typeface="Segoe UI"/>
              </a:defRPr>
            </a:pPr>
            <a:r>
              <a:rPr sz="1400" b="0">
                <a:solidFill>
                  <a:srgbClr val="0F172A"/>
                </a:solidFill>
                <a:latin typeface="Segoe UI"/>
              </a:rPr>
              <a:t>• Target binario + SGD.</a:t>
            </a:r>
          </a:p>
          <a:p>
            <a:pPr>
              <a:spcAft>
                <a:spcPts val="800"/>
              </a:spcAft>
              <a:defRPr sz="1400" b="0">
                <a:solidFill>
                  <a:srgbClr val="0F172A"/>
                </a:solidFill>
                <a:latin typeface="Segoe UI"/>
              </a:defRPr>
            </a:pPr>
            <a:r>
              <a:rPr sz="1400" b="0">
                <a:solidFill>
                  <a:srgbClr val="0F172A"/>
                </a:solidFill>
                <a:latin typeface="Segoe UI"/>
              </a:rPr>
              <a:t>• decision_function.</a:t>
            </a:r>
          </a:p>
          <a:p>
            <a:pPr>
              <a:spcAft>
                <a:spcPts val="800"/>
              </a:spcAft>
              <a:defRPr sz="1400" b="0">
                <a:solidFill>
                  <a:srgbClr val="0F172A"/>
                </a:solidFill>
                <a:latin typeface="Segoe UI"/>
              </a:defRPr>
            </a:pPr>
            <a:r>
              <a:rPr sz="1400" b="0">
                <a:solidFill>
                  <a:srgbClr val="0F172A"/>
                </a:solidFill>
                <a:latin typeface="Segoe UI"/>
              </a:rPr>
              <a:t>• Cross-validation.</a:t>
            </a:r>
          </a:p>
          <a:p>
            <a:pPr>
              <a:spcAft>
                <a:spcPts val="800"/>
              </a:spcAft>
              <a:defRPr sz="1400" b="0">
                <a:solidFill>
                  <a:srgbClr val="0F172A"/>
                </a:solidFill>
                <a:latin typeface="Segoe UI"/>
              </a:defRPr>
            </a:pPr>
            <a:r>
              <a:rPr sz="1400" b="0">
                <a:solidFill>
                  <a:srgbClr val="0F172A"/>
                </a:solidFill>
                <a:latin typeface="Segoe UI"/>
              </a:rPr>
              <a:t>• Baseline trampa.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carga MNIST y arma el target 5-vs-no-5; (b) entrena SGDClassifier(random_state=42) sobre el train completo; (c) reporta accuracy 3-fold con cross_val_score; (d) reporta accuracy 3-fold del Never5Classifier; (e) en una celda markdown, explica en 2-3 líneas por qué ambos modelos están "cerca" en accuracy y por qué eso no significa que sean equivalentes.</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063 — Métricas: confusion matrix, precision, recall, F1</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063 — Métricas: confusion matrix, precision, recall, F1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3.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de mirar accuracy como métrica única y aprenda a leer una confusion matrix, a elegir entre precision, recall, F1 o F-beta según el costo de los errores, y a interpretar classification_report clase por clase. En particular, entender por qué en problemas desbalanceados (fraude, churn, diagnóstico) accuracy miente y qué hacer al respecto.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e interpretar una confusion matrix con sklearn.metrics.confusion_matrix identificando TP, FP, TN, FN.</a:t>
            </a:r>
          </a:p>
          <a:p>
            <a:pPr>
              <a:spcAft>
                <a:spcPts val="800"/>
              </a:spcAft>
              <a:defRPr sz="1400" b="0">
                <a:solidFill>
                  <a:srgbClr val="0F172A"/>
                </a:solidFill>
                <a:latin typeface="Segoe UI"/>
              </a:defRPr>
            </a:pPr>
            <a:r>
              <a:rPr sz="1400" b="0">
                <a:solidFill>
                  <a:srgbClr val="0F172A"/>
                </a:solidFill>
                <a:latin typeface="Segoe UI"/>
              </a:rPr>
              <a:t>• Calcular y comparar precision, recall, F1 y F-beta a mano y con precision_score, recall_score, f1_score, fbeta_score.</a:t>
            </a:r>
          </a:p>
          <a:p>
            <a:pPr>
              <a:spcAft>
                <a:spcPts val="800"/>
              </a:spcAft>
              <a:defRPr sz="1400" b="0">
                <a:solidFill>
                  <a:srgbClr val="0F172A"/>
                </a:solidFill>
                <a:latin typeface="Segoe UI"/>
              </a:defRPr>
            </a:pPr>
            <a:r>
              <a:rPr sz="1400" b="0">
                <a:solidFill>
                  <a:srgbClr val="0F172A"/>
                </a:solidFill>
                <a:latin typeface="Segoe UI"/>
              </a:rPr>
              <a:t>• Elegir la métrica adecuada según el costo asimétrico de los errores (FP vs FN) del problema.</a:t>
            </a:r>
          </a:p>
          <a:p>
            <a:pPr>
              <a:spcAft>
                <a:spcPts val="800"/>
              </a:spcAft>
              <a:defRPr sz="1400" b="0">
                <a:solidFill>
                  <a:srgbClr val="0F172A"/>
                </a:solidFill>
                <a:latin typeface="Segoe UI"/>
              </a:defRPr>
            </a:pPr>
            <a:r>
              <a:rPr sz="1400" b="0">
                <a:solidFill>
                  <a:srgbClr val="0F172A"/>
                </a:solidFill>
                <a:latin typeface="Segoe UI"/>
              </a:rPr>
              <a:t>• Leer classification_report y diferenciar macro avg vs weighted avg en multiclase.</a:t>
            </a:r>
          </a:p>
          <a:p>
            <a:pPr>
              <a:spcAft>
                <a:spcPts val="800"/>
              </a:spcAft>
              <a:defRPr sz="1400" b="0">
                <a:solidFill>
                  <a:srgbClr val="0F172A"/>
                </a:solidFill>
                <a:latin typeface="Segoe UI"/>
              </a:defRPr>
            </a:pPr>
            <a:r>
              <a:rPr sz="1400" b="0">
                <a:solidFill>
                  <a:srgbClr val="0F172A"/>
                </a:solidFill>
                <a:latin typeface="Segoe UI"/>
              </a:rPr>
              <a:t>• Diagnosticar class imbalance y aplicar class_weight='balanced', SMOTE o threshold tuning según corresponda.</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063 — Métricas: confusion matrix, precision, recall, F1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Confusion matrix (TP/FP/TN/FN)</a:t>
            </a:r>
          </a:p>
          <a:p>
            <a:pPr>
              <a:spcAft>
                <a:spcPts val="1000"/>
              </a:spcAft>
              <a:defRPr sz="1600" b="0">
                <a:solidFill>
                  <a:srgbClr val="0F172A"/>
                </a:solidFill>
                <a:latin typeface="Segoe UI"/>
              </a:defRPr>
            </a:pPr>
            <a:r>
              <a:rPr sz="1600" b="0">
                <a:solidFill>
                  <a:srgbClr val="0F172A"/>
                </a:solidFill>
                <a:latin typeface="Segoe UI"/>
              </a:rPr>
              <a:t>• Precision = TP / (TP+FP)</a:t>
            </a:r>
          </a:p>
          <a:p>
            <a:pPr>
              <a:spcAft>
                <a:spcPts val="1000"/>
              </a:spcAft>
              <a:defRPr sz="1600" b="0">
                <a:solidFill>
                  <a:srgbClr val="0F172A"/>
                </a:solidFill>
                <a:latin typeface="Segoe UI"/>
              </a:defRPr>
            </a:pPr>
            <a:r>
              <a:rPr sz="1600" b="0">
                <a:solidFill>
                  <a:srgbClr val="0F172A"/>
                </a:solidFill>
                <a:latin typeface="Segoe UI"/>
              </a:rPr>
              <a:t>• Recall = TP / (TP+FN)</a:t>
            </a:r>
          </a:p>
          <a:p>
            <a:pPr>
              <a:spcAft>
                <a:spcPts val="1000"/>
              </a:spcAft>
              <a:defRPr sz="1600" b="0">
                <a:solidFill>
                  <a:srgbClr val="0F172A"/>
                </a:solidFill>
                <a:latin typeface="Segoe UI"/>
              </a:defRPr>
            </a:pPr>
            <a:r>
              <a:rPr sz="1600" b="0">
                <a:solidFill>
                  <a:srgbClr val="0F172A"/>
                </a:solidFill>
                <a:latin typeface="Segoe UI"/>
              </a:rPr>
              <a:t>• F1 y F-beta</a:t>
            </a:r>
          </a:p>
          <a:p>
            <a:pPr>
              <a:spcAft>
                <a:spcPts val="1000"/>
              </a:spcAft>
              <a:defRPr sz="1600" b="0">
                <a:solidFill>
                  <a:srgbClr val="0F172A"/>
                </a:solidFill>
                <a:latin typeface="Segoe UI"/>
              </a:defRPr>
            </a:pPr>
            <a:r>
              <a:rPr sz="1600" b="0">
                <a:solidFill>
                  <a:srgbClr val="0F172A"/>
                </a:solidFill>
                <a:latin typeface="Segoe UI"/>
              </a:rPr>
              <a:t>• classification_report y macro/weighted avg</a:t>
            </a:r>
          </a:p>
          <a:p>
            <a:pPr>
              <a:spcAft>
                <a:spcPts val="1000"/>
              </a:spcAft>
              <a:defRPr sz="1600" b="0">
                <a:solidFill>
                  <a:srgbClr val="0F172A"/>
                </a:solidFill>
                <a:latin typeface="Segoe UI"/>
              </a:defRPr>
            </a:pPr>
            <a:r>
              <a:rPr sz="1600" b="0">
                <a:solidFill>
                  <a:srgbClr val="0F172A"/>
                </a:solidFill>
                <a:latin typeface="Segoe UI"/>
              </a:rPr>
              <a:t>• Accuracy y por qué falla con clases desbalanceadas</a:t>
            </a:r>
          </a:p>
          <a:p>
            <a:pPr>
              <a:spcAft>
                <a:spcPts val="1000"/>
              </a:spcAft>
              <a:defRPr sz="1600" b="0">
                <a:solidFill>
                  <a:srgbClr val="0F172A"/>
                </a:solidFill>
                <a:latin typeface="Segoe UI"/>
              </a:defRPr>
            </a:pPr>
            <a:r>
              <a:rPr sz="1600" b="0">
                <a:solidFill>
                  <a:srgbClr val="0F172A"/>
                </a:solidFill>
                <a:latin typeface="Segoe UI"/>
              </a:rPr>
              <a:t>• Class imbalance: class_weight, SMOTE, threshold tuning</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063 — Métricas: confusion matrix, precision, recall, F1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Dejamos de mirar la accuracy como métrica única. Aprendemos a leer una matriz de confusión, a elegir entre precision, recall, F1 y F-beta según el costo de los errores, y a interpretar classification_report. Requiere: numpy,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sklearn.metrics import (confusion_matrix, precision_score, recall_score,</a:t>
            </a:r>
          </a:p>
          <a:p>
            <a:pPr>
              <a:defRPr sz="1200" b="0">
                <a:solidFill>
                  <a:srgbClr val="F8FAFC"/>
                </a:solidFill>
                <a:latin typeface="Courier New"/>
              </a:defRPr>
            </a:pPr>
            <a:r>
              <a:rPr sz="1200" b="0">
                <a:solidFill>
                  <a:srgbClr val="F8FAFC"/>
                </a:solidFill>
                <a:latin typeface="Courier New"/>
              </a:rPr>
              <a:t>                             f1_score, fbeta_score, classification_report,</a:t>
            </a:r>
          </a:p>
          <a:p>
            <a:pPr>
              <a:defRPr sz="1200" b="0">
                <a:solidFill>
                  <a:srgbClr val="F8FAFC"/>
                </a:solidFill>
                <a:latin typeface="Courier New"/>
              </a:defRPr>
            </a:pPr>
            <a:r>
              <a:rPr sz="1200" b="0">
                <a:solidFill>
                  <a:srgbClr val="F8FAFC"/>
                </a:solidFill>
                <a:latin typeface="Courier New"/>
              </a:rPr>
              <a:t>                             ConfusionMatrixDisplay)</a:t>
            </a:r>
          </a:p>
          <a:p>
            <a:pPr>
              <a:defRPr sz="1200" b="0">
                <a:solidFill>
                  <a:srgbClr val="F8FAFC"/>
                </a:solidFill>
                <a:latin typeface="Courier New"/>
              </a:defRPr>
            </a:pPr>
            <a:r>
              <a:rPr sz="1200" b="0">
                <a:solidFill>
                  <a:srgbClr val="F8FAFC"/>
                </a:solidFill>
                <a:latin typeface="Courier New"/>
              </a:rPr>
              <a:t>from sklearn.datasets import load_digits, make_classification</a:t>
            </a:r>
          </a:p>
          <a:p>
            <a:pPr>
              <a:defRPr sz="1200" b="0">
                <a:solidFill>
                  <a:srgbClr val="F8FAFC"/>
                </a:solidFill>
                <a:latin typeface="Courier New"/>
              </a:defRPr>
            </a:pPr>
            <a:r>
              <a:rPr sz="1200" b="0">
                <a:solidFill>
                  <a:srgbClr val="F8FAFC"/>
                </a:solidFill>
                <a:latin typeface="Courier New"/>
              </a:rPr>
              <a:t>from sklearn.linear_model import SGDClassifier, LogisticRegression</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063 — Métricas: confusion matrix, precision, recall, F1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Confusion matrix a mano.</a:t>
            </a:r>
          </a:p>
          <a:p>
            <a:pPr>
              <a:spcAft>
                <a:spcPts val="800"/>
              </a:spcAft>
              <a:defRPr sz="1400" b="0">
                <a:solidFill>
                  <a:srgbClr val="0F172A"/>
                </a:solidFill>
                <a:latin typeface="Segoe UI"/>
              </a:defRPr>
            </a:pPr>
            <a:r>
              <a:rPr sz="1400" b="0">
                <a:solidFill>
                  <a:srgbClr val="0F172A"/>
                </a:solidFill>
                <a:latin typeface="Segoe UI"/>
              </a:rPr>
              <a:t>• MNIST 5-detector.</a:t>
            </a:r>
          </a:p>
          <a:p>
            <a:pPr>
              <a:spcAft>
                <a:spcPts val="800"/>
              </a:spcAft>
              <a:defRPr sz="1400" b="0">
                <a:solidFill>
                  <a:srgbClr val="0F172A"/>
                </a:solidFill>
                <a:latin typeface="Segoe UI"/>
              </a:defRPr>
            </a:pPr>
            <a:r>
              <a:rPr sz="1400" b="0">
                <a:solidFill>
                  <a:srgbClr val="0F172A"/>
                </a:solidFill>
                <a:latin typeface="Segoe UI"/>
              </a:rPr>
              <a:t>• classification_report multiclase.</a:t>
            </a:r>
          </a:p>
          <a:p>
            <a:pPr>
              <a:spcAft>
                <a:spcPts val="800"/>
              </a:spcAft>
              <a:defRPr sz="1400" b="0">
                <a:solidFill>
                  <a:srgbClr val="0F172A"/>
                </a:solidFill>
                <a:latin typeface="Segoe UI"/>
              </a:defRPr>
            </a:pPr>
            <a:r>
              <a:rPr sz="1400" b="0">
                <a:solidFill>
                  <a:srgbClr val="0F172A"/>
                </a:solidFill>
                <a:latin typeface="Segoe UI"/>
              </a:rPr>
              <a:t>• Class imbalance con class_weight.</a:t>
            </a:r>
          </a:p>
          <a:p>
            <a:pPr>
              <a:spcAft>
                <a:spcPts val="800"/>
              </a:spcAft>
              <a:defRPr sz="1400" b="0">
                <a:solidFill>
                  <a:srgbClr val="0F172A"/>
                </a:solidFill>
                <a:latin typeface="Segoe UI"/>
              </a:defRPr>
            </a:pPr>
            <a:r>
              <a:rPr sz="1400" b="0">
                <a:solidFill>
                  <a:srgbClr val="0F172A"/>
                </a:solidFill>
                <a:latin typeface="Segoe UI"/>
              </a:rPr>
              <a:t>• SMOTE dentro de Pipeline.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sobre el dataset sintético desbalanceado (~1% positivo) que: (a) entrene baseline LogisticRegression y reporte confusion matrix + classification_report; (b) repita con class_weight='balanced'; (c) arme Pipeline con SMOTE; (d) haga threshold tuning con precision_recall_curve sobre val set maximizando F1; (e) tabla comparativa de F1 y recall de la clase minoritaria para las 4 estrategias (baseline, class_weight, SMOTE, threshold tuning).</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064 — Class imbalance: SMOTE, ADASYN, class_weight, threshold tuning</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064 — Class imbalance: SMOTE, ADASYN, class_weight, threshold tuning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Chawla et al. (2002) SMOTE + He et al. (2008) ADASYN + imbalanced-learn docs.  Duración estimada: 80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Tratar datasets desbalanceados —fraude (1 % positivo), churn (5 %), enfermedades raras—. Las trampas son sutiles: accuracy puede ser 99 % con un clasificador trivial. Cubrir las 4 estrategias estándar: class_weight, threshold tuning, oversampling (SMOTE, ADASYN), undersampling (Tomek, ENN). Y la decisión clave: ¿qué métrica reportar? (F1, PR-AUC, MCC, no accuracy).</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Detectar imbalance: value_counts(normalize=True). Decidir si &gt; 10:1 amerita tratamiento.</a:t>
            </a:r>
          </a:p>
          <a:p>
            <a:pPr>
              <a:spcAft>
                <a:spcPts val="800"/>
              </a:spcAft>
              <a:defRPr sz="1400" b="0">
                <a:solidFill>
                  <a:srgbClr val="0F172A"/>
                </a:solidFill>
                <a:latin typeface="Segoe UI"/>
              </a:defRPr>
            </a:pPr>
            <a:r>
              <a:rPr sz="1400" b="0">
                <a:solidFill>
                  <a:srgbClr val="0F172A"/>
                </a:solidFill>
                <a:latin typeface="Segoe UI"/>
              </a:rPr>
              <a:t>• Aplicar class_weight='balanced' o pesos custom en sklearn.</a:t>
            </a:r>
          </a:p>
          <a:p>
            <a:pPr>
              <a:spcAft>
                <a:spcPts val="800"/>
              </a:spcAft>
              <a:defRPr sz="1400" b="0">
                <a:solidFill>
                  <a:srgbClr val="0F172A"/>
                </a:solidFill>
                <a:latin typeface="Segoe UI"/>
              </a:defRPr>
            </a:pPr>
            <a:r>
              <a:rPr sz="1400" b="0">
                <a:solidFill>
                  <a:srgbClr val="0F172A"/>
                </a:solidFill>
                <a:latin typeface="Segoe UI"/>
              </a:rPr>
              <a:t>• Aplicar threshold tuning: optimizar el umbral de decisión sobre la curva PR según la métrica del negocio.</a:t>
            </a:r>
          </a:p>
          <a:p>
            <a:pPr>
              <a:spcAft>
                <a:spcPts val="800"/>
              </a:spcAft>
              <a:defRPr sz="1400" b="0">
                <a:solidFill>
                  <a:srgbClr val="0F172A"/>
                </a:solidFill>
                <a:latin typeface="Segoe UI"/>
              </a:defRPr>
            </a:pPr>
            <a:r>
              <a:rPr sz="1400" b="0">
                <a:solidFill>
                  <a:srgbClr val="0F172A"/>
                </a:solidFill>
                <a:latin typeface="Segoe UI"/>
              </a:rPr>
              <a:t>• Usar SMOTE (synthetic minority over-sampling) de imbalanced-learn: SMOTE(k_neighbors=5).fit_resample(X, y).</a:t>
            </a:r>
          </a:p>
          <a:p>
            <a:pPr>
              <a:spcAft>
                <a:spcPts val="800"/>
              </a:spcAft>
              <a:defRPr sz="1400" b="0">
                <a:solidFill>
                  <a:srgbClr val="0F172A"/>
                </a:solidFill>
                <a:latin typeface="Segoe UI"/>
              </a:defRPr>
            </a:pPr>
            <a:r>
              <a:rPr sz="1400" b="0">
                <a:solidFill>
                  <a:srgbClr val="0F172A"/>
                </a:solidFill>
                <a:latin typeface="Segoe UI"/>
              </a:rPr>
              <a:t>• Combinar oversampling + undersampling (SMOTETomek, SMOTEENN).</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064 — Class imbalance: SMOTE, ADASYN, class_weight, threshold tuning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Imbalance ratio: &gt;10:1 problemático.</a:t>
            </a:r>
          </a:p>
          <a:p>
            <a:pPr>
              <a:spcAft>
                <a:spcPts val="1000"/>
              </a:spcAft>
              <a:defRPr sz="1600" b="0">
                <a:solidFill>
                  <a:srgbClr val="0F172A"/>
                </a:solidFill>
                <a:latin typeface="Segoe UI"/>
              </a:defRPr>
            </a:pPr>
            <a:r>
              <a:rPr sz="1600" b="0">
                <a:solidFill>
                  <a:srgbClr val="0F172A"/>
                </a:solidFill>
                <a:latin typeface="Segoe UI"/>
              </a:rPr>
              <a:t>• Métricas: precision, recall, F1, F-beta, PR-AUC, MCC.</a:t>
            </a:r>
          </a:p>
          <a:p>
            <a:pPr>
              <a:spcAft>
                <a:spcPts val="1000"/>
              </a:spcAft>
              <a:defRPr sz="1600" b="0">
                <a:solidFill>
                  <a:srgbClr val="0F172A"/>
                </a:solidFill>
                <a:latin typeface="Segoe UI"/>
              </a:defRPr>
            </a:pPr>
            <a:r>
              <a:rPr sz="1600" b="0">
                <a:solidFill>
                  <a:srgbClr val="0F172A"/>
                </a:solidFill>
                <a:latin typeface="Segoe UI"/>
              </a:rPr>
              <a:t>• class_weight: penalizar más errores en minoría durante training.</a:t>
            </a:r>
          </a:p>
          <a:p>
            <a:pPr>
              <a:spcAft>
                <a:spcPts val="1000"/>
              </a:spcAft>
              <a:defRPr sz="1600" b="0">
                <a:solidFill>
                  <a:srgbClr val="0F172A"/>
                </a:solidFill>
                <a:latin typeface="Segoe UI"/>
              </a:defRPr>
            </a:pPr>
            <a:r>
              <a:rPr sz="1600" b="0">
                <a:solidFill>
                  <a:srgbClr val="0F172A"/>
                </a:solidFill>
                <a:latin typeface="Segoe UI"/>
              </a:rPr>
              <a:t>• Threshold tuning: mover el umbral fuera del 0.5 default.</a:t>
            </a:r>
          </a:p>
          <a:p>
            <a:pPr>
              <a:spcAft>
                <a:spcPts val="1000"/>
              </a:spcAft>
              <a:defRPr sz="1600" b="0">
                <a:solidFill>
                  <a:srgbClr val="0F172A"/>
                </a:solidFill>
                <a:latin typeface="Segoe UI"/>
              </a:defRPr>
            </a:pPr>
            <a:r>
              <a:rPr sz="1600" b="0">
                <a:solidFill>
                  <a:srgbClr val="0F172A"/>
                </a:solidFill>
                <a:latin typeface="Segoe UI"/>
              </a:rPr>
              <a:t>• SMOTE: interpola entre vecinos de la minoría.</a:t>
            </a:r>
          </a:p>
          <a:p>
            <a:pPr>
              <a:spcAft>
                <a:spcPts val="1000"/>
              </a:spcAft>
              <a:defRPr sz="1600" b="0">
                <a:solidFill>
                  <a:srgbClr val="0F172A"/>
                </a:solidFill>
                <a:latin typeface="Segoe UI"/>
              </a:defRPr>
            </a:pPr>
            <a:r>
              <a:rPr sz="1600" b="0">
                <a:solidFill>
                  <a:srgbClr val="0F172A"/>
                </a:solidFill>
                <a:latin typeface="Segoe UI"/>
              </a:rPr>
              <a:t>• ADASYN: como SMOTE pero con más densidad en zonas "difíciles".</a:t>
            </a:r>
          </a:p>
          <a:p>
            <a:pPr>
              <a:spcAft>
                <a:spcPts val="1000"/>
              </a:spcAft>
              <a:defRPr sz="1600" b="0">
                <a:solidFill>
                  <a:srgbClr val="0F172A"/>
                </a:solidFill>
                <a:latin typeface="Segoe UI"/>
              </a:defRPr>
            </a:pPr>
            <a:r>
              <a:rPr sz="1600" b="0">
                <a:solidFill>
                  <a:srgbClr val="0F172A"/>
                </a:solidFill>
                <a:latin typeface="Segoe UI"/>
              </a:rPr>
              <a:t>• Tomek links / ENN: remueve borderline de la mayoría.</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064 — Class imbalance: SMOTE, ADASYN, class_weight, threshold tuning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Binary sintético con ratio 1:99. Comparamos baseline vs class_weight vs SMOTE vs ADASYN, en métricas relevantes (PR-AUC, recall, no accuracy). Instalar: pip install imbalanced-learn.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sklearn.model_selection import train_test_split, StratifiedKFold, cross_val_score</a:t>
            </a:r>
          </a:p>
          <a:p>
            <a:pPr>
              <a:defRPr sz="1200" b="0">
                <a:solidFill>
                  <a:srgbClr val="F8FAFC"/>
                </a:solidFill>
                <a:latin typeface="Courier New"/>
              </a:defRPr>
            </a:pPr>
            <a:r>
              <a:rPr sz="1200" b="0">
                <a:solidFill>
                  <a:srgbClr val="F8FAFC"/>
                </a:solidFill>
                <a:latin typeface="Courier New"/>
              </a:rPr>
              <a:t>from sklearn.metrics import (accuracy_score, recall_score, precision_score,</a:t>
            </a:r>
          </a:p>
          <a:p>
            <a:pPr>
              <a:defRPr sz="1200" b="0">
                <a:solidFill>
                  <a:srgbClr val="F8FAFC"/>
                </a:solidFill>
                <a:latin typeface="Courier New"/>
              </a:defRPr>
            </a:pPr>
            <a:r>
              <a:rPr sz="1200" b="0">
                <a:solidFill>
                  <a:srgbClr val="F8FAFC"/>
                </a:solidFill>
                <a:latin typeface="Courier New"/>
              </a:rPr>
              <a:t>                              average_precision_score, precision_recall_curve)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imblearn.over_sampling import SMOTE, ADASYN</a:t>
            </a:r>
          </a:p>
          <a:p>
            <a:pPr>
              <a:defRPr sz="1200" b="0">
                <a:solidFill>
                  <a:srgbClr val="F8FAFC"/>
                </a:solidFill>
                <a:latin typeface="Courier New"/>
              </a:defRPr>
            </a:pPr>
            <a:r>
              <a:rPr sz="1200" b="0">
                <a:solidFill>
                  <a:srgbClr val="F8FAFC"/>
                </a:solidFill>
                <a:latin typeface="Courier New"/>
              </a:rPr>
              <a:t>    from imblearn.pipeline import Pipeline as ImbPipeline</a:t>
            </a:r>
          </a:p>
          <a:p>
            <a:pPr>
              <a:defRPr sz="1200" b="0">
                <a:solidFill>
                  <a:srgbClr val="F8FAFC"/>
                </a:solidFill>
                <a:latin typeface="Courier New"/>
              </a:defRPr>
            </a:pPr>
            <a:r>
              <a:rPr sz="1200" b="0">
                <a:solidFill>
                  <a:srgbClr val="F8FAFC"/>
                </a:solidFill>
                <a:latin typeface="Courier New"/>
              </a:rPr>
              <a:t>    IMBLEARN_OK = True</a:t>
            </a:r>
          </a:p>
          <a:p>
            <a:pPr>
              <a:defRPr sz="1200" b="0">
                <a:solidFill>
                  <a:srgbClr val="F8FAFC"/>
                </a:solidFill>
                <a:latin typeface="Courier New"/>
              </a:defRPr>
            </a:pPr>
            <a:r>
              <a:rPr sz="1200" b="0">
                <a:solidFill>
                  <a:srgbClr val="F8FAFC"/>
                </a:solidFill>
                <a:latin typeface="Courier New"/>
              </a:rPr>
              <a:t>except ImportError:</a:t>
            </a:r>
          </a:p>
          <a:p>
            <a:pPr>
              <a:defRPr sz="1200" b="0">
                <a:solidFill>
                  <a:srgbClr val="F8FAFC"/>
                </a:solidFill>
                <a:latin typeface="Courier New"/>
              </a:defRPr>
            </a:pPr>
            <a:r>
              <a:rPr sz="1200" b="0">
                <a:solidFill>
                  <a:srgbClr val="F8FAFC"/>
                </a:solidFill>
                <a:latin typeface="Courier New"/>
              </a:rPr>
              <a:t>    print('instalar: pip install imbalanced-learn')</a:t>
            </a:r>
          </a:p>
          <a:p>
            <a:pPr>
              <a:defRPr sz="1200" b="0">
                <a:solidFill>
                  <a:srgbClr val="F8FAFC"/>
                </a:solidFill>
                <a:latin typeface="Courier New"/>
              </a:defRPr>
            </a:pPr>
            <a:r>
              <a:rPr sz="1200" b="0">
                <a:solidFill>
                  <a:srgbClr val="F8FAFC"/>
                </a:solidFill>
                <a:latin typeface="Courier New"/>
              </a:rPr>
              <a:t>    IMBLEARN_OK = False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064 — Class imbalance: SMOTE, ADASYN, class_weight, threshold tuning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Baseline sin tratamiento: LogisticRegression en creditcardfraud.</a:t>
            </a:r>
          </a:p>
          <a:p>
            <a:pPr>
              <a:spcAft>
                <a:spcPts val="800"/>
              </a:spcAft>
              <a:defRPr sz="1400" b="0">
                <a:solidFill>
                  <a:srgbClr val="0F172A"/>
                </a:solidFill>
                <a:latin typeface="Segoe UI"/>
              </a:defRPr>
            </a:pPr>
            <a:r>
              <a:rPr sz="1400" b="0">
                <a:solidFill>
                  <a:srgbClr val="0F172A"/>
                </a:solidFill>
                <a:latin typeface="Segoe UI"/>
              </a:rPr>
              <a:t>• class_weight: LogisticRegression(class_weight='balanced').</a:t>
            </a:r>
          </a:p>
          <a:p>
            <a:pPr>
              <a:spcAft>
                <a:spcPts val="800"/>
              </a:spcAft>
              <a:defRPr sz="1400" b="0">
                <a:solidFill>
                  <a:srgbClr val="0F172A"/>
                </a:solidFill>
                <a:latin typeface="Segoe UI"/>
              </a:defRPr>
            </a:pPr>
            <a:r>
              <a:rPr sz="1400" b="0">
                <a:solidFill>
                  <a:srgbClr val="0F172A"/>
                </a:solidFill>
                <a:latin typeface="Segoe UI"/>
              </a:rPr>
              <a:t>• Threshold tuning: con probabilidades de predict_proba, barrer thresholds y plotear F1 vs threshold.</a:t>
            </a:r>
          </a:p>
          <a:p>
            <a:pPr>
              <a:spcAft>
                <a:spcPts val="800"/>
              </a:spcAft>
              <a:defRPr sz="1400" b="0">
                <a:solidFill>
                  <a:srgbClr val="0F172A"/>
                </a:solidFill>
                <a:latin typeface="Segoe UI"/>
              </a:defRPr>
            </a:pPr>
            <a:r>
              <a:rPr sz="1400" b="0">
                <a:solidFill>
                  <a:srgbClr val="0F172A"/>
                </a:solidFill>
                <a:latin typeface="Segoe UI"/>
              </a:rPr>
              <a:t>• SMOTE: from imblearn.over_sampling import SMOTE; X_res, y_res = SMOTE().fit_resample(X_train, y_train).</a:t>
            </a:r>
          </a:p>
          <a:p>
            <a:pPr>
              <a:spcAft>
                <a:spcPts val="800"/>
              </a:spcAft>
              <a:defRPr sz="1400" b="0">
                <a:solidFill>
                  <a:srgbClr val="0F172A"/>
                </a:solidFill>
                <a:latin typeface="Segoe UI"/>
              </a:defRPr>
            </a:pPr>
            <a:r>
              <a:rPr sz="1400" b="0">
                <a:solidFill>
                  <a:srgbClr val="0F172A"/>
                </a:solidFill>
                <a:latin typeface="Segoe UI"/>
              </a:rPr>
              <a:t>• Pipeline imblearn: Pipeline([('smote', SMOTE()), ('clf', LogisticRegression())]).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4 modelos: baseline, class_weight, SMOTE, SMOTETomek.</a:t>
            </a:r>
          </a:p>
          <a:p>
            <a:pPr>
              <a:spcAft>
                <a:spcPts val="800"/>
              </a:spcAft>
              <a:defRPr sz="1500" b="0">
                <a:solidFill>
                  <a:srgbClr val="0F172A"/>
                </a:solidFill>
                <a:latin typeface="Segoe UI"/>
              </a:defRPr>
            </a:pPr>
            <a:r>
              <a:rPr sz="1500" b="0">
                <a:solidFill>
                  <a:srgbClr val="0F172A"/>
                </a:solidFill>
                <a:latin typeface="Segoe UI"/>
              </a:rPr>
              <a:t>• Reportar precision, recall, F1, PR-AUC y MCC para cada uno.</a:t>
            </a:r>
          </a:p>
          <a:p>
            <a:pPr>
              <a:spcAft>
                <a:spcPts val="800"/>
              </a:spcAft>
              <a:defRPr sz="1500" b="0">
                <a:solidFill>
                  <a:srgbClr val="0F172A"/>
                </a:solidFill>
                <a:latin typeface="Segoe UI"/>
              </a:defRPr>
            </a:pPr>
            <a:r>
              <a:rPr sz="1500" b="0">
                <a:solidFill>
                  <a:srgbClr val="0F172A"/>
                </a:solidFill>
                <a:latin typeface="Segoe UI"/>
              </a:rPr>
              <a:t>• Curva PR de los 4 lado a lado.</a:t>
            </a:r>
          </a:p>
          <a:p>
            <a:pPr>
              <a:spcAft>
                <a:spcPts val="800"/>
              </a:spcAft>
              <a:defRPr sz="1500" b="0">
                <a:solidFill>
                  <a:srgbClr val="0F172A"/>
                </a:solidFill>
                <a:latin typeface="Segoe UI"/>
              </a:defRPr>
            </a:pPr>
            <a:r>
              <a:rPr sz="1500" b="0">
                <a:solidFill>
                  <a:srgbClr val="0F172A"/>
                </a:solidFill>
                <a:latin typeface="Segoe UI"/>
              </a:rPr>
              <a:t>• Threshold tuning sobre el mejor para maximizar F2 (favorece recall).</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065 — Precision/Recall tradeoff</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065 — Precision/Recall tradeoff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3.  Duración estimada: 50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que no se puede maximizar precision y recall al mismo tiempo: mover el threshold de decisión sube uno y baja el otro. La clase enseña a usar decision_function + precision_recall_curve para elegir el threshold según el costo del negocio, no según el default de 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el tradeoff entre precision y recall en términos del threshold del clasificador.</a:t>
            </a:r>
          </a:p>
          <a:p>
            <a:pPr>
              <a:spcAft>
                <a:spcPts val="800"/>
              </a:spcAft>
              <a:defRPr sz="1400" b="0">
                <a:solidFill>
                  <a:srgbClr val="0F172A"/>
                </a:solidFill>
                <a:latin typeface="Segoe UI"/>
              </a:defRPr>
            </a:pPr>
            <a:r>
              <a:rPr sz="1400" b="0">
                <a:solidFill>
                  <a:srgbClr val="0F172A"/>
                </a:solidFill>
                <a:latin typeface="Segoe UI"/>
              </a:rPr>
              <a:t>• Obtener scores crudos con decision_function(X) (o predict_proba) en vez de quedarse con predict.</a:t>
            </a:r>
          </a:p>
          <a:p>
            <a:pPr>
              <a:spcAft>
                <a:spcPts val="800"/>
              </a:spcAft>
              <a:defRPr sz="1400" b="0">
                <a:solidFill>
                  <a:srgbClr val="0F172A"/>
                </a:solidFill>
                <a:latin typeface="Segoe UI"/>
              </a:defRPr>
            </a:pPr>
            <a:r>
              <a:rPr sz="1400" b="0">
                <a:solidFill>
                  <a:srgbClr val="0F172A"/>
                </a:solidFill>
                <a:latin typeface="Segoe UI"/>
              </a:rPr>
              <a:t>• Calcular la curva con precision_recall_curve(y_true, scores) y graficarla.</a:t>
            </a:r>
          </a:p>
          <a:p>
            <a:pPr>
              <a:spcAft>
                <a:spcPts val="800"/>
              </a:spcAft>
              <a:defRPr sz="1400" b="0">
                <a:solidFill>
                  <a:srgbClr val="0F172A"/>
                </a:solidFill>
                <a:latin typeface="Segoe UI"/>
              </a:defRPr>
            </a:pPr>
            <a:r>
              <a:rPr sz="1400" b="0">
                <a:solidFill>
                  <a:srgbClr val="0F172A"/>
                </a:solidFill>
                <a:latin typeface="Segoe UI"/>
              </a:rPr>
              <a:t>• Elegir un threshold que cumpla una restricción del negocio (ej: precision ≥ 90%).</a:t>
            </a:r>
          </a:p>
          <a:p>
            <a:pPr>
              <a:spcAft>
                <a:spcPts val="800"/>
              </a:spcAft>
              <a:defRPr sz="1400" b="0">
                <a:solidFill>
                  <a:srgbClr val="0F172A"/>
                </a:solidFill>
                <a:latin typeface="Segoe UI"/>
              </a:defRPr>
            </a:pPr>
            <a:r>
              <a:rPr sz="1400" b="0">
                <a:solidFill>
                  <a:srgbClr val="0F172A"/>
                </a:solidFill>
                <a:latin typeface="Segoe UI"/>
              </a:rPr>
              <a:t>• Reportar average_precision_score como métrica resumen única de la curva.</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065 — Precision/Recall tradeoff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Threshold de decisión: el default 0 no es sagrado</a:t>
            </a:r>
          </a:p>
          <a:p>
            <a:pPr>
              <a:spcAft>
                <a:spcPts val="1000"/>
              </a:spcAft>
              <a:defRPr sz="1600" b="0">
                <a:solidFill>
                  <a:srgbClr val="0F172A"/>
                </a:solidFill>
                <a:latin typeface="Segoe UI"/>
              </a:defRPr>
            </a:pPr>
            <a:r>
              <a:rPr sz="1600" b="0">
                <a:solidFill>
                  <a:srgbClr val="0F172A"/>
                </a:solidFill>
                <a:latin typeface="Segoe UI"/>
              </a:rPr>
              <a:t>• decision_function vs predict_proba vs predict</a:t>
            </a:r>
          </a:p>
          <a:p>
            <a:pPr>
              <a:spcAft>
                <a:spcPts val="1000"/>
              </a:spcAft>
              <a:defRPr sz="1600" b="0">
                <a:solidFill>
                  <a:srgbClr val="0F172A"/>
                </a:solidFill>
                <a:latin typeface="Segoe UI"/>
              </a:defRPr>
            </a:pPr>
            <a:r>
              <a:rPr sz="1600" b="0">
                <a:solidFill>
                  <a:srgbClr val="0F172A"/>
                </a:solidFill>
                <a:latin typeface="Segoe UI"/>
              </a:rPr>
              <a:t>• precision_recall_curve</a:t>
            </a:r>
          </a:p>
          <a:p>
            <a:pPr>
              <a:spcAft>
                <a:spcPts val="1000"/>
              </a:spcAft>
              <a:defRPr sz="1600" b="0">
                <a:solidFill>
                  <a:srgbClr val="0F172A"/>
                </a:solidFill>
                <a:latin typeface="Segoe UI"/>
              </a:defRPr>
            </a:pPr>
            <a:r>
              <a:rPr sz="1600" b="0">
                <a:solidFill>
                  <a:srgbClr val="0F172A"/>
                </a:solidFill>
                <a:latin typeface="Segoe UI"/>
              </a:rPr>
              <a:t>• Elegir threshold según restricción de negocio</a:t>
            </a:r>
          </a:p>
          <a:p>
            <a:pPr>
              <a:spcAft>
                <a:spcPts val="1000"/>
              </a:spcAft>
              <a:defRPr sz="1600" b="0">
                <a:solidFill>
                  <a:srgbClr val="0F172A"/>
                </a:solidFill>
                <a:latin typeface="Segoe UI"/>
              </a:defRPr>
            </a:pPr>
            <a:r>
              <a:rPr sz="1600" b="0">
                <a:solidFill>
                  <a:srgbClr val="0F172A"/>
                </a:solidFill>
                <a:latin typeface="Segoe UI"/>
              </a:rPr>
              <a:t>• average_precision_score (AP)</a:t>
            </a:r>
          </a:p>
          <a:p>
            <a:pPr>
              <a:spcAft>
                <a:spcPts val="1000"/>
              </a:spcAft>
              <a:defRPr sz="1600" b="0">
                <a:solidFill>
                  <a:srgbClr val="0F172A"/>
                </a:solidFill>
                <a:latin typeface="Segoe UI"/>
              </a:defRPr>
            </a:pPr>
            <a:r>
              <a:rPr sz="1600" b="0">
                <a:solidFill>
                  <a:srgbClr val="0F172A"/>
                </a:solidFill>
                <a:latin typeface="Segoe UI"/>
              </a:rPr>
              <a:t>• Cuándo PR &gt; ROC</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065 — Precision/Recall tradeoff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No se puede maximizar precision y recall a la vez: mover el umbral de decisión sube uno y baja el otro. Usamos decision_function + precision_recall_curve para elegir el umbral según el costo del negocio, no según el default 0. Requiere: numpy,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load_digits</a:t>
            </a:r>
          </a:p>
          <a:p>
            <a:pPr>
              <a:defRPr sz="1200" b="0">
                <a:solidFill>
                  <a:srgbClr val="F8FAFC"/>
                </a:solidFill>
                <a:latin typeface="Courier New"/>
              </a:defRPr>
            </a:pPr>
            <a:r>
              <a:rPr sz="1200" b="0">
                <a:solidFill>
                  <a:srgbClr val="F8FAFC"/>
                </a:solidFill>
                <a:latin typeface="Courier New"/>
              </a:rPr>
              <a:t>from sklearn.linear_model import SGDClassifier</a:t>
            </a:r>
          </a:p>
          <a:p>
            <a:pPr>
              <a:defRPr sz="1200" b="0">
                <a:solidFill>
                  <a:srgbClr val="F8FAFC"/>
                </a:solidFill>
                <a:latin typeface="Courier New"/>
              </a:defRPr>
            </a:pPr>
            <a:r>
              <a:rPr sz="1200" b="0">
                <a:solidFill>
                  <a:srgbClr val="F8FAFC"/>
                </a:solidFill>
                <a:latin typeface="Courier New"/>
              </a:rPr>
              <a:t>from sklearn.model_selection import train_test_split, cross_val_predict</a:t>
            </a:r>
          </a:p>
          <a:p>
            <a:pPr>
              <a:defRPr sz="1200" b="0">
                <a:solidFill>
                  <a:srgbClr val="F8FAFC"/>
                </a:solidFill>
                <a:latin typeface="Courier New"/>
              </a:defRPr>
            </a:pPr>
            <a:r>
              <a:rPr sz="1200" b="0">
                <a:solidFill>
                  <a:srgbClr val="F8FAFC"/>
                </a:solidFill>
                <a:latin typeface="Courier New"/>
              </a:rPr>
              <a:t>from sklearn.metrics import (precision_recall_curve, precision_score,</a:t>
            </a:r>
          </a:p>
          <a:p>
            <a:pPr>
              <a:defRPr sz="1200" b="0">
                <a:solidFill>
                  <a:srgbClr val="F8FAFC"/>
                </a:solidFill>
                <a:latin typeface="Courier New"/>
              </a:defRPr>
            </a:pPr>
            <a:r>
              <a:rPr sz="1200" b="0">
                <a:solidFill>
                  <a:srgbClr val="F8FAFC"/>
                </a:solidFill>
                <a:latin typeface="Courier New"/>
              </a:rPr>
              <a:t>                             recall_score, average_precision_score)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digits = load_digits()</a:t>
            </a:r>
          </a:p>
          <a:p>
            <a:pPr>
              <a:defRPr sz="1200" b="0">
                <a:solidFill>
                  <a:srgbClr val="F8FAFC"/>
                </a:solidFill>
                <a:latin typeface="Courier New"/>
              </a:defRPr>
            </a:pPr>
            <a:r>
              <a:rPr sz="1200" b="0">
                <a:solidFill>
                  <a:srgbClr val="F8FAFC"/>
                </a:solidFill>
                <a:latin typeface="Courier New"/>
              </a:rPr>
              <a:t>X, y = digits.data, digits.target</a:t>
            </a:r>
          </a:p>
          <a:p>
            <a:pPr>
              <a:defRPr sz="1200" b="0">
                <a:solidFill>
                  <a:srgbClr val="F8FAFC"/>
                </a:solidFill>
                <a:latin typeface="Courier New"/>
              </a:defRPr>
            </a:pPr>
            <a:r>
              <a:rPr sz="1200" b="0">
                <a:solidFill>
                  <a:srgbClr val="F8FAFC"/>
                </a:solidFill>
                <a:latin typeface="Courier New"/>
              </a:rPr>
              <a:t>Xtr, Xte, ytr, yte = train_test_split(X, y, test_size=0.3, stratify=y, random_state=42)</a:t>
            </a:r>
          </a:p>
          <a:p>
            <a:pPr>
              <a:defRPr sz="1200" b="0">
                <a:solidFill>
                  <a:srgbClr val="F8FAFC"/>
                </a:solidFill>
                <a:latin typeface="Courier New"/>
              </a:defRPr>
            </a:pPr>
            <a:r>
              <a:rPr sz="1200" b="0">
                <a:solidFill>
                  <a:srgbClr val="F8FAFC"/>
                </a:solidFill>
                <a:latin typeface="Courier New"/>
              </a:rPr>
              <a:t>ytr5 = (ytr == 5)</a:t>
            </a:r>
          </a:p>
          <a:p>
            <a:pPr>
              <a:defRPr sz="1200" b="0">
                <a:solidFill>
                  <a:srgbClr val="F8FAFC"/>
                </a:solidFill>
                <a:latin typeface="Courier New"/>
              </a:defRPr>
            </a:pPr>
            <a:r>
              <a:rPr sz="1200" b="0">
                <a:solidFill>
                  <a:srgbClr val="F8FAFC"/>
                </a:solidFill>
                <a:latin typeface="Courier New"/>
              </a:rPr>
              <a:t>print('positivos (5) en train:', int(ytr5.sum()), '/', len(ytr5))</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065 — Precision/Recall tradeoff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Score crudo.</a:t>
            </a:r>
          </a:p>
          <a:p>
            <a:pPr>
              <a:spcAft>
                <a:spcPts val="800"/>
              </a:spcAft>
              <a:defRPr sz="1400" b="0">
                <a:solidFill>
                  <a:srgbClr val="0F172A"/>
                </a:solidFill>
                <a:latin typeface="Segoe UI"/>
              </a:defRPr>
            </a:pPr>
            <a:r>
              <a:rPr sz="1400" b="0">
                <a:solidFill>
                  <a:srgbClr val="0F172A"/>
                </a:solidFill>
                <a:latin typeface="Segoe UI"/>
              </a:rPr>
              <a:t>• Curva PR.</a:t>
            </a:r>
          </a:p>
          <a:p>
            <a:pPr>
              <a:spcAft>
                <a:spcPts val="800"/>
              </a:spcAft>
              <a:defRPr sz="1400" b="0">
                <a:solidFill>
                  <a:srgbClr val="0F172A"/>
                </a:solidFill>
                <a:latin typeface="Segoe UI"/>
              </a:defRPr>
            </a:pPr>
            <a:r>
              <a:rPr sz="1400" b="0">
                <a:solidFill>
                  <a:srgbClr val="0F172A"/>
                </a:solidFill>
                <a:latin typeface="Segoe UI"/>
              </a:rPr>
              <a:t>• Threshold para precision ≥ 90%.</a:t>
            </a:r>
          </a:p>
          <a:p>
            <a:pPr>
              <a:spcAft>
                <a:spcPts val="800"/>
              </a:spcAft>
              <a:defRPr sz="1400" b="0">
                <a:solidFill>
                  <a:srgbClr val="0F172A"/>
                </a:solidFill>
                <a:latin typeface="Segoe UI"/>
              </a:defRPr>
            </a:pPr>
            <a:r>
              <a:rPr sz="1400" b="0">
                <a:solidFill>
                  <a:srgbClr val="0F172A"/>
                </a:solidFill>
                <a:latin typeface="Segoe UI"/>
              </a:rPr>
              <a:t>• Curva precision vs recall.</a:t>
            </a:r>
          </a:p>
          <a:p>
            <a:pPr>
              <a:spcAft>
                <a:spcPts val="800"/>
              </a:spcAft>
              <a:defRPr sz="1400" b="0">
                <a:solidFill>
                  <a:srgbClr val="0F172A"/>
                </a:solidFill>
                <a:latin typeface="Segoe UI"/>
              </a:defRPr>
            </a:pPr>
            <a:r>
              <a:rPr sz="1400" b="0">
                <a:solidFill>
                  <a:srgbClr val="0F172A"/>
                </a:solidFill>
                <a:latin typeface="Segoe UI"/>
              </a:rPr>
              <a:t>• Average precision.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MNIST binario (es 5 vs no): (a) entrenar SGDClassifier; (b) obtener y_scores con cross_val_predict(method='decision_function'); (c) graficar las dos curvas (precision/recall vs threshold y precision vs recall); (d) encontrar el threshold que da precision ≥ 90% y reportar el recall en ese punto; (e) reportar average_precision_score.</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066 — Curva ROC y AUC</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066 — Curva ROC y AUC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3 § The ROC Curve. · Duración estimada: 50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qué mide la curva ROC, calcule el AUC con scikit-learn y sepa decidir cuándo ROC es la métrica adecuada y cuándo conviene usar Precision-Recall — sobre todo en datasets desbalanceados, donde ROC tiende a mentir.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la curva ROC con roc_curve graficando TPR vs FPR a distintos umbrales.</a:t>
            </a:r>
          </a:p>
          <a:p>
            <a:pPr>
              <a:spcAft>
                <a:spcPts val="800"/>
              </a:spcAft>
              <a:defRPr sz="1400" b="0">
                <a:solidFill>
                  <a:srgbClr val="0F172A"/>
                </a:solidFill>
                <a:latin typeface="Segoe UI"/>
              </a:defRPr>
            </a:pPr>
            <a:r>
              <a:rPr sz="1400" b="0">
                <a:solidFill>
                  <a:srgbClr val="0F172A"/>
                </a:solidFill>
                <a:latin typeface="Segoe UI"/>
              </a:rPr>
              <a:t>• Calcular el AUC con roc_auc_score e interpretar el valor (0.5 = azar, 1.0 = perfecto).</a:t>
            </a:r>
          </a:p>
          <a:p>
            <a:pPr>
              <a:spcAft>
                <a:spcPts val="800"/>
              </a:spcAft>
              <a:defRPr sz="1400" b="0">
                <a:solidFill>
                  <a:srgbClr val="0F172A"/>
                </a:solidFill>
                <a:latin typeface="Segoe UI"/>
              </a:defRPr>
            </a:pPr>
            <a:r>
              <a:rPr sz="1400" b="0">
                <a:solidFill>
                  <a:srgbClr val="0F172A"/>
                </a:solidFill>
                <a:latin typeface="Segoe UI"/>
              </a:rPr>
              <a:t>• Comparar dos clasificadores superponiendo sus curvas ROC y eligiendo por AUC.</a:t>
            </a:r>
          </a:p>
          <a:p>
            <a:pPr>
              <a:spcAft>
                <a:spcPts val="800"/>
              </a:spcAft>
              <a:defRPr sz="1400" b="0">
                <a:solidFill>
                  <a:srgbClr val="0F172A"/>
                </a:solidFill>
                <a:latin typeface="Segoe UI"/>
              </a:defRPr>
            </a:pPr>
            <a:r>
              <a:rPr sz="1400" b="0">
                <a:solidFill>
                  <a:srgbClr val="0F172A"/>
                </a:solidFill>
                <a:latin typeface="Segoe UI"/>
              </a:rPr>
              <a:t>• Decidir ROC vs PR según la prevalencia de la clase positiva.</a:t>
            </a:r>
          </a:p>
          <a:p>
            <a:pPr>
              <a:spcAft>
                <a:spcPts val="800"/>
              </a:spcAft>
              <a:defRPr sz="1400" b="0">
                <a:solidFill>
                  <a:srgbClr val="0F172A"/>
                </a:solidFill>
                <a:latin typeface="Segoe UI"/>
              </a:defRPr>
            </a:pPr>
            <a:r>
              <a:rPr sz="1400" b="0">
                <a:solidFill>
                  <a:srgbClr val="0F172A"/>
                </a:solidFill>
                <a:latin typeface="Segoe UI"/>
              </a:rPr>
              <a:t>• Evitar la trampa del desbalance: reconocer cuándo un AUC alto esconde mala precisión.</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066 — Curva ROC y AUC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TPR (recall) y FPR</a:t>
            </a:r>
          </a:p>
          <a:p>
            <a:pPr>
              <a:spcAft>
                <a:spcPts val="1000"/>
              </a:spcAft>
              <a:defRPr sz="1600" b="0">
                <a:solidFill>
                  <a:srgbClr val="0F172A"/>
                </a:solidFill>
                <a:latin typeface="Segoe UI"/>
              </a:defRPr>
            </a:pPr>
            <a:r>
              <a:rPr sz="1600" b="0">
                <a:solidFill>
                  <a:srgbClr val="0F172A"/>
                </a:solidFill>
                <a:latin typeface="Segoe UI"/>
              </a:rPr>
              <a:t>• Curva ROC con roc_curve</a:t>
            </a:r>
          </a:p>
          <a:p>
            <a:pPr>
              <a:spcAft>
                <a:spcPts val="1000"/>
              </a:spcAft>
              <a:defRPr sz="1600" b="0">
                <a:solidFill>
                  <a:srgbClr val="0F172A"/>
                </a:solidFill>
                <a:latin typeface="Segoe UI"/>
              </a:defRPr>
            </a:pPr>
            <a:r>
              <a:rPr sz="1600" b="0">
                <a:solidFill>
                  <a:srgbClr val="0F172A"/>
                </a:solidFill>
                <a:latin typeface="Segoe UI"/>
              </a:rPr>
              <a:t>• AUC con roc_auc_score</a:t>
            </a:r>
          </a:p>
          <a:p>
            <a:pPr>
              <a:spcAft>
                <a:spcPts val="1000"/>
              </a:spcAft>
              <a:defRPr sz="1600" b="0">
                <a:solidFill>
                  <a:srgbClr val="0F172A"/>
                </a:solidFill>
                <a:latin typeface="Segoe UI"/>
              </a:defRPr>
            </a:pPr>
            <a:r>
              <a:rPr sz="1600" b="0">
                <a:solidFill>
                  <a:srgbClr val="0F172A"/>
                </a:solidFill>
                <a:latin typeface="Segoe UI"/>
              </a:rPr>
              <a:t>• Diagonal de azar y modelo perfecto</a:t>
            </a:r>
          </a:p>
          <a:p>
            <a:pPr>
              <a:spcAft>
                <a:spcPts val="1000"/>
              </a:spcAft>
              <a:defRPr sz="1600" b="0">
                <a:solidFill>
                  <a:srgbClr val="0F172A"/>
                </a:solidFill>
                <a:latin typeface="Segoe UI"/>
              </a:defRPr>
            </a:pPr>
            <a:r>
              <a:rPr sz="1600" b="0">
                <a:solidFill>
                  <a:srgbClr val="0F172A"/>
                </a:solidFill>
                <a:latin typeface="Segoe UI"/>
              </a:rPr>
              <a:t>• ROC vs Precision-Recall</a:t>
            </a:r>
          </a:p>
          <a:p>
            <a:pPr>
              <a:spcAft>
                <a:spcPts val="1000"/>
              </a:spcAft>
              <a:defRPr sz="1600" b="0">
                <a:solidFill>
                  <a:srgbClr val="0F172A"/>
                </a:solidFill>
                <a:latin typeface="Segoe UI"/>
              </a:defRPr>
            </a:pPr>
            <a:r>
              <a:rPr sz="1600" b="0">
                <a:solidFill>
                  <a:srgbClr val="0F172A"/>
                </a:solidFill>
                <a:latin typeface="Segoe UI"/>
              </a:rPr>
              <a:t>• Comparación de modelos</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066 — Curva ROC y AUC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Qué mide la curva ROC (TPR vs FPR), cómo calcular el AUC y cuándo ROC engaña: en datasets desbalanceados la curva PR es más honesta. Requiere: numpy,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load_digits, make_classification</a:t>
            </a:r>
          </a:p>
          <a:p>
            <a:pPr>
              <a:defRPr sz="1200" b="0">
                <a:solidFill>
                  <a:srgbClr val="F8FAFC"/>
                </a:solidFill>
                <a:latin typeface="Courier New"/>
              </a:defRPr>
            </a:pPr>
            <a:r>
              <a:rPr sz="1200" b="0">
                <a:solidFill>
                  <a:srgbClr val="F8FAFC"/>
                </a:solidFill>
                <a:latin typeface="Courier New"/>
              </a:rPr>
              <a:t>from sklearn.linear_model import SGDClassifier</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from sklearn.model_selection import train_test_split, cross_val_predict</a:t>
            </a:r>
          </a:p>
          <a:p>
            <a:pPr>
              <a:defRPr sz="1200" b="0">
                <a:solidFill>
                  <a:srgbClr val="F8FAFC"/>
                </a:solidFill>
                <a:latin typeface="Courier New"/>
              </a:defRPr>
            </a:pPr>
            <a:r>
              <a:rPr sz="1200" b="0">
                <a:solidFill>
                  <a:srgbClr val="F8FAFC"/>
                </a:solidFill>
                <a:latin typeface="Courier New"/>
              </a:rPr>
              <a:t>from sklearn.metrics import (roc_curve, roc_auc_score, precision_recall_curve,</a:t>
            </a:r>
          </a:p>
          <a:p>
            <a:pPr>
              <a:defRPr sz="1200" b="0">
                <a:solidFill>
                  <a:srgbClr val="F8FAFC"/>
                </a:solidFill>
                <a:latin typeface="Courier New"/>
              </a:defRPr>
            </a:pPr>
            <a:r>
              <a:rPr sz="1200" b="0">
                <a:solidFill>
                  <a:srgbClr val="F8FAFC"/>
                </a:solidFill>
                <a:latin typeface="Courier New"/>
              </a:rPr>
              <a:t>                             average_precision_score, precision_score, recall_score)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digits = load_digits()</a:t>
            </a:r>
          </a:p>
          <a:p>
            <a:pPr>
              <a:defRPr sz="1200" b="0">
                <a:solidFill>
                  <a:srgbClr val="F8FAFC"/>
                </a:solidFill>
                <a:latin typeface="Courier New"/>
              </a:defRPr>
            </a:pPr>
            <a:r>
              <a:rPr sz="1200" b="0">
                <a:solidFill>
                  <a:srgbClr val="F8FAFC"/>
                </a:solidFill>
                <a:latin typeface="Courier New"/>
              </a:rPr>
              <a:t>X, y = digits.data, digits.target</a:t>
            </a:r>
          </a:p>
          <a:p>
            <a:pPr>
              <a:defRPr sz="1200" b="0">
                <a:solidFill>
                  <a:srgbClr val="F8FAFC"/>
                </a:solidFill>
                <a:latin typeface="Courier New"/>
              </a:defRPr>
            </a:pPr>
            <a:r>
              <a:rPr sz="1200" b="0">
                <a:solidFill>
                  <a:srgbClr val="F8FAFC"/>
                </a:solidFill>
                <a:latin typeface="Courier New"/>
              </a:rPr>
              <a:t>Xtr, Xte, ytr, yte = train_test_split(X, y, test_size=0.3, stratify=y, random_state=42)</a:t>
            </a:r>
          </a:p>
          <a:p>
            <a:pPr>
              <a:defRPr sz="1200" b="0">
                <a:solidFill>
                  <a:srgbClr val="F8FAFC"/>
                </a:solidFill>
                <a:latin typeface="Courier New"/>
              </a:defRPr>
            </a:pPr>
            <a:r>
              <a:rPr sz="1200" b="0">
                <a:solidFill>
                  <a:srgbClr val="F8FAFC"/>
                </a:solidFill>
                <a:latin typeface="Courier New"/>
              </a:rPr>
              <a:t>ytr5 = (ytr == 5)</a:t>
            </a:r>
          </a:p>
          <a:p>
            <a:pPr>
              <a:defRPr sz="1200" b="0">
                <a:solidFill>
                  <a:srgbClr val="F8FAFC"/>
                </a:solidFill>
                <a:latin typeface="Courier New"/>
              </a:defRPr>
            </a:pPr>
            <a:r>
              <a:rPr sz="1200" b="0">
                <a:solidFill>
                  <a:srgbClr val="F8FAFC"/>
                </a:solidFill>
                <a:latin typeface="Courier New"/>
              </a:rPr>
              <a:t>print('prevalencia de 5s en train: {:.3f}'.format(ytr5.mean()))</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066 — Curva ROC y AUC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Scores y curva ROC.</a:t>
            </a:r>
          </a:p>
          <a:p>
            <a:pPr>
              <a:spcAft>
                <a:spcPts val="800"/>
              </a:spcAft>
              <a:defRPr sz="1400" b="0">
                <a:solidFill>
                  <a:srgbClr val="0F172A"/>
                </a:solidFill>
                <a:latin typeface="Segoe UI"/>
              </a:defRPr>
            </a:pPr>
            <a:r>
              <a:rPr sz="1400" b="0">
                <a:solidFill>
                  <a:srgbClr val="0F172A"/>
                </a:solidFill>
                <a:latin typeface="Segoe UI"/>
              </a:rPr>
              <a:t>• AUC.</a:t>
            </a:r>
          </a:p>
          <a:p>
            <a:pPr>
              <a:spcAft>
                <a:spcPts val="800"/>
              </a:spcAft>
              <a:defRPr sz="1400" b="0">
                <a:solidFill>
                  <a:srgbClr val="0F172A"/>
                </a:solidFill>
                <a:latin typeface="Segoe UI"/>
              </a:defRPr>
            </a:pPr>
            <a:r>
              <a:rPr sz="1400" b="0">
                <a:solidFill>
                  <a:srgbClr val="0F172A"/>
                </a:solidFill>
                <a:latin typeface="Segoe UI"/>
              </a:rPr>
              <a:t>• Comparar dos modelos.</a:t>
            </a:r>
          </a:p>
          <a:p>
            <a:pPr>
              <a:spcAft>
                <a:spcPts val="800"/>
              </a:spcAft>
              <a:defRPr sz="1400" b="0">
                <a:solidFill>
                  <a:srgbClr val="0F172A"/>
                </a:solidFill>
                <a:latin typeface="Segoe UI"/>
              </a:defRPr>
            </a:pPr>
            <a:r>
              <a:rPr sz="1400" b="0">
                <a:solidFill>
                  <a:srgbClr val="0F172A"/>
                </a:solidFill>
                <a:latin typeface="Segoe UI"/>
              </a:rPr>
              <a:t>• ROC vs PR en desbalance.</a:t>
            </a:r>
          </a:p>
          <a:p>
            <a:pPr>
              <a:spcAft>
                <a:spcPts val="800"/>
              </a:spcAft>
              <a:defRPr sz="1400" b="0">
                <a:solidFill>
                  <a:srgbClr val="0F172A"/>
                </a:solidFill>
                <a:latin typeface="Segoe UI"/>
              </a:defRPr>
            </a:pPr>
            <a:r>
              <a:rPr sz="1400" b="0">
                <a:solidFill>
                  <a:srgbClr val="0F172A"/>
                </a:solidFill>
                <a:latin typeface="Segoe UI"/>
              </a:rPr>
              <a:t>• Punto operativo.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dataset "es un 5" de MNIST: (a) entrenar SGD y RandomForest; (b) graficar ambas ROC superpuestas con AUC en la leyenda; (c) graficar las dos curvas PR con average_precision_score en la leyenda; (d) tabla final con AUC y AP por modelo; (e) párrafo de 3-4 líneas eligiendo el ganador y justificando con qué métrica decidiste y por qué (pista: prevalencia ≈ 10%).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067 — Clasificación multiclase, multilabel, multioutput</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067 — Clasificación multiclase, multilabel, multioutput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3.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distinga los tres escenarios de clasificación más allá del binario — multiclase (una salida con K&gt;2 clases), multilabel (varias etiquetas por muestra) y multioutput (varias salidas, cada una con su propio rango de valores) — y sepa qué estrategia de sklearn (OneVsRest, OneVsOne, MultiOutputClassifier) usar en cada caso, eligiendo además la métrica correcta (accuracy global, hamming loss, macro/micro F1).</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multiclase, multilabel y multioutput con un ejemplo concreto de cada uno.</a:t>
            </a:r>
          </a:p>
          <a:p>
            <a:pPr>
              <a:spcAft>
                <a:spcPts val="800"/>
              </a:spcAft>
              <a:defRPr sz="1400" b="0">
                <a:solidFill>
                  <a:srgbClr val="0F172A"/>
                </a:solidFill>
                <a:latin typeface="Segoe UI"/>
              </a:defRPr>
            </a:pPr>
            <a:r>
              <a:rPr sz="1400" b="0">
                <a:solidFill>
                  <a:srgbClr val="0F172A"/>
                </a:solidFill>
                <a:latin typeface="Segoe UI"/>
              </a:rPr>
              <a:t>• Elegir entre OvR y OvO según el costo computacional del clasificador base y el tamaño del dataset.</a:t>
            </a:r>
          </a:p>
          <a:p>
            <a:pPr>
              <a:spcAft>
                <a:spcPts val="800"/>
              </a:spcAft>
              <a:defRPr sz="1400" b="0">
                <a:solidFill>
                  <a:srgbClr val="0F172A"/>
                </a:solidFill>
                <a:latin typeface="Segoe UI"/>
              </a:defRPr>
            </a:pPr>
            <a:r>
              <a:rPr sz="1400" b="0">
                <a:solidFill>
                  <a:srgbClr val="0F172A"/>
                </a:solidFill>
                <a:latin typeface="Segoe UI"/>
              </a:rPr>
              <a:t>• Entrenar un clasificador multilabel con KNeighborsClassifier y evaluarlo con f1_score(average='macro') y hamming_loss.</a:t>
            </a:r>
          </a:p>
          <a:p>
            <a:pPr>
              <a:spcAft>
                <a:spcPts val="800"/>
              </a:spcAft>
              <a:defRPr sz="1400" b="0">
                <a:solidFill>
                  <a:srgbClr val="0F172A"/>
                </a:solidFill>
                <a:latin typeface="Segoe UI"/>
              </a:defRPr>
            </a:pPr>
            <a:r>
              <a:rPr sz="1400" b="0">
                <a:solidFill>
                  <a:srgbClr val="0F172A"/>
                </a:solidFill>
                <a:latin typeface="Segoe UI"/>
              </a:rPr>
              <a:t>• Envolver un clasificador binario en MultiOutputClassifier para resolver un problema multioutput.</a:t>
            </a:r>
          </a:p>
          <a:p>
            <a:pPr>
              <a:spcAft>
                <a:spcPts val="800"/>
              </a:spcAft>
              <a:defRPr sz="1400" b="0">
                <a:solidFill>
                  <a:srgbClr val="0F172A"/>
                </a:solidFill>
                <a:latin typeface="Segoe UI"/>
              </a:defRPr>
            </a:pPr>
            <a:r>
              <a:rPr sz="1400" b="0">
                <a:solidFill>
                  <a:srgbClr val="0F172A"/>
                </a:solidFill>
                <a:latin typeface="Segoe UI"/>
              </a:rPr>
              <a:t>• Interpretar las salidas de predict_proba en cada escenario (lista de arrays vs array 2D).</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067 — Clasificación multiclase, multilabel, multioutput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Multiclase: definición y clasificadores nativos</a:t>
            </a:r>
          </a:p>
          <a:p>
            <a:pPr>
              <a:spcAft>
                <a:spcPts val="1000"/>
              </a:spcAft>
              <a:defRPr sz="1600" b="0">
                <a:solidFill>
                  <a:srgbClr val="0F172A"/>
                </a:solidFill>
                <a:latin typeface="Segoe UI"/>
              </a:defRPr>
            </a:pPr>
            <a:r>
              <a:rPr sz="1600" b="0">
                <a:solidFill>
                  <a:srgbClr val="0F172A"/>
                </a:solidFill>
                <a:latin typeface="Segoe UI"/>
              </a:rPr>
              <a:t>• OneVsRestClassifier (OvR)</a:t>
            </a:r>
          </a:p>
          <a:p>
            <a:pPr>
              <a:spcAft>
                <a:spcPts val="1000"/>
              </a:spcAft>
              <a:defRPr sz="1600" b="0">
                <a:solidFill>
                  <a:srgbClr val="0F172A"/>
                </a:solidFill>
                <a:latin typeface="Segoe UI"/>
              </a:defRPr>
            </a:pPr>
            <a:r>
              <a:rPr sz="1600" b="0">
                <a:solidFill>
                  <a:srgbClr val="0F172A"/>
                </a:solidFill>
                <a:latin typeface="Segoe UI"/>
              </a:rPr>
              <a:t>• OneVsOneClassifier (OvO)</a:t>
            </a:r>
          </a:p>
          <a:p>
            <a:pPr>
              <a:spcAft>
                <a:spcPts val="1000"/>
              </a:spcAft>
              <a:defRPr sz="1600" b="0">
                <a:solidFill>
                  <a:srgbClr val="0F172A"/>
                </a:solidFill>
                <a:latin typeface="Segoe UI"/>
              </a:defRPr>
            </a:pPr>
            <a:r>
              <a:rPr sz="1600" b="0">
                <a:solidFill>
                  <a:srgbClr val="0F172A"/>
                </a:solidFill>
                <a:latin typeface="Segoe UI"/>
              </a:rPr>
              <a:t>• Multilabel: y es matriz binaria K-dim</a:t>
            </a:r>
          </a:p>
          <a:p>
            <a:pPr>
              <a:spcAft>
                <a:spcPts val="1000"/>
              </a:spcAft>
              <a:defRPr sz="1600" b="0">
                <a:solidFill>
                  <a:srgbClr val="0F172A"/>
                </a:solidFill>
                <a:latin typeface="Segoe UI"/>
              </a:defRPr>
            </a:pPr>
            <a:r>
              <a:rPr sz="1600" b="0">
                <a:solidFill>
                  <a:srgbClr val="0F172A"/>
                </a:solidFill>
                <a:latin typeface="Segoe UI"/>
              </a:rPr>
              <a:t>• Métricas multilabel: hamming loss, macro/micro F1</a:t>
            </a:r>
          </a:p>
          <a:p>
            <a:pPr>
              <a:spcAft>
                <a:spcPts val="1000"/>
              </a:spcAft>
              <a:defRPr sz="1600" b="0">
                <a:solidFill>
                  <a:srgbClr val="0F172A"/>
                </a:solidFill>
                <a:latin typeface="Segoe UI"/>
              </a:defRPr>
            </a:pPr>
            <a:r>
              <a:rPr sz="1600" b="0">
                <a:solidFill>
                  <a:srgbClr val="0F172A"/>
                </a:solidFill>
                <a:latin typeface="Segoe UI"/>
              </a:rPr>
              <a:t>• Multioutput: MultiOutputClassifier / MultiOutputRegressor</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067 — Clasificación multiclase, multilabel, multioutput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Tres escenarios más allá del binario: multiclase (una salida, K&gt;2 clases), multilabel (varias etiquetas por muestra) y multioutput (varias salidas, cada una multiclase). Vemos qué estrategia de sklearn usar y qué métrica elegir. Requiere: numpy,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load_digits</a:t>
            </a:r>
          </a:p>
          <a:p>
            <a:pPr>
              <a:defRPr sz="1200" b="0">
                <a:solidFill>
                  <a:srgbClr val="F8FAFC"/>
                </a:solidFill>
                <a:latin typeface="Courier New"/>
              </a:defRPr>
            </a:pPr>
            <a:r>
              <a:rPr sz="1200" b="0">
                <a:solidFill>
                  <a:srgbClr val="F8FAFC"/>
                </a:solidFill>
                <a:latin typeface="Courier New"/>
              </a:rPr>
              <a:t>from sklearn.linear_model import SGDClassifier</a:t>
            </a:r>
          </a:p>
          <a:p>
            <a:pPr>
              <a:defRPr sz="1200" b="0">
                <a:solidFill>
                  <a:srgbClr val="F8FAFC"/>
                </a:solidFill>
                <a:latin typeface="Courier New"/>
              </a:defRPr>
            </a:pPr>
            <a:r>
              <a:rPr sz="1200" b="0">
                <a:solidFill>
                  <a:srgbClr val="F8FAFC"/>
                </a:solidFill>
                <a:latin typeface="Courier New"/>
              </a:rPr>
              <a:t>from sklearn.svm import SVC</a:t>
            </a:r>
          </a:p>
          <a:p>
            <a:pPr>
              <a:defRPr sz="1200" b="0">
                <a:solidFill>
                  <a:srgbClr val="F8FAFC"/>
                </a:solidFill>
                <a:latin typeface="Courier New"/>
              </a:defRPr>
            </a:pPr>
            <a:r>
              <a:rPr sz="1200" b="0">
                <a:solidFill>
                  <a:srgbClr val="F8FAFC"/>
                </a:solidFill>
                <a:latin typeface="Courier New"/>
              </a:rPr>
              <a:t>from sklearn.neighbors import KNeighborsClassifier</a:t>
            </a:r>
          </a:p>
          <a:p>
            <a:pPr>
              <a:defRPr sz="1200" b="0">
                <a:solidFill>
                  <a:srgbClr val="F8FAFC"/>
                </a:solidFill>
                <a:latin typeface="Courier New"/>
              </a:defRPr>
            </a:pPr>
            <a:r>
              <a:rPr sz="1200" b="0">
                <a:solidFill>
                  <a:srgbClr val="F8FAFC"/>
                </a:solidFill>
                <a:latin typeface="Courier New"/>
              </a:rPr>
              <a:t>from sklearn.multiclass import OneVsRestClassifier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sklearn.metrics import f1_score, hamming_loss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digits = load_digits()</a:t>
            </a:r>
          </a:p>
          <a:p>
            <a:pPr>
              <a:defRPr sz="1200" b="0">
                <a:solidFill>
                  <a:srgbClr val="F8FAFC"/>
                </a:solidFill>
                <a:latin typeface="Courier New"/>
              </a:defRPr>
            </a:pPr>
            <a:r>
              <a:rPr sz="1200" b="0">
                <a:solidFill>
                  <a:srgbClr val="F8FAFC"/>
                </a:solidFill>
                <a:latin typeface="Courier New"/>
              </a:rPr>
              <a:t>X, y = digits.data, digits.target</a:t>
            </a:r>
          </a:p>
          <a:p>
            <a:pPr>
              <a:defRPr sz="1200" b="0">
                <a:solidFill>
                  <a:srgbClr val="F8FAFC"/>
                </a:solidFill>
                <a:latin typeface="Courier New"/>
              </a:defRPr>
            </a:pPr>
            <a:r>
              <a:rPr sz="1200" b="0">
                <a:solidFill>
                  <a:srgbClr val="F8FAFC"/>
                </a:solidFill>
                <a:latin typeface="Courier New"/>
              </a:rPr>
              <a:t>Xtr, Xte, ytr, yte = train_test_split(X, y, test_size=0.3, stratify=y, random_state=42)</a:t>
            </a:r>
          </a:p>
          <a:p>
            <a:pPr>
              <a:defRPr sz="1200" b="0">
                <a:solidFill>
                  <a:srgbClr val="F8FAFC"/>
                </a:solidFill>
                <a:latin typeface="Courier New"/>
              </a:defRPr>
            </a:pPr>
            <a:r>
              <a:rPr sz="1200" b="0">
                <a:solidFill>
                  <a:srgbClr val="F8FAFC"/>
                </a:solidFill>
                <a:latin typeface="Courier New"/>
              </a:rPr>
              <a:t>print('X', X.shape, '| clases:', np.unique(y))</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067 — Clasificación multiclase, multilabel, multioutput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Multiclase nativo vs OvR.</a:t>
            </a:r>
          </a:p>
          <a:p>
            <a:pPr>
              <a:spcAft>
                <a:spcPts val="800"/>
              </a:spcAft>
              <a:defRPr sz="1400" b="0">
                <a:solidFill>
                  <a:srgbClr val="0F172A"/>
                </a:solidFill>
                <a:latin typeface="Segoe UI"/>
              </a:defRPr>
            </a:pPr>
            <a:r>
              <a:rPr sz="1400" b="0">
                <a:solidFill>
                  <a:srgbClr val="0F172A"/>
                </a:solidFill>
                <a:latin typeface="Segoe UI"/>
              </a:rPr>
              <a:t>• OvO con SVM.</a:t>
            </a:r>
          </a:p>
          <a:p>
            <a:pPr>
              <a:spcAft>
                <a:spcPts val="800"/>
              </a:spcAft>
              <a:defRPr sz="1400" b="0">
                <a:solidFill>
                  <a:srgbClr val="0F172A"/>
                </a:solidFill>
                <a:latin typeface="Segoe UI"/>
              </a:defRPr>
            </a:pPr>
            <a:r>
              <a:rPr sz="1400" b="0">
                <a:solidFill>
                  <a:srgbClr val="0F172A"/>
                </a:solidFill>
                <a:latin typeface="Segoe UI"/>
              </a:rPr>
              <a:t>• Multilabel con KNN.</a:t>
            </a:r>
          </a:p>
          <a:p>
            <a:pPr>
              <a:spcAft>
                <a:spcPts val="800"/>
              </a:spcAft>
              <a:defRPr sz="1400" b="0">
                <a:solidFill>
                  <a:srgbClr val="0F172A"/>
                </a:solidFill>
                <a:latin typeface="Segoe UI"/>
              </a:defRPr>
            </a:pPr>
            <a:r>
              <a:rPr sz="1400" b="0">
                <a:solidFill>
                  <a:srgbClr val="0F172A"/>
                </a:solidFill>
                <a:latin typeface="Segoe UI"/>
              </a:rPr>
              <a:t>• Macro vs micro F1.</a:t>
            </a:r>
          </a:p>
          <a:p>
            <a:pPr>
              <a:spcAft>
                <a:spcPts val="800"/>
              </a:spcAft>
              <a:defRPr sz="1400" b="0">
                <a:solidFill>
                  <a:srgbClr val="0F172A"/>
                </a:solidFill>
                <a:latin typeface="Segoe UI"/>
              </a:defRPr>
            </a:pPr>
            <a:r>
              <a:rPr sz="1400" b="0">
                <a:solidFill>
                  <a:srgbClr val="0F172A"/>
                </a:solidFill>
                <a:latin typeface="Segoe UI"/>
              </a:rPr>
              <a:t>• Multioutput denoising.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sobre MNIST con: (a) clasificador multiclase con RandomForestClassifier y matriz de confusión 10×10; (b) versión multilabel con etiquetas [es_grande, es_impar] usando KNeighborsClassifier y reporte de hamming_loss + f1_score(average='macro'); (c) ejemplo multioutput de denoising sobre 100 imágenes con ruido uniforme, mostrando 3 pares (ruidosa, denoised, original).</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068 — Análisis de errores</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068 — Análisis de errores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3 § Error Analysis.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deje de mirar el accuracy global y empiece a auditar dónde se equivoca un clasificador: confusion matrix normalizada por fila, pares de clases confundidas, inspección visual de ejemplos mal clasificados, y el loop de error analysis como puerta de entrada al data-centric AI (mejorar datos, no solo modelos).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y normalizar una confusion matrix por fila (recall por clase) y leerla sin confundir filas con columnas.</a:t>
            </a:r>
          </a:p>
          <a:p>
            <a:pPr>
              <a:spcAft>
                <a:spcPts val="800"/>
              </a:spcAft>
              <a:defRPr sz="1400" b="0">
                <a:solidFill>
                  <a:srgbClr val="0F172A"/>
                </a:solidFill>
                <a:latin typeface="Segoe UI"/>
              </a:defRPr>
            </a:pPr>
            <a:r>
              <a:rPr sz="1400" b="0">
                <a:solidFill>
                  <a:srgbClr val="0F172A"/>
                </a:solidFill>
                <a:latin typeface="Segoe UI"/>
              </a:rPr>
              <a:t>• Identificar pares de clases confundidas ordenando los off-diagonals normalizados de mayor a menor.</a:t>
            </a:r>
          </a:p>
          <a:p>
            <a:pPr>
              <a:spcAft>
                <a:spcPts val="800"/>
              </a:spcAft>
              <a:defRPr sz="1400" b="0">
                <a:solidFill>
                  <a:srgbClr val="0F172A"/>
                </a:solidFill>
                <a:latin typeface="Segoe UI"/>
              </a:defRPr>
            </a:pPr>
            <a:r>
              <a:rPr sz="1400" b="0">
                <a:solidFill>
                  <a:srgbClr val="0F172A"/>
                </a:solidFill>
                <a:latin typeface="Segoe UI"/>
              </a:rPr>
              <a:t>• Inspeccionar visualmente ejemplos mal clasificados (hard examples) para formular hipótesis de causa raíz.</a:t>
            </a:r>
          </a:p>
          <a:p>
            <a:pPr>
              <a:spcAft>
                <a:spcPts val="800"/>
              </a:spcAft>
              <a:defRPr sz="1400" b="0">
                <a:solidFill>
                  <a:srgbClr val="0F172A"/>
                </a:solidFill>
                <a:latin typeface="Segoe UI"/>
              </a:defRPr>
            </a:pPr>
            <a:r>
              <a:rPr sz="1400" b="0">
                <a:solidFill>
                  <a:srgbClr val="0F172A"/>
                </a:solidFill>
                <a:latin typeface="Segoe UI"/>
              </a:rPr>
              <a:t>• Decidir si la próxima iteración mejora el modelo (features, regularización, capacidad) o mejora los datos (relabel, augmentación, balancear).</a:t>
            </a:r>
          </a:p>
          <a:p>
            <a:pPr>
              <a:spcAft>
                <a:spcPts val="800"/>
              </a:spcAft>
              <a:defRPr sz="1400" b="0">
                <a:solidFill>
                  <a:srgbClr val="0F172A"/>
                </a:solidFill>
                <a:latin typeface="Segoe UI"/>
              </a:defRPr>
            </a:pPr>
            <a:r>
              <a:rPr sz="1400" b="0">
                <a:solidFill>
                  <a:srgbClr val="0F172A"/>
                </a:solidFill>
                <a:latin typeface="Segoe UI"/>
              </a:rPr>
              <a:t>• Ejecutar el error analysis loop: entrenar → matriz → slices → hipótesis → fix → re-entrenar.</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068 — Análisis de errores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Confusion matrix cruda vs normalizada por fila</a:t>
            </a:r>
          </a:p>
          <a:p>
            <a:pPr>
              <a:spcAft>
                <a:spcPts val="1000"/>
              </a:spcAft>
              <a:defRPr sz="1600" b="0">
                <a:solidFill>
                  <a:srgbClr val="0F172A"/>
                </a:solidFill>
                <a:latin typeface="Segoe UI"/>
              </a:defRPr>
            </a:pPr>
            <a:r>
              <a:rPr sz="1600" b="0">
                <a:solidFill>
                  <a:srgbClr val="0F172A"/>
                </a:solidFill>
                <a:latin typeface="Segoe UI"/>
              </a:rPr>
              <a:t>• Off-diagonals: qué clase se confunde con cuál</a:t>
            </a:r>
          </a:p>
          <a:p>
            <a:pPr>
              <a:spcAft>
                <a:spcPts val="1000"/>
              </a:spcAft>
              <a:defRPr sz="1600" b="0">
                <a:solidFill>
                  <a:srgbClr val="0F172A"/>
                </a:solidFill>
                <a:latin typeface="Segoe UI"/>
              </a:defRPr>
            </a:pPr>
            <a:r>
              <a:rPr sz="1600" b="0">
                <a:solidFill>
                  <a:srgbClr val="0F172A"/>
                </a:solidFill>
                <a:latin typeface="Segoe UI"/>
              </a:rPr>
              <a:t>• Inspección visual de hard examples</a:t>
            </a:r>
          </a:p>
          <a:p>
            <a:pPr>
              <a:spcAft>
                <a:spcPts val="1000"/>
              </a:spcAft>
              <a:defRPr sz="1600" b="0">
                <a:solidFill>
                  <a:srgbClr val="0F172A"/>
                </a:solidFill>
                <a:latin typeface="Segoe UI"/>
              </a:defRPr>
            </a:pPr>
            <a:r>
              <a:rPr sz="1600" b="0">
                <a:solidFill>
                  <a:srgbClr val="0F172A"/>
                </a:solidFill>
                <a:latin typeface="Segoe UI"/>
              </a:rPr>
              <a:t>• Slice analysis (error por subgrupo)</a:t>
            </a:r>
          </a:p>
          <a:p>
            <a:pPr>
              <a:spcAft>
                <a:spcPts val="1000"/>
              </a:spcAft>
              <a:defRPr sz="1600" b="0">
                <a:solidFill>
                  <a:srgbClr val="0F172A"/>
                </a:solidFill>
                <a:latin typeface="Segoe UI"/>
              </a:defRPr>
            </a:pPr>
            <a:r>
              <a:rPr sz="1600" b="0">
                <a:solidFill>
                  <a:srgbClr val="0F172A"/>
                </a:solidFill>
                <a:latin typeface="Segoe UI"/>
              </a:rPr>
              <a:t>• Data-centric AI: cuándo arreglar datos</a:t>
            </a:r>
          </a:p>
          <a:p>
            <a:pPr>
              <a:spcAft>
                <a:spcPts val="1000"/>
              </a:spcAft>
              <a:defRPr sz="1600" b="0">
                <a:solidFill>
                  <a:srgbClr val="0F172A"/>
                </a:solidFill>
                <a:latin typeface="Segoe UI"/>
              </a:defRPr>
            </a:pPr>
            <a:r>
              <a:rPr sz="1600" b="0">
                <a:solidFill>
                  <a:srgbClr val="0F172A"/>
                </a:solidFill>
                <a:latin typeface="Segoe UI"/>
              </a:rPr>
              <a:t>• Error analysis loop</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068 — Análisis de errores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Dejamos de mirar el accuracy global y auditamos dónde se equivoca el clasificador: matriz de confusión normalizada por fila, pares de clases confundidas, inspección visual de errores y análisis por slices como puerta al data-centric AI. Requiere: numpy, scikit-learn,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load_digits</a:t>
            </a:r>
          </a:p>
          <a:p>
            <a:pPr>
              <a:defRPr sz="1200" b="0">
                <a:solidFill>
                  <a:srgbClr val="F8FAFC"/>
                </a:solidFill>
                <a:latin typeface="Courier New"/>
              </a:defRPr>
            </a:pPr>
            <a:r>
              <a:rPr sz="1200" b="0">
                <a:solidFill>
                  <a:srgbClr val="F8FAFC"/>
                </a:solidFill>
                <a:latin typeface="Courier New"/>
              </a:rPr>
              <a:t>from sklearn.linear_model import SGDClassifier</a:t>
            </a:r>
          </a:p>
          <a:p>
            <a:pPr>
              <a:defRPr sz="1200" b="0">
                <a:solidFill>
                  <a:srgbClr val="F8FAFC"/>
                </a:solidFill>
                <a:latin typeface="Courier New"/>
              </a:defRPr>
            </a:pPr>
            <a:r>
              <a:rPr sz="1200" b="0">
                <a:solidFill>
                  <a:srgbClr val="F8FAFC"/>
                </a:solidFill>
                <a:latin typeface="Courier New"/>
              </a:rPr>
              <a:t>from sklearn.model_selection import train_test_split, cross_val_predict</a:t>
            </a:r>
          </a:p>
          <a:p>
            <a:pPr>
              <a:defRPr sz="1200" b="0">
                <a:solidFill>
                  <a:srgbClr val="F8FAFC"/>
                </a:solidFill>
                <a:latin typeface="Courier New"/>
              </a:defRPr>
            </a:pPr>
            <a:r>
              <a:rPr sz="1200" b="0">
                <a:solidFill>
                  <a:srgbClr val="F8FAFC"/>
                </a:solidFill>
                <a:latin typeface="Courier New"/>
              </a:rPr>
              <a:t>from sklearn.metrics import confusion_matrix,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digits = load_digits()</a:t>
            </a:r>
          </a:p>
          <a:p>
            <a:pPr>
              <a:defRPr sz="1200" b="0">
                <a:solidFill>
                  <a:srgbClr val="F8FAFC"/>
                </a:solidFill>
                <a:latin typeface="Courier New"/>
              </a:defRPr>
            </a:pPr>
            <a:r>
              <a:rPr sz="1200" b="0">
                <a:solidFill>
                  <a:srgbClr val="F8FAFC"/>
                </a:solidFill>
                <a:latin typeface="Courier New"/>
              </a:rPr>
              <a:t>X, y = digits.data, digits.target</a:t>
            </a:r>
          </a:p>
          <a:p>
            <a:pPr>
              <a:defRPr sz="1200" b="0">
                <a:solidFill>
                  <a:srgbClr val="F8FAFC"/>
                </a:solidFill>
                <a:latin typeface="Courier New"/>
              </a:defRPr>
            </a:pPr>
            <a:r>
              <a:rPr sz="1200" b="0">
                <a:solidFill>
                  <a:srgbClr val="F8FAFC"/>
                </a:solidFill>
                <a:latin typeface="Courier New"/>
              </a:rPr>
              <a:t>Xtr, Xte, ytr, yte = train_test_split(X, y, test_size=0.3, stratify=y, random_state=42)</a:t>
            </a:r>
          </a:p>
          <a:p>
            <a:pPr>
              <a:defRPr sz="1200" b="0">
                <a:solidFill>
                  <a:srgbClr val="F8FAFC"/>
                </a:solidFill>
                <a:latin typeface="Courier New"/>
              </a:defRPr>
            </a:pPr>
            <a:r>
              <a:rPr sz="1200" b="0">
                <a:solidFill>
                  <a:srgbClr val="F8FAFC"/>
                </a:solidFill>
                <a:latin typeface="Courier New"/>
              </a:rPr>
              <a:t>print('train', Xtr.shape, '| test', Xte.shape)</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068 — Análisis de errores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Matriz cruda y normalizada.</a:t>
            </a:r>
          </a:p>
          <a:p>
            <a:pPr>
              <a:spcAft>
                <a:spcPts val="800"/>
              </a:spcAft>
              <a:defRPr sz="1400" b="0">
                <a:solidFill>
                  <a:srgbClr val="0F172A"/>
                </a:solidFill>
                <a:latin typeface="Segoe UI"/>
              </a:defRPr>
            </a:pPr>
            <a:r>
              <a:rPr sz="1400" b="0">
                <a:solidFill>
                  <a:srgbClr val="0F172A"/>
                </a:solidFill>
                <a:latin typeface="Segoe UI"/>
              </a:rPr>
              <a:t>• Top-5 confusiones.</a:t>
            </a:r>
          </a:p>
          <a:p>
            <a:pPr>
              <a:spcAft>
                <a:spcPts val="800"/>
              </a:spcAft>
              <a:defRPr sz="1400" b="0">
                <a:solidFill>
                  <a:srgbClr val="0F172A"/>
                </a:solidFill>
                <a:latin typeface="Segoe UI"/>
              </a:defRPr>
            </a:pPr>
            <a:r>
              <a:rPr sz="1400" b="0">
                <a:solidFill>
                  <a:srgbClr val="0F172A"/>
                </a:solidFill>
                <a:latin typeface="Segoe UI"/>
              </a:rPr>
              <a:t>• Galería de errores.</a:t>
            </a:r>
          </a:p>
          <a:p>
            <a:pPr>
              <a:spcAft>
                <a:spcPts val="800"/>
              </a:spcAft>
              <a:defRPr sz="1400" b="0">
                <a:solidFill>
                  <a:srgbClr val="0F172A"/>
                </a:solidFill>
                <a:latin typeface="Segoe UI"/>
              </a:defRPr>
            </a:pPr>
            <a:r>
              <a:rPr sz="1400" b="0">
                <a:solidFill>
                  <a:srgbClr val="0F172A"/>
                </a:solidFill>
                <a:latin typeface="Segoe UI"/>
              </a:rPr>
              <a:t>• Slice por grosor de trazo.</a:t>
            </a:r>
          </a:p>
          <a:p>
            <a:pPr>
              <a:spcAft>
                <a:spcPts val="800"/>
              </a:spcAft>
              <a:defRPr sz="1400" b="0">
                <a:solidFill>
                  <a:srgbClr val="0F172A"/>
                </a:solidFill>
                <a:latin typeface="Segoe UI"/>
              </a:defRPr>
            </a:pPr>
            <a:r>
              <a:rPr sz="1400" b="0">
                <a:solidFill>
                  <a:srgbClr val="0F172A"/>
                </a:solidFill>
                <a:latin typeface="Segoe UI"/>
              </a:rPr>
              <a:t>• Intervención data-centric.</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MNIST que entregue: (a) confusion matrix normalizada por fila como heatmap; (b) tabla con los 3 pares de clases más confundidos y su porcentaje; (c) grilla de 16 ejemplos mal clasificados del par peor, con título real=X pred=Y; (d) tabla de accuracy por slice según una variable derivada (intensidad media, posición del centro de masa, lo que elijas); (e) un párrafo de hipótesis: ¿el error es de modelo o de datos? ¿qué probarías en la siguiente iteración?</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069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069 — Regresión lineal: ecuación normal vs gradient descent</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069 — Regresión lineal: ecuación normal vs gradient descent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4 § Linear Regression.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regresión lineal desde adentro: la hipótesis $\hat{y} = \theta^T x$, por qué se usa MSE como costo, las dos formas de resolverla (ecuación normal cerrada vs gradient descent iterativo), y cuándo conviene cada una según el tamaño del dataset y la cantidad de features.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la hipótesis lineal $\hat{y} = \theta_0 + \theta_1 x_1 + \dots + \theta_n x_n$ en forma matricial $X\theta$.</a:t>
            </a:r>
          </a:p>
          <a:p>
            <a:pPr>
              <a:spcAft>
                <a:spcPts val="800"/>
              </a:spcAft>
              <a:defRPr sz="1400" b="0">
                <a:solidFill>
                  <a:srgbClr val="0F172A"/>
                </a:solidFill>
                <a:latin typeface="Segoe UI"/>
              </a:defRPr>
            </a:pPr>
            <a:r>
              <a:rPr sz="1400" b="0">
                <a:solidFill>
                  <a:srgbClr val="0F172A"/>
                </a:solidFill>
                <a:latin typeface="Segoe UI"/>
              </a:rPr>
              <a:t>• Derivar la ecuación normal $\theta = (X^T X)^{-1} X^T y$ y resolverla con NumPy.</a:t>
            </a:r>
          </a:p>
          <a:p>
            <a:pPr>
              <a:spcAft>
                <a:spcPts val="800"/>
              </a:spcAft>
              <a:defRPr sz="1400" b="0">
                <a:solidFill>
                  <a:srgbClr val="0F172A"/>
                </a:solidFill>
                <a:latin typeface="Segoe UI"/>
              </a:defRPr>
            </a:pPr>
            <a:r>
              <a:rPr sz="1400" b="0">
                <a:solidFill>
                  <a:srgbClr val="0F172A"/>
                </a:solidFill>
                <a:latin typeface="Segoe UI"/>
              </a:rPr>
              <a:t>• Usar LinearRegression de sklearn y entender que internamente usa pseudoinversa SVD (más estable que la ecuación normal).</a:t>
            </a:r>
          </a:p>
          <a:p>
            <a:pPr>
              <a:spcAft>
                <a:spcPts val="800"/>
              </a:spcAft>
              <a:defRPr sz="1400" b="0">
                <a:solidFill>
                  <a:srgbClr val="0F172A"/>
                </a:solidFill>
                <a:latin typeface="Segoe UI"/>
              </a:defRPr>
            </a:pPr>
            <a:r>
              <a:rPr sz="1400" b="0">
                <a:solidFill>
                  <a:srgbClr val="0F172A"/>
                </a:solidFill>
                <a:latin typeface="Segoe UI"/>
              </a:rPr>
              <a:t>• Comparar complejidad: ecuación normal $O(n^3)$ en features vs gradient descent $O(n)$ por iteración.</a:t>
            </a:r>
          </a:p>
          <a:p>
            <a:pPr>
              <a:spcAft>
                <a:spcPts val="800"/>
              </a:spcAft>
              <a:defRPr sz="1400" b="0">
                <a:solidFill>
                  <a:srgbClr val="0F172A"/>
                </a:solidFill>
                <a:latin typeface="Segoe UI"/>
              </a:defRPr>
            </a:pPr>
            <a:r>
              <a:rPr sz="1400" b="0">
                <a:solidFill>
                  <a:srgbClr val="0F172A"/>
                </a:solidFill>
                <a:latin typeface="Segoe UI"/>
              </a:rPr>
              <a:t>• Justificar la elección entre forma cerrada y GD según $n$ features y $m$ muestras.</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069 — Regresión lineal: ecuación normal vs gradient descent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Hipótesis lineal y notación vectorial</a:t>
            </a:r>
          </a:p>
          <a:p>
            <a:pPr>
              <a:spcAft>
                <a:spcPts val="1000"/>
              </a:spcAft>
              <a:defRPr sz="1600" b="0">
                <a:solidFill>
                  <a:srgbClr val="0F172A"/>
                </a:solidFill>
                <a:latin typeface="Segoe UI"/>
              </a:defRPr>
            </a:pPr>
            <a:r>
              <a:rPr sz="1600" b="0">
                <a:solidFill>
                  <a:srgbClr val="0F172A"/>
                </a:solidFill>
                <a:latin typeface="Segoe UI"/>
              </a:rPr>
              <a:t>• MSE como función de costo</a:t>
            </a:r>
          </a:p>
          <a:p>
            <a:pPr>
              <a:spcAft>
                <a:spcPts val="1000"/>
              </a:spcAft>
              <a:defRPr sz="1600" b="0">
                <a:solidFill>
                  <a:srgbClr val="0F172A"/>
                </a:solidFill>
                <a:latin typeface="Segoe UI"/>
              </a:defRPr>
            </a:pPr>
            <a:r>
              <a:rPr sz="1600" b="0">
                <a:solidFill>
                  <a:srgbClr val="0F172A"/>
                </a:solidFill>
                <a:latin typeface="Segoe UI"/>
              </a:rPr>
              <a:t>• Ecuación normal (forma cerrada)</a:t>
            </a:r>
          </a:p>
          <a:p>
            <a:pPr>
              <a:spcAft>
                <a:spcPts val="1000"/>
              </a:spcAft>
              <a:defRPr sz="1600" b="0">
                <a:solidFill>
                  <a:srgbClr val="0F172A"/>
                </a:solidFill>
                <a:latin typeface="Segoe UI"/>
              </a:defRPr>
            </a:pPr>
            <a:r>
              <a:rPr sz="1600" b="0">
                <a:solidFill>
                  <a:srgbClr val="0F172A"/>
                </a:solidFill>
                <a:latin typeface="Segoe UI"/>
              </a:rPr>
              <a:t>• Pseudoinversa SVD</a:t>
            </a:r>
          </a:p>
          <a:p>
            <a:pPr>
              <a:spcAft>
                <a:spcPts val="1000"/>
              </a:spcAft>
              <a:defRPr sz="1600" b="0">
                <a:solidFill>
                  <a:srgbClr val="0F172A"/>
                </a:solidFill>
                <a:latin typeface="Segoe UI"/>
              </a:defRPr>
            </a:pPr>
            <a:r>
              <a:rPr sz="1600" b="0">
                <a:solidFill>
                  <a:srgbClr val="0F172A"/>
                </a:solidFill>
                <a:latin typeface="Segoe UI"/>
              </a:rPr>
              <a:t>• Gradient descent (intuición)</a:t>
            </a:r>
          </a:p>
          <a:p>
            <a:pPr>
              <a:spcAft>
                <a:spcPts val="1000"/>
              </a:spcAft>
              <a:defRPr sz="1600" b="0">
                <a:solidFill>
                  <a:srgbClr val="0F172A"/>
                </a:solidFill>
                <a:latin typeface="Segoe UI"/>
              </a:defRPr>
            </a:pPr>
            <a:r>
              <a:rPr sz="1600" b="0">
                <a:solidFill>
                  <a:srgbClr val="0F172A"/>
                </a:solidFill>
                <a:latin typeface="Segoe UI"/>
              </a:rPr>
              <a:t>• Complejidad computacional</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069 — Regresión lineal: ecuación normal vs gradient descent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Generamos $y = 4 + 3x + \text{ruido}\ \mathcal{N}(0,1)$ con $m=100$. El $\theta$ verdadero es $[4, 3]$, así que podremos verificar cuánto lo recupera cada método. Agregamos la columna de unos $x_0=1$ para absorber el bias.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m = 100</a:t>
            </a:r>
          </a:p>
          <a:p>
            <a:pPr>
              <a:defRPr sz="1200" b="0">
                <a:solidFill>
                  <a:srgbClr val="F8FAFC"/>
                </a:solidFill>
                <a:latin typeface="Courier New"/>
              </a:defRPr>
            </a:pPr>
            <a:r>
              <a:rPr sz="1200" b="0">
                <a:solidFill>
                  <a:srgbClr val="F8FAFC"/>
                </a:solidFill>
                <a:latin typeface="Courier New"/>
              </a:rPr>
              <a:t>X = 2 * np.random.rand(m, 1)</a:t>
            </a:r>
          </a:p>
          <a:p>
            <a:pPr>
              <a:defRPr sz="1200" b="0">
                <a:solidFill>
                  <a:srgbClr val="F8FAFC"/>
                </a:solidFill>
                <a:latin typeface="Courier New"/>
              </a:defRPr>
            </a:pPr>
            <a:r>
              <a:rPr sz="1200" b="0">
                <a:solidFill>
                  <a:srgbClr val="F8FAFC"/>
                </a:solidFill>
                <a:latin typeface="Courier New"/>
              </a:rPr>
              <a:t>y = 4 + 3 * X[:, 0] + np.random.randn(m)     # DGP: y = 4 + 3x + N(0,1)</a:t>
            </a:r>
          </a:p>
          <a:p>
            <a:pPr>
              <a:defRPr sz="1200" b="0">
                <a:solidFill>
                  <a:srgbClr val="F8FAFC"/>
                </a:solidFill>
                <a:latin typeface="Courier New"/>
              </a:defRPr>
            </a:pPr>
            <a:r>
              <a:rPr sz="1200" b="0">
                <a:solidFill>
                  <a:srgbClr val="F8FAFC"/>
                </a:solidFill>
                <a:latin typeface="Courier New"/>
              </a:rPr>
              <a:t>X_b = np.c_[np.ones((m, 1)), X]              # columna de unos para el bias</a:t>
            </a:r>
          </a:p>
          <a:p>
            <a:pPr>
              <a:defRPr sz="1200" b="0">
                <a:solidFill>
                  <a:srgbClr val="F8FAFC"/>
                </a:solidFill>
                <a:latin typeface="Courier New"/>
              </a:defRPr>
            </a:pPr>
            <a:r>
              <a:rPr sz="1200" b="0">
                <a:solidFill>
                  <a:srgbClr val="F8FAFC"/>
                </a:solidFill>
                <a:latin typeface="Courier New"/>
              </a:rPr>
              <a:t>print('X_b shape:', X_b.shape, '| y shape:', y.shape)</a:t>
            </a:r>
          </a:p>
          <a:p>
            <a:pPr>
              <a:defRPr sz="1200" b="0">
                <a:solidFill>
                  <a:srgbClr val="F8FAFC"/>
                </a:solidFill>
                <a:latin typeface="Courier New"/>
              </a:defRPr>
            </a:pPr>
            <a:r>
              <a:rPr sz="1200" b="0">
                <a:solidFill>
                  <a:srgbClr val="F8FAFC"/>
                </a:solidFill>
                <a:latin typeface="Courier New"/>
              </a:rPr>
              <a:t>print('theta verdadero:', [4, 3])</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069 — Regresión lineal: ecuación normal vs gradient descent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Hipótesis a mano.</a:t>
            </a:r>
          </a:p>
          <a:p>
            <a:pPr>
              <a:spcAft>
                <a:spcPts val="800"/>
              </a:spcAft>
              <a:defRPr sz="1400" b="0">
                <a:solidFill>
                  <a:srgbClr val="0F172A"/>
                </a:solidFill>
                <a:latin typeface="Segoe UI"/>
              </a:defRPr>
            </a:pPr>
            <a:r>
              <a:rPr sz="1400" b="0">
                <a:solidFill>
                  <a:srgbClr val="0F172A"/>
                </a:solidFill>
                <a:latin typeface="Segoe UI"/>
              </a:rPr>
              <a:t>• Pseudoinversa.</a:t>
            </a:r>
          </a:p>
          <a:p>
            <a:pPr>
              <a:spcAft>
                <a:spcPts val="800"/>
              </a:spcAft>
              <a:defRPr sz="1400" b="0">
                <a:solidFill>
                  <a:srgbClr val="0F172A"/>
                </a:solidFill>
                <a:latin typeface="Segoe UI"/>
              </a:defRPr>
            </a:pPr>
            <a:r>
              <a:rPr sz="1400" b="0">
                <a:solidFill>
                  <a:srgbClr val="0F172A"/>
                </a:solidFill>
                <a:latin typeface="Segoe UI"/>
              </a:rPr>
              <a:t>• sklearn.</a:t>
            </a:r>
          </a:p>
          <a:p>
            <a:pPr>
              <a:spcAft>
                <a:spcPts val="800"/>
              </a:spcAft>
              <a:defRPr sz="1400" b="0">
                <a:solidFill>
                  <a:srgbClr val="0F172A"/>
                </a:solidFill>
                <a:latin typeface="Segoe UI"/>
              </a:defRPr>
            </a:pPr>
            <a:r>
              <a:rPr sz="1400" b="0">
                <a:solidFill>
                  <a:srgbClr val="0F172A"/>
                </a:solidFill>
                <a:latin typeface="Segoe UI"/>
              </a:rPr>
              <a:t>• Caso singular.</a:t>
            </a:r>
          </a:p>
          <a:p>
            <a:pPr>
              <a:spcAft>
                <a:spcPts val="800"/>
              </a:spcAft>
              <a:defRPr sz="1400" b="0">
                <a:solidFill>
                  <a:srgbClr val="0F172A"/>
                </a:solidFill>
                <a:latin typeface="Segoe UI"/>
              </a:defRPr>
            </a:pPr>
            <a:r>
              <a:rPr sz="1400" b="0">
                <a:solidFill>
                  <a:srgbClr val="0F172A"/>
                </a:solidFill>
                <a:latin typeface="Segoe UI"/>
              </a:rPr>
              <a:t>• Complejidad empírica.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dataset California Housing (sklearn.datasets.fetch_california_housing): (a) split 80/20 con random_state=42; (b) ajustar LinearRegression; (c) reportar $R^2$ y RMSE en test; (d) imprimir coef_ mapeado a nombres de feature; (e) resolver manualmente la ecuación normal en los datos escalados y verificar que da los mismos coeficientes que sklearn (módulo escalado del intercept).</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070 — Gradient Descent: batch, stochastic, mini-batch</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070 — Gradient Descent: batch, stochastic, mini-batch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4.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gradient descent como motor de optimización para entrenar modelos lineales cuando la ecuación normal no escala, y sepa elegir entre batch (BGD), stochastic (SGD) y mini-batch GD según tamaño del dataset, ruido tolerable y costo por iteración. Que además dimensione el rol del learning rate y del feature scaling, y use SGDRegressor de scikit-learn.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el gradiente de la MSE en regresión lineal y por qué moverse en -∇ minimiza el costo.</a:t>
            </a:r>
          </a:p>
          <a:p>
            <a:pPr>
              <a:spcAft>
                <a:spcPts val="800"/>
              </a:spcAft>
              <a:defRPr sz="1400" b="0">
                <a:solidFill>
                  <a:srgbClr val="0F172A"/>
                </a:solidFill>
                <a:latin typeface="Segoe UI"/>
              </a:defRPr>
            </a:pPr>
            <a:r>
              <a:rPr sz="1400" b="0">
                <a:solidFill>
                  <a:srgbClr val="0F172A"/>
                </a:solidFill>
                <a:latin typeface="Segoe UI"/>
              </a:rPr>
              <a:t>• Diferenciar BGD vs SGD vs mini-batch en términos de costo por iteración, varianza del paso y memoria.</a:t>
            </a:r>
          </a:p>
          <a:p>
            <a:pPr>
              <a:spcAft>
                <a:spcPts val="800"/>
              </a:spcAft>
              <a:defRPr sz="1400" b="0">
                <a:solidFill>
                  <a:srgbClr val="0F172A"/>
                </a:solidFill>
                <a:latin typeface="Segoe UI"/>
              </a:defRPr>
            </a:pPr>
            <a:r>
              <a:rPr sz="1400" b="0">
                <a:solidFill>
                  <a:srgbClr val="0F172A"/>
                </a:solidFill>
                <a:latin typeface="Segoe UI"/>
              </a:rPr>
              <a:t>• Diagnosticar la curva de costo (divergente, oscilante, lenta, suave) e inferir si el learning_rate está mal seteado.</a:t>
            </a:r>
          </a:p>
          <a:p>
            <a:pPr>
              <a:spcAft>
                <a:spcPts val="800"/>
              </a:spcAft>
              <a:defRPr sz="1400" b="0">
                <a:solidFill>
                  <a:srgbClr val="0F172A"/>
                </a:solidFill>
                <a:latin typeface="Segoe UI"/>
              </a:defRPr>
            </a:pPr>
            <a:r>
              <a:rPr sz="1400" b="0">
                <a:solidFill>
                  <a:srgbClr val="0F172A"/>
                </a:solidFill>
                <a:latin typeface="Segoe UI"/>
              </a:rPr>
              <a:t>• Aplicar feature scaling (StandardScaler) antes de cualquier GD y justificar por qué sin escalado SGD diverge o tarda 100×.</a:t>
            </a:r>
          </a:p>
          <a:p>
            <a:pPr>
              <a:spcAft>
                <a:spcPts val="800"/>
              </a:spcAft>
              <a:defRPr sz="1400" b="0">
                <a:solidFill>
                  <a:srgbClr val="0F172A"/>
                </a:solidFill>
                <a:latin typeface="Segoe UI"/>
              </a:defRPr>
            </a:pPr>
            <a:r>
              <a:rPr sz="1400" b="0">
                <a:solidFill>
                  <a:srgbClr val="0F172A"/>
                </a:solidFill>
                <a:latin typeface="Segoe UI"/>
              </a:rPr>
              <a:t>• Entrenar SGDRegressor con learning_rate='invscaling' y comparar coeficientes contra LinearRegression (ecuación normal).</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070 — Gradient Descent: batch, stochastic, mini-batch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Gradiente de la MSE y regla de update θ := θ - η·∇</a:t>
            </a:r>
          </a:p>
          <a:p>
            <a:pPr>
              <a:spcAft>
                <a:spcPts val="1000"/>
              </a:spcAft>
              <a:defRPr sz="1600" b="0">
                <a:solidFill>
                  <a:srgbClr val="0F172A"/>
                </a:solidFill>
                <a:latin typeface="Segoe UI"/>
              </a:defRPr>
            </a:pPr>
            <a:r>
              <a:rPr sz="1600" b="0">
                <a:solidFill>
                  <a:srgbClr val="0F172A"/>
                </a:solidFill>
                <a:latin typeface="Segoe UI"/>
              </a:rPr>
              <a:t>• Batch GD: usa todo el dataset por step</a:t>
            </a:r>
          </a:p>
          <a:p>
            <a:pPr>
              <a:spcAft>
                <a:spcPts val="1000"/>
              </a:spcAft>
              <a:defRPr sz="1600" b="0">
                <a:solidFill>
                  <a:srgbClr val="0F172A"/>
                </a:solidFill>
                <a:latin typeface="Segoe UI"/>
              </a:defRPr>
            </a:pPr>
            <a:r>
              <a:rPr sz="1600" b="0">
                <a:solidFill>
                  <a:srgbClr val="0F172A"/>
                </a:solidFill>
                <a:latin typeface="Segoe UI"/>
              </a:rPr>
              <a:t>• Stochastic GD: 1 muestra por step</a:t>
            </a:r>
          </a:p>
          <a:p>
            <a:pPr>
              <a:spcAft>
                <a:spcPts val="1000"/>
              </a:spcAft>
              <a:defRPr sz="1600" b="0">
                <a:solidFill>
                  <a:srgbClr val="0F172A"/>
                </a:solidFill>
                <a:latin typeface="Segoe UI"/>
              </a:defRPr>
            </a:pPr>
            <a:r>
              <a:rPr sz="1600" b="0">
                <a:solidFill>
                  <a:srgbClr val="0F172A"/>
                </a:solidFill>
                <a:latin typeface="Segoe UI"/>
              </a:rPr>
              <a:t>• Mini-batch GD: lotes de 32–256</a:t>
            </a:r>
          </a:p>
          <a:p>
            <a:pPr>
              <a:spcAft>
                <a:spcPts val="1000"/>
              </a:spcAft>
              <a:defRPr sz="1600" b="0">
                <a:solidFill>
                  <a:srgbClr val="0F172A"/>
                </a:solidFill>
                <a:latin typeface="Segoe UI"/>
              </a:defRPr>
            </a:pPr>
            <a:r>
              <a:rPr sz="1600" b="0">
                <a:solidFill>
                  <a:srgbClr val="0F172A"/>
                </a:solidFill>
                <a:latin typeface="Segoe UI"/>
              </a:rPr>
              <a:t>• Learning rate η y learning schedule</a:t>
            </a:r>
          </a:p>
          <a:p>
            <a:pPr>
              <a:spcAft>
                <a:spcPts val="1000"/>
              </a:spcAft>
              <a:defRPr sz="1600" b="0">
                <a:solidFill>
                  <a:srgbClr val="0F172A"/>
                </a:solidFill>
                <a:latin typeface="Segoe UI"/>
              </a:defRPr>
            </a:pPr>
            <a:r>
              <a:rPr sz="1600" b="0">
                <a:solidFill>
                  <a:srgbClr val="0F172A"/>
                </a:solidFill>
                <a:latin typeface="Segoe UI"/>
              </a:rPr>
              <a:t>• Feature scaling como prerrequisito</a:t>
            </a:r>
          </a:p>
          <a:p>
            <a:pPr>
              <a:spcAft>
                <a:spcPts val="1000"/>
              </a:spcAft>
              <a:defRPr sz="1600" b="0">
                <a:solidFill>
                  <a:srgbClr val="0F172A"/>
                </a:solidFill>
                <a:latin typeface="Segoe UI"/>
              </a:defRPr>
            </a:pPr>
            <a:r>
              <a:rPr sz="1600" b="0">
                <a:solidFill>
                  <a:srgbClr val="0F172A"/>
                </a:solidFill>
                <a:latin typeface="Segoe UI"/>
              </a:rPr>
              <a:t>• SGDRegressor de sklearn</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070 — Gradient Descent: batch, stochastic, mini-batch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$y = 4 + 3x + \text{ruido}$, con $m=200$. El $\theta$ verdadero es $[4, 3]$; lo usaremos para verificar que las tres variantes convergen.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m = 200</a:t>
            </a:r>
          </a:p>
          <a:p>
            <a:pPr>
              <a:defRPr sz="1200" b="0">
                <a:solidFill>
                  <a:srgbClr val="F8FAFC"/>
                </a:solidFill>
                <a:latin typeface="Courier New"/>
              </a:defRPr>
            </a:pPr>
            <a:r>
              <a:rPr sz="1200" b="0">
                <a:solidFill>
                  <a:srgbClr val="F8FAFC"/>
                </a:solidFill>
                <a:latin typeface="Courier New"/>
              </a:rPr>
              <a:t>X = 2 * np.random.rand(m, 1)</a:t>
            </a:r>
          </a:p>
          <a:p>
            <a:pPr>
              <a:defRPr sz="1200" b="0">
                <a:solidFill>
                  <a:srgbClr val="F8FAFC"/>
                </a:solidFill>
                <a:latin typeface="Courier New"/>
              </a:defRPr>
            </a:pPr>
            <a:r>
              <a:rPr sz="1200" b="0">
                <a:solidFill>
                  <a:srgbClr val="F8FAFC"/>
                </a:solidFill>
                <a:latin typeface="Courier New"/>
              </a:rPr>
              <a:t>y = 4 + 3 * X[:, 0] + np.random.randn(m)</a:t>
            </a:r>
          </a:p>
          <a:p>
            <a:pPr>
              <a:defRPr sz="1200" b="0">
                <a:solidFill>
                  <a:srgbClr val="F8FAFC"/>
                </a:solidFill>
                <a:latin typeface="Courier New"/>
              </a:defRPr>
            </a:pPr>
            <a:r>
              <a:rPr sz="1200" b="0">
                <a:solidFill>
                  <a:srgbClr val="F8FAFC"/>
                </a:solidFill>
                <a:latin typeface="Courier New"/>
              </a:rPr>
              <a:t>X_b = np.c_[np.ones((m, 1)), X]</a:t>
            </a:r>
          </a:p>
          <a:p>
            <a:pPr>
              <a:defRPr sz="1200" b="0">
                <a:solidFill>
                  <a:srgbClr val="F8FAFC"/>
                </a:solidFill>
                <a:latin typeface="Courier New"/>
              </a:defRPr>
            </a:pPr>
            <a:r>
              <a:rPr sz="1200" b="0">
                <a:solidFill>
                  <a:srgbClr val="F8FAFC"/>
                </a:solidFill>
                <a:latin typeface="Courier New"/>
              </a:rPr>
              <a:t>theta_true = np.array([4., 3.])</a:t>
            </a:r>
          </a:p>
          <a:p>
            <a:pPr>
              <a:defRPr sz="1200" b="0">
                <a:solidFill>
                  <a:srgbClr val="F8FAFC"/>
                </a:solidFill>
                <a:latin typeface="Courier New"/>
              </a:defRPr>
            </a:pPr>
            <a:r>
              <a:rPr sz="1200" b="0">
                <a:solidFill>
                  <a:srgbClr val="F8FAFC"/>
                </a:solidFill>
                <a:latin typeface="Courier New"/>
              </a:rPr>
              <a:t>print('m =', m, '| X_b', X_b.shape)</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070 — Gradient Descent: batch, stochastic, mini-batch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BGD a mano.</a:t>
            </a:r>
          </a:p>
          <a:p>
            <a:pPr>
              <a:spcAft>
                <a:spcPts val="800"/>
              </a:spcAft>
              <a:defRPr sz="1400" b="0">
                <a:solidFill>
                  <a:srgbClr val="0F172A"/>
                </a:solidFill>
                <a:latin typeface="Segoe UI"/>
              </a:defRPr>
            </a:pPr>
            <a:r>
              <a:rPr sz="1400" b="0">
                <a:solidFill>
                  <a:srgbClr val="0F172A"/>
                </a:solidFill>
                <a:latin typeface="Segoe UI"/>
              </a:rPr>
              <a:t>• SGD a mano.</a:t>
            </a:r>
          </a:p>
          <a:p>
            <a:pPr>
              <a:spcAft>
                <a:spcPts val="800"/>
              </a:spcAft>
              <a:defRPr sz="1400" b="0">
                <a:solidFill>
                  <a:srgbClr val="0F172A"/>
                </a:solidFill>
                <a:latin typeface="Segoe UI"/>
              </a:defRPr>
            </a:pPr>
            <a:r>
              <a:rPr sz="1400" b="0">
                <a:solidFill>
                  <a:srgbClr val="0F172A"/>
                </a:solidFill>
                <a:latin typeface="Segoe UI"/>
              </a:rPr>
              <a:t>• Efecto del learning rate.</a:t>
            </a:r>
          </a:p>
          <a:p>
            <a:pPr>
              <a:spcAft>
                <a:spcPts val="800"/>
              </a:spcAft>
              <a:defRPr sz="1400" b="0">
                <a:solidFill>
                  <a:srgbClr val="0F172A"/>
                </a:solidFill>
                <a:latin typeface="Segoe UI"/>
              </a:defRPr>
            </a:pPr>
            <a:r>
              <a:rPr sz="1400" b="0">
                <a:solidFill>
                  <a:srgbClr val="0F172A"/>
                </a:solidFill>
                <a:latin typeface="Segoe UI"/>
              </a:rPr>
              <a:t>• Scaling sí/no.</a:t>
            </a:r>
          </a:p>
          <a:p>
            <a:pPr>
              <a:spcAft>
                <a:spcPts val="800"/>
              </a:spcAft>
              <a:defRPr sz="1400" b="0">
                <a:solidFill>
                  <a:srgbClr val="0F172A"/>
                </a:solidFill>
                <a:latin typeface="Segoe UI"/>
              </a:defRPr>
            </a:pPr>
            <a:r>
              <a:rPr sz="1400" b="0">
                <a:solidFill>
                  <a:srgbClr val="0F172A"/>
                </a:solidFill>
                <a:latin typeface="Segoe UI"/>
              </a:rPr>
              <a:t>• SGDRegressor vs LinearRegression.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California Housing: (a) train/test split 80/20; (b) pipeline StandardScaler + SGDRegressor(max_iter=1000, tol=1e-3, learning_rate='invscaling', eta0=0.01); (c) reportá R² en test y n_iter_ real; (d) repetí sin scaler y mostrá que n_iter_ se dispara o que R² cae; (e) graficá la curva de loss vs epoch usando partial_fit en loop manual.</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071 — Regresión polinomial</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071 — Regresión polinomial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4 § Polynomial Regression.  Duración estimada: 50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ajuste modelos lineales a relaciones no lineales usando PolynomialFeatures de scikit-learn, entienda la combinatoria de features que esto genera, y reconozca el riesgo de overfitting cuando el grado crece.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Transformar features con PolynomialFeatures(degree=d) y entender qué columnas produce.</a:t>
            </a:r>
          </a:p>
          <a:p>
            <a:pPr>
              <a:spcAft>
                <a:spcPts val="800"/>
              </a:spcAft>
              <a:defRPr sz="1400" b="0">
                <a:solidFill>
                  <a:srgbClr val="0F172A"/>
                </a:solidFill>
                <a:latin typeface="Segoe UI"/>
              </a:defRPr>
            </a:pPr>
            <a:r>
              <a:rPr sz="1400" b="0">
                <a:solidFill>
                  <a:srgbClr val="0F172A"/>
                </a:solidFill>
                <a:latin typeface="Segoe UI"/>
              </a:rPr>
              <a:t>• Ajustar un LinearRegression sobre features polinómicas y graficar la curva resultante.</a:t>
            </a:r>
          </a:p>
          <a:p>
            <a:pPr>
              <a:spcAft>
                <a:spcPts val="800"/>
              </a:spcAft>
              <a:defRPr sz="1400" b="0">
                <a:solidFill>
                  <a:srgbClr val="0F172A"/>
                </a:solidFill>
                <a:latin typeface="Segoe UI"/>
              </a:defRPr>
            </a:pPr>
            <a:r>
              <a:rPr sz="1400" b="0">
                <a:solidFill>
                  <a:srgbClr val="0F172A"/>
                </a:solidFill>
                <a:latin typeface="Segoe UI"/>
              </a:rPr>
              <a:t>• Calcular cuántas features genera grado d con n variables originales (combinatoria con repetición).</a:t>
            </a:r>
          </a:p>
          <a:p>
            <a:pPr>
              <a:spcAft>
                <a:spcPts val="800"/>
              </a:spcAft>
              <a:defRPr sz="1400" b="0">
                <a:solidFill>
                  <a:srgbClr val="0F172A"/>
                </a:solidFill>
                <a:latin typeface="Segoe UI"/>
              </a:defRPr>
            </a:pPr>
            <a:r>
              <a:rPr sz="1400" b="0">
                <a:solidFill>
                  <a:srgbClr val="0F172A"/>
                </a:solidFill>
                <a:latin typeface="Segoe UI"/>
              </a:rPr>
              <a:t>• Diagnosticar overfitting comparando RMSE en train vs test al subir el grado.</a:t>
            </a:r>
          </a:p>
          <a:p>
            <a:pPr>
              <a:spcAft>
                <a:spcPts val="800"/>
              </a:spcAft>
              <a:defRPr sz="1400" b="0">
                <a:solidFill>
                  <a:srgbClr val="0F172A"/>
                </a:solidFill>
                <a:latin typeface="Segoe UI"/>
              </a:defRPr>
            </a:pPr>
            <a:r>
              <a:rPr sz="1400" b="0">
                <a:solidFill>
                  <a:srgbClr val="0F172A"/>
                </a:solidFill>
                <a:latin typeface="Segoe UI"/>
              </a:rPr>
              <a:t>• Decidir cuándo usar interaction_only=True vs incluir potencias.</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071 — Regresión polinomial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Modelo lineal sobre features no lineales</a:t>
            </a:r>
          </a:p>
          <a:p>
            <a:pPr>
              <a:spcAft>
                <a:spcPts val="1000"/>
              </a:spcAft>
              <a:defRPr sz="1600" b="0">
                <a:solidFill>
                  <a:srgbClr val="0F172A"/>
                </a:solidFill>
                <a:latin typeface="Segoe UI"/>
              </a:defRPr>
            </a:pPr>
            <a:r>
              <a:rPr sz="1600" b="0">
                <a:solidFill>
                  <a:srgbClr val="0F172A"/>
                </a:solidFill>
                <a:latin typeface="Segoe UI"/>
              </a:rPr>
              <a:t>• PolynomialFeatures(degree, include_bias, interaction_only)</a:t>
            </a:r>
          </a:p>
          <a:p>
            <a:pPr>
              <a:spcAft>
                <a:spcPts val="1000"/>
              </a:spcAft>
              <a:defRPr sz="1600" b="0">
                <a:solidFill>
                  <a:srgbClr val="0F172A"/>
                </a:solidFill>
                <a:latin typeface="Segoe UI"/>
              </a:defRPr>
            </a:pPr>
            <a:r>
              <a:rPr sz="1600" b="0">
                <a:solidFill>
                  <a:srgbClr val="0F172A"/>
                </a:solidFill>
                <a:latin typeface="Segoe UI"/>
              </a:rPr>
              <a:t>• Combinatoria de features: C(n+d, d)</a:t>
            </a:r>
          </a:p>
          <a:p>
            <a:pPr>
              <a:spcAft>
                <a:spcPts val="1000"/>
              </a:spcAft>
              <a:defRPr sz="1600" b="0">
                <a:solidFill>
                  <a:srgbClr val="0F172A"/>
                </a:solidFill>
                <a:latin typeface="Segoe UI"/>
              </a:defRPr>
            </a:pPr>
            <a:r>
              <a:rPr sz="1600" b="0">
                <a:solidFill>
                  <a:srgbClr val="0F172A"/>
                </a:solidFill>
                <a:latin typeface="Segoe UI"/>
              </a:rPr>
              <a:t>• Overfitting con grado alto</a:t>
            </a:r>
          </a:p>
          <a:p>
            <a:pPr>
              <a:spcAft>
                <a:spcPts val="1000"/>
              </a:spcAft>
              <a:defRPr sz="1600" b="0">
                <a:solidFill>
                  <a:srgbClr val="0F172A"/>
                </a:solidFill>
                <a:latin typeface="Segoe UI"/>
              </a:defRPr>
            </a:pPr>
            <a:r>
              <a:rPr sz="1600" b="0">
                <a:solidFill>
                  <a:srgbClr val="0F172A"/>
                </a:solidFill>
                <a:latin typeface="Segoe UI"/>
              </a:rPr>
              <a:t>• Validación con train/test split</a:t>
            </a:r>
          </a:p>
          <a:p>
            <a:pPr>
              <a:spcAft>
                <a:spcPts val="1000"/>
              </a:spcAft>
              <a:defRPr sz="1600" b="0">
                <a:solidFill>
                  <a:srgbClr val="0F172A"/>
                </a:solidFill>
                <a:latin typeface="Segoe UI"/>
              </a:defRPr>
            </a:pPr>
            <a:r>
              <a:rPr sz="1600" b="0">
                <a:solidFill>
                  <a:srgbClr val="0F172A"/>
                </a:solidFill>
                <a:latin typeface="Segoe UI"/>
              </a:rPr>
              <a:t>• Interaction-only vs full polynomial</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071 — Regresión polinomial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$y = 0.5x^2 + x + 2 + \text{ruido}$, con $x\in[-3, 3]$ y $n=100$.</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m = 100</a:t>
            </a:r>
          </a:p>
          <a:p>
            <a:pPr>
              <a:defRPr sz="1200" b="0">
                <a:solidFill>
                  <a:srgbClr val="F8FAFC"/>
                </a:solidFill>
                <a:latin typeface="Courier New"/>
              </a:defRPr>
            </a:pPr>
            <a:r>
              <a:rPr sz="1200" b="0">
                <a:solidFill>
                  <a:srgbClr val="F8FAFC"/>
                </a:solidFill>
                <a:latin typeface="Courier New"/>
              </a:rPr>
              <a:t>X = 6 * np.random.rand(m, 1) - 3</a:t>
            </a:r>
          </a:p>
          <a:p>
            <a:pPr>
              <a:defRPr sz="1200" b="0">
                <a:solidFill>
                  <a:srgbClr val="F8FAFC"/>
                </a:solidFill>
                <a:latin typeface="Courier New"/>
              </a:defRPr>
            </a:pPr>
            <a:r>
              <a:rPr sz="1200" b="0">
                <a:solidFill>
                  <a:srgbClr val="F8FAFC"/>
                </a:solidFill>
                <a:latin typeface="Courier New"/>
              </a:rPr>
              <a:t>y = 0.5 * X[:, 0]**2 + X[:, 0] + 2 + np.random.randn(m)   # DGP: 0.5x²+x+2+ruido</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fig, ax = plt.subplots(figsize=(7, 4))</a:t>
            </a:r>
          </a:p>
          <a:p>
            <a:pPr>
              <a:defRPr sz="1200" b="0">
                <a:solidFill>
                  <a:srgbClr val="F8FAFC"/>
                </a:solidFill>
                <a:latin typeface="Courier New"/>
              </a:defRPr>
            </a:pPr>
            <a:r>
              <a:rPr sz="1200" b="0">
                <a:solidFill>
                  <a:srgbClr val="F8FAFC"/>
                </a:solidFill>
                <a:latin typeface="Courier New"/>
              </a:rPr>
              <a:t>ax.scatter(X, y, s=15, alpha=0.7)</a:t>
            </a:r>
          </a:p>
          <a:p>
            <a:pPr>
              <a:defRPr sz="1200" b="0">
                <a:solidFill>
                  <a:srgbClr val="F8FAFC"/>
                </a:solidFill>
                <a:latin typeface="Courier New"/>
              </a:defRPr>
            </a:pPr>
            <a:r>
              <a:rPr sz="1200" b="0">
                <a:solidFill>
                  <a:srgbClr val="F8FAFC"/>
                </a:solidFill>
                <a:latin typeface="Courier New"/>
              </a:rPr>
              <a:t>ax.set_xlabel('x'); ax.set_ylabel('y'); ax.set_title('Dataset cuadrático ruidoso')</a:t>
            </a:r>
          </a:p>
          <a:p>
            <a:pPr>
              <a:defRPr sz="1200" b="0">
                <a:solidFill>
                  <a:srgbClr val="F8FAFC"/>
                </a:solidFill>
                <a:latin typeface="Courier New"/>
              </a:defRPr>
            </a:pPr>
            <a:r>
              <a:rPr sz="1200" b="0">
                <a:solidFill>
                  <a:srgbClr val="F8FAFC"/>
                </a:solidFill>
                <a:latin typeface="Courier New"/>
              </a:rPr>
              <a:t>plt.tight_layout(); plt.show()</a:t>
            </a:r>
          </a:p>
          <a:p>
            <a:pPr>
              <a:defRPr sz="1200" b="0">
                <a:solidFill>
                  <a:srgbClr val="F8FAFC"/>
                </a:solidFill>
                <a:latin typeface="Courier New"/>
              </a:defRPr>
            </a:pPr>
            <a:r>
              <a:rPr sz="1200" b="0">
                <a:solidFill>
                  <a:srgbClr val="F8FAFC"/>
                </a:solidFill>
                <a:latin typeface="Courier New"/>
              </a:rPr>
              <a:t>print('X', X.shape, '| y', y.shape)</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071 — Regresión polinomial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dataset cuadrático.</a:t>
            </a:r>
          </a:p>
          <a:p>
            <a:pPr>
              <a:spcAft>
                <a:spcPts val="800"/>
              </a:spcAft>
              <a:defRPr sz="1400" b="0">
                <a:solidFill>
                  <a:srgbClr val="0F172A"/>
                </a:solidFill>
                <a:latin typeface="Segoe UI"/>
              </a:defRPr>
            </a:pPr>
            <a:r>
              <a:rPr sz="1400" b="0">
                <a:solidFill>
                  <a:srgbClr val="0F172A"/>
                </a:solidFill>
                <a:latin typeface="Segoe UI"/>
              </a:rPr>
              <a:t>• Ajustar grado 2.</a:t>
            </a:r>
          </a:p>
          <a:p>
            <a:pPr>
              <a:spcAft>
                <a:spcPts val="800"/>
              </a:spcAft>
              <a:defRPr sz="1400" b="0">
                <a:solidFill>
                  <a:srgbClr val="0F172A"/>
                </a:solidFill>
                <a:latin typeface="Segoe UI"/>
              </a:defRPr>
            </a:pPr>
            <a:r>
              <a:rPr sz="1400" b="0">
                <a:solidFill>
                  <a:srgbClr val="0F172A"/>
                </a:solidFill>
                <a:latin typeface="Segoe UI"/>
              </a:rPr>
              <a:t>• Grafo de curvas.</a:t>
            </a:r>
          </a:p>
          <a:p>
            <a:pPr>
              <a:spcAft>
                <a:spcPts val="800"/>
              </a:spcAft>
              <a:defRPr sz="1400" b="0">
                <a:solidFill>
                  <a:srgbClr val="0F172A"/>
                </a:solidFill>
                <a:latin typeface="Segoe UI"/>
              </a:defRPr>
            </a:pPr>
            <a:r>
              <a:rPr sz="1400" b="0">
                <a:solidFill>
                  <a:srgbClr val="0F172A"/>
                </a:solidFill>
                <a:latin typeface="Segoe UI"/>
              </a:rPr>
              <a:t>• Curva train/test vs grado.</a:t>
            </a:r>
          </a:p>
          <a:p>
            <a:pPr>
              <a:spcAft>
                <a:spcPts val="800"/>
              </a:spcAft>
              <a:defRPr sz="1400" b="0">
                <a:solidFill>
                  <a:srgbClr val="0F172A"/>
                </a:solidFill>
                <a:latin typeface="Segoe UI"/>
              </a:defRPr>
            </a:pPr>
            <a:r>
              <a:rPr sz="1400" b="0">
                <a:solidFill>
                  <a:srgbClr val="0F172A"/>
                </a:solidFill>
                <a:latin typeface="Segoe UI"/>
              </a:rPr>
              <a:t>• Combinatoria.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 dataset sintético y = sin(x) + ruido en x ∈ [0, 2π]; (b) ajustar polinomios de grado 1 a 15; (c) split 80/20; (d) graficar RMSE train vs test por grado; (e) reportar el grado óptimo según test; (f) graficar curva del grado óptimo encima del scatter.</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072 — Curvas de aprendizaje y bias-variance tradeoff</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072 — Curvas de aprendizaje y bias-variance tradeoff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4.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Diagnosticar si un modelo sufre de alto sesgo o alta varianza leyendo curvas de aprendizaje</a:t>
            </a:r>
            <a:br/>
            <a:r>
              <a:rPr sz="1500" b="0">
                <a:solidFill>
                  <a:srgbClr val="0F172A"/>
                </a:solidFill>
                <a:latin typeface="Segoe UI"/>
              </a:rPr>
              <a:t>(sklearn.model_selection.learning_curve) y decidir, con criterio, si conviene conseguir más datos,</a:t>
            </a:r>
            <a:br/>
            <a:r>
              <a:rPr sz="1500" b="0">
                <a:solidFill>
                  <a:srgbClr val="0F172A"/>
                </a:solidFill>
                <a:latin typeface="Segoe UI"/>
              </a:rPr>
              <a:t>aumentar la capacidad del modelo o regularizar.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Graficar una curva de aprendizaje (RMSE train vs. RMSE validación en función de train_size) con learning_curve.</a:t>
            </a:r>
          </a:p>
          <a:p>
            <a:pPr>
              <a:spcAft>
                <a:spcPts val="800"/>
              </a:spcAft>
              <a:defRPr sz="1400" b="0">
                <a:solidFill>
                  <a:srgbClr val="0F172A"/>
                </a:solidFill>
                <a:latin typeface="Segoe UI"/>
              </a:defRPr>
            </a:pPr>
            <a:r>
              <a:rPr sz="1400" b="0">
                <a:solidFill>
                  <a:srgbClr val="0F172A"/>
                </a:solidFill>
                <a:latin typeface="Segoe UI"/>
              </a:rPr>
              <a:t>• Identificar patrones canónicos: underfitting (curvas altas y juntas) vs. overfitting (gap persistente).</a:t>
            </a:r>
          </a:p>
          <a:p>
            <a:pPr>
              <a:spcAft>
                <a:spcPts val="800"/>
              </a:spcAft>
              <a:defRPr sz="1400" b="0">
                <a:solidFill>
                  <a:srgbClr val="0F172A"/>
                </a:solidFill>
                <a:latin typeface="Segoe UI"/>
              </a:defRPr>
            </a:pPr>
            <a:r>
              <a:rPr sz="1400" b="0">
                <a:solidFill>
                  <a:srgbClr val="0F172A"/>
                </a:solidFill>
                <a:latin typeface="Segoe UI"/>
              </a:rPr>
              <a:t>• Descomponer conceptualmente el error esperado en bias² + variance + irreducible noise.</a:t>
            </a:r>
          </a:p>
          <a:p>
            <a:pPr>
              <a:spcAft>
                <a:spcPts val="800"/>
              </a:spcAft>
              <a:defRPr sz="1400" b="0">
                <a:solidFill>
                  <a:srgbClr val="0F172A"/>
                </a:solidFill>
                <a:latin typeface="Segoe UI"/>
              </a:defRPr>
            </a:pPr>
            <a:r>
              <a:rPr sz="1400" b="0">
                <a:solidFill>
                  <a:srgbClr val="0F172A"/>
                </a:solidFill>
                <a:latin typeface="Segoe UI"/>
              </a:rPr>
              <a:t>• Decidir acción correctiva apropiada: más datos, más capacidad, features nuevas, o regularización.</a:t>
            </a:r>
          </a:p>
          <a:p>
            <a:pPr>
              <a:spcAft>
                <a:spcPts val="800"/>
              </a:spcAft>
              <a:defRPr sz="1400" b="0">
                <a:solidFill>
                  <a:srgbClr val="0F172A"/>
                </a:solidFill>
                <a:latin typeface="Segoe UI"/>
              </a:defRPr>
            </a:pPr>
            <a:r>
              <a:rPr sz="1400" b="0">
                <a:solidFill>
                  <a:srgbClr val="0F172A"/>
                </a:solidFill>
                <a:latin typeface="Segoe UI"/>
              </a:rPr>
              <a:t>• Justificar por qué "más datos" no siempre es la solución (caso de high bias).</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072 — Curvas de aprendizaje y bias-variance tradeoff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Curva de aprendizaje: qué se plotea y cómo se lee.</a:t>
            </a:r>
          </a:p>
          <a:p>
            <a:pPr>
              <a:spcAft>
                <a:spcPts val="1000"/>
              </a:spcAft>
              <a:defRPr sz="1600" b="0">
                <a:solidFill>
                  <a:srgbClr val="0F172A"/>
                </a:solidFill>
                <a:latin typeface="Segoe UI"/>
              </a:defRPr>
            </a:pPr>
            <a:r>
              <a:rPr sz="1600" b="0">
                <a:solidFill>
                  <a:srgbClr val="0F172A"/>
                </a:solidFill>
                <a:latin typeface="Segoe UI"/>
              </a:rPr>
              <a:t>• Patrón de underfitting: ambas curvas convergen alto → más datos no ayuda.</a:t>
            </a:r>
          </a:p>
          <a:p>
            <a:pPr>
              <a:spcAft>
                <a:spcPts val="1000"/>
              </a:spcAft>
              <a:defRPr sz="1600" b="0">
                <a:solidFill>
                  <a:srgbClr val="0F172A"/>
                </a:solidFill>
                <a:latin typeface="Segoe UI"/>
              </a:defRPr>
            </a:pPr>
            <a:r>
              <a:rPr sz="1600" b="0">
                <a:solidFill>
                  <a:srgbClr val="0F172A"/>
                </a:solidFill>
                <a:latin typeface="Segoe UI"/>
              </a:rPr>
              <a:t>• Patrón de overfitting: gap grande train/val → más datos sí ayuda, o regularizar.</a:t>
            </a:r>
          </a:p>
          <a:p>
            <a:pPr>
              <a:spcAft>
                <a:spcPts val="1000"/>
              </a:spcAft>
              <a:defRPr sz="1600" b="0">
                <a:solidFill>
                  <a:srgbClr val="0F172A"/>
                </a:solidFill>
                <a:latin typeface="Segoe UI"/>
              </a:defRPr>
            </a:pPr>
            <a:r>
              <a:rPr sz="1600" b="0">
                <a:solidFill>
                  <a:srgbClr val="0F172A"/>
                </a:solidFill>
                <a:latin typeface="Segoe UI"/>
              </a:rPr>
              <a:t>• Descomposición bias-variance del error de generalización.</a:t>
            </a:r>
          </a:p>
          <a:p>
            <a:pPr>
              <a:spcAft>
                <a:spcPts val="1000"/>
              </a:spcAft>
              <a:defRPr sz="1600" b="0">
                <a:solidFill>
                  <a:srgbClr val="0F172A"/>
                </a:solidFill>
                <a:latin typeface="Segoe UI"/>
              </a:defRPr>
            </a:pPr>
            <a:r>
              <a:rPr sz="1600" b="0">
                <a:solidFill>
                  <a:srgbClr val="0F172A"/>
                </a:solidFill>
                <a:latin typeface="Segoe UI"/>
              </a:rPr>
              <a:t>• Error irreducible (ruido de Bayes): cota inferior inevitable.</a:t>
            </a:r>
          </a:p>
          <a:p>
            <a:pPr>
              <a:spcAft>
                <a:spcPts val="1000"/>
              </a:spcAft>
              <a:defRPr sz="1600" b="0">
                <a:solidFill>
                  <a:srgbClr val="0F172A"/>
                </a:solidFill>
                <a:latin typeface="Segoe UI"/>
              </a:defRPr>
            </a:pPr>
            <a:r>
              <a:rPr sz="1600" b="0">
                <a:solidFill>
                  <a:srgbClr val="0F172A"/>
                </a:solidFill>
                <a:latin typeface="Segoe UI"/>
              </a:rPr>
              <a:t>• Tradeoff: aumentar capacidad ↓ bias pero ↑ variance.</a:t>
            </a:r>
          </a:p>
          <a:p>
            <a:pPr>
              <a:spcAft>
                <a:spcPts val="1000"/>
              </a:spcAft>
              <a:defRPr sz="1600" b="0">
                <a:solidFill>
                  <a:srgbClr val="0F172A"/>
                </a:solidFill>
                <a:latin typeface="Segoe UI"/>
              </a:defRPr>
            </a:pPr>
            <a:r>
              <a:rPr sz="1600" b="0">
                <a:solidFill>
                  <a:srgbClr val="0F172A"/>
                </a:solidFill>
                <a:latin typeface="Segoe UI"/>
              </a:rPr>
              <a:t>• Diagnóstico operacional con learning_curve y validation_curve.</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072 — Curvas de aprendizaje y bias-variance tradeoff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$y = 0.5x^2 + x + 2 + \varepsilon$, con $\varepsilon\sim\mathcal{N}(0, \sigma^2)$ y $\sigma=1$. Conocer $\sigma$ nos permite comparar el error irreducible con la varianza medida.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m = 200</a:t>
            </a:r>
          </a:p>
          <a:p>
            <a:pPr>
              <a:defRPr sz="1200" b="0">
                <a:solidFill>
                  <a:srgbClr val="F8FAFC"/>
                </a:solidFill>
                <a:latin typeface="Courier New"/>
              </a:defRPr>
            </a:pPr>
            <a:r>
              <a:rPr sz="1200" b="0">
                <a:solidFill>
                  <a:srgbClr val="F8FAFC"/>
                </a:solidFill>
                <a:latin typeface="Courier New"/>
              </a:rPr>
              <a:t>X = 6 * np.random.rand(m, 1) - 3</a:t>
            </a:r>
          </a:p>
          <a:p>
            <a:pPr>
              <a:defRPr sz="1200" b="0">
                <a:solidFill>
                  <a:srgbClr val="F8FAFC"/>
                </a:solidFill>
                <a:latin typeface="Courier New"/>
              </a:defRPr>
            </a:pPr>
            <a:r>
              <a:rPr sz="1200" b="0">
                <a:solidFill>
                  <a:srgbClr val="F8FAFC"/>
                </a:solidFill>
                <a:latin typeface="Courier New"/>
              </a:rPr>
              <a:t>sigma = 1.0</a:t>
            </a:r>
          </a:p>
          <a:p>
            <a:pPr>
              <a:defRPr sz="1200" b="0">
                <a:solidFill>
                  <a:srgbClr val="F8FAFC"/>
                </a:solidFill>
                <a:latin typeface="Courier New"/>
              </a:defRPr>
            </a:pPr>
            <a:r>
              <a:rPr sz="1200" b="0">
                <a:solidFill>
                  <a:srgbClr val="F8FAFC"/>
                </a:solidFill>
                <a:latin typeface="Courier New"/>
              </a:rPr>
              <a:t>y = 0.5 * X[:, 0]**2 + X[:, 0] + 2 + np.random.randn(m) * sigma</a:t>
            </a:r>
          </a:p>
          <a:p>
            <a:pPr>
              <a:defRPr sz="1200" b="0">
                <a:solidFill>
                  <a:srgbClr val="F8FAFC"/>
                </a:solidFill>
                <a:latin typeface="Courier New"/>
              </a:defRPr>
            </a:pPr>
            <a:r>
              <a:rPr sz="1200" b="0">
                <a:solidFill>
                  <a:srgbClr val="F8FAFC"/>
                </a:solidFill>
                <a:latin typeface="Courier New"/>
              </a:rPr>
              <a:t>print('dataset:', X.shape, '| ruido σ =', sigma, '| σ² =', sigma**2)</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072 — Curvas de aprendizaje y bias-variance tradeoff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Curva base.</a:t>
            </a:r>
          </a:p>
          <a:p>
            <a:pPr>
              <a:spcAft>
                <a:spcPts val="800"/>
              </a:spcAft>
              <a:defRPr sz="1400" b="0">
                <a:solidFill>
                  <a:srgbClr val="0F172A"/>
                </a:solidFill>
                <a:latin typeface="Segoe UI"/>
              </a:defRPr>
            </a:pPr>
            <a:r>
              <a:rPr sz="1400" b="0">
                <a:solidFill>
                  <a:srgbClr val="0F172A"/>
                </a:solidFill>
                <a:latin typeface="Segoe UI"/>
              </a:rPr>
              <a:t>• Aumentar capacidad.</a:t>
            </a:r>
          </a:p>
          <a:p>
            <a:pPr>
              <a:spcAft>
                <a:spcPts val="800"/>
              </a:spcAft>
              <a:defRPr sz="1400" b="0">
                <a:solidFill>
                  <a:srgbClr val="0F172A"/>
                </a:solidFill>
                <a:latin typeface="Segoe UI"/>
              </a:defRPr>
            </a:pPr>
            <a:r>
              <a:rPr sz="1400" b="0">
                <a:solidFill>
                  <a:srgbClr val="0F172A"/>
                </a:solidFill>
                <a:latin typeface="Segoe UI"/>
              </a:rPr>
              <a:t>• ¿Más datos ayudan? Para el polinomio de grado 10, extendé el dataset a 2000 puntos y volvé a plotear.</a:t>
            </a:r>
          </a:p>
          <a:p>
            <a:pPr>
              <a:spcAft>
                <a:spcPts val="800"/>
              </a:spcAft>
              <a:defRPr sz="1400" b="0">
                <a:solidFill>
                  <a:srgbClr val="0F172A"/>
                </a:solidFill>
                <a:latin typeface="Segoe UI"/>
              </a:defRPr>
            </a:pPr>
            <a:r>
              <a:rPr sz="1400" b="0">
                <a:solidFill>
                  <a:srgbClr val="0F172A"/>
                </a:solidFill>
                <a:latin typeface="Segoe UI"/>
              </a:rPr>
              <a:t>• Validation curve.</a:t>
            </a:r>
          </a:p>
          <a:p>
            <a:pPr>
              <a:spcAft>
                <a:spcPts val="800"/>
              </a:spcAft>
              <a:defRPr sz="1400" b="0">
                <a:solidFill>
                  <a:srgbClr val="0F172A"/>
                </a:solidFill>
                <a:latin typeface="Segoe UI"/>
              </a:defRPr>
            </a:pPr>
            <a:r>
              <a:rPr sz="1400" b="0">
                <a:solidFill>
                  <a:srgbClr val="0F172A"/>
                </a:solidFill>
                <a:latin typeface="Segoe UI"/>
              </a:rPr>
              <a:t>• Bias-variance empírico.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Entrená DecisionTreeRegressor(max_depth=d) para d ∈ {2, 5, 10, None}.</a:t>
            </a:r>
          </a:p>
          <a:p>
            <a:pPr>
              <a:spcAft>
                <a:spcPts val="800"/>
              </a:spcAft>
              <a:defRPr sz="1500" b="0">
                <a:solidFill>
                  <a:srgbClr val="0F172A"/>
                </a:solidFill>
                <a:latin typeface="Segoe UI"/>
              </a:defRPr>
            </a:pPr>
            <a:r>
              <a:rPr sz="1500" b="0">
                <a:solidFill>
                  <a:srgbClr val="0F172A"/>
                </a:solidFill>
                <a:latin typeface="Segoe UI"/>
              </a:rPr>
              <a:t>• Para cada uno, generá la curva de aprendizaje con learning_curve(cv=5, scoring='neg_root_mean_squared_error').</a:t>
            </a:r>
          </a:p>
          <a:p>
            <a:pPr>
              <a:spcAft>
                <a:spcPts val="800"/>
              </a:spcAft>
              <a:defRPr sz="1500" b="0">
                <a:solidFill>
                  <a:srgbClr val="0F172A"/>
                </a:solidFill>
                <a:latin typeface="Segoe UI"/>
              </a:defRPr>
            </a:pPr>
            <a:r>
              <a:rPr sz="1500" b="0">
                <a:solidFill>
                  <a:srgbClr val="0F172A"/>
                </a:solidFill>
                <a:latin typeface="Segoe UI"/>
              </a:rPr>
              <a:t>• Clasificá cada modelo como underfit, fit razonable o overfit justificando con el gap final y el nivel</a:t>
            </a:r>
          </a:p>
          <a:p>
            <a:pPr>
              <a:spcAft>
                <a:spcPts val="800"/>
              </a:spcAft>
              <a:defRPr sz="1500" b="0">
                <a:solidFill>
                  <a:srgbClr val="0F172A"/>
                </a:solidFill>
                <a:latin typeface="Segoe UI"/>
              </a:defRPr>
            </a:pPr>
            <a:r>
              <a:rPr sz="1500" b="0">
                <a:solidFill>
                  <a:srgbClr val="0F172A"/>
                </a:solidFill>
                <a:latin typeface="Segoe UI"/>
              </a:rPr>
              <a:t>• Recomendá explícitamente, para cada caso, una de tres acciones: ["más datos", "más capacidad", "regularizar/podar"].</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073 — Regularización: Ridge, Lasso, Elastic Net</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073 — Regularización: Ridge, Lasso, Elastic Net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4.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a controlar el overfitting en modelos lineales mediante regularización L2 (Ridge), L1 (Lasso) y su combinación (Elastic Net), entendiendo el rol del hiperparámetro alpha, la importancia del scaling, y cuándo conviene cada variante.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qué es la regularización y por qué reduce la varianza de un modelo lineal.</a:t>
            </a:r>
          </a:p>
          <a:p>
            <a:pPr>
              <a:spcAft>
                <a:spcPts val="800"/>
              </a:spcAft>
              <a:defRPr sz="1400" b="0">
                <a:solidFill>
                  <a:srgbClr val="0F172A"/>
                </a:solidFill>
                <a:latin typeface="Segoe UI"/>
              </a:defRPr>
            </a:pPr>
            <a:r>
              <a:rPr sz="1400" b="0">
                <a:solidFill>
                  <a:srgbClr val="0F172A"/>
                </a:solidFill>
                <a:latin typeface="Segoe UI"/>
              </a:rPr>
              <a:t>• Implementar Ridge, Lasso y ElasticNet de scikit-learn sobre un dataset escalado.</a:t>
            </a:r>
          </a:p>
          <a:p>
            <a:pPr>
              <a:spcAft>
                <a:spcPts val="800"/>
              </a:spcAft>
              <a:defRPr sz="1400" b="0">
                <a:solidFill>
                  <a:srgbClr val="0F172A"/>
                </a:solidFill>
                <a:latin typeface="Segoe UI"/>
              </a:defRPr>
            </a:pPr>
            <a:r>
              <a:rPr sz="1400" b="0">
                <a:solidFill>
                  <a:srgbClr val="0F172A"/>
                </a:solidFill>
                <a:latin typeface="Segoe UI"/>
              </a:rPr>
              <a:t>• Tunear alpha con RidgeCV / LassoCV / ElasticNetCV y leer los coeficientes resultantes.</a:t>
            </a:r>
          </a:p>
          <a:p>
            <a:pPr>
              <a:spcAft>
                <a:spcPts val="800"/>
              </a:spcAft>
              <a:defRPr sz="1400" b="0">
                <a:solidFill>
                  <a:srgbClr val="0F172A"/>
                </a:solidFill>
                <a:latin typeface="Segoe UI"/>
              </a:defRPr>
            </a:pPr>
            <a:r>
              <a:rPr sz="1400" b="0">
                <a:solidFill>
                  <a:srgbClr val="0F172A"/>
                </a:solidFill>
                <a:latin typeface="Segoe UI"/>
              </a:rPr>
              <a:t>• Justificar la elección entre L1, L2 y L1+L2 según el problema (multicolinealidad, sparsity, número de features).</a:t>
            </a:r>
          </a:p>
          <a:p>
            <a:pPr>
              <a:spcAft>
                <a:spcPts val="800"/>
              </a:spcAft>
              <a:defRPr sz="1400" b="0">
                <a:solidFill>
                  <a:srgbClr val="0F172A"/>
                </a:solidFill>
                <a:latin typeface="Segoe UI"/>
              </a:defRPr>
            </a:pPr>
            <a:r>
              <a:rPr sz="1400" b="0">
                <a:solidFill>
                  <a:srgbClr val="0F172A"/>
                </a:solidFill>
                <a:latin typeface="Segoe UI"/>
              </a:rPr>
              <a:t>• Diagnosticar por qué Lasso "anula" features y Ridge solo las "encoge".</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073 — Regularización: Ridge, Lasso, Elastic Net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Sesgo–varianza y motivación de la regularización.</a:t>
            </a:r>
          </a:p>
          <a:p>
            <a:pPr>
              <a:spcAft>
                <a:spcPts val="1000"/>
              </a:spcAft>
              <a:defRPr sz="1600" b="0">
                <a:solidFill>
                  <a:srgbClr val="0F172A"/>
                </a:solidFill>
                <a:latin typeface="Segoe UI"/>
              </a:defRPr>
            </a:pPr>
            <a:r>
              <a:rPr sz="1600" b="0">
                <a:solidFill>
                  <a:srgbClr val="0F172A"/>
                </a:solidFill>
                <a:latin typeface="Segoe UI"/>
              </a:rPr>
              <a:t>• Ridge (L2): penalización α · Σβ². Encoge coeficientes hacia cero sin anularlos.</a:t>
            </a:r>
          </a:p>
          <a:p>
            <a:pPr>
              <a:spcAft>
                <a:spcPts val="1000"/>
              </a:spcAft>
              <a:defRPr sz="1600" b="0">
                <a:solidFill>
                  <a:srgbClr val="0F172A"/>
                </a:solidFill>
                <a:latin typeface="Segoe UI"/>
              </a:defRPr>
            </a:pPr>
            <a:r>
              <a:rPr sz="1600" b="0">
                <a:solidFill>
                  <a:srgbClr val="0F172A"/>
                </a:solidFill>
                <a:latin typeface="Segoe UI"/>
              </a:rPr>
              <a:t>• Lasso (L1): penalización α · Σ|β|. Produce soluciones sparse (selección de features).</a:t>
            </a:r>
          </a:p>
          <a:p>
            <a:pPr>
              <a:spcAft>
                <a:spcPts val="1000"/>
              </a:spcAft>
              <a:defRPr sz="1600" b="0">
                <a:solidFill>
                  <a:srgbClr val="0F172A"/>
                </a:solidFill>
                <a:latin typeface="Segoe UI"/>
              </a:defRPr>
            </a:pPr>
            <a:r>
              <a:rPr sz="1600" b="0">
                <a:solidFill>
                  <a:srgbClr val="0F172A"/>
                </a:solidFill>
                <a:latin typeface="Segoe UI"/>
              </a:rPr>
              <a:t>• Elastic Net: combinación L1+L2 con l1_ratio.</a:t>
            </a:r>
          </a:p>
          <a:p>
            <a:pPr>
              <a:spcAft>
                <a:spcPts val="1000"/>
              </a:spcAft>
              <a:defRPr sz="1600" b="0">
                <a:solidFill>
                  <a:srgbClr val="0F172A"/>
                </a:solidFill>
                <a:latin typeface="Segoe UI"/>
              </a:defRPr>
            </a:pPr>
            <a:r>
              <a:rPr sz="1600" b="0">
                <a:solidFill>
                  <a:srgbClr val="0F172A"/>
                </a:solidFill>
                <a:latin typeface="Segoe UI"/>
              </a:rPr>
              <a:t>• Hiperparámetro alpha: efecto en bias/varianza; α=0 ≡ OLS; α→∞ ≡ modelo nulo.</a:t>
            </a:r>
          </a:p>
          <a:p>
            <a:pPr>
              <a:spcAft>
                <a:spcPts val="1000"/>
              </a:spcAft>
              <a:defRPr sz="1600" b="0">
                <a:solidFill>
                  <a:srgbClr val="0F172A"/>
                </a:solidFill>
                <a:latin typeface="Segoe UI"/>
              </a:defRPr>
            </a:pPr>
            <a:r>
              <a:rPr sz="1600" b="0">
                <a:solidFill>
                  <a:srgbClr val="0F172A"/>
                </a:solidFill>
                <a:latin typeface="Segoe UI"/>
              </a:rPr>
              <a:t>• Scaling obligatorio (StandardScaler) antes de regularizar.</a:t>
            </a:r>
          </a:p>
          <a:p>
            <a:pPr>
              <a:spcAft>
                <a:spcPts val="1000"/>
              </a:spcAft>
              <a:defRPr sz="1600" b="0">
                <a:solidFill>
                  <a:srgbClr val="0F172A"/>
                </a:solidFill>
                <a:latin typeface="Segoe UI"/>
              </a:defRPr>
            </a:pPr>
            <a:r>
              <a:rPr sz="1600" b="0">
                <a:solidFill>
                  <a:srgbClr val="0F172A"/>
                </a:solidFill>
                <a:latin typeface="Segoe UI"/>
              </a:rPr>
              <a:t>• Selección de α con CV: RidgeCV, LassoCV, ElasticNetCV.</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073 — Regularización: Ridge, Lasso, Elastic Net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make_regression con 50 features de las cuales solo 10 son informativas. Lasso debería anular gran parte de las 40 ruidosas.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make_regression</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coef_true = make_regression(</a:t>
            </a:r>
          </a:p>
          <a:p>
            <a:pPr>
              <a:defRPr sz="1200" b="0">
                <a:solidFill>
                  <a:srgbClr val="F8FAFC"/>
                </a:solidFill>
                <a:latin typeface="Courier New"/>
              </a:defRPr>
            </a:pPr>
            <a:r>
              <a:rPr sz="1200" b="0">
                <a:solidFill>
                  <a:srgbClr val="F8FAFC"/>
                </a:solidFill>
                <a:latin typeface="Courier New"/>
              </a:rPr>
              <a:t>    n_samples=200, n_features=50, n_informative=10, noise=10,</a:t>
            </a:r>
          </a:p>
          <a:p>
            <a:pPr>
              <a:defRPr sz="1200" b="0">
                <a:solidFill>
                  <a:srgbClr val="F8FAFC"/>
                </a:solidFill>
                <a:latin typeface="Courier New"/>
              </a:defRPr>
            </a:pPr>
            <a:r>
              <a:rPr sz="1200" b="0">
                <a:solidFill>
                  <a:srgbClr val="F8FAFC"/>
                </a:solidFill>
                <a:latin typeface="Courier New"/>
              </a:rPr>
              <a:t>    coef=True, random_state=42)</a:t>
            </a:r>
          </a:p>
          <a:p>
            <a:pPr>
              <a:defRPr sz="1200" b="0">
                <a:solidFill>
                  <a:srgbClr val="F8FAFC"/>
                </a:solidFill>
                <a:latin typeface="Courier New"/>
              </a:defRPr>
            </a:pPr>
            <a:r>
              <a:rPr sz="1200" b="0">
                <a:solidFill>
                  <a:srgbClr val="F8FAFC"/>
                </a:solidFill>
                <a:latin typeface="Courier New"/>
              </a:rPr>
              <a:t>Xtr, Xte, ytr, yte = train_test_split(X, y, test_size=0.2, random_state=42)</a:t>
            </a:r>
          </a:p>
          <a:p>
            <a:pPr>
              <a:defRPr sz="1200" b="0">
                <a:solidFill>
                  <a:srgbClr val="F8FAFC"/>
                </a:solidFill>
                <a:latin typeface="Courier New"/>
              </a:defRPr>
            </a:pPr>
            <a:r>
              <a:rPr sz="1200" b="0">
                <a:solidFill>
                  <a:srgbClr val="F8FAFC"/>
                </a:solidFill>
                <a:latin typeface="Courier New"/>
              </a:rPr>
              <a:t>n_informativas = int((coef_true != 0).sum())</a:t>
            </a:r>
          </a:p>
          <a:p>
            <a:pPr>
              <a:defRPr sz="1200" b="0">
                <a:solidFill>
                  <a:srgbClr val="F8FAFC"/>
                </a:solidFill>
                <a:latin typeface="Courier New"/>
              </a:defRPr>
            </a:pPr>
            <a:r>
              <a:rPr sz="1200" b="0">
                <a:solidFill>
                  <a:srgbClr val="F8FAFC"/>
                </a:solidFill>
                <a:latin typeface="Courier New"/>
              </a:rPr>
              <a:t>print('features:', X.shape[1], '| informativas reales:', n_informativas)</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073 — Regularización: Ridge, Lasso, Elastic Net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OLS baseline: entrená LinearRegression sobre California Housing escalado.</a:t>
            </a:r>
          </a:p>
          <a:p>
            <a:pPr>
              <a:spcAft>
                <a:spcPts val="800"/>
              </a:spcAft>
              <a:defRPr sz="1400" b="0">
                <a:solidFill>
                  <a:srgbClr val="0F172A"/>
                </a:solidFill>
                <a:latin typeface="Segoe UI"/>
              </a:defRPr>
            </a:pPr>
            <a:r>
              <a:rPr sz="1400" b="0">
                <a:solidFill>
                  <a:srgbClr val="0F172A"/>
                </a:solidFill>
                <a:latin typeface="Segoe UI"/>
              </a:rPr>
              <a:t>• Ridge: entrená Ridge(alpha=1.0) sobre los mismos datos.</a:t>
            </a:r>
          </a:p>
          <a:p>
            <a:pPr>
              <a:spcAft>
                <a:spcPts val="800"/>
              </a:spcAft>
              <a:defRPr sz="1400" b="0">
                <a:solidFill>
                  <a:srgbClr val="0F172A"/>
                </a:solidFill>
                <a:latin typeface="Segoe UI"/>
              </a:defRPr>
            </a:pPr>
            <a:r>
              <a:rPr sz="1400" b="0">
                <a:solidFill>
                  <a:srgbClr val="0F172A"/>
                </a:solidFill>
                <a:latin typeface="Segoe UI"/>
              </a:rPr>
              <a:t>• Lasso: entrená Lasso(alpha=0.1).</a:t>
            </a:r>
          </a:p>
          <a:p>
            <a:pPr>
              <a:spcAft>
                <a:spcPts val="800"/>
              </a:spcAft>
              <a:defRPr sz="1400" b="0">
                <a:solidFill>
                  <a:srgbClr val="0F172A"/>
                </a:solidFill>
                <a:latin typeface="Segoe UI"/>
              </a:defRPr>
            </a:pPr>
            <a:r>
              <a:rPr sz="1400" b="0">
                <a:solidFill>
                  <a:srgbClr val="0F172A"/>
                </a:solidFill>
                <a:latin typeface="Segoe UI"/>
              </a:rPr>
              <a:t>• Elastic Net: entrená ElasticNet(alpha=0.1, l1_ratio=0.5).</a:t>
            </a:r>
          </a:p>
          <a:p>
            <a:pPr>
              <a:spcAft>
                <a:spcPts val="800"/>
              </a:spcAft>
              <a:defRPr sz="1400" b="0">
                <a:solidFill>
                  <a:srgbClr val="0F172A"/>
                </a:solidFill>
                <a:latin typeface="Segoe UI"/>
              </a:defRPr>
            </a:pPr>
            <a:r>
              <a:rPr sz="1400" b="0">
                <a:solidFill>
                  <a:srgbClr val="0F172A"/>
                </a:solidFill>
                <a:latin typeface="Segoe UI"/>
              </a:rPr>
              <a:t>• Tuning con CV: usá RidgeCV(alphas=np.logspace(-3, 3, 50)) y LassoCV(cv=5) para encontrar el mejor alpha.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Entrená OLS, Ridge, Lasso y Elastic Net (todos con StandardScaler en Pipeline).</a:t>
            </a:r>
          </a:p>
          <a:p>
            <a:pPr>
              <a:spcAft>
                <a:spcPts val="800"/>
              </a:spcAft>
              <a:defRPr sz="1500" b="0">
                <a:solidFill>
                  <a:srgbClr val="0F172A"/>
                </a:solidFill>
                <a:latin typeface="Segoe UI"/>
              </a:defRPr>
            </a:pPr>
            <a:r>
              <a:rPr sz="1500" b="0">
                <a:solidFill>
                  <a:srgbClr val="0F172A"/>
                </a:solidFill>
                <a:latin typeface="Segoe UI"/>
              </a:rPr>
              <a:t>• Tuneá alpha con la variante *CV correspondiente.</a:t>
            </a:r>
          </a:p>
          <a:p>
            <a:pPr>
              <a:spcAft>
                <a:spcPts val="800"/>
              </a:spcAft>
              <a:defRPr sz="1500" b="0">
                <a:solidFill>
                  <a:srgbClr val="0F172A"/>
                </a:solidFill>
                <a:latin typeface="Segoe UI"/>
              </a:defRPr>
            </a:pPr>
            <a:r>
              <a:rPr sz="1500" b="0">
                <a:solidFill>
                  <a:srgbClr val="0F172A"/>
                </a:solidFill>
                <a:latin typeface="Segoe UI"/>
              </a:rPr>
              <a:t>• Reportá: RMSE en test (split 80/20, random_state=42), número de coeficientes ≠ 0, y top-5 features por |coef| en Lasso.</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074 — Early stopping</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074 — Early stopping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4.  Duración estimada: 45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early stopping como técnica de regularización implícita en entrenamientos iterativos: monitorear la pérdida de validación durante el descenso por gradiente y detener el ajuste cuando deja de mejorar, conservando el mejor modelo visto.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por qué detener el entrenamiento antes del óptimo de train actúa como regularización.</a:t>
            </a:r>
          </a:p>
          <a:p>
            <a:pPr>
              <a:spcAft>
                <a:spcPts val="800"/>
              </a:spcAft>
              <a:defRPr sz="1400" b="0">
                <a:solidFill>
                  <a:srgbClr val="0F172A"/>
                </a:solidFill>
                <a:latin typeface="Segoe UI"/>
              </a:defRPr>
            </a:pPr>
            <a:r>
              <a:rPr sz="1400" b="0">
                <a:solidFill>
                  <a:srgbClr val="0F172A"/>
                </a:solidFill>
                <a:latin typeface="Segoe UI"/>
              </a:rPr>
              <a:t>• Configurar SGDRegressor(early_stopping=True) con validation_fraction, n_iter_no_change y tol.</a:t>
            </a:r>
          </a:p>
          <a:p>
            <a:pPr>
              <a:spcAft>
                <a:spcPts val="800"/>
              </a:spcAft>
              <a:defRPr sz="1400" b="0">
                <a:solidFill>
                  <a:srgbClr val="0F172A"/>
                </a:solidFill>
                <a:latin typeface="Segoe UI"/>
              </a:defRPr>
            </a:pPr>
            <a:r>
              <a:rPr sz="1400" b="0">
                <a:solidFill>
                  <a:srgbClr val="0F172A"/>
                </a:solidFill>
                <a:latin typeface="Segoe UI"/>
              </a:rPr>
              <a:t>• Graficar curvas de train loss vs. validation loss e identificar la best epoch.</a:t>
            </a:r>
          </a:p>
          <a:p>
            <a:pPr>
              <a:spcAft>
                <a:spcPts val="800"/>
              </a:spcAft>
              <a:defRPr sz="1400" b="0">
                <a:solidFill>
                  <a:srgbClr val="0F172A"/>
                </a:solidFill>
                <a:latin typeface="Segoe UI"/>
              </a:defRPr>
            </a:pPr>
            <a:r>
              <a:rPr sz="1400" b="0">
                <a:solidFill>
                  <a:srgbClr val="0F172A"/>
                </a:solidFill>
                <a:latin typeface="Segoe UI"/>
              </a:rPr>
              <a:t>• Implementar manualmente un loop con paciencia y snapshot del mejor modelo (partial_fit).</a:t>
            </a:r>
          </a:p>
          <a:p>
            <a:pPr>
              <a:spcAft>
                <a:spcPts val="800"/>
              </a:spcAft>
              <a:defRPr sz="1400" b="0">
                <a:solidFill>
                  <a:srgbClr val="0F172A"/>
                </a:solidFill>
                <a:latin typeface="Segoe UI"/>
              </a:defRPr>
            </a:pPr>
            <a:r>
              <a:rPr sz="1400" b="0">
                <a:solidFill>
                  <a:srgbClr val="0F172A"/>
                </a:solidFill>
                <a:latin typeface="Segoe UI"/>
              </a:rPr>
              <a:t>• Decidir cuándo early stopping reemplaza o complementa a Ridge/Lasso.</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074 — Early stopping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Sobreajuste en entrenamientos iterativos (SGD, gradient boosting, redes neuronales).</a:t>
            </a:r>
          </a:p>
          <a:p>
            <a:pPr>
              <a:spcAft>
                <a:spcPts val="1000"/>
              </a:spcAft>
              <a:defRPr sz="1600" b="0">
                <a:solidFill>
                  <a:srgbClr val="0F172A"/>
                </a:solidFill>
                <a:latin typeface="Segoe UI"/>
              </a:defRPr>
            </a:pPr>
            <a:r>
              <a:rPr sz="1600" b="0">
                <a:solidFill>
                  <a:srgbClr val="0F172A"/>
                </a:solidFill>
                <a:latin typeface="Segoe UI"/>
              </a:rPr>
              <a:t>• Curva de aprendizaje por época: train baja, validación baja y luego sube.</a:t>
            </a:r>
          </a:p>
          <a:p>
            <a:pPr>
              <a:spcAft>
                <a:spcPts val="1000"/>
              </a:spcAft>
              <a:defRPr sz="1600" b="0">
                <a:solidFill>
                  <a:srgbClr val="0F172A"/>
                </a:solidFill>
                <a:latin typeface="Segoe UI"/>
              </a:defRPr>
            </a:pPr>
            <a:r>
              <a:rPr sz="1600" b="0">
                <a:solidFill>
                  <a:srgbClr val="0F172A"/>
                </a:solidFill>
                <a:latin typeface="Segoe UI"/>
              </a:rPr>
              <a:t>• Mecánica del early stopping: monitorear val loss + criterio de paciencia.</a:t>
            </a:r>
          </a:p>
          <a:p>
            <a:pPr>
              <a:spcAft>
                <a:spcPts val="1000"/>
              </a:spcAft>
              <a:defRPr sz="1600" b="0">
                <a:solidFill>
                  <a:srgbClr val="0F172A"/>
                </a:solidFill>
                <a:latin typeface="Segoe UI"/>
              </a:defRPr>
            </a:pPr>
            <a:r>
              <a:rPr sz="1600" b="0">
                <a:solidFill>
                  <a:srgbClr val="0F172A"/>
                </a:solidFill>
                <a:latin typeface="Segoe UI"/>
              </a:rPr>
              <a:t>• API de scikit-learn: SGDRegressor / SGDClassifier con early_stopping=True.</a:t>
            </a:r>
          </a:p>
          <a:p>
            <a:pPr>
              <a:spcAft>
                <a:spcPts val="1000"/>
              </a:spcAft>
              <a:defRPr sz="1600" b="0">
                <a:solidFill>
                  <a:srgbClr val="0F172A"/>
                </a:solidFill>
                <a:latin typeface="Segoe UI"/>
              </a:defRPr>
            </a:pPr>
            <a:r>
              <a:rPr sz="1600" b="0">
                <a:solidFill>
                  <a:srgbClr val="0F172A"/>
                </a:solidFill>
                <a:latin typeface="Segoe UI"/>
              </a:rPr>
              <a:t>• Implementación manual con partial_fit + copy.deepcopy del mejor estimador.</a:t>
            </a:r>
          </a:p>
          <a:p>
            <a:pPr>
              <a:spcAft>
                <a:spcPts val="1000"/>
              </a:spcAft>
              <a:defRPr sz="1600" b="0">
                <a:solidFill>
                  <a:srgbClr val="0F172A"/>
                </a:solidFill>
                <a:latin typeface="Segoe UI"/>
              </a:defRPr>
            </a:pPr>
            <a:r>
              <a:rPr sz="1600" b="0">
                <a:solidFill>
                  <a:srgbClr val="0F172A"/>
                </a:solidFill>
                <a:latin typeface="Segoe UI"/>
              </a:rPr>
              <a:t>• Relación con otras regularizaciones (L1, L2, dropout en deep learning).</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074 — Early stopping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make_regression con 50 features y ruido. Separamos train / validación / test y escalamos con StandardScaler (SGD es muy sensible a la escala).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make_regression</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sklearn.metrics import mean_squared_error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make_regression(n_samples=2000, n_features=50, noise=20, random_state=42)</a:t>
            </a:r>
          </a:p>
          <a:p>
            <a:pPr>
              <a:defRPr sz="1200" b="0">
                <a:solidFill>
                  <a:srgbClr val="F8FAFC"/>
                </a:solidFill>
                <a:latin typeface="Courier New"/>
              </a:defRPr>
            </a:pPr>
            <a:r>
              <a:rPr sz="1200" b="0">
                <a:solidFill>
                  <a:srgbClr val="F8FAFC"/>
                </a:solidFill>
                <a:latin typeface="Courier New"/>
              </a:rPr>
              <a:t>X_tmp, Xte, y_tmp, yte = train_test_split(X, y, test_size=0.2, random_state=42)</a:t>
            </a:r>
          </a:p>
          <a:p>
            <a:pPr>
              <a:defRPr sz="1200" b="0">
                <a:solidFill>
                  <a:srgbClr val="F8FAFC"/>
                </a:solidFill>
                <a:latin typeface="Courier New"/>
              </a:defRPr>
            </a:pPr>
            <a:r>
              <a:rPr sz="1200" b="0">
                <a:solidFill>
                  <a:srgbClr val="F8FAFC"/>
                </a:solidFill>
                <a:latin typeface="Courier New"/>
              </a:rPr>
              <a:t>Xtr, Xva, ytr, yva = train_test_split(X_tmp, y_tmp, test_size=0.25, random_state=42)  # 60/20/20</a:t>
            </a:r>
          </a:p>
          <a:p>
            <a:pPr>
              <a:defRPr sz="1200" b="0">
                <a:solidFill>
                  <a:srgbClr val="F8FAFC"/>
                </a:solidFill>
                <a:latin typeface="Courier New"/>
              </a:defRPr>
            </a:pPr>
            <a:r>
              <a:rPr sz="1200" b="0">
                <a:solidFill>
                  <a:srgbClr val="F8FAFC"/>
                </a:solidFill>
                <a:latin typeface="Courier New"/>
              </a:rPr>
              <a:t>sc = StandardScaler().fit(Xtr)</a:t>
            </a:r>
          </a:p>
          <a:p>
            <a:pPr>
              <a:defRPr sz="1200" b="0">
                <a:solidFill>
                  <a:srgbClr val="F8FAFC"/>
                </a:solidFill>
                <a:latin typeface="Courier New"/>
              </a:defRPr>
            </a:pPr>
            <a:r>
              <a:rPr sz="1200" b="0">
                <a:solidFill>
                  <a:srgbClr val="F8FAFC"/>
                </a:solidFill>
                <a:latin typeface="Courier New"/>
              </a:rPr>
              <a:t>Xtr, Xva, Xte = sc.transform(Xtr), sc.transform(Xva), sc.transform(Xte)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rmse(y_true, pred):</a:t>
            </a:r>
          </a:p>
          <a:p>
            <a:pPr>
              <a:defRPr sz="1200" b="0">
                <a:solidFill>
                  <a:srgbClr val="F8FAFC"/>
                </a:solidFill>
                <a:latin typeface="Courier New"/>
              </a:defRPr>
            </a:pPr>
            <a:r>
              <a:rPr sz="1200" b="0">
                <a:solidFill>
                  <a:srgbClr val="F8FAFC"/>
                </a:solidFill>
                <a:latin typeface="Courier New"/>
              </a:rPr>
              <a:t>    return np.sqrt(mean_squared_error(y_true, pred))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print('train', Xtr.shape[0], '| val', Xva.shape[0], '| test', Xte.shape[0])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074 — Early stopping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Curva clásica: entrenar SGDRegressor(max_iter=1, warm_start=True, learning_rate='constant', eta0=0.0005) por 500 épocas sobre California Housing escalado.</a:t>
            </a:r>
          </a:p>
          <a:p>
            <a:pPr>
              <a:spcAft>
                <a:spcPts val="800"/>
              </a:spcAft>
              <a:defRPr sz="1400" b="0">
                <a:solidFill>
                  <a:srgbClr val="0F172A"/>
                </a:solidFill>
                <a:latin typeface="Segoe UI"/>
              </a:defRPr>
            </a:pPr>
            <a:r>
              <a:rPr sz="1400" b="0">
                <a:solidFill>
                  <a:srgbClr val="0F172A"/>
                </a:solidFill>
                <a:latin typeface="Segoe UI"/>
              </a:rPr>
              <a:t>• Early stopping automático: comparar SGDRegressor(early_stopping=True, validation_fraction=0.2, n_iter_no_change=10, tol=1e-4) contra el modelo sin early stopping.</a:t>
            </a:r>
          </a:p>
          <a:p>
            <a:pPr>
              <a:spcAft>
                <a:spcPts val="800"/>
              </a:spcAft>
              <a:defRPr sz="1400" b="0">
                <a:solidFill>
                  <a:srgbClr val="0F172A"/>
                </a:solidFill>
                <a:latin typeface="Segoe UI"/>
              </a:defRPr>
            </a:pPr>
            <a:r>
              <a:rPr sz="1400" b="0">
                <a:solidFill>
                  <a:srgbClr val="0F172A"/>
                </a:solidFill>
                <a:latin typeface="Segoe UI"/>
              </a:rPr>
              <a:t>• Paciencia: barrer n_iter_no_change ∈ {1, 5, 20, 100} y mostrar cómo afecta la época final y el error de test.</a:t>
            </a:r>
          </a:p>
          <a:p>
            <a:pPr>
              <a:spcAft>
                <a:spcPts val="800"/>
              </a:spcAft>
              <a:defRPr sz="1400" b="0">
                <a:solidFill>
                  <a:srgbClr val="0F172A"/>
                </a:solidFill>
                <a:latin typeface="Segoe UI"/>
              </a:defRPr>
            </a:pPr>
            <a:r>
              <a:rPr sz="1400" b="0">
                <a:solidFill>
                  <a:srgbClr val="0F172A"/>
                </a:solidFill>
                <a:latin typeface="Segoe UI"/>
              </a:rPr>
              <a:t>• Implementación manual: escribir un loop con partial_fit que mantenga best_loss, best_model = deepcopy(sgd) y un contador de paciencia.</a:t>
            </a:r>
          </a:p>
          <a:p>
            <a:pPr>
              <a:spcAft>
                <a:spcPts val="800"/>
              </a:spcAft>
              <a:defRPr sz="1400" b="0">
                <a:solidFill>
                  <a:srgbClr val="0F172A"/>
                </a:solidFill>
                <a:latin typeface="Segoe UI"/>
              </a:defRPr>
            </a:pPr>
            <a:r>
              <a:rPr sz="1400" b="0">
                <a:solidFill>
                  <a:srgbClr val="0F172A"/>
                </a:solidFill>
                <a:latin typeface="Segoe UI"/>
              </a:rPr>
              <a:t>• Comparación con Ridge: sobre make_regression con ruido, comparar (a) SGD sin regularización + early stopping, (b) Ridge con alpha tuneado por CV.</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un SGDRegressor con early_stopping=True, validation_fraction=0.2, n_iter_no_change=15, tol=1e-4, random_state=42.</a:t>
            </a:r>
          </a:p>
          <a:p>
            <a:pPr>
              <a:spcAft>
                <a:spcPts val="800"/>
              </a:spcAft>
              <a:defRPr sz="1500" b="0">
                <a:solidFill>
                  <a:srgbClr val="0F172A"/>
                </a:solidFill>
                <a:latin typeface="Segoe UI"/>
              </a:defRPr>
            </a:pPr>
            <a:r>
              <a:rPr sz="1500" b="0">
                <a:solidFill>
                  <a:srgbClr val="0F172A"/>
                </a:solidFill>
                <a:latin typeface="Segoe UI"/>
              </a:rPr>
              <a:t>• Guardar la curva de loss_curve reconstruida con partial_fit (paralela, sin early stopping, 1000 épocas) en curva_val.png.</a:t>
            </a:r>
          </a:p>
          <a:p>
            <a:pPr>
              <a:spcAft>
                <a:spcPts val="800"/>
              </a:spcAft>
              <a:defRPr sz="1500" b="0">
                <a:solidFill>
                  <a:srgbClr val="0F172A"/>
                </a:solidFill>
                <a:latin typeface="Segoe UI"/>
              </a:defRPr>
            </a:pPr>
            <a:r>
              <a:rPr sz="1500" b="0">
                <a:solidFill>
                  <a:srgbClr val="0F172A"/>
                </a:solidFill>
                <a:latin typeface="Segoe UI"/>
              </a:rPr>
              <a:t>• Reportar: épocas usadas por el modelo con early stopping (n_iter_), RMSE en test, y época óptima vista en la curva manual.</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075 — Regresión logística binaria y softmax</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075 — Regresión logística binaria y softmax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4.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la regresión logística como modelo lineal para clasificación: cómo la sigmoide convierte un score lineal en probabilidad, por qué se entrena minimizando log-loss (cross-entropy), y cómo se generaliza a multiclase con softmax. Además, que sepa diagnosticar si las probabilidades que devuelve un clasificador están bien calibradas y cómo corregirlas si no.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Derivar la sigmoide σ(z) = 1/(1+e^-z) como puente entre score lineal y probabilidad, y explicar por qué no se usa MSE en clasificación.</a:t>
            </a:r>
          </a:p>
          <a:p>
            <a:pPr>
              <a:spcAft>
                <a:spcPts val="800"/>
              </a:spcAft>
              <a:defRPr sz="1400" b="0">
                <a:solidFill>
                  <a:srgbClr val="0F172A"/>
                </a:solidFill>
                <a:latin typeface="Segoe UI"/>
              </a:defRPr>
            </a:pPr>
            <a:r>
              <a:rPr sz="1400" b="0">
                <a:solidFill>
                  <a:srgbClr val="0F172A"/>
                </a:solidFill>
                <a:latin typeface="Segoe UI"/>
              </a:rPr>
              <a:t>• Entrenar LogisticRegression binaria de sklearn, interpretar coeficientes como log-odds y la frontera de decisión.</a:t>
            </a:r>
          </a:p>
          <a:p>
            <a:pPr>
              <a:spcAft>
                <a:spcPts val="800"/>
              </a:spcAft>
              <a:defRPr sz="1400" b="0">
                <a:solidFill>
                  <a:srgbClr val="0F172A"/>
                </a:solidFill>
                <a:latin typeface="Segoe UI"/>
              </a:defRPr>
            </a:pPr>
            <a:r>
              <a:rPr sz="1400" b="0">
                <a:solidFill>
                  <a:srgbClr val="0F172A"/>
                </a:solidFill>
                <a:latin typeface="Segoe UI"/>
              </a:rPr>
              <a:t>• Extender a multiclase con multi_class='multinomial' (softmax) y diferenciar de 'ovr' (one-vs-rest).</a:t>
            </a:r>
          </a:p>
          <a:p>
            <a:pPr>
              <a:spcAft>
                <a:spcPts val="800"/>
              </a:spcAft>
              <a:defRPr sz="1400" b="0">
                <a:solidFill>
                  <a:srgbClr val="0F172A"/>
                </a:solidFill>
                <a:latin typeface="Segoe UI"/>
              </a:defRPr>
            </a:pPr>
            <a:r>
              <a:rPr sz="1400" b="0">
                <a:solidFill>
                  <a:srgbClr val="0F172A"/>
                </a:solidFill>
                <a:latin typeface="Segoe UI"/>
              </a:rPr>
              <a:t>• Evaluar con log-loss y Brier score, no solo accuracy.</a:t>
            </a:r>
          </a:p>
          <a:p>
            <a:pPr>
              <a:spcAft>
                <a:spcPts val="800"/>
              </a:spcAft>
              <a:defRPr sz="1400" b="0">
                <a:solidFill>
                  <a:srgbClr val="0F172A"/>
                </a:solidFill>
                <a:latin typeface="Segoe UI"/>
              </a:defRPr>
            </a:pPr>
            <a:r>
              <a:rPr sz="1400" b="0">
                <a:solidFill>
                  <a:srgbClr val="0F172A"/>
                </a:solidFill>
                <a:latin typeface="Segoe UI"/>
              </a:rPr>
              <a:t>• Diagnosticar y corregir calibración con calibration_curve y CalibratedClassifierCV (Platt / isotonic).</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075 — Regresión logística binaria y softmax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Sigmoide y log-odds</a:t>
            </a:r>
          </a:p>
          <a:p>
            <a:pPr>
              <a:spcAft>
                <a:spcPts val="1000"/>
              </a:spcAft>
              <a:defRPr sz="1600" b="0">
                <a:solidFill>
                  <a:srgbClr val="0F172A"/>
                </a:solidFill>
                <a:latin typeface="Segoe UI"/>
              </a:defRPr>
            </a:pPr>
            <a:r>
              <a:rPr sz="1600" b="0">
                <a:solidFill>
                  <a:srgbClr val="0F172A"/>
                </a:solidFill>
                <a:latin typeface="Segoe UI"/>
              </a:rPr>
              <a:t>• Log-loss (cross-entropy binaria)</a:t>
            </a:r>
          </a:p>
          <a:p>
            <a:pPr>
              <a:spcAft>
                <a:spcPts val="1000"/>
              </a:spcAft>
              <a:defRPr sz="1600" b="0">
                <a:solidFill>
                  <a:srgbClr val="0F172A"/>
                </a:solidFill>
                <a:latin typeface="Segoe UI"/>
              </a:defRPr>
            </a:pPr>
            <a:r>
              <a:rPr sz="1600" b="0">
                <a:solidFill>
                  <a:srgbClr val="0F172A"/>
                </a:solidFill>
                <a:latin typeface="Segoe UI"/>
              </a:rPr>
              <a:t>• Regularización (C, penalty)</a:t>
            </a:r>
          </a:p>
          <a:p>
            <a:pPr>
              <a:spcAft>
                <a:spcPts val="1000"/>
              </a:spcAft>
              <a:defRPr sz="1600" b="0">
                <a:solidFill>
                  <a:srgbClr val="0F172A"/>
                </a:solidFill>
                <a:latin typeface="Segoe UI"/>
              </a:defRPr>
            </a:pPr>
            <a:r>
              <a:rPr sz="1600" b="0">
                <a:solidFill>
                  <a:srgbClr val="0F172A"/>
                </a:solidFill>
                <a:latin typeface="Segoe UI"/>
              </a:rPr>
              <a:t>• Softmax para multiclase</a:t>
            </a:r>
          </a:p>
          <a:p>
            <a:pPr>
              <a:spcAft>
                <a:spcPts val="1000"/>
              </a:spcAft>
              <a:defRPr sz="1600" b="0">
                <a:solidFill>
                  <a:srgbClr val="0F172A"/>
                </a:solidFill>
                <a:latin typeface="Segoe UI"/>
              </a:defRPr>
            </a:pPr>
            <a:r>
              <a:rPr sz="1600" b="0">
                <a:solidFill>
                  <a:srgbClr val="0F172A"/>
                </a:solidFill>
                <a:latin typeface="Segoe UI"/>
              </a:rPr>
              <a:t>• multinomial vs ovr</a:t>
            </a:r>
          </a:p>
          <a:p>
            <a:pPr>
              <a:spcAft>
                <a:spcPts val="1000"/>
              </a:spcAft>
              <a:defRPr sz="1600" b="0">
                <a:solidFill>
                  <a:srgbClr val="0F172A"/>
                </a:solidFill>
                <a:latin typeface="Segoe UI"/>
              </a:defRPr>
            </a:pPr>
            <a:r>
              <a:rPr sz="1600" b="0">
                <a:solidFill>
                  <a:srgbClr val="0F172A"/>
                </a:solidFill>
                <a:latin typeface="Segoe UI"/>
              </a:rPr>
              <a:t>• Predict_proba y calibración</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075 — Regresión logística binaria y softmax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Entrenamos LogisticRegression (escalada) y reportamos accuracy, log-loss y matriz de confusión. Interpretamos los coeficientes de mayor peso como odds-ratio $\exp(w)$.</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load_breast_cancer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sklearn.pipeline import make_pipeline</a:t>
            </a:r>
          </a:p>
          <a:p>
            <a:pPr>
              <a:defRPr sz="1200" b="0">
                <a:solidFill>
                  <a:srgbClr val="F8FAFC"/>
                </a:solidFill>
                <a:latin typeface="Courier New"/>
              </a:defRPr>
            </a:pPr>
            <a:r>
              <a:rPr sz="1200" b="0">
                <a:solidFill>
                  <a:srgbClr val="F8FAFC"/>
                </a:solidFill>
                <a:latin typeface="Courier New"/>
              </a:rPr>
              <a:t>from sklearn.metrics import accuracy_score, log_loss, confusion_matrix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load_breast_cancer()</a:t>
            </a:r>
          </a:p>
          <a:p>
            <a:pPr>
              <a:defRPr sz="1200" b="0">
                <a:solidFill>
                  <a:srgbClr val="F8FAFC"/>
                </a:solidFill>
                <a:latin typeface="Courier New"/>
              </a:defRPr>
            </a:pPr>
            <a:r>
              <a:rPr sz="1200" b="0">
                <a:solidFill>
                  <a:srgbClr val="F8FAFC"/>
                </a:solidFill>
                <a:latin typeface="Courier New"/>
              </a:rPr>
              <a:t>Xc, yc = data.data, data.target</a:t>
            </a:r>
          </a:p>
          <a:p>
            <a:pPr>
              <a:defRPr sz="1200" b="0">
                <a:solidFill>
                  <a:srgbClr val="F8FAFC"/>
                </a:solidFill>
                <a:latin typeface="Courier New"/>
              </a:defRPr>
            </a:pPr>
            <a:r>
              <a:rPr sz="1200" b="0">
                <a:solidFill>
                  <a:srgbClr val="F8FAFC"/>
                </a:solidFill>
                <a:latin typeface="Courier New"/>
              </a:rPr>
              <a:t>Xtr, Xte, ytr, yte = train_test_split(Xc, yc, test_size=0.2, random_state=42, stratify=yc)</a:t>
            </a:r>
          </a:p>
          <a:p>
            <a:pPr>
              <a:defRPr sz="1200" b="0">
                <a:solidFill>
                  <a:srgbClr val="F8FAFC"/>
                </a:solidFill>
                <a:latin typeface="Courier New"/>
              </a:defRPr>
            </a:pPr>
            <a:r>
              <a:rPr sz="1200" b="0">
                <a:solidFill>
                  <a:srgbClr val="F8FAFC"/>
                </a:solidFill>
                <a:latin typeface="Courier New"/>
              </a:rPr>
              <a:t>clf = make_pipeline(StandardScaler(), LogisticRegression(max_iter=1000)).fit(Xtr, ytr)</a:t>
            </a:r>
          </a:p>
          <a:p>
            <a:pPr>
              <a:defRPr sz="1200" b="0">
                <a:solidFill>
                  <a:srgbClr val="F8FAFC"/>
                </a:solidFill>
                <a:latin typeface="Courier New"/>
              </a:defRPr>
            </a:pPr>
            <a:r>
              <a:rPr sz="1200" b="0">
                <a:solidFill>
                  <a:srgbClr val="F8FAFC"/>
                </a:solidFill>
                <a:latin typeface="Courier New"/>
              </a:rPr>
              <a:t>proba = clf.predict_proba(Xte)[:,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print('accuracy:', round(accuracy_score(yte, clf.predict(Xte)), 4))</a:t>
            </a:r>
          </a:p>
          <a:p>
            <a:pPr>
              <a:defRPr sz="1200" b="0">
                <a:solidFill>
                  <a:srgbClr val="F8FAFC"/>
                </a:solidFill>
                <a:latin typeface="Courier New"/>
              </a:defRPr>
            </a:pPr>
            <a:r>
              <a:rPr sz="1200" b="0">
                <a:solidFill>
                  <a:srgbClr val="F8FAFC"/>
                </a:solidFill>
                <a:latin typeface="Courier New"/>
              </a:rPr>
              <a:t>print('log-loss:', round(log_loss(yte, proba), 4))</a:t>
            </a:r>
          </a:p>
          <a:p>
            <a:pPr>
              <a:defRPr sz="1200" b="0">
                <a:solidFill>
                  <a:srgbClr val="F8FAFC"/>
                </a:solidFill>
                <a:latin typeface="Courier New"/>
              </a:defRPr>
            </a:pPr>
            <a:r>
              <a:rPr sz="1200" b="0">
                <a:solidFill>
                  <a:srgbClr val="F8FAFC"/>
                </a:solidFill>
                <a:latin typeface="Courier New"/>
              </a:rPr>
              <a:t>print('matriz de confusión:\n', confusion_matrix(yte, clf.predict(Xte)))</a:t>
            </a:r>
          </a:p>
          <a:p>
            <a:pPr>
              <a:defRPr sz="1200" b="0">
                <a:solidFill>
                  <a:srgbClr val="F8FAFC"/>
                </a:solidFill>
                <a:latin typeface="Courier New"/>
              </a:defRPr>
            </a:pPr>
            <a:r>
              <a:rPr sz="1200" b="0">
                <a:solidFill>
                  <a:srgbClr val="F8FAFC"/>
                </a:solidFill>
                <a:latin typeface="Courier New"/>
              </a:rPr>
              <a:t>coef = clf.named_steps['logisticregression'].coef_[0]</a:t>
            </a:r>
          </a:p>
          <a:p>
            <a:pPr>
              <a:defRPr sz="1200" b="0">
                <a:solidFill>
                  <a:srgbClr val="F8FAFC"/>
                </a:solidFill>
                <a:latin typeface="Courier New"/>
              </a:defRPr>
            </a:pPr>
            <a:r>
              <a:rPr sz="1200" b="0">
                <a:solidFill>
                  <a:srgbClr val="F8FAFC"/>
                </a:solidFill>
                <a:latin typeface="Courier New"/>
              </a:rPr>
              <a:t>for i in np.argsort(np.abs(coef))[::-1][:5]:</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075 — Regresión logística binaria y softmax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Logística binaria desde cero.</a:t>
            </a:r>
          </a:p>
          <a:p>
            <a:pPr>
              <a:spcAft>
                <a:spcPts val="800"/>
              </a:spcAft>
              <a:defRPr sz="1400" b="0">
                <a:solidFill>
                  <a:srgbClr val="0F172A"/>
                </a:solidFill>
                <a:latin typeface="Segoe UI"/>
              </a:defRPr>
            </a:pPr>
            <a:r>
              <a:rPr sz="1400" b="0">
                <a:solidFill>
                  <a:srgbClr val="0F172A"/>
                </a:solidFill>
                <a:latin typeface="Segoe UI"/>
              </a:rPr>
              <a:t>• Frontera de decisión.</a:t>
            </a:r>
          </a:p>
          <a:p>
            <a:pPr>
              <a:spcAft>
                <a:spcPts val="800"/>
              </a:spcAft>
              <a:defRPr sz="1400" b="0">
                <a:solidFill>
                  <a:srgbClr val="0F172A"/>
                </a:solidFill>
                <a:latin typeface="Segoe UI"/>
              </a:defRPr>
            </a:pPr>
            <a:r>
              <a:rPr sz="1400" b="0">
                <a:solidFill>
                  <a:srgbClr val="0F172A"/>
                </a:solidFill>
                <a:latin typeface="Segoe UI"/>
              </a:rPr>
              <a:t>• Softmax sobre iris.</a:t>
            </a:r>
          </a:p>
          <a:p>
            <a:pPr>
              <a:spcAft>
                <a:spcPts val="800"/>
              </a:spcAft>
              <a:defRPr sz="1400" b="0">
                <a:solidFill>
                  <a:srgbClr val="0F172A"/>
                </a:solidFill>
                <a:latin typeface="Segoe UI"/>
              </a:defRPr>
            </a:pPr>
            <a:r>
              <a:rPr sz="1400" b="0">
                <a:solidFill>
                  <a:srgbClr val="0F172A"/>
                </a:solidFill>
                <a:latin typeface="Segoe UI"/>
              </a:rPr>
              <a:t>• Reliability diagram de un RandomForest.</a:t>
            </a:r>
          </a:p>
          <a:p>
            <a:pPr>
              <a:spcAft>
                <a:spcPts val="800"/>
              </a:spcAft>
              <a:defRPr sz="1400" b="0">
                <a:solidFill>
                  <a:srgbClr val="0F172A"/>
                </a:solidFill>
                <a:latin typeface="Segoe UI"/>
              </a:defRPr>
            </a:pPr>
            <a:r>
              <a:rPr sz="1400" b="0">
                <a:solidFill>
                  <a:srgbClr val="0F172A"/>
                </a:solidFill>
                <a:latin typeface="Segoe UI"/>
              </a:rPr>
              <a:t>• Calibrar con CalibratedClassifierCV.</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sobre make_classification(n_samples=20000, weights=[0.9, 0.1], random_state=42): (a) entrena LogisticRegression y RandomForestClassifier; (b) reporta accuracy, log-loss y Brier score de ambos en test; (c) grafica reliability diagram de ambos en la misma figura; (d) calibra el RF con CalibratedClassifierCV(method='isotonic', cv=5) y reporta el nuevo Brier; (e) escribe 2-3 líneas interpretando: ¿quedó el RF mejor calibrado que la logística cruda?</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076 — Calibración de probabilidades: Platt, isotonic, temperature scaling</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076 — Calibración de probabilidades: Platt, isotonic, temperature scaling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Platt (1999) + Niculescu-Mizil &amp; Caruana (2005) + Guo et al. (2017).  Duración estimada: 75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cuándo las probabilidades que devuelve predict_proba son calibradas — es decir, si el modelo dice "70 %" para un grupo, ¿realmente el 70 % es positivo? Modelos como Random Forest y SVM suelen estar mal calibrados; XGBoost mejor. Aplicar Platt scaling (sigmoid) y isotonic regression para corregir. Evaluar con Brier score, ECE (Expected Calibration Error) y reliability diagrams.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un reliability diagram: agrupar predicciones por bin de probabilidad y plotear "predicho vs real".</a:t>
            </a:r>
          </a:p>
          <a:p>
            <a:pPr>
              <a:spcAft>
                <a:spcPts val="800"/>
              </a:spcAft>
              <a:defRPr sz="1400" b="0">
                <a:solidFill>
                  <a:srgbClr val="0F172A"/>
                </a:solidFill>
                <a:latin typeface="Segoe UI"/>
              </a:defRPr>
            </a:pPr>
            <a:r>
              <a:rPr sz="1400" b="0">
                <a:solidFill>
                  <a:srgbClr val="0F172A"/>
                </a:solidFill>
                <a:latin typeface="Segoe UI"/>
              </a:rPr>
              <a:t>• Calcular Brier score = mean((p - y)²). Más bajo = mejor calibración.</a:t>
            </a:r>
          </a:p>
          <a:p>
            <a:pPr>
              <a:spcAft>
                <a:spcPts val="800"/>
              </a:spcAft>
              <a:defRPr sz="1400" b="0">
                <a:solidFill>
                  <a:srgbClr val="0F172A"/>
                </a:solidFill>
                <a:latin typeface="Segoe UI"/>
              </a:defRPr>
            </a:pPr>
            <a:r>
              <a:rPr sz="1400" b="0">
                <a:solidFill>
                  <a:srgbClr val="0F172A"/>
                </a:solidFill>
                <a:latin typeface="Segoe UI"/>
              </a:rPr>
              <a:t>• Calcular ECE: Σ (n_b/N) · |acc_b - conf_b|.</a:t>
            </a:r>
          </a:p>
          <a:p>
            <a:pPr>
              <a:spcAft>
                <a:spcPts val="800"/>
              </a:spcAft>
              <a:defRPr sz="1400" b="0">
                <a:solidFill>
                  <a:srgbClr val="0F172A"/>
                </a:solidFill>
                <a:latin typeface="Segoe UI"/>
              </a:defRPr>
            </a:pPr>
            <a:r>
              <a:rPr sz="1400" b="0">
                <a:solidFill>
                  <a:srgbClr val="0F172A"/>
                </a:solidFill>
                <a:latin typeface="Segoe UI"/>
              </a:rPr>
              <a:t>• Aplicar sklearn.calibration.CalibratedClassifierCV(estimator, method='sigmoid' | 'isotonic', cv=5).</a:t>
            </a:r>
          </a:p>
          <a:p>
            <a:pPr>
              <a:spcAft>
                <a:spcPts val="800"/>
              </a:spcAft>
              <a:defRPr sz="1400" b="0">
                <a:solidFill>
                  <a:srgbClr val="0F172A"/>
                </a:solidFill>
                <a:latin typeface="Segoe UI"/>
              </a:defRPr>
            </a:pPr>
            <a:r>
              <a:rPr sz="1400" b="0">
                <a:solidFill>
                  <a:srgbClr val="0F172A"/>
                </a:solidFill>
                <a:latin typeface="Segoe UI"/>
              </a:rPr>
              <a:t>• Decidir: Platt cuando muestra chica (n &lt; 1000), isotonic cuando hay datos.</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076 — Calibración de probabilidades: Platt, isotonic, temperature scaling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importa? Decisiones que dependen de threshold ≠ 0.5 requieren probs reales.</a:t>
            </a:r>
          </a:p>
          <a:p>
            <a:pPr>
              <a:spcAft>
                <a:spcPts val="1000"/>
              </a:spcAft>
              <a:defRPr sz="1600" b="0">
                <a:solidFill>
                  <a:srgbClr val="0F172A"/>
                </a:solidFill>
                <a:latin typeface="Segoe UI"/>
              </a:defRPr>
            </a:pPr>
            <a:r>
              <a:rPr sz="1600" b="0">
                <a:solidFill>
                  <a:srgbClr val="0F172A"/>
                </a:solidFill>
                <a:latin typeface="Segoe UI"/>
              </a:rPr>
              <a:t>• Reliability diagram: predicción vs frecuencia real.</a:t>
            </a:r>
          </a:p>
          <a:p>
            <a:pPr>
              <a:spcAft>
                <a:spcPts val="1000"/>
              </a:spcAft>
              <a:defRPr sz="1600" b="0">
                <a:solidFill>
                  <a:srgbClr val="0F172A"/>
                </a:solidFill>
                <a:latin typeface="Segoe UI"/>
              </a:defRPr>
            </a:pPr>
            <a:r>
              <a:rPr sz="1600" b="0">
                <a:solidFill>
                  <a:srgbClr val="0F172A"/>
                </a:solidFill>
                <a:latin typeface="Segoe UI"/>
              </a:rPr>
              <a:t>• Platt scaling: ajustar σ(A·logit + B) con MLE sobre val set.</a:t>
            </a:r>
          </a:p>
          <a:p>
            <a:pPr>
              <a:spcAft>
                <a:spcPts val="1000"/>
              </a:spcAft>
              <a:defRPr sz="1600" b="0">
                <a:solidFill>
                  <a:srgbClr val="0F172A"/>
                </a:solidFill>
                <a:latin typeface="Segoe UI"/>
              </a:defRPr>
            </a:pPr>
            <a:r>
              <a:rPr sz="1600" b="0">
                <a:solidFill>
                  <a:srgbClr val="0F172A"/>
                </a:solidFill>
                <a:latin typeface="Segoe UI"/>
              </a:rPr>
              <a:t>• Isotonic regression: monótono pero más flexible (puede sobreajustar).</a:t>
            </a:r>
          </a:p>
          <a:p>
            <a:pPr>
              <a:spcAft>
                <a:spcPts val="1000"/>
              </a:spcAft>
              <a:defRPr sz="1600" b="0">
                <a:solidFill>
                  <a:srgbClr val="0F172A"/>
                </a:solidFill>
                <a:latin typeface="Segoe UI"/>
              </a:defRPr>
            </a:pPr>
            <a:r>
              <a:rPr sz="1600" b="0">
                <a:solidFill>
                  <a:srgbClr val="0F172A"/>
                </a:solidFill>
                <a:latin typeface="Segoe UI"/>
              </a:rPr>
              <a:t>• Temperature scaling: solo divide logits por T aprendido — para multiclase, eficiente.</a:t>
            </a:r>
          </a:p>
          <a:p>
            <a:pPr>
              <a:spcAft>
                <a:spcPts val="1000"/>
              </a:spcAft>
              <a:defRPr sz="1600" b="0">
                <a:solidFill>
                  <a:srgbClr val="0F172A"/>
                </a:solidFill>
                <a:latin typeface="Segoe UI"/>
              </a:defRPr>
            </a:pPr>
            <a:r>
              <a:rPr sz="1600" b="0">
                <a:solidFill>
                  <a:srgbClr val="0F172A"/>
                </a:solidFill>
                <a:latin typeface="Segoe UI"/>
              </a:rPr>
              <a:t>• Modelos típicamente calibrados (logistic regression) vs no (RF, SVM).</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076 — Calibración de probabilidades: Platt, isotonic, temperature scaling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Un modelo puede acertar el orden (rankear bien quién es más probable que sea positivo) y a la vez mentir en la probabilidad: decir "0.9" cuando en realidad solo el 60% de esos casos resultan positivos. Calibrar es ajustar esas probabilidades para que un "0.8" signifique de verdad 80%. No cambia el ranking ni el AUC — cambia la escala: convierte el score en una probabilidad honesta que sí podés usar para decidir umbrales, costos o riesgos.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sklearn.ensemble import GradientBoostingClassifier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sklearn.calibration import CalibratedClassifierCV</a:t>
            </a:r>
          </a:p>
          <a:p>
            <a:pPr>
              <a:defRPr sz="1200" b="0">
                <a:solidFill>
                  <a:srgbClr val="F8FAFC"/>
                </a:solidFill>
                <a:latin typeface="Courier New"/>
              </a:defRPr>
            </a:pPr>
            <a:r>
              <a:rPr sz="1200" b="0">
                <a:solidFill>
                  <a:srgbClr val="F8FAFC"/>
                </a:solidFill>
                <a:latin typeface="Courier New"/>
              </a:rPr>
              <a:t>from sklearn.metrics import brier_score_loss, log_loss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076 — Calibración de probabilidades: Platt, isotonic, temperature scaling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Reliability diagram: entrenar RandomForest, generar predict_proba, bin en 10 grupos, plotear curva calibration vs y=x.</a:t>
            </a:r>
          </a:p>
          <a:p>
            <a:pPr>
              <a:spcAft>
                <a:spcPts val="800"/>
              </a:spcAft>
              <a:defRPr sz="1400" b="0">
                <a:solidFill>
                  <a:srgbClr val="0F172A"/>
                </a:solidFill>
                <a:latin typeface="Segoe UI"/>
              </a:defRPr>
            </a:pPr>
            <a:r>
              <a:rPr sz="1400" b="0">
                <a:solidFill>
                  <a:srgbClr val="0F172A"/>
                </a:solidFill>
                <a:latin typeface="Segoe UI"/>
              </a:rPr>
              <a:t>• Brier + ECE: implementar ambas y comparar entre RF (mala calibración) y LogReg (buena).</a:t>
            </a:r>
          </a:p>
          <a:p>
            <a:pPr>
              <a:spcAft>
                <a:spcPts val="800"/>
              </a:spcAft>
              <a:defRPr sz="1400" b="0">
                <a:solidFill>
                  <a:srgbClr val="0F172A"/>
                </a:solidFill>
                <a:latin typeface="Segoe UI"/>
              </a:defRPr>
            </a:pPr>
            <a:r>
              <a:rPr sz="1400" b="0">
                <a:solidFill>
                  <a:srgbClr val="0F172A"/>
                </a:solidFill>
                <a:latin typeface="Segoe UI"/>
              </a:rPr>
              <a:t>• CalibratedClassifierCV: CalibratedClassifierCV(RF, method='sigmoid', cv=5).fit(X, y).</a:t>
            </a:r>
          </a:p>
          <a:p>
            <a:pPr>
              <a:spcAft>
                <a:spcPts val="800"/>
              </a:spcAft>
              <a:defRPr sz="1400" b="0">
                <a:solidFill>
                  <a:srgbClr val="0F172A"/>
                </a:solidFill>
                <a:latin typeface="Segoe UI"/>
              </a:defRPr>
            </a:pPr>
            <a:r>
              <a:rPr sz="1400" b="0">
                <a:solidFill>
                  <a:srgbClr val="0F172A"/>
                </a:solidFill>
                <a:latin typeface="Segoe UI"/>
              </a:rPr>
              <a:t>• Isotonic vs Platt: comparar ambos sobre el mismo modelo.</a:t>
            </a:r>
          </a:p>
          <a:p>
            <a:pPr>
              <a:spcAft>
                <a:spcPts val="800"/>
              </a:spcAft>
              <a:defRPr sz="1400" b="0">
                <a:solidFill>
                  <a:srgbClr val="0F172A"/>
                </a:solidFill>
                <a:latin typeface="Segoe UI"/>
              </a:defRPr>
            </a:pPr>
            <a:r>
              <a:rPr sz="1400" b="0">
                <a:solidFill>
                  <a:srgbClr val="0F172A"/>
                </a:solidFill>
                <a:latin typeface="Segoe UI"/>
              </a:rPr>
              <a:t>• Threshold tuning post-calibración: con probs calibradas, F1 vs threshold es más interpretable.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RandomForest + reliability diagram + Brier + ECE.</a:t>
            </a:r>
          </a:p>
          <a:p>
            <a:pPr>
              <a:spcAft>
                <a:spcPts val="800"/>
              </a:spcAft>
              <a:defRPr sz="1500" b="0">
                <a:solidFill>
                  <a:srgbClr val="0F172A"/>
                </a:solidFill>
                <a:latin typeface="Segoe UI"/>
              </a:defRPr>
            </a:pPr>
            <a:r>
              <a:rPr sz="1500" b="0">
                <a:solidFill>
                  <a:srgbClr val="0F172A"/>
                </a:solidFill>
                <a:latin typeface="Segoe UI"/>
              </a:rPr>
              <a:t>• Calibrar con Platt y con isotonic (CV).</a:t>
            </a:r>
          </a:p>
          <a:p>
            <a:pPr>
              <a:spcAft>
                <a:spcPts val="800"/>
              </a:spcAft>
              <a:defRPr sz="1500" b="0">
                <a:solidFill>
                  <a:srgbClr val="0F172A"/>
                </a:solidFill>
                <a:latin typeface="Segoe UI"/>
              </a:defRPr>
            </a:pPr>
            <a:r>
              <a:rPr sz="1500" b="0">
                <a:solidFill>
                  <a:srgbClr val="0F172A"/>
                </a:solidFill>
                <a:latin typeface="Segoe UI"/>
              </a:rPr>
              <a:t>• Comparar Brier/ECE pre y post.</a:t>
            </a:r>
          </a:p>
          <a:p>
            <a:pPr>
              <a:spcAft>
                <a:spcPts val="800"/>
              </a:spcAft>
              <a:defRPr sz="1500" b="0">
                <a:solidFill>
                  <a:srgbClr val="0F172A"/>
                </a:solidFill>
                <a:latin typeface="Segoe UI"/>
              </a:defRPr>
            </a:pPr>
            <a:r>
              <a:rPr sz="1500" b="0">
                <a:solidFill>
                  <a:srgbClr val="0F172A"/>
                </a:solidFill>
                <a:latin typeface="Segoe UI"/>
              </a:rPr>
              <a:t>• Reliability diagrams superpuestos.</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077 — SVM lineal</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077 — SVM lineal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5.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el principio de maximización del margen que define a las Support Vector Machines lineales, distinguir entre hard margin y soft margin, y entrenar un clasificador con LinearSVC controlando el trade-off bias/varianza mediante el hiperparámetro C.</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qué es el margen y por qué SVM busca el hiperplano que lo maximiza.</a:t>
            </a:r>
          </a:p>
          <a:p>
            <a:pPr>
              <a:spcAft>
                <a:spcPts val="800"/>
              </a:spcAft>
              <a:defRPr sz="1400" b="0">
                <a:solidFill>
                  <a:srgbClr val="0F172A"/>
                </a:solidFill>
                <a:latin typeface="Segoe UI"/>
              </a:defRPr>
            </a:pPr>
            <a:r>
              <a:rPr sz="1400" b="0">
                <a:solidFill>
                  <a:srgbClr val="0F172A"/>
                </a:solidFill>
                <a:latin typeface="Segoe UI"/>
              </a:rPr>
              <a:t>• Diferenciar hard margin (datos linealmente separables, sin tolerancia) de soft margin (admite violaciones).</a:t>
            </a:r>
          </a:p>
          <a:p>
            <a:pPr>
              <a:spcAft>
                <a:spcPts val="800"/>
              </a:spcAft>
              <a:defRPr sz="1400" b="0">
                <a:solidFill>
                  <a:srgbClr val="0F172A"/>
                </a:solidFill>
                <a:latin typeface="Segoe UI"/>
              </a:defRPr>
            </a:pPr>
            <a:r>
              <a:rPr sz="1400" b="0">
                <a:solidFill>
                  <a:srgbClr val="0F172A"/>
                </a:solidFill>
                <a:latin typeface="Segoe UI"/>
              </a:rPr>
              <a:t>• Interpretar el hiperparámetro C y su efecto sobre el ancho del margen y las violaciones permitidas.</a:t>
            </a:r>
          </a:p>
          <a:p>
            <a:pPr>
              <a:spcAft>
                <a:spcPts val="800"/>
              </a:spcAft>
              <a:defRPr sz="1400" b="0">
                <a:solidFill>
                  <a:srgbClr val="0F172A"/>
                </a:solidFill>
                <a:latin typeface="Segoe UI"/>
              </a:defRPr>
            </a:pPr>
            <a:r>
              <a:rPr sz="1400" b="0">
                <a:solidFill>
                  <a:srgbClr val="0F172A"/>
                </a:solidFill>
                <a:latin typeface="Segoe UI"/>
              </a:rPr>
              <a:t>• Entrenar un LinearSVC en scikit-learn con un Pipeline que incluya StandardScaler.</a:t>
            </a:r>
          </a:p>
          <a:p>
            <a:pPr>
              <a:spcAft>
                <a:spcPts val="800"/>
              </a:spcAft>
              <a:defRPr sz="1400" b="0">
                <a:solidFill>
                  <a:srgbClr val="0F172A"/>
                </a:solidFill>
                <a:latin typeface="Segoe UI"/>
              </a:defRPr>
            </a:pPr>
            <a:r>
              <a:rPr sz="1400" b="0">
                <a:solidFill>
                  <a:srgbClr val="0F172A"/>
                </a:solidFill>
                <a:latin typeface="Segoe UI"/>
              </a:rPr>
              <a:t>• Identificar los vectores soporte y entender por qué son los únicos puntos que definen la frontera.</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077 — SVM lineal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Intuición geométrica: hiperplano separador y margen.</a:t>
            </a:r>
          </a:p>
          <a:p>
            <a:pPr>
              <a:spcAft>
                <a:spcPts val="1000"/>
              </a:spcAft>
              <a:defRPr sz="1600" b="0">
                <a:solidFill>
                  <a:srgbClr val="0F172A"/>
                </a:solidFill>
                <a:latin typeface="Segoe UI"/>
              </a:defRPr>
            </a:pPr>
            <a:r>
              <a:rPr sz="1600" b="0">
                <a:solidFill>
                  <a:srgbClr val="0F172A"/>
                </a:solidFill>
                <a:latin typeface="Segoe UI"/>
              </a:rPr>
              <a:t>• Hard margin: condiciones y limitaciones (sensibilidad a outliers, exige separabilidad).</a:t>
            </a:r>
          </a:p>
          <a:p>
            <a:pPr>
              <a:spcAft>
                <a:spcPts val="1000"/>
              </a:spcAft>
              <a:defRPr sz="1600" b="0">
                <a:solidFill>
                  <a:srgbClr val="0F172A"/>
                </a:solidFill>
                <a:latin typeface="Segoe UI"/>
              </a:defRPr>
            </a:pPr>
            <a:r>
              <a:rPr sz="1600" b="0">
                <a:solidFill>
                  <a:srgbClr val="0F172A"/>
                </a:solidFill>
                <a:latin typeface="Segoe UI"/>
              </a:rPr>
              <a:t>• Soft margin: introducción de variables de holgura (slack).</a:t>
            </a:r>
          </a:p>
          <a:p>
            <a:pPr>
              <a:spcAft>
                <a:spcPts val="1000"/>
              </a:spcAft>
              <a:defRPr sz="1600" b="0">
                <a:solidFill>
                  <a:srgbClr val="0F172A"/>
                </a:solidFill>
                <a:latin typeface="Segoe UI"/>
              </a:defRPr>
            </a:pPr>
            <a:r>
              <a:rPr sz="1600" b="0">
                <a:solidFill>
                  <a:srgbClr val="0F172A"/>
                </a:solidFill>
                <a:latin typeface="Segoe UI"/>
              </a:rPr>
              <a:t>• Hiperparámetro C: regularización, trade-off margen ancho vs. violaciones.</a:t>
            </a:r>
          </a:p>
          <a:p>
            <a:pPr>
              <a:spcAft>
                <a:spcPts val="1000"/>
              </a:spcAft>
              <a:defRPr sz="1600" b="0">
                <a:solidFill>
                  <a:srgbClr val="0F172A"/>
                </a:solidFill>
                <a:latin typeface="Segoe UI"/>
              </a:defRPr>
            </a:pPr>
            <a:r>
              <a:rPr sz="1600" b="0">
                <a:solidFill>
                  <a:srgbClr val="0F172A"/>
                </a:solidFill>
                <a:latin typeface="Segoe UI"/>
              </a:rPr>
              <a:t>• Función de pérdida hinge loss.</a:t>
            </a:r>
          </a:p>
          <a:p>
            <a:pPr>
              <a:spcAft>
                <a:spcPts val="1000"/>
              </a:spcAft>
              <a:defRPr sz="1600" b="0">
                <a:solidFill>
                  <a:srgbClr val="0F172A"/>
                </a:solidFill>
                <a:latin typeface="Segoe UI"/>
              </a:defRPr>
            </a:pPr>
            <a:r>
              <a:rPr sz="1600" b="0">
                <a:solidFill>
                  <a:srgbClr val="0F172A"/>
                </a:solidFill>
                <a:latin typeface="Segoe UI"/>
              </a:rPr>
              <a:t>• API de scikit-learn: LinearSVC, loss, C, dual, max_iter.</a:t>
            </a:r>
          </a:p>
          <a:p>
            <a:pPr>
              <a:spcAft>
                <a:spcPts val="1000"/>
              </a:spcAft>
              <a:defRPr sz="1600" b="0">
                <a:solidFill>
                  <a:srgbClr val="0F172A"/>
                </a:solidFill>
                <a:latin typeface="Segoe UI"/>
              </a:defRPr>
            </a:pPr>
            <a:r>
              <a:rPr sz="1600" b="0">
                <a:solidFill>
                  <a:srgbClr val="0F172A"/>
                </a:solidFill>
                <a:latin typeface="Segoe UI"/>
              </a:rPr>
              <a:t>• Importancia crítica del escalado de features en SVM.</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077 — SVM lineal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Nos quedamos con dos features (petal length, petal width) para poder visualizar la frontera en 2D, y convertimos el problema a binario.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load_iris</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sklearn.svm import LinearSVC, SVC</a:t>
            </a:r>
          </a:p>
          <a:p>
            <a:pPr>
              <a:defRPr sz="1200" b="0">
                <a:solidFill>
                  <a:srgbClr val="F8FAFC"/>
                </a:solidFill>
                <a:latin typeface="Courier New"/>
              </a:defRPr>
            </a:pPr>
            <a:r>
              <a:rPr sz="1200" b="0">
                <a:solidFill>
                  <a:srgbClr val="F8FAFC"/>
                </a:solidFill>
                <a:latin typeface="Courier New"/>
              </a:rPr>
              <a:t>from sklearn.pipeline import make_pipeline</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RND = 42</a:t>
            </a:r>
          </a:p>
          <a:p>
            <a:pPr>
              <a:defRPr sz="1200" b="0">
                <a:solidFill>
                  <a:srgbClr val="F8FAFC"/>
                </a:solidFill>
                <a:latin typeface="Courier New"/>
              </a:defRPr>
            </a:pPr>
            <a:r>
              <a:rPr sz="1200" b="0">
                <a:solidFill>
                  <a:srgbClr val="F8FAFC"/>
                </a:solidFill>
                <a:latin typeface="Courier New"/>
              </a:rPr>
              <a:t>np.random.seed(RND)</a:t>
            </a:r>
          </a:p>
          <a:p>
            <a:pPr>
              <a:defRPr sz="1200" b="0">
                <a:solidFill>
                  <a:srgbClr val="F8FAFC"/>
                </a:solidFill>
                <a:latin typeface="Courier New"/>
              </a:defRPr>
            </a:pPr>
            <a:r>
              <a:rPr sz="1200" b="0">
                <a:solidFill>
                  <a:srgbClr val="F8FAFC"/>
                </a:solidFill>
                <a:latin typeface="Courier New"/>
              </a:rPr>
              <a:t>iris = load_iris()</a:t>
            </a:r>
          </a:p>
          <a:p>
            <a:pPr>
              <a:defRPr sz="1200" b="0">
                <a:solidFill>
                  <a:srgbClr val="F8FAFC"/>
                </a:solidFill>
                <a:latin typeface="Courier New"/>
              </a:defRPr>
            </a:pPr>
            <a:r>
              <a:rPr sz="1200" b="0">
                <a:solidFill>
                  <a:srgbClr val="F8FAFC"/>
                </a:solidFill>
                <a:latin typeface="Courier New"/>
              </a:rPr>
              <a:t>X = iris.data[:, 2:4]            # petalo: largo y ancho</a:t>
            </a:r>
          </a:p>
          <a:p>
            <a:pPr>
              <a:defRPr sz="1200" b="0">
                <a:solidFill>
                  <a:srgbClr val="F8FAFC"/>
                </a:solidFill>
                <a:latin typeface="Courier New"/>
              </a:defRPr>
            </a:pPr>
            <a:r>
              <a:rPr sz="1200" b="0">
                <a:solidFill>
                  <a:srgbClr val="F8FAFC"/>
                </a:solidFill>
                <a:latin typeface="Courier New"/>
              </a:rPr>
              <a:t>y = (iris.target == 2).astype(int)   # 1 = Virginica, 0 = resto</a:t>
            </a:r>
          </a:p>
          <a:p>
            <a:pPr>
              <a:defRPr sz="1200" b="0">
                <a:solidFill>
                  <a:srgbClr val="F8FAFC"/>
                </a:solidFill>
                <a:latin typeface="Courier New"/>
              </a:defRPr>
            </a:pPr>
            <a:r>
              <a:rPr sz="1200" b="0">
                <a:solidFill>
                  <a:srgbClr val="F8FAFC"/>
                </a:solidFill>
                <a:latin typeface="Courier New"/>
              </a:rPr>
              <a:t>X_train, X_test, y_train, y_test = train_test_split(</a:t>
            </a:r>
          </a:p>
          <a:p>
            <a:pPr>
              <a:defRPr sz="1200" b="0">
                <a:solidFill>
                  <a:srgbClr val="F8FAFC"/>
                </a:solidFill>
                <a:latin typeface="Courier New"/>
              </a:defRPr>
            </a:pPr>
            <a:r>
              <a:rPr sz="1200" b="0">
                <a:solidFill>
                  <a:srgbClr val="F8FAFC"/>
                </a:solidFill>
                <a:latin typeface="Courier New"/>
              </a:rPr>
              <a:t>    X, y, test_size=0.2, random_state=RND, stratify=y)</a:t>
            </a:r>
          </a:p>
          <a:p>
            <a:pPr>
              <a:defRPr sz="1200" b="0">
                <a:solidFill>
                  <a:srgbClr val="F8FAFC"/>
                </a:solidFill>
                <a:latin typeface="Courier New"/>
              </a:defRPr>
            </a:pPr>
            <a:r>
              <a:rPr sz="1200" b="0">
                <a:solidFill>
                  <a:srgbClr val="F8FAFC"/>
                </a:solidFill>
                <a:latin typeface="Courier New"/>
              </a:rPr>
              <a:t>print("X:", X.shape, "| Virginica (positivos):", int(y.sum()))</a:t>
            </a:r>
          </a:p>
          <a:p>
            <a:pPr>
              <a:defRPr sz="1200" b="0">
                <a:solidFill>
                  <a:srgbClr val="F8FAFC"/>
                </a:solidFill>
                <a:latin typeface="Courier New"/>
              </a:defRPr>
            </a:pPr>
            <a:r>
              <a:rPr sz="1200" b="0">
                <a:solidFill>
                  <a:srgbClr val="F8FAFC"/>
                </a:solidFill>
                <a:latin typeface="Courier New"/>
              </a:rPr>
              <a:t>print("train:", X_train.shape[0], "| test:", X_test.shape[0])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077 — SVM lineal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Cargá Iris, quedate con dos features (petal length, petal width) y la clase Virginica como problema binario.</a:t>
            </a:r>
          </a:p>
          <a:p>
            <a:pPr>
              <a:spcAft>
                <a:spcPts val="800"/>
              </a:spcAft>
              <a:defRPr sz="1400" b="0">
                <a:solidFill>
                  <a:srgbClr val="0F172A"/>
                </a:solidFill>
                <a:latin typeface="Segoe UI"/>
              </a:defRPr>
            </a:pPr>
            <a:r>
              <a:rPr sz="1400" b="0">
                <a:solidFill>
                  <a:srgbClr val="0F172A"/>
                </a:solidFill>
                <a:latin typeface="Segoe UI"/>
              </a:rPr>
              <a:t>• Repetí el entrenamiento con C=0.1, C=1, C=100.</a:t>
            </a:r>
          </a:p>
          <a:p>
            <a:pPr>
              <a:spcAft>
                <a:spcPts val="800"/>
              </a:spcAft>
              <a:defRPr sz="1400" b="0">
                <a:solidFill>
                  <a:srgbClr val="0F172A"/>
                </a:solidFill>
                <a:latin typeface="Segoe UI"/>
              </a:defRPr>
            </a:pPr>
            <a:r>
              <a:rPr sz="1400" b="0">
                <a:solidFill>
                  <a:srgbClr val="0F172A"/>
                </a:solidFill>
                <a:latin typeface="Segoe UI"/>
              </a:rPr>
              <a:t>• Graficá la frontera de decisión y el margen para los tres valores de C del ejercicio anterior (scatter de los datos + línea + márgenes punteados).</a:t>
            </a:r>
          </a:p>
          <a:p>
            <a:pPr>
              <a:spcAft>
                <a:spcPts val="800"/>
              </a:spcAft>
              <a:defRPr sz="1400" b="0">
                <a:solidFill>
                  <a:srgbClr val="0F172A"/>
                </a:solidFill>
                <a:latin typeface="Segoe UI"/>
              </a:defRPr>
            </a:pPr>
            <a:r>
              <a:rPr sz="1400" b="0">
                <a:solidFill>
                  <a:srgbClr val="0F172A"/>
                </a:solidFill>
                <a:latin typeface="Segoe UI"/>
              </a:rPr>
              <a:t>• Agregá un outlier artificial a la clase minoritaria y volvé a entrenar con C alto y C bajo.</a:t>
            </a:r>
          </a:p>
          <a:p>
            <a:pPr>
              <a:spcAft>
                <a:spcPts val="800"/>
              </a:spcAft>
              <a:defRPr sz="1400" b="0">
                <a:solidFill>
                  <a:srgbClr val="0F172A"/>
                </a:solidFill>
                <a:latin typeface="Segoe UI"/>
              </a:defRPr>
            </a:pPr>
            <a:r>
              <a:rPr sz="1400" b="0">
                <a:solidFill>
                  <a:srgbClr val="0F172A"/>
                </a:solidFill>
                <a:latin typeface="Segoe UI"/>
              </a:rPr>
              <a:t>• Compará tiempo de entrenamiento de LinearSVC vs.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Cargue Iris binarizado (Virginica vs. resto) con petal length y petal width.</a:t>
            </a:r>
          </a:p>
          <a:p>
            <a:pPr>
              <a:spcAft>
                <a:spcPts val="800"/>
              </a:spcAft>
              <a:defRPr sz="1500" b="0">
                <a:solidFill>
                  <a:srgbClr val="0F172A"/>
                </a:solidFill>
                <a:latin typeface="Segoe UI"/>
              </a:defRPr>
            </a:pPr>
            <a:r>
              <a:rPr sz="1500" b="0">
                <a:solidFill>
                  <a:srgbClr val="0F172A"/>
                </a:solidFill>
                <a:latin typeface="Segoe UI"/>
              </a:rPr>
              <a:t>• Construya un Pipeline con StandardScaler + LinearSVC(C=1, loss="hinge", random_state=42).</a:t>
            </a:r>
          </a:p>
          <a:p>
            <a:pPr>
              <a:spcAft>
                <a:spcPts val="800"/>
              </a:spcAft>
              <a:defRPr sz="1500" b="0">
                <a:solidFill>
                  <a:srgbClr val="0F172A"/>
                </a:solidFill>
                <a:latin typeface="Segoe UI"/>
              </a:defRPr>
            </a:pPr>
            <a:r>
              <a:rPr sz="1500" b="0">
                <a:solidFill>
                  <a:srgbClr val="0F172A"/>
                </a:solidFill>
                <a:latin typeface="Segoe UI"/>
              </a:rPr>
              <a:t>• Haga train_test_split(test_size=0.2, random_state=42, stratify=y) y entrene.</a:t>
            </a:r>
          </a:p>
          <a:p>
            <a:pPr>
              <a:spcAft>
                <a:spcPts val="800"/>
              </a:spcAft>
              <a:defRPr sz="1500" b="0">
                <a:solidFill>
                  <a:srgbClr val="0F172A"/>
                </a:solidFill>
                <a:latin typeface="Segoe UI"/>
              </a:defRPr>
            </a:pPr>
            <a:r>
              <a:rPr sz="1500" b="0">
                <a:solidFill>
                  <a:srgbClr val="0F172A"/>
                </a:solidFill>
                <a:latin typeface="Segoe UI"/>
              </a:rPr>
              <a:t>• Imprima accuracy sobre test y los coeficientes del clasificador (coef_, intercept_).</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078 — SVM no lineal: kernel polinomial y RBF</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078 — SVM no lineal: kernel polinomial y RBF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5.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entrene SVMs sobre datos no linealmente separables usando el kernel trick: en lugar de generar features polinómicas a mano (caro en memoria), SVC calcula el producto interno en el espacio expandido vía una función kernel. Foco en kernel polinomial y RBF (Gaussian), y cómo gamma y C controlan el bias-variance trade-off.</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el kernel trick: por qué K(x, x') evita materializar el feature map φ(x).</a:t>
            </a:r>
          </a:p>
          <a:p>
            <a:pPr>
              <a:spcAft>
                <a:spcPts val="800"/>
              </a:spcAft>
              <a:defRPr sz="1400" b="0">
                <a:solidFill>
                  <a:srgbClr val="0F172A"/>
                </a:solidFill>
                <a:latin typeface="Segoe UI"/>
              </a:defRPr>
            </a:pPr>
            <a:r>
              <a:rPr sz="1400" b="0">
                <a:solidFill>
                  <a:srgbClr val="0F172A"/>
                </a:solidFill>
                <a:latin typeface="Segoe UI"/>
              </a:rPr>
              <a:t>• Entrenar SVC(kernel='poly') y SVC(kernel='rbf') en datasets no lineales (moons, circles).</a:t>
            </a:r>
          </a:p>
          <a:p>
            <a:pPr>
              <a:spcAft>
                <a:spcPts val="800"/>
              </a:spcAft>
              <a:defRPr sz="1400" b="0">
                <a:solidFill>
                  <a:srgbClr val="0F172A"/>
                </a:solidFill>
                <a:latin typeface="Segoe UI"/>
              </a:defRPr>
            </a:pPr>
            <a:r>
              <a:rPr sz="1400" b="0">
                <a:solidFill>
                  <a:srgbClr val="0F172A"/>
                </a:solidFill>
                <a:latin typeface="Segoe UI"/>
              </a:rPr>
              <a:t>• Tunear gamma y C con GridSearchCV entendiendo el efecto en la frontera.</a:t>
            </a:r>
          </a:p>
          <a:p>
            <a:pPr>
              <a:spcAft>
                <a:spcPts val="800"/>
              </a:spcAft>
              <a:defRPr sz="1400" b="0">
                <a:solidFill>
                  <a:srgbClr val="0F172A"/>
                </a:solidFill>
                <a:latin typeface="Segoe UI"/>
              </a:defRPr>
            </a:pPr>
            <a:r>
              <a:rPr sz="1400" b="0">
                <a:solidFill>
                  <a:srgbClr val="0F172A"/>
                </a:solidFill>
                <a:latin typeface="Segoe UI"/>
              </a:rPr>
              <a:t>• Elegir kernel según geometría del problema (polinomial vs RBF vs lineal).</a:t>
            </a:r>
          </a:p>
          <a:p>
            <a:pPr>
              <a:spcAft>
                <a:spcPts val="800"/>
              </a:spcAft>
              <a:defRPr sz="1400" b="0">
                <a:solidFill>
                  <a:srgbClr val="0F172A"/>
                </a:solidFill>
                <a:latin typeface="Segoe UI"/>
              </a:defRPr>
            </a:pPr>
            <a:r>
              <a:rPr sz="1400" b="0">
                <a:solidFill>
                  <a:srgbClr val="0F172A"/>
                </a:solidFill>
                <a:latin typeface="Segoe UI"/>
              </a:rPr>
              <a:t>• Reconocer el límite computacional de SVC: complejidad entre O(n²) y O(n³), no escala a &gt;100k filas.</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078 — SVM no lineal: kernel polinomial y RBF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Datos no linealmente separables (moons, circles)</a:t>
            </a:r>
          </a:p>
          <a:p>
            <a:pPr>
              <a:spcAft>
                <a:spcPts val="1000"/>
              </a:spcAft>
              <a:defRPr sz="1600" b="0">
                <a:solidFill>
                  <a:srgbClr val="0F172A"/>
                </a:solidFill>
                <a:latin typeface="Segoe UI"/>
              </a:defRPr>
            </a:pPr>
            <a:r>
              <a:rPr sz="1600" b="0">
                <a:solidFill>
                  <a:srgbClr val="0F172A"/>
                </a:solidFill>
                <a:latin typeface="Segoe UI"/>
              </a:rPr>
              <a:t>• Polynomial features manuales vs kernel trick</a:t>
            </a:r>
          </a:p>
          <a:p>
            <a:pPr>
              <a:spcAft>
                <a:spcPts val="1000"/>
              </a:spcAft>
              <a:defRPr sz="1600" b="0">
                <a:solidFill>
                  <a:srgbClr val="0F172A"/>
                </a:solidFill>
                <a:latin typeface="Segoe UI"/>
              </a:defRPr>
            </a:pPr>
            <a:r>
              <a:rPr sz="1600" b="0">
                <a:solidFill>
                  <a:srgbClr val="0F172A"/>
                </a:solidFill>
                <a:latin typeface="Segoe UI"/>
              </a:rPr>
              <a:t>• Kernel polinomial: degree, coef0, gamma</a:t>
            </a:r>
          </a:p>
          <a:p>
            <a:pPr>
              <a:spcAft>
                <a:spcPts val="1000"/>
              </a:spcAft>
              <a:defRPr sz="1600" b="0">
                <a:solidFill>
                  <a:srgbClr val="0F172A"/>
                </a:solidFill>
                <a:latin typeface="Segoe UI"/>
              </a:defRPr>
            </a:pPr>
            <a:r>
              <a:rPr sz="1600" b="0">
                <a:solidFill>
                  <a:srgbClr val="0F172A"/>
                </a:solidFill>
                <a:latin typeface="Segoe UI"/>
              </a:rPr>
              <a:t>• Kernel RBF (Gaussian): gamma como inverso del ancho</a:t>
            </a:r>
          </a:p>
          <a:p>
            <a:pPr>
              <a:spcAft>
                <a:spcPts val="1000"/>
              </a:spcAft>
              <a:defRPr sz="1600" b="0">
                <a:solidFill>
                  <a:srgbClr val="0F172A"/>
                </a:solidFill>
                <a:latin typeface="Segoe UI"/>
              </a:defRPr>
            </a:pPr>
            <a:r>
              <a:rPr sz="1600" b="0">
                <a:solidFill>
                  <a:srgbClr val="0F172A"/>
                </a:solidFill>
                <a:latin typeface="Segoe UI"/>
              </a:rPr>
              <a:t>• C (regularización) × gamma (forma)</a:t>
            </a:r>
          </a:p>
          <a:p>
            <a:pPr>
              <a:spcAft>
                <a:spcPts val="1000"/>
              </a:spcAft>
              <a:defRPr sz="1600" b="0">
                <a:solidFill>
                  <a:srgbClr val="0F172A"/>
                </a:solidFill>
                <a:latin typeface="Segoe UI"/>
              </a:defRPr>
            </a:pPr>
            <a:r>
              <a:rPr sz="1600" b="0">
                <a:solidFill>
                  <a:srgbClr val="0F172A"/>
                </a:solidFill>
                <a:latin typeface="Segoe UI"/>
              </a:rPr>
              <a:t>• Complejidad O(n²)–O(n³) y LinearSVC / SGDClassifier para N grande</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078 — SVM no lineal: kernel polinomial y RBF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make_moons genera dos medialunas entrelazadas; make_circles, dos anillos concéntricos. Ninguno es separable con una recta.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make_moons, make_circles</a:t>
            </a:r>
          </a:p>
          <a:p>
            <a:pPr>
              <a:defRPr sz="1200" b="0">
                <a:solidFill>
                  <a:srgbClr val="F8FAFC"/>
                </a:solidFill>
                <a:latin typeface="Courier New"/>
              </a:defRPr>
            </a:pPr>
            <a:r>
              <a:rPr sz="1200" b="0">
                <a:solidFill>
                  <a:srgbClr val="F8FAFC"/>
                </a:solidFill>
                <a:latin typeface="Courier New"/>
              </a:rPr>
              <a:t>from sklearn.svm import SVC</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sklearn.pipeline import make_pipeline</a:t>
            </a:r>
          </a:p>
          <a:p>
            <a:pPr>
              <a:defRPr sz="1200" b="0">
                <a:solidFill>
                  <a:srgbClr val="F8FAFC"/>
                </a:solidFill>
                <a:latin typeface="Courier New"/>
              </a:defRPr>
            </a:pPr>
            <a:r>
              <a:rPr sz="1200" b="0">
                <a:solidFill>
                  <a:srgbClr val="F8FAFC"/>
                </a:solidFill>
                <a:latin typeface="Courier New"/>
              </a:rPr>
              <a:t>from sklearn.model_selection import train_test_split, GridSearchCV</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RND = 42</a:t>
            </a:r>
          </a:p>
          <a:p>
            <a:pPr>
              <a:defRPr sz="1200" b="0">
                <a:solidFill>
                  <a:srgbClr val="F8FAFC"/>
                </a:solidFill>
                <a:latin typeface="Courier New"/>
              </a:defRPr>
            </a:pPr>
            <a:r>
              <a:rPr sz="1200" b="0">
                <a:solidFill>
                  <a:srgbClr val="F8FAFC"/>
                </a:solidFill>
                <a:latin typeface="Courier New"/>
              </a:rPr>
              <a:t>np.random.seed(RND)</a:t>
            </a:r>
          </a:p>
          <a:p>
            <a:pPr>
              <a:defRPr sz="1200" b="0">
                <a:solidFill>
                  <a:srgbClr val="F8FAFC"/>
                </a:solidFill>
                <a:latin typeface="Courier New"/>
              </a:defRPr>
            </a:pPr>
            <a:r>
              <a:rPr sz="1200" b="0">
                <a:solidFill>
                  <a:srgbClr val="F8FAFC"/>
                </a:solidFill>
                <a:latin typeface="Courier New"/>
              </a:rPr>
              <a:t>Xm, ym = make_moons(n_samples=300, noise=0.20, random_state=RND)</a:t>
            </a:r>
          </a:p>
          <a:p>
            <a:pPr>
              <a:defRPr sz="1200" b="0">
                <a:solidFill>
                  <a:srgbClr val="F8FAFC"/>
                </a:solidFill>
                <a:latin typeface="Courier New"/>
              </a:defRPr>
            </a:pPr>
            <a:r>
              <a:rPr sz="1200" b="0">
                <a:solidFill>
                  <a:srgbClr val="F8FAFC"/>
                </a:solidFill>
                <a:latin typeface="Courier New"/>
              </a:rPr>
              <a:t>Xc, yc = make_circles(n_samples=300, noise=0.10, factor=0.4, random_state=RND)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plot_boundary(ax, model, X, y, title):</a:t>
            </a:r>
          </a:p>
          <a:p>
            <a:pPr>
              <a:defRPr sz="1200" b="0">
                <a:solidFill>
                  <a:srgbClr val="F8FAFC"/>
                </a:solidFill>
                <a:latin typeface="Courier New"/>
              </a:defRPr>
            </a:pPr>
            <a:r>
              <a:rPr sz="1200" b="0">
                <a:solidFill>
                  <a:srgbClr val="F8FAFC"/>
                </a:solidFill>
                <a:latin typeface="Courier New"/>
              </a:rPr>
              <a:t>    h = 0.02</a:t>
            </a:r>
          </a:p>
          <a:p>
            <a:pPr>
              <a:defRPr sz="1200" b="0">
                <a:solidFill>
                  <a:srgbClr val="F8FAFC"/>
                </a:solidFill>
                <a:latin typeface="Courier New"/>
              </a:defRPr>
            </a:pPr>
            <a:r>
              <a:rPr sz="1200" b="0">
                <a:solidFill>
                  <a:srgbClr val="F8FAFC"/>
                </a:solidFill>
                <a:latin typeface="Courier New"/>
              </a:rPr>
              <a:t>    x0 = np.linspace(X[:, 0].min() - 0.5, X[:, 0].max() + 0.5, 200)</a:t>
            </a:r>
          </a:p>
          <a:p>
            <a:pPr>
              <a:defRPr sz="1200" b="0">
                <a:solidFill>
                  <a:srgbClr val="F8FAFC"/>
                </a:solidFill>
                <a:latin typeface="Courier New"/>
              </a:defRPr>
            </a:pPr>
            <a:r>
              <a:rPr sz="1200" b="0">
                <a:solidFill>
                  <a:srgbClr val="F8FAFC"/>
                </a:solidFill>
                <a:latin typeface="Courier New"/>
              </a:rPr>
              <a:t>    x1 = np.linspace(X[:, 1].min() - 0.5, X[:, 1].max() + 0.5, 200)</a:t>
            </a:r>
          </a:p>
          <a:p>
            <a:pPr>
              <a:defRPr sz="1200" b="0">
                <a:solidFill>
                  <a:srgbClr val="F8FAFC"/>
                </a:solidFill>
                <a:latin typeface="Courier New"/>
              </a:defRPr>
            </a:pPr>
            <a:r>
              <a:rPr sz="1200" b="0">
                <a:solidFill>
                  <a:srgbClr val="F8FAFC"/>
                </a:solidFill>
                <a:latin typeface="Courier New"/>
              </a:rPr>
              <a:t>    xx, yy = np.meshgrid(x0, x1)</a:t>
            </a:r>
          </a:p>
          <a:p>
            <a:pPr>
              <a:defRPr sz="1200" b="0">
                <a:solidFill>
                  <a:srgbClr val="F8FAFC"/>
                </a:solidFill>
                <a:latin typeface="Courier New"/>
              </a:defRPr>
            </a:pPr>
            <a:r>
              <a:rPr sz="1200" b="0">
                <a:solidFill>
                  <a:srgbClr val="F8FAFC"/>
                </a:solidFill>
                <a:latin typeface="Courier New"/>
              </a:rPr>
              <a:t>    Z = model.predict(np.c_[xx.ravel(), yy.ravel()]).reshape(xx.shape)</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078 — SVM no lineal: kernel polinomial y RBF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Lineal falla.</a:t>
            </a:r>
          </a:p>
          <a:p>
            <a:pPr>
              <a:spcAft>
                <a:spcPts val="800"/>
              </a:spcAft>
              <a:defRPr sz="1400" b="0">
                <a:solidFill>
                  <a:srgbClr val="0F172A"/>
                </a:solidFill>
                <a:latin typeface="Segoe UI"/>
              </a:defRPr>
            </a:pPr>
            <a:r>
              <a:rPr sz="1400" b="0">
                <a:solidFill>
                  <a:srgbClr val="0F172A"/>
                </a:solidFill>
                <a:latin typeface="Segoe UI"/>
              </a:rPr>
              <a:t>• Polynomial kernel.</a:t>
            </a:r>
          </a:p>
          <a:p>
            <a:pPr>
              <a:spcAft>
                <a:spcPts val="800"/>
              </a:spcAft>
              <a:defRPr sz="1400" b="0">
                <a:solidFill>
                  <a:srgbClr val="0F172A"/>
                </a:solidFill>
                <a:latin typeface="Segoe UI"/>
              </a:defRPr>
            </a:pPr>
            <a:r>
              <a:rPr sz="1400" b="0">
                <a:solidFill>
                  <a:srgbClr val="0F172A"/>
                </a:solidFill>
                <a:latin typeface="Segoe UI"/>
              </a:rPr>
              <a:t>• RBF kernel.</a:t>
            </a:r>
          </a:p>
          <a:p>
            <a:pPr>
              <a:spcAft>
                <a:spcPts val="800"/>
              </a:spcAft>
              <a:defRPr sz="1400" b="0">
                <a:solidFill>
                  <a:srgbClr val="0F172A"/>
                </a:solidFill>
                <a:latin typeface="Segoe UI"/>
              </a:defRPr>
            </a:pPr>
            <a:r>
              <a:rPr sz="1400" b="0">
                <a:solidFill>
                  <a:srgbClr val="0F172A"/>
                </a:solidFill>
                <a:latin typeface="Segoe UI"/>
              </a:rPr>
              <a:t>• Grid search 2D.</a:t>
            </a:r>
          </a:p>
          <a:p>
            <a:pPr>
              <a:spcAft>
                <a:spcPts val="800"/>
              </a:spcAft>
              <a:defRPr sz="1400" b="0">
                <a:solidFill>
                  <a:srgbClr val="0F172A"/>
                </a:solidFill>
                <a:latin typeface="Segoe UI"/>
              </a:defRPr>
            </a:pPr>
            <a:r>
              <a:rPr sz="1400" b="0">
                <a:solidFill>
                  <a:srgbClr val="0F172A"/>
                </a:solidFill>
                <a:latin typeface="Segoe UI"/>
              </a:rPr>
              <a:t>• Pipeline con StandardScaler.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make_moons(n_samples=1000, noise=0.2). Train/test split 80/20. Entrenar tres modelos: (a) SVC(kernel='linear'), (b) SVC(kernel='poly', degree=3), (c) SVC(kernel='rbf') con gamma y C tuneados vía GridSearchCV(cv=5). Reportar accuracy en test de los tres y graficar las tres fronteras de decisión en una grilla 1×3.</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079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079 — SVM para regresión (SVR)</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079 — SVM para regresión (SVR)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5.  Duración estimada: 50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Support Vector Machines al problema de regresión: entender el truco del epsilon-insensitive loss (ajustar dentro de un tubo de tolerancia en vez de minimizar el error puntual), entrenar LinearSVR y SVR con kernel, y elegir cuándo conviene SVR sobre regresión lineal clásica.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lógica de SVR: maximizar el ancho del tubo ε mientras se contienen la mayoría de los puntos dentro.</a:t>
            </a:r>
          </a:p>
          <a:p>
            <a:pPr>
              <a:spcAft>
                <a:spcPts val="800"/>
              </a:spcAft>
              <a:defRPr sz="1400" b="0">
                <a:solidFill>
                  <a:srgbClr val="0F172A"/>
                </a:solidFill>
                <a:latin typeface="Segoe UI"/>
              </a:defRPr>
            </a:pPr>
            <a:r>
              <a:rPr sz="1400" b="0">
                <a:solidFill>
                  <a:srgbClr val="0F172A"/>
                </a:solidFill>
                <a:latin typeface="Segoe UI"/>
              </a:rPr>
              <a:t>• Entrenar un LinearSVR y un SVR(kernel="rbf") de scikit-learn con sus hiperparámetros (epsilon, C, gamma).</a:t>
            </a:r>
          </a:p>
          <a:p>
            <a:pPr>
              <a:spcAft>
                <a:spcPts val="800"/>
              </a:spcAft>
              <a:defRPr sz="1400" b="0">
                <a:solidFill>
                  <a:srgbClr val="0F172A"/>
                </a:solidFill>
                <a:latin typeface="Segoe UI"/>
              </a:defRPr>
            </a:pPr>
            <a:r>
              <a:rPr sz="1400" b="0">
                <a:solidFill>
                  <a:srgbClr val="0F172A"/>
                </a:solidFill>
                <a:latin typeface="Segoe UI"/>
              </a:rPr>
              <a:t>• Interpretar el efecto de epsilon (ancho del tubo) y C (penalización por puntos fuera del tubo) en el bias-variance trade-off.</a:t>
            </a:r>
          </a:p>
          <a:p>
            <a:pPr>
              <a:spcAft>
                <a:spcPts val="800"/>
              </a:spcAft>
              <a:defRPr sz="1400" b="0">
                <a:solidFill>
                  <a:srgbClr val="0F172A"/>
                </a:solidFill>
                <a:latin typeface="Segoe UI"/>
              </a:defRPr>
            </a:pPr>
            <a:r>
              <a:rPr sz="1400" b="0">
                <a:solidFill>
                  <a:srgbClr val="0F172A"/>
                </a:solidFill>
                <a:latin typeface="Segoe UI"/>
              </a:rPr>
              <a:t>• Comparar SVR vs LinearRegression / Ridge en un dataset con outliers.</a:t>
            </a:r>
          </a:p>
          <a:p>
            <a:pPr>
              <a:spcAft>
                <a:spcPts val="800"/>
              </a:spcAft>
              <a:defRPr sz="1400" b="0">
                <a:solidFill>
                  <a:srgbClr val="0F172A"/>
                </a:solidFill>
                <a:latin typeface="Segoe UI"/>
              </a:defRPr>
            </a:pPr>
            <a:r>
              <a:rPr sz="1400" b="0">
                <a:solidFill>
                  <a:srgbClr val="0F172A"/>
                </a:solidFill>
                <a:latin typeface="Segoe UI"/>
              </a:rPr>
              <a:t>• Justificar cuándo SVR escala mal (SVR es O(m²–m³)) y conviene LinearSVR u otro modelo.</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079 — SVM para regresión (SVR)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De SVM clasificación a SVM regresión: invertir el objetivo.</a:t>
            </a:r>
          </a:p>
          <a:p>
            <a:pPr>
              <a:spcAft>
                <a:spcPts val="1000"/>
              </a:spcAft>
              <a:defRPr sz="1600" b="0">
                <a:solidFill>
                  <a:srgbClr val="0F172A"/>
                </a:solidFill>
                <a:latin typeface="Segoe UI"/>
              </a:defRPr>
            </a:pPr>
            <a:r>
              <a:rPr sz="1600" b="0">
                <a:solidFill>
                  <a:srgbClr val="0F172A"/>
                </a:solidFill>
                <a:latin typeface="Segoe UI"/>
              </a:rPr>
              <a:t>• Epsilon-insensitive loss: errores menores a ε no se penalizan.</a:t>
            </a:r>
          </a:p>
          <a:p>
            <a:pPr>
              <a:spcAft>
                <a:spcPts val="1000"/>
              </a:spcAft>
              <a:defRPr sz="1600" b="0">
                <a:solidFill>
                  <a:srgbClr val="0F172A"/>
                </a:solidFill>
                <a:latin typeface="Segoe UI"/>
              </a:defRPr>
            </a:pPr>
            <a:r>
              <a:rPr sz="1600" b="0">
                <a:solidFill>
                  <a:srgbClr val="0F172A"/>
                </a:solidFill>
                <a:latin typeface="Segoe UI"/>
              </a:rPr>
              <a:t>• LinearSVR: caso lineal, escala bien (O(m)).</a:t>
            </a:r>
          </a:p>
          <a:p>
            <a:pPr>
              <a:spcAft>
                <a:spcPts val="1000"/>
              </a:spcAft>
              <a:defRPr sz="1600" b="0">
                <a:solidFill>
                  <a:srgbClr val="0F172A"/>
                </a:solidFill>
                <a:latin typeface="Segoe UI"/>
              </a:defRPr>
            </a:pPr>
            <a:r>
              <a:rPr sz="1600" b="0">
                <a:solidFill>
                  <a:srgbClr val="0F172A"/>
                </a:solidFill>
                <a:latin typeface="Segoe UI"/>
              </a:rPr>
              <a:t>• SVR con kernel RBF: regresión no lineal, costo cuadrático.</a:t>
            </a:r>
          </a:p>
          <a:p>
            <a:pPr>
              <a:spcAft>
                <a:spcPts val="1000"/>
              </a:spcAft>
              <a:defRPr sz="1600" b="0">
                <a:solidFill>
                  <a:srgbClr val="0F172A"/>
                </a:solidFill>
                <a:latin typeface="Segoe UI"/>
              </a:defRPr>
            </a:pPr>
            <a:r>
              <a:rPr sz="1600" b="0">
                <a:solidFill>
                  <a:srgbClr val="0F172A"/>
                </a:solidFill>
                <a:latin typeface="Segoe UI"/>
              </a:rPr>
              <a:t>• Hiperparámetros clave: epsilon, C, gamma, kernel.</a:t>
            </a:r>
          </a:p>
          <a:p>
            <a:pPr>
              <a:spcAft>
                <a:spcPts val="1000"/>
              </a:spcAft>
              <a:defRPr sz="1600" b="0">
                <a:solidFill>
                  <a:srgbClr val="0F172A"/>
                </a:solidFill>
                <a:latin typeface="Segoe UI"/>
              </a:defRPr>
            </a:pPr>
            <a:r>
              <a:rPr sz="1600" b="0">
                <a:solidFill>
                  <a:srgbClr val="0F172A"/>
                </a:solidFill>
                <a:latin typeface="Segoe UI"/>
              </a:rPr>
              <a:t>• Robustez frente a outliers comparada con OLS.</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079 — SVM para regresión (SVR)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Generamos y = 0.5·x + ruido, entrenamos LinearSVR(epsilon=0.5) y dibujamos la recta con su tubo ±ε. Los puntos fuera del tubo son los vectores soporte.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sklearn.svm import LinearSVR, SVR</a:t>
            </a:r>
          </a:p>
          <a:p>
            <a:pPr>
              <a:defRPr sz="1200" b="0">
                <a:solidFill>
                  <a:srgbClr val="F8FAFC"/>
                </a:solidFill>
                <a:latin typeface="Courier New"/>
              </a:defRPr>
            </a:pPr>
            <a:r>
              <a:rPr sz="1200" b="0">
                <a:solidFill>
                  <a:srgbClr val="F8FAFC"/>
                </a:solidFill>
                <a:latin typeface="Courier New"/>
              </a:rPr>
              <a:t>from sklearn.linear_model import LinearRegression, Ridge</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sklearn.pipeline import make_pipeline</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sklearn.metrics import mean_squared_error, mean_absolute_error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RND = 42</a:t>
            </a:r>
          </a:p>
          <a:p>
            <a:pPr>
              <a:defRPr sz="1200" b="0">
                <a:solidFill>
                  <a:srgbClr val="F8FAFC"/>
                </a:solidFill>
                <a:latin typeface="Courier New"/>
              </a:defRPr>
            </a:pPr>
            <a:r>
              <a:rPr sz="1200" b="0">
                <a:solidFill>
                  <a:srgbClr val="F8FAFC"/>
                </a:solidFill>
                <a:latin typeface="Courier New"/>
              </a:rPr>
              <a:t>rng = np.random.default_rng(RND)</a:t>
            </a:r>
          </a:p>
          <a:p>
            <a:pPr>
              <a:defRPr sz="1200" b="0">
                <a:solidFill>
                  <a:srgbClr val="F8FAFC"/>
                </a:solidFill>
                <a:latin typeface="Courier New"/>
              </a:defRPr>
            </a:pPr>
            <a:r>
              <a:rPr sz="1200" b="0">
                <a:solidFill>
                  <a:srgbClr val="F8FAFC"/>
                </a:solidFill>
                <a:latin typeface="Courier New"/>
              </a:rPr>
              <a:t>x = np.linspace(0, 5, 120)</a:t>
            </a:r>
          </a:p>
          <a:p>
            <a:pPr>
              <a:defRPr sz="1200" b="0">
                <a:solidFill>
                  <a:srgbClr val="F8FAFC"/>
                </a:solidFill>
                <a:latin typeface="Courier New"/>
              </a:defRPr>
            </a:pPr>
            <a:r>
              <a:rPr sz="1200" b="0">
                <a:solidFill>
                  <a:srgbClr val="F8FAFC"/>
                </a:solidFill>
                <a:latin typeface="Courier New"/>
              </a:rPr>
              <a:t>y = 0.5 * x + rng.normal(0, 0.4, size=x.size)</a:t>
            </a:r>
          </a:p>
          <a:p>
            <a:pPr>
              <a:defRPr sz="1200" b="0">
                <a:solidFill>
                  <a:srgbClr val="F8FAFC"/>
                </a:solidFill>
                <a:latin typeface="Courier New"/>
              </a:defRPr>
            </a:pPr>
            <a:r>
              <a:rPr sz="1200" b="0">
                <a:solidFill>
                  <a:srgbClr val="F8FAFC"/>
                </a:solidFill>
                <a:latin typeface="Courier New"/>
              </a:rPr>
              <a:t>X = x.reshape(-1,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eps = 0.5</a:t>
            </a:r>
          </a:p>
          <a:p>
            <a:pPr>
              <a:defRPr sz="1200" b="0">
                <a:solidFill>
                  <a:srgbClr val="F8FAFC"/>
                </a:solidFill>
                <a:latin typeface="Courier New"/>
              </a:defRPr>
            </a:pPr>
            <a:r>
              <a:rPr sz="1200" b="0">
                <a:solidFill>
                  <a:srgbClr val="F8FAFC"/>
                </a:solidFill>
                <a:latin typeface="Courier New"/>
              </a:rPr>
              <a:t>svr = LinearSVR(epsilon=eps, C=1.0, max_iter=10000, random_state=RND).fit(X, y)</a:t>
            </a:r>
          </a:p>
          <a:p>
            <a:pPr>
              <a:defRPr sz="1200" b="0">
                <a:solidFill>
                  <a:srgbClr val="F8FAFC"/>
                </a:solidFill>
                <a:latin typeface="Courier New"/>
              </a:defRPr>
            </a:pPr>
            <a:r>
              <a:rPr sz="1200" b="0">
                <a:solidFill>
                  <a:srgbClr val="F8FAFC"/>
                </a:solidFill>
                <a:latin typeface="Courier New"/>
              </a:rPr>
              <a:t>pred = svr.predict(X)</a:t>
            </a:r>
          </a:p>
          <a:p>
            <a:pPr>
              <a:defRPr sz="1200" b="0">
                <a:solidFill>
                  <a:srgbClr val="F8FAFC"/>
                </a:solidFill>
                <a:latin typeface="Courier New"/>
              </a:defRPr>
            </a:pPr>
            <a:r>
              <a:rPr sz="1200" b="0">
                <a:solidFill>
                  <a:srgbClr val="F8FAFC"/>
                </a:solidFill>
                <a:latin typeface="Courier New"/>
              </a:rPr>
              <a:t>fuera = np.abs(y - pred) &gt; eps            # vectores soporte aproximados</a:t>
            </a:r>
          </a:p>
          <a:p>
            <a:pPr>
              <a:defRPr sz="1200" b="0">
                <a:solidFill>
                  <a:srgbClr val="F8FAFC"/>
                </a:solidFill>
                <a:latin typeface="Courier New"/>
              </a:defRPr>
            </a:pPr>
            <a:r>
              <a:rPr sz="1200" b="0">
                <a:solidFill>
                  <a:srgbClr val="F8FAFC"/>
                </a:solidFill>
                <a:latin typeface="Courier New"/>
              </a:rPr>
              <a:t>print(f"puntos fuera del tubo (vectores soporte): {fuera.sum()} de {x.size}")</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079 — SVM para regresión (SVR)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Tubo ε en 2D.</a:t>
            </a:r>
          </a:p>
          <a:p>
            <a:pPr>
              <a:spcAft>
                <a:spcPts val="800"/>
              </a:spcAft>
              <a:defRPr sz="1400" b="0">
                <a:solidFill>
                  <a:srgbClr val="0F172A"/>
                </a:solidFill>
                <a:latin typeface="Segoe UI"/>
              </a:defRPr>
            </a:pPr>
            <a:r>
              <a:rPr sz="1400" b="0">
                <a:solidFill>
                  <a:srgbClr val="0F172A"/>
                </a:solidFill>
                <a:latin typeface="Segoe UI"/>
              </a:rPr>
              <a:t>• Efecto de epsilon.</a:t>
            </a:r>
          </a:p>
          <a:p>
            <a:pPr>
              <a:spcAft>
                <a:spcPts val="800"/>
              </a:spcAft>
              <a:defRPr sz="1400" b="0">
                <a:solidFill>
                  <a:srgbClr val="0F172A"/>
                </a:solidFill>
                <a:latin typeface="Segoe UI"/>
              </a:defRPr>
            </a:pPr>
            <a:r>
              <a:rPr sz="1400" b="0">
                <a:solidFill>
                  <a:srgbClr val="0F172A"/>
                </a:solidFill>
                <a:latin typeface="Segoe UI"/>
              </a:rPr>
              <a:t>• Kernel RBF.</a:t>
            </a:r>
          </a:p>
          <a:p>
            <a:pPr>
              <a:spcAft>
                <a:spcPts val="800"/>
              </a:spcAft>
              <a:defRPr sz="1400" b="0">
                <a:solidFill>
                  <a:srgbClr val="0F172A"/>
                </a:solidFill>
                <a:latin typeface="Segoe UI"/>
              </a:defRPr>
            </a:pPr>
            <a:r>
              <a:rPr sz="1400" b="0">
                <a:solidFill>
                  <a:srgbClr val="0F172A"/>
                </a:solidFill>
                <a:latin typeface="Segoe UI"/>
              </a:rPr>
              <a:t>• Grid search.</a:t>
            </a:r>
          </a:p>
          <a:p>
            <a:pPr>
              <a:spcAft>
                <a:spcPts val="800"/>
              </a:spcAft>
              <a:defRPr sz="1400" b="0">
                <a:solidFill>
                  <a:srgbClr val="0F172A"/>
                </a:solidFill>
                <a:latin typeface="Segoe UI"/>
              </a:defRPr>
            </a:pPr>
            <a:r>
              <a:rPr sz="1400" b="0">
                <a:solidFill>
                  <a:srgbClr val="0F172A"/>
                </a:solidFill>
                <a:latin typeface="Segoe UI"/>
              </a:rPr>
              <a:t>• Robustez vs OLS.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Cargue California Housing y aplique StandardScaler (¡SVR exige escalado!).</a:t>
            </a:r>
          </a:p>
          <a:p>
            <a:pPr>
              <a:spcAft>
                <a:spcPts val="800"/>
              </a:spcAft>
              <a:defRPr sz="1500" b="0">
                <a:solidFill>
                  <a:srgbClr val="0F172A"/>
                </a:solidFill>
                <a:latin typeface="Segoe UI"/>
              </a:defRPr>
            </a:pPr>
            <a:r>
              <a:rPr sz="1500" b="0">
                <a:solidFill>
                  <a:srgbClr val="0F172A"/>
                </a:solidFill>
                <a:latin typeface="Segoe UI"/>
              </a:rPr>
              <a:t>• Entrene LinearSVR(epsilon=0.5, C=1.0, random_state=42) y un SVR(kernel="rbf", C=10, gamma="scale") sobre un subset de 5 000 muestras.</a:t>
            </a:r>
          </a:p>
          <a:p>
            <a:pPr>
              <a:spcAft>
                <a:spcPts val="800"/>
              </a:spcAft>
              <a:defRPr sz="1500" b="0">
                <a:solidFill>
                  <a:srgbClr val="0F172A"/>
                </a:solidFill>
                <a:latin typeface="Segoe UI"/>
              </a:defRPr>
            </a:pPr>
            <a:r>
              <a:rPr sz="1500" b="0">
                <a:solidFill>
                  <a:srgbClr val="0F172A"/>
                </a:solidFill>
                <a:latin typeface="Segoe UI"/>
              </a:rPr>
              <a:t>• Reporte RMSE en test para ambos modelos.</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080 — Árboles de decisión: entrenamiento, visualización, CART</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080 — Árboles de decisión: entrenamiento, visualización, CART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6 § Training and Visualizing a Decision Tree. ·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entrene un DecisionTreeClassifier con el algoritmo CART, entienda cómo se elige cada split (criterio Gini/Entropy), y sepa leer el árbol — tanto el dibujo (plot_tree) como el código (export_graphviz) — para auditar las decisiones del modelo.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Entrenar un DecisionTreeClassifier de scikit-learn sobre un dataset tabular (Iris) y predecir clases / probabilidades.</a:t>
            </a:r>
          </a:p>
          <a:p>
            <a:pPr>
              <a:spcAft>
                <a:spcPts val="800"/>
              </a:spcAft>
              <a:defRPr sz="1400" b="0">
                <a:solidFill>
                  <a:srgbClr val="0F172A"/>
                </a:solidFill>
                <a:latin typeface="Segoe UI"/>
              </a:defRPr>
            </a:pPr>
            <a:r>
              <a:rPr sz="1400" b="0">
                <a:solidFill>
                  <a:srgbClr val="0F172A"/>
                </a:solidFill>
                <a:latin typeface="Segoe UI"/>
              </a:rPr>
              <a:t>• Explicar el algoritmo CART: greedy, binario, busca el par (feature, threshold) que minimiza la impureza ponderada de los dos hijos.</a:t>
            </a:r>
          </a:p>
          <a:p>
            <a:pPr>
              <a:spcAft>
                <a:spcPts val="800"/>
              </a:spcAft>
              <a:defRPr sz="1400" b="0">
                <a:solidFill>
                  <a:srgbClr val="0F172A"/>
                </a:solidFill>
                <a:latin typeface="Segoe UI"/>
              </a:defRPr>
            </a:pPr>
            <a:r>
              <a:rPr sz="1400" b="0">
                <a:solidFill>
                  <a:srgbClr val="0F172A"/>
                </a:solidFill>
                <a:latin typeface="Segoe UI"/>
              </a:rPr>
              <a:t>• Calcular Gini y entropía a mano sobre un nodo con k clases y elegir el split óptimo entre candidatos.</a:t>
            </a:r>
          </a:p>
          <a:p>
            <a:pPr>
              <a:spcAft>
                <a:spcPts val="800"/>
              </a:spcAft>
              <a:defRPr sz="1400" b="0">
                <a:solidFill>
                  <a:srgbClr val="0F172A"/>
                </a:solidFill>
                <a:latin typeface="Segoe UI"/>
              </a:defRPr>
            </a:pPr>
            <a:r>
              <a:rPr sz="1400" b="0">
                <a:solidFill>
                  <a:srgbClr val="0F172A"/>
                </a:solidFill>
                <a:latin typeface="Segoe UI"/>
              </a:rPr>
              <a:t>• Visualizar el árbol entrenado con plot_tree (matplotlib) y export_graphviz (DOT → PNG/SVG), interpretando samples, value, class, gini.</a:t>
            </a:r>
          </a:p>
          <a:p>
            <a:pPr>
              <a:spcAft>
                <a:spcPts val="800"/>
              </a:spcAft>
              <a:defRPr sz="1400" b="0">
                <a:solidFill>
                  <a:srgbClr val="0F172A"/>
                </a:solidFill>
                <a:latin typeface="Segoe UI"/>
              </a:defRPr>
            </a:pPr>
            <a:r>
              <a:rPr sz="1400" b="0">
                <a:solidFill>
                  <a:srgbClr val="0F172A"/>
                </a:solidFill>
                <a:latin typeface="Segoe UI"/>
              </a:rPr>
              <a:t>• Identificar la decision boundary axis-aligned: cada split es ortogonal a un eje, lo que limita al árbol frente a fronteras oblicuas.</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080 — Árboles de decisión: entrenamiento, visualización, CART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DecisionTreeClassifier API</a:t>
            </a:r>
          </a:p>
          <a:p>
            <a:pPr>
              <a:spcAft>
                <a:spcPts val="1000"/>
              </a:spcAft>
              <a:defRPr sz="1600" b="0">
                <a:solidFill>
                  <a:srgbClr val="0F172A"/>
                </a:solidFill>
                <a:latin typeface="Segoe UI"/>
              </a:defRPr>
            </a:pPr>
            <a:r>
              <a:rPr sz="1600" b="0">
                <a:solidFill>
                  <a:srgbClr val="0F172A"/>
                </a:solidFill>
                <a:latin typeface="Segoe UI"/>
              </a:rPr>
              <a:t>• Algoritmo CART</a:t>
            </a:r>
          </a:p>
          <a:p>
            <a:pPr>
              <a:spcAft>
                <a:spcPts val="1000"/>
              </a:spcAft>
              <a:defRPr sz="1600" b="0">
                <a:solidFill>
                  <a:srgbClr val="0F172A"/>
                </a:solidFill>
                <a:latin typeface="Segoe UI"/>
              </a:defRPr>
            </a:pPr>
            <a:r>
              <a:rPr sz="1600" b="0">
                <a:solidFill>
                  <a:srgbClr val="0F172A"/>
                </a:solidFill>
                <a:latin typeface="Segoe UI"/>
              </a:rPr>
              <a:t>• Criterio Gini vs Entropy</a:t>
            </a:r>
          </a:p>
          <a:p>
            <a:pPr>
              <a:spcAft>
                <a:spcPts val="1000"/>
              </a:spcAft>
              <a:defRPr sz="1600" b="0">
                <a:solidFill>
                  <a:srgbClr val="0F172A"/>
                </a:solidFill>
                <a:latin typeface="Segoe UI"/>
              </a:defRPr>
            </a:pPr>
            <a:r>
              <a:rPr sz="1600" b="0">
                <a:solidFill>
                  <a:srgbClr val="0F172A"/>
                </a:solidFill>
                <a:latin typeface="Segoe UI"/>
              </a:rPr>
              <a:t>• Visualización: plot_tree y Graphviz</a:t>
            </a:r>
          </a:p>
          <a:p>
            <a:pPr>
              <a:spcAft>
                <a:spcPts val="1000"/>
              </a:spcAft>
              <a:defRPr sz="1600" b="0">
                <a:solidFill>
                  <a:srgbClr val="0F172A"/>
                </a:solidFill>
                <a:latin typeface="Segoe UI"/>
              </a:defRPr>
            </a:pPr>
            <a:r>
              <a:rPr sz="1600" b="0">
                <a:solidFill>
                  <a:srgbClr val="0F172A"/>
                </a:solidFill>
                <a:latin typeface="Segoe UI"/>
              </a:rPr>
              <a:t>• Interpretación de nodos</a:t>
            </a:r>
          </a:p>
          <a:p>
            <a:pPr>
              <a:spcAft>
                <a:spcPts val="1000"/>
              </a:spcAft>
              <a:defRPr sz="1600" b="0">
                <a:solidFill>
                  <a:srgbClr val="0F172A"/>
                </a:solidFill>
                <a:latin typeface="Segoe UI"/>
              </a:defRPr>
            </a:pPr>
            <a:r>
              <a:rPr sz="1600" b="0">
                <a:solidFill>
                  <a:srgbClr val="0F172A"/>
                </a:solidFill>
                <a:latin typeface="Segoe UI"/>
              </a:rPr>
              <a:t>• Decision boundary axis-aligned</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080 — Árboles de decisión: entrenamiento, visualización, CART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Entrenamos un árbol de profundidad 2 sobre Iris (las 4 features) y consultamos las probabilidades de la primera flor con predict_proba. Los árboles no requieren escalado.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load_iris, make_moons</a:t>
            </a:r>
          </a:p>
          <a:p>
            <a:pPr>
              <a:defRPr sz="1200" b="0">
                <a:solidFill>
                  <a:srgbClr val="F8FAFC"/>
                </a:solidFill>
                <a:latin typeface="Courier New"/>
              </a:defRPr>
            </a:pPr>
            <a:r>
              <a:rPr sz="1200" b="0">
                <a:solidFill>
                  <a:srgbClr val="F8FAFC"/>
                </a:solidFill>
                <a:latin typeface="Courier New"/>
              </a:rPr>
              <a:t>from sklearn.tree import DecisionTreeClassifier, plot_tree, export_text</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RND = 42</a:t>
            </a:r>
          </a:p>
          <a:p>
            <a:pPr>
              <a:defRPr sz="1200" b="0">
                <a:solidFill>
                  <a:srgbClr val="F8FAFC"/>
                </a:solidFill>
                <a:latin typeface="Courier New"/>
              </a:defRPr>
            </a:pPr>
            <a:r>
              <a:rPr sz="1200" b="0">
                <a:solidFill>
                  <a:srgbClr val="F8FAFC"/>
                </a:solidFill>
                <a:latin typeface="Courier New"/>
              </a:rPr>
              <a:t>iris = load_iris()</a:t>
            </a:r>
          </a:p>
          <a:p>
            <a:pPr>
              <a:defRPr sz="1200" b="0">
                <a:solidFill>
                  <a:srgbClr val="F8FAFC"/>
                </a:solidFill>
                <a:latin typeface="Courier New"/>
              </a:defRPr>
            </a:pPr>
            <a:r>
              <a:rPr sz="1200" b="0">
                <a:solidFill>
                  <a:srgbClr val="F8FAFC"/>
                </a:solidFill>
                <a:latin typeface="Courier New"/>
              </a:rPr>
              <a:t>X, y = iris.data, iris.target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clf = DecisionTreeClassifier(max_depth=2, random_state=RND).fit(X, y)</a:t>
            </a:r>
          </a:p>
          <a:p>
            <a:pPr>
              <a:defRPr sz="1200" b="0">
                <a:solidFill>
                  <a:srgbClr val="F8FAFC"/>
                </a:solidFill>
                <a:latin typeface="Courier New"/>
              </a:defRPr>
            </a:pPr>
            <a:r>
              <a:rPr sz="1200" b="0">
                <a:solidFill>
                  <a:srgbClr val="F8FAFC"/>
                </a:solidFill>
                <a:latin typeface="Courier New"/>
              </a:rPr>
              <a:t>acc = accuracy_score(y, clf.predict(X))</a:t>
            </a:r>
          </a:p>
          <a:p>
            <a:pPr>
              <a:defRPr sz="1200" b="0">
                <a:solidFill>
                  <a:srgbClr val="F8FAFC"/>
                </a:solidFill>
                <a:latin typeface="Courier New"/>
              </a:defRPr>
            </a:pPr>
            <a:r>
              <a:rPr sz="1200" b="0">
                <a:solidFill>
                  <a:srgbClr val="F8FAFC"/>
                </a:solidFill>
                <a:latin typeface="Courier New"/>
              </a:rPr>
              <a:t>print(f"accuracy train (max_depth=2): {acc:.3f}")</a:t>
            </a:r>
          </a:p>
          <a:p>
            <a:pPr>
              <a:defRPr sz="1200" b="0">
                <a:solidFill>
                  <a:srgbClr val="F8FAFC"/>
                </a:solidFill>
                <a:latin typeface="Courier New"/>
              </a:defRPr>
            </a:pPr>
            <a:r>
              <a:rPr sz="1200" b="0">
                <a:solidFill>
                  <a:srgbClr val="F8FAFC"/>
                </a:solidFill>
                <a:latin typeface="Courier New"/>
              </a:rPr>
              <a:t>assert acc &gt;= 0.90, "un arbol depth=2 ya separa muy bien Iris"</a:t>
            </a:r>
          </a:p>
          <a:p>
            <a:pPr>
              <a:defRPr sz="1200" b="0">
                <a:solidFill>
                  <a:srgbClr val="F8FAFC"/>
                </a:solidFill>
                <a:latin typeface="Courier New"/>
              </a:defRPr>
            </a:pPr>
            <a:r>
              <a:rPr sz="1200" b="0">
                <a:solidFill>
                  <a:srgbClr val="F8FAFC"/>
                </a:solidFill>
                <a:latin typeface="Courier New"/>
              </a:rPr>
              <a:t>print("predict_proba de la primera flor:", np.round(clf.predict_proba(X[:1])[0], 3))</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080 — Árboles de decisión: entrenamiento, visualización, CART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Fit + score baseline.</a:t>
            </a:r>
          </a:p>
          <a:p>
            <a:pPr>
              <a:spcAft>
                <a:spcPts val="800"/>
              </a:spcAft>
              <a:defRPr sz="1400" b="0">
                <a:solidFill>
                  <a:srgbClr val="0F172A"/>
                </a:solidFill>
                <a:latin typeface="Segoe UI"/>
              </a:defRPr>
            </a:pPr>
            <a:r>
              <a:rPr sz="1400" b="0">
                <a:solidFill>
                  <a:srgbClr val="0F172A"/>
                </a:solidFill>
                <a:latin typeface="Segoe UI"/>
              </a:rPr>
              <a:t>• Gini a mano.</a:t>
            </a:r>
          </a:p>
          <a:p>
            <a:pPr>
              <a:spcAft>
                <a:spcPts val="800"/>
              </a:spcAft>
              <a:defRPr sz="1400" b="0">
                <a:solidFill>
                  <a:srgbClr val="0F172A"/>
                </a:solidFill>
                <a:latin typeface="Segoe UI"/>
              </a:defRPr>
            </a:pPr>
            <a:r>
              <a:rPr sz="1400" b="0">
                <a:solidFill>
                  <a:srgbClr val="0F172A"/>
                </a:solidFill>
                <a:latin typeface="Segoe UI"/>
              </a:rPr>
              <a:t>• Gini vs Entropy.</a:t>
            </a:r>
          </a:p>
          <a:p>
            <a:pPr>
              <a:spcAft>
                <a:spcPts val="800"/>
              </a:spcAft>
              <a:defRPr sz="1400" b="0">
                <a:solidFill>
                  <a:srgbClr val="0F172A"/>
                </a:solidFill>
                <a:latin typeface="Segoe UI"/>
              </a:defRPr>
            </a:pPr>
            <a:r>
              <a:rPr sz="1400" b="0">
                <a:solidFill>
                  <a:srgbClr val="0F172A"/>
                </a:solidFill>
                <a:latin typeface="Segoe UI"/>
              </a:rPr>
              <a:t>• plot_tree.</a:t>
            </a:r>
          </a:p>
          <a:p>
            <a:pPr>
              <a:spcAft>
                <a:spcPts val="800"/>
              </a:spcAft>
              <a:defRPr sz="1400" b="0">
                <a:solidFill>
                  <a:srgbClr val="0F172A"/>
                </a:solidFill>
                <a:latin typeface="Segoe UI"/>
              </a:defRPr>
            </a:pPr>
            <a:r>
              <a:rPr sz="1400" b="0">
                <a:solidFill>
                  <a:srgbClr val="0F172A"/>
                </a:solidFill>
                <a:latin typeface="Segoe UI"/>
              </a:rPr>
              <a:t>• Boundary axis-aligned.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carga Iris (solo pétalo largo y ancho), (b) entrena DecisionTreeClassifier(max_depth=2), (c) reporta accuracy y predict_proba para una flor nueva [5, 1.5], (d) exporta el árbol con export_graphviz a un archivo iris_tree.dot y lo convierte a PNG (o usa plot_tree), (e) responde por escrito: "¿por qué la hoja izquierda tiene Gini=0?".</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081 — Regularización de árboles</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081 — Regularización de árboles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6.  Duración estimada: 50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controle el overfitting de un DecisionTreeClassifier/Regressor usando hiperparámetros de regularización (pre-pruning) y cost-complexity pruning (post-pruning), y sepa elegir entre ambas estrategias en función del problema.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overfitting en un árbol sin regularizar (train accuracy ≈ 1, test bajo).</a:t>
            </a:r>
          </a:p>
          <a:p>
            <a:pPr>
              <a:spcAft>
                <a:spcPts val="800"/>
              </a:spcAft>
              <a:defRPr sz="1400" b="0">
                <a:solidFill>
                  <a:srgbClr val="0F172A"/>
                </a:solidFill>
                <a:latin typeface="Segoe UI"/>
              </a:defRPr>
            </a:pPr>
            <a:r>
              <a:rPr sz="1400" b="0">
                <a:solidFill>
                  <a:srgbClr val="0F172A"/>
                </a:solidFill>
                <a:latin typeface="Segoe UI"/>
              </a:rPr>
              <a:t>• Tunear max_depth, min_samples_split, min_samples_leaf, max_leaf_nodes, max_features con GridSearchCV.</a:t>
            </a:r>
          </a:p>
          <a:p>
            <a:pPr>
              <a:spcAft>
                <a:spcPts val="800"/>
              </a:spcAft>
              <a:defRPr sz="1400" b="0">
                <a:solidFill>
                  <a:srgbClr val="0F172A"/>
                </a:solidFill>
                <a:latin typeface="Segoe UI"/>
              </a:defRPr>
            </a:pPr>
            <a:r>
              <a:rPr sz="1400" b="0">
                <a:solidFill>
                  <a:srgbClr val="0F172A"/>
                </a:solidFill>
                <a:latin typeface="Segoe UI"/>
              </a:rPr>
              <a:t>• Aplicar cost-complexity pruning vía ccp_alpha y leer la curva cost_complexity_pruning_path.</a:t>
            </a:r>
          </a:p>
          <a:p>
            <a:pPr>
              <a:spcAft>
                <a:spcPts val="800"/>
              </a:spcAft>
              <a:defRPr sz="1400" b="0">
                <a:solidFill>
                  <a:srgbClr val="0F172A"/>
                </a:solidFill>
                <a:latin typeface="Segoe UI"/>
              </a:defRPr>
            </a:pPr>
            <a:r>
              <a:rPr sz="1400" b="0">
                <a:solidFill>
                  <a:srgbClr val="0F172A"/>
                </a:solidFill>
                <a:latin typeface="Segoe UI"/>
              </a:rPr>
              <a:t>• Diferenciar pre-pruning (frenar el crecimiento) de post-pruning (podar después).</a:t>
            </a:r>
          </a:p>
          <a:p>
            <a:pPr>
              <a:spcAft>
                <a:spcPts val="800"/>
              </a:spcAft>
              <a:defRPr sz="1400" b="0">
                <a:solidFill>
                  <a:srgbClr val="0F172A"/>
                </a:solidFill>
                <a:latin typeface="Segoe UI"/>
              </a:defRPr>
            </a:pPr>
            <a:r>
              <a:rPr sz="1400" b="0">
                <a:solidFill>
                  <a:srgbClr val="0F172A"/>
                </a:solidFill>
                <a:latin typeface="Segoe UI"/>
              </a:rPr>
              <a:t>• Justificar la elección de hiperparámetros con curvas de validación, no a ojo.</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081 — Regularización de árboles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Árboles sin regularizar = overfitting garantizado</a:t>
            </a:r>
          </a:p>
          <a:p>
            <a:pPr>
              <a:spcAft>
                <a:spcPts val="1000"/>
              </a:spcAft>
              <a:defRPr sz="1600" b="0">
                <a:solidFill>
                  <a:srgbClr val="0F172A"/>
                </a:solidFill>
                <a:latin typeface="Segoe UI"/>
              </a:defRPr>
            </a:pPr>
            <a:r>
              <a:rPr sz="1600" b="0">
                <a:solidFill>
                  <a:srgbClr val="0F172A"/>
                </a:solidFill>
                <a:latin typeface="Segoe UI"/>
              </a:rPr>
              <a:t>• max_depth y max_leaf_nodes</a:t>
            </a:r>
          </a:p>
          <a:p>
            <a:pPr>
              <a:spcAft>
                <a:spcPts val="1000"/>
              </a:spcAft>
              <a:defRPr sz="1600" b="0">
                <a:solidFill>
                  <a:srgbClr val="0F172A"/>
                </a:solidFill>
                <a:latin typeface="Segoe UI"/>
              </a:defRPr>
            </a:pPr>
            <a:r>
              <a:rPr sz="1600" b="0">
                <a:solidFill>
                  <a:srgbClr val="0F172A"/>
                </a:solidFill>
                <a:latin typeface="Segoe UI"/>
              </a:rPr>
              <a:t>• min_samples_split / min_samples_leaf</a:t>
            </a:r>
          </a:p>
          <a:p>
            <a:pPr>
              <a:spcAft>
                <a:spcPts val="1000"/>
              </a:spcAft>
              <a:defRPr sz="1600" b="0">
                <a:solidFill>
                  <a:srgbClr val="0F172A"/>
                </a:solidFill>
                <a:latin typeface="Segoe UI"/>
              </a:defRPr>
            </a:pPr>
            <a:r>
              <a:rPr sz="1600" b="0">
                <a:solidFill>
                  <a:srgbClr val="0F172A"/>
                </a:solidFill>
                <a:latin typeface="Segoe UI"/>
              </a:rPr>
              <a:t>• max_features</a:t>
            </a:r>
          </a:p>
          <a:p>
            <a:pPr>
              <a:spcAft>
                <a:spcPts val="1000"/>
              </a:spcAft>
              <a:defRPr sz="1600" b="0">
                <a:solidFill>
                  <a:srgbClr val="0F172A"/>
                </a:solidFill>
                <a:latin typeface="Segoe UI"/>
              </a:defRPr>
            </a:pPr>
            <a:r>
              <a:rPr sz="1600" b="0">
                <a:solidFill>
                  <a:srgbClr val="0F172A"/>
                </a:solidFill>
                <a:latin typeface="Segoe UI"/>
              </a:rPr>
              <a:t>• ccp_alpha (cost-complexity pruning)</a:t>
            </a:r>
          </a:p>
          <a:p>
            <a:pPr>
              <a:spcAft>
                <a:spcPts val="1000"/>
              </a:spcAft>
              <a:defRPr sz="1600" b="0">
                <a:solidFill>
                  <a:srgbClr val="0F172A"/>
                </a:solidFill>
                <a:latin typeface="Segoe UI"/>
              </a:defRPr>
            </a:pPr>
            <a:r>
              <a:rPr sz="1600" b="0">
                <a:solidFill>
                  <a:srgbClr val="0F172A"/>
                </a:solidFill>
                <a:latin typeface="Segoe UI"/>
              </a:rPr>
              <a:t>• Pre-pruning vs post-pruning</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081 — Regularización de árboles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Un DecisionTreeClassifier() sin tocar nada sobre make_moons(noise=0.4) memoriza el train: accuracy de train ≈ 1 y una brecha grande contra el test.</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make_moons</a:t>
            </a:r>
          </a:p>
          <a:p>
            <a:pPr>
              <a:defRPr sz="1200" b="0">
                <a:solidFill>
                  <a:srgbClr val="F8FAFC"/>
                </a:solidFill>
                <a:latin typeface="Courier New"/>
              </a:defRPr>
            </a:pPr>
            <a:r>
              <a:rPr sz="1200" b="0">
                <a:solidFill>
                  <a:srgbClr val="F8FAFC"/>
                </a:solidFill>
                <a:latin typeface="Courier New"/>
              </a:rPr>
              <a:t>from sklearn.tree import DecisionTreeClassifier</a:t>
            </a:r>
          </a:p>
          <a:p>
            <a:pPr>
              <a:defRPr sz="1200" b="0">
                <a:solidFill>
                  <a:srgbClr val="F8FAFC"/>
                </a:solidFill>
                <a:latin typeface="Courier New"/>
              </a:defRPr>
            </a:pPr>
            <a:r>
              <a:rPr sz="1200" b="0">
                <a:solidFill>
                  <a:srgbClr val="F8FAFC"/>
                </a:solidFill>
                <a:latin typeface="Courier New"/>
              </a:rPr>
              <a:t>from sklearn.model_selection import train_test_split, GridSearchCV</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RND = 42</a:t>
            </a:r>
          </a:p>
          <a:p>
            <a:pPr>
              <a:defRPr sz="1200" b="0">
                <a:solidFill>
                  <a:srgbClr val="F8FAFC"/>
                </a:solidFill>
                <a:latin typeface="Courier New"/>
              </a:defRPr>
            </a:pPr>
            <a:r>
              <a:rPr sz="1200" b="0">
                <a:solidFill>
                  <a:srgbClr val="F8FAFC"/>
                </a:solidFill>
                <a:latin typeface="Courier New"/>
              </a:rPr>
              <a:t>X, y = make_moons(n_samples=1000, noise=0.4, random_state=RND)</a:t>
            </a:r>
          </a:p>
          <a:p>
            <a:pPr>
              <a:defRPr sz="1200" b="0">
                <a:solidFill>
                  <a:srgbClr val="F8FAFC"/>
                </a:solidFill>
                <a:latin typeface="Courier New"/>
              </a:defRPr>
            </a:pPr>
            <a:r>
              <a:rPr sz="1200" b="0">
                <a:solidFill>
                  <a:srgbClr val="F8FAFC"/>
                </a:solidFill>
                <a:latin typeface="Courier New"/>
              </a:rPr>
              <a:t>X_train, X_test, y_train, y_test = train_test_split(</a:t>
            </a:r>
          </a:p>
          <a:p>
            <a:pPr>
              <a:defRPr sz="1200" b="0">
                <a:solidFill>
                  <a:srgbClr val="F8FAFC"/>
                </a:solidFill>
                <a:latin typeface="Courier New"/>
              </a:defRPr>
            </a:pPr>
            <a:r>
              <a:rPr sz="1200" b="0">
                <a:solidFill>
                  <a:srgbClr val="F8FAFC"/>
                </a:solidFill>
                <a:latin typeface="Courier New"/>
              </a:rPr>
              <a:t>    X, y, test_size=0.3, random_state=RND)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base = DecisionTreeClassifier(random_state=RND).fit(X_train, y_train)</a:t>
            </a:r>
          </a:p>
          <a:p>
            <a:pPr>
              <a:defRPr sz="1200" b="0">
                <a:solidFill>
                  <a:srgbClr val="F8FAFC"/>
                </a:solidFill>
                <a:latin typeface="Courier New"/>
              </a:defRPr>
            </a:pPr>
            <a:r>
              <a:rPr sz="1200" b="0">
                <a:solidFill>
                  <a:srgbClr val="F8FAFC"/>
                </a:solidFill>
                <a:latin typeface="Courier New"/>
              </a:rPr>
              <a:t>acc_tr = accuracy_score(y_train, base.predict(X_train))</a:t>
            </a:r>
          </a:p>
          <a:p>
            <a:pPr>
              <a:defRPr sz="1200" b="0">
                <a:solidFill>
                  <a:srgbClr val="F8FAFC"/>
                </a:solidFill>
                <a:latin typeface="Courier New"/>
              </a:defRPr>
            </a:pPr>
            <a:r>
              <a:rPr sz="1200" b="0">
                <a:solidFill>
                  <a:srgbClr val="F8FAFC"/>
                </a:solidFill>
                <a:latin typeface="Courier New"/>
              </a:rPr>
              <a:t>acc_te = accuracy_score(y_test, base.predict(X_test))</a:t>
            </a:r>
          </a:p>
          <a:p>
            <a:pPr>
              <a:defRPr sz="1200" b="0">
                <a:solidFill>
                  <a:srgbClr val="F8FAFC"/>
                </a:solidFill>
                <a:latin typeface="Courier New"/>
              </a:defRPr>
            </a:pPr>
            <a:r>
              <a:rPr sz="1200" b="0">
                <a:solidFill>
                  <a:srgbClr val="F8FAFC"/>
                </a:solidFill>
                <a:latin typeface="Courier New"/>
              </a:rPr>
              <a:t>print(f"baseline: acc_train={acc_tr:.3f}  acc_test={acc_te:.3f}")</a:t>
            </a:r>
          </a:p>
          <a:p>
            <a:pPr>
              <a:defRPr sz="1200" b="0">
                <a:solidFill>
                  <a:srgbClr val="F8FAFC"/>
                </a:solidFill>
                <a:latin typeface="Courier New"/>
              </a:defRPr>
            </a:pPr>
            <a:r>
              <a:rPr sz="1200" b="0">
                <a:solidFill>
                  <a:srgbClr val="F8FAFC"/>
                </a:solidFill>
                <a:latin typeface="Courier New"/>
              </a:rPr>
              <a:t>print(f"gap train-test: {acc_tr - acc_te:.3f}")</a:t>
            </a:r>
          </a:p>
          <a:p>
            <a:pPr>
              <a:defRPr sz="1200" b="0">
                <a:solidFill>
                  <a:srgbClr val="F8FAFC"/>
                </a:solidFill>
                <a:latin typeface="Courier New"/>
              </a:defRPr>
            </a:pPr>
            <a:r>
              <a:rPr sz="1200" b="0">
                <a:solidFill>
                  <a:srgbClr val="F8FAFC"/>
                </a:solidFill>
                <a:latin typeface="Courier New"/>
              </a:rPr>
              <a:t>assert acc_tr &gt; acc_te, "el arbol sin regularizar overfittea"</a:t>
            </a:r>
          </a:p>
          <a:p>
            <a:pPr>
              <a:defRPr sz="1200" b="0">
                <a:solidFill>
                  <a:srgbClr val="F8FAFC"/>
                </a:solidFill>
                <a:latin typeface="Courier New"/>
              </a:defRPr>
            </a:pPr>
            <a:r>
              <a:rPr sz="1200" b="0">
                <a:solidFill>
                  <a:srgbClr val="F8FAFC"/>
                </a:solidFill>
                <a:latin typeface="Courier New"/>
              </a:rPr>
              <a:t>print("train casi perfecto y brecha grande = overfitting")</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081 — Regularización de árboles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Overfit baseline.</a:t>
            </a:r>
          </a:p>
          <a:p>
            <a:pPr>
              <a:spcAft>
                <a:spcPts val="800"/>
              </a:spcAft>
              <a:defRPr sz="1400" b="0">
                <a:solidFill>
                  <a:srgbClr val="0F172A"/>
                </a:solidFill>
                <a:latin typeface="Segoe UI"/>
              </a:defRPr>
            </a:pPr>
            <a:r>
              <a:rPr sz="1400" b="0">
                <a:solidFill>
                  <a:srgbClr val="0F172A"/>
                </a:solidFill>
                <a:latin typeface="Segoe UI"/>
              </a:rPr>
              <a:t>• max_depth sweep.</a:t>
            </a:r>
          </a:p>
          <a:p>
            <a:pPr>
              <a:spcAft>
                <a:spcPts val="800"/>
              </a:spcAft>
              <a:defRPr sz="1400" b="0">
                <a:solidFill>
                  <a:srgbClr val="0F172A"/>
                </a:solidFill>
                <a:latin typeface="Segoe UI"/>
              </a:defRPr>
            </a:pPr>
            <a:r>
              <a:rPr sz="1400" b="0">
                <a:solidFill>
                  <a:srgbClr val="0F172A"/>
                </a:solidFill>
                <a:latin typeface="Segoe UI"/>
              </a:rPr>
              <a:t>• GridSearch.</a:t>
            </a:r>
          </a:p>
          <a:p>
            <a:pPr>
              <a:spcAft>
                <a:spcPts val="800"/>
              </a:spcAft>
              <a:defRPr sz="1400" b="0">
                <a:solidFill>
                  <a:srgbClr val="0F172A"/>
                </a:solidFill>
                <a:latin typeface="Segoe UI"/>
              </a:defRPr>
            </a:pPr>
            <a:r>
              <a:rPr sz="1400" b="0">
                <a:solidFill>
                  <a:srgbClr val="0F172A"/>
                </a:solidFill>
                <a:latin typeface="Segoe UI"/>
              </a:rPr>
              <a:t>• Cost-complexity path.</a:t>
            </a:r>
          </a:p>
          <a:p>
            <a:pPr>
              <a:spcAft>
                <a:spcPts val="800"/>
              </a:spcAft>
              <a:defRPr sz="1400" b="0">
                <a:solidFill>
                  <a:srgbClr val="0F172A"/>
                </a:solidFill>
                <a:latin typeface="Segoe UI"/>
              </a:defRPr>
            </a:pPr>
            <a:r>
              <a:rPr sz="1400" b="0">
                <a:solidFill>
                  <a:srgbClr val="0F172A"/>
                </a:solidFill>
                <a:latin typeface="Segoe UI"/>
              </a:rPr>
              <a:t>• Visualización de fronteras.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moons (noise=0.4, 1000 samples, split 70/30): (a) baseline sin regularizar — reportar gap train/test; (b) GridSearchCV sobre max_depth y min_samples_leaf con 5-fold; (c) cost-complexity pruning — graficar ccp_alphas vs test accuracy y elegir el mejor α; (d) comparar test accuracy de los 3 modelos (baseline, grid, pruned) en tabla.</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082 — Regresión con árboles</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082 — Regresión con árboles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6.  Duración estimada: 45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árboles de decisión para problemas de regresión con DecisionTreeRegressor, entender por qué sus predicciones son escalonadas (constantes por hoja) y reconocer su incapacidad para extrapolar fuera del rango de entrenamiento.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Ajustar un DecisionTreeRegressor de scikit-learn y predecir sobre datos nuevos.</a:t>
            </a:r>
          </a:p>
          <a:p>
            <a:pPr>
              <a:spcAft>
                <a:spcPts val="800"/>
              </a:spcAft>
              <a:defRPr sz="1400" b="0">
                <a:solidFill>
                  <a:srgbClr val="0F172A"/>
                </a:solidFill>
                <a:latin typeface="Segoe UI"/>
              </a:defRPr>
            </a:pPr>
            <a:r>
              <a:rPr sz="1400" b="0">
                <a:solidFill>
                  <a:srgbClr val="0F172A"/>
                </a:solidFill>
                <a:latin typeface="Segoe UI"/>
              </a:rPr>
              <a:t>• Explicar cómo el criterio MSE (squared error) decide los splits en regresión.</a:t>
            </a:r>
          </a:p>
          <a:p>
            <a:pPr>
              <a:spcAft>
                <a:spcPts val="800"/>
              </a:spcAft>
              <a:defRPr sz="1400" b="0">
                <a:solidFill>
                  <a:srgbClr val="0F172A"/>
                </a:solidFill>
                <a:latin typeface="Segoe UI"/>
              </a:defRPr>
            </a:pPr>
            <a:r>
              <a:rPr sz="1400" b="0">
                <a:solidFill>
                  <a:srgbClr val="0F172A"/>
                </a:solidFill>
                <a:latin typeface="Segoe UI"/>
              </a:rPr>
              <a:t>• Visualizar la predicción escalonada del árbol contra el target real en 1D.</a:t>
            </a:r>
          </a:p>
          <a:p>
            <a:pPr>
              <a:spcAft>
                <a:spcPts val="800"/>
              </a:spcAft>
              <a:defRPr sz="1400" b="0">
                <a:solidFill>
                  <a:srgbClr val="0F172A"/>
                </a:solidFill>
                <a:latin typeface="Segoe UI"/>
              </a:defRPr>
            </a:pPr>
            <a:r>
              <a:rPr sz="1400" b="0">
                <a:solidFill>
                  <a:srgbClr val="0F172A"/>
                </a:solidFill>
                <a:latin typeface="Segoe UI"/>
              </a:rPr>
              <a:t>• Identificar el problema de no-extrapolación y contrastarlo con regresión lineal.</a:t>
            </a:r>
          </a:p>
          <a:p>
            <a:pPr>
              <a:spcAft>
                <a:spcPts val="800"/>
              </a:spcAft>
              <a:defRPr sz="1400" b="0">
                <a:solidFill>
                  <a:srgbClr val="0F172A"/>
                </a:solidFill>
                <a:latin typeface="Segoe UI"/>
              </a:defRPr>
            </a:pPr>
            <a:r>
              <a:rPr sz="1400" b="0">
                <a:solidFill>
                  <a:srgbClr val="0F172A"/>
                </a:solidFill>
                <a:latin typeface="Segoe UI"/>
              </a:rPr>
              <a:t>• Regular max_depth / min_samples_leaf para balancear bias y varianza.</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082 — Regresión con árboles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DecisionTreeRegressor: API e hiperparámetros principales.</a:t>
            </a:r>
          </a:p>
          <a:p>
            <a:pPr>
              <a:spcAft>
                <a:spcPts val="1000"/>
              </a:spcAft>
              <a:defRPr sz="1600" b="0">
                <a:solidFill>
                  <a:srgbClr val="0F172A"/>
                </a:solidFill>
                <a:latin typeface="Segoe UI"/>
              </a:defRPr>
            </a:pPr>
            <a:r>
              <a:rPr sz="1600" b="0">
                <a:solidFill>
                  <a:srgbClr val="0F172A"/>
                </a:solidFill>
                <a:latin typeface="Segoe UI"/>
              </a:rPr>
              <a:t>• Criterio de split: squared_error (MSE) y friedman_mse.</a:t>
            </a:r>
          </a:p>
          <a:p>
            <a:pPr>
              <a:spcAft>
                <a:spcPts val="1000"/>
              </a:spcAft>
              <a:defRPr sz="1600" b="0">
                <a:solidFill>
                  <a:srgbClr val="0F172A"/>
                </a:solidFill>
                <a:latin typeface="Segoe UI"/>
              </a:defRPr>
            </a:pPr>
            <a:r>
              <a:rPr sz="1600" b="0">
                <a:solidFill>
                  <a:srgbClr val="0F172A"/>
                </a:solidFill>
                <a:latin typeface="Segoe UI"/>
              </a:rPr>
              <a:t>• Predicción como media del target dentro de cada hoja → función escalonada.</a:t>
            </a:r>
          </a:p>
          <a:p>
            <a:pPr>
              <a:spcAft>
                <a:spcPts val="1000"/>
              </a:spcAft>
              <a:defRPr sz="1600" b="0">
                <a:solidFill>
                  <a:srgbClr val="0F172A"/>
                </a:solidFill>
                <a:latin typeface="Segoe UI"/>
              </a:defRPr>
            </a:pPr>
            <a:r>
              <a:rPr sz="1600" b="0">
                <a:solidFill>
                  <a:srgbClr val="0F172A"/>
                </a:solidFill>
                <a:latin typeface="Segoe UI"/>
              </a:rPr>
              <a:t>• Sobreajuste con árboles profundos y regularización vía max_depth, min_samples_leaf, min_samples_split.</a:t>
            </a:r>
          </a:p>
          <a:p>
            <a:pPr>
              <a:spcAft>
                <a:spcPts val="1000"/>
              </a:spcAft>
              <a:defRPr sz="1600" b="0">
                <a:solidFill>
                  <a:srgbClr val="0F172A"/>
                </a:solidFill>
                <a:latin typeface="Segoe UI"/>
              </a:defRPr>
            </a:pPr>
            <a:r>
              <a:rPr sz="1600" b="0">
                <a:solidFill>
                  <a:srgbClr val="0F172A"/>
                </a:solidFill>
                <a:latin typeface="Segoe UI"/>
              </a:rPr>
              <a:t>• Limitación clave: el árbol no extrapola — predice el último valor visto en los extremos.</a:t>
            </a:r>
          </a:p>
          <a:p>
            <a:pPr>
              <a:spcAft>
                <a:spcPts val="1000"/>
              </a:spcAft>
              <a:defRPr sz="1600" b="0">
                <a:solidFill>
                  <a:srgbClr val="0F172A"/>
                </a:solidFill>
                <a:latin typeface="Segoe UI"/>
              </a:defRPr>
            </a:pPr>
            <a:r>
              <a:rPr sz="1600" b="0">
                <a:solidFill>
                  <a:srgbClr val="0F172A"/>
                </a:solidFill>
                <a:latin typeface="Segoe UI"/>
              </a:rPr>
              <a:t>• Comparación rápida con regresión lineal en datos con tendencia.</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082 — Regresión con árboles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Generamos y = sin(x) + ruido y entrenamos árboles de max_depth=2 y max_depth=5. Se ven las escaleras: más profundidad = más escalones.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sklearn.tree import DecisionTreeRegressor</a:t>
            </a:r>
          </a:p>
          <a:p>
            <a:pPr>
              <a:defRPr sz="1200" b="0">
                <a:solidFill>
                  <a:srgbClr val="F8FAFC"/>
                </a:solidFill>
                <a:latin typeface="Courier New"/>
              </a:defRPr>
            </a:pPr>
            <a:r>
              <a:rPr sz="1200" b="0">
                <a:solidFill>
                  <a:srgbClr val="F8FAFC"/>
                </a:solidFill>
                <a:latin typeface="Courier New"/>
              </a:rPr>
              <a:t>from sklearn.linear_model import LinearRegression</a:t>
            </a:r>
          </a:p>
          <a:p>
            <a:pPr>
              <a:defRPr sz="1200" b="0">
                <a:solidFill>
                  <a:srgbClr val="F8FAFC"/>
                </a:solidFill>
                <a:latin typeface="Courier New"/>
              </a:defRPr>
            </a:pPr>
            <a:r>
              <a:rPr sz="1200" b="0">
                <a:solidFill>
                  <a:srgbClr val="F8FAFC"/>
                </a:solidFill>
                <a:latin typeface="Courier New"/>
              </a:rPr>
              <a:t>from sklearn.datasets import load_diabetes</a:t>
            </a:r>
          </a:p>
          <a:p>
            <a:pPr>
              <a:defRPr sz="1200" b="0">
                <a:solidFill>
                  <a:srgbClr val="F8FAFC"/>
                </a:solidFill>
                <a:latin typeface="Courier New"/>
              </a:defRPr>
            </a:pPr>
            <a:r>
              <a:rPr sz="1200" b="0">
                <a:solidFill>
                  <a:srgbClr val="F8FAFC"/>
                </a:solidFill>
                <a:latin typeface="Courier New"/>
              </a:rPr>
              <a:t>from sklearn.model_selection import train_test_split, cross_val_score</a:t>
            </a:r>
          </a:p>
          <a:p>
            <a:pPr>
              <a:defRPr sz="1200" b="0">
                <a:solidFill>
                  <a:srgbClr val="F8FAFC"/>
                </a:solidFill>
                <a:latin typeface="Courier New"/>
              </a:defRPr>
            </a:pPr>
            <a:r>
              <a:rPr sz="1200" b="0">
                <a:solidFill>
                  <a:srgbClr val="F8FAFC"/>
                </a:solidFill>
                <a:latin typeface="Courier New"/>
              </a:rPr>
              <a:t>from sklearn.metrics import mean_squared_error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RND = 42</a:t>
            </a:r>
          </a:p>
          <a:p>
            <a:pPr>
              <a:defRPr sz="1200" b="0">
                <a:solidFill>
                  <a:srgbClr val="F8FAFC"/>
                </a:solidFill>
                <a:latin typeface="Courier New"/>
              </a:defRPr>
            </a:pPr>
            <a:r>
              <a:rPr sz="1200" b="0">
                <a:solidFill>
                  <a:srgbClr val="F8FAFC"/>
                </a:solidFill>
                <a:latin typeface="Courier New"/>
              </a:rPr>
              <a:t>rng = np.random.default_rng(RND)</a:t>
            </a:r>
          </a:p>
          <a:p>
            <a:pPr>
              <a:defRPr sz="1200" b="0">
                <a:solidFill>
                  <a:srgbClr val="F8FAFC"/>
                </a:solidFill>
                <a:latin typeface="Courier New"/>
              </a:defRPr>
            </a:pPr>
            <a:r>
              <a:rPr sz="1200" b="0">
                <a:solidFill>
                  <a:srgbClr val="F8FAFC"/>
                </a:solidFill>
                <a:latin typeface="Courier New"/>
              </a:rPr>
              <a:t>x = np.linspace(-3, 3, 200)</a:t>
            </a:r>
          </a:p>
          <a:p>
            <a:pPr>
              <a:defRPr sz="1200" b="0">
                <a:solidFill>
                  <a:srgbClr val="F8FAFC"/>
                </a:solidFill>
                <a:latin typeface="Courier New"/>
              </a:defRPr>
            </a:pPr>
            <a:r>
              <a:rPr sz="1200" b="0">
                <a:solidFill>
                  <a:srgbClr val="F8FAFC"/>
                </a:solidFill>
                <a:latin typeface="Courier New"/>
              </a:rPr>
              <a:t>y = np.sin(x) + rng.normal(0, 0.1, size=x.size)</a:t>
            </a:r>
          </a:p>
          <a:p>
            <a:pPr>
              <a:defRPr sz="1200" b="0">
                <a:solidFill>
                  <a:srgbClr val="F8FAFC"/>
                </a:solidFill>
                <a:latin typeface="Courier New"/>
              </a:defRPr>
            </a:pPr>
            <a:r>
              <a:rPr sz="1200" b="0">
                <a:solidFill>
                  <a:srgbClr val="F8FAFC"/>
                </a:solidFill>
                <a:latin typeface="Courier New"/>
              </a:rPr>
              <a:t>X = x.reshape(-1,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fig, ax = plt.subplots(figsize=(7, 5))</a:t>
            </a:r>
          </a:p>
          <a:p>
            <a:pPr>
              <a:defRPr sz="1200" b="0">
                <a:solidFill>
                  <a:srgbClr val="F8FAFC"/>
                </a:solidFill>
                <a:latin typeface="Courier New"/>
              </a:defRPr>
            </a:pPr>
            <a:r>
              <a:rPr sz="1200" b="0">
                <a:solidFill>
                  <a:srgbClr val="F8FAFC"/>
                </a:solidFill>
                <a:latin typeface="Courier New"/>
              </a:rPr>
              <a:t>ax.scatter(x, y, s=12, c="lightgray", label="datos")</a:t>
            </a:r>
          </a:p>
          <a:p>
            <a:pPr>
              <a:defRPr sz="1200" b="0">
                <a:solidFill>
                  <a:srgbClr val="F8FAFC"/>
                </a:solidFill>
                <a:latin typeface="Courier New"/>
              </a:defRPr>
            </a:pPr>
            <a:r>
              <a:rPr sz="1200" b="0">
                <a:solidFill>
                  <a:srgbClr val="F8FAFC"/>
                </a:solidFill>
                <a:latin typeface="Courier New"/>
              </a:rPr>
              <a:t>for d, color in [(2, "tab:blue"), (5, "tab:red")]:</a:t>
            </a:r>
          </a:p>
          <a:p>
            <a:pPr>
              <a:defRPr sz="1200" b="0">
                <a:solidFill>
                  <a:srgbClr val="F8FAFC"/>
                </a:solidFill>
                <a:latin typeface="Courier New"/>
              </a:defRPr>
            </a:pPr>
            <a:r>
              <a:rPr sz="1200" b="0">
                <a:solidFill>
                  <a:srgbClr val="F8FAFC"/>
                </a:solidFill>
                <a:latin typeface="Courier New"/>
              </a:rPr>
              <a:t>    m = DecisionTreeRegressor(max_depth=d, random_state=RND).fit(X, y)</a:t>
            </a:r>
          </a:p>
          <a:p>
            <a:pPr>
              <a:defRPr sz="1200" b="0">
                <a:solidFill>
                  <a:srgbClr val="F8FAFC"/>
                </a:solidFill>
                <a:latin typeface="Courier New"/>
              </a:defRPr>
            </a:pPr>
            <a:r>
              <a:rPr sz="1200" b="0">
                <a:solidFill>
                  <a:srgbClr val="F8FAFC"/>
                </a:solidFill>
                <a:latin typeface="Courier New"/>
              </a:rPr>
              <a:t>    ax.plot(x, m.predict(X), color=color, lw=2, label=f"max_depth={d}")</a:t>
            </a:r>
          </a:p>
          <a:p>
            <a:pPr>
              <a:defRPr sz="1200" b="0">
                <a:solidFill>
                  <a:srgbClr val="F8FAFC"/>
                </a:solidFill>
                <a:latin typeface="Courier New"/>
              </a:defRPr>
            </a:pPr>
            <a:r>
              <a:rPr sz="1200" b="0">
                <a:solidFill>
                  <a:srgbClr val="F8FAFC"/>
                </a:solidFill>
                <a:latin typeface="Courier New"/>
              </a:rPr>
              <a:t>ax.set_title("Prediccion escalonada del arbol"); ax.legend()</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082 — Regresión con árboles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Ajuste básico: generá los datos sin(x) + ruido, entrená DecisionTreeRegressor(max_depth=2) y max_depth=5, y graficá ambas predicciones sobre los puntos.</a:t>
            </a:r>
          </a:p>
          <a:p>
            <a:pPr>
              <a:spcAft>
                <a:spcPts val="800"/>
              </a:spcAft>
              <a:defRPr sz="1400" b="0">
                <a:solidFill>
                  <a:srgbClr val="0F172A"/>
                </a:solidFill>
                <a:latin typeface="Segoe UI"/>
              </a:defRPr>
            </a:pPr>
            <a:r>
              <a:rPr sz="1400" b="0">
                <a:solidFill>
                  <a:srgbClr val="0F172A"/>
                </a:solidFill>
                <a:latin typeface="Segoe UI"/>
              </a:rPr>
              <a:t>• MSE en train vs test: hacé train_test_split(test_size=0.3), calculá mean_squared_error en train y test para max_depth ∈ {1, 2, 4, 8, None}.</a:t>
            </a:r>
          </a:p>
          <a:p>
            <a:pPr>
              <a:spcAft>
                <a:spcPts val="800"/>
              </a:spcAft>
              <a:defRPr sz="1400" b="0">
                <a:solidFill>
                  <a:srgbClr val="0F172A"/>
                </a:solidFill>
                <a:latin typeface="Segoe UI"/>
              </a:defRPr>
            </a:pPr>
            <a:r>
              <a:rPr sz="1400" b="0">
                <a:solidFill>
                  <a:srgbClr val="0F172A"/>
                </a:solidFill>
                <a:latin typeface="Segoe UI"/>
              </a:rPr>
              <a:t>• No extrapolación: predecí con el modelo entrenado sobre x_new = np.linspace(-5, 5, 200) (rango más ancho que el train).</a:t>
            </a:r>
          </a:p>
          <a:p>
            <a:pPr>
              <a:spcAft>
                <a:spcPts val="800"/>
              </a:spcAft>
              <a:defRPr sz="1400" b="0">
                <a:solidFill>
                  <a:srgbClr val="0F172A"/>
                </a:solidFill>
                <a:latin typeface="Segoe UI"/>
              </a:defRPr>
            </a:pPr>
            <a:r>
              <a:rPr sz="1400" b="0">
                <a:solidFill>
                  <a:srgbClr val="0F172A"/>
                </a:solidFill>
                <a:latin typeface="Segoe UI"/>
              </a:rPr>
              <a:t>• Árbol vs lineal: entrená LinearRegression sobre los mismos datos.</a:t>
            </a:r>
          </a:p>
          <a:p>
            <a:pPr>
              <a:spcAft>
                <a:spcPts val="800"/>
              </a:spcAft>
              <a:defRPr sz="1400" b="0">
                <a:solidFill>
                  <a:srgbClr val="0F172A"/>
                </a:solidFill>
                <a:latin typeface="Segoe UI"/>
              </a:defRPr>
            </a:pPr>
            <a:r>
              <a:rPr sz="1400" b="0">
                <a:solidFill>
                  <a:srgbClr val="0F172A"/>
                </a:solidFill>
                <a:latin typeface="Segoe UI"/>
              </a:rPr>
              <a:t>• California Housing: corré cross_val_score(DecisionTreeRegressor(max_depth=6), X, y, scoring='neg_mean_squared_error', cv=5) y compará contra max_depth=None.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Genere y = 0.5 * x + sin(x) + ruido con x en [0, 10].</a:t>
            </a:r>
          </a:p>
          <a:p>
            <a:pPr>
              <a:spcAft>
                <a:spcPts val="800"/>
              </a:spcAft>
              <a:defRPr sz="1500" b="0">
                <a:solidFill>
                  <a:srgbClr val="0F172A"/>
                </a:solidFill>
                <a:latin typeface="Segoe UI"/>
              </a:defRPr>
            </a:pPr>
            <a:r>
              <a:rPr sz="1500" b="0">
                <a:solidFill>
                  <a:srgbClr val="0F172A"/>
                </a:solidFill>
                <a:latin typeface="Segoe UI"/>
              </a:rPr>
              <a:t>• Entrene DecisionTreeRegressor(max_depth=4, random_state=42) y LinearRegression.</a:t>
            </a:r>
          </a:p>
          <a:p>
            <a:pPr>
              <a:spcAft>
                <a:spcPts val="800"/>
              </a:spcAft>
              <a:defRPr sz="1500" b="0">
                <a:solidFill>
                  <a:srgbClr val="0F172A"/>
                </a:solidFill>
                <a:latin typeface="Segoe UI"/>
              </a:defRPr>
            </a:pPr>
            <a:r>
              <a:rPr sz="1500" b="0">
                <a:solidFill>
                  <a:srgbClr val="0F172A"/>
                </a:solidFill>
                <a:latin typeface="Segoe UI"/>
              </a:rPr>
              <a:t>• Prediga sobre x_new en [0, 15] (excede el rango de train).</a:t>
            </a:r>
          </a:p>
          <a:p>
            <a:pPr>
              <a:spcAft>
                <a:spcPts val="800"/>
              </a:spcAft>
              <a:defRPr sz="1500" b="0">
                <a:solidFill>
                  <a:srgbClr val="0F172A"/>
                </a:solidFill>
                <a:latin typeface="Segoe UI"/>
              </a:defRPr>
            </a:pPr>
            <a:r>
              <a:rPr sz="1500" b="0">
                <a:solidFill>
                  <a:srgbClr val="0F172A"/>
                </a:solidFill>
                <a:latin typeface="Segoe UI"/>
              </a:rPr>
              <a:t>• Imprima el MSE en test (dentro del rango) y el valor predicho por el árbol en x=15.</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083 — Voting classifiers: hard y soft</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083 — Voting classifiers: hard y soft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7.  Duración estimada: 45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Combinar varios modelos heterogéneos en un ensemble por votación y entender cuándo conviene hard voting (voto por mayoría) versus soft voting (promedio de probabilidades), apoyándonos en el principio de wisdom of the crowd.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por qué un ensemble de clasificadores diversos suele superar al mejor modelo individual.</a:t>
            </a:r>
          </a:p>
          <a:p>
            <a:pPr>
              <a:spcAft>
                <a:spcPts val="800"/>
              </a:spcAft>
              <a:defRPr sz="1400" b="0">
                <a:solidFill>
                  <a:srgbClr val="0F172A"/>
                </a:solidFill>
                <a:latin typeface="Segoe UI"/>
              </a:defRPr>
            </a:pPr>
            <a:r>
              <a:rPr sz="1400" b="0">
                <a:solidFill>
                  <a:srgbClr val="0F172A"/>
                </a:solidFill>
                <a:latin typeface="Segoe UI"/>
              </a:rPr>
              <a:t>• Implementar un VotingClassifier de scikit-learn con voting="hard" y voting="soft".</a:t>
            </a:r>
          </a:p>
          <a:p>
            <a:pPr>
              <a:spcAft>
                <a:spcPts val="800"/>
              </a:spcAft>
              <a:defRPr sz="1400" b="0">
                <a:solidFill>
                  <a:srgbClr val="0F172A"/>
                </a:solidFill>
                <a:latin typeface="Segoe UI"/>
              </a:defRPr>
            </a:pPr>
            <a:r>
              <a:rPr sz="1400" b="0">
                <a:solidFill>
                  <a:srgbClr val="0F172A"/>
                </a:solidFill>
                <a:latin typeface="Segoe UI"/>
              </a:rPr>
              <a:t>• Decidir entre hard y soft voting según si los modelos base estiman probabilidades calibradas.</a:t>
            </a:r>
          </a:p>
          <a:p>
            <a:pPr>
              <a:spcAft>
                <a:spcPts val="800"/>
              </a:spcAft>
              <a:defRPr sz="1400" b="0">
                <a:solidFill>
                  <a:srgbClr val="0F172A"/>
                </a:solidFill>
                <a:latin typeface="Segoe UI"/>
              </a:defRPr>
            </a:pPr>
            <a:r>
              <a:rPr sz="1400" b="0">
                <a:solidFill>
                  <a:srgbClr val="0F172A"/>
                </a:solidFill>
                <a:latin typeface="Segoe UI"/>
              </a:rPr>
              <a:t>• Comparar la accuracy del ensemble contra la de cada modelo base en un dataset de clasificación.</a:t>
            </a:r>
          </a:p>
          <a:p>
            <a:pPr>
              <a:spcAft>
                <a:spcPts val="800"/>
              </a:spcAft>
              <a:defRPr sz="1400" b="0">
                <a:solidFill>
                  <a:srgbClr val="0F172A"/>
                </a:solidFill>
                <a:latin typeface="Segoe UI"/>
              </a:defRPr>
            </a:pPr>
            <a:r>
              <a:rPr sz="1400" b="0">
                <a:solidFill>
                  <a:srgbClr val="0F172A"/>
                </a:solidFill>
                <a:latin typeface="Segoe UI"/>
              </a:rPr>
              <a:t>• Identificar errores frecuentes al armar el ensemble (modelos correlacionados, probabilidades mal calibradas, pesos sin justificar).</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083 — Voting classifiers: hard y soft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Wisdom of the crowd: por qué combinar predicciones reduce error.</a:t>
            </a:r>
          </a:p>
          <a:p>
            <a:pPr>
              <a:spcAft>
                <a:spcPts val="1000"/>
              </a:spcAft>
              <a:defRPr sz="1600" b="0">
                <a:solidFill>
                  <a:srgbClr val="0F172A"/>
                </a:solidFill>
                <a:latin typeface="Segoe UI"/>
              </a:defRPr>
            </a:pPr>
            <a:r>
              <a:rPr sz="1600" b="0">
                <a:solidFill>
                  <a:srgbClr val="0F172A"/>
                </a:solidFill>
                <a:latin typeface="Segoe UI"/>
              </a:rPr>
              <a:t>• Hard voting: predicción final = clase con más votos entre los modelos base.</a:t>
            </a:r>
          </a:p>
          <a:p>
            <a:pPr>
              <a:spcAft>
                <a:spcPts val="1000"/>
              </a:spcAft>
              <a:defRPr sz="1600" b="0">
                <a:solidFill>
                  <a:srgbClr val="0F172A"/>
                </a:solidFill>
                <a:latin typeface="Segoe UI"/>
              </a:defRPr>
            </a:pPr>
            <a:r>
              <a:rPr sz="1600" b="0">
                <a:solidFill>
                  <a:srgbClr val="0F172A"/>
                </a:solidFill>
                <a:latin typeface="Segoe UI"/>
              </a:rPr>
              <a:t>• Soft voting: predicción final = clase con mayor promedio de probabilidades estimadas.</a:t>
            </a:r>
          </a:p>
          <a:p>
            <a:pPr>
              <a:spcAft>
                <a:spcPts val="1000"/>
              </a:spcAft>
              <a:defRPr sz="1600" b="0">
                <a:solidFill>
                  <a:srgbClr val="0F172A"/>
                </a:solidFill>
                <a:latin typeface="Segoe UI"/>
              </a:defRPr>
            </a:pPr>
            <a:r>
              <a:rPr sz="1600" b="0">
                <a:solidFill>
                  <a:srgbClr val="0F172A"/>
                </a:solidFill>
                <a:latin typeface="Segoe UI"/>
              </a:rPr>
              <a:t>• Requisitos para soft voting: que cada modelo exponga predict_proba y esté bien calibrado.</a:t>
            </a:r>
          </a:p>
          <a:p>
            <a:pPr>
              <a:spcAft>
                <a:spcPts val="1000"/>
              </a:spcAft>
              <a:defRPr sz="1600" b="0">
                <a:solidFill>
                  <a:srgbClr val="0F172A"/>
                </a:solidFill>
                <a:latin typeface="Segoe UI"/>
              </a:defRPr>
            </a:pPr>
            <a:r>
              <a:rPr sz="1600" b="0">
                <a:solidFill>
                  <a:srgbClr val="0F172A"/>
                </a:solidFill>
                <a:latin typeface="Segoe UI"/>
              </a:rPr>
              <a:t>• Diversidad entre modelos base (algoritmos distintos, no sólo hiperparámetros distintos).</a:t>
            </a:r>
          </a:p>
          <a:p>
            <a:pPr>
              <a:spcAft>
                <a:spcPts val="1000"/>
              </a:spcAft>
              <a:defRPr sz="1600" b="0">
                <a:solidFill>
                  <a:srgbClr val="0F172A"/>
                </a:solidFill>
                <a:latin typeface="Segoe UI"/>
              </a:defRPr>
            </a:pPr>
            <a:r>
              <a:rPr sz="1600" b="0">
                <a:solidFill>
                  <a:srgbClr val="0F172A"/>
                </a:solidFill>
                <a:latin typeface="Segoe UI"/>
              </a:rPr>
              <a:t>• VotingClassifier(estimators=[...], voting=..., weights=...).</a:t>
            </a:r>
          </a:p>
          <a:p>
            <a:pPr>
              <a:spcAft>
                <a:spcPts val="1000"/>
              </a:spcAft>
              <a:defRPr sz="1600" b="0">
                <a:solidFill>
                  <a:srgbClr val="0F172A"/>
                </a:solidFill>
                <a:latin typeface="Segoe UI"/>
              </a:defRPr>
            </a:pPr>
            <a:r>
              <a:rPr sz="1600" b="0">
                <a:solidFill>
                  <a:srgbClr val="0F172A"/>
                </a:solidFill>
                <a:latin typeface="Segoe UI"/>
              </a:rPr>
              <a:t>• Limitaciones: si los modelos se equivocan en los mismos ejemplos, el ensemble no ayuda.</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083 — Voting classifiers: hard y soft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make_moons</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sklearn.ensemble import RandomForestClassifier, VotingClassifier</a:t>
            </a:r>
          </a:p>
          <a:p>
            <a:pPr>
              <a:defRPr sz="1200" b="0">
                <a:solidFill>
                  <a:srgbClr val="F8FAFC"/>
                </a:solidFill>
                <a:latin typeface="Courier New"/>
              </a:defRPr>
            </a:pPr>
            <a:r>
              <a:rPr sz="1200" b="0">
                <a:solidFill>
                  <a:srgbClr val="F8FAFC"/>
                </a:solidFill>
                <a:latin typeface="Courier New"/>
              </a:rPr>
              <a:t>from sklearn.svm import SVC</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make_moons(n_samples=500, noise=0.30, random_state=42)</a:t>
            </a:r>
          </a:p>
          <a:p>
            <a:pPr>
              <a:defRPr sz="1200" b="0">
                <a:solidFill>
                  <a:srgbClr val="F8FAFC"/>
                </a:solidFill>
                <a:latin typeface="Courier New"/>
              </a:defRPr>
            </a:pPr>
            <a:r>
              <a:rPr sz="1200" b="0">
                <a:solidFill>
                  <a:srgbClr val="F8FAFC"/>
                </a:solidFill>
                <a:latin typeface="Courier New"/>
              </a:rPr>
              <a:t>X_train, X_test, y_train, y_test = train_test_split(</a:t>
            </a:r>
          </a:p>
          <a:p>
            <a:pPr>
              <a:defRPr sz="1200" b="0">
                <a:solidFill>
                  <a:srgbClr val="F8FAFC"/>
                </a:solidFill>
                <a:latin typeface="Courier New"/>
              </a:defRPr>
            </a:pPr>
            <a:r>
              <a:rPr sz="1200" b="0">
                <a:solidFill>
                  <a:srgbClr val="F8FAFC"/>
                </a:solidFill>
                <a:latin typeface="Courier New"/>
              </a:rPr>
              <a:t>    X, y, test_size=0.2, random_state=42, stratify=y)</a:t>
            </a:r>
          </a:p>
          <a:p>
            <a:pPr>
              <a:defRPr sz="1200" b="0">
                <a:solidFill>
                  <a:srgbClr val="F8FAFC"/>
                </a:solidFill>
                <a:latin typeface="Courier New"/>
              </a:defRPr>
            </a:pPr>
            <a:r>
              <a:rPr sz="1200" b="0">
                <a:solidFill>
                  <a:srgbClr val="F8FAFC"/>
                </a:solidFill>
                <a:latin typeface="Courier New"/>
              </a:rPr>
              <a:t>print('train', X_train.shape, 'test', X_test.shape)</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083 — Voting classifiers: hard y soft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make_moons y partir en train/test (80/20, random_state=42).</a:t>
            </a:r>
          </a:p>
          <a:p>
            <a:pPr>
              <a:spcAft>
                <a:spcPts val="800"/>
              </a:spcAft>
              <a:defRPr sz="1400" b="0">
                <a:solidFill>
                  <a:srgbClr val="0F172A"/>
                </a:solidFill>
                <a:latin typeface="Segoe UI"/>
              </a:defRPr>
            </a:pPr>
            <a:r>
              <a:rPr sz="1400" b="0">
                <a:solidFill>
                  <a:srgbClr val="0F172A"/>
                </a:solidFill>
                <a:latin typeface="Segoe UI"/>
              </a:rPr>
              <a:t>• Armar un VotingClassifier con esos tres modelos y voting="hard".</a:t>
            </a:r>
          </a:p>
          <a:p>
            <a:pPr>
              <a:spcAft>
                <a:spcPts val="800"/>
              </a:spcAft>
              <a:defRPr sz="1400" b="0">
                <a:solidFill>
                  <a:srgbClr val="0F172A"/>
                </a:solidFill>
                <a:latin typeface="Segoe UI"/>
              </a:defRPr>
            </a:pPr>
            <a:r>
              <a:rPr sz="1400" b="0">
                <a:solidFill>
                  <a:srgbClr val="0F172A"/>
                </a:solidFill>
                <a:latin typeface="Segoe UI"/>
              </a:rPr>
              <a:t>• Repetir con voting="soft" (recordá SVC(probability=True)).</a:t>
            </a:r>
          </a:p>
          <a:p>
            <a:pPr>
              <a:spcAft>
                <a:spcPts val="800"/>
              </a:spcAft>
              <a:defRPr sz="1400" b="0">
                <a:solidFill>
                  <a:srgbClr val="0F172A"/>
                </a:solidFill>
                <a:latin typeface="Segoe UI"/>
              </a:defRPr>
            </a:pPr>
            <a:r>
              <a:rPr sz="1400" b="0">
                <a:solidFill>
                  <a:srgbClr val="0F172A"/>
                </a:solidFill>
                <a:latin typeface="Segoe UI"/>
              </a:rPr>
              <a:t>• Probar weights=[1, 2, 1] favoreciendo al Random Forest.</a:t>
            </a:r>
          </a:p>
          <a:p>
            <a:pPr>
              <a:spcAft>
                <a:spcPts val="800"/>
              </a:spcAft>
              <a:defRPr sz="1400" b="0">
                <a:solidFill>
                  <a:srgbClr val="0F172A"/>
                </a:solidFill>
                <a:latin typeface="Segoe UI"/>
              </a:defRPr>
            </a:pPr>
            <a:r>
              <a:rPr sz="1400" b="0">
                <a:solidFill>
                  <a:srgbClr val="0F172A"/>
                </a:solidFill>
                <a:latin typeface="Segoe UI"/>
              </a:rPr>
              <a:t>• Reemplazar uno de los modelos por una copia casi idéntica de otro (ej.: dos regresiones logísticas con C muy parecido).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Cargue make_moons(n_samples=500, noise=0.30, random_state=42).</a:t>
            </a:r>
          </a:p>
          <a:p>
            <a:pPr>
              <a:spcAft>
                <a:spcPts val="800"/>
              </a:spcAft>
              <a:defRPr sz="1500" b="0">
                <a:solidFill>
                  <a:srgbClr val="0F172A"/>
                </a:solidFill>
                <a:latin typeface="Segoe UI"/>
              </a:defRPr>
            </a:pPr>
            <a:r>
              <a:rPr sz="1500" b="0">
                <a:solidFill>
                  <a:srgbClr val="0F172A"/>
                </a:solidFill>
                <a:latin typeface="Segoe UI"/>
              </a:rPr>
              <a:t>• Entrene tres modelos base distintos y un VotingClassifier en modo hard y otro en modo soft.</a:t>
            </a:r>
          </a:p>
          <a:p>
            <a:pPr>
              <a:spcAft>
                <a:spcPts val="800"/>
              </a:spcAft>
              <a:defRPr sz="1500" b="0">
                <a:solidFill>
                  <a:srgbClr val="0F172A"/>
                </a:solidFill>
                <a:latin typeface="Segoe UI"/>
              </a:defRPr>
            </a:pPr>
            <a:r>
              <a:rPr sz="1500" b="0">
                <a:solidFill>
                  <a:srgbClr val="0F172A"/>
                </a:solidFill>
                <a:latin typeface="Segoe UI"/>
              </a:rPr>
              <a:t>• Imprima la accuracy en test de los cinco (3 base + 2 ensembles).</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084 — Bagging y pasting</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084 — Bagging y pasting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7.  Duración estimada: 55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entrene ensembles entrenando el mismo algoritmo sobre distintos subsets del training set —bagging (con reemplazo) y pasting (sin reemplazo)— y evalúe sin held-out usando out-of-bag (OOB). Cierre con sampling de features (random patches y random subspaces) como puente conceptual a Random Forests.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bagging vs pasting y justificar cuándo elegir uno u otro.</a:t>
            </a:r>
          </a:p>
          <a:p>
            <a:pPr>
              <a:spcAft>
                <a:spcPts val="800"/>
              </a:spcAft>
              <a:defRPr sz="1400" b="0">
                <a:solidFill>
                  <a:srgbClr val="0F172A"/>
                </a:solidFill>
                <a:latin typeface="Segoe UI"/>
              </a:defRPr>
            </a:pPr>
            <a:r>
              <a:rPr sz="1400" b="0">
                <a:solidFill>
                  <a:srgbClr val="0F172A"/>
                </a:solidFill>
                <a:latin typeface="Segoe UI"/>
              </a:rPr>
              <a:t>• Entrenar un BaggingClassifier de scikit-learn con un base estimator y n_estimators razonable.</a:t>
            </a:r>
          </a:p>
          <a:p>
            <a:pPr>
              <a:spcAft>
                <a:spcPts val="800"/>
              </a:spcAft>
              <a:defRPr sz="1400" b="0">
                <a:solidFill>
                  <a:srgbClr val="0F172A"/>
                </a:solidFill>
                <a:latin typeface="Segoe UI"/>
              </a:defRPr>
            </a:pPr>
            <a:r>
              <a:rPr sz="1400" b="0">
                <a:solidFill>
                  <a:srgbClr val="0F172A"/>
                </a:solidFill>
                <a:latin typeface="Segoe UI"/>
              </a:rPr>
              <a:t>• Usar oob_score=True para estimar el error de generalización sin tocar el test set.</a:t>
            </a:r>
          </a:p>
          <a:p>
            <a:pPr>
              <a:spcAft>
                <a:spcPts val="800"/>
              </a:spcAft>
              <a:defRPr sz="1400" b="0">
                <a:solidFill>
                  <a:srgbClr val="0F172A"/>
                </a:solidFill>
                <a:latin typeface="Segoe UI"/>
              </a:defRPr>
            </a:pPr>
            <a:r>
              <a:rPr sz="1400" b="0">
                <a:solidFill>
                  <a:srgbClr val="0F172A"/>
                </a:solidFill>
                <a:latin typeface="Segoe UI"/>
              </a:rPr>
              <a:t>• Aplicar sampling de features (max_features &lt; 1.0, bootstrap_features=True) para random patches / random subspaces.</a:t>
            </a:r>
          </a:p>
          <a:p>
            <a:pPr>
              <a:spcAft>
                <a:spcPts val="800"/>
              </a:spcAft>
              <a:defRPr sz="1400" b="0">
                <a:solidFill>
                  <a:srgbClr val="0F172A"/>
                </a:solidFill>
                <a:latin typeface="Segoe UI"/>
              </a:defRPr>
            </a:pPr>
            <a:r>
              <a:rPr sz="1400" b="0">
                <a:solidFill>
                  <a:srgbClr val="0F172A"/>
                </a:solidFill>
                <a:latin typeface="Segoe UI"/>
              </a:rPr>
              <a:t>• Comparar bias/variance del ensemble vs un único árbol, en accuracy y en frontera de decisión.</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084 — Bagging y pasting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Bagging (bootstrap aggregating)</a:t>
            </a:r>
          </a:p>
          <a:p>
            <a:pPr>
              <a:spcAft>
                <a:spcPts val="1000"/>
              </a:spcAft>
              <a:defRPr sz="1600" b="0">
                <a:solidFill>
                  <a:srgbClr val="0F172A"/>
                </a:solidFill>
                <a:latin typeface="Segoe UI"/>
              </a:defRPr>
            </a:pPr>
            <a:r>
              <a:rPr sz="1600" b="0">
                <a:solidFill>
                  <a:srgbClr val="0F172A"/>
                </a:solidFill>
                <a:latin typeface="Segoe UI"/>
              </a:rPr>
              <a:t>• Pasting</a:t>
            </a:r>
          </a:p>
          <a:p>
            <a:pPr>
              <a:spcAft>
                <a:spcPts val="1000"/>
              </a:spcAft>
              <a:defRPr sz="1600" b="0">
                <a:solidFill>
                  <a:srgbClr val="0F172A"/>
                </a:solidFill>
                <a:latin typeface="Segoe UI"/>
              </a:defRPr>
            </a:pPr>
            <a:r>
              <a:rPr sz="1600" b="0">
                <a:solidFill>
                  <a:srgbClr val="0F172A"/>
                </a:solidFill>
                <a:latin typeface="Segoe UI"/>
              </a:rPr>
              <a:t>• BaggingClassifier API</a:t>
            </a:r>
          </a:p>
          <a:p>
            <a:pPr>
              <a:spcAft>
                <a:spcPts val="1000"/>
              </a:spcAft>
              <a:defRPr sz="1600" b="0">
                <a:solidFill>
                  <a:srgbClr val="0F172A"/>
                </a:solidFill>
                <a:latin typeface="Segoe UI"/>
              </a:defRPr>
            </a:pPr>
            <a:r>
              <a:rPr sz="1600" b="0">
                <a:solidFill>
                  <a:srgbClr val="0F172A"/>
                </a:solidFill>
                <a:latin typeface="Segoe UI"/>
              </a:rPr>
              <a:t>• OOB evaluation</a:t>
            </a:r>
          </a:p>
          <a:p>
            <a:pPr>
              <a:spcAft>
                <a:spcPts val="1000"/>
              </a:spcAft>
              <a:defRPr sz="1600" b="0">
                <a:solidFill>
                  <a:srgbClr val="0F172A"/>
                </a:solidFill>
                <a:latin typeface="Segoe UI"/>
              </a:defRPr>
            </a:pPr>
            <a:r>
              <a:rPr sz="1600" b="0">
                <a:solidFill>
                  <a:srgbClr val="0F172A"/>
                </a:solidFill>
                <a:latin typeface="Segoe UI"/>
              </a:rPr>
              <a:t>• Random patches</a:t>
            </a:r>
          </a:p>
          <a:p>
            <a:pPr>
              <a:spcAft>
                <a:spcPts val="1000"/>
              </a:spcAft>
              <a:defRPr sz="1600" b="0">
                <a:solidFill>
                  <a:srgbClr val="0F172A"/>
                </a:solidFill>
                <a:latin typeface="Segoe UI"/>
              </a:defRPr>
            </a:pPr>
            <a:r>
              <a:rPr sz="1600" b="0">
                <a:solidFill>
                  <a:srgbClr val="0F172A"/>
                </a:solidFill>
                <a:latin typeface="Segoe UI"/>
              </a:rPr>
              <a:t>• Random subspaces</a:t>
            </a:r>
          </a:p>
          <a:p>
            <a:pPr>
              <a:spcAft>
                <a:spcPts val="1000"/>
              </a:spcAft>
              <a:defRPr sz="1600" b="0">
                <a:solidFill>
                  <a:srgbClr val="0F172A"/>
                </a:solidFill>
                <a:latin typeface="Segoe UI"/>
              </a:defRPr>
            </a:pPr>
            <a:r>
              <a:rPr sz="1600" b="0">
                <a:solidFill>
                  <a:srgbClr val="0F172A"/>
                </a:solidFill>
                <a:latin typeface="Segoe UI"/>
              </a:rPr>
              <a:t>• Paralelización con n_jobs=-1</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084 — Bagging y pasting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make_moons, load_digits</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sklearn.tree import DecisionTreeClassifier</a:t>
            </a:r>
          </a:p>
          <a:p>
            <a:pPr>
              <a:defRPr sz="1200" b="0">
                <a:solidFill>
                  <a:srgbClr val="F8FAFC"/>
                </a:solidFill>
                <a:latin typeface="Courier New"/>
              </a:defRPr>
            </a:pPr>
            <a:r>
              <a:rPr sz="1200" b="0">
                <a:solidFill>
                  <a:srgbClr val="F8FAFC"/>
                </a:solidFill>
                <a:latin typeface="Courier New"/>
              </a:rPr>
              <a:t>from sklearn.ensemble import BaggingClassifier</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make_moons(n_samples=500, noise=0.30, random_state=42)</a:t>
            </a:r>
          </a:p>
          <a:p>
            <a:pPr>
              <a:defRPr sz="1200" b="0">
                <a:solidFill>
                  <a:srgbClr val="F8FAFC"/>
                </a:solidFill>
                <a:latin typeface="Courier New"/>
              </a:defRPr>
            </a:pPr>
            <a:r>
              <a:rPr sz="1200" b="0">
                <a:solidFill>
                  <a:srgbClr val="F8FAFC"/>
                </a:solidFill>
                <a:latin typeface="Courier New"/>
              </a:rPr>
              <a:t>X_train, X_test, y_train, y_test = train_test_split(</a:t>
            </a:r>
          </a:p>
          <a:p>
            <a:pPr>
              <a:defRPr sz="1200" b="0">
                <a:solidFill>
                  <a:srgbClr val="F8FAFC"/>
                </a:solidFill>
                <a:latin typeface="Courier New"/>
              </a:defRPr>
            </a:pPr>
            <a:r>
              <a:rPr sz="1200" b="0">
                <a:solidFill>
                  <a:srgbClr val="F8FAFC"/>
                </a:solidFill>
                <a:latin typeface="Courier New"/>
              </a:rPr>
              <a:t>    X, y, test_size=0.2, random_state=42, stratify=y)</a:t>
            </a:r>
          </a:p>
          <a:p>
            <a:pPr>
              <a:defRPr sz="1200" b="0">
                <a:solidFill>
                  <a:srgbClr val="F8FAFC"/>
                </a:solidFill>
                <a:latin typeface="Courier New"/>
              </a:defRPr>
            </a:pPr>
            <a:r>
              <a:rPr sz="1200" b="0">
                <a:solidFill>
                  <a:srgbClr val="F8FAFC"/>
                </a:solidFill>
                <a:latin typeface="Courier New"/>
              </a:rPr>
              <a:t>print('train', X_train.shape, 'test', X_test.shape)</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084 — Bagging y pasting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Bagging vs árbol único.</a:t>
            </a:r>
          </a:p>
          <a:p>
            <a:pPr>
              <a:spcAft>
                <a:spcPts val="800"/>
              </a:spcAft>
              <a:defRPr sz="1400" b="0">
                <a:solidFill>
                  <a:srgbClr val="0F172A"/>
                </a:solidFill>
                <a:latin typeface="Segoe UI"/>
              </a:defRPr>
            </a:pPr>
            <a:r>
              <a:rPr sz="1400" b="0">
                <a:solidFill>
                  <a:srgbClr val="0F172A"/>
                </a:solidFill>
                <a:latin typeface="Segoe UI"/>
              </a:rPr>
              <a:t>• Bagging vs pasting.</a:t>
            </a:r>
          </a:p>
          <a:p>
            <a:pPr>
              <a:spcAft>
                <a:spcPts val="800"/>
              </a:spcAft>
              <a:defRPr sz="1400" b="0">
                <a:solidFill>
                  <a:srgbClr val="0F172A"/>
                </a:solidFill>
                <a:latin typeface="Segoe UI"/>
              </a:defRPr>
            </a:pPr>
            <a:r>
              <a:rPr sz="1400" b="0">
                <a:solidFill>
                  <a:srgbClr val="0F172A"/>
                </a:solidFill>
                <a:latin typeface="Segoe UI"/>
              </a:rPr>
              <a:t>• OOB.</a:t>
            </a:r>
          </a:p>
          <a:p>
            <a:pPr>
              <a:spcAft>
                <a:spcPts val="800"/>
              </a:spcAft>
              <a:defRPr sz="1400" b="0">
                <a:solidFill>
                  <a:srgbClr val="0F172A"/>
                </a:solidFill>
                <a:latin typeface="Segoe UI"/>
              </a:defRPr>
            </a:pPr>
            <a:r>
              <a:rPr sz="1400" b="0">
                <a:solidFill>
                  <a:srgbClr val="0F172A"/>
                </a:solidFill>
                <a:latin typeface="Segoe UI"/>
              </a:rPr>
              <a:t>• Curva de n_estimators.</a:t>
            </a:r>
          </a:p>
          <a:p>
            <a:pPr>
              <a:spcAft>
                <a:spcPts val="800"/>
              </a:spcAft>
              <a:defRPr sz="1400" b="0">
                <a:solidFill>
                  <a:srgbClr val="0F172A"/>
                </a:solidFill>
                <a:latin typeface="Segoe UI"/>
              </a:defRPr>
            </a:pPr>
            <a:r>
              <a:rPr sz="1400" b="0">
                <a:solidFill>
                  <a:srgbClr val="0F172A"/>
                </a:solidFill>
                <a:latin typeface="Segoe UI"/>
              </a:rPr>
              <a:t>• Random subspaces.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cargue make_moons(500, noise=0.30), split 80/20; (b) entrene árbol único y BaggingClassifier(n_estimators=500, max_samples=100, oob_score=True, n_jobs=-1); (c) reporte accuracy test de ambos y oob_score_ del bag; (d) grafique las dos fronteras de decisión lado a lado; (e) repita con bootstrap=False (pasting) y compare en 1 párrafo.</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085 — Random Forests y Extra Trees</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085 — Random Forests y Extra Trees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7.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Random Forests y Extra Trees como ensambles de árboles decorrelacionados, diferenciar sus mecanismos de aleatoriedad y elegir hiperparámetros razonables para problemas reales de clasificación y regresión.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por qué un Random Forest reduce varianza respecto a un árbol único, usando los conceptos de bagging y subsampling de features.</a:t>
            </a:r>
          </a:p>
          <a:p>
            <a:pPr>
              <a:spcAft>
                <a:spcPts val="800"/>
              </a:spcAft>
              <a:defRPr sz="1400" b="0">
                <a:solidFill>
                  <a:srgbClr val="0F172A"/>
                </a:solidFill>
                <a:latin typeface="Segoe UI"/>
              </a:defRPr>
            </a:pPr>
            <a:r>
              <a:rPr sz="1400" b="0">
                <a:solidFill>
                  <a:srgbClr val="0F172A"/>
                </a:solidFill>
                <a:latin typeface="Segoe UI"/>
              </a:rPr>
              <a:t>• Diferenciar Random Forest vs Extra Trees (thresholds óptimos vs aleatorios) y argumentar cuándo conviene cada uno.</a:t>
            </a:r>
          </a:p>
          <a:p>
            <a:pPr>
              <a:spcAft>
                <a:spcPts val="800"/>
              </a:spcAft>
              <a:defRPr sz="1400" b="0">
                <a:solidFill>
                  <a:srgbClr val="0F172A"/>
                </a:solidFill>
                <a:latin typeface="Segoe UI"/>
              </a:defRPr>
            </a:pPr>
            <a:r>
              <a:rPr sz="1400" b="0">
                <a:solidFill>
                  <a:srgbClr val="0F172A"/>
                </a:solidFill>
                <a:latin typeface="Segoe UI"/>
              </a:rPr>
              <a:t>• Configurar los hiperparámetros clave (n_estimators, max_features, max_depth, bootstrap, min_samples_leaf) con criterios fundados.</a:t>
            </a:r>
          </a:p>
          <a:p>
            <a:pPr>
              <a:spcAft>
                <a:spcPts val="800"/>
              </a:spcAft>
              <a:defRPr sz="1400" b="0">
                <a:solidFill>
                  <a:srgbClr val="0F172A"/>
                </a:solidFill>
                <a:latin typeface="Segoe UI"/>
              </a:defRPr>
            </a:pPr>
            <a:r>
              <a:rPr sz="1400" b="0">
                <a:solidFill>
                  <a:srgbClr val="0F172A"/>
                </a:solidFill>
                <a:latin typeface="Segoe UI"/>
              </a:rPr>
              <a:t>• Entrenar y comparar RandomForestClassifier y ExtraTreesClassifier de scikit-learn en un dataset tabular, midiendo accuracy y tiempo.</a:t>
            </a:r>
          </a:p>
          <a:p>
            <a:pPr>
              <a:spcAft>
                <a:spcPts val="800"/>
              </a:spcAft>
              <a:defRPr sz="1400" b="0">
                <a:solidFill>
                  <a:srgbClr val="0F172A"/>
                </a:solidFill>
                <a:latin typeface="Segoe UI"/>
              </a:defRPr>
            </a:pPr>
            <a:r>
              <a:rPr sz="1400" b="0">
                <a:solidFill>
                  <a:srgbClr val="0F172A"/>
                </a:solidFill>
                <a:latin typeface="Segoe UI"/>
              </a:rPr>
              <a:t>• Interpretar oob_score_ como estimación honesta del error de generalización sin necesidad de validación cruzada.</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085 — Random Forests y Extra Trees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Repaso de bagging: bootstrap + agregación → reducción de varianza.</a:t>
            </a:r>
          </a:p>
          <a:p>
            <a:pPr>
              <a:spcAft>
                <a:spcPts val="1000"/>
              </a:spcAft>
              <a:defRPr sz="1600" b="0">
                <a:solidFill>
                  <a:srgbClr val="0F172A"/>
                </a:solidFill>
                <a:latin typeface="Segoe UI"/>
              </a:defRPr>
            </a:pPr>
            <a:r>
              <a:rPr sz="1600" b="0">
                <a:solidFill>
                  <a:srgbClr val="0F172A"/>
                </a:solidFill>
                <a:latin typeface="Segoe UI"/>
              </a:rPr>
              <a:t>• Random Forest: bagging de árboles + subsampling de features en cada split.</a:t>
            </a:r>
          </a:p>
          <a:p>
            <a:pPr>
              <a:spcAft>
                <a:spcPts val="1000"/>
              </a:spcAft>
              <a:defRPr sz="1600" b="0">
                <a:solidFill>
                  <a:srgbClr val="0F172A"/>
                </a:solidFill>
                <a:latin typeface="Segoe UI"/>
              </a:defRPr>
            </a:pPr>
            <a:r>
              <a:rPr sz="1600" b="0">
                <a:solidFill>
                  <a:srgbClr val="0F172A"/>
                </a:solidFill>
                <a:latin typeface="Segoe UI"/>
              </a:rPr>
              <a:t>• Extra Trees (Extremely Randomized Trees): thresholds aleatorios en lugar de óptimos.</a:t>
            </a:r>
          </a:p>
          <a:p>
            <a:pPr>
              <a:spcAft>
                <a:spcPts val="1000"/>
              </a:spcAft>
              <a:defRPr sz="1600" b="0">
                <a:solidFill>
                  <a:srgbClr val="0F172A"/>
                </a:solidFill>
                <a:latin typeface="Segoe UI"/>
              </a:defRPr>
            </a:pPr>
            <a:r>
              <a:rPr sz="1600" b="0">
                <a:solidFill>
                  <a:srgbClr val="0F172A"/>
                </a:solidFill>
                <a:latin typeface="Segoe UI"/>
              </a:rPr>
              <a:t>• Hiperparámetros: n_estimators, max_features, max_depth, min_samples_leaf, bootstrap, oob_score.</a:t>
            </a:r>
          </a:p>
          <a:p>
            <a:pPr>
              <a:spcAft>
                <a:spcPts val="1000"/>
              </a:spcAft>
              <a:defRPr sz="1600" b="0">
                <a:solidFill>
                  <a:srgbClr val="0F172A"/>
                </a:solidFill>
                <a:latin typeface="Segoe UI"/>
              </a:defRPr>
            </a:pPr>
            <a:r>
              <a:rPr sz="1600" b="0">
                <a:solidFill>
                  <a:srgbClr val="0F172A"/>
                </a:solidFill>
                <a:latin typeface="Segoe UI"/>
              </a:rPr>
              <a:t>• Out-of-Bag (OOB) score y su uso como reemplazo de CV.</a:t>
            </a:r>
          </a:p>
          <a:p>
            <a:pPr>
              <a:spcAft>
                <a:spcPts val="1000"/>
              </a:spcAft>
              <a:defRPr sz="1600" b="0">
                <a:solidFill>
                  <a:srgbClr val="0F172A"/>
                </a:solidFill>
                <a:latin typeface="Segoe UI"/>
              </a:defRPr>
            </a:pPr>
            <a:r>
              <a:rPr sz="1600" b="0">
                <a:solidFill>
                  <a:srgbClr val="0F172A"/>
                </a:solidFill>
                <a:latin typeface="Segoe UI"/>
              </a:rPr>
              <a:t>• Comparativa empírica: bias, varianza, tiempo de entrenamiento.</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085 — Random Forests y Extra Trees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load_breast_cancer</a:t>
            </a:r>
          </a:p>
          <a:p>
            <a:pPr>
              <a:defRPr sz="1200" b="0">
                <a:solidFill>
                  <a:srgbClr val="F8FAFC"/>
                </a:solidFill>
                <a:latin typeface="Courier New"/>
              </a:defRPr>
            </a:pPr>
            <a:r>
              <a:rPr sz="1200" b="0">
                <a:solidFill>
                  <a:srgbClr val="F8FAFC"/>
                </a:solidFill>
                <a:latin typeface="Courier New"/>
              </a:rPr>
              <a:t>from sklearn.model_selection import train_test_split, cross_val_score</a:t>
            </a:r>
          </a:p>
          <a:p>
            <a:pPr>
              <a:defRPr sz="1200" b="0">
                <a:solidFill>
                  <a:srgbClr val="F8FAFC"/>
                </a:solidFill>
                <a:latin typeface="Courier New"/>
              </a:defRPr>
            </a:pPr>
            <a:r>
              <a:rPr sz="1200" b="0">
                <a:solidFill>
                  <a:srgbClr val="F8FAFC"/>
                </a:solidFill>
                <a:latin typeface="Courier New"/>
              </a:rPr>
              <a:t>from sklearn.tree import DecisionTreeClassifier</a:t>
            </a:r>
          </a:p>
          <a:p>
            <a:pPr>
              <a:defRPr sz="1200" b="0">
                <a:solidFill>
                  <a:srgbClr val="F8FAFC"/>
                </a:solidFill>
                <a:latin typeface="Courier New"/>
              </a:defRPr>
            </a:pPr>
            <a:r>
              <a:rPr sz="1200" b="0">
                <a:solidFill>
                  <a:srgbClr val="F8FAFC"/>
                </a:solidFill>
                <a:latin typeface="Courier New"/>
              </a:rPr>
              <a:t>from sklearn.ensemble import RandomForestClassifier, ExtraTreesClassifier</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load_breast_cancer(return_X_y=True)</a:t>
            </a:r>
          </a:p>
          <a:p>
            <a:pPr>
              <a:defRPr sz="1200" b="0">
                <a:solidFill>
                  <a:srgbClr val="F8FAFC"/>
                </a:solidFill>
                <a:latin typeface="Courier New"/>
              </a:defRPr>
            </a:pPr>
            <a:r>
              <a:rPr sz="1200" b="0">
                <a:solidFill>
                  <a:srgbClr val="F8FAFC"/>
                </a:solidFill>
                <a:latin typeface="Courier New"/>
              </a:rPr>
              <a:t>X_train, X_test, y_train, y_test = train_test_split(</a:t>
            </a:r>
          </a:p>
          <a:p>
            <a:pPr>
              <a:defRPr sz="1200" b="0">
                <a:solidFill>
                  <a:srgbClr val="F8FAFC"/>
                </a:solidFill>
                <a:latin typeface="Courier New"/>
              </a:defRPr>
            </a:pPr>
            <a:r>
              <a:rPr sz="1200" b="0">
                <a:solidFill>
                  <a:srgbClr val="F8FAFC"/>
                </a:solidFill>
                <a:latin typeface="Courier New"/>
              </a:rPr>
              <a:t>    X, y, test_size=0.2, random_state=42, stratify=y)</a:t>
            </a:r>
          </a:p>
          <a:p>
            <a:pPr>
              <a:defRPr sz="1200" b="0">
                <a:solidFill>
                  <a:srgbClr val="F8FAFC"/>
                </a:solidFill>
                <a:latin typeface="Courier New"/>
              </a:defRPr>
            </a:pPr>
            <a:r>
              <a:rPr sz="1200" b="0">
                <a:solidFill>
                  <a:srgbClr val="F8FAFC"/>
                </a:solidFill>
                <a:latin typeface="Courier New"/>
              </a:rPr>
              <a:t>print('train', X_train.shape, 'test', X_test.shape)</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085 — Random Forests y Extra Trees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Baseline: entrená un DecisionTreeClassifier único sobre load_breast_cancer con random_state=42 y reportá accuracy en test (split 80/20).</a:t>
            </a:r>
          </a:p>
          <a:p>
            <a:pPr>
              <a:spcAft>
                <a:spcPts val="800"/>
              </a:spcAft>
              <a:defRPr sz="1400" b="0">
                <a:solidFill>
                  <a:srgbClr val="0F172A"/>
                </a:solidFill>
                <a:latin typeface="Segoe UI"/>
              </a:defRPr>
            </a:pPr>
            <a:r>
              <a:rPr sz="1400" b="0">
                <a:solidFill>
                  <a:srgbClr val="0F172A"/>
                </a:solidFill>
                <a:latin typeface="Segoe UI"/>
              </a:rPr>
              <a:t>• Random Forest: entrená un RandomForestClassifier(n_estimators=200, random_state=42) y compará accuracy y tiempo contra el árbol único.</a:t>
            </a:r>
          </a:p>
          <a:p>
            <a:pPr>
              <a:spcAft>
                <a:spcPts val="800"/>
              </a:spcAft>
              <a:defRPr sz="1400" b="0">
                <a:solidFill>
                  <a:srgbClr val="0F172A"/>
                </a:solidFill>
                <a:latin typeface="Segoe UI"/>
              </a:defRPr>
            </a:pPr>
            <a:r>
              <a:rPr sz="1400" b="0">
                <a:solidFill>
                  <a:srgbClr val="0F172A"/>
                </a:solidFill>
                <a:latin typeface="Segoe UI"/>
              </a:rPr>
              <a:t>• Extra Trees: entrená un ExtraTreesClassifier(n_estimators=200, random_state=42) y compará contra RF en accuracy y tiempo de entrenamiento.</a:t>
            </a:r>
          </a:p>
          <a:p>
            <a:pPr>
              <a:spcAft>
                <a:spcPts val="800"/>
              </a:spcAft>
              <a:defRPr sz="1400" b="0">
                <a:solidFill>
                  <a:srgbClr val="0F172A"/>
                </a:solidFill>
                <a:latin typeface="Segoe UI"/>
              </a:defRPr>
            </a:pPr>
            <a:r>
              <a:rPr sz="1400" b="0">
                <a:solidFill>
                  <a:srgbClr val="0F172A"/>
                </a:solidFill>
                <a:latin typeface="Segoe UI"/>
              </a:rPr>
              <a:t>• OOB: entrená un RF con oob_score=True, bootstrap=True y compará oob_score_ contra el accuracy de test; ¿se parecen?</a:t>
            </a:r>
          </a:p>
          <a:p>
            <a:pPr>
              <a:spcAft>
                <a:spcPts val="800"/>
              </a:spcAft>
              <a:defRPr sz="1400" b="0">
                <a:solidFill>
                  <a:srgbClr val="0F172A"/>
                </a:solidFill>
                <a:latin typeface="Segoe UI"/>
              </a:defRPr>
            </a:pPr>
            <a:r>
              <a:rPr sz="1400" b="0">
                <a:solidFill>
                  <a:srgbClr val="0F172A"/>
                </a:solidFill>
                <a:latin typeface="Segoe UI"/>
              </a:rPr>
              <a:t>• Sensibilidad a max_features: variá max_features en [1, 'sqrt', 'log2', 0.5, 1.0] y graficá accuracy de CV; identificá el óptimo.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Entrená RandomForestRegressor y ExtraTreesRegressor con n_estimators=300, random_state=42.</a:t>
            </a:r>
          </a:p>
          <a:p>
            <a:pPr>
              <a:spcAft>
                <a:spcPts val="800"/>
              </a:spcAft>
              <a:defRPr sz="1500" b="0">
                <a:solidFill>
                  <a:srgbClr val="0F172A"/>
                </a:solidFill>
                <a:latin typeface="Segoe UI"/>
              </a:defRPr>
            </a:pPr>
            <a:r>
              <a:rPr sz="1500" b="0">
                <a:solidFill>
                  <a:srgbClr val="0F172A"/>
                </a:solidFill>
                <a:latin typeface="Segoe UI"/>
              </a:rPr>
              <a:t>• Reportá R² en test (split 80/20) y tiempo de entrenamiento de cada uno.</a:t>
            </a:r>
          </a:p>
          <a:p>
            <a:pPr>
              <a:spcAft>
                <a:spcPts val="800"/>
              </a:spcAft>
              <a:defRPr sz="1500" b="0">
                <a:solidFill>
                  <a:srgbClr val="0F172A"/>
                </a:solidFill>
                <a:latin typeface="Segoe UI"/>
              </a:defRPr>
            </a:pPr>
            <a:r>
              <a:rPr sz="1500" b="0">
                <a:solidFill>
                  <a:srgbClr val="0F172A"/>
                </a:solidFill>
                <a:latin typeface="Segoe UI"/>
              </a:rPr>
              <a:t>• Tuneá max_features con GridSearchCV (cv=3) sobre [0.3, 0.5, 0.7, 1.0] para el mejor de los dos.</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086 — Feature importance</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086 — Feature importance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7 + sklearn permutation_importance docs.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a medir y comunicar qué variables aportan a un modelo basado en árboles, distinguiendo entre Mean Decrease in Impurity (MDI) —el feature_importances_ por default de scikit-learn— y permutation importance, entendiendo los sesgos de cada método. Como complemento, conocer las herramientas modernas de interpretabilidad SHAP y LIME para explicar predicciones individuales.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Calcular feature_importances_ en un RandomForestClassifier / GradientBoostingRegressor y explicar qué mide MDI.</a:t>
            </a:r>
          </a:p>
          <a:p>
            <a:pPr>
              <a:spcAft>
                <a:spcPts val="800"/>
              </a:spcAft>
              <a:defRPr sz="1400" b="0">
                <a:solidFill>
                  <a:srgbClr val="0F172A"/>
                </a:solidFill>
                <a:latin typeface="Segoe UI"/>
              </a:defRPr>
            </a:pPr>
            <a:r>
              <a:rPr sz="1400" b="0">
                <a:solidFill>
                  <a:srgbClr val="0F172A"/>
                </a:solidFill>
                <a:latin typeface="Segoe UI"/>
              </a:rPr>
              <a:t>• Aplicar sklearn.inspection.permutation_importance sobre el set de validación y comparar el ranking con MDI.</a:t>
            </a:r>
          </a:p>
          <a:p>
            <a:pPr>
              <a:spcAft>
                <a:spcPts val="800"/>
              </a:spcAft>
              <a:defRPr sz="1400" b="0">
                <a:solidFill>
                  <a:srgbClr val="0F172A"/>
                </a:solidFill>
                <a:latin typeface="Segoe UI"/>
              </a:defRPr>
            </a:pPr>
            <a:r>
              <a:rPr sz="1400" b="0">
                <a:solidFill>
                  <a:srgbClr val="0F172A"/>
                </a:solidFill>
                <a:latin typeface="Segoe UI"/>
              </a:rPr>
              <a:t>• Identificar los sesgos de MDI (favorece features de alta cardinalidad y continuas) y de permutation (problemas con features correlacionadas).</a:t>
            </a:r>
          </a:p>
          <a:p>
            <a:pPr>
              <a:spcAft>
                <a:spcPts val="800"/>
              </a:spcAft>
              <a:defRPr sz="1400" b="0">
                <a:solidFill>
                  <a:srgbClr val="0F172A"/>
                </a:solidFill>
                <a:latin typeface="Segoe UI"/>
              </a:defRPr>
            </a:pPr>
            <a:r>
              <a:rPr sz="1400" b="0">
                <a:solidFill>
                  <a:srgbClr val="0F172A"/>
                </a:solidFill>
                <a:latin typeface="Segoe UI"/>
              </a:rPr>
              <a:t>• Generar explicaciones locales con shap.TreeExplainer e interpretar summary_plot y waterfall_plot.</a:t>
            </a:r>
          </a:p>
          <a:p>
            <a:pPr>
              <a:spcAft>
                <a:spcPts val="800"/>
              </a:spcAft>
              <a:defRPr sz="1400" b="0">
                <a:solidFill>
                  <a:srgbClr val="0F172A"/>
                </a:solidFill>
                <a:latin typeface="Segoe UI"/>
              </a:defRPr>
            </a:pPr>
            <a:r>
              <a:rPr sz="1400" b="0">
                <a:solidFill>
                  <a:srgbClr val="0F172A"/>
                </a:solidFill>
                <a:latin typeface="Segoe UI"/>
              </a:rPr>
              <a:t>• Decidir cuándo usar MDI, permutation, SHAP o LIME según contexto (auditoría, debugging, comunicación).</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086 — Feature importance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Recordatorio: cómo los árboles eligen splits (impurity / variance reduction).</a:t>
            </a:r>
          </a:p>
          <a:p>
            <a:pPr>
              <a:spcAft>
                <a:spcPts val="1000"/>
              </a:spcAft>
              <a:defRPr sz="1600" b="0">
                <a:solidFill>
                  <a:srgbClr val="0F172A"/>
                </a:solidFill>
                <a:latin typeface="Segoe UI"/>
              </a:defRPr>
            </a:pPr>
            <a:r>
              <a:rPr sz="1600" b="0">
                <a:solidFill>
                  <a:srgbClr val="0F172A"/>
                </a:solidFill>
                <a:latin typeface="Segoe UI"/>
              </a:rPr>
              <a:t>• MDI: suma ponderada de la reducción de impureza por feature, promediada sobre los árboles.</a:t>
            </a:r>
          </a:p>
          <a:p>
            <a:pPr>
              <a:spcAft>
                <a:spcPts val="1000"/>
              </a:spcAft>
              <a:defRPr sz="1600" b="0">
                <a:solidFill>
                  <a:srgbClr val="0F172A"/>
                </a:solidFill>
                <a:latin typeface="Segoe UI"/>
              </a:defRPr>
            </a:pPr>
            <a:r>
              <a:rPr sz="1600" b="0">
                <a:solidFill>
                  <a:srgbClr val="0F172A"/>
                </a:solidFill>
                <a:latin typeface="Segoe UI"/>
              </a:rPr>
              <a:t>• Permutation importance: caída del score al permutar aleatoriamente los valores de una feature.</a:t>
            </a:r>
          </a:p>
          <a:p>
            <a:pPr>
              <a:spcAft>
                <a:spcPts val="1000"/>
              </a:spcAft>
              <a:defRPr sz="1600" b="0">
                <a:solidFill>
                  <a:srgbClr val="0F172A"/>
                </a:solidFill>
                <a:latin typeface="Segoe UI"/>
              </a:defRPr>
            </a:pPr>
            <a:r>
              <a:rPr sz="1600" b="0">
                <a:solidFill>
                  <a:srgbClr val="0F172A"/>
                </a:solidFill>
                <a:latin typeface="Segoe UI"/>
              </a:rPr>
              <a:t>• Sesgos: cardinalidad alta infla MDI; correlación infla/desinfla permutation.</a:t>
            </a:r>
          </a:p>
          <a:p>
            <a:pPr>
              <a:spcAft>
                <a:spcPts val="1000"/>
              </a:spcAft>
              <a:defRPr sz="1600" b="0">
                <a:solidFill>
                  <a:srgbClr val="0F172A"/>
                </a:solidFill>
                <a:latin typeface="Segoe UI"/>
              </a:defRPr>
            </a:pPr>
            <a:r>
              <a:rPr sz="1600" b="0">
                <a:solidFill>
                  <a:srgbClr val="0F172A"/>
                </a:solidFill>
                <a:latin typeface="Segoe UI"/>
              </a:rPr>
              <a:t>• MDI se calcula sobre train (riesgo de overfitting); permutation se calcula sobre test/valid.</a:t>
            </a:r>
          </a:p>
          <a:p>
            <a:pPr>
              <a:spcAft>
                <a:spcPts val="1000"/>
              </a:spcAft>
              <a:defRPr sz="1600" b="0">
                <a:solidFill>
                  <a:srgbClr val="0F172A"/>
                </a:solidFill>
                <a:latin typeface="Segoe UI"/>
              </a:defRPr>
            </a:pPr>
            <a:r>
              <a:rPr sz="1600" b="0">
                <a:solidFill>
                  <a:srgbClr val="0F172A"/>
                </a:solidFill>
                <a:latin typeface="Segoe UI"/>
              </a:rPr>
              <a:t>• Interpretabilidad global vs local.</a:t>
            </a:r>
          </a:p>
          <a:p>
            <a:pPr>
              <a:spcAft>
                <a:spcPts val="1000"/>
              </a:spcAft>
              <a:defRPr sz="1600" b="0">
                <a:solidFill>
                  <a:srgbClr val="0F172A"/>
                </a:solidFill>
                <a:latin typeface="Segoe UI"/>
              </a:defRPr>
            </a:pPr>
            <a:r>
              <a:rPr sz="1600" b="0">
                <a:solidFill>
                  <a:srgbClr val="0F172A"/>
                </a:solidFill>
                <a:latin typeface="Segoe UI"/>
              </a:rPr>
              <a:t>• Complemento moderno: SHAP, LIME, PDP, ICE.</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086 — Feature importance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load_breast_cancer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from sklearn.inspection import permutation_importance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load_breast_cancer()</a:t>
            </a:r>
          </a:p>
          <a:p>
            <a:pPr>
              <a:defRPr sz="1200" b="0">
                <a:solidFill>
                  <a:srgbClr val="F8FAFC"/>
                </a:solidFill>
                <a:latin typeface="Courier New"/>
              </a:defRPr>
            </a:pPr>
            <a:r>
              <a:rPr sz="1200" b="0">
                <a:solidFill>
                  <a:srgbClr val="F8FAFC"/>
                </a:solidFill>
                <a:latin typeface="Courier New"/>
              </a:rPr>
              <a:t>X = pd.DataFrame(data.data, columns=data.feature_names)</a:t>
            </a:r>
          </a:p>
          <a:p>
            <a:pPr>
              <a:defRPr sz="1200" b="0">
                <a:solidFill>
                  <a:srgbClr val="F8FAFC"/>
                </a:solidFill>
                <a:latin typeface="Courier New"/>
              </a:defRPr>
            </a:pPr>
            <a:r>
              <a:rPr sz="1200" b="0">
                <a:solidFill>
                  <a:srgbClr val="F8FAFC"/>
                </a:solidFill>
                <a:latin typeface="Courier New"/>
              </a:rPr>
              <a:t>y = data.target</a:t>
            </a:r>
          </a:p>
          <a:p>
            <a:pPr>
              <a:defRPr sz="1200" b="0">
                <a:solidFill>
                  <a:srgbClr val="F8FAFC"/>
                </a:solidFill>
                <a:latin typeface="Courier New"/>
              </a:defRPr>
            </a:pPr>
            <a:r>
              <a:rPr sz="1200" b="0">
                <a:solidFill>
                  <a:srgbClr val="F8FAFC"/>
                </a:solidFill>
                <a:latin typeface="Courier New"/>
              </a:rPr>
              <a:t>X_train, X_test, y_train, y_test = train_test_split(</a:t>
            </a:r>
          </a:p>
          <a:p>
            <a:pPr>
              <a:defRPr sz="1200" b="0">
                <a:solidFill>
                  <a:srgbClr val="F8FAFC"/>
                </a:solidFill>
                <a:latin typeface="Courier New"/>
              </a:defRPr>
            </a:pPr>
            <a:r>
              <a:rPr sz="1200" b="0">
                <a:solidFill>
                  <a:srgbClr val="F8FAFC"/>
                </a:solidFill>
                <a:latin typeface="Courier New"/>
              </a:rPr>
              <a:t>    X, y, test_size=0.3, random_state=42, stratify=y)</a:t>
            </a:r>
          </a:p>
          <a:p>
            <a:pPr>
              <a:defRPr sz="1200" b="0">
                <a:solidFill>
                  <a:srgbClr val="F8FAFC"/>
                </a:solidFill>
                <a:latin typeface="Courier New"/>
              </a:defRPr>
            </a:pPr>
            <a:r>
              <a:rPr sz="1200" b="0">
                <a:solidFill>
                  <a:srgbClr val="F8FAFC"/>
                </a:solidFill>
                <a:latin typeface="Courier New"/>
              </a:rPr>
              <a:t>print('train', X_train.shape, 'test', X_test.shape)</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086 — Feature importance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Entrená un RandomForestRegressor sobre California Housing.</a:t>
            </a:r>
          </a:p>
          <a:p>
            <a:pPr>
              <a:spcAft>
                <a:spcPts val="800"/>
              </a:spcAft>
              <a:defRPr sz="1400" b="0">
                <a:solidFill>
                  <a:srgbClr val="0F172A"/>
                </a:solidFill>
                <a:latin typeface="Segoe UI"/>
              </a:defRPr>
            </a:pPr>
            <a:r>
              <a:rPr sz="1400" b="0">
                <a:solidFill>
                  <a:srgbClr val="0F172A"/>
                </a:solidFill>
                <a:latin typeface="Segoe UI"/>
              </a:rPr>
              <a:t>• Calculá permutation_importance sobre el set de test con n_repeats=10.</a:t>
            </a:r>
          </a:p>
          <a:p>
            <a:pPr>
              <a:spcAft>
                <a:spcPts val="800"/>
              </a:spcAft>
              <a:defRPr sz="1400" b="0">
                <a:solidFill>
                  <a:srgbClr val="0F172A"/>
                </a:solidFill>
                <a:latin typeface="Segoe UI"/>
              </a:defRPr>
            </a:pPr>
            <a:r>
              <a:rPr sz="1400" b="0">
                <a:solidFill>
                  <a:srgbClr val="0F172A"/>
                </a:solidFill>
                <a:latin typeface="Segoe UI"/>
              </a:rPr>
              <a:t>• Agregá una columna random_id = np.arange(len(X)) y reentrená.</a:t>
            </a:r>
          </a:p>
          <a:p>
            <a:pPr>
              <a:spcAft>
                <a:spcPts val="800"/>
              </a:spcAft>
              <a:defRPr sz="1400" b="0">
                <a:solidFill>
                  <a:srgbClr val="0F172A"/>
                </a:solidFill>
                <a:latin typeface="Segoe UI"/>
              </a:defRPr>
            </a:pPr>
            <a:r>
              <a:rPr sz="1400" b="0">
                <a:solidFill>
                  <a:srgbClr val="0F172A"/>
                </a:solidFill>
                <a:latin typeface="Segoe UI"/>
              </a:rPr>
              <a:t>• Generá shap.summary_plot con TreeExplainer y explicá la diferencia entre el plot tipo beeswarm (impacto + dirección) y un bar plot de MDI.</a:t>
            </a:r>
          </a:p>
          <a:p>
            <a:pPr>
              <a:spcAft>
                <a:spcPts val="800"/>
              </a:spcAft>
              <a:defRPr sz="1400" b="0">
                <a:solidFill>
                  <a:srgbClr val="0F172A"/>
                </a:solidFill>
                <a:latin typeface="Segoe UI"/>
              </a:defRPr>
            </a:pPr>
            <a:r>
              <a:rPr sz="1400" b="0">
                <a:solidFill>
                  <a:srgbClr val="0F172A"/>
                </a:solidFill>
                <a:latin typeface="Segoe UI"/>
              </a:rPr>
              <a:t>• Elegí una instancia mal clasificada (o con error grande en regresión) y explicala con shap.waterfall_plot.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Reporte el top-5 de features según MDI y según permutation (sobre test).</a:t>
            </a:r>
          </a:p>
          <a:p>
            <a:pPr>
              <a:spcAft>
                <a:spcPts val="800"/>
              </a:spcAft>
              <a:defRPr sz="1500" b="0">
                <a:solidFill>
                  <a:srgbClr val="0F172A"/>
                </a:solidFill>
                <a:latin typeface="Segoe UI"/>
              </a:defRPr>
            </a:pPr>
            <a:r>
              <a:rPr sz="1500" b="0">
                <a:solidFill>
                  <a:srgbClr val="0F172A"/>
                </a:solidFill>
                <a:latin typeface="Segoe UI"/>
              </a:rPr>
              <a:t>• Genere shap.summary_plot y guarde el PNG.</a:t>
            </a:r>
          </a:p>
          <a:p>
            <a:pPr>
              <a:spcAft>
                <a:spcPts val="800"/>
              </a:spcAft>
              <a:defRPr sz="1500" b="0">
                <a:solidFill>
                  <a:srgbClr val="0F172A"/>
                </a:solidFill>
                <a:latin typeface="Segoe UI"/>
              </a:defRPr>
            </a:pPr>
            <a:r>
              <a:rPr sz="1500" b="0">
                <a:solidFill>
                  <a:srgbClr val="0F172A"/>
                </a:solidFill>
                <a:latin typeface="Segoe UI"/>
              </a:rPr>
              <a:t>• Explique con SHAP una predicción correcta y una incorrecta (waterfall_plot).</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087 — SHAP en profundidad: TreeExplainer, KernelExplainer, DeepExplainer</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087 — SHAP en profundidad: TreeExplainer, KernelExplainer, DeepExplainer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Lundberg &amp; Lee (2017) + shap docs.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SHAP (SHapley Additive exPlanations) en profundidad: teoría de Shapley values (teoría de juegos cooperativos), TreeExplainer (rápido y exacto para árboles), KernelExplainer (model-agnostic, lento), DeepExplainer (para NN), y los plots clave: summary_plot, waterfall_plot, force_plot, dependence_plot, decision_plot.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Shapley value intuitivamente: contribución marginal promedio sobre todos los órdenes de inclusión.</a:t>
            </a:r>
          </a:p>
          <a:p>
            <a:pPr>
              <a:spcAft>
                <a:spcPts val="800"/>
              </a:spcAft>
              <a:defRPr sz="1400" b="0">
                <a:solidFill>
                  <a:srgbClr val="0F172A"/>
                </a:solidFill>
                <a:latin typeface="Segoe UI"/>
              </a:defRPr>
            </a:pPr>
            <a:r>
              <a:rPr sz="1400" b="0">
                <a:solidFill>
                  <a:srgbClr val="0F172A"/>
                </a:solidFill>
                <a:latin typeface="Segoe UI"/>
              </a:rPr>
              <a:t>• Aplicar TreeExplainer en XGBoost/LightGBM/RF (segundos para millones de samples).</a:t>
            </a:r>
          </a:p>
          <a:p>
            <a:pPr>
              <a:spcAft>
                <a:spcPts val="800"/>
              </a:spcAft>
              <a:defRPr sz="1400" b="0">
                <a:solidFill>
                  <a:srgbClr val="0F172A"/>
                </a:solidFill>
                <a:latin typeface="Segoe UI"/>
              </a:defRPr>
            </a:pPr>
            <a:r>
              <a:rPr sz="1400" b="0">
                <a:solidFill>
                  <a:srgbClr val="0F172A"/>
                </a:solidFill>
                <a:latin typeface="Segoe UI"/>
              </a:rPr>
              <a:t>• Generar e interpretar los 5 plots SHAP principales.</a:t>
            </a:r>
          </a:p>
          <a:p>
            <a:pPr>
              <a:spcAft>
                <a:spcPts val="800"/>
              </a:spcAft>
              <a:defRPr sz="1400" b="0">
                <a:solidFill>
                  <a:srgbClr val="0F172A"/>
                </a:solidFill>
                <a:latin typeface="Segoe UI"/>
              </a:defRPr>
            </a:pPr>
            <a:r>
              <a:rPr sz="1400" b="0">
                <a:solidFill>
                  <a:srgbClr val="0F172A"/>
                </a:solidFill>
                <a:latin typeface="Segoe UI"/>
              </a:rPr>
              <a:t>• Diferenciar explicación global (summary_plot beeswarm) de local (waterfall de una predicción).</a:t>
            </a:r>
          </a:p>
          <a:p>
            <a:pPr>
              <a:spcAft>
                <a:spcPts val="800"/>
              </a:spcAft>
              <a:defRPr sz="1400" b="0">
                <a:solidFill>
                  <a:srgbClr val="0F172A"/>
                </a:solidFill>
                <a:latin typeface="Segoe UI"/>
              </a:defRPr>
            </a:pPr>
            <a:r>
              <a:rPr sz="1400" b="0">
                <a:solidFill>
                  <a:srgbClr val="0F172A"/>
                </a:solidFill>
                <a:latin typeface="Segoe UI"/>
              </a:rPr>
              <a:t>• Reconocer las limitaciones: SHAP asume cierta forma de "feature attribution" pero no es causal.</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087 — SHAP en profundidad: TreeExplainer, KernelExplainer, DeepExplainer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Shapley value: φ_i = Σ |S|!(M-|S|-1)! / M! · [v(S ∪ {i}) - v(S)].</a:t>
            </a:r>
          </a:p>
          <a:p>
            <a:pPr>
              <a:spcAft>
                <a:spcPts val="1000"/>
              </a:spcAft>
              <a:defRPr sz="1600" b="0">
                <a:solidFill>
                  <a:srgbClr val="0F172A"/>
                </a:solidFill>
                <a:latin typeface="Segoe UI"/>
              </a:defRPr>
            </a:pPr>
            <a:r>
              <a:rPr sz="1600" b="0">
                <a:solidFill>
                  <a:srgbClr val="0F172A"/>
                </a:solidFill>
                <a:latin typeface="Segoe UI"/>
              </a:rPr>
              <a:t>• 4 propiedades únicas: efficiency, symmetry, dummy, additivity.</a:t>
            </a:r>
          </a:p>
          <a:p>
            <a:pPr>
              <a:spcAft>
                <a:spcPts val="1000"/>
              </a:spcAft>
              <a:defRPr sz="1600" b="0">
                <a:solidFill>
                  <a:srgbClr val="0F172A"/>
                </a:solidFill>
                <a:latin typeface="Segoe UI"/>
              </a:defRPr>
            </a:pPr>
            <a:r>
              <a:rPr sz="1600" b="0">
                <a:solidFill>
                  <a:srgbClr val="0F172A"/>
                </a:solidFill>
                <a:latin typeface="Segoe UI"/>
              </a:rPr>
              <a:t>• TreeExplainer: exacto para tree-based, O(TLD²).</a:t>
            </a:r>
          </a:p>
          <a:p>
            <a:pPr>
              <a:spcAft>
                <a:spcPts val="1000"/>
              </a:spcAft>
              <a:defRPr sz="1600" b="0">
                <a:solidFill>
                  <a:srgbClr val="0F172A"/>
                </a:solidFill>
                <a:latin typeface="Segoe UI"/>
              </a:defRPr>
            </a:pPr>
            <a:r>
              <a:rPr sz="1600" b="0">
                <a:solidFill>
                  <a:srgbClr val="0F172A"/>
                </a:solidFill>
                <a:latin typeface="Segoe UI"/>
              </a:rPr>
              <a:t>• KernelExplainer: LIME-style con kernel especial → SHAP values aproximados.</a:t>
            </a:r>
          </a:p>
          <a:p>
            <a:pPr>
              <a:spcAft>
                <a:spcPts val="1000"/>
              </a:spcAft>
              <a:defRPr sz="1600" b="0">
                <a:solidFill>
                  <a:srgbClr val="0F172A"/>
                </a:solidFill>
                <a:latin typeface="Segoe UI"/>
              </a:defRPr>
            </a:pPr>
            <a:r>
              <a:rPr sz="1600" b="0">
                <a:solidFill>
                  <a:srgbClr val="0F172A"/>
                </a:solidFill>
                <a:latin typeface="Segoe UI"/>
              </a:rPr>
              <a:t>• DeepExplainer: para Keras/PyTorch.</a:t>
            </a:r>
          </a:p>
          <a:p>
            <a:pPr>
              <a:spcAft>
                <a:spcPts val="1000"/>
              </a:spcAft>
              <a:defRPr sz="1600" b="0">
                <a:solidFill>
                  <a:srgbClr val="0F172A"/>
                </a:solidFill>
                <a:latin typeface="Segoe UI"/>
              </a:defRPr>
            </a:pPr>
            <a:r>
              <a:rPr sz="1600" b="0">
                <a:solidFill>
                  <a:srgbClr val="0F172A"/>
                </a:solidFill>
                <a:latin typeface="Segoe UI"/>
              </a:rPr>
              <a:t>• Permutation explainer: alternativa moderna sin necesidad de árbol/red.</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087 — SHAP en profundidad: TreeExplainer, KernelExplainer, DeepExplainer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TreeExplainer sobre GBM (rápido y exacto) + DeepExplainer/KernelExplainer sobre MLP. Instalar: pip install shap.</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sklearn.ensemble import GradientBoostingClassifier</a:t>
            </a:r>
          </a:p>
          <a:p>
            <a:pPr>
              <a:defRPr sz="1200" b="0">
                <a:solidFill>
                  <a:srgbClr val="F8FAFC"/>
                </a:solidFill>
                <a:latin typeface="Courier New"/>
              </a:defRPr>
            </a:pPr>
            <a:r>
              <a:rPr sz="1200" b="0">
                <a:solidFill>
                  <a:srgbClr val="F8FAFC"/>
                </a:solidFill>
                <a:latin typeface="Courier New"/>
              </a:rPr>
              <a:t>from sklearn.neural_network import MLPClassifier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shap</a:t>
            </a:r>
          </a:p>
          <a:p>
            <a:pPr>
              <a:defRPr sz="1200" b="0">
                <a:solidFill>
                  <a:srgbClr val="F8FAFC"/>
                </a:solidFill>
                <a:latin typeface="Courier New"/>
              </a:defRPr>
            </a:pPr>
            <a:r>
              <a:rPr sz="1200" b="0">
                <a:solidFill>
                  <a:srgbClr val="F8FAFC"/>
                </a:solidFill>
                <a:latin typeface="Courier New"/>
              </a:rPr>
              <a:t>    SHAP_OK = True</a:t>
            </a:r>
          </a:p>
          <a:p>
            <a:pPr>
              <a:defRPr sz="1200" b="0">
                <a:solidFill>
                  <a:srgbClr val="F8FAFC"/>
                </a:solidFill>
                <a:latin typeface="Courier New"/>
              </a:defRPr>
            </a:pPr>
            <a:r>
              <a:rPr sz="1200" b="0">
                <a:solidFill>
                  <a:srgbClr val="F8FAFC"/>
                </a:solidFill>
                <a:latin typeface="Courier New"/>
              </a:rPr>
              <a:t>except ImportError:</a:t>
            </a:r>
          </a:p>
          <a:p>
            <a:pPr>
              <a:defRPr sz="1200" b="0">
                <a:solidFill>
                  <a:srgbClr val="F8FAFC"/>
                </a:solidFill>
                <a:latin typeface="Courier New"/>
              </a:defRPr>
            </a:pPr>
            <a:r>
              <a:rPr sz="1200" b="0">
                <a:solidFill>
                  <a:srgbClr val="F8FAFC"/>
                </a:solidFill>
                <a:latin typeface="Courier New"/>
              </a:rPr>
              <a:t>    print('instalar: pip install shap')</a:t>
            </a:r>
          </a:p>
          <a:p>
            <a:pPr>
              <a:defRPr sz="1200" b="0">
                <a:solidFill>
                  <a:srgbClr val="F8FAFC"/>
                </a:solidFill>
                <a:latin typeface="Courier New"/>
              </a:defRPr>
            </a:pPr>
            <a:r>
              <a:rPr sz="1200" b="0">
                <a:solidFill>
                  <a:srgbClr val="F8FAFC"/>
                </a:solidFill>
                <a:latin typeface="Courier New"/>
              </a:rPr>
              <a:t>    SHAP_OK = False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087 — SHAP en profundidad: TreeExplainer, KernelExplainer, DeepExplainer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TreeExplainer: XGBoost en California Housing → explainer = shap.TreeExplainer(model); shap_values = explainer(X_test).</a:t>
            </a:r>
          </a:p>
          <a:p>
            <a:pPr>
              <a:spcAft>
                <a:spcPts val="800"/>
              </a:spcAft>
              <a:defRPr sz="1400" b="0">
                <a:solidFill>
                  <a:srgbClr val="0F172A"/>
                </a:solidFill>
                <a:latin typeface="Segoe UI"/>
              </a:defRPr>
            </a:pPr>
            <a:r>
              <a:rPr sz="1400" b="0">
                <a:solidFill>
                  <a:srgbClr val="0F172A"/>
                </a:solidFill>
                <a:latin typeface="Segoe UI"/>
              </a:rPr>
              <a:t>• Summary plot: shap.summary_plot(shap_values, X_test).</a:t>
            </a:r>
          </a:p>
          <a:p>
            <a:pPr>
              <a:spcAft>
                <a:spcPts val="800"/>
              </a:spcAft>
              <a:defRPr sz="1400" b="0">
                <a:solidFill>
                  <a:srgbClr val="0F172A"/>
                </a:solidFill>
                <a:latin typeface="Segoe UI"/>
              </a:defRPr>
            </a:pPr>
            <a:r>
              <a:rPr sz="1400" b="0">
                <a:solidFill>
                  <a:srgbClr val="0F172A"/>
                </a:solidFill>
                <a:latin typeface="Segoe UI"/>
              </a:rPr>
              <a:t>• Waterfall: elegir 1 muestra concreta → shap.waterfall_plot(shap_values[0]).</a:t>
            </a:r>
          </a:p>
          <a:p>
            <a:pPr>
              <a:spcAft>
                <a:spcPts val="800"/>
              </a:spcAft>
              <a:defRPr sz="1400" b="0">
                <a:solidFill>
                  <a:srgbClr val="0F172A"/>
                </a:solidFill>
                <a:latin typeface="Segoe UI"/>
              </a:defRPr>
            </a:pPr>
            <a:r>
              <a:rPr sz="1400" b="0">
                <a:solidFill>
                  <a:srgbClr val="0F172A"/>
                </a:solidFill>
                <a:latin typeface="Segoe UI"/>
              </a:rPr>
              <a:t>• Dependence plot: shap.dependence_plot('MedInc', shap_values.values, X_test).</a:t>
            </a:r>
          </a:p>
          <a:p>
            <a:pPr>
              <a:spcAft>
                <a:spcPts val="800"/>
              </a:spcAft>
              <a:defRPr sz="1400" b="0">
                <a:solidFill>
                  <a:srgbClr val="0F172A"/>
                </a:solidFill>
                <a:latin typeface="Segoe UI"/>
              </a:defRPr>
            </a:pPr>
            <a:r>
              <a:rPr sz="1400" b="0">
                <a:solidFill>
                  <a:srgbClr val="0F172A"/>
                </a:solidFill>
                <a:latin typeface="Segoe UI"/>
              </a:rPr>
              <a:t>• Interaction values: shap_interaction = explainer.shap_interaction_values(X_test).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Modelo entrenado.</a:t>
            </a:r>
          </a:p>
          <a:p>
            <a:pPr>
              <a:spcAft>
                <a:spcPts val="800"/>
              </a:spcAft>
              <a:defRPr sz="1400" b="0">
                <a:solidFill>
                  <a:srgbClr val="0F172A"/>
                </a:solidFill>
                <a:latin typeface="Segoe UI"/>
              </a:defRPr>
            </a:pPr>
            <a:r>
              <a:rPr sz="1400" b="0">
                <a:solidFill>
                  <a:srgbClr val="0F172A"/>
                </a:solidFill>
                <a:latin typeface="Segoe UI"/>
              </a:rPr>
              <a:t>• SHAP values con TreeExplainer.</a:t>
            </a:r>
          </a:p>
          <a:p>
            <a:pPr>
              <a:spcAft>
                <a:spcPts val="800"/>
              </a:spcAft>
              <a:defRPr sz="1400" b="0">
                <a:solidFill>
                  <a:srgbClr val="0F172A"/>
                </a:solidFill>
                <a:latin typeface="Segoe UI"/>
              </a:defRPr>
            </a:pPr>
            <a:r>
              <a:rPr sz="1400" b="0">
                <a:solidFill>
                  <a:srgbClr val="0F172A"/>
                </a:solidFill>
                <a:latin typeface="Segoe UI"/>
              </a:rPr>
              <a:t>• Summary plot + force_plot de 3 predicciones (alta, media, baja).</a:t>
            </a:r>
          </a:p>
          <a:p>
            <a:pPr>
              <a:spcAft>
                <a:spcPts val="800"/>
              </a:spcAft>
              <a:defRPr sz="1400" b="0">
                <a:solidFill>
                  <a:srgbClr val="0F172A"/>
                </a:solidFill>
                <a:latin typeface="Segoe UI"/>
              </a:defRPr>
            </a:pPr>
            <a:r>
              <a:rPr sz="1400" b="0">
                <a:solidFill>
                  <a:srgbClr val="0F172A"/>
                </a:solidFill>
                <a:latin typeface="Segoe UI"/>
              </a:rPr>
              <a:t>• Dependence plots para top-3 features.</a:t>
            </a:r>
          </a:p>
          <a:p>
            <a:pPr>
              <a:spcAft>
                <a:spcPts val="800"/>
              </a:spcAft>
              <a:defRPr sz="1400" b="0">
                <a:solidFill>
                  <a:srgbClr val="0F172A"/>
                </a:solidFill>
                <a:latin typeface="Segoe UI"/>
              </a:defRPr>
            </a:pPr>
            <a:r>
              <a:rPr sz="1400" b="0">
                <a:solidFill>
                  <a:srgbClr val="0F172A"/>
                </a:solidFill>
                <a:latin typeface="Segoe UI"/>
              </a:rPr>
              <a:t>• Reporte de 1 página: insights de qué mueve el precio (en lenguaje no técnico).</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088 — Boosting: AdaBoost y Gradient Boosting</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088 — Boosting: AdaBoost y Gradient Boosting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7.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la idea de boosting como combinación secuencial de aprendices débiles, dominar los dos enfoques clásicos —AdaBoost (reponderar errores) y Gradient Boosting (ajustar al residuo)— y saber tunear learning_rate, n_estimators y aplicar early stopping con staged_predict.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diferencia conceptual entre bagging (paralelo, varianza) y boosting (secuencial, sesgo).</a:t>
            </a:r>
          </a:p>
          <a:p>
            <a:pPr>
              <a:spcAft>
                <a:spcPts val="800"/>
              </a:spcAft>
              <a:defRPr sz="1400" b="0">
                <a:solidFill>
                  <a:srgbClr val="0F172A"/>
                </a:solidFill>
                <a:latin typeface="Segoe UI"/>
              </a:defRPr>
            </a:pPr>
            <a:r>
              <a:rPr sz="1400" b="0">
                <a:solidFill>
                  <a:srgbClr val="0F172A"/>
                </a:solidFill>
                <a:latin typeface="Segoe UI"/>
              </a:rPr>
              <a:t>• Entrenar un AdaBoostClassifier y un GradientBoostingClassifier de scikit-learn, leyendo correctamente sus hiperparámetros.</a:t>
            </a:r>
          </a:p>
          <a:p>
            <a:pPr>
              <a:spcAft>
                <a:spcPts val="800"/>
              </a:spcAft>
              <a:defRPr sz="1400" b="0">
                <a:solidFill>
                  <a:srgbClr val="0F172A"/>
                </a:solidFill>
                <a:latin typeface="Segoe UI"/>
              </a:defRPr>
            </a:pPr>
            <a:r>
              <a:rPr sz="1400" b="0">
                <a:solidFill>
                  <a:srgbClr val="0F172A"/>
                </a:solidFill>
                <a:latin typeface="Segoe UI"/>
              </a:rPr>
              <a:t>• Entender por qué learning_rate y n_estimators se mueven en sentidos opuestos (shrinkage).</a:t>
            </a:r>
          </a:p>
          <a:p>
            <a:pPr>
              <a:spcAft>
                <a:spcPts val="800"/>
              </a:spcAft>
              <a:defRPr sz="1400" b="0">
                <a:solidFill>
                  <a:srgbClr val="0F172A"/>
                </a:solidFill>
                <a:latin typeface="Segoe UI"/>
              </a:defRPr>
            </a:pPr>
            <a:r>
              <a:rPr sz="1400" b="0">
                <a:solidFill>
                  <a:srgbClr val="0F172A"/>
                </a:solidFill>
                <a:latin typeface="Segoe UI"/>
              </a:rPr>
              <a:t>• Implementar early stopping en boosting usando staged_predict sobre un set de validación.</a:t>
            </a:r>
          </a:p>
          <a:p>
            <a:pPr>
              <a:spcAft>
                <a:spcPts val="800"/>
              </a:spcAft>
              <a:defRPr sz="1400" b="0">
                <a:solidFill>
                  <a:srgbClr val="0F172A"/>
                </a:solidFill>
                <a:latin typeface="Segoe UI"/>
              </a:defRPr>
            </a:pPr>
            <a:r>
              <a:rPr sz="1400" b="0">
                <a:solidFill>
                  <a:srgbClr val="0F172A"/>
                </a:solidFill>
                <a:latin typeface="Segoe UI"/>
              </a:rPr>
              <a:t>• Decidir cuándo conviene AdaBoost, cuándo Gradient Boosting clásico y cuándo saltar directo a las librerías de la 079.</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088 — Boosting: AdaBoost y Gradient Boosting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Intuición: muchos clasificadores débiles → uno fuerte.</a:t>
            </a:r>
          </a:p>
          <a:p>
            <a:pPr>
              <a:spcAft>
                <a:spcPts val="1000"/>
              </a:spcAft>
              <a:defRPr sz="1600" b="0">
                <a:solidFill>
                  <a:srgbClr val="0F172A"/>
                </a:solidFill>
                <a:latin typeface="Segoe UI"/>
              </a:defRPr>
            </a:pPr>
            <a:r>
              <a:rPr sz="1600" b="0">
                <a:solidFill>
                  <a:srgbClr val="0F172A"/>
                </a:solidFill>
                <a:latin typeface="Segoe UI"/>
              </a:rPr>
              <a:t>• AdaBoost: peso a las muestras mal clasificadas; SAMME y SAMME.R.</a:t>
            </a:r>
          </a:p>
          <a:p>
            <a:pPr>
              <a:spcAft>
                <a:spcPts val="1000"/>
              </a:spcAft>
              <a:defRPr sz="1600" b="0">
                <a:solidFill>
                  <a:srgbClr val="0F172A"/>
                </a:solidFill>
                <a:latin typeface="Segoe UI"/>
              </a:defRPr>
            </a:pPr>
            <a:r>
              <a:rPr sz="1600" b="0">
                <a:solidFill>
                  <a:srgbClr val="0F172A"/>
                </a:solidFill>
                <a:latin typeface="Segoe UI"/>
              </a:rPr>
              <a:t>• Gradient Boosting: cada árbol ajusta el residuo (gradiente de la loss) del ensemble previo.</a:t>
            </a:r>
          </a:p>
          <a:p>
            <a:pPr>
              <a:spcAft>
                <a:spcPts val="1000"/>
              </a:spcAft>
              <a:defRPr sz="1600" b="0">
                <a:solidFill>
                  <a:srgbClr val="0F172A"/>
                </a:solidFill>
                <a:latin typeface="Segoe UI"/>
              </a:defRPr>
            </a:pPr>
            <a:r>
              <a:rPr sz="1600" b="0">
                <a:solidFill>
                  <a:srgbClr val="0F172A"/>
                </a:solidFill>
                <a:latin typeface="Segoe UI"/>
              </a:rPr>
              <a:t>• Hiperparámetros clave: n_estimators, learning_rate, max_depth, subsample (stochastic gradient boosting).</a:t>
            </a:r>
          </a:p>
          <a:p>
            <a:pPr>
              <a:spcAft>
                <a:spcPts val="1000"/>
              </a:spcAft>
              <a:defRPr sz="1600" b="0">
                <a:solidFill>
                  <a:srgbClr val="0F172A"/>
                </a:solidFill>
                <a:latin typeface="Segoe UI"/>
              </a:defRPr>
            </a:pPr>
            <a:r>
              <a:rPr sz="1600" b="0">
                <a:solidFill>
                  <a:srgbClr val="0F172A"/>
                </a:solidFill>
                <a:latin typeface="Segoe UI"/>
              </a:rPr>
              <a:t>• staged_predict / staged_predict_proba: predicciones intermedias para early stopping.</a:t>
            </a:r>
          </a:p>
          <a:p>
            <a:pPr>
              <a:spcAft>
                <a:spcPts val="1000"/>
              </a:spcAft>
              <a:defRPr sz="1600" b="0">
                <a:solidFill>
                  <a:srgbClr val="0F172A"/>
                </a:solidFill>
                <a:latin typeface="Segoe UI"/>
              </a:defRPr>
            </a:pPr>
            <a:r>
              <a:rPr sz="1600" b="0">
                <a:solidFill>
                  <a:srgbClr val="0F172A"/>
                </a:solidFill>
                <a:latin typeface="Segoe UI"/>
              </a:rPr>
              <a:t>• Curvas de error vs. número de estimadores: detectar el "codo".</a:t>
            </a:r>
          </a:p>
          <a:p>
            <a:pPr>
              <a:spcAft>
                <a:spcPts val="1000"/>
              </a:spcAft>
              <a:defRPr sz="1600" b="0">
                <a:solidFill>
                  <a:srgbClr val="0F172A"/>
                </a:solidFill>
                <a:latin typeface="Segoe UI"/>
              </a:defRPr>
            </a:pPr>
            <a:r>
              <a:rPr sz="1600" b="0">
                <a:solidFill>
                  <a:srgbClr val="0F172A"/>
                </a:solidFill>
                <a:latin typeface="Segoe UI"/>
              </a:rPr>
              <a:t>• Limitaciones: entrenamiento secuencial (no se paraleliza tan bien como bagging).</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088 — Boosting: AdaBoost y Gradient Boosting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make_moons, load_breast_cancer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sklearn.tree import DecisionTreeRegressor</a:t>
            </a:r>
          </a:p>
          <a:p>
            <a:pPr>
              <a:defRPr sz="1200" b="0">
                <a:solidFill>
                  <a:srgbClr val="F8FAFC"/>
                </a:solidFill>
                <a:latin typeface="Courier New"/>
              </a:defRPr>
            </a:pPr>
            <a:r>
              <a:rPr sz="1200" b="0">
                <a:solidFill>
                  <a:srgbClr val="F8FAFC"/>
                </a:solidFill>
                <a:latin typeface="Courier New"/>
              </a:rPr>
              <a:t>from sklearn.ensemble import (AdaBoostClassifier, GradientBoostingClassifier,</a:t>
            </a:r>
          </a:p>
          <a:p>
            <a:pPr>
              <a:defRPr sz="1200" b="0">
                <a:solidFill>
                  <a:srgbClr val="F8FAFC"/>
                </a:solidFill>
                <a:latin typeface="Courier New"/>
              </a:defRPr>
            </a:pPr>
            <a:r>
              <a:rPr sz="1200" b="0">
                <a:solidFill>
                  <a:srgbClr val="F8FAFC"/>
                </a:solidFill>
                <a:latin typeface="Courier New"/>
              </a:rPr>
              <a:t>                              GradientBoostingRegressor)</a:t>
            </a:r>
          </a:p>
          <a:p>
            <a:pPr>
              <a:defRPr sz="1200" b="0">
                <a:solidFill>
                  <a:srgbClr val="F8FAFC"/>
                </a:solidFill>
                <a:latin typeface="Courier New"/>
              </a:defRPr>
            </a:pPr>
            <a:r>
              <a:rPr sz="1200" b="0">
                <a:solidFill>
                  <a:srgbClr val="F8FAFC"/>
                </a:solidFill>
                <a:latin typeface="Courier New"/>
              </a:rPr>
              <a:t>from sklearn.metrics import accuracy_score, log_loss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Xm, ym = make_moons(n_samples=500, noise=0.30, random_state=42)</a:t>
            </a:r>
          </a:p>
          <a:p>
            <a:pPr>
              <a:defRPr sz="1200" b="0">
                <a:solidFill>
                  <a:srgbClr val="F8FAFC"/>
                </a:solidFill>
                <a:latin typeface="Courier New"/>
              </a:defRPr>
            </a:pPr>
            <a:r>
              <a:rPr sz="1200" b="0">
                <a:solidFill>
                  <a:srgbClr val="F8FAFC"/>
                </a:solidFill>
                <a:latin typeface="Courier New"/>
              </a:rPr>
              <a:t>Xm_tr, Xm_te, ym_tr, ym_te = train_test_split(</a:t>
            </a:r>
          </a:p>
          <a:p>
            <a:pPr>
              <a:defRPr sz="1200" b="0">
                <a:solidFill>
                  <a:srgbClr val="F8FAFC"/>
                </a:solidFill>
                <a:latin typeface="Courier New"/>
              </a:defRPr>
            </a:pPr>
            <a:r>
              <a:rPr sz="1200" b="0">
                <a:solidFill>
                  <a:srgbClr val="F8FAFC"/>
                </a:solidFill>
                <a:latin typeface="Courier New"/>
              </a:rPr>
              <a:t>    Xm, ym, test_size=0.2, random_state=42, stratify=ym)</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Xc, yc = load_breast_cancer(return_X_y=True)</a:t>
            </a:r>
          </a:p>
          <a:p>
            <a:pPr>
              <a:defRPr sz="1200" b="0">
                <a:solidFill>
                  <a:srgbClr val="F8FAFC"/>
                </a:solidFill>
                <a:latin typeface="Courier New"/>
              </a:defRPr>
            </a:pPr>
            <a:r>
              <a:rPr sz="1200" b="0">
                <a:solidFill>
                  <a:srgbClr val="F8FAFC"/>
                </a:solidFill>
                <a:latin typeface="Courier New"/>
              </a:rPr>
              <a:t>Xc_tr, Xc_te, yc_tr, yc_te = train_test_split(</a:t>
            </a:r>
          </a:p>
          <a:p>
            <a:pPr>
              <a:defRPr sz="1200" b="0">
                <a:solidFill>
                  <a:srgbClr val="F8FAFC"/>
                </a:solidFill>
                <a:latin typeface="Courier New"/>
              </a:defRPr>
            </a:pPr>
            <a:r>
              <a:rPr sz="1200" b="0">
                <a:solidFill>
                  <a:srgbClr val="F8FAFC"/>
                </a:solidFill>
                <a:latin typeface="Courier New"/>
              </a:rPr>
              <a:t>    Xc, yc, test_size=0.2, random_state=42, stratify=yc)</a:t>
            </a:r>
          </a:p>
          <a:p>
            <a:pPr>
              <a:defRPr sz="1200" b="0">
                <a:solidFill>
                  <a:srgbClr val="F8FAFC"/>
                </a:solidFill>
                <a:latin typeface="Courier New"/>
              </a:defRPr>
            </a:pPr>
            <a:r>
              <a:rPr sz="1200" b="0">
                <a:solidFill>
                  <a:srgbClr val="F8FAFC"/>
                </a:solidFill>
                <a:latin typeface="Courier New"/>
              </a:rPr>
              <a:t>print('moons train', Xm_tr.shape, '| cancer train', Xc_tr.shape)</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088 — Boosting: AdaBoost y Gradient Boosting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AdaBoost desde cero conceptual: entrená un AdaBoostClassifier(n_estimators=200, learning_rate=0.5) sobre make_moons.</a:t>
            </a:r>
          </a:p>
          <a:p>
            <a:pPr>
              <a:spcAft>
                <a:spcPts val="800"/>
              </a:spcAft>
              <a:defRPr sz="1400" b="0">
                <a:solidFill>
                  <a:srgbClr val="0F172A"/>
                </a:solidFill>
                <a:latin typeface="Segoe UI"/>
              </a:defRPr>
            </a:pPr>
            <a:r>
              <a:rPr sz="1400" b="0">
                <a:solidFill>
                  <a:srgbClr val="0F172A"/>
                </a:solidFill>
                <a:latin typeface="Segoe UI"/>
              </a:rPr>
              <a:t>• Gradient Boosting paso a paso: usá GradientBoostingRegressor(max_depth=2, n_estimators=3, learning_rate=1.0) sobre datos sintéticos y = x² + ruido.</a:t>
            </a:r>
          </a:p>
          <a:p>
            <a:pPr>
              <a:spcAft>
                <a:spcPts val="800"/>
              </a:spcAft>
              <a:defRPr sz="1400" b="0">
                <a:solidFill>
                  <a:srgbClr val="0F172A"/>
                </a:solidFill>
                <a:latin typeface="Segoe UI"/>
              </a:defRPr>
            </a:pPr>
            <a:r>
              <a:rPr sz="1400" b="0">
                <a:solidFill>
                  <a:srgbClr val="0F172A"/>
                </a:solidFill>
                <a:latin typeface="Segoe UI"/>
              </a:rPr>
              <a:t>• Trade-off learning_rate ↔ n_estimators: comparé (lr=1.0, n=50) vs.</a:t>
            </a:r>
          </a:p>
          <a:p>
            <a:pPr>
              <a:spcAft>
                <a:spcPts val="800"/>
              </a:spcAft>
              <a:defRPr sz="1400" b="0">
                <a:solidFill>
                  <a:srgbClr val="0F172A"/>
                </a:solidFill>
                <a:latin typeface="Segoe UI"/>
              </a:defRPr>
            </a:pPr>
            <a:r>
              <a:rPr sz="1400" b="0">
                <a:solidFill>
                  <a:srgbClr val="0F172A"/>
                </a:solidFill>
                <a:latin typeface="Segoe UI"/>
              </a:rPr>
              <a:t>• Early stopping con staged_predict: entrené GradientBoostingClassifier(n_estimators=500, learning_rate=0.05) y, usando staged_predict sobre validación, encontrá el n_estimators óptimo.</a:t>
            </a:r>
          </a:p>
          <a:p>
            <a:pPr>
              <a:spcAft>
                <a:spcPts val="800"/>
              </a:spcAft>
              <a:defRPr sz="1400" b="0">
                <a:solidFill>
                  <a:srgbClr val="0F172A"/>
                </a:solidFill>
                <a:latin typeface="Segoe UI"/>
              </a:defRPr>
            </a:pPr>
            <a:r>
              <a:rPr sz="1400" b="0">
                <a:solidFill>
                  <a:srgbClr val="0F172A"/>
                </a:solidFill>
                <a:latin typeface="Segoe UI"/>
              </a:rPr>
              <a:t>• Stochastic Gradient Boosting: agregale subsample=0.5 al modelo de (4).</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Entrené AdaBoostClassifier(n_estimators=200, learning_rate=0.5, random_state=42) y GradientBoostingClassifier(n_estimators=200, learning_rate=0.1, max_depth=3, random_state=42).</a:t>
            </a:r>
          </a:p>
          <a:p>
            <a:pPr>
              <a:spcAft>
                <a:spcPts val="800"/>
              </a:spcAft>
              <a:defRPr sz="1500" b="0">
                <a:solidFill>
                  <a:srgbClr val="0F172A"/>
                </a:solidFill>
                <a:latin typeface="Segoe UI"/>
              </a:defRPr>
            </a:pPr>
            <a:r>
              <a:rPr sz="1500" b="0">
                <a:solidFill>
                  <a:srgbClr val="0F172A"/>
                </a:solidFill>
                <a:latin typeface="Segoe UI"/>
              </a:rPr>
              <a:t>• Para el Gradient Boosting, encontrá el best_n usando staged_predict_proba sobre el set de test y log_loss.</a:t>
            </a:r>
          </a:p>
          <a:p>
            <a:pPr>
              <a:spcAft>
                <a:spcPts val="800"/>
              </a:spcAft>
              <a:defRPr sz="1500" b="0">
                <a:solidFill>
                  <a:srgbClr val="0F172A"/>
                </a:solidFill>
                <a:latin typeface="Segoe UI"/>
              </a:defRPr>
            </a:pPr>
            <a:r>
              <a:rPr sz="1500" b="0">
                <a:solidFill>
                  <a:srgbClr val="0F172A"/>
                </a:solidFill>
                <a:latin typeface="Segoe UI"/>
              </a:rPr>
              <a:t>• Reportá accuracy de los tres modelos (AdaBoost, GB completo, GB con best_n).</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089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089 — XGBoost, LightGBM y CatBoost</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089 — XGBoost, LightGBM y CatBoost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docs XGBoost/LightGBM/CatBoost + Géron, cap. 7.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las tres librerías de gradient boosting moderno que dominan tabular ML —XGBoost, LightGBM y CatBoost—, entender sus diferencias algorítmicas (level-wise vs leaf-wise, manejo de categóricas, regularización) y saber elegir la adecuada según el problema, usando sus APIs sklearn-compatibles con early_stopping_rounds.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Instalar y usar xgboost, lightgbm y catboost con la API sklearn (fit/predict/predict_proba).</a:t>
            </a:r>
          </a:p>
          <a:p>
            <a:pPr>
              <a:spcAft>
                <a:spcPts val="800"/>
              </a:spcAft>
              <a:defRPr sz="1400" b="0">
                <a:solidFill>
                  <a:srgbClr val="0F172A"/>
                </a:solidFill>
                <a:latin typeface="Segoe UI"/>
              </a:defRPr>
            </a:pPr>
            <a:r>
              <a:rPr sz="1400" b="0">
                <a:solidFill>
                  <a:srgbClr val="0F172A"/>
                </a:solidFill>
                <a:latin typeface="Segoe UI"/>
              </a:rPr>
              <a:t>• Explicar la diferencia entre crecimiento level-wise (XGBoost por defecto) y leaf-wise (LightGBM) y sus implicancias en velocidad y overfitting.</a:t>
            </a:r>
          </a:p>
          <a:p>
            <a:pPr>
              <a:spcAft>
                <a:spcPts val="800"/>
              </a:spcAft>
              <a:defRPr sz="1400" b="0">
                <a:solidFill>
                  <a:srgbClr val="0F172A"/>
                </a:solidFill>
                <a:latin typeface="Segoe UI"/>
              </a:defRPr>
            </a:pPr>
            <a:r>
              <a:rPr sz="1400" b="0">
                <a:solidFill>
                  <a:srgbClr val="0F172A"/>
                </a:solidFill>
                <a:latin typeface="Segoe UI"/>
              </a:rPr>
              <a:t>• Configurar early stopping con eval_set y early_stopping_rounds para evitar overfitting y ahorrar tiempo.</a:t>
            </a:r>
          </a:p>
          <a:p>
            <a:pPr>
              <a:spcAft>
                <a:spcPts val="800"/>
              </a:spcAft>
              <a:defRPr sz="1400" b="0">
                <a:solidFill>
                  <a:srgbClr val="0F172A"/>
                </a:solidFill>
                <a:latin typeface="Segoe UI"/>
              </a:defRPr>
            </a:pPr>
            <a:r>
              <a:rPr sz="1400" b="0">
                <a:solidFill>
                  <a:srgbClr val="0F172A"/>
                </a:solidFill>
                <a:latin typeface="Segoe UI"/>
              </a:rPr>
              <a:t>• Manejar features categóricas: encoding manual para XGBoost, categorical_feature en LightGBM, cat_features nativo en CatBoost con ordered boosting.</a:t>
            </a:r>
          </a:p>
          <a:p>
            <a:pPr>
              <a:spcAft>
                <a:spcPts val="800"/>
              </a:spcAft>
              <a:defRPr sz="1400" b="0">
                <a:solidFill>
                  <a:srgbClr val="0F172A"/>
                </a:solidFill>
                <a:latin typeface="Segoe UI"/>
              </a:defRPr>
            </a:pPr>
            <a:r>
              <a:rPr sz="1400" b="0">
                <a:solidFill>
                  <a:srgbClr val="0F172A"/>
                </a:solidFill>
                <a:latin typeface="Segoe UI"/>
              </a:rPr>
              <a:t>• Elegir la librería apropiada según tamaño de dataset, presencia de categóricas y necesidad de velocidad de entrenamiento o inferencia.</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089 — XGBoost, LightGBM y CatBoost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Level-wise (default)</a:t>
            </a:r>
          </a:p>
          <a:p>
            <a:pPr>
              <a:spcAft>
                <a:spcPts val="1000"/>
              </a:spcAft>
              <a:defRPr sz="1600" b="0">
                <a:solidFill>
                  <a:srgbClr val="0F172A"/>
                </a:solidFill>
                <a:latin typeface="Segoe UI"/>
              </a:defRPr>
            </a:pPr>
            <a:r>
              <a:rPr sz="1600" b="0">
                <a:solidFill>
                  <a:srgbClr val="0F172A"/>
                </a:solidFill>
                <a:latin typeface="Segoe UI"/>
              </a:rPr>
              <a:t>• Media</a:t>
            </a:r>
          </a:p>
          <a:p>
            <a:pPr>
              <a:spcAft>
                <a:spcPts val="1000"/>
              </a:spcAft>
              <a:defRPr sz="1600" b="0">
                <a:solidFill>
                  <a:srgbClr val="0F172A"/>
                </a:solidFill>
                <a:latin typeface="Segoe UI"/>
              </a:defRPr>
            </a:pPr>
            <a:r>
              <a:rPr sz="1600" b="0">
                <a:solidFill>
                  <a:srgbClr val="0F172A"/>
                </a:solidFill>
                <a:latin typeface="Segoe UI"/>
              </a:rPr>
              <a:t>• Rápida</a:t>
            </a:r>
          </a:p>
          <a:p>
            <a:pPr>
              <a:spcAft>
                <a:spcPts val="1000"/>
              </a:spcAft>
              <a:defRPr sz="1600" b="0">
                <a:solidFill>
                  <a:srgbClr val="0F172A"/>
                </a:solidFill>
                <a:latin typeface="Segoe UI"/>
              </a:defRPr>
            </a:pPr>
            <a:r>
              <a:rPr sz="1600" b="0">
                <a:solidFill>
                  <a:srgbClr val="0F172A"/>
                </a:solidFill>
                <a:latin typeface="Segoe UI"/>
              </a:rPr>
              <a:t>• (requiere encoding)</a:t>
            </a:r>
          </a:p>
          <a:p>
            <a:pPr>
              <a:spcAft>
                <a:spcPts val="1000"/>
              </a:spcAft>
              <a:defRPr sz="1600" b="0">
                <a:solidFill>
                  <a:srgbClr val="0F172A"/>
                </a:solidFill>
                <a:latin typeface="Segoe UI"/>
              </a:defRPr>
            </a:pPr>
            <a:r>
              <a:rPr sz="1600" b="0">
                <a:solidFill>
                  <a:srgbClr val="0F172A"/>
                </a:solidFill>
                <a:latin typeface="Segoe UI"/>
              </a:rPr>
              <a:t>• Bajo</a:t>
            </a:r>
          </a:p>
          <a:p>
            <a:pPr>
              <a:spcAft>
                <a:spcPts val="1000"/>
              </a:spcAft>
              <a:defRPr sz="1600" b="0">
                <a:solidFill>
                  <a:srgbClr val="0F172A"/>
                </a:solidFill>
                <a:latin typeface="Segoe UI"/>
              </a:defRPr>
            </a:pPr>
            <a:r>
              <a:rPr sz="1600" b="0">
                <a:solidFill>
                  <a:srgbClr val="0F172A"/>
                </a:solidFill>
                <a:latin typeface="Segoe UI"/>
              </a:rPr>
              <a:t>• max_depth</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089 — XGBoost, LightGBM y CatBoost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import xgboost as xgb</a:t>
            </a:r>
          </a:p>
          <a:p>
            <a:pPr>
              <a:defRPr sz="1200" b="0">
                <a:solidFill>
                  <a:srgbClr val="F8FAFC"/>
                </a:solidFill>
                <a:latin typeface="Courier New"/>
              </a:defRPr>
            </a:pPr>
            <a:r>
              <a:rPr sz="1200" b="0">
                <a:solidFill>
                  <a:srgbClr val="F8FAFC"/>
                </a:solidFill>
                <a:latin typeface="Courier New"/>
              </a:rPr>
              <a:t>import lightgbm as lgb</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sklearn.ensemble import GradientBoostingClassifier</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print('xgboost ', xgb.__version__)</a:t>
            </a:r>
          </a:p>
          <a:p>
            <a:pPr>
              <a:defRPr sz="1200" b="0">
                <a:solidFill>
                  <a:srgbClr val="F8FAFC"/>
                </a:solidFill>
                <a:latin typeface="Courier New"/>
              </a:defRPr>
            </a:pPr>
            <a:r>
              <a:rPr sz="1200" b="0">
                <a:solidFill>
                  <a:srgbClr val="F8FAFC"/>
                </a:solidFill>
                <a:latin typeface="Courier New"/>
              </a:rPr>
              <a:t>print('lightgbm', lgb.__version__)</a:t>
            </a:r>
          </a:p>
          <a:p>
            <a:pPr>
              <a:defRPr sz="1200" b="0">
                <a:solidFill>
                  <a:srgbClr val="F8FAFC"/>
                </a:solidFill>
                <a:latin typeface="Courier New"/>
              </a:defRPr>
            </a:pPr>
            <a:r>
              <a:rPr sz="1200" b="0">
                <a:solidFill>
                  <a:srgbClr val="F8FAFC"/>
                </a:solidFill>
                <a:latin typeface="Courier New"/>
              </a:rPr>
              <a:t>print('catboost: no instalado en este entorno (se describe, no se importa)')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make_classification(</a:t>
            </a:r>
          </a:p>
          <a:p>
            <a:pPr>
              <a:defRPr sz="1200" b="0">
                <a:solidFill>
                  <a:srgbClr val="F8FAFC"/>
                </a:solidFill>
                <a:latin typeface="Courier New"/>
              </a:defRPr>
            </a:pPr>
            <a:r>
              <a:rPr sz="1200" b="0">
                <a:solidFill>
                  <a:srgbClr val="F8FAFC"/>
                </a:solidFill>
                <a:latin typeface="Courier New"/>
              </a:rPr>
              <a:t>    n_samples=3000, n_features=20, n_informative=10, n_redundant=4,</a:t>
            </a:r>
          </a:p>
          <a:p>
            <a:pPr>
              <a:defRPr sz="1200" b="0">
                <a:solidFill>
                  <a:srgbClr val="F8FAFC"/>
                </a:solidFill>
                <a:latin typeface="Courier New"/>
              </a:defRPr>
            </a:pPr>
            <a:r>
              <a:rPr sz="1200" b="0">
                <a:solidFill>
                  <a:srgbClr val="F8FAFC"/>
                </a:solidFill>
                <a:latin typeface="Courier New"/>
              </a:rPr>
              <a:t>    weights=[0.6, 0.4], random_state=42)</a:t>
            </a:r>
          </a:p>
          <a:p>
            <a:pPr>
              <a:defRPr sz="1200" b="0">
                <a:solidFill>
                  <a:srgbClr val="F8FAFC"/>
                </a:solidFill>
                <a:latin typeface="Courier New"/>
              </a:defRPr>
            </a:pPr>
            <a:r>
              <a:rPr sz="1200" b="0">
                <a:solidFill>
                  <a:srgbClr val="F8FAFC"/>
                </a:solidFill>
                <a:latin typeface="Courier New"/>
              </a:rPr>
              <a:t>X_train, X_tmp, y_train, y_tmp = train_test_split(</a:t>
            </a:r>
          </a:p>
          <a:p>
            <a:pPr>
              <a:defRPr sz="1200" b="0">
                <a:solidFill>
                  <a:srgbClr val="F8FAFC"/>
                </a:solidFill>
                <a:latin typeface="Courier New"/>
              </a:defRPr>
            </a:pPr>
            <a:r>
              <a:rPr sz="1200" b="0">
                <a:solidFill>
                  <a:srgbClr val="F8FAFC"/>
                </a:solidFill>
                <a:latin typeface="Courier New"/>
              </a:rPr>
              <a:t>    X, y, test_size=0.4, random_state=42, stratify=y)</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089 — XGBoost, LightGBM y CatBoost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Instalación y smoke test: instalar las 3 librerías, importarlas e imprimir versiones.</a:t>
            </a:r>
          </a:p>
          <a:p>
            <a:pPr>
              <a:spcAft>
                <a:spcPts val="800"/>
              </a:spcAft>
              <a:defRPr sz="1400" b="0">
                <a:solidFill>
                  <a:srgbClr val="0F172A"/>
                </a:solidFill>
                <a:latin typeface="Segoe UI"/>
              </a:defRPr>
            </a:pPr>
            <a:r>
              <a:rPr sz="1400" b="0">
                <a:solidFill>
                  <a:srgbClr val="0F172A"/>
                </a:solidFill>
                <a:latin typeface="Segoe UI"/>
              </a:rPr>
              <a:t>• XGBoost básico: entrenar XGBClassifier sobre adult (con OneHotEncoder para categóricas), usar eval_set y early_stopping_rounds=20, reportar accuracy en test y la mejor iteración.</a:t>
            </a:r>
          </a:p>
          <a:p>
            <a:pPr>
              <a:spcAft>
                <a:spcPts val="800"/>
              </a:spcAft>
              <a:defRPr sz="1400" b="0">
                <a:solidFill>
                  <a:srgbClr val="0F172A"/>
                </a:solidFill>
                <a:latin typeface="Segoe UI"/>
              </a:defRPr>
            </a:pPr>
            <a:r>
              <a:rPr sz="1400" b="0">
                <a:solidFill>
                  <a:srgbClr val="0F172A"/>
                </a:solidFill>
                <a:latin typeface="Segoe UI"/>
              </a:rPr>
              <a:t>• LightGBM con leaf-wise: entrenar LGBMClassifier pasando categorical_feature con los índices de columnas categóricas (encoding ordinal previo).</a:t>
            </a:r>
          </a:p>
          <a:p>
            <a:pPr>
              <a:spcAft>
                <a:spcPts val="800"/>
              </a:spcAft>
              <a:defRPr sz="1400" b="0">
                <a:solidFill>
                  <a:srgbClr val="0F172A"/>
                </a:solidFill>
                <a:latin typeface="Segoe UI"/>
              </a:defRPr>
            </a:pPr>
            <a:r>
              <a:rPr sz="1400" b="0">
                <a:solidFill>
                  <a:srgbClr val="0F172A"/>
                </a:solidFill>
                <a:latin typeface="Segoe UI"/>
              </a:rPr>
              <a:t>• CatBoost nativo: entrenar CatBoostClassifier pasando cat_features con los nombres de columnas — sin encoding manual.</a:t>
            </a:r>
          </a:p>
          <a:p>
            <a:pPr>
              <a:spcAft>
                <a:spcPts val="800"/>
              </a:spcAft>
              <a:defRPr sz="1400" b="0">
                <a:solidFill>
                  <a:srgbClr val="0F172A"/>
                </a:solidFill>
                <a:latin typeface="Segoe UI"/>
              </a:defRPr>
            </a:pPr>
            <a:r>
              <a:rPr sz="1400" b="0">
                <a:solidFill>
                  <a:srgbClr val="0F172A"/>
                </a:solidFill>
                <a:latin typeface="Segoe UI"/>
              </a:rPr>
              <a:t>• Comparativa final: entrenar los 3 modelos sobre el mismo dataset con los mismos splits, reportar en una tabla: accuracy test, tiempo de fit, tiempo de predict y mejor iteración.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Los 3 modelos entrenan sin error sobre al menos un dataset con categóricas.</a:t>
            </a:r>
          </a:p>
          <a:p>
            <a:pPr>
              <a:spcAft>
                <a:spcPts val="800"/>
              </a:spcAft>
              <a:defRPr sz="1500" b="0">
                <a:solidFill>
                  <a:srgbClr val="0F172A"/>
                </a:solidFill>
                <a:latin typeface="Segoe UI"/>
              </a:defRPr>
            </a:pPr>
            <a:r>
              <a:rPr sz="1500" b="0">
                <a:solidFill>
                  <a:srgbClr val="0F172A"/>
                </a:solidFill>
                <a:latin typeface="Segoe UI"/>
              </a:rPr>
              <a:t>• CatBoost se entrena sin OneHotEncoder previo (usa cat_features).</a:t>
            </a:r>
          </a:p>
          <a:p>
            <a:pPr>
              <a:spcAft>
                <a:spcPts val="800"/>
              </a:spcAft>
              <a:defRPr sz="1500" b="0">
                <a:solidFill>
                  <a:srgbClr val="0F172A"/>
                </a:solidFill>
                <a:latin typeface="Segoe UI"/>
              </a:defRPr>
            </a:pPr>
            <a:r>
              <a:rPr sz="1500" b="0">
                <a:solidFill>
                  <a:srgbClr val="0F172A"/>
                </a:solidFill>
                <a:latin typeface="Segoe UI"/>
              </a:rPr>
              <a:t>• El CSV contiene las 3 filas con valores no nulos.</a:t>
            </a:r>
          </a:p>
          <a:p>
            <a:pPr>
              <a:spcAft>
                <a:spcPts val="800"/>
              </a:spcAft>
              <a:defRPr sz="1500" b="0">
                <a:solidFill>
                  <a:srgbClr val="0F172A"/>
                </a:solidFill>
                <a:latin typeface="Segoe UI"/>
              </a:defRPr>
            </a:pPr>
            <a:r>
              <a:rPr sz="1500" b="0">
                <a:solidFill>
                  <a:srgbClr val="0F172A"/>
                </a:solidFill>
                <a:latin typeface="Segoe UI"/>
              </a:rPr>
              <a:t>• En el README del homework, una conclusión de 3 líneas justificando cuál elegirías.</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090 — Stacking (stacked generalization)</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090 — Stacking (stacked generalization)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7.  Duración estimada: 60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combine modelos heterogéneos vía stacking: entrenar varios modelos base, generar predicciones out-of-fold, y entrenar un meta-modelo (blender) sobre esas predicciones — todo con StackingClassifier / StackingRegressor de sklearn, sin leakage.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idea de stacking como ensamble donde un meta-modelo aprende a combinar las predicciones de los base learners.</a:t>
            </a:r>
          </a:p>
          <a:p>
            <a:pPr>
              <a:spcAft>
                <a:spcPts val="800"/>
              </a:spcAft>
              <a:defRPr sz="1400" b="0">
                <a:solidFill>
                  <a:srgbClr val="0F172A"/>
                </a:solidFill>
                <a:latin typeface="Segoe UI"/>
              </a:defRPr>
            </a:pPr>
            <a:r>
              <a:rPr sz="1400" b="0">
                <a:solidFill>
                  <a:srgbClr val="0F172A"/>
                </a:solidFill>
                <a:latin typeface="Segoe UI"/>
              </a:rPr>
              <a:t>• Construir un StackingClassifier con varios estimadores base y un blender (típicamente regresión logística).</a:t>
            </a:r>
          </a:p>
          <a:p>
            <a:pPr>
              <a:spcAft>
                <a:spcPts val="800"/>
              </a:spcAft>
              <a:defRPr sz="1400" b="0">
                <a:solidFill>
                  <a:srgbClr val="0F172A"/>
                </a:solidFill>
                <a:latin typeface="Segoe UI"/>
              </a:defRPr>
            </a:pPr>
            <a:r>
              <a:rPr sz="1400" b="0">
                <a:solidFill>
                  <a:srgbClr val="0F172A"/>
                </a:solidFill>
                <a:latin typeface="Segoe UI"/>
              </a:rPr>
              <a:t>• Justificar las predicciones out-of-fold (CV interna) como mecanismo para evitar que el blender vea predicciones in-sample.</a:t>
            </a:r>
          </a:p>
          <a:p>
            <a:pPr>
              <a:spcAft>
                <a:spcPts val="800"/>
              </a:spcAft>
              <a:defRPr sz="1400" b="0">
                <a:solidFill>
                  <a:srgbClr val="0F172A"/>
                </a:solidFill>
                <a:latin typeface="Segoe UI"/>
              </a:defRPr>
            </a:pPr>
            <a:r>
              <a:rPr sz="1400" b="0">
                <a:solidFill>
                  <a:srgbClr val="0F172A"/>
                </a:solidFill>
                <a:latin typeface="Segoe UI"/>
              </a:rPr>
              <a:t>• Comparar stacking contra voting y contra un solo modelo bien tuneado, en accuracy y costo computacional.</a:t>
            </a:r>
          </a:p>
          <a:p>
            <a:pPr>
              <a:spcAft>
                <a:spcPts val="800"/>
              </a:spcAft>
              <a:defRPr sz="1400" b="0">
                <a:solidFill>
                  <a:srgbClr val="0F172A"/>
                </a:solidFill>
                <a:latin typeface="Segoe UI"/>
              </a:defRPr>
            </a:pPr>
            <a:r>
              <a:rPr sz="1400" b="0">
                <a:solidFill>
                  <a:srgbClr val="0F172A"/>
                </a:solidFill>
                <a:latin typeface="Segoe UI"/>
              </a:rPr>
              <a:t>• Usar passthrough=True para que el blender vea también las features originales, no solo las predicciones de los base.</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090 — Stacking (stacked generalization)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Idea: ensamble de dos niveles</a:t>
            </a:r>
          </a:p>
          <a:p>
            <a:pPr>
              <a:spcAft>
                <a:spcPts val="1000"/>
              </a:spcAft>
              <a:defRPr sz="1600" b="0">
                <a:solidFill>
                  <a:srgbClr val="0F172A"/>
                </a:solidFill>
                <a:latin typeface="Segoe UI"/>
              </a:defRPr>
            </a:pPr>
            <a:r>
              <a:rPr sz="1600" b="0">
                <a:solidFill>
                  <a:srgbClr val="0F172A"/>
                </a:solidFill>
                <a:latin typeface="Segoe UI"/>
              </a:rPr>
              <a:t>• Base learners heterogéneos</a:t>
            </a:r>
          </a:p>
          <a:p>
            <a:pPr>
              <a:spcAft>
                <a:spcPts val="1000"/>
              </a:spcAft>
              <a:defRPr sz="1600" b="0">
                <a:solidFill>
                  <a:srgbClr val="0F172A"/>
                </a:solidFill>
                <a:latin typeface="Segoe UI"/>
              </a:defRPr>
            </a:pPr>
            <a:r>
              <a:rPr sz="1600" b="0">
                <a:solidFill>
                  <a:srgbClr val="0F172A"/>
                </a:solidFill>
                <a:latin typeface="Segoe UI"/>
              </a:rPr>
              <a:t>• Meta-modelo (blender)</a:t>
            </a:r>
          </a:p>
          <a:p>
            <a:pPr>
              <a:spcAft>
                <a:spcPts val="1000"/>
              </a:spcAft>
              <a:defRPr sz="1600" b="0">
                <a:solidFill>
                  <a:srgbClr val="0F172A"/>
                </a:solidFill>
                <a:latin typeface="Segoe UI"/>
              </a:defRPr>
            </a:pPr>
            <a:r>
              <a:rPr sz="1600" b="0">
                <a:solidFill>
                  <a:srgbClr val="0F172A"/>
                </a:solidFill>
                <a:latin typeface="Segoe UI"/>
              </a:rPr>
              <a:t>• Out-of-fold predictions</a:t>
            </a:r>
          </a:p>
          <a:p>
            <a:pPr>
              <a:spcAft>
                <a:spcPts val="1000"/>
              </a:spcAft>
              <a:defRPr sz="1600" b="0">
                <a:solidFill>
                  <a:srgbClr val="0F172A"/>
                </a:solidFill>
                <a:latin typeface="Segoe UI"/>
              </a:defRPr>
            </a:pPr>
            <a:r>
              <a:rPr sz="1600" b="0">
                <a:solidFill>
                  <a:srgbClr val="0F172A"/>
                </a:solidFill>
                <a:latin typeface="Segoe UI"/>
              </a:rPr>
              <a:t>• StackingClassifier / StackingRegressor</a:t>
            </a:r>
          </a:p>
          <a:p>
            <a:pPr>
              <a:spcAft>
                <a:spcPts val="1000"/>
              </a:spcAft>
              <a:defRPr sz="1600" b="0">
                <a:solidFill>
                  <a:srgbClr val="0F172A"/>
                </a:solidFill>
                <a:latin typeface="Segoe UI"/>
              </a:defRPr>
            </a:pPr>
            <a:r>
              <a:rPr sz="1600" b="0">
                <a:solidFill>
                  <a:srgbClr val="0F172A"/>
                </a:solidFill>
                <a:latin typeface="Segoe UI"/>
              </a:rPr>
              <a:t>• passthrough</a:t>
            </a:r>
          </a:p>
          <a:p>
            <a:pPr>
              <a:spcAft>
                <a:spcPts val="1000"/>
              </a:spcAft>
              <a:defRPr sz="1600" b="0">
                <a:solidFill>
                  <a:srgbClr val="0F172A"/>
                </a:solidFill>
                <a:latin typeface="Segoe UI"/>
              </a:defRPr>
            </a:pPr>
            <a:r>
              <a:rPr sz="1600" b="0">
                <a:solidFill>
                  <a:srgbClr val="0F172A"/>
                </a:solidFill>
                <a:latin typeface="Segoe UI"/>
              </a:rPr>
              <a:t>• Costo y cuándo conviene</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090 — Stacking (stacked generalization)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sklearn.model_selection import cross_val_score</a:t>
            </a:r>
          </a:p>
          <a:p>
            <a:pPr>
              <a:defRPr sz="1200" b="0">
                <a:solidFill>
                  <a:srgbClr val="F8FAFC"/>
                </a:solidFill>
                <a:latin typeface="Courier New"/>
              </a:defRPr>
            </a:pPr>
            <a:r>
              <a:rPr sz="1200" b="0">
                <a:solidFill>
                  <a:srgbClr val="F8FAFC"/>
                </a:solidFill>
                <a:latin typeface="Courier New"/>
              </a:rPr>
              <a:t>from sklearn.ensemble import (RandomForestClassifier, StackingClassifier,</a:t>
            </a:r>
          </a:p>
          <a:p>
            <a:pPr>
              <a:defRPr sz="1200" b="0">
                <a:solidFill>
                  <a:srgbClr val="F8FAFC"/>
                </a:solidFill>
                <a:latin typeface="Courier New"/>
              </a:defRPr>
            </a:pPr>
            <a:r>
              <a:rPr sz="1200" b="0">
                <a:solidFill>
                  <a:srgbClr val="F8FAFC"/>
                </a:solidFill>
                <a:latin typeface="Courier New"/>
              </a:rPr>
              <a:t>                              VotingClassifier)</a:t>
            </a:r>
          </a:p>
          <a:p>
            <a:pPr>
              <a:defRPr sz="1200" b="0">
                <a:solidFill>
                  <a:srgbClr val="F8FAFC"/>
                </a:solidFill>
                <a:latin typeface="Courier New"/>
              </a:defRPr>
            </a:pPr>
            <a:r>
              <a:rPr sz="1200" b="0">
                <a:solidFill>
                  <a:srgbClr val="F8FAFC"/>
                </a:solidFill>
                <a:latin typeface="Courier New"/>
              </a:rPr>
              <a:t>from sklearn.svm import SVC</a:t>
            </a:r>
          </a:p>
          <a:p>
            <a:pPr>
              <a:defRPr sz="1200" b="0">
                <a:solidFill>
                  <a:srgbClr val="F8FAFC"/>
                </a:solidFill>
                <a:latin typeface="Courier New"/>
              </a:defRPr>
            </a:pPr>
            <a:r>
              <a:rPr sz="1200" b="0">
                <a:solidFill>
                  <a:srgbClr val="F8FAFC"/>
                </a:solidFill>
                <a:latin typeface="Courier New"/>
              </a:rPr>
              <a:t>from sklearn.neighbors import KNeighborsClassifier</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make_classification(</a:t>
            </a:r>
          </a:p>
          <a:p>
            <a:pPr>
              <a:defRPr sz="1200" b="0">
                <a:solidFill>
                  <a:srgbClr val="F8FAFC"/>
                </a:solidFill>
                <a:latin typeface="Courier New"/>
              </a:defRPr>
            </a:pPr>
            <a:r>
              <a:rPr sz="1200" b="0">
                <a:solidFill>
                  <a:srgbClr val="F8FAFC"/>
                </a:solidFill>
                <a:latin typeface="Courier New"/>
              </a:rPr>
              <a:t>    n_samples=2000, n_features=20, n_informative=10, n_redundant=4,</a:t>
            </a:r>
          </a:p>
          <a:p>
            <a:pPr>
              <a:defRPr sz="1200" b="0">
                <a:solidFill>
                  <a:srgbClr val="F8FAFC"/>
                </a:solidFill>
                <a:latin typeface="Courier New"/>
              </a:defRPr>
            </a:pPr>
            <a:r>
              <a:rPr sz="1200" b="0">
                <a:solidFill>
                  <a:srgbClr val="F8FAFC"/>
                </a:solidFill>
                <a:latin typeface="Courier New"/>
              </a:rPr>
              <a:t>    random_state=42)</a:t>
            </a:r>
          </a:p>
          <a:p>
            <a:pPr>
              <a:defRPr sz="1200" b="0">
                <a:solidFill>
                  <a:srgbClr val="F8FAFC"/>
                </a:solidFill>
                <a:latin typeface="Courier New"/>
              </a:defRPr>
            </a:pPr>
            <a:r>
              <a:rPr sz="1200" b="0">
                <a:solidFill>
                  <a:srgbClr val="F8FAFC"/>
                </a:solidFill>
                <a:latin typeface="Courier New"/>
              </a:rPr>
              <a:t>print('X', X.shape, 'y', y.shape)</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090 — Stacking (stacked generalization)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Stacking básico.</a:t>
            </a:r>
          </a:p>
          <a:p>
            <a:pPr>
              <a:spcAft>
                <a:spcPts val="800"/>
              </a:spcAft>
              <a:defRPr sz="1400" b="0">
                <a:solidFill>
                  <a:srgbClr val="0F172A"/>
                </a:solidFill>
                <a:latin typeface="Segoe UI"/>
              </a:defRPr>
            </a:pPr>
            <a:r>
              <a:rPr sz="1400" b="0">
                <a:solidFill>
                  <a:srgbClr val="0F172A"/>
                </a:solidFill>
                <a:latin typeface="Segoe UI"/>
              </a:rPr>
              <a:t>• Comparación contra base learners solos.</a:t>
            </a:r>
          </a:p>
          <a:p>
            <a:pPr>
              <a:spcAft>
                <a:spcPts val="800"/>
              </a:spcAft>
              <a:defRPr sz="1400" b="0">
                <a:solidFill>
                  <a:srgbClr val="0F172A"/>
                </a:solidFill>
                <a:latin typeface="Segoe UI"/>
              </a:defRPr>
            </a:pPr>
            <a:r>
              <a:rPr sz="1400" b="0">
                <a:solidFill>
                  <a:srgbClr val="0F172A"/>
                </a:solidFill>
                <a:latin typeface="Segoe UI"/>
              </a:rPr>
              <a:t>• passthrough=True.</a:t>
            </a:r>
          </a:p>
          <a:p>
            <a:pPr>
              <a:spcAft>
                <a:spcPts val="800"/>
              </a:spcAft>
              <a:defRPr sz="1400" b="0">
                <a:solidFill>
                  <a:srgbClr val="0F172A"/>
                </a:solidFill>
                <a:latin typeface="Segoe UI"/>
              </a:defRPr>
            </a:pPr>
            <a:r>
              <a:rPr sz="1400" b="0">
                <a:solidFill>
                  <a:srgbClr val="0F172A"/>
                </a:solidFill>
                <a:latin typeface="Segoe UI"/>
              </a:rPr>
              <a:t>• Variando cv.</a:t>
            </a:r>
          </a:p>
          <a:p>
            <a:pPr>
              <a:spcAft>
                <a:spcPts val="800"/>
              </a:spcAft>
              <a:defRPr sz="1400" b="0">
                <a:solidFill>
                  <a:srgbClr val="0F172A"/>
                </a:solidFill>
                <a:latin typeface="Segoe UI"/>
              </a:defRPr>
            </a:pPr>
            <a:r>
              <a:rPr sz="1400" b="0">
                <a:solidFill>
                  <a:srgbClr val="0F172A"/>
                </a:solidFill>
                <a:latin typeface="Segoe UI"/>
              </a:rPr>
              <a:t>• Stacking vs Voting.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make_classification(n_samples=3000, n_features=20, n_informative=10, random_state=42): (a) entrenar 3 base learners individuales y reportar CV-accuracy; (b) entrenar StackingClassifier con esos 3 + LogisticRegression blender; (c) repetir con passthrough=True; (d) entrenar VotingClassifier(voting='soft') con los mismos base; (e) tabla comparativa final con accuracy, std y tiempo de entrenamiento.</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091 — La maldición de la dimensionalidad</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091 — La maldición de la dimensionalidad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8 § The Curse of Dimensionality. · Duración estimada: 45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por qué los algoritmos basados en distancia (kNN, k-means, SVM-RBF) degradan en alta dimensión: el espacio se vuelve mayormente vacío, las distancias entre puntos colapsan a un mismo valor, y los modelos overfittean. Esto motiva la reducción de dimensionalidad (PCA, manifold learning) que viene en las próximas clases.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sparsity exponencial: por qué llenar uniformemente un hipercubo unitario requiere n^d puntos.</a:t>
            </a:r>
          </a:p>
          <a:p>
            <a:pPr>
              <a:spcAft>
                <a:spcPts val="800"/>
              </a:spcAft>
              <a:defRPr sz="1400" b="0">
                <a:solidFill>
                  <a:srgbClr val="0F172A"/>
                </a:solidFill>
                <a:latin typeface="Segoe UI"/>
              </a:defRPr>
            </a:pPr>
            <a:r>
              <a:rPr sz="1400" b="0">
                <a:solidFill>
                  <a:srgbClr val="0F172A"/>
                </a:solidFill>
                <a:latin typeface="Segoe UI"/>
              </a:rPr>
              <a:t>• Calcular numéricamente que en d=100 la razón (d_max - d_min) / d_min entre distancias euclidianas tiende a 0.</a:t>
            </a:r>
          </a:p>
          <a:p>
            <a:pPr>
              <a:spcAft>
                <a:spcPts val="800"/>
              </a:spcAft>
              <a:defRPr sz="1400" b="0">
                <a:solidFill>
                  <a:srgbClr val="0F172A"/>
                </a:solidFill>
                <a:latin typeface="Segoe UI"/>
              </a:defRPr>
            </a:pPr>
            <a:r>
              <a:rPr sz="1400" b="0">
                <a:solidFill>
                  <a:srgbClr val="0F172A"/>
                </a:solidFill>
                <a:latin typeface="Segoe UI"/>
              </a:rPr>
              <a:t>• Identificar qué algoritmos sufren la maldición (basados en distancia/densidad) y cuáles menos (árboles, modelos lineales con regularización).</a:t>
            </a:r>
          </a:p>
          <a:p>
            <a:pPr>
              <a:spcAft>
                <a:spcPts val="800"/>
              </a:spcAft>
              <a:defRPr sz="1400" b="0">
                <a:solidFill>
                  <a:srgbClr val="0F172A"/>
                </a:solidFill>
                <a:latin typeface="Segoe UI"/>
              </a:defRPr>
            </a:pPr>
            <a:r>
              <a:rPr sz="1400" b="0">
                <a:solidFill>
                  <a:srgbClr val="0F172A"/>
                </a:solidFill>
                <a:latin typeface="Segoe UI"/>
              </a:rPr>
              <a:t>• Reconocer la manifold hypothesis como justificación de PCA, t-SNE, UMAP: los datos reales viven en un subespacio de baja dimensión.</a:t>
            </a:r>
          </a:p>
          <a:p>
            <a:pPr>
              <a:spcAft>
                <a:spcPts val="800"/>
              </a:spcAft>
              <a:defRPr sz="1400" b="0">
                <a:solidFill>
                  <a:srgbClr val="0F172A"/>
                </a:solidFill>
                <a:latin typeface="Segoe UI"/>
              </a:defRPr>
            </a:pPr>
            <a:r>
              <a:rPr sz="1400" b="0">
                <a:solidFill>
                  <a:srgbClr val="0F172A"/>
                </a:solidFill>
                <a:latin typeface="Segoe UI"/>
              </a:rPr>
              <a:t>• Decidir cuándo reducir dimensionalidad vs. cuándo regularizar o usar otro modelo.</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091 — La maldición de la dimensionalidad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Intuición geométrica: hipercubo y volumen del borde</a:t>
            </a:r>
          </a:p>
          <a:p>
            <a:pPr>
              <a:spcAft>
                <a:spcPts val="1000"/>
              </a:spcAft>
              <a:defRPr sz="1600" b="0">
                <a:solidFill>
                  <a:srgbClr val="0F172A"/>
                </a:solidFill>
                <a:latin typeface="Segoe UI"/>
              </a:defRPr>
            </a:pPr>
            <a:r>
              <a:rPr sz="1600" b="0">
                <a:solidFill>
                  <a:srgbClr val="0F172A"/>
                </a:solidFill>
                <a:latin typeface="Segoe UI"/>
              </a:rPr>
              <a:t>• Sparsity exponencial</a:t>
            </a:r>
          </a:p>
          <a:p>
            <a:pPr>
              <a:spcAft>
                <a:spcPts val="1000"/>
              </a:spcAft>
              <a:defRPr sz="1600" b="0">
                <a:solidFill>
                  <a:srgbClr val="0F172A"/>
                </a:solidFill>
                <a:latin typeface="Segoe UI"/>
              </a:defRPr>
            </a:pPr>
            <a:r>
              <a:rPr sz="1600" b="0">
                <a:solidFill>
                  <a:srgbClr val="0F172A"/>
                </a:solidFill>
                <a:latin typeface="Segoe UI"/>
              </a:rPr>
              <a:t>• Concentración de la medida</a:t>
            </a:r>
          </a:p>
          <a:p>
            <a:pPr>
              <a:spcAft>
                <a:spcPts val="1000"/>
              </a:spcAft>
              <a:defRPr sz="1600" b="0">
                <a:solidFill>
                  <a:srgbClr val="0F172A"/>
                </a:solidFill>
                <a:latin typeface="Segoe UI"/>
              </a:defRPr>
            </a:pPr>
            <a:r>
              <a:rPr sz="1600" b="0">
                <a:solidFill>
                  <a:srgbClr val="0F172A"/>
                </a:solidFill>
                <a:latin typeface="Segoe UI"/>
              </a:rPr>
              <a:t>• Distancia euclidiana pierde sentido</a:t>
            </a:r>
          </a:p>
          <a:p>
            <a:pPr>
              <a:spcAft>
                <a:spcPts val="1000"/>
              </a:spcAft>
              <a:defRPr sz="1600" b="0">
                <a:solidFill>
                  <a:srgbClr val="0F172A"/>
                </a:solidFill>
                <a:latin typeface="Segoe UI"/>
              </a:defRPr>
            </a:pPr>
            <a:r>
              <a:rPr sz="1600" b="0">
                <a:solidFill>
                  <a:srgbClr val="0F172A"/>
                </a:solidFill>
                <a:latin typeface="Segoe UI"/>
              </a:rPr>
              <a:t>• Hubness</a:t>
            </a:r>
          </a:p>
          <a:p>
            <a:pPr>
              <a:spcAft>
                <a:spcPts val="1000"/>
              </a:spcAft>
              <a:defRPr sz="1600" b="0">
                <a:solidFill>
                  <a:srgbClr val="0F172A"/>
                </a:solidFill>
                <a:latin typeface="Segoe UI"/>
              </a:defRPr>
            </a:pPr>
            <a:r>
              <a:rPr sz="1600" b="0">
                <a:solidFill>
                  <a:srgbClr val="0F172A"/>
                </a:solidFill>
                <a:latin typeface="Segoe UI"/>
              </a:rPr>
              <a:t>• Manifold hypothesis</a:t>
            </a:r>
          </a:p>
          <a:p>
            <a:pPr>
              <a:spcAft>
                <a:spcPts val="1000"/>
              </a:spcAft>
              <a:defRPr sz="1600" b="0">
                <a:solidFill>
                  <a:srgbClr val="0F172A"/>
                </a:solidFill>
                <a:latin typeface="Segoe UI"/>
              </a:defRPr>
            </a:pPr>
            <a:r>
              <a:rPr sz="1600" b="0">
                <a:solidFill>
                  <a:srgbClr val="0F172A"/>
                </a:solidFill>
                <a:latin typeface="Segoe UI"/>
              </a:rPr>
              <a:t>• Implicaciones prácticas para ML</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091 — La maldición de la dimensionalidad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 [0,1]^d, la fracción de volumen a menos de 0.01 del borde es 1 - 0.98^d. Crece rápido: casi todo el volumen vive pegado al borde.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dims = np.arange(1, 201)</a:t>
            </a:r>
          </a:p>
          <a:p>
            <a:pPr>
              <a:defRPr sz="1200" b="0">
                <a:solidFill>
                  <a:srgbClr val="F8FAFC"/>
                </a:solidFill>
                <a:latin typeface="Courier New"/>
              </a:defRPr>
            </a:pPr>
            <a:r>
              <a:rPr sz="1200" b="0">
                <a:solidFill>
                  <a:srgbClr val="F8FAFC"/>
                </a:solidFill>
                <a:latin typeface="Courier New"/>
              </a:rPr>
              <a:t>frac_borde = 1 - 0.98 ** dims</a:t>
            </a:r>
          </a:p>
          <a:p>
            <a:pPr>
              <a:defRPr sz="1200" b="0">
                <a:solidFill>
                  <a:srgbClr val="F8FAFC"/>
                </a:solidFill>
                <a:latin typeface="Courier New"/>
              </a:defRPr>
            </a:pPr>
            <a:r>
              <a:rPr sz="1200" b="0">
                <a:solidFill>
                  <a:srgbClr val="F8FAFC"/>
                </a:solidFill>
                <a:latin typeface="Courier New"/>
              </a:rPr>
              <a:t>for d in (2, 10, 100):</a:t>
            </a:r>
          </a:p>
          <a:p>
            <a:pPr>
              <a:defRPr sz="1200" b="0">
                <a:solidFill>
                  <a:srgbClr val="F8FAFC"/>
                </a:solidFill>
                <a:latin typeface="Courier New"/>
              </a:defRPr>
            </a:pPr>
            <a:r>
              <a:rPr sz="1200" b="0">
                <a:solidFill>
                  <a:srgbClr val="F8FAFC"/>
                </a:solidFill>
                <a:latin typeface="Courier New"/>
              </a:rPr>
              <a:t>    print(f"d={d:&gt;3}: fraccion cerca del borde = {1 - 0.98**d:.4f}")</a:t>
            </a:r>
          </a:p>
          <a:p>
            <a:pPr>
              <a:defRPr sz="1200" b="0">
                <a:solidFill>
                  <a:srgbClr val="F8FAFC"/>
                </a:solidFill>
                <a:latin typeface="Courier New"/>
              </a:defRPr>
            </a:pPr>
            <a:r>
              <a:rPr sz="1200" b="0">
                <a:solidFill>
                  <a:srgbClr val="F8FAFC"/>
                </a:solidFill>
                <a:latin typeface="Courier New"/>
              </a:rPr>
              <a:t>assert frac_borde[99] &gt; 0.85, "en d=100 casi todo el volumen esta en el borde"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plt.figure(figsize=(7, 4))</a:t>
            </a:r>
          </a:p>
          <a:p>
            <a:pPr>
              <a:defRPr sz="1200" b="0">
                <a:solidFill>
                  <a:srgbClr val="F8FAFC"/>
                </a:solidFill>
                <a:latin typeface="Courier New"/>
              </a:defRPr>
            </a:pPr>
            <a:r>
              <a:rPr sz="1200" b="0">
                <a:solidFill>
                  <a:srgbClr val="F8FAFC"/>
                </a:solidFill>
                <a:latin typeface="Courier New"/>
              </a:rPr>
              <a:t>plt.plot(dims, frac_borde, color="#37a")</a:t>
            </a:r>
          </a:p>
          <a:p>
            <a:pPr>
              <a:defRPr sz="1200" b="0">
                <a:solidFill>
                  <a:srgbClr val="F8FAFC"/>
                </a:solidFill>
                <a:latin typeface="Courier New"/>
              </a:defRPr>
            </a:pPr>
            <a:r>
              <a:rPr sz="1200" b="0">
                <a:solidFill>
                  <a:srgbClr val="F8FAFC"/>
                </a:solidFill>
                <a:latin typeface="Courier New"/>
              </a:rPr>
              <a:t>plt.axhline(0.99, ls="--", color="#c33", lw=0.8, label="99%")</a:t>
            </a:r>
          </a:p>
          <a:p>
            <a:pPr>
              <a:defRPr sz="1200" b="0">
                <a:solidFill>
                  <a:srgbClr val="F8FAFC"/>
                </a:solidFill>
                <a:latin typeface="Courier New"/>
              </a:defRPr>
            </a:pPr>
            <a:r>
              <a:rPr sz="1200" b="0">
                <a:solidFill>
                  <a:srgbClr val="F8FAFC"/>
                </a:solidFill>
                <a:latin typeface="Courier New"/>
              </a:rPr>
              <a:t>plt.xlabel("dimension d"); plt.ylabel("fraccion cerca del borde")</a:t>
            </a:r>
          </a:p>
          <a:p>
            <a:pPr>
              <a:defRPr sz="1200" b="0">
                <a:solidFill>
                  <a:srgbClr val="F8FAFC"/>
                </a:solidFill>
                <a:latin typeface="Courier New"/>
              </a:defRPr>
            </a:pPr>
            <a:r>
              <a:rPr sz="1200" b="0">
                <a:solidFill>
                  <a:srgbClr val="F8FAFC"/>
                </a:solidFill>
                <a:latin typeface="Courier New"/>
              </a:rPr>
              <a:t>plt.title("El volumen se concentra en el borde")</a:t>
            </a:r>
          </a:p>
          <a:p>
            <a:pPr>
              <a:defRPr sz="1200" b="0">
                <a:solidFill>
                  <a:srgbClr val="F8FAFC"/>
                </a:solidFill>
                <a:latin typeface="Courier New"/>
              </a:defRPr>
            </a:pPr>
            <a:r>
              <a:rPr sz="1200" b="0">
                <a:solidFill>
                  <a:srgbClr val="F8FAFC"/>
                </a:solidFill>
                <a:latin typeface="Courier New"/>
              </a:rPr>
              <a:t>plt.legend(); plt.tight_layout(); plt.show()</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091 — La maldición de la dimensionalidad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Volumen del borde.</a:t>
            </a:r>
          </a:p>
          <a:p>
            <a:pPr>
              <a:spcAft>
                <a:spcPts val="800"/>
              </a:spcAft>
              <a:defRPr sz="1400" b="0">
                <a:solidFill>
                  <a:srgbClr val="0F172A"/>
                </a:solidFill>
                <a:latin typeface="Segoe UI"/>
              </a:defRPr>
            </a:pPr>
            <a:r>
              <a:rPr sz="1400" b="0">
                <a:solidFill>
                  <a:srgbClr val="0F172A"/>
                </a:solidFill>
                <a:latin typeface="Segoe UI"/>
              </a:rPr>
              <a:t>• Concentración de distancias.</a:t>
            </a:r>
          </a:p>
          <a:p>
            <a:pPr>
              <a:spcAft>
                <a:spcPts val="800"/>
              </a:spcAft>
              <a:defRPr sz="1400" b="0">
                <a:solidFill>
                  <a:srgbClr val="0F172A"/>
                </a:solidFill>
                <a:latin typeface="Segoe UI"/>
              </a:defRPr>
            </a:pPr>
            <a:r>
              <a:rPr sz="1400" b="0">
                <a:solidFill>
                  <a:srgbClr val="0F172A"/>
                </a:solidFill>
                <a:latin typeface="Segoe UI"/>
              </a:rPr>
              <a:t>• Distancia al vecino más cercano.</a:t>
            </a:r>
          </a:p>
          <a:p>
            <a:pPr>
              <a:spcAft>
                <a:spcPts val="800"/>
              </a:spcAft>
              <a:defRPr sz="1400" b="0">
                <a:solidFill>
                  <a:srgbClr val="0F172A"/>
                </a:solidFill>
                <a:latin typeface="Segoe UI"/>
              </a:defRPr>
            </a:pPr>
            <a:r>
              <a:rPr sz="1400" b="0">
                <a:solidFill>
                  <a:srgbClr val="0F172A"/>
                </a:solidFill>
                <a:latin typeface="Segoe UI"/>
              </a:rPr>
              <a:t>• kNN degrada.</a:t>
            </a:r>
          </a:p>
          <a:p>
            <a:pPr>
              <a:spcAft>
                <a:spcPts val="800"/>
              </a:spcAft>
              <a:defRPr sz="1400" b="0">
                <a:solidFill>
                  <a:srgbClr val="0F172A"/>
                </a:solidFill>
                <a:latin typeface="Segoe UI"/>
              </a:defRPr>
            </a:pPr>
            <a:r>
              <a:rPr sz="1400" b="0">
                <a:solidFill>
                  <a:srgbClr val="0F172A"/>
                </a:solidFill>
                <a:latin typeface="Segoe UI"/>
              </a:rPr>
              <a:t>• Manifold hipótesis empírica.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(a) genere puntos uniformes en [0,1]^d para d ∈ [1, 200]; (b) calcule y grafique (d_max - d_min)/d_min vs d; (c) entrene KNeighborsClassifier con n=1000 y features añadidas de ruido N(0,1), reporte accuracy vs d; (d) sobre load_digits, calcule cuántos componentes PCA explican 90%, 95%, 99% de varianza.</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092 — PCA: proyección, varianza explicada, incremental, randomized, kernel</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092 — PCA: proyección, varianza explicada, incremental, randomized, kernel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8.  Duración estimada: 80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PCA como técnica de reducción de dimensionalidad lineal: entender la proyección al subespacio de máxima varianza vía SVD, elegir el número de componentes con explained_variance_ratio_, y aplicar las variantes (Incremental, Randomized, Kernel) según el tamaño y la geometría del dataset.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geométricamente qué hace PCA (proyección al hiperplano que maximiza la varianza).</a:t>
            </a:r>
          </a:p>
          <a:p>
            <a:pPr>
              <a:spcAft>
                <a:spcPts val="800"/>
              </a:spcAft>
              <a:defRPr sz="1400" b="0">
                <a:solidFill>
                  <a:srgbClr val="0F172A"/>
                </a:solidFill>
                <a:latin typeface="Segoe UI"/>
              </a:defRPr>
            </a:pPr>
            <a:r>
              <a:rPr sz="1400" b="0">
                <a:solidFill>
                  <a:srgbClr val="0F172A"/>
                </a:solidFill>
                <a:latin typeface="Segoe UI"/>
              </a:rPr>
              <a:t>• Ajustar PCA de scikit-learn y leer components_, explained_variance_ratio_ y singular_values_.</a:t>
            </a:r>
          </a:p>
          <a:p>
            <a:pPr>
              <a:spcAft>
                <a:spcPts val="800"/>
              </a:spcAft>
              <a:defRPr sz="1400" b="0">
                <a:solidFill>
                  <a:srgbClr val="0F172A"/>
                </a:solidFill>
                <a:latin typeface="Segoe UI"/>
              </a:defRPr>
            </a:pPr>
            <a:r>
              <a:rPr sz="1400" b="0">
                <a:solidFill>
                  <a:srgbClr val="0F172A"/>
                </a:solidFill>
                <a:latin typeface="Segoe UI"/>
              </a:rPr>
              <a:t>• Elegir el número de componentes vía umbral de varianza acumulada (ej. 95%) o codo del scree plot.</a:t>
            </a:r>
          </a:p>
          <a:p>
            <a:pPr>
              <a:spcAft>
                <a:spcPts val="800"/>
              </a:spcAft>
              <a:defRPr sz="1400" b="0">
                <a:solidFill>
                  <a:srgbClr val="0F172A"/>
                </a:solidFill>
                <a:latin typeface="Segoe UI"/>
              </a:defRPr>
            </a:pPr>
            <a:r>
              <a:rPr sz="1400" b="0">
                <a:solidFill>
                  <a:srgbClr val="0F172A"/>
                </a:solidFill>
                <a:latin typeface="Segoe UI"/>
              </a:rPr>
              <a:t>• Decidir entre PCA, IncrementalPCA y PCA(svd_solver="randomized") según memoria y velocidad.</a:t>
            </a:r>
          </a:p>
          <a:p>
            <a:pPr>
              <a:spcAft>
                <a:spcPts val="800"/>
              </a:spcAft>
              <a:defRPr sz="1400" b="0">
                <a:solidFill>
                  <a:srgbClr val="0F172A"/>
                </a:solidFill>
                <a:latin typeface="Segoe UI"/>
              </a:defRPr>
            </a:pPr>
            <a:r>
              <a:rPr sz="1400" b="0">
                <a:solidFill>
                  <a:srgbClr val="0F172A"/>
                </a:solidFill>
                <a:latin typeface="Segoe UI"/>
              </a:rPr>
              <a:t>• Aplicar KernelPCA (RBF/poly) para datasets con estructura no-lineal y tunear gamma con GridSearchCV.</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092 — PCA: proyección, varianza explicada, incremental, randomized, kernel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Maldición de la dimensionalidad y motivación de PCA.</a:t>
            </a:r>
          </a:p>
          <a:p>
            <a:pPr>
              <a:spcAft>
                <a:spcPts val="1000"/>
              </a:spcAft>
              <a:defRPr sz="1600" b="0">
                <a:solidFill>
                  <a:srgbClr val="0F172A"/>
                </a:solidFill>
                <a:latin typeface="Segoe UI"/>
              </a:defRPr>
            </a:pPr>
            <a:r>
              <a:rPr sz="1600" b="0">
                <a:solidFill>
                  <a:srgbClr val="0F172A"/>
                </a:solidFill>
                <a:latin typeface="Segoe UI"/>
              </a:rPr>
              <a:t>• Proyección al subespacio de máxima varianza: intuición geométrica.</a:t>
            </a:r>
          </a:p>
          <a:p>
            <a:pPr>
              <a:spcAft>
                <a:spcPts val="1000"/>
              </a:spcAft>
              <a:defRPr sz="1600" b="0">
                <a:solidFill>
                  <a:srgbClr val="0F172A"/>
                </a:solidFill>
                <a:latin typeface="Segoe UI"/>
              </a:defRPr>
            </a:pPr>
            <a:r>
              <a:rPr sz="1600" b="0">
                <a:solidFill>
                  <a:srgbClr val="0F172A"/>
                </a:solidFill>
                <a:latin typeface="Segoe UI"/>
              </a:rPr>
              <a:t>• SVD como motor algebraico de PCA.</a:t>
            </a:r>
          </a:p>
          <a:p>
            <a:pPr>
              <a:spcAft>
                <a:spcPts val="1000"/>
              </a:spcAft>
              <a:defRPr sz="1600" b="0">
                <a:solidFill>
                  <a:srgbClr val="0F172A"/>
                </a:solidFill>
                <a:latin typeface="Segoe UI"/>
              </a:defRPr>
            </a:pPr>
            <a:r>
              <a:rPr sz="1600" b="0">
                <a:solidFill>
                  <a:srgbClr val="0F172A"/>
                </a:solidFill>
                <a:latin typeface="Segoe UI"/>
              </a:rPr>
              <a:t>• Varianza explicada y elección de n_components (entero, ratio, "mle").</a:t>
            </a:r>
          </a:p>
          <a:p>
            <a:pPr>
              <a:spcAft>
                <a:spcPts val="1000"/>
              </a:spcAft>
              <a:defRPr sz="1600" b="0">
                <a:solidFill>
                  <a:srgbClr val="0F172A"/>
                </a:solidFill>
                <a:latin typeface="Segoe UI"/>
              </a:defRPr>
            </a:pPr>
            <a:r>
              <a:rPr sz="1600" b="0">
                <a:solidFill>
                  <a:srgbClr val="0F172A"/>
                </a:solidFill>
                <a:latin typeface="Segoe UI"/>
              </a:rPr>
              <a:t>• IncrementalPCA para datasets que no entran en RAM (partial_fit).</a:t>
            </a:r>
          </a:p>
          <a:p>
            <a:pPr>
              <a:spcAft>
                <a:spcPts val="1000"/>
              </a:spcAft>
              <a:defRPr sz="1600" b="0">
                <a:solidFill>
                  <a:srgbClr val="0F172A"/>
                </a:solidFill>
                <a:latin typeface="Segoe UI"/>
              </a:defRPr>
            </a:pPr>
            <a:r>
              <a:rPr sz="1600" b="0">
                <a:solidFill>
                  <a:srgbClr val="0F172A"/>
                </a:solidFill>
                <a:latin typeface="Segoe UI"/>
              </a:rPr>
              <a:t>• Randomized PCA (svd_solver="randomized") para acelerar en alta dimensión.</a:t>
            </a:r>
          </a:p>
          <a:p>
            <a:pPr>
              <a:spcAft>
                <a:spcPts val="1000"/>
              </a:spcAft>
              <a:defRPr sz="1600" b="0">
                <a:solidFill>
                  <a:srgbClr val="0F172A"/>
                </a:solidFill>
                <a:latin typeface="Segoe UI"/>
              </a:defRPr>
            </a:pPr>
            <a:r>
              <a:rPr sz="1600" b="0">
                <a:solidFill>
                  <a:srgbClr val="0F172A"/>
                </a:solidFill>
                <a:latin typeface="Segoe UI"/>
              </a:rPr>
              <a:t>• KernelPCA con kernels RBF, polinómico y sigmoide; tuning de gamma.</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092 — PCA: proyección, varianza explicada, incremental, randomized, kernel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Estandarizamos y proyectamos. components_ son combinaciones lineales ortonormales de las features originales.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load_digits</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from sklearn.decomposition import PCA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X = load_digits().data</a:t>
            </a:r>
          </a:p>
          <a:p>
            <a:pPr>
              <a:defRPr sz="1200" b="0">
                <a:solidFill>
                  <a:srgbClr val="F8FAFC"/>
                </a:solidFill>
                <a:latin typeface="Courier New"/>
              </a:defRPr>
            </a:pPr>
            <a:r>
              <a:rPr sz="1200" b="0">
                <a:solidFill>
                  <a:srgbClr val="F8FAFC"/>
                </a:solidFill>
                <a:latin typeface="Courier New"/>
              </a:rPr>
              <a:t>y = load_digits().target</a:t>
            </a:r>
          </a:p>
          <a:p>
            <a:pPr>
              <a:defRPr sz="1200" b="0">
                <a:solidFill>
                  <a:srgbClr val="F8FAFC"/>
                </a:solidFill>
                <a:latin typeface="Courier New"/>
              </a:defRPr>
            </a:pPr>
            <a:r>
              <a:rPr sz="1200" b="0">
                <a:solidFill>
                  <a:srgbClr val="F8FAFC"/>
                </a:solidFill>
                <a:latin typeface="Courier New"/>
              </a:rPr>
              <a:t>Xs = StandardScaler().fit_transform(X)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pca = PCA(random_state=42).fit(Xs)</a:t>
            </a:r>
          </a:p>
          <a:p>
            <a:pPr>
              <a:defRPr sz="1200" b="0">
                <a:solidFill>
                  <a:srgbClr val="F8FAFC"/>
                </a:solidFill>
                <a:latin typeface="Courier New"/>
              </a:defRPr>
            </a:pPr>
            <a:r>
              <a:rPr sz="1200" b="0">
                <a:solidFill>
                  <a:srgbClr val="F8FAFC"/>
                </a:solidFill>
                <a:latin typeface="Courier New"/>
              </a:rPr>
              <a:t>print("X:", Xs.shape, "| components_:", pca.components_.shape)</a:t>
            </a:r>
          </a:p>
          <a:p>
            <a:pPr>
              <a:defRPr sz="1200" b="0">
                <a:solidFill>
                  <a:srgbClr val="F8FAFC"/>
                </a:solidFill>
                <a:latin typeface="Courier New"/>
              </a:defRPr>
            </a:pPr>
            <a:r>
              <a:rPr sz="1200" b="0">
                <a:solidFill>
                  <a:srgbClr val="F8FAFC"/>
                </a:solidFill>
                <a:latin typeface="Courier New"/>
              </a:rPr>
              <a:t>print("primeros 5 explained_variance_ratio_:", pca.explained_variance_ratio_[:5].round(4))</a:t>
            </a:r>
          </a:p>
          <a:p>
            <a:pPr>
              <a:defRPr sz="1200" b="0">
                <a:solidFill>
                  <a:srgbClr val="F8FAFC"/>
                </a:solidFill>
                <a:latin typeface="Courier New"/>
              </a:defRPr>
            </a:pPr>
            <a:r>
              <a:rPr sz="1200" b="0">
                <a:solidFill>
                  <a:srgbClr val="F8FAFC"/>
                </a:solidFill>
                <a:latin typeface="Courier New"/>
              </a:rPr>
              <a:t>assert pca.explained_variance_ratio_[0] &gt;= pca.explained_variance_ratio_[1]</a:t>
            </a:r>
          </a:p>
          <a:p>
            <a:pPr>
              <a:defRPr sz="1200" b="0">
                <a:solidFill>
                  <a:srgbClr val="F8FAFC"/>
                </a:solidFill>
                <a:latin typeface="Courier New"/>
              </a:defRPr>
            </a:pPr>
            <a:r>
              <a:rPr sz="1200" b="0">
                <a:solidFill>
                  <a:srgbClr val="F8FAFC"/>
                </a:solidFill>
                <a:latin typeface="Courier New"/>
              </a:rPr>
              <a:t>print("los ratios vienen ordenados de mayor a menor: OK")</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092 — PCA: proyección, varianza explicada, incremental, randomized, kernel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Cargá MNIST, aplicá StandardScaler + PCA(n_components=0.95) y reportá cuántos componentes quedaron.</a:t>
            </a:r>
          </a:p>
          <a:p>
            <a:pPr>
              <a:spcAft>
                <a:spcPts val="800"/>
              </a:spcAft>
              <a:defRPr sz="1400" b="0">
                <a:solidFill>
                  <a:srgbClr val="0F172A"/>
                </a:solidFill>
                <a:latin typeface="Segoe UI"/>
              </a:defRPr>
            </a:pPr>
            <a:r>
              <a:rPr sz="1400" b="0">
                <a:solidFill>
                  <a:srgbClr val="0F172A"/>
                </a:solidFill>
                <a:latin typeface="Segoe UI"/>
              </a:rPr>
              <a:t>• Graficá la curva de varianza acumulada (cumsum(explained_variance_ratio_)) y marcá el codo.</a:t>
            </a:r>
          </a:p>
          <a:p>
            <a:pPr>
              <a:spcAft>
                <a:spcPts val="800"/>
              </a:spcAft>
              <a:defRPr sz="1400" b="0">
                <a:solidFill>
                  <a:srgbClr val="0F172A"/>
                </a:solidFill>
                <a:latin typeface="Segoe UI"/>
              </a:defRPr>
            </a:pPr>
            <a:r>
              <a:rPr sz="1400" b="0">
                <a:solidFill>
                  <a:srgbClr val="0F172A"/>
                </a:solidFill>
                <a:latin typeface="Segoe UI"/>
              </a:rPr>
              <a:t>• Compará tiempos de PCA(svd_solver="full") vs "randomized" sobre MNIST con %timeit.</a:t>
            </a:r>
          </a:p>
          <a:p>
            <a:pPr>
              <a:spcAft>
                <a:spcPts val="800"/>
              </a:spcAft>
              <a:defRPr sz="1400" b="0">
                <a:solidFill>
                  <a:srgbClr val="0F172A"/>
                </a:solidFill>
                <a:latin typeface="Segoe UI"/>
              </a:defRPr>
            </a:pPr>
            <a:r>
              <a:rPr sz="1400" b="0">
                <a:solidFill>
                  <a:srgbClr val="0F172A"/>
                </a:solidFill>
                <a:latin typeface="Segoe UI"/>
              </a:rPr>
              <a:t>• Usá IncrementalPCA con n_batches=100 y verificá que el resultado se aproxima al PCA full (cosine similarity entre componentes &gt; 0.99).</a:t>
            </a:r>
          </a:p>
          <a:p>
            <a:pPr>
              <a:spcAft>
                <a:spcPts val="800"/>
              </a:spcAft>
              <a:defRPr sz="1400" b="0">
                <a:solidFill>
                  <a:srgbClr val="0F172A"/>
                </a:solidFill>
                <a:latin typeface="Segoe UI"/>
              </a:defRPr>
            </a:pPr>
            <a:r>
              <a:rPr sz="1400" b="0">
                <a:solidFill>
                  <a:srgbClr val="0F172A"/>
                </a:solidFill>
                <a:latin typeface="Segoe UI"/>
              </a:rPr>
              <a:t>• Sobre make_swiss_roll(n_samples=1000), aplicá KernelPCA(kernel="rbf", gamma=0.04, n_components=2) y comparalo con PCA lineal en un scatter 2D.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Reportá accuracy con n_components=50, 100, 154 (154 ≈ 95% varianza).</a:t>
            </a:r>
          </a:p>
          <a:p>
            <a:pPr>
              <a:spcAft>
                <a:spcPts val="800"/>
              </a:spcAft>
              <a:defRPr sz="1500" b="0">
                <a:solidFill>
                  <a:srgbClr val="0F172A"/>
                </a:solidFill>
                <a:latin typeface="Segoe UI"/>
              </a:defRPr>
            </a:pPr>
            <a:r>
              <a:rPr sz="1500" b="0">
                <a:solidFill>
                  <a:srgbClr val="0F172A"/>
                </a:solidFill>
                <a:latin typeface="Segoe UI"/>
              </a:rPr>
              <a:t>• Mostrá la matriz pipe.named_steps["pca"].components_.shape y el explained_variance_ratio_.sum().</a:t>
            </a:r>
          </a:p>
          <a:p>
            <a:pPr>
              <a:spcAft>
                <a:spcPts val="800"/>
              </a:spcAft>
              <a:defRPr sz="1500" b="0">
                <a:solidFill>
                  <a:srgbClr val="0F172A"/>
                </a:solidFill>
                <a:latin typeface="Segoe UI"/>
              </a:defRPr>
            </a:pPr>
            <a:r>
              <a:rPr sz="1500" b="0">
                <a:solidFill>
                  <a:srgbClr val="0F172A"/>
                </a:solidFill>
                <a:latin typeface="Segoe UI"/>
              </a:rPr>
              <a:t>• Entregá notebook + un párrafo explicando el trade-off accuracy vs nº de componentes.</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093 — LLE (Locally Linear Embedding)</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093 — LLE (Locally Linear Embedding)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8.  Duración estimada: 45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LLE como técnica no lineal de reducción de dimensionalidad basada en manifold learning: preservar las relaciones lineales locales entre cada punto y sus vecinos para "desenrollar" estructuras curvas (Swiss roll, S-curve) donde PCA falla.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intuición de LLE: cada punto se reconstruye como combinación lineal de sus k vecinos, y esa relación se preserva en baja dimensión.</a:t>
            </a:r>
          </a:p>
          <a:p>
            <a:pPr>
              <a:spcAft>
                <a:spcPts val="800"/>
              </a:spcAft>
              <a:defRPr sz="1400" b="0">
                <a:solidFill>
                  <a:srgbClr val="0F172A"/>
                </a:solidFill>
                <a:latin typeface="Segoe UI"/>
              </a:defRPr>
            </a:pPr>
            <a:r>
              <a:rPr sz="1400" b="0">
                <a:solidFill>
                  <a:srgbClr val="0F172A"/>
                </a:solidFill>
                <a:latin typeface="Segoe UI"/>
              </a:rPr>
              <a:t>• Aplicar sklearn.manifold.LocallyLinearEmbedding sobre un dataset no lineal (Swiss roll) y visualizar el resultado en 2D.</a:t>
            </a:r>
          </a:p>
          <a:p>
            <a:pPr>
              <a:spcAft>
                <a:spcPts val="800"/>
              </a:spcAft>
              <a:defRPr sz="1400" b="0">
                <a:solidFill>
                  <a:srgbClr val="0F172A"/>
                </a:solidFill>
                <a:latin typeface="Segoe UI"/>
              </a:defRPr>
            </a:pPr>
            <a:r>
              <a:rPr sz="1400" b="0">
                <a:solidFill>
                  <a:srgbClr val="0F172A"/>
                </a:solidFill>
                <a:latin typeface="Segoe UI"/>
              </a:rPr>
              <a:t>• Elegir el hiperparámetro n_neighbors y discutir su impacto (sub/sobre-ajuste local).</a:t>
            </a:r>
          </a:p>
          <a:p>
            <a:pPr>
              <a:spcAft>
                <a:spcPts val="800"/>
              </a:spcAft>
              <a:defRPr sz="1400" b="0">
                <a:solidFill>
                  <a:srgbClr val="0F172A"/>
                </a:solidFill>
                <a:latin typeface="Segoe UI"/>
              </a:defRPr>
            </a:pPr>
            <a:r>
              <a:rPr sz="1400" b="0">
                <a:solidFill>
                  <a:srgbClr val="0F172A"/>
                </a:solidFill>
                <a:latin typeface="Segoe UI"/>
              </a:rPr>
              <a:t>• Comparar LLE contra PCA y otras técnicas no lineales (Isomap, t-SNE) en términos de qué preservan.</a:t>
            </a:r>
          </a:p>
          <a:p>
            <a:pPr>
              <a:spcAft>
                <a:spcPts val="800"/>
              </a:spcAft>
              <a:defRPr sz="1400" b="0">
                <a:solidFill>
                  <a:srgbClr val="0F172A"/>
                </a:solidFill>
                <a:latin typeface="Segoe UI"/>
              </a:defRPr>
            </a:pPr>
            <a:r>
              <a:rPr sz="1400" b="0">
                <a:solidFill>
                  <a:srgbClr val="0F172A"/>
                </a:solidFill>
                <a:latin typeface="Segoe UI"/>
              </a:rPr>
              <a:t>• Identificar cuándo LLE es apropiado y cuándo conviene usar la variante Modified LLE.</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093 — LLE (Locally Linear Embedding)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Motivación: limitaciones de PCA en manifolds curvos.</a:t>
            </a:r>
          </a:p>
          <a:p>
            <a:pPr>
              <a:spcAft>
                <a:spcPts val="1000"/>
              </a:spcAft>
              <a:defRPr sz="1600" b="0">
                <a:solidFill>
                  <a:srgbClr val="0F172A"/>
                </a:solidFill>
                <a:latin typeface="Segoe UI"/>
              </a:defRPr>
            </a:pPr>
            <a:r>
              <a:rPr sz="1600" b="0">
                <a:solidFill>
                  <a:srgbClr val="0F172A"/>
                </a:solidFill>
                <a:latin typeface="Segoe UI"/>
              </a:rPr>
              <a:t>• Algoritmo LLE en dos pasos: (1) pesos de reconstrucción local, (2) embedding que preserva esos pesos.</a:t>
            </a:r>
          </a:p>
          <a:p>
            <a:pPr>
              <a:spcAft>
                <a:spcPts val="1000"/>
              </a:spcAft>
              <a:defRPr sz="1600" b="0">
                <a:solidFill>
                  <a:srgbClr val="0F172A"/>
                </a:solidFill>
                <a:latin typeface="Segoe UI"/>
              </a:defRPr>
            </a:pPr>
            <a:r>
              <a:rPr sz="1600" b="0">
                <a:solidFill>
                  <a:srgbClr val="0F172A"/>
                </a:solidFill>
                <a:latin typeface="Segoe UI"/>
              </a:rPr>
              <a:t>• Hiperparámetros: n_neighbors, n_components, method (standard, modified, hessian, ltsa).</a:t>
            </a:r>
          </a:p>
          <a:p>
            <a:pPr>
              <a:spcAft>
                <a:spcPts val="1000"/>
              </a:spcAft>
              <a:defRPr sz="1600" b="0">
                <a:solidFill>
                  <a:srgbClr val="0F172A"/>
                </a:solidFill>
                <a:latin typeface="Segoe UI"/>
              </a:defRPr>
            </a:pPr>
            <a:r>
              <a:rPr sz="1600" b="0">
                <a:solidFill>
                  <a:srgbClr val="0F172A"/>
                </a:solidFill>
                <a:latin typeface="Segoe UI"/>
              </a:rPr>
              <a:t>• Variantes: Modified LLE (MLLE), Hessian LLE, LTSA.</a:t>
            </a:r>
          </a:p>
          <a:p>
            <a:pPr>
              <a:spcAft>
                <a:spcPts val="1000"/>
              </a:spcAft>
              <a:defRPr sz="1600" b="0">
                <a:solidFill>
                  <a:srgbClr val="0F172A"/>
                </a:solidFill>
                <a:latin typeface="Segoe UI"/>
              </a:defRPr>
            </a:pPr>
            <a:r>
              <a:rPr sz="1600" b="0">
                <a:solidFill>
                  <a:srgbClr val="0F172A"/>
                </a:solidFill>
                <a:latin typeface="Segoe UI"/>
              </a:rPr>
              <a:t>• Visualización del Swiss roll antes y después.</a:t>
            </a:r>
          </a:p>
          <a:p>
            <a:pPr>
              <a:spcAft>
                <a:spcPts val="1000"/>
              </a:spcAft>
              <a:defRPr sz="1600" b="0">
                <a:solidFill>
                  <a:srgbClr val="0F172A"/>
                </a:solidFill>
                <a:latin typeface="Segoe UI"/>
              </a:defRPr>
            </a:pPr>
            <a:r>
              <a:rPr sz="1600" b="0">
                <a:solidFill>
                  <a:srgbClr val="0F172A"/>
                </a:solidFill>
                <a:latin typeface="Segoe UI"/>
              </a:rPr>
              <a:t>• Limitaciones: costo computacional O(m log(m) · n · k³ + m · n · k²) y sensibilidad al ruido.</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093 — LLE (Locally Linear Embedding)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Manifold curvo 3D coloreado por la coordenada t a lo largo del rollo.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make_swiss_roll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X, t = make_swiss_roll(n_samples=1000, noise=0.2, random_state=42)</a:t>
            </a:r>
          </a:p>
          <a:p>
            <a:pPr>
              <a:defRPr sz="1200" b="0">
                <a:solidFill>
                  <a:srgbClr val="F8FAFC"/>
                </a:solidFill>
                <a:latin typeface="Courier New"/>
              </a:defRPr>
            </a:pPr>
            <a:r>
              <a:rPr sz="1200" b="0">
                <a:solidFill>
                  <a:srgbClr val="F8FAFC"/>
                </a:solidFill>
                <a:latin typeface="Courier New"/>
              </a:rPr>
              <a:t>print("swiss roll:", X.shape, "| t:", t.shape)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fig = plt.figure(figsize=(7, 5))</a:t>
            </a:r>
          </a:p>
          <a:p>
            <a:pPr>
              <a:defRPr sz="1200" b="0">
                <a:solidFill>
                  <a:srgbClr val="F8FAFC"/>
                </a:solidFill>
                <a:latin typeface="Courier New"/>
              </a:defRPr>
            </a:pPr>
            <a:r>
              <a:rPr sz="1200" b="0">
                <a:solidFill>
                  <a:srgbClr val="F8FAFC"/>
                </a:solidFill>
                <a:latin typeface="Courier New"/>
              </a:rPr>
              <a:t>ax = fig.add_subplot(111, projection="3d")</a:t>
            </a:r>
          </a:p>
          <a:p>
            <a:pPr>
              <a:defRPr sz="1200" b="0">
                <a:solidFill>
                  <a:srgbClr val="F8FAFC"/>
                </a:solidFill>
                <a:latin typeface="Courier New"/>
              </a:defRPr>
            </a:pPr>
            <a:r>
              <a:rPr sz="1200" b="0">
                <a:solidFill>
                  <a:srgbClr val="F8FAFC"/>
                </a:solidFill>
                <a:latin typeface="Courier New"/>
              </a:rPr>
              <a:t>ax.scatter(X[:, 0], X[:, 1], X[:, 2], c=t, cmap="Spectral", s=8)</a:t>
            </a:r>
          </a:p>
          <a:p>
            <a:pPr>
              <a:defRPr sz="1200" b="0">
                <a:solidFill>
                  <a:srgbClr val="F8FAFC"/>
                </a:solidFill>
                <a:latin typeface="Courier New"/>
              </a:defRPr>
            </a:pPr>
            <a:r>
              <a:rPr sz="1200" b="0">
                <a:solidFill>
                  <a:srgbClr val="F8FAFC"/>
                </a:solidFill>
                <a:latin typeface="Courier New"/>
              </a:rPr>
              <a:t>ax.set_title("Swiss roll 3D (color = t)")</a:t>
            </a:r>
          </a:p>
          <a:p>
            <a:pPr>
              <a:defRPr sz="1200" b="0">
                <a:solidFill>
                  <a:srgbClr val="F8FAFC"/>
                </a:solidFill>
                <a:latin typeface="Courier New"/>
              </a:defRPr>
            </a:pPr>
            <a:r>
              <a:rPr sz="1200" b="0">
                <a:solidFill>
                  <a:srgbClr val="F8FAFC"/>
                </a:solidFill>
                <a:latin typeface="Courier New"/>
              </a:rPr>
              <a:t>plt.tight_layout(); plt.show()</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093 — LLE (Locally Linear Embedding)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Swiss roll básico: generá un Swiss roll de 1000 puntos, aplicá LocallyLinearEmbedding(n_neighbors=10, n_components=2) y graficá el resultado coloreando por la coordenada original t.</a:t>
            </a:r>
          </a:p>
          <a:p>
            <a:pPr>
              <a:spcAft>
                <a:spcPts val="800"/>
              </a:spcAft>
              <a:defRPr sz="1400" b="0">
                <a:solidFill>
                  <a:srgbClr val="0F172A"/>
                </a:solidFill>
                <a:latin typeface="Segoe UI"/>
              </a:defRPr>
            </a:pPr>
            <a:r>
              <a:rPr sz="1400" b="0">
                <a:solidFill>
                  <a:srgbClr val="0F172A"/>
                </a:solidFill>
                <a:latin typeface="Segoe UI"/>
              </a:rPr>
              <a:t>• Comparación con PCA: sobre el mismo Swiss roll, aplicá PCA(n_components=2) y compará visualmente.</a:t>
            </a:r>
          </a:p>
          <a:p>
            <a:pPr>
              <a:spcAft>
                <a:spcPts val="800"/>
              </a:spcAft>
              <a:defRPr sz="1400" b="0">
                <a:solidFill>
                  <a:srgbClr val="0F172A"/>
                </a:solidFill>
                <a:latin typeface="Segoe UI"/>
              </a:defRPr>
            </a:pPr>
            <a:r>
              <a:rPr sz="1400" b="0">
                <a:solidFill>
                  <a:srgbClr val="0F172A"/>
                </a:solidFill>
                <a:latin typeface="Segoe UI"/>
              </a:rPr>
              <a:t>• Barrido de n_neighbors: probá n_neighbors ∈ {5, 10, 30, 100} y graficá los 4 embeddings en una grilla 2×2.</a:t>
            </a:r>
          </a:p>
          <a:p>
            <a:pPr>
              <a:spcAft>
                <a:spcPts val="800"/>
              </a:spcAft>
              <a:defRPr sz="1400" b="0">
                <a:solidFill>
                  <a:srgbClr val="0F172A"/>
                </a:solidFill>
                <a:latin typeface="Segoe UI"/>
              </a:defRPr>
            </a:pPr>
            <a:r>
              <a:rPr sz="1400" b="0">
                <a:solidFill>
                  <a:srgbClr val="0F172A"/>
                </a:solidFill>
                <a:latin typeface="Segoe UI"/>
              </a:rPr>
              <a:t>• Modified LLE: repetí el ejercicio 1 con method='modified' y n_neighbors=12.</a:t>
            </a:r>
          </a:p>
          <a:p>
            <a:pPr>
              <a:spcAft>
                <a:spcPts val="800"/>
              </a:spcAft>
              <a:defRPr sz="1400" b="0">
                <a:solidFill>
                  <a:srgbClr val="0F172A"/>
                </a:solidFill>
                <a:latin typeface="Segoe UI"/>
              </a:defRPr>
            </a:pPr>
            <a:r>
              <a:rPr sz="1400" b="0">
                <a:solidFill>
                  <a:srgbClr val="0F172A"/>
                </a:solidFill>
                <a:latin typeface="Segoe UI"/>
              </a:rPr>
              <a:t>• LLE sobre datos reales: cargá load_digits() (64 dimensiones) y proyectá a 2D con LLE.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Generá un Swiss roll con n_samples=1500 y random_state=42. Aplicá LLE estándar y MLLE (ambos con n_neighbors=12, n_components=2). Guardá los dos arrays resultantes en embeddings.npz con keys lle y mlle.</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094 — MDS, Isomap, t-SNE, UMAP, LDA</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094 — MDS, Isomap, t-SNE, UMAP, LDA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8 + UMAP docs.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y aplicar técnicas de reducción de dimensionalidad más allá de PCA: MDS, Isomap, t-SNE, UMAP y LDA. Entender qué preserva cada una (distancias, geodésicas, vecindarios locales, estructura global, separación entre clases) y cuándo elegir cada método según el problema (visualización 2D, preprocesamiento para clasificación, datos en variedades no lineales).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Distinguís entre métodos lineales (PCA, LDA) y no lineales (Isomap, t-SNE, UMAP) y sabés cuándo usar cada uno.</a:t>
            </a:r>
          </a:p>
          <a:p>
            <a:pPr>
              <a:spcAft>
                <a:spcPts val="800"/>
              </a:spcAft>
              <a:defRPr sz="1400" b="0">
                <a:solidFill>
                  <a:srgbClr val="0F172A"/>
                </a:solidFill>
                <a:latin typeface="Segoe UI"/>
              </a:defRPr>
            </a:pPr>
            <a:r>
              <a:rPr sz="1400" b="0">
                <a:solidFill>
                  <a:srgbClr val="0F172A"/>
                </a:solidFill>
                <a:latin typeface="Segoe UI"/>
              </a:rPr>
              <a:t>• Aplicás MDS, Isomap, TSNE, umap.UMAP y LinearDiscriminantAnalysis de scikit-learn / umap-learn sobre datasets reales.</a:t>
            </a:r>
          </a:p>
          <a:p>
            <a:pPr>
              <a:spcAft>
                <a:spcPts val="800"/>
              </a:spcAft>
              <a:defRPr sz="1400" b="0">
                <a:solidFill>
                  <a:srgbClr val="0F172A"/>
                </a:solidFill>
                <a:latin typeface="Segoe UI"/>
              </a:defRPr>
            </a:pPr>
            <a:r>
              <a:rPr sz="1400" b="0">
                <a:solidFill>
                  <a:srgbClr val="0F172A"/>
                </a:solidFill>
                <a:latin typeface="Segoe UI"/>
              </a:rPr>
              <a:t>• Configurás los hiperparámetros clave: perplexity (t-SNE), n_neighbors y min_dist (UMAP), n_neighbors (Isomap).</a:t>
            </a:r>
          </a:p>
          <a:p>
            <a:pPr>
              <a:spcAft>
                <a:spcPts val="800"/>
              </a:spcAft>
              <a:defRPr sz="1400" b="0">
                <a:solidFill>
                  <a:srgbClr val="0F172A"/>
                </a:solidFill>
                <a:latin typeface="Segoe UI"/>
              </a:defRPr>
            </a:pPr>
            <a:r>
              <a:rPr sz="1400" b="0">
                <a:solidFill>
                  <a:srgbClr val="0F172A"/>
                </a:solidFill>
                <a:latin typeface="Segoe UI"/>
              </a:rPr>
              <a:t>• Interpretás correctamente embeddings 2D: qué significan los clusters, qué NO significan las distancias entre clusters en t-SNE.</a:t>
            </a:r>
          </a:p>
          <a:p>
            <a:pPr>
              <a:spcAft>
                <a:spcPts val="800"/>
              </a:spcAft>
              <a:defRPr sz="1400" b="0">
                <a:solidFill>
                  <a:srgbClr val="0F172A"/>
                </a:solidFill>
                <a:latin typeface="Segoe UI"/>
              </a:defRPr>
            </a:pPr>
            <a:r>
              <a:rPr sz="1400" b="0">
                <a:solidFill>
                  <a:srgbClr val="0F172A"/>
                </a:solidFill>
                <a:latin typeface="Segoe UI"/>
              </a:rPr>
              <a:t>• Justificás por qué UMAP suele ser preferible a t-SNE: más rápido, preserva mejor la estructura global y es determinista con random_state.</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094 — MDS, Isomap, t-SNE, UMAP, LDA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No lineal</a:t>
            </a:r>
          </a:p>
          <a:p>
            <a:pPr>
              <a:spcAft>
                <a:spcPts val="1000"/>
              </a:spcAft>
              <a:defRPr sz="1600" b="0">
                <a:solidFill>
                  <a:srgbClr val="0F172A"/>
                </a:solidFill>
                <a:latin typeface="Segoe UI"/>
              </a:defRPr>
            </a:pPr>
            <a:r>
              <a:rPr sz="1600" b="0">
                <a:solidFill>
                  <a:srgbClr val="0F172A"/>
                </a:solidFill>
                <a:latin typeface="Segoe UI"/>
              </a:rPr>
              <a:t>• No lineal</a:t>
            </a:r>
          </a:p>
          <a:p>
            <a:pPr>
              <a:spcAft>
                <a:spcPts val="1000"/>
              </a:spcAft>
              <a:defRPr sz="1600" b="0">
                <a:solidFill>
                  <a:srgbClr val="0F172A"/>
                </a:solidFill>
                <a:latin typeface="Segoe UI"/>
              </a:defRPr>
            </a:pPr>
            <a:r>
              <a:rPr sz="1600" b="0">
                <a:solidFill>
                  <a:srgbClr val="0F172A"/>
                </a:solidFill>
                <a:latin typeface="Segoe UI"/>
              </a:rPr>
              <a:t>• No lineal</a:t>
            </a:r>
          </a:p>
          <a:p>
            <a:pPr>
              <a:spcAft>
                <a:spcPts val="1000"/>
              </a:spcAft>
              <a:defRPr sz="1600" b="0">
                <a:solidFill>
                  <a:srgbClr val="0F172A"/>
                </a:solidFill>
                <a:latin typeface="Segoe UI"/>
              </a:defRPr>
            </a:pPr>
            <a:r>
              <a:rPr sz="1600" b="0">
                <a:solidFill>
                  <a:srgbClr val="0F172A"/>
                </a:solidFill>
                <a:latin typeface="Segoe UI"/>
              </a:rPr>
              <a:t>• No lineal</a:t>
            </a:r>
          </a:p>
          <a:p>
            <a:pPr>
              <a:spcAft>
                <a:spcPts val="1000"/>
              </a:spcAft>
              <a:defRPr sz="1600" b="0">
                <a:solidFill>
                  <a:srgbClr val="0F172A"/>
                </a:solidFill>
                <a:latin typeface="Segoe UI"/>
              </a:defRPr>
            </a:pPr>
            <a:r>
              <a:rPr sz="1600" b="0">
                <a:solidFill>
                  <a:srgbClr val="0F172A"/>
                </a:solidFill>
                <a:latin typeface="Segoe UI"/>
              </a:rPr>
              <a:t>• Lineal supervisado</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094 — MDS, Isomap, t-SNE, UMAP, LDA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Swiss roll para métodos de manifold; digits (subset de 500) para t-SNE/LDA.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make_swiss_roll, load_digits</a:t>
            </a:r>
          </a:p>
          <a:p>
            <a:pPr>
              <a:defRPr sz="1200" b="0">
                <a:solidFill>
                  <a:srgbClr val="F8FAFC"/>
                </a:solidFill>
                <a:latin typeface="Courier New"/>
              </a:defRPr>
            </a:pPr>
            <a:r>
              <a:rPr sz="1200" b="0">
                <a:solidFill>
                  <a:srgbClr val="F8FAFC"/>
                </a:solidFill>
                <a:latin typeface="Courier New"/>
              </a:rPr>
              <a:t>from sklearn.preprocessing import StandardScaler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Xsr, color = make_swiss_roll(n_samples=800, noise=0.05,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Xd_full, yd_full = load_digits(return_X_y=True)</a:t>
            </a:r>
          </a:p>
          <a:p>
            <a:pPr>
              <a:defRPr sz="1200" b="0">
                <a:solidFill>
                  <a:srgbClr val="F8FAFC"/>
                </a:solidFill>
                <a:latin typeface="Courier New"/>
              </a:defRPr>
            </a:pPr>
            <a:r>
              <a:rPr sz="1200" b="0">
                <a:solidFill>
                  <a:srgbClr val="F8FAFC"/>
                </a:solidFill>
                <a:latin typeface="Courier New"/>
              </a:rPr>
              <a:t>idx = rng.choice(len(Xd_full), size=500, replace=False)</a:t>
            </a:r>
          </a:p>
          <a:p>
            <a:pPr>
              <a:defRPr sz="1200" b="0">
                <a:solidFill>
                  <a:srgbClr val="F8FAFC"/>
                </a:solidFill>
                <a:latin typeface="Courier New"/>
              </a:defRPr>
            </a:pPr>
            <a:r>
              <a:rPr sz="1200" b="0">
                <a:solidFill>
                  <a:srgbClr val="F8FAFC"/>
                </a:solidFill>
                <a:latin typeface="Courier New"/>
              </a:rPr>
              <a:t>Xd, yd = Xd_full[idx], yd_full[idx]</a:t>
            </a:r>
          </a:p>
          <a:p>
            <a:pPr>
              <a:defRPr sz="1200" b="0">
                <a:solidFill>
                  <a:srgbClr val="F8FAFC"/>
                </a:solidFill>
                <a:latin typeface="Courier New"/>
              </a:defRPr>
            </a:pPr>
            <a:r>
              <a:rPr sz="1200" b="0">
                <a:solidFill>
                  <a:srgbClr val="F8FAFC"/>
                </a:solidFill>
                <a:latin typeface="Courier New"/>
              </a:rPr>
              <a:t>Xd_s = StandardScaler().fit_transform(Xd)</a:t>
            </a:r>
          </a:p>
          <a:p>
            <a:pPr>
              <a:defRPr sz="1200" b="0">
                <a:solidFill>
                  <a:srgbClr val="F8FAFC"/>
                </a:solidFill>
                <a:latin typeface="Courier New"/>
              </a:defRPr>
            </a:pPr>
            <a:r>
              <a:rPr sz="1200" b="0">
                <a:solidFill>
                  <a:srgbClr val="F8FAFC"/>
                </a:solidFill>
                <a:latin typeface="Courier New"/>
              </a:rPr>
              <a:t>print("swiss roll:", Xsr.shape, "| digits subset:", Xd.shape)</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094 — MDS, Isomap, t-SNE, UMAP, LDA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Generá un Swiss roll con make_swiss_roll(n_samples=1500) y reducí a 2D con PCA, MDS e Isomap.</a:t>
            </a:r>
          </a:p>
          <a:p>
            <a:pPr>
              <a:spcAft>
                <a:spcPts val="800"/>
              </a:spcAft>
              <a:defRPr sz="1400" b="0">
                <a:solidFill>
                  <a:srgbClr val="0F172A"/>
                </a:solidFill>
                <a:latin typeface="Segoe UI"/>
              </a:defRPr>
            </a:pPr>
            <a:r>
              <a:rPr sz="1400" b="0">
                <a:solidFill>
                  <a:srgbClr val="0F172A"/>
                </a:solidFill>
                <a:latin typeface="Segoe UI"/>
              </a:rPr>
              <a:t>• Cargá load_digits y aplicá t-SNE con perplexity ∈ {5, 30, 50, 100}.</a:t>
            </a:r>
          </a:p>
          <a:p>
            <a:pPr>
              <a:spcAft>
                <a:spcPts val="800"/>
              </a:spcAft>
              <a:defRPr sz="1400" b="0">
                <a:solidFill>
                  <a:srgbClr val="0F172A"/>
                </a:solidFill>
                <a:latin typeface="Segoe UI"/>
              </a:defRPr>
            </a:pPr>
            <a:r>
              <a:rPr sz="1400" b="0">
                <a:solidFill>
                  <a:srgbClr val="0F172A"/>
                </a:solidFill>
                <a:latin typeface="Segoe UI"/>
              </a:rPr>
              <a:t>• Sobre load_digits, compará t-SNE vs UMAP: medí tiempo de ejecución con time.perf_counter() y reportá ambos embeddings 2D.</a:t>
            </a:r>
          </a:p>
          <a:p>
            <a:pPr>
              <a:spcAft>
                <a:spcPts val="800"/>
              </a:spcAft>
              <a:defRPr sz="1400" b="0">
                <a:solidFill>
                  <a:srgbClr val="0F172A"/>
                </a:solidFill>
                <a:latin typeface="Segoe UI"/>
              </a:defRPr>
            </a:pPr>
            <a:r>
              <a:rPr sz="1400" b="0">
                <a:solidFill>
                  <a:srgbClr val="0F172A"/>
                </a:solidFill>
                <a:latin typeface="Segoe UI"/>
              </a:rPr>
              <a:t>• Aplicá LDA a load_digits reduciendo a 2D y a 9D.</a:t>
            </a:r>
          </a:p>
          <a:p>
            <a:pPr>
              <a:spcAft>
                <a:spcPts val="800"/>
              </a:spcAft>
              <a:defRPr sz="1400" b="0">
                <a:solidFill>
                  <a:srgbClr val="0F172A"/>
                </a:solidFill>
                <a:latin typeface="Segoe UI"/>
              </a:defRPr>
            </a:pPr>
            <a:r>
              <a:rPr sz="1400" b="0">
                <a:solidFill>
                  <a:srgbClr val="0F172A"/>
                </a:solidFill>
                <a:latin typeface="Segoe UI"/>
              </a:rPr>
              <a:t>• Con UMAP sobre load_digits, probá n_neighbors ∈ {2, 15, 100} con min_dist=0.1.</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Aplique PCA(2), Isomap(2), t-SNE(2) y UMAP(2).</a:t>
            </a:r>
          </a:p>
          <a:p>
            <a:pPr>
              <a:spcAft>
                <a:spcPts val="800"/>
              </a:spcAft>
              <a:defRPr sz="1500" b="0">
                <a:solidFill>
                  <a:srgbClr val="0F172A"/>
                </a:solidFill>
                <a:latin typeface="Segoe UI"/>
              </a:defRPr>
            </a:pPr>
            <a:r>
              <a:rPr sz="1500" b="0">
                <a:solidFill>
                  <a:srgbClr val="0F172A"/>
                </a:solidFill>
                <a:latin typeface="Segoe UI"/>
              </a:rPr>
              <a:t>• Para cada embedding, entrene un KNeighborsClassifier(n_neighbors=5) con cross_val_score (cv=5) sobre el embedding 2D.</a:t>
            </a:r>
          </a:p>
          <a:p>
            <a:pPr>
              <a:spcAft>
                <a:spcPts val="800"/>
              </a:spcAft>
              <a:defRPr sz="1500" b="0">
                <a:solidFill>
                  <a:srgbClr val="0F172A"/>
                </a:solidFill>
                <a:latin typeface="Segoe UI"/>
              </a:defRPr>
            </a:pPr>
            <a:r>
              <a:rPr sz="1500" b="0">
                <a:solidFill>
                  <a:srgbClr val="0F172A"/>
                </a:solidFill>
                <a:latin typeface="Segoe UI"/>
              </a:rPr>
              <a:t>• Imprima una tabla con método, tiempo de ajuste y accuracy media.</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095 — Clustering K-Means: selección de K, MiniBatch</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095 — Clustering K-Means: selección de K, MiniBatch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9.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K-Means para segmentar datos no etiquetados, elegir el número de clusters K con criterios reproducibles (elbow, silhouette) y escalar el algoritmo con MiniBatchKMeans cuando el dataset no entra cómodo en memoria.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el algoritmo de Lloyd y por qué K-Means++ mejora la inicialización aleatoria.</a:t>
            </a:r>
          </a:p>
          <a:p>
            <a:pPr>
              <a:spcAft>
                <a:spcPts val="800"/>
              </a:spcAft>
              <a:defRPr sz="1400" b="0">
                <a:solidFill>
                  <a:srgbClr val="0F172A"/>
                </a:solidFill>
                <a:latin typeface="Segoe UI"/>
              </a:defRPr>
            </a:pPr>
            <a:r>
              <a:rPr sz="1400" b="0">
                <a:solidFill>
                  <a:srgbClr val="0F172A"/>
                </a:solidFill>
                <a:latin typeface="Segoe UI"/>
              </a:rPr>
              <a:t>• Ajustar KMeans de scikit-learn fijando n_init y random_state para resultados estables.</a:t>
            </a:r>
          </a:p>
          <a:p>
            <a:pPr>
              <a:spcAft>
                <a:spcPts val="800"/>
              </a:spcAft>
              <a:defRPr sz="1400" b="0">
                <a:solidFill>
                  <a:srgbClr val="0F172A"/>
                </a:solidFill>
                <a:latin typeface="Segoe UI"/>
              </a:defRPr>
            </a:pPr>
            <a:r>
              <a:rPr sz="1400" b="0">
                <a:solidFill>
                  <a:srgbClr val="0F172A"/>
                </a:solidFill>
                <a:latin typeface="Segoe UI"/>
              </a:rPr>
              <a:t>• Elegir K combinando elbow method (inercia vs K) y silhouette score.</a:t>
            </a:r>
          </a:p>
          <a:p>
            <a:pPr>
              <a:spcAft>
                <a:spcPts val="800"/>
              </a:spcAft>
              <a:defRPr sz="1400" b="0">
                <a:solidFill>
                  <a:srgbClr val="0F172A"/>
                </a:solidFill>
                <a:latin typeface="Segoe UI"/>
              </a:defRPr>
            </a:pPr>
            <a:r>
              <a:rPr sz="1400" b="0">
                <a:solidFill>
                  <a:srgbClr val="0F172A"/>
                </a:solidFill>
                <a:latin typeface="Segoe UI"/>
              </a:rPr>
              <a:t>• Reemplazar KMeans por MiniBatchKMeans y discutir el trade-off velocidad / calidad.</a:t>
            </a:r>
          </a:p>
          <a:p>
            <a:pPr>
              <a:spcAft>
                <a:spcPts val="800"/>
              </a:spcAft>
              <a:defRPr sz="1400" b="0">
                <a:solidFill>
                  <a:srgbClr val="0F172A"/>
                </a:solidFill>
                <a:latin typeface="Segoe UI"/>
              </a:defRPr>
            </a:pPr>
            <a:r>
              <a:rPr sz="1400" b="0">
                <a:solidFill>
                  <a:srgbClr val="0F172A"/>
                </a:solidFill>
                <a:latin typeface="Segoe UI"/>
              </a:rPr>
              <a:t>• Diagnosticar por qué K-Means falla sin escalado o frente a clusters no esféricos.</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095 — Clustering K-Means: selección de K, MiniBatch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Clustering no supervisado: planteo del problema.</a:t>
            </a:r>
          </a:p>
          <a:p>
            <a:pPr>
              <a:spcAft>
                <a:spcPts val="1000"/>
              </a:spcAft>
              <a:defRPr sz="1600" b="0">
                <a:solidFill>
                  <a:srgbClr val="0F172A"/>
                </a:solidFill>
                <a:latin typeface="Segoe UI"/>
              </a:defRPr>
            </a:pPr>
            <a:r>
              <a:rPr sz="1600" b="0">
                <a:solidFill>
                  <a:srgbClr val="0F172A"/>
                </a:solidFill>
                <a:latin typeface="Segoe UI"/>
              </a:rPr>
              <a:t>• Algoritmo de Lloyd: asignación + actualización de centroides.</a:t>
            </a:r>
          </a:p>
          <a:p>
            <a:pPr>
              <a:spcAft>
                <a:spcPts val="1000"/>
              </a:spcAft>
              <a:defRPr sz="1600" b="0">
                <a:solidFill>
                  <a:srgbClr val="0F172A"/>
                </a:solidFill>
                <a:latin typeface="Segoe UI"/>
              </a:defRPr>
            </a:pPr>
            <a:r>
              <a:rPr sz="1600" b="0">
                <a:solidFill>
                  <a:srgbClr val="0F172A"/>
                </a:solidFill>
                <a:latin typeface="Segoe UI"/>
              </a:rPr>
              <a:t>• Inicialización: random vs K-Means++; rol de n_init.</a:t>
            </a:r>
          </a:p>
          <a:p>
            <a:pPr>
              <a:spcAft>
                <a:spcPts val="1000"/>
              </a:spcAft>
              <a:defRPr sz="1600" b="0">
                <a:solidFill>
                  <a:srgbClr val="0F172A"/>
                </a:solidFill>
                <a:latin typeface="Segoe UI"/>
              </a:defRPr>
            </a:pPr>
            <a:r>
              <a:rPr sz="1600" b="0">
                <a:solidFill>
                  <a:srgbClr val="0F172A"/>
                </a:solidFill>
                <a:latin typeface="Segoe UI"/>
              </a:rPr>
              <a:t>• Inercia (within-cluster sum of squares) como objetivo.</a:t>
            </a:r>
          </a:p>
          <a:p>
            <a:pPr>
              <a:spcAft>
                <a:spcPts val="1000"/>
              </a:spcAft>
              <a:defRPr sz="1600" b="0">
                <a:solidFill>
                  <a:srgbClr val="0F172A"/>
                </a:solidFill>
                <a:latin typeface="Segoe UI"/>
              </a:defRPr>
            </a:pPr>
            <a:r>
              <a:rPr sz="1600" b="0">
                <a:solidFill>
                  <a:srgbClr val="0F172A"/>
                </a:solidFill>
                <a:latin typeface="Segoe UI"/>
              </a:rPr>
              <a:t>• Selección de K: elbow method, silhouette score, gap statistic (mención).</a:t>
            </a:r>
          </a:p>
          <a:p>
            <a:pPr>
              <a:spcAft>
                <a:spcPts val="1000"/>
              </a:spcAft>
              <a:defRPr sz="1600" b="0">
                <a:solidFill>
                  <a:srgbClr val="0F172A"/>
                </a:solidFill>
                <a:latin typeface="Segoe UI"/>
              </a:defRPr>
            </a:pPr>
            <a:r>
              <a:rPr sz="1600" b="0">
                <a:solidFill>
                  <a:srgbClr val="0F172A"/>
                </a:solidFill>
                <a:latin typeface="Segoe UI"/>
              </a:rPr>
              <a:t>• MiniBatchKMeans para datasets grandes / streaming.</a:t>
            </a:r>
          </a:p>
          <a:p>
            <a:pPr>
              <a:spcAft>
                <a:spcPts val="1000"/>
              </a:spcAft>
              <a:defRPr sz="1600" b="0">
                <a:solidFill>
                  <a:srgbClr val="0F172A"/>
                </a:solidFill>
                <a:latin typeface="Segoe UI"/>
              </a:defRPr>
            </a:pPr>
            <a:r>
              <a:rPr sz="1600" b="0">
                <a:solidFill>
                  <a:srgbClr val="0F172A"/>
                </a:solidFill>
                <a:latin typeface="Segoe UI"/>
              </a:rPr>
              <a:t>• Limitaciones: clusters no convexos, densidades distintas, sensibilidad al escalado.</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095 — Clustering K-Means: selección de K, MiniBatch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make_blobs con 5 centros; ajustamos KMeans con n_init y random_state fijos.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make_blobs</a:t>
            </a:r>
          </a:p>
          <a:p>
            <a:pPr>
              <a:defRPr sz="1200" b="0">
                <a:solidFill>
                  <a:srgbClr val="F8FAFC"/>
                </a:solidFill>
                <a:latin typeface="Courier New"/>
              </a:defRPr>
            </a:pPr>
            <a:r>
              <a:rPr sz="1200" b="0">
                <a:solidFill>
                  <a:srgbClr val="F8FAFC"/>
                </a:solidFill>
                <a:latin typeface="Courier New"/>
              </a:rPr>
              <a:t>from sklearn.cluster import KMeans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X, y_true = make_blobs(n_samples=2000, centers=5, cluster_std=0.5,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km = KMeans(n_clusters=5, n_init=10, random_state=42).fit(X)</a:t>
            </a:r>
          </a:p>
          <a:p>
            <a:pPr>
              <a:defRPr sz="1200" b="0">
                <a:solidFill>
                  <a:srgbClr val="F8FAFC"/>
                </a:solidFill>
                <a:latin typeface="Courier New"/>
              </a:defRPr>
            </a:pPr>
            <a:r>
              <a:rPr sz="1200" b="0">
                <a:solidFill>
                  <a:srgbClr val="F8FAFC"/>
                </a:solidFill>
                <a:latin typeface="Courier New"/>
              </a:rPr>
              <a:t>print("inercia:", round(km.inertia_, 2), "| centroides:", km.cluster_centers_.shape)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plt.figure(figsize=(7, 5))</a:t>
            </a:r>
          </a:p>
          <a:p>
            <a:pPr>
              <a:defRPr sz="1200" b="0">
                <a:solidFill>
                  <a:srgbClr val="F8FAFC"/>
                </a:solidFill>
                <a:latin typeface="Courier New"/>
              </a:defRPr>
            </a:pPr>
            <a:r>
              <a:rPr sz="1200" b="0">
                <a:solidFill>
                  <a:srgbClr val="F8FAFC"/>
                </a:solidFill>
                <a:latin typeface="Courier New"/>
              </a:rPr>
              <a:t>plt.scatter(X[:, 0], X[:, 1], c=km.labels_, cmap="tab10", s=8, alpha=0.6)</a:t>
            </a:r>
          </a:p>
          <a:p>
            <a:pPr>
              <a:defRPr sz="1200" b="0">
                <a:solidFill>
                  <a:srgbClr val="F8FAFC"/>
                </a:solidFill>
                <a:latin typeface="Courier New"/>
              </a:defRPr>
            </a:pPr>
            <a:r>
              <a:rPr sz="1200" b="0">
                <a:solidFill>
                  <a:srgbClr val="F8FAFC"/>
                </a:solidFill>
                <a:latin typeface="Courier New"/>
              </a:rPr>
              <a:t>plt.scatter(km.cluster_centers_[:, 0], km.cluster_centers_[:, 1],</a:t>
            </a:r>
          </a:p>
          <a:p>
            <a:pPr>
              <a:defRPr sz="1200" b="0">
                <a:solidFill>
                  <a:srgbClr val="F8FAFC"/>
                </a:solidFill>
                <a:latin typeface="Courier New"/>
              </a:defRPr>
            </a:pPr>
            <a:r>
              <a:rPr sz="1200" b="0">
                <a:solidFill>
                  <a:srgbClr val="F8FAFC"/>
                </a:solidFill>
                <a:latin typeface="Courier New"/>
              </a:rPr>
              <a:t>            c="black", marker="X", s=150, label="centroides")</a:t>
            </a:r>
          </a:p>
          <a:p>
            <a:pPr>
              <a:defRPr sz="1200" b="0">
                <a:solidFill>
                  <a:srgbClr val="F8FAFC"/>
                </a:solidFill>
                <a:latin typeface="Courier New"/>
              </a:defRPr>
            </a:pPr>
            <a:r>
              <a:rPr sz="1200" b="0">
                <a:solidFill>
                  <a:srgbClr val="F8FAFC"/>
                </a:solidFill>
                <a:latin typeface="Courier New"/>
              </a:rPr>
              <a:t>plt.legend(); plt.title("K-Means (K=5) sobre make_blobs")</a:t>
            </a:r>
          </a:p>
          <a:p>
            <a:pPr>
              <a:defRPr sz="1200" b="0">
                <a:solidFill>
                  <a:srgbClr val="F8FAFC"/>
                </a:solidFill>
                <a:latin typeface="Courier New"/>
              </a:defRPr>
            </a:pPr>
            <a:r>
              <a:rPr sz="1200" b="0">
                <a:solidFill>
                  <a:srgbClr val="F8FAFC"/>
                </a:solidFill>
                <a:latin typeface="Courier New"/>
              </a:rPr>
              <a:t>plt.tight_layout(); plt.show()</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095 — Clustering K-Means: selección de K, MiniBatch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Generá blobs con 5 centros, ajustá KMeans(n_clusters=5, n_init=10, random_state=42) y graficá los puntos coloreados por etiqueta junto con cluster_centers_.</a:t>
            </a:r>
          </a:p>
          <a:p>
            <a:pPr>
              <a:spcAft>
                <a:spcPts val="800"/>
              </a:spcAft>
              <a:defRPr sz="1400" b="0">
                <a:solidFill>
                  <a:srgbClr val="0F172A"/>
                </a:solidFill>
                <a:latin typeface="Segoe UI"/>
              </a:defRPr>
            </a:pPr>
            <a:r>
              <a:rPr sz="1400" b="0">
                <a:solidFill>
                  <a:srgbClr val="0F172A"/>
                </a:solidFill>
                <a:latin typeface="Segoe UI"/>
              </a:rPr>
              <a:t>• Para K en range(2, 11), calculá inertia_ y silhouette_score.</a:t>
            </a:r>
          </a:p>
          <a:p>
            <a:pPr>
              <a:spcAft>
                <a:spcPts val="800"/>
              </a:spcAft>
              <a:defRPr sz="1400" b="0">
                <a:solidFill>
                  <a:srgbClr val="0F172A"/>
                </a:solidFill>
                <a:latin typeface="Segoe UI"/>
              </a:defRPr>
            </a:pPr>
            <a:r>
              <a:rPr sz="1400" b="0">
                <a:solidFill>
                  <a:srgbClr val="0F172A"/>
                </a:solidFill>
                <a:latin typeface="Segoe UI"/>
              </a:rPr>
              <a:t>• Repetí el ajuste sin escalar un dataset donde una feature tenga escala 100× mayor que la otra.</a:t>
            </a:r>
          </a:p>
          <a:p>
            <a:pPr>
              <a:spcAft>
                <a:spcPts val="800"/>
              </a:spcAft>
              <a:defRPr sz="1400" b="0">
                <a:solidFill>
                  <a:srgbClr val="0F172A"/>
                </a:solidFill>
                <a:latin typeface="Segoe UI"/>
              </a:defRPr>
            </a:pPr>
            <a:r>
              <a:rPr sz="1400" b="0">
                <a:solidFill>
                  <a:srgbClr val="0F172A"/>
                </a:solidFill>
                <a:latin typeface="Segoe UI"/>
              </a:rPr>
              <a:t>• Sobre load_digits(), ajustá KMeans(n_clusters=10) y MiniBatchKMeans(n_clusters=10, batch_size=256).</a:t>
            </a:r>
          </a:p>
          <a:p>
            <a:pPr>
              <a:spcAft>
                <a:spcPts val="800"/>
              </a:spcAft>
              <a:defRPr sz="1400" b="0">
                <a:solidFill>
                  <a:srgbClr val="0F172A"/>
                </a:solidFill>
                <a:latin typeface="Segoe UI"/>
              </a:defRPr>
            </a:pPr>
            <a:r>
              <a:rPr sz="1400" b="0">
                <a:solidFill>
                  <a:srgbClr val="0F172A"/>
                </a:solidFill>
                <a:latin typeface="Segoe UI"/>
              </a:rPr>
              <a:t>• Probá K-Means sobre make_moons(noise=0.05).</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Cargue make_blobs con random_state=42, 4 centros reales.</a:t>
            </a:r>
          </a:p>
          <a:p>
            <a:pPr>
              <a:spcAft>
                <a:spcPts val="800"/>
              </a:spcAft>
              <a:defRPr sz="1500" b="0">
                <a:solidFill>
                  <a:srgbClr val="0F172A"/>
                </a:solidFill>
                <a:latin typeface="Segoe UI"/>
              </a:defRPr>
            </a:pPr>
            <a:r>
              <a:rPr sz="1500" b="0">
                <a:solidFill>
                  <a:srgbClr val="0F172A"/>
                </a:solidFill>
                <a:latin typeface="Segoe UI"/>
              </a:rPr>
              <a:t>• Recorra K = 2..8 y guarde inercia + silhouette en un DataFrame.</a:t>
            </a:r>
          </a:p>
          <a:p>
            <a:pPr>
              <a:spcAft>
                <a:spcPts val="800"/>
              </a:spcAft>
              <a:defRPr sz="1500" b="0">
                <a:solidFill>
                  <a:srgbClr val="0F172A"/>
                </a:solidFill>
                <a:latin typeface="Segoe UI"/>
              </a:defRPr>
            </a:pPr>
            <a:r>
              <a:rPr sz="1500" b="0">
                <a:solidFill>
                  <a:srgbClr val="0F172A"/>
                </a:solidFill>
                <a:latin typeface="Segoe UI"/>
              </a:rPr>
              <a:t>• Imprima el K óptimo según silhouette y genere elbow.png + silhouette.png.</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096 — DBSCAN</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096 — DBSCAN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9.  Duración estimada: 55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aplique DBSCAN (Density-Based Spatial Clustering of Applications with Noise) para descubrir clusters de forma arbitraria e identificar outliers nativamente, sin tener que predefinir k como en K-Means. Que sepa elegir eps con un k-distance plot y entienda cuándo conviene escalar a HDBSCAN.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Ejecutar DBSCAN con sklearn.cluster.DBSCAN y tunear eps y min_samples para un dataset 2D.</a:t>
            </a:r>
          </a:p>
          <a:p>
            <a:pPr>
              <a:spcAft>
                <a:spcPts val="800"/>
              </a:spcAft>
              <a:defRPr sz="1400" b="0">
                <a:solidFill>
                  <a:srgbClr val="0F172A"/>
                </a:solidFill>
                <a:latin typeface="Segoe UI"/>
              </a:defRPr>
            </a:pPr>
            <a:r>
              <a:rPr sz="1400" b="0">
                <a:solidFill>
                  <a:srgbClr val="0F172A"/>
                </a:solidFill>
                <a:latin typeface="Segoe UI"/>
              </a:rPr>
              <a:t>• Elegir eps mirando el codo del k-distance plot (no a ojo).</a:t>
            </a:r>
          </a:p>
          <a:p>
            <a:pPr>
              <a:spcAft>
                <a:spcPts val="800"/>
              </a:spcAft>
              <a:defRPr sz="1400" b="0">
                <a:solidFill>
                  <a:srgbClr val="0F172A"/>
                </a:solidFill>
                <a:latin typeface="Segoe UI"/>
              </a:defRPr>
            </a:pPr>
            <a:r>
              <a:rPr sz="1400" b="0">
                <a:solidFill>
                  <a:srgbClr val="0F172A"/>
                </a:solidFill>
                <a:latin typeface="Segoe UI"/>
              </a:rPr>
              <a:t>• Identificar outliers vía la etiqueta -1 que DBSCAN asigna a los puntos ruido.</a:t>
            </a:r>
          </a:p>
          <a:p>
            <a:pPr>
              <a:spcAft>
                <a:spcPts val="800"/>
              </a:spcAft>
              <a:defRPr sz="1400" b="0">
                <a:solidFill>
                  <a:srgbClr val="0F172A"/>
                </a:solidFill>
                <a:latin typeface="Segoe UI"/>
              </a:defRPr>
            </a:pPr>
            <a:r>
              <a:rPr sz="1400" b="0">
                <a:solidFill>
                  <a:srgbClr val="0F172A"/>
                </a:solidFill>
                <a:latin typeface="Segoe UI"/>
              </a:rPr>
              <a:t>• Distinguir core / border / noise points y entender la noción de density-reachable.</a:t>
            </a:r>
          </a:p>
          <a:p>
            <a:pPr>
              <a:spcAft>
                <a:spcPts val="800"/>
              </a:spcAft>
              <a:defRPr sz="1400" b="0">
                <a:solidFill>
                  <a:srgbClr val="0F172A"/>
                </a:solidFill>
                <a:latin typeface="Segoe UI"/>
              </a:defRPr>
            </a:pPr>
            <a:r>
              <a:rPr sz="1400" b="0">
                <a:solidFill>
                  <a:srgbClr val="0F172A"/>
                </a:solidFill>
                <a:latin typeface="Segoe UI"/>
              </a:rPr>
              <a:t>• Comparar DBSCAN vs K-Means y saber cuándo usar HDBSCAN (eps variable, clusters de densidad mixta).</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096 — DBSCAN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Intuición de densidad vs centroides</a:t>
            </a:r>
          </a:p>
          <a:p>
            <a:pPr>
              <a:spcAft>
                <a:spcPts val="1000"/>
              </a:spcAft>
              <a:defRPr sz="1600" b="0">
                <a:solidFill>
                  <a:srgbClr val="0F172A"/>
                </a:solidFill>
                <a:latin typeface="Segoe UI"/>
              </a:defRPr>
            </a:pPr>
            <a:r>
              <a:rPr sz="1600" b="0">
                <a:solidFill>
                  <a:srgbClr val="0F172A"/>
                </a:solidFill>
                <a:latin typeface="Segoe UI"/>
              </a:rPr>
              <a:t>• Hiperparámetros eps y min_samples</a:t>
            </a:r>
          </a:p>
          <a:p>
            <a:pPr>
              <a:spcAft>
                <a:spcPts val="1000"/>
              </a:spcAft>
              <a:defRPr sz="1600" b="0">
                <a:solidFill>
                  <a:srgbClr val="0F172A"/>
                </a:solidFill>
                <a:latin typeface="Segoe UI"/>
              </a:defRPr>
            </a:pPr>
            <a:r>
              <a:rPr sz="1600" b="0">
                <a:solidFill>
                  <a:srgbClr val="0F172A"/>
                </a:solidFill>
                <a:latin typeface="Segoe UI"/>
              </a:rPr>
              <a:t>• Core / border / noise points</a:t>
            </a:r>
          </a:p>
          <a:p>
            <a:pPr>
              <a:spcAft>
                <a:spcPts val="1000"/>
              </a:spcAft>
              <a:defRPr sz="1600" b="0">
                <a:solidFill>
                  <a:srgbClr val="0F172A"/>
                </a:solidFill>
                <a:latin typeface="Segoe UI"/>
              </a:defRPr>
            </a:pPr>
            <a:r>
              <a:rPr sz="1600" b="0">
                <a:solidFill>
                  <a:srgbClr val="0F172A"/>
                </a:solidFill>
                <a:latin typeface="Segoe UI"/>
              </a:rPr>
              <a:t>• k-distance plot para elegir eps</a:t>
            </a:r>
          </a:p>
          <a:p>
            <a:pPr>
              <a:spcAft>
                <a:spcPts val="1000"/>
              </a:spcAft>
              <a:defRPr sz="1600" b="0">
                <a:solidFill>
                  <a:srgbClr val="0F172A"/>
                </a:solidFill>
                <a:latin typeface="Segoe UI"/>
              </a:defRPr>
            </a:pPr>
            <a:r>
              <a:rPr sz="1600" b="0">
                <a:solidFill>
                  <a:srgbClr val="0F172A"/>
                </a:solidFill>
                <a:latin typeface="Segoe UI"/>
              </a:rPr>
              <a:t>• Etiqueta -1 y detección de outliers</a:t>
            </a:r>
          </a:p>
          <a:p>
            <a:pPr>
              <a:spcAft>
                <a:spcPts val="1000"/>
              </a:spcAft>
              <a:defRPr sz="1600" b="0">
                <a:solidFill>
                  <a:srgbClr val="0F172A"/>
                </a:solidFill>
                <a:latin typeface="Segoe UI"/>
              </a:defRPr>
            </a:pPr>
            <a:r>
              <a:rPr sz="1600" b="0">
                <a:solidFill>
                  <a:srgbClr val="0F172A"/>
                </a:solidFill>
                <a:latin typeface="Segoe UI"/>
              </a:rPr>
              <a:t>• Limitaciones: densidad uniforme, curse of dimensionality</a:t>
            </a:r>
          </a:p>
          <a:p>
            <a:pPr>
              <a:spcAft>
                <a:spcPts val="1000"/>
              </a:spcAft>
              <a:defRPr sz="1600" b="0">
                <a:solidFill>
                  <a:srgbClr val="0F172A"/>
                </a:solidFill>
                <a:latin typeface="Segoe UI"/>
              </a:defRPr>
            </a:pPr>
            <a:r>
              <a:rPr sz="1600" b="0">
                <a:solidFill>
                  <a:srgbClr val="0F172A"/>
                </a:solidFill>
                <a:latin typeface="Segoe UI"/>
              </a:rPr>
              <a:t>• HDBSCAN como evolución</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096 — DBSCAN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Dos lunas entrelazadas: el caso donde K-Means falla y DBSCAN brilla. La etiqueta -1 es ruido.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make_moons</a:t>
            </a:r>
          </a:p>
          <a:p>
            <a:pPr>
              <a:defRPr sz="1200" b="0">
                <a:solidFill>
                  <a:srgbClr val="F8FAFC"/>
                </a:solidFill>
                <a:latin typeface="Courier New"/>
              </a:defRPr>
            </a:pPr>
            <a:r>
              <a:rPr sz="1200" b="0">
                <a:solidFill>
                  <a:srgbClr val="F8FAFC"/>
                </a:solidFill>
                <a:latin typeface="Courier New"/>
              </a:rPr>
              <a:t>from sklearn.cluster import DBSCAN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X, y = make_moons(n_samples=1000, noise=0.05,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db = DBSCAN(eps=0.2, min_samples=5).fit(X)</a:t>
            </a:r>
          </a:p>
          <a:p>
            <a:pPr>
              <a:defRPr sz="1200" b="0">
                <a:solidFill>
                  <a:srgbClr val="F8FAFC"/>
                </a:solidFill>
                <a:latin typeface="Courier New"/>
              </a:defRPr>
            </a:pPr>
            <a:r>
              <a:rPr sz="1200" b="0">
                <a:solidFill>
                  <a:srgbClr val="F8FAFC"/>
                </a:solidFill>
                <a:latin typeface="Courier New"/>
              </a:rPr>
              <a:t>n_clusters = len(set(db.labels_)) - (1 if -1 in db.labels_ else 0)</a:t>
            </a:r>
          </a:p>
          <a:p>
            <a:pPr>
              <a:defRPr sz="1200" b="0">
                <a:solidFill>
                  <a:srgbClr val="F8FAFC"/>
                </a:solidFill>
                <a:latin typeface="Courier New"/>
              </a:defRPr>
            </a:pPr>
            <a:r>
              <a:rPr sz="1200" b="0">
                <a:solidFill>
                  <a:srgbClr val="F8FAFC"/>
                </a:solidFill>
                <a:latin typeface="Courier New"/>
              </a:rPr>
              <a:t>n_ruido = int((db.labels_ == -1).sum())</a:t>
            </a:r>
          </a:p>
          <a:p>
            <a:pPr>
              <a:defRPr sz="1200" b="0">
                <a:solidFill>
                  <a:srgbClr val="F8FAFC"/>
                </a:solidFill>
                <a:latin typeface="Courier New"/>
              </a:defRPr>
            </a:pPr>
            <a:r>
              <a:rPr sz="1200" b="0">
                <a:solidFill>
                  <a:srgbClr val="F8FAFC"/>
                </a:solidFill>
                <a:latin typeface="Courier New"/>
              </a:rPr>
              <a:t>print(f"clusters encontrados: {n_clusters} | puntos ruido (-1): {n_ruido}")</a:t>
            </a:r>
          </a:p>
          <a:p>
            <a:pPr>
              <a:defRPr sz="1200" b="0">
                <a:solidFill>
                  <a:srgbClr val="F8FAFC"/>
                </a:solidFill>
                <a:latin typeface="Courier New"/>
              </a:defRPr>
            </a:pPr>
            <a:r>
              <a:rPr sz="1200" b="0">
                <a:solidFill>
                  <a:srgbClr val="F8FAFC"/>
                </a:solidFill>
                <a:latin typeface="Courier New"/>
              </a:rPr>
              <a:t>assert n_clusters == 2, "DBSCAN deberia separar las dos lunas"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plt.figure(figsize=(7, 5))</a:t>
            </a:r>
          </a:p>
          <a:p>
            <a:pPr>
              <a:defRPr sz="1200" b="0">
                <a:solidFill>
                  <a:srgbClr val="F8FAFC"/>
                </a:solidFill>
                <a:latin typeface="Courier New"/>
              </a:defRPr>
            </a:pPr>
            <a:r>
              <a:rPr sz="1200" b="0">
                <a:solidFill>
                  <a:srgbClr val="F8FAFC"/>
                </a:solidFill>
                <a:latin typeface="Courier New"/>
              </a:rPr>
              <a:t>plt.scatter(X[:, 0], X[:, 1], c=db.labels_, cmap="coolwarm", s=12)</a:t>
            </a:r>
          </a:p>
          <a:p>
            <a:pPr>
              <a:defRPr sz="1200" b="0">
                <a:solidFill>
                  <a:srgbClr val="F8FAFC"/>
                </a:solidFill>
                <a:latin typeface="Courier New"/>
              </a:defRPr>
            </a:pPr>
            <a:r>
              <a:rPr sz="1200" b="0">
                <a:solidFill>
                  <a:srgbClr val="F8FAFC"/>
                </a:solidFill>
                <a:latin typeface="Courier New"/>
              </a:rPr>
              <a:t>plt.title("DBSCAN(eps=0.2, min_samples=5) separa las lunas")</a:t>
            </a:r>
          </a:p>
          <a:p>
            <a:pPr>
              <a:defRPr sz="1200" b="0">
                <a:solidFill>
                  <a:srgbClr val="F8FAFC"/>
                </a:solidFill>
                <a:latin typeface="Courier New"/>
              </a:defRPr>
            </a:pPr>
            <a:r>
              <a:rPr sz="1200" b="0">
                <a:solidFill>
                  <a:srgbClr val="F8FAFC"/>
                </a:solidFill>
                <a:latin typeface="Courier New"/>
              </a:rPr>
              <a:t>plt.tight_layout(); plt.show()</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096 — DBSCAN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DBSCAN sobre moons.</a:t>
            </a:r>
          </a:p>
          <a:p>
            <a:pPr>
              <a:spcAft>
                <a:spcPts val="800"/>
              </a:spcAft>
              <a:defRPr sz="1400" b="0">
                <a:solidFill>
                  <a:srgbClr val="0F172A"/>
                </a:solidFill>
                <a:latin typeface="Segoe UI"/>
              </a:defRPr>
            </a:pPr>
            <a:r>
              <a:rPr sz="1400" b="0">
                <a:solidFill>
                  <a:srgbClr val="0F172A"/>
                </a:solidFill>
                <a:latin typeface="Segoe UI"/>
              </a:rPr>
              <a:t>• K-distance plot.</a:t>
            </a:r>
          </a:p>
          <a:p>
            <a:pPr>
              <a:spcAft>
                <a:spcPts val="800"/>
              </a:spcAft>
              <a:defRPr sz="1400" b="0">
                <a:solidFill>
                  <a:srgbClr val="0F172A"/>
                </a:solidFill>
                <a:latin typeface="Segoe UI"/>
              </a:defRPr>
            </a:pPr>
            <a:r>
              <a:rPr sz="1400" b="0">
                <a:solidFill>
                  <a:srgbClr val="0F172A"/>
                </a:solidFill>
                <a:latin typeface="Segoe UI"/>
              </a:rPr>
              <a:t>• Sensibilidad a eps.</a:t>
            </a:r>
          </a:p>
          <a:p>
            <a:pPr>
              <a:spcAft>
                <a:spcPts val="800"/>
              </a:spcAft>
              <a:defRPr sz="1400" b="0">
                <a:solidFill>
                  <a:srgbClr val="0F172A"/>
                </a:solidFill>
                <a:latin typeface="Segoe UI"/>
              </a:defRPr>
            </a:pPr>
            <a:r>
              <a:rPr sz="1400" b="0">
                <a:solidFill>
                  <a:srgbClr val="0F172A"/>
                </a:solidFill>
                <a:latin typeface="Segoe UI"/>
              </a:rPr>
              <a:t>• DBSCAN vs K-Means.</a:t>
            </a:r>
          </a:p>
          <a:p>
            <a:pPr>
              <a:spcAft>
                <a:spcPts val="800"/>
              </a:spcAft>
              <a:defRPr sz="1400" b="0">
                <a:solidFill>
                  <a:srgbClr val="0F172A"/>
                </a:solidFill>
                <a:latin typeface="Segoe UI"/>
              </a:defRPr>
            </a:pPr>
            <a:r>
              <a:rPr sz="1400" b="0">
                <a:solidFill>
                  <a:srgbClr val="0F172A"/>
                </a:solidFill>
                <a:latin typeface="Segoe UI"/>
              </a:rPr>
              <a:t>• HDBSCAN sobre densidades mixtas.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que sobre un dataset 2D sintético (moons + outliers inyectados a mano) haga: (a) k-distance plot y elección razonada de eps; (b) DBSCAN con esos hiperparámetros; (c) reporte de % de outliers detectados vs inyectados; (d) comparación visual con K-Means; (e) corrida con HDBSCAN sobre blobs de densidad mixta.</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097 — Agglomerative, BIRCH, Mean Shift, Affinity Propagation, Spectral</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097 — Agglomerative, BIRCH, Mean Shift, Affinity Propagation, Spectral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9 § Other Clustering Algorithms.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conozca el zoológico de algoritmos de clustering más allá de K-Means y DBSCAN — Agglomerative (jerárquico, lee dendrogramas), BIRCH (escalable a millones de filas), Mean Shift (denso, sin especificar k), Affinity Propagation (elige exemplars por message-passing) y Spectral Clustering (clustering vía autovectores del grafo de similitud) — y sepa cuándo elegir cada uno según tamaño del dataset, forma de los clusters y necesidad de jerarquía.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dendrograma con scipy.cluster.hierarchy.linkage y cortarlo a una altura dada para obtener clusters.</a:t>
            </a:r>
          </a:p>
          <a:p>
            <a:pPr>
              <a:spcAft>
                <a:spcPts val="800"/>
              </a:spcAft>
              <a:defRPr sz="1400" b="0">
                <a:solidFill>
                  <a:srgbClr val="0F172A"/>
                </a:solidFill>
                <a:latin typeface="Segoe UI"/>
              </a:defRPr>
            </a:pPr>
            <a:r>
              <a:rPr sz="1400" b="0">
                <a:solidFill>
                  <a:srgbClr val="0F172A"/>
                </a:solidFill>
                <a:latin typeface="Segoe UI"/>
              </a:rPr>
              <a:t>• Elegir un linkage (ward, complete, average, single) según la forma esperada de los clusters y conocer el efecto del chaining en single.</a:t>
            </a:r>
          </a:p>
          <a:p>
            <a:pPr>
              <a:spcAft>
                <a:spcPts val="800"/>
              </a:spcAft>
              <a:defRPr sz="1400" b="0">
                <a:solidFill>
                  <a:srgbClr val="0F172A"/>
                </a:solidFill>
                <a:latin typeface="Segoe UI"/>
              </a:defRPr>
            </a:pPr>
            <a:r>
              <a:rPr sz="1400" b="0">
                <a:solidFill>
                  <a:srgbClr val="0F172A"/>
                </a:solidFill>
                <a:latin typeface="Segoe UI"/>
              </a:rPr>
              <a:t>• Usar BIRCH para datasets que no entran en memoria, ajustando threshold y branching_factor.</a:t>
            </a:r>
          </a:p>
          <a:p>
            <a:pPr>
              <a:spcAft>
                <a:spcPts val="800"/>
              </a:spcAft>
              <a:defRPr sz="1400" b="0">
                <a:solidFill>
                  <a:srgbClr val="0F172A"/>
                </a:solidFill>
                <a:latin typeface="Segoe UI"/>
              </a:defRPr>
            </a:pPr>
            <a:r>
              <a:rPr sz="1400" b="0">
                <a:solidFill>
                  <a:srgbClr val="0F172A"/>
                </a:solidFill>
                <a:latin typeface="Segoe UI"/>
              </a:rPr>
              <a:t>• Aplicar Mean Shift ajustando bandwidth (con estimate_bandwidth) y entender por qué descubre el número de clusters automáticamente.</a:t>
            </a:r>
          </a:p>
          <a:p>
            <a:pPr>
              <a:spcAft>
                <a:spcPts val="800"/>
              </a:spcAft>
              <a:defRPr sz="1400" b="0">
                <a:solidFill>
                  <a:srgbClr val="0F172A"/>
                </a:solidFill>
                <a:latin typeface="Segoe UI"/>
              </a:defRPr>
            </a:pPr>
            <a:r>
              <a:rPr sz="1400" b="0">
                <a:solidFill>
                  <a:srgbClr val="0F172A"/>
                </a:solidFill>
                <a:latin typeface="Segoe UI"/>
              </a:rPr>
              <a:t>• Decidir entre Affinity Propagation y Spectral Clustering según escalabilidad (AP es O(n²) en memoria) y geometría (Spectral funciona en clusters no convexos).</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097 — Agglomerative, BIRCH, Mean Shift, Affinity Propagation, Spectral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Agglomerative</a:t>
            </a:r>
          </a:p>
          <a:p>
            <a:pPr>
              <a:spcAft>
                <a:spcPts val="1000"/>
              </a:spcAft>
              <a:defRPr sz="1600" b="0">
                <a:solidFill>
                  <a:srgbClr val="0F172A"/>
                </a:solidFill>
                <a:latin typeface="Segoe UI"/>
              </a:defRPr>
            </a:pPr>
            <a:r>
              <a:rPr sz="1600" b="0">
                <a:solidFill>
                  <a:srgbClr val="0F172A"/>
                </a:solidFill>
                <a:latin typeface="Segoe UI"/>
              </a:rPr>
              <a:t>• BIRCH</a:t>
            </a:r>
          </a:p>
          <a:p>
            <a:pPr>
              <a:spcAft>
                <a:spcPts val="1000"/>
              </a:spcAft>
              <a:defRPr sz="1600" b="0">
                <a:solidFill>
                  <a:srgbClr val="0F172A"/>
                </a:solidFill>
                <a:latin typeface="Segoe UI"/>
              </a:defRPr>
            </a:pPr>
            <a:r>
              <a:rPr sz="1600" b="0">
                <a:solidFill>
                  <a:srgbClr val="0F172A"/>
                </a:solidFill>
                <a:latin typeface="Segoe UI"/>
              </a:rPr>
              <a:t>• Mean Shift</a:t>
            </a:r>
          </a:p>
          <a:p>
            <a:pPr>
              <a:spcAft>
                <a:spcPts val="1000"/>
              </a:spcAft>
              <a:defRPr sz="1600" b="0">
                <a:solidFill>
                  <a:srgbClr val="0F172A"/>
                </a:solidFill>
                <a:latin typeface="Segoe UI"/>
              </a:defRPr>
            </a:pPr>
            <a:r>
              <a:rPr sz="1600" b="0">
                <a:solidFill>
                  <a:srgbClr val="0F172A"/>
                </a:solidFill>
                <a:latin typeface="Segoe UI"/>
              </a:rPr>
              <a:t>• Affinity Propagation</a:t>
            </a:r>
          </a:p>
          <a:p>
            <a:pPr>
              <a:spcAft>
                <a:spcPts val="1000"/>
              </a:spcAft>
              <a:defRPr sz="1600" b="0">
                <a:solidFill>
                  <a:srgbClr val="0F172A"/>
                </a:solidFill>
                <a:latin typeface="Segoe UI"/>
              </a:defRPr>
            </a:pPr>
            <a:r>
              <a:rPr sz="1600" b="0">
                <a:solidFill>
                  <a:srgbClr val="0F172A"/>
                </a:solidFill>
                <a:latin typeface="Segoe UI"/>
              </a:rPr>
              <a:t>• Spectral</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097 — Agglomerative, BIRCH, Mean Shift, Affinity Propagation, Spectral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scipy.cluster.hierarchy.linkage construye la jerarquía bottom-up; cortarla a una altura da los clusters.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scipy.cluster.hierarchy import linkage, dendrogram, fcluster</a:t>
            </a:r>
          </a:p>
          <a:p>
            <a:pPr>
              <a:defRPr sz="1200" b="0">
                <a:solidFill>
                  <a:srgbClr val="F8FAFC"/>
                </a:solidFill>
                <a:latin typeface="Courier New"/>
              </a:defRPr>
            </a:pPr>
            <a:r>
              <a:rPr sz="1200" b="0">
                <a:solidFill>
                  <a:srgbClr val="F8FAFC"/>
                </a:solidFill>
                <a:latin typeface="Courier New"/>
              </a:rPr>
              <a:t>from sklearn.datasets import make_blobs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Xs, _ = make_blobs(n_samples=50, centers=4, cluster_std=0.6,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Z = linkage(Xs, method="ward")</a:t>
            </a:r>
          </a:p>
          <a:p>
            <a:pPr>
              <a:defRPr sz="1200" b="0">
                <a:solidFill>
                  <a:srgbClr val="F8FAFC"/>
                </a:solidFill>
                <a:latin typeface="Courier New"/>
              </a:defRPr>
            </a:pPr>
            <a:r>
              <a:rPr sz="1200" b="0">
                <a:solidFill>
                  <a:srgbClr val="F8FAFC"/>
                </a:solidFill>
                <a:latin typeface="Courier New"/>
              </a:rPr>
              <a:t>labels_cut = fcluster(Z, t=4, criterion="maxclust")</a:t>
            </a:r>
          </a:p>
          <a:p>
            <a:pPr>
              <a:defRPr sz="1200" b="0">
                <a:solidFill>
                  <a:srgbClr val="F8FAFC"/>
                </a:solidFill>
                <a:latin typeface="Courier New"/>
              </a:defRPr>
            </a:pPr>
            <a:r>
              <a:rPr sz="1200" b="0">
                <a:solidFill>
                  <a:srgbClr val="F8FAFC"/>
                </a:solidFill>
                <a:latin typeface="Courier New"/>
              </a:rPr>
              <a:t>print("clusters tras cortar a 4:", np.unique(labels_cut))</a:t>
            </a:r>
          </a:p>
          <a:p>
            <a:pPr>
              <a:defRPr sz="1200" b="0">
                <a:solidFill>
                  <a:srgbClr val="F8FAFC"/>
                </a:solidFill>
                <a:latin typeface="Courier New"/>
              </a:defRPr>
            </a:pPr>
            <a:r>
              <a:rPr sz="1200" b="0">
                <a:solidFill>
                  <a:srgbClr val="F8FAFC"/>
                </a:solidFill>
                <a:latin typeface="Courier New"/>
              </a:rPr>
              <a:t>assert len(np.unique(labels_cut)) == 4</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plt.figure(figsize=(9, 4))</a:t>
            </a:r>
          </a:p>
          <a:p>
            <a:pPr>
              <a:defRPr sz="1200" b="0">
                <a:solidFill>
                  <a:srgbClr val="F8FAFC"/>
                </a:solidFill>
                <a:latin typeface="Courier New"/>
              </a:defRPr>
            </a:pPr>
            <a:r>
              <a:rPr sz="1200" b="0">
                <a:solidFill>
                  <a:srgbClr val="F8FAFC"/>
                </a:solidFill>
                <a:latin typeface="Courier New"/>
              </a:rPr>
              <a:t>dendrogram(Z, truncate_mode="lastp", p=20)</a:t>
            </a:r>
          </a:p>
          <a:p>
            <a:pPr>
              <a:defRPr sz="1200" b="0">
                <a:solidFill>
                  <a:srgbClr val="F8FAFC"/>
                </a:solidFill>
                <a:latin typeface="Courier New"/>
              </a:defRPr>
            </a:pPr>
            <a:r>
              <a:rPr sz="1200" b="0">
                <a:solidFill>
                  <a:srgbClr val="F8FAFC"/>
                </a:solidFill>
                <a:latin typeface="Courier New"/>
              </a:rPr>
              <a:t>plt.title("Dendrograma (ward linkage)")</a:t>
            </a:r>
          </a:p>
          <a:p>
            <a:pPr>
              <a:defRPr sz="1200" b="0">
                <a:solidFill>
                  <a:srgbClr val="F8FAFC"/>
                </a:solidFill>
                <a:latin typeface="Courier New"/>
              </a:defRPr>
            </a:pPr>
            <a:r>
              <a:rPr sz="1200" b="0">
                <a:solidFill>
                  <a:srgbClr val="F8FAFC"/>
                </a:solidFill>
                <a:latin typeface="Courier New"/>
              </a:rPr>
              <a:t>plt.xlabel("muestras"); plt.ylabel("distancia de fusion")</a:t>
            </a:r>
          </a:p>
          <a:p>
            <a:pPr>
              <a:defRPr sz="1200" b="0">
                <a:solidFill>
                  <a:srgbClr val="F8FAFC"/>
                </a:solidFill>
                <a:latin typeface="Courier New"/>
              </a:defRPr>
            </a:pPr>
            <a:r>
              <a:rPr sz="1200" b="0">
                <a:solidFill>
                  <a:srgbClr val="F8FAFC"/>
                </a:solidFill>
                <a:latin typeface="Courier New"/>
              </a:rPr>
              <a:t>plt.tight_layout(); plt.show()</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097 — Agglomerative, BIRCH, Mean Shift, Affinity Propagation, Spectral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Dendrograma sobre make_blobs.</a:t>
            </a:r>
          </a:p>
          <a:p>
            <a:pPr>
              <a:spcAft>
                <a:spcPts val="800"/>
              </a:spcAft>
              <a:defRPr sz="1400" b="0">
                <a:solidFill>
                  <a:srgbClr val="0F172A"/>
                </a:solidFill>
                <a:latin typeface="Segoe UI"/>
              </a:defRPr>
            </a:pPr>
            <a:r>
              <a:rPr sz="1400" b="0">
                <a:solidFill>
                  <a:srgbClr val="0F172A"/>
                </a:solidFill>
                <a:latin typeface="Segoe UI"/>
              </a:rPr>
              <a:t>• Linkage comparison.</a:t>
            </a:r>
          </a:p>
          <a:p>
            <a:pPr>
              <a:spcAft>
                <a:spcPts val="800"/>
              </a:spcAft>
              <a:defRPr sz="1400" b="0">
                <a:solidFill>
                  <a:srgbClr val="0F172A"/>
                </a:solidFill>
                <a:latin typeface="Segoe UI"/>
              </a:defRPr>
            </a:pPr>
            <a:r>
              <a:rPr sz="1400" b="0">
                <a:solidFill>
                  <a:srgbClr val="0F172A"/>
                </a:solidFill>
                <a:latin typeface="Segoe UI"/>
              </a:rPr>
              <a:t>• BIRCH escalable.</a:t>
            </a:r>
          </a:p>
          <a:p>
            <a:pPr>
              <a:spcAft>
                <a:spcPts val="800"/>
              </a:spcAft>
              <a:defRPr sz="1400" b="0">
                <a:solidFill>
                  <a:srgbClr val="0F172A"/>
                </a:solidFill>
                <a:latin typeface="Segoe UI"/>
              </a:defRPr>
            </a:pPr>
            <a:r>
              <a:rPr sz="1400" b="0">
                <a:solidFill>
                  <a:srgbClr val="0F172A"/>
                </a:solidFill>
                <a:latin typeface="Segoe UI"/>
              </a:rPr>
              <a:t>• Mean Shift sin saber k.</a:t>
            </a:r>
          </a:p>
          <a:p>
            <a:pPr>
              <a:spcAft>
                <a:spcPts val="800"/>
              </a:spcAft>
              <a:defRPr sz="1400" b="0">
                <a:solidFill>
                  <a:srgbClr val="0F172A"/>
                </a:solidFill>
                <a:latin typeface="Segoe UI"/>
              </a:defRPr>
            </a:pPr>
            <a:r>
              <a:rPr sz="1400" b="0">
                <a:solidFill>
                  <a:srgbClr val="0F172A"/>
                </a:solidFill>
                <a:latin typeface="Segoe UI"/>
              </a:rPr>
              <a:t>• Spectral vs K-Means en make_circles.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(a) dendrograma de load_iris().data usando ward linkage, cortado para obtener 3 clusters; (b) tabla comparativa de Adjusted Rand Index entre las labels verdaderas y las predichas por Agglomerative, BIRCH, Mean Shift, Affinity Propagation y Spectral — corriendo los 5 sobre el mismo Iris; (c) gráfico 2D (con las 2 primeras PCs) coloreado por las labels de cada método; (d) párrafo justificando qué método ganó y por qué.</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098 — Gaussian Mixture Models</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098 — Gaussian Mixture Models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9.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los Gaussian Mixture Models (GMM) como modelo probabilístico de soft clustering, ajustarlos con el algoritmo EM en scikit-learn, elegir el número de componentes con BIC/AIC, y conocer las variantes (covariance_type, BayesianGaussianMixture) para aplicarlas en clustering, densidad y detección de anomalías.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qué es un GMM y cómo se diferencia de K-Means (asignación dura vs. probabilística).</a:t>
            </a:r>
          </a:p>
          <a:p>
            <a:pPr>
              <a:spcAft>
                <a:spcPts val="800"/>
              </a:spcAft>
              <a:defRPr sz="1400" b="0">
                <a:solidFill>
                  <a:srgbClr val="0F172A"/>
                </a:solidFill>
                <a:latin typeface="Segoe UI"/>
              </a:defRPr>
            </a:pPr>
            <a:r>
              <a:rPr sz="1400" b="0">
                <a:solidFill>
                  <a:srgbClr val="0F172A"/>
                </a:solidFill>
                <a:latin typeface="Segoe UI"/>
              </a:rPr>
              <a:t>• Ajustar un GaussianMixture con scikit-learn y obtener predict, predict_proba y score_samples.</a:t>
            </a:r>
          </a:p>
          <a:p>
            <a:pPr>
              <a:spcAft>
                <a:spcPts val="800"/>
              </a:spcAft>
              <a:defRPr sz="1400" b="0">
                <a:solidFill>
                  <a:srgbClr val="0F172A"/>
                </a:solidFill>
                <a:latin typeface="Segoe UI"/>
              </a:defRPr>
            </a:pPr>
            <a:r>
              <a:rPr sz="1400" b="0">
                <a:solidFill>
                  <a:srgbClr val="0F172A"/>
                </a:solidFill>
                <a:latin typeface="Segoe UI"/>
              </a:rPr>
              <a:t>• Seleccionar el número óptimo de componentes comparando BIC y AIC en una grilla.</a:t>
            </a:r>
          </a:p>
          <a:p>
            <a:pPr>
              <a:spcAft>
                <a:spcPts val="800"/>
              </a:spcAft>
              <a:defRPr sz="1400" b="0">
                <a:solidFill>
                  <a:srgbClr val="0F172A"/>
                </a:solidFill>
                <a:latin typeface="Segoe UI"/>
              </a:defRPr>
            </a:pPr>
            <a:r>
              <a:rPr sz="1400" b="0">
                <a:solidFill>
                  <a:srgbClr val="0F172A"/>
                </a:solidFill>
                <a:latin typeface="Segoe UI"/>
              </a:rPr>
              <a:t>• Elegir el covariance_type apropiado (full, tied, diag, spherical) según supuestos y tamaño del dataset.</a:t>
            </a:r>
          </a:p>
          <a:p>
            <a:pPr>
              <a:spcAft>
                <a:spcPts val="800"/>
              </a:spcAft>
              <a:defRPr sz="1400" b="0">
                <a:solidFill>
                  <a:srgbClr val="0F172A"/>
                </a:solidFill>
                <a:latin typeface="Segoe UI"/>
              </a:defRPr>
            </a:pPr>
            <a:r>
              <a:rPr sz="1400" b="0">
                <a:solidFill>
                  <a:srgbClr val="0F172A"/>
                </a:solidFill>
                <a:latin typeface="Segoe UI"/>
              </a:rPr>
              <a:t>• Usar BayesianGaussianMixture para que el modelo descarte componentes innecesarios automáticamente.</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098 — Gaussian Mixture Models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Modelos de mezcla: intuición y fórmula.</a:t>
            </a:r>
          </a:p>
          <a:p>
            <a:pPr>
              <a:spcAft>
                <a:spcPts val="1000"/>
              </a:spcAft>
              <a:defRPr sz="1600" b="0">
                <a:solidFill>
                  <a:srgbClr val="0F172A"/>
                </a:solidFill>
                <a:latin typeface="Segoe UI"/>
              </a:defRPr>
            </a:pPr>
            <a:r>
              <a:rPr sz="1600" b="0">
                <a:solidFill>
                  <a:srgbClr val="0F172A"/>
                </a:solidFill>
                <a:latin typeface="Segoe UI"/>
              </a:rPr>
              <a:t>• Algoritmo Expectation-Maximization (EM): paso E (responsabilidades) + paso M (actualizar medias, covarianzas, pesos).</a:t>
            </a:r>
          </a:p>
          <a:p>
            <a:pPr>
              <a:spcAft>
                <a:spcPts val="1000"/>
              </a:spcAft>
              <a:defRPr sz="1600" b="0">
                <a:solidFill>
                  <a:srgbClr val="0F172A"/>
                </a:solidFill>
                <a:latin typeface="Segoe UI"/>
              </a:defRPr>
            </a:pPr>
            <a:r>
              <a:rPr sz="1600" b="0">
                <a:solidFill>
                  <a:srgbClr val="0F172A"/>
                </a:solidFill>
                <a:latin typeface="Segoe UI"/>
              </a:rPr>
              <a:t>• API de sklearn.mixture.GaussianMixture: n_components, covariance_type, n_init, tol.</a:t>
            </a:r>
          </a:p>
          <a:p>
            <a:pPr>
              <a:spcAft>
                <a:spcPts val="1000"/>
              </a:spcAft>
              <a:defRPr sz="1600" b="0">
                <a:solidFill>
                  <a:srgbClr val="0F172A"/>
                </a:solidFill>
                <a:latin typeface="Segoe UI"/>
              </a:defRPr>
            </a:pPr>
            <a:r>
              <a:rPr sz="1600" b="0">
                <a:solidFill>
                  <a:srgbClr val="0F172A"/>
                </a:solidFill>
                <a:latin typeface="Segoe UI"/>
              </a:rPr>
              <a:t>• Métodos: predict_proba (soft), score_samples (log-densidad), sample (generar datos).</a:t>
            </a:r>
          </a:p>
          <a:p>
            <a:pPr>
              <a:spcAft>
                <a:spcPts val="1000"/>
              </a:spcAft>
              <a:defRPr sz="1600" b="0">
                <a:solidFill>
                  <a:srgbClr val="0F172A"/>
                </a:solidFill>
                <a:latin typeface="Segoe UI"/>
              </a:defRPr>
            </a:pPr>
            <a:r>
              <a:rPr sz="1600" b="0">
                <a:solidFill>
                  <a:srgbClr val="0F172A"/>
                </a:solidFill>
                <a:latin typeface="Segoe UI"/>
              </a:rPr>
              <a:t>• Selección de modelo con BIC y AIC.</a:t>
            </a:r>
          </a:p>
          <a:p>
            <a:pPr>
              <a:spcAft>
                <a:spcPts val="1000"/>
              </a:spcAft>
              <a:defRPr sz="1600" b="0">
                <a:solidFill>
                  <a:srgbClr val="0F172A"/>
                </a:solidFill>
                <a:latin typeface="Segoe UI"/>
              </a:defRPr>
            </a:pPr>
            <a:r>
              <a:rPr sz="1600" b="0">
                <a:solidFill>
                  <a:srgbClr val="0F172A"/>
                </a:solidFill>
                <a:latin typeface="Segoe UI"/>
              </a:rPr>
              <a:t>• Variantes de covarianza y su impacto en parámetros / sesgo / varianza.</a:t>
            </a:r>
          </a:p>
          <a:p>
            <a:pPr>
              <a:spcAft>
                <a:spcPts val="1000"/>
              </a:spcAft>
              <a:defRPr sz="1600" b="0">
                <a:solidFill>
                  <a:srgbClr val="0F172A"/>
                </a:solidFill>
                <a:latin typeface="Segoe UI"/>
              </a:defRPr>
            </a:pPr>
            <a:r>
              <a:rPr sz="1600" b="0">
                <a:solidFill>
                  <a:srgbClr val="0F172A"/>
                </a:solidFill>
                <a:latin typeface="Segoe UI"/>
              </a:rPr>
              <a:t>• Bayesian GMM con prior de Dirichlet: aprende cuántos componentes hacen falta.</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098 — Gaussian Mixture Models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GaussianMixture asume mezcla de gaussianas. Comparamos predict contra las etiquetas reales con ARI.</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make_blobs</a:t>
            </a:r>
          </a:p>
          <a:p>
            <a:pPr>
              <a:defRPr sz="1200" b="0">
                <a:solidFill>
                  <a:srgbClr val="F8FAFC"/>
                </a:solidFill>
                <a:latin typeface="Courier New"/>
              </a:defRPr>
            </a:pPr>
            <a:r>
              <a:rPr sz="1200" b="0">
                <a:solidFill>
                  <a:srgbClr val="F8FAFC"/>
                </a:solidFill>
                <a:latin typeface="Courier New"/>
              </a:rPr>
              <a:t>from sklearn.mixture import GaussianMixture</a:t>
            </a:r>
          </a:p>
          <a:p>
            <a:pPr>
              <a:defRPr sz="1200" b="0">
                <a:solidFill>
                  <a:srgbClr val="F8FAFC"/>
                </a:solidFill>
                <a:latin typeface="Courier New"/>
              </a:defRPr>
            </a:pPr>
            <a:r>
              <a:rPr sz="1200" b="0">
                <a:solidFill>
                  <a:srgbClr val="F8FAFC"/>
                </a:solidFill>
                <a:latin typeface="Courier New"/>
              </a:rPr>
              <a:t>from sklearn.metrics import adjusted_rand_score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X, y_true = make_blobs(n_samples=1000, centers=3, cluster_std=[1.0, 2.0, 0.5],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gmm = GaussianMixture(n_components=3, n_init=10, random_state=42).fit(X)</a:t>
            </a:r>
          </a:p>
          <a:p>
            <a:pPr>
              <a:defRPr sz="1200" b="0">
                <a:solidFill>
                  <a:srgbClr val="F8FAFC"/>
                </a:solidFill>
                <a:latin typeface="Courier New"/>
              </a:defRPr>
            </a:pPr>
            <a:r>
              <a:rPr sz="1200" b="0">
                <a:solidFill>
                  <a:srgbClr val="F8FAFC"/>
                </a:solidFill>
                <a:latin typeface="Courier New"/>
              </a:rPr>
              <a:t>labels = gmm.predict(X)</a:t>
            </a:r>
          </a:p>
          <a:p>
            <a:pPr>
              <a:defRPr sz="1200" b="0">
                <a:solidFill>
                  <a:srgbClr val="F8FAFC"/>
                </a:solidFill>
                <a:latin typeface="Courier New"/>
              </a:defRPr>
            </a:pPr>
            <a:r>
              <a:rPr sz="1200" b="0">
                <a:solidFill>
                  <a:srgbClr val="F8FAFC"/>
                </a:solidFill>
                <a:latin typeface="Courier New"/>
              </a:rPr>
              <a:t>print("ARI GMM vs verdad:", round(adjusted_rand_score(y_true, labels), 4))</a:t>
            </a:r>
          </a:p>
          <a:p>
            <a:pPr>
              <a:defRPr sz="1200" b="0">
                <a:solidFill>
                  <a:srgbClr val="F8FAFC"/>
                </a:solidFill>
                <a:latin typeface="Courier New"/>
              </a:defRPr>
            </a:pPr>
            <a:r>
              <a:rPr sz="1200" b="0">
                <a:solidFill>
                  <a:srgbClr val="F8FAFC"/>
                </a:solidFill>
                <a:latin typeface="Courier New"/>
              </a:rPr>
              <a:t>print("pesos de mezcla:", gmm.weights_.round(3))</a:t>
            </a:r>
          </a:p>
          <a:p>
            <a:pPr>
              <a:defRPr sz="1200" b="0">
                <a:solidFill>
                  <a:srgbClr val="F8FAFC"/>
                </a:solidFill>
                <a:latin typeface="Courier New"/>
              </a:defRPr>
            </a:pPr>
            <a:r>
              <a:rPr sz="1200" b="0">
                <a:solidFill>
                  <a:srgbClr val="F8FAFC"/>
                </a:solidFill>
                <a:latin typeface="Courier New"/>
              </a:rPr>
              <a:t>assert gmm.converged_, "EM deberia converger"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plt.figure(figsize=(7, 5))</a:t>
            </a:r>
          </a:p>
          <a:p>
            <a:pPr>
              <a:defRPr sz="1200" b="0">
                <a:solidFill>
                  <a:srgbClr val="F8FAFC"/>
                </a:solidFill>
                <a:latin typeface="Courier New"/>
              </a:defRPr>
            </a:pPr>
            <a:r>
              <a:rPr sz="1200" b="0">
                <a:solidFill>
                  <a:srgbClr val="F8FAFC"/>
                </a:solidFill>
                <a:latin typeface="Courier New"/>
              </a:rPr>
              <a:t>plt.scatter(X[:, 0], X[:, 1], c=labels, cmap="tab10", s=10, alpha=0.6)</a:t>
            </a:r>
          </a:p>
          <a:p>
            <a:pPr>
              <a:defRPr sz="1200" b="0">
                <a:solidFill>
                  <a:srgbClr val="F8FAFC"/>
                </a:solidFill>
                <a:latin typeface="Courier New"/>
              </a:defRPr>
            </a:pPr>
            <a:r>
              <a:rPr sz="1200" b="0">
                <a:solidFill>
                  <a:srgbClr val="F8FAFC"/>
                </a:solidFill>
                <a:latin typeface="Courier New"/>
              </a:rPr>
              <a:t>plt.scatter(gmm.means_[:, 0], gmm.means_[:, 1], c="black", marker="X", s=150)</a:t>
            </a:r>
          </a:p>
          <a:p>
            <a:pPr>
              <a:defRPr sz="1200" b="0">
                <a:solidFill>
                  <a:srgbClr val="F8FAFC"/>
                </a:solidFill>
                <a:latin typeface="Courier New"/>
              </a:defRPr>
            </a:pPr>
            <a:r>
              <a:rPr sz="1200" b="0">
                <a:solidFill>
                  <a:srgbClr val="F8FAFC"/>
                </a:solidFill>
                <a:latin typeface="Courier New"/>
              </a:rPr>
              <a:t>plt.title("GMM (3 componentes) sobre blobs de varianza distinta")</a:t>
            </a:r>
          </a:p>
          <a:p>
            <a:pPr>
              <a:defRPr sz="1200" b="0">
                <a:solidFill>
                  <a:srgbClr val="F8FAFC"/>
                </a:solidFill>
                <a:latin typeface="Courier New"/>
              </a:defRPr>
            </a:pPr>
            <a:r>
              <a:rPr sz="1200" b="0">
                <a:solidFill>
                  <a:srgbClr val="F8FAFC"/>
                </a:solidFill>
                <a:latin typeface="Courier New"/>
              </a:rPr>
              <a:t>plt.tight_layout(); plt.show()</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098 — Gaussian Mixture Models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Ajuste básico: generá make_blobs con 3 centros y cluster_std variable.</a:t>
            </a:r>
          </a:p>
          <a:p>
            <a:pPr>
              <a:spcAft>
                <a:spcPts val="800"/>
              </a:spcAft>
              <a:defRPr sz="1400" b="0">
                <a:solidFill>
                  <a:srgbClr val="0F172A"/>
                </a:solidFill>
                <a:latin typeface="Segoe UI"/>
              </a:defRPr>
            </a:pPr>
            <a:r>
              <a:rPr sz="1400" b="0">
                <a:solidFill>
                  <a:srgbClr val="0F172A"/>
                </a:solidFill>
                <a:latin typeface="Segoe UI"/>
              </a:rPr>
              <a:t>• Soft vs.</a:t>
            </a:r>
          </a:p>
          <a:p>
            <a:pPr>
              <a:spcAft>
                <a:spcPts val="800"/>
              </a:spcAft>
              <a:defRPr sz="1400" b="0">
                <a:solidFill>
                  <a:srgbClr val="0F172A"/>
                </a:solidFill>
                <a:latin typeface="Segoe UI"/>
              </a:defRPr>
            </a:pPr>
            <a:r>
              <a:rPr sz="1400" b="0">
                <a:solidFill>
                  <a:srgbClr val="0F172A"/>
                </a:solidFill>
                <a:latin typeface="Segoe UI"/>
              </a:rPr>
              <a:t>• Selección de K con BIC/AIC: ajustá GMMs con n_components de 1 a 10.</a:t>
            </a:r>
          </a:p>
          <a:p>
            <a:pPr>
              <a:spcAft>
                <a:spcPts val="800"/>
              </a:spcAft>
              <a:defRPr sz="1400" b="0">
                <a:solidFill>
                  <a:srgbClr val="0F172A"/>
                </a:solidFill>
                <a:latin typeface="Segoe UI"/>
              </a:defRPr>
            </a:pPr>
            <a:r>
              <a:rPr sz="1400" b="0">
                <a:solidFill>
                  <a:srgbClr val="0F172A"/>
                </a:solidFill>
                <a:latin typeface="Segoe UI"/>
              </a:rPr>
              <a:t>• covariance_type: repetí el ajuste con los 4 tipos sobre un dataset con clusters elípticos rotados.</a:t>
            </a:r>
          </a:p>
          <a:p>
            <a:pPr>
              <a:spcAft>
                <a:spcPts val="800"/>
              </a:spcAft>
              <a:defRPr sz="1400" b="0">
                <a:solidFill>
                  <a:srgbClr val="0F172A"/>
                </a:solidFill>
                <a:latin typeface="Segoe UI"/>
              </a:defRPr>
            </a:pPr>
            <a:r>
              <a:rPr sz="1400" b="0">
                <a:solidFill>
                  <a:srgbClr val="0F172A"/>
                </a:solidFill>
                <a:latin typeface="Segoe UI"/>
              </a:rPr>
              <a:t>• Bayesian GMM: ajustá BayesianGaussianMixture(n_components=10, weight_concentration_prior=0.01) sobre datos con 3 clusters reales y mostrá que los pesos efectivos son ≈ 3.</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Estandarizá las features.</a:t>
            </a:r>
          </a:p>
          <a:p>
            <a:pPr>
              <a:spcAft>
                <a:spcPts val="800"/>
              </a:spcAft>
              <a:defRPr sz="1500" b="0">
                <a:solidFill>
                  <a:srgbClr val="0F172A"/>
                </a:solidFill>
                <a:latin typeface="Segoe UI"/>
              </a:defRPr>
            </a:pPr>
            <a:r>
              <a:rPr sz="1500" b="0">
                <a:solidFill>
                  <a:srgbClr val="0F172A"/>
                </a:solidFill>
                <a:latin typeface="Segoe UI"/>
              </a:rPr>
              <a:t>• Ajustá GMMs con n_components de 1 a 8 y covariance_type en ['full', 'tied', 'diag', 'spherical'].</a:t>
            </a:r>
          </a:p>
          <a:p>
            <a:pPr>
              <a:spcAft>
                <a:spcPts val="800"/>
              </a:spcAft>
              <a:defRPr sz="1500" b="0">
                <a:solidFill>
                  <a:srgbClr val="0F172A"/>
                </a:solidFill>
                <a:latin typeface="Segoe UI"/>
              </a:defRPr>
            </a:pPr>
            <a:r>
              <a:rPr sz="1500" b="0">
                <a:solidFill>
                  <a:srgbClr val="0F172A"/>
                </a:solidFill>
                <a:latin typeface="Segoe UI"/>
              </a:rPr>
              <a:t>• Elegí el (n_components, covariance_type) con BIC mínimo.</a:t>
            </a:r>
          </a:p>
          <a:p>
            <a:pPr>
              <a:spcAft>
                <a:spcPts val="800"/>
              </a:spcAft>
              <a:defRPr sz="1500" b="0">
                <a:solidFill>
                  <a:srgbClr val="0F172A"/>
                </a:solidFill>
                <a:latin typeface="Segoe UI"/>
              </a:defRPr>
            </a:pPr>
            <a:r>
              <a:rPr sz="1500" b="0">
                <a:solidFill>
                  <a:srgbClr val="0F172A"/>
                </a:solidFill>
                <a:latin typeface="Segoe UI"/>
              </a:rPr>
              <a:t>• Calculá el Adjusted Rand Index entre predict del mejor modelo y y real.</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099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099 — Detección de anomalías: Isolation Forest, LOF, One-Class SVM</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099 — Detección de anomalías: Isolation Forest, LOF, One-Class SVM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1 — Machine Learning Clásico · Fuente: Géron, cap. 9 + sklearn outlier detection.  Duración estimada: 70 min. · Nivel: Intermedio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detecte puntos anómalos (fraude, fallas, outliers) en datos sin etiquetas, eligiendo entre Isolation Forest, LOF, One-Class SVM y Elliptic Envelope según la geometría del problema, y entendiendo la diferencia entre outlier detection (entrenar con datos sucios) y novelty detection (entrenar limpio, predecir sobre nuevos).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outlier detection vs novelty detection y elegir el algoritmo acorde.</a:t>
            </a:r>
          </a:p>
          <a:p>
            <a:pPr>
              <a:spcAft>
                <a:spcPts val="800"/>
              </a:spcAft>
              <a:defRPr sz="1400" b="0">
                <a:solidFill>
                  <a:srgbClr val="0F172A"/>
                </a:solidFill>
                <a:latin typeface="Segoe UI"/>
              </a:defRPr>
            </a:pPr>
            <a:r>
              <a:rPr sz="1400" b="0">
                <a:solidFill>
                  <a:srgbClr val="0F172A"/>
                </a:solidFill>
                <a:latin typeface="Segoe UI"/>
              </a:rPr>
              <a:t>• Entrenar IsolationForest y ajustar el hiperparámetro contamination.</a:t>
            </a:r>
          </a:p>
          <a:p>
            <a:pPr>
              <a:spcAft>
                <a:spcPts val="800"/>
              </a:spcAft>
              <a:defRPr sz="1400" b="0">
                <a:solidFill>
                  <a:srgbClr val="0F172A"/>
                </a:solidFill>
                <a:latin typeface="Segoe UI"/>
              </a:defRPr>
            </a:pPr>
            <a:r>
              <a:rPr sz="1400" b="0">
                <a:solidFill>
                  <a:srgbClr val="0F172A"/>
                </a:solidFill>
                <a:latin typeface="Segoe UI"/>
              </a:rPr>
              <a:t>• Usar LocalOutlierFactor en modo novelty=False (fit_predict) y novelty=True (predict).</a:t>
            </a:r>
          </a:p>
          <a:p>
            <a:pPr>
              <a:spcAft>
                <a:spcPts val="800"/>
              </a:spcAft>
              <a:defRPr sz="1400" b="0">
                <a:solidFill>
                  <a:srgbClr val="0F172A"/>
                </a:solidFill>
                <a:latin typeface="Segoe UI"/>
              </a:defRPr>
            </a:pPr>
            <a:r>
              <a:rPr sz="1400" b="0">
                <a:solidFill>
                  <a:srgbClr val="0F172A"/>
                </a:solidFill>
                <a:latin typeface="Segoe UI"/>
              </a:rPr>
              <a:t>• Aplicar OneClassSVM y EllipticEnvelope, reconociendo sus supuestos (kernel, gaussianidad).</a:t>
            </a:r>
          </a:p>
          <a:p>
            <a:pPr>
              <a:spcAft>
                <a:spcPts val="800"/>
              </a:spcAft>
              <a:defRPr sz="1400" b="0">
                <a:solidFill>
                  <a:srgbClr val="0F172A"/>
                </a:solidFill>
                <a:latin typeface="Segoe UI"/>
              </a:defRPr>
            </a:pPr>
            <a:r>
              <a:rPr sz="1400" b="0">
                <a:solidFill>
                  <a:srgbClr val="0F172A"/>
                </a:solidFill>
                <a:latin typeface="Segoe UI"/>
              </a:rPr>
              <a:t>• Evaluar detectores de anomalías con score_samples, ROC-AUC y reglas de negocio (top-k).</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099 — Detección de anomalías: Isolation Forest, LOF, One-Class SVM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Outlier vs novelty detection</a:t>
            </a:r>
          </a:p>
          <a:p>
            <a:pPr>
              <a:spcAft>
                <a:spcPts val="1000"/>
              </a:spcAft>
              <a:defRPr sz="1600" b="0">
                <a:solidFill>
                  <a:srgbClr val="0F172A"/>
                </a:solidFill>
                <a:latin typeface="Segoe UI"/>
              </a:defRPr>
            </a:pPr>
            <a:r>
              <a:rPr sz="1600" b="0">
                <a:solidFill>
                  <a:srgbClr val="0F172A"/>
                </a:solidFill>
                <a:latin typeface="Segoe UI"/>
              </a:rPr>
              <a:t>• Isolation Forest</a:t>
            </a:r>
          </a:p>
          <a:p>
            <a:pPr>
              <a:spcAft>
                <a:spcPts val="1000"/>
              </a:spcAft>
              <a:defRPr sz="1600" b="0">
                <a:solidFill>
                  <a:srgbClr val="0F172A"/>
                </a:solidFill>
                <a:latin typeface="Segoe UI"/>
              </a:defRPr>
            </a:pPr>
            <a:r>
              <a:rPr sz="1600" b="0">
                <a:solidFill>
                  <a:srgbClr val="0F172A"/>
                </a:solidFill>
                <a:latin typeface="Segoe UI"/>
              </a:rPr>
              <a:t>• Local Outlier Factor (LOF)</a:t>
            </a:r>
          </a:p>
          <a:p>
            <a:pPr>
              <a:spcAft>
                <a:spcPts val="1000"/>
              </a:spcAft>
              <a:defRPr sz="1600" b="0">
                <a:solidFill>
                  <a:srgbClr val="0F172A"/>
                </a:solidFill>
                <a:latin typeface="Segoe UI"/>
              </a:defRPr>
            </a:pPr>
            <a:r>
              <a:rPr sz="1600" b="0">
                <a:solidFill>
                  <a:srgbClr val="0F172A"/>
                </a:solidFill>
                <a:latin typeface="Segoe UI"/>
              </a:rPr>
              <a:t>• One-Class SVM</a:t>
            </a:r>
          </a:p>
          <a:p>
            <a:pPr>
              <a:spcAft>
                <a:spcPts val="1000"/>
              </a:spcAft>
              <a:defRPr sz="1600" b="0">
                <a:solidFill>
                  <a:srgbClr val="0F172A"/>
                </a:solidFill>
                <a:latin typeface="Segoe UI"/>
              </a:defRPr>
            </a:pPr>
            <a:r>
              <a:rPr sz="1600" b="0">
                <a:solidFill>
                  <a:srgbClr val="0F172A"/>
                </a:solidFill>
                <a:latin typeface="Segoe UI"/>
              </a:rPr>
              <a:t>• Elliptic Envelope</a:t>
            </a:r>
          </a:p>
          <a:p>
            <a:pPr>
              <a:spcAft>
                <a:spcPts val="1000"/>
              </a:spcAft>
              <a:defRPr sz="1600" b="0">
                <a:solidFill>
                  <a:srgbClr val="0F172A"/>
                </a:solidFill>
                <a:latin typeface="Segoe UI"/>
              </a:defRPr>
            </a:pPr>
            <a:r>
              <a:rPr sz="1600" b="0">
                <a:solidFill>
                  <a:srgbClr val="0F172A"/>
                </a:solidFill>
                <a:latin typeface="Segoe UI"/>
              </a:rPr>
              <a:t>• score_samples y umbrales</a:t>
            </a:r>
          </a:p>
          <a:p>
            <a:pPr>
              <a:spcAft>
                <a:spcPts val="1000"/>
              </a:spcAft>
              <a:defRPr sz="1600" b="0">
                <a:solidFill>
                  <a:srgbClr val="0F172A"/>
                </a:solidFill>
                <a:latin typeface="Segoe UI"/>
              </a:defRPr>
            </a:pPr>
            <a:r>
              <a:rPr sz="1600" b="0">
                <a:solidFill>
                  <a:srgbClr val="0F172A"/>
                </a:solidFill>
                <a:latin typeface="Segoe UI"/>
              </a:rPr>
              <a:t>• Evaluación sin labels</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099 — Detección de anomalías: Isolation Forest, LOF, One-Class SVM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2 blobs + 5% de outliers uniformes. Isolation Forest aísla anomalías con menos splits. Salida: +1 inlier / -1 outlier.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sklearn.datasets import make_blobs</a:t>
            </a:r>
          </a:p>
          <a:p>
            <a:pPr>
              <a:defRPr sz="1200" b="0">
                <a:solidFill>
                  <a:srgbClr val="F8FAFC"/>
                </a:solidFill>
                <a:latin typeface="Courier New"/>
              </a:defRPr>
            </a:pPr>
            <a:r>
              <a:rPr sz="1200" b="0">
                <a:solidFill>
                  <a:srgbClr val="F8FAFC"/>
                </a:solidFill>
                <a:latin typeface="Courier New"/>
              </a:rPr>
              <a:t>from sklearn.ensemble import IsolationForest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X_norm, _ = make_blobs(n_samples=950, centers=2, cluster_std=1.0, random_state=42)</a:t>
            </a:r>
          </a:p>
          <a:p>
            <a:pPr>
              <a:defRPr sz="1200" b="0">
                <a:solidFill>
                  <a:srgbClr val="F8FAFC"/>
                </a:solidFill>
                <a:latin typeface="Courier New"/>
              </a:defRPr>
            </a:pPr>
            <a:r>
              <a:rPr sz="1200" b="0">
                <a:solidFill>
                  <a:srgbClr val="F8FAFC"/>
                </a:solidFill>
                <a:latin typeface="Courier New"/>
              </a:rPr>
              <a:t>X_out = rng.uniform(X_norm.min(axis=0) - 3, X_norm.max(axis=0) + 3, size=(50, 2))</a:t>
            </a:r>
          </a:p>
          <a:p>
            <a:pPr>
              <a:defRPr sz="1200" b="0">
                <a:solidFill>
                  <a:srgbClr val="F8FAFC"/>
                </a:solidFill>
                <a:latin typeface="Courier New"/>
              </a:defRPr>
            </a:pPr>
            <a:r>
              <a:rPr sz="1200" b="0">
                <a:solidFill>
                  <a:srgbClr val="F8FAFC"/>
                </a:solidFill>
                <a:latin typeface="Courier New"/>
              </a:rPr>
              <a:t>X = np.vstack([X_norm, X_out])</a:t>
            </a:r>
          </a:p>
          <a:p>
            <a:pPr>
              <a:defRPr sz="1200" b="0">
                <a:solidFill>
                  <a:srgbClr val="F8FAFC"/>
                </a:solidFill>
                <a:latin typeface="Courier New"/>
              </a:defRPr>
            </a:pPr>
            <a:r>
              <a:rPr sz="1200" b="0">
                <a:solidFill>
                  <a:srgbClr val="F8FAFC"/>
                </a:solidFill>
                <a:latin typeface="Courier New"/>
              </a:rPr>
              <a:t>es_outlier = np.r_[np.zeros(950, bool), np.ones(50, bool)]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iso = IsolationForest(contamination=0.05, random_state=42, n_jobs=1).fit(X)</a:t>
            </a:r>
          </a:p>
          <a:p>
            <a:pPr>
              <a:defRPr sz="1200" b="0">
                <a:solidFill>
                  <a:srgbClr val="F8FAFC"/>
                </a:solidFill>
                <a:latin typeface="Courier New"/>
              </a:defRPr>
            </a:pPr>
            <a:r>
              <a:rPr sz="1200" b="0">
                <a:solidFill>
                  <a:srgbClr val="F8FAFC"/>
                </a:solidFill>
                <a:latin typeface="Courier New"/>
              </a:rPr>
              <a:t>pred = iso.predict(X)  # -1 outlier, +1 inlier</a:t>
            </a:r>
          </a:p>
          <a:p>
            <a:pPr>
              <a:defRPr sz="1200" b="0">
                <a:solidFill>
                  <a:srgbClr val="F8FAFC"/>
                </a:solidFill>
                <a:latin typeface="Courier New"/>
              </a:defRPr>
            </a:pPr>
            <a:r>
              <a:rPr sz="1200" b="0">
                <a:solidFill>
                  <a:srgbClr val="F8FAFC"/>
                </a:solidFill>
                <a:latin typeface="Courier New"/>
              </a:rPr>
              <a:t>recall = ((pred == -1) &amp; es_outlier).sum() / es_outlier.sum()</a:t>
            </a:r>
          </a:p>
          <a:p>
            <a:pPr>
              <a:defRPr sz="1200" b="0">
                <a:solidFill>
                  <a:srgbClr val="F8FAFC"/>
                </a:solidFill>
                <a:latin typeface="Courier New"/>
              </a:defRPr>
            </a:pPr>
            <a:r>
              <a:rPr sz="1200" b="0">
                <a:solidFill>
                  <a:srgbClr val="F8FAFC"/>
                </a:solidFill>
                <a:latin typeface="Courier New"/>
              </a:rPr>
              <a:t>print(f"outliers reales: {es_outlier.sum()} | detectados: {int((pred == -1).sum())}")</a:t>
            </a:r>
          </a:p>
          <a:p>
            <a:pPr>
              <a:defRPr sz="1200" b="0">
                <a:solidFill>
                  <a:srgbClr val="F8FAFC"/>
                </a:solidFill>
                <a:latin typeface="Courier New"/>
              </a:defRPr>
            </a:pPr>
            <a:r>
              <a:rPr sz="1200" b="0">
                <a:solidFill>
                  <a:srgbClr val="F8FAFC"/>
                </a:solidFill>
                <a:latin typeface="Courier New"/>
              </a:rPr>
              <a:t>print(f"recall: {recall:.2%}")</a:t>
            </a:r>
          </a:p>
          <a:p>
            <a:pPr>
              <a:defRPr sz="1200" b="0">
                <a:solidFill>
                  <a:srgbClr val="F8FAFC"/>
                </a:solidFill>
                <a:latin typeface="Courier New"/>
              </a:defRPr>
            </a:pPr>
            <a:r>
              <a:rPr sz="1200" b="0">
                <a:solidFill>
                  <a:srgbClr val="F8FAFC"/>
                </a:solidFill>
                <a:latin typeface="Courier New"/>
              </a:rPr>
              <a:t>assert recall &gt;= 0.6, "IsolationForest deberia recuperar buena parte de los outliers"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099 — Detección de anomalías: Isolation Forest, LOF, One-Class SVM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Isolation Forest baseline.</a:t>
            </a:r>
          </a:p>
          <a:p>
            <a:pPr>
              <a:spcAft>
                <a:spcPts val="800"/>
              </a:spcAft>
              <a:defRPr sz="1400" b="0">
                <a:solidFill>
                  <a:srgbClr val="0F172A"/>
                </a:solidFill>
                <a:latin typeface="Segoe UI"/>
              </a:defRPr>
            </a:pPr>
            <a:r>
              <a:rPr sz="1400" b="0">
                <a:solidFill>
                  <a:srgbClr val="0F172A"/>
                </a:solidFill>
                <a:latin typeface="Segoe UI"/>
              </a:rPr>
              <a:t>• LOF local.</a:t>
            </a:r>
          </a:p>
          <a:p>
            <a:pPr>
              <a:spcAft>
                <a:spcPts val="800"/>
              </a:spcAft>
              <a:defRPr sz="1400" b="0">
                <a:solidFill>
                  <a:srgbClr val="0F172A"/>
                </a:solidFill>
                <a:latin typeface="Segoe UI"/>
              </a:defRPr>
            </a:pPr>
            <a:r>
              <a:rPr sz="1400" b="0">
                <a:solidFill>
                  <a:srgbClr val="0F172A"/>
                </a:solidFill>
                <a:latin typeface="Segoe UI"/>
              </a:rPr>
              <a:t>• One-Class SVM con escalado.</a:t>
            </a:r>
          </a:p>
          <a:p>
            <a:pPr>
              <a:spcAft>
                <a:spcPts val="800"/>
              </a:spcAft>
              <a:defRPr sz="1400" b="0">
                <a:solidFill>
                  <a:srgbClr val="0F172A"/>
                </a:solidFill>
                <a:latin typeface="Segoe UI"/>
              </a:defRPr>
            </a:pPr>
            <a:r>
              <a:rPr sz="1400" b="0">
                <a:solidFill>
                  <a:srgbClr val="0F172A"/>
                </a:solidFill>
                <a:latin typeface="Segoe UI"/>
              </a:rPr>
              <a:t>• Top-k con score_samples.</a:t>
            </a:r>
          </a:p>
          <a:p>
            <a:pPr>
              <a:spcAft>
                <a:spcPts val="800"/>
              </a:spcAft>
              <a:defRPr sz="1400" b="0">
                <a:solidFill>
                  <a:srgbClr val="0F172A"/>
                </a:solidFill>
                <a:latin typeface="Segoe UI"/>
              </a:defRPr>
            </a:pPr>
            <a:r>
              <a:rPr sz="1400" b="0">
                <a:solidFill>
                  <a:srgbClr val="0F172A"/>
                </a:solidFill>
                <a:latin typeface="Segoe UI"/>
              </a:rPr>
              <a:t>• Evaluación con labels.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Notebook con dataset de transacciones sintéticas (montos, hora, comercio): (a) inyectar 2% de transacciones anómalas (montos extremos, horarios raros); (b) entrenar Isolation Forest, LOF y One-Class SVM; (c) generar tabla comparativa con precision@k=20, recall y tiempo de entrenamiento; (d) elegir el ganador y justificar.</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2 — Deep Learning — Keras, TensorFlow, Transformers, RL y Despliegue · 75 clases</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100 — Perceptrón, MLP y backpropagation</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100 — Perceptrón, MLP y backpropagation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From Biological to Artificial Neurons.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la unidad fundamental del Deep Learning: la neurona artificial (perceptrón de Rosenblatt 1957), por qué un solo perceptrón no puede aprender XOR, cómo el MLP (Multi-Layer Perceptron) lo resuelve apilando capas con activaciones no lineales, y cómo backpropagation (regla de la cadena) permite calcular gradientes en cualquier grafo computacional — el algoritmo que destrabó el Deep Learning moderno.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a mano un perceptrón (y = step(w·x + b)) y mostrar por qué no separa XOR.</a:t>
            </a:r>
          </a:p>
          <a:p>
            <a:pPr>
              <a:spcAft>
                <a:spcPts val="800"/>
              </a:spcAft>
              <a:defRPr sz="1400" b="0">
                <a:solidFill>
                  <a:srgbClr val="0F172A"/>
                </a:solidFill>
                <a:latin typeface="Segoe UI"/>
              </a:defRPr>
            </a:pPr>
            <a:r>
              <a:rPr sz="1400" b="0">
                <a:solidFill>
                  <a:srgbClr val="0F172A"/>
                </a:solidFill>
                <a:latin typeface="Segoe UI"/>
              </a:rPr>
              <a:t>• Construir un MLP con keras.Sequential([Dense(...), Dense(...)]) y entrenarlo sobre un dataset simple.</a:t>
            </a:r>
          </a:p>
          <a:p>
            <a:pPr>
              <a:spcAft>
                <a:spcPts val="800"/>
              </a:spcAft>
              <a:defRPr sz="1400" b="0">
                <a:solidFill>
                  <a:srgbClr val="0F172A"/>
                </a:solidFill>
                <a:latin typeface="Segoe UI"/>
              </a:defRPr>
            </a:pPr>
            <a:r>
              <a:rPr sz="1400" b="0">
                <a:solidFill>
                  <a:srgbClr val="0F172A"/>
                </a:solidFill>
                <a:latin typeface="Segoe UI"/>
              </a:rPr>
              <a:t>• Explicar forward pass (compute layer by layer) y backward pass (propagar gradientes con la regla de la cadena).</a:t>
            </a:r>
          </a:p>
          <a:p>
            <a:pPr>
              <a:spcAft>
                <a:spcPts val="800"/>
              </a:spcAft>
              <a:defRPr sz="1400" b="0">
                <a:solidFill>
                  <a:srgbClr val="0F172A"/>
                </a:solidFill>
                <a:latin typeface="Segoe UI"/>
              </a:defRPr>
            </a:pPr>
            <a:r>
              <a:rPr sz="1400" b="0">
                <a:solidFill>
                  <a:srgbClr val="0F172A"/>
                </a:solidFill>
                <a:latin typeface="Segoe UI"/>
              </a:rPr>
              <a:t>• Calcular a mano los gradientes para un MLP de 2 capas con una sola muestra.</a:t>
            </a:r>
          </a:p>
          <a:p>
            <a:pPr>
              <a:spcAft>
                <a:spcPts val="800"/>
              </a:spcAft>
              <a:defRPr sz="1400" b="0">
                <a:solidFill>
                  <a:srgbClr val="0F172A"/>
                </a:solidFill>
                <a:latin typeface="Segoe UI"/>
              </a:defRPr>
            </a:pPr>
            <a:r>
              <a:rPr sz="1400" b="0">
                <a:solidFill>
                  <a:srgbClr val="0F172A"/>
                </a:solidFill>
                <a:latin typeface="Segoe UI"/>
              </a:rPr>
              <a:t>• Reconocer que la diferenciación automática (autograd) hace innecesario derivar a mano para modelos arbitrarios.</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100 — Perceptrón, MLP y backpropagation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Perceptrón clásico (Rosenblatt 1957)</a:t>
            </a:r>
          </a:p>
          <a:p>
            <a:pPr>
              <a:spcAft>
                <a:spcPts val="1000"/>
              </a:spcAft>
              <a:defRPr sz="1600" b="0">
                <a:solidFill>
                  <a:srgbClr val="0F172A"/>
                </a:solidFill>
                <a:latin typeface="Segoe UI"/>
              </a:defRPr>
            </a:pPr>
            <a:r>
              <a:rPr sz="1600" b="0">
                <a:solidFill>
                  <a:srgbClr val="0F172A"/>
                </a:solidFill>
                <a:latin typeface="Segoe UI"/>
              </a:rPr>
              <a:t>• El problema XOR</a:t>
            </a:r>
          </a:p>
          <a:p>
            <a:pPr>
              <a:spcAft>
                <a:spcPts val="1000"/>
              </a:spcAft>
              <a:defRPr sz="1600" b="0">
                <a:solidFill>
                  <a:srgbClr val="0F172A"/>
                </a:solidFill>
                <a:latin typeface="Segoe UI"/>
              </a:defRPr>
            </a:pPr>
            <a:r>
              <a:rPr sz="1600" b="0">
                <a:solidFill>
                  <a:srgbClr val="0F172A"/>
                </a:solidFill>
                <a:latin typeface="Segoe UI"/>
              </a:rPr>
              <a:t>• MLP: input → hidden → output</a:t>
            </a:r>
          </a:p>
          <a:p>
            <a:pPr>
              <a:spcAft>
                <a:spcPts val="1000"/>
              </a:spcAft>
              <a:defRPr sz="1600" b="0">
                <a:solidFill>
                  <a:srgbClr val="0F172A"/>
                </a:solidFill>
                <a:latin typeface="Segoe UI"/>
              </a:defRPr>
            </a:pPr>
            <a:r>
              <a:rPr sz="1600" b="0">
                <a:solidFill>
                  <a:srgbClr val="0F172A"/>
                </a:solidFill>
                <a:latin typeface="Segoe UI"/>
              </a:rPr>
              <a:t>• Activación no lineal</a:t>
            </a:r>
          </a:p>
          <a:p>
            <a:pPr>
              <a:spcAft>
                <a:spcPts val="1000"/>
              </a:spcAft>
              <a:defRPr sz="1600" b="0">
                <a:solidFill>
                  <a:srgbClr val="0F172A"/>
                </a:solidFill>
                <a:latin typeface="Segoe UI"/>
              </a:defRPr>
            </a:pPr>
            <a:r>
              <a:rPr sz="1600" b="0">
                <a:solidFill>
                  <a:srgbClr val="0F172A"/>
                </a:solidFill>
                <a:latin typeface="Segoe UI"/>
              </a:rPr>
              <a:t>• Backpropagation (Rumelhart, Hinton &amp; Williams 1986)</a:t>
            </a:r>
          </a:p>
          <a:p>
            <a:pPr>
              <a:spcAft>
                <a:spcPts val="1000"/>
              </a:spcAft>
              <a:defRPr sz="1600" b="0">
                <a:solidFill>
                  <a:srgbClr val="0F172A"/>
                </a:solidFill>
                <a:latin typeface="Segoe UI"/>
              </a:defRPr>
            </a:pPr>
            <a:r>
              <a:rPr sz="1600" b="0">
                <a:solidFill>
                  <a:srgbClr val="0F172A"/>
                </a:solidFill>
                <a:latin typeface="Segoe UI"/>
              </a:rPr>
              <a:t>• Autograd / autodiff</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100 — Perceptrón, MLP y backpropagation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step(z):</a:t>
            </a:r>
          </a:p>
          <a:p>
            <a:pPr>
              <a:defRPr sz="1200" b="0">
                <a:solidFill>
                  <a:srgbClr val="F8FAFC"/>
                </a:solidFill>
                <a:latin typeface="Courier New"/>
              </a:defRPr>
            </a:pPr>
            <a:r>
              <a:rPr sz="1200" b="0">
                <a:solidFill>
                  <a:srgbClr val="F8FAFC"/>
                </a:solidFill>
                <a:latin typeface="Courier New"/>
              </a:rPr>
              <a:t>    # función escalón: 1 si z &gt;= 0, si no 0</a:t>
            </a:r>
          </a:p>
          <a:p>
            <a:pPr>
              <a:defRPr sz="1200" b="0">
                <a:solidFill>
                  <a:srgbClr val="F8FAFC"/>
                </a:solidFill>
                <a:latin typeface="Courier New"/>
              </a:defRPr>
            </a:pPr>
            <a:r>
              <a:rPr sz="1200" b="0">
                <a:solidFill>
                  <a:srgbClr val="F8FAFC"/>
                </a:solidFill>
                <a:latin typeface="Courier New"/>
              </a:rPr>
              <a:t>    return (z &gt;= 0).astype(float)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entrena_perceptron(X, y, epocas=20, eta=0.1):</a:t>
            </a:r>
          </a:p>
          <a:p>
            <a:pPr>
              <a:defRPr sz="1200" b="0">
                <a:solidFill>
                  <a:srgbClr val="F8FAFC"/>
                </a:solidFill>
                <a:latin typeface="Courier New"/>
              </a:defRPr>
            </a:pPr>
            <a:r>
              <a:rPr sz="1200" b="0">
                <a:solidFill>
                  <a:srgbClr val="F8FAFC"/>
                </a:solidFill>
                <a:latin typeface="Courier New"/>
              </a:rPr>
              <a:t>    w = np.zeros(X.shape[1]); b = 0.0</a:t>
            </a:r>
          </a:p>
          <a:p>
            <a:pPr>
              <a:defRPr sz="1200" b="0">
                <a:solidFill>
                  <a:srgbClr val="F8FAFC"/>
                </a:solidFill>
                <a:latin typeface="Courier New"/>
              </a:defRPr>
            </a:pPr>
            <a:r>
              <a:rPr sz="1200" b="0">
                <a:solidFill>
                  <a:srgbClr val="F8FAFC"/>
                </a:solidFill>
                <a:latin typeface="Courier New"/>
              </a:rPr>
              <a:t>    for _ in range(epocas):</a:t>
            </a:r>
          </a:p>
          <a:p>
            <a:pPr>
              <a:defRPr sz="1200" b="0">
                <a:solidFill>
                  <a:srgbClr val="F8FAFC"/>
                </a:solidFill>
                <a:latin typeface="Courier New"/>
              </a:defRPr>
            </a:pPr>
            <a:r>
              <a:rPr sz="1200" b="0">
                <a:solidFill>
                  <a:srgbClr val="F8FAFC"/>
                </a:solidFill>
                <a:latin typeface="Courier New"/>
              </a:rPr>
              <a:t>        for xi, yi in zip(X, y):</a:t>
            </a:r>
          </a:p>
          <a:p>
            <a:pPr>
              <a:defRPr sz="1200" b="0">
                <a:solidFill>
                  <a:srgbClr val="F8FAFC"/>
                </a:solidFill>
                <a:latin typeface="Courier New"/>
              </a:defRPr>
            </a:pPr>
            <a:r>
              <a:rPr sz="1200" b="0">
                <a:solidFill>
                  <a:srgbClr val="F8FAFC"/>
                </a:solidFill>
                <a:latin typeface="Courier New"/>
              </a:rPr>
              <a:t>            y_pred = step(w @ xi + b)</a:t>
            </a:r>
          </a:p>
          <a:p>
            <a:pPr>
              <a:defRPr sz="1200" b="0">
                <a:solidFill>
                  <a:srgbClr val="F8FAFC"/>
                </a:solidFill>
                <a:latin typeface="Courier New"/>
              </a:defRPr>
            </a:pPr>
            <a:r>
              <a:rPr sz="1200" b="0">
                <a:solidFill>
                  <a:srgbClr val="F8FAFC"/>
                </a:solidFill>
                <a:latin typeface="Courier New"/>
              </a:rPr>
              <a:t>            error = yi - y_pred                  # regla del perceptrón</a:t>
            </a:r>
          </a:p>
          <a:p>
            <a:pPr>
              <a:defRPr sz="1200" b="0">
                <a:solidFill>
                  <a:srgbClr val="F8FAFC"/>
                </a:solidFill>
                <a:latin typeface="Courier New"/>
              </a:defRPr>
            </a:pPr>
            <a:r>
              <a:rPr sz="1200" b="0">
                <a:solidFill>
                  <a:srgbClr val="F8FAFC"/>
                </a:solidFill>
                <a:latin typeface="Courier New"/>
              </a:rPr>
              <a:t>            w += eta * error * xi</a:t>
            </a:r>
          </a:p>
          <a:p>
            <a:pPr>
              <a:defRPr sz="1200" b="0">
                <a:solidFill>
                  <a:srgbClr val="F8FAFC"/>
                </a:solidFill>
                <a:latin typeface="Courier New"/>
              </a:defRPr>
            </a:pPr>
            <a:r>
              <a:rPr sz="1200" b="0">
                <a:solidFill>
                  <a:srgbClr val="F8FAFC"/>
                </a:solidFill>
                <a:latin typeface="Courier New"/>
              </a:rPr>
              <a:t>            b += eta * error</a:t>
            </a:r>
          </a:p>
          <a:p>
            <a:pPr>
              <a:defRPr sz="1200" b="0">
                <a:solidFill>
                  <a:srgbClr val="F8FAFC"/>
                </a:solidFill>
                <a:latin typeface="Courier New"/>
              </a:defRPr>
            </a:pPr>
            <a:r>
              <a:rPr sz="1200" b="0">
                <a:solidFill>
                  <a:srgbClr val="F8FAFC"/>
                </a:solidFill>
                <a:latin typeface="Courier New"/>
              </a:rPr>
              <a:t>    return w, b</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np.array([[0, 0], [0, 1], [1, 0], [1, 1]], dtype=float)</a:t>
            </a:r>
          </a:p>
          <a:p>
            <a:pPr>
              <a:defRPr sz="1200" b="0">
                <a:solidFill>
                  <a:srgbClr val="F8FAFC"/>
                </a:solidFill>
                <a:latin typeface="Courier New"/>
              </a:defRPr>
            </a:pPr>
            <a:r>
              <a:rPr sz="1200" b="0">
                <a:solidFill>
                  <a:srgbClr val="F8FAFC"/>
                </a:solidFill>
                <a:latin typeface="Courier New"/>
              </a:rPr>
              <a:t>y_and = np.array([0, 0, 0, 1]); y_or = np.array([0, 1, 1,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100 — Perceptrón, MLP y backpropagation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Perceptrón a mano: implementá un perceptrón en numpy y entrenalo en AND/OR (separables).</a:t>
            </a:r>
          </a:p>
          <a:p>
            <a:pPr>
              <a:spcAft>
                <a:spcPts val="800"/>
              </a:spcAft>
              <a:defRPr sz="1400" b="0">
                <a:solidFill>
                  <a:srgbClr val="0F172A"/>
                </a:solidFill>
                <a:latin typeface="Segoe UI"/>
              </a:defRPr>
            </a:pPr>
            <a:r>
              <a:rPr sz="1400" b="0">
                <a:solidFill>
                  <a:srgbClr val="0F172A"/>
                </a:solidFill>
                <a:latin typeface="Segoe UI"/>
              </a:rPr>
              <a:t>• MLP con Keras: model = keras.Sequential([Dense(8, activation='relu', input_shape=(2,)), Dense(1, activation='sigmoid')]).</a:t>
            </a:r>
          </a:p>
          <a:p>
            <a:pPr>
              <a:spcAft>
                <a:spcPts val="800"/>
              </a:spcAft>
              <a:defRPr sz="1400" b="0">
                <a:solidFill>
                  <a:srgbClr val="0F172A"/>
                </a:solidFill>
                <a:latin typeface="Segoe UI"/>
              </a:defRPr>
            </a:pPr>
            <a:r>
              <a:rPr sz="1400" b="0">
                <a:solidFill>
                  <a:srgbClr val="0F172A"/>
                </a:solidFill>
                <a:latin typeface="Segoe UI"/>
              </a:rPr>
              <a:t>• Visualización decision boundary: con make_moons, entrená un MLP [16, 8] y graficá la frontera con un meshgrid.</a:t>
            </a:r>
          </a:p>
          <a:p>
            <a:pPr>
              <a:spcAft>
                <a:spcPts val="800"/>
              </a:spcAft>
              <a:defRPr sz="1400" b="0">
                <a:solidFill>
                  <a:srgbClr val="0F172A"/>
                </a:solidFill>
                <a:latin typeface="Segoe UI"/>
              </a:defRPr>
            </a:pPr>
            <a:r>
              <a:rPr sz="1400" b="0">
                <a:solidFill>
                  <a:srgbClr val="0F172A"/>
                </a:solidFill>
                <a:latin typeface="Segoe UI"/>
              </a:rPr>
              <a:t>• Backprop a mano: para un MLP con 1 input, 1 hidden (2 neuronas), 1 output, con MSE, calculá ∂L/∂w para una muestra y comparalo con tf.GradientTape.</a:t>
            </a:r>
          </a:p>
          <a:p>
            <a:pPr>
              <a:spcAft>
                <a:spcPts val="800"/>
              </a:spcAft>
              <a:defRPr sz="1400" b="0">
                <a:solidFill>
                  <a:srgbClr val="0F172A"/>
                </a:solidFill>
                <a:latin typeface="Segoe UI"/>
              </a:defRPr>
            </a:pPr>
            <a:r>
              <a:rPr sz="1400" b="0">
                <a:solidFill>
                  <a:srgbClr val="0F172A"/>
                </a:solidFill>
                <a:latin typeface="Segoe UI"/>
              </a:rPr>
              <a:t>• ¿Y sin activación no lineal?: cambiá las activaciones a linear en el MLP de XOR y mostrá que ya no puede aprenderlo.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 make_moons(noise=0.2, random_state=42).</a:t>
            </a:r>
          </a:p>
          <a:p>
            <a:pPr>
              <a:spcAft>
                <a:spcPts val="800"/>
              </a:spcAft>
              <a:defRPr sz="1400" b="0">
                <a:solidFill>
                  <a:srgbClr val="0F172A"/>
                </a:solidFill>
                <a:latin typeface="Segoe UI"/>
              </a:defRPr>
            </a:pPr>
            <a:r>
              <a:rPr sz="1400" b="0">
                <a:solidFill>
                  <a:srgbClr val="0F172A"/>
                </a:solidFill>
                <a:latin typeface="Segoe UI"/>
              </a:rPr>
              <a:t>• Entrena 2 modelos: regresión logística (Parte 1) vs MLP [16, 8] con ReLU.</a:t>
            </a:r>
          </a:p>
          <a:p>
            <a:pPr>
              <a:spcAft>
                <a:spcPts val="800"/>
              </a:spcAft>
              <a:defRPr sz="1400" b="0">
                <a:solidFill>
                  <a:srgbClr val="0F172A"/>
                </a:solidFill>
                <a:latin typeface="Segoe UI"/>
              </a:defRPr>
            </a:pPr>
            <a:r>
              <a:rPr sz="1400" b="0">
                <a:solidFill>
                  <a:srgbClr val="0F172A"/>
                </a:solidFill>
                <a:latin typeface="Segoe UI"/>
              </a:rPr>
              <a:t>• Reporta accuracy en test para ambos.</a:t>
            </a:r>
          </a:p>
          <a:p>
            <a:pPr>
              <a:spcAft>
                <a:spcPts val="800"/>
              </a:spcAft>
              <a:defRPr sz="1400" b="0">
                <a:solidFill>
                  <a:srgbClr val="0F172A"/>
                </a:solidFill>
                <a:latin typeface="Segoe UI"/>
              </a:defRPr>
            </a:pPr>
            <a:r>
              <a:rPr sz="1400" b="0">
                <a:solidFill>
                  <a:srgbClr val="0F172A"/>
                </a:solidFill>
                <a:latin typeface="Segoe UI"/>
              </a:rPr>
              <a:t>• Grafica las dos decision boundaries lado a lado.</a:t>
            </a:r>
          </a:p>
          <a:p>
            <a:pPr>
              <a:spcAft>
                <a:spcPts val="800"/>
              </a:spcAft>
              <a:defRPr sz="1400" b="0">
                <a:solidFill>
                  <a:srgbClr val="0F172A"/>
                </a:solidFill>
                <a:latin typeface="Segoe UI"/>
              </a:defRPr>
            </a:pPr>
            <a:r>
              <a:rPr sz="1400" b="0">
                <a:solidFill>
                  <a:srgbClr val="0F172A"/>
                </a:solidFill>
                <a:latin typeface="Segoe UI"/>
              </a:rPr>
              <a:t>• Explica en 3 líneas por qué el MLP captura la curvatura y la regresión logística no.</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101 — Regresión y clasificación con MLP</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101 — Regresión y clasificación con MLP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Building an Image Classifier y § Building a Regression MLP.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construir y entrenar un MLP para los tres tipos de problemas tabulares estándar — regresión, clasificación binaria y clasificación multiclase — eligiendo correctamente la activación de salida y la loss para cada caso. Hacer un train/val/test split adecuado y leer las curvas de entrenamiento.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Mapear problema → activación de salida → loss: regresión → linear + MSE; binario → sigmoid + binary_crossentropy; multiclase → softmax + sparse_categorical_crossentropy.</a:t>
            </a:r>
          </a:p>
          <a:p>
            <a:pPr>
              <a:spcAft>
                <a:spcPts val="800"/>
              </a:spcAft>
              <a:defRPr sz="1400" b="0">
                <a:solidFill>
                  <a:srgbClr val="0F172A"/>
                </a:solidFill>
                <a:latin typeface="Segoe UI"/>
              </a:defRPr>
            </a:pPr>
            <a:r>
              <a:rPr sz="1400" b="0">
                <a:solidFill>
                  <a:srgbClr val="0F172A"/>
                </a:solidFill>
                <a:latin typeface="Segoe UI"/>
              </a:rPr>
              <a:t>• Hacer split train / validation / test con train_test_split y pasar validation_data a model.fit.</a:t>
            </a:r>
          </a:p>
          <a:p>
            <a:pPr>
              <a:spcAft>
                <a:spcPts val="800"/>
              </a:spcAft>
              <a:defRPr sz="1400" b="0">
                <a:solidFill>
                  <a:srgbClr val="0F172A"/>
                </a:solidFill>
                <a:latin typeface="Segoe UI"/>
              </a:defRPr>
            </a:pPr>
            <a:r>
              <a:rPr sz="1400" b="0">
                <a:solidFill>
                  <a:srgbClr val="0F172A"/>
                </a:solidFill>
                <a:latin typeface="Segoe UI"/>
              </a:rPr>
              <a:t>• Leer history.history['loss'] y ['val_loss'], identificar overfitting (val sube mientras train baja).</a:t>
            </a:r>
          </a:p>
          <a:p>
            <a:pPr>
              <a:spcAft>
                <a:spcPts val="800"/>
              </a:spcAft>
              <a:defRPr sz="1400" b="0">
                <a:solidFill>
                  <a:srgbClr val="0F172A"/>
                </a:solidFill>
                <a:latin typeface="Segoe UI"/>
              </a:defRPr>
            </a:pPr>
            <a:r>
              <a:rPr sz="1400" b="0">
                <a:solidFill>
                  <a:srgbClr val="0F172A"/>
                </a:solidFill>
                <a:latin typeface="Segoe UI"/>
              </a:rPr>
              <a:t>• Aplicar EarlyStopping y ModelCheckpoint callbacks como protección estándar.</a:t>
            </a:r>
          </a:p>
          <a:p>
            <a:pPr>
              <a:spcAft>
                <a:spcPts val="800"/>
              </a:spcAft>
              <a:defRPr sz="1400" b="0">
                <a:solidFill>
                  <a:srgbClr val="0F172A"/>
                </a:solidFill>
                <a:latin typeface="Segoe UI"/>
              </a:defRPr>
            </a:pPr>
            <a:r>
              <a:rPr sz="1400" b="0">
                <a:solidFill>
                  <a:srgbClr val="0F172A"/>
                </a:solidFill>
                <a:latin typeface="Segoe UI"/>
              </a:rPr>
              <a:t>• Diferenciar sparse_categorical_crossentropy (labels enteros) de categorical_crossentropy (labels one-hot).</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101 — Regresión y clasificación con MLP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Mapeo problema → arquitectura de salida + loss.</a:t>
            </a:r>
          </a:p>
          <a:p>
            <a:pPr>
              <a:spcAft>
                <a:spcPts val="1000"/>
              </a:spcAft>
              <a:defRPr sz="1600" b="0">
                <a:solidFill>
                  <a:srgbClr val="0F172A"/>
                </a:solidFill>
                <a:latin typeface="Segoe UI"/>
              </a:defRPr>
            </a:pPr>
            <a:r>
              <a:rPr sz="1600" b="0">
                <a:solidFill>
                  <a:srgbClr val="0F172A"/>
                </a:solidFill>
                <a:latin typeface="Segoe UI"/>
              </a:rPr>
              <a:t>• Activación de salida: linear, sigmoid, softmax.</a:t>
            </a:r>
          </a:p>
          <a:p>
            <a:pPr>
              <a:spcAft>
                <a:spcPts val="1000"/>
              </a:spcAft>
              <a:defRPr sz="1600" b="0">
                <a:solidFill>
                  <a:srgbClr val="0F172A"/>
                </a:solidFill>
                <a:latin typeface="Segoe UI"/>
              </a:defRPr>
            </a:pPr>
            <a:r>
              <a:rPr sz="1600" b="0">
                <a:solidFill>
                  <a:srgbClr val="0F172A"/>
                </a:solidFill>
                <a:latin typeface="Segoe UI"/>
              </a:rPr>
              <a:t>• Train/val/test split — por qué hace falta los tres (val para selección, test para reporte final).</a:t>
            </a:r>
          </a:p>
          <a:p>
            <a:pPr>
              <a:spcAft>
                <a:spcPts val="1000"/>
              </a:spcAft>
              <a:defRPr sz="1600" b="0">
                <a:solidFill>
                  <a:srgbClr val="0F172A"/>
                </a:solidFill>
                <a:latin typeface="Segoe UI"/>
              </a:defRPr>
            </a:pPr>
            <a:r>
              <a:rPr sz="1600" b="0">
                <a:solidFill>
                  <a:srgbClr val="0F172A"/>
                </a:solidFill>
                <a:latin typeface="Segoe UI"/>
              </a:rPr>
              <a:t>• Curvas de aprendizaje: lectura visual (subfitting / overfitting).</a:t>
            </a:r>
          </a:p>
          <a:p>
            <a:pPr>
              <a:spcAft>
                <a:spcPts val="1000"/>
              </a:spcAft>
              <a:defRPr sz="1600" b="0">
                <a:solidFill>
                  <a:srgbClr val="0F172A"/>
                </a:solidFill>
                <a:latin typeface="Segoe UI"/>
              </a:defRPr>
            </a:pPr>
            <a:r>
              <a:rPr sz="1600" b="0">
                <a:solidFill>
                  <a:srgbClr val="0F172A"/>
                </a:solidFill>
                <a:latin typeface="Segoe UI"/>
              </a:rPr>
              <a:t>• Callbacks: EarlyStopping(patience=5, restore_best_weights=True), ModelCheckpoint.</a:t>
            </a:r>
          </a:p>
          <a:p>
            <a:pPr>
              <a:spcAft>
                <a:spcPts val="1000"/>
              </a:spcAft>
              <a:defRPr sz="1600" b="0">
                <a:solidFill>
                  <a:srgbClr val="0F172A"/>
                </a:solidFill>
                <a:latin typeface="Segoe UI"/>
              </a:defRPr>
            </a:pPr>
            <a:r>
              <a:rPr sz="1600" b="0">
                <a:solidFill>
                  <a:srgbClr val="0F172A"/>
                </a:solidFill>
                <a:latin typeface="Segoe UI"/>
              </a:rPr>
              <a:t>• Normalización de inputs con Normalization() layer o StandardScaler.</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101 — Regresión y clasificación con MLP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 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fetch_california_housing(return_X_y=True)</a:t>
            </a:r>
          </a:p>
          <a:p>
            <a:pPr>
              <a:defRPr sz="1200" b="0">
                <a:solidFill>
                  <a:srgbClr val="F8FAFC"/>
                </a:solidFill>
                <a:latin typeface="Courier New"/>
              </a:defRPr>
            </a:pPr>
            <a:r>
              <a:rPr sz="1200" b="0">
                <a:solidFill>
                  <a:srgbClr val="F8FAFC"/>
                </a:solidFill>
                <a:latin typeface="Courier New"/>
              </a:rPr>
              <a:t>X_tr, X_te, y_tr, y_te = train_test_split(X, y, test_size=0.2,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norm = layers.Normalization()      # aprende media/desvío de los inputs</a:t>
            </a:r>
          </a:p>
          <a:p>
            <a:pPr>
              <a:defRPr sz="1200" b="0">
                <a:solidFill>
                  <a:srgbClr val="F8FAFC"/>
                </a:solidFill>
                <a:latin typeface="Courier New"/>
              </a:defRPr>
            </a:pPr>
            <a:r>
              <a:rPr sz="1200" b="0">
                <a:solidFill>
                  <a:srgbClr val="F8FAFC"/>
                </a:solidFill>
                <a:latin typeface="Courier New"/>
              </a:rPr>
              <a:t>norm.adapt(X_tr)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reg = keras.Sequential([</a:t>
            </a:r>
          </a:p>
          <a:p>
            <a:pPr>
              <a:defRPr sz="1200" b="0">
                <a:solidFill>
                  <a:srgbClr val="F8FAFC"/>
                </a:solidFill>
                <a:latin typeface="Courier New"/>
              </a:defRPr>
            </a:pPr>
            <a:r>
              <a:rPr sz="1200" b="0">
                <a:solidFill>
                  <a:srgbClr val="F8FAFC"/>
                </a:solidFill>
                <a:latin typeface="Courier New"/>
              </a:rPr>
              <a:t>    keras.Input(shape=(X.shape[1],)),</a:t>
            </a:r>
          </a:p>
          <a:p>
            <a:pPr>
              <a:defRPr sz="1200" b="0">
                <a:solidFill>
                  <a:srgbClr val="F8FAFC"/>
                </a:solidFill>
                <a:latin typeface="Courier New"/>
              </a:defRPr>
            </a:pPr>
            <a:r>
              <a:rPr sz="1200" b="0">
                <a:solidFill>
                  <a:srgbClr val="F8FAFC"/>
                </a:solidFill>
                <a:latin typeface="Courier New"/>
              </a:rPr>
              <a:t>    norm,</a:t>
            </a:r>
          </a:p>
          <a:p>
            <a:pPr>
              <a:defRPr sz="1200" b="0">
                <a:solidFill>
                  <a:srgbClr val="F8FAFC"/>
                </a:solidFill>
                <a:latin typeface="Courier New"/>
              </a:defRPr>
            </a:pPr>
            <a:r>
              <a:rPr sz="1200" b="0">
                <a:solidFill>
                  <a:srgbClr val="F8FAFC"/>
                </a:solidFill>
                <a:latin typeface="Courier New"/>
              </a:rPr>
              <a:t>    layers.Dense(64, activation="relu"),</a:t>
            </a:r>
          </a:p>
          <a:p>
            <a:pPr>
              <a:defRPr sz="1200" b="0">
                <a:solidFill>
                  <a:srgbClr val="F8FAFC"/>
                </a:solidFill>
                <a:latin typeface="Courier New"/>
              </a:defRPr>
            </a:pPr>
            <a:r>
              <a:rPr sz="1200" b="0">
                <a:solidFill>
                  <a:srgbClr val="F8FAFC"/>
                </a:solidFill>
                <a:latin typeface="Courier New"/>
              </a:rPr>
              <a:t>    layers.Dense(32, activation="relu"),</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101 — Regresión y clasificación con MLP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MLP regresión: California Housing, MLP [64, 32] con Normalization(), salida linear, loss mse.</a:t>
            </a:r>
          </a:p>
          <a:p>
            <a:pPr>
              <a:spcAft>
                <a:spcPts val="800"/>
              </a:spcAft>
              <a:defRPr sz="1400" b="0">
                <a:solidFill>
                  <a:srgbClr val="0F172A"/>
                </a:solidFill>
                <a:latin typeface="Segoe UI"/>
              </a:defRPr>
            </a:pPr>
            <a:r>
              <a:rPr sz="1400" b="0">
                <a:solidFill>
                  <a:srgbClr val="0F172A"/>
                </a:solidFill>
                <a:latin typeface="Segoe UI"/>
              </a:rPr>
              <a:t>• MLP binario: breast_cancer, MLP [32, 16], salida sigmoid, loss binary_crossentropy.</a:t>
            </a:r>
          </a:p>
          <a:p>
            <a:pPr>
              <a:spcAft>
                <a:spcPts val="800"/>
              </a:spcAft>
              <a:defRPr sz="1400" b="0">
                <a:solidFill>
                  <a:srgbClr val="0F172A"/>
                </a:solidFill>
                <a:latin typeface="Segoe UI"/>
              </a:defRPr>
            </a:pPr>
            <a:r>
              <a:rPr sz="1400" b="0">
                <a:solidFill>
                  <a:srgbClr val="0F172A"/>
                </a:solidFill>
                <a:latin typeface="Segoe UI"/>
              </a:rPr>
              <a:t>• MLP multiclase: Fashion-MNIST (aplastado a 784), MLP [256, 128], salida softmax(10), loss sparse_categorical_crossentropy.</a:t>
            </a:r>
          </a:p>
          <a:p>
            <a:pPr>
              <a:spcAft>
                <a:spcPts val="800"/>
              </a:spcAft>
              <a:defRPr sz="1400" b="0">
                <a:solidFill>
                  <a:srgbClr val="0F172A"/>
                </a:solidFill>
                <a:latin typeface="Segoe UI"/>
              </a:defRPr>
            </a:pPr>
            <a:r>
              <a:rPr sz="1400" b="0">
                <a:solidFill>
                  <a:srgbClr val="0F172A"/>
                </a:solidFill>
                <a:latin typeface="Segoe UI"/>
              </a:rPr>
              <a:t>• Curvas y overfitting: entrenar el modelo 3 por 50 épocas sin early stopping.</a:t>
            </a:r>
          </a:p>
          <a:p>
            <a:pPr>
              <a:spcAft>
                <a:spcPts val="800"/>
              </a:spcAft>
              <a:defRPr sz="1400" b="0">
                <a:solidFill>
                  <a:srgbClr val="0F172A"/>
                </a:solidFill>
                <a:latin typeface="Segoe UI"/>
              </a:defRPr>
            </a:pPr>
            <a:r>
              <a:rPr sz="1400" b="0">
                <a:solidFill>
                  <a:srgbClr val="0F172A"/>
                </a:solidFill>
                <a:latin typeface="Segoe UI"/>
              </a:rPr>
              <a:t>• EarlyStopping: repetir con EarlyStopping(patience=5, restore_best_weights=True).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y normalizar (/ 255).</a:t>
            </a:r>
          </a:p>
          <a:p>
            <a:pPr>
              <a:spcAft>
                <a:spcPts val="800"/>
              </a:spcAft>
              <a:defRPr sz="1400" b="0">
                <a:solidFill>
                  <a:srgbClr val="0F172A"/>
                </a:solidFill>
                <a:latin typeface="Segoe UI"/>
              </a:defRPr>
            </a:pPr>
            <a:r>
              <a:rPr sz="1400" b="0">
                <a:solidFill>
                  <a:srgbClr val="0F172A"/>
                </a:solidFill>
                <a:latin typeface="Segoe UI"/>
              </a:rPr>
              <a:t>• Split train (50 000) / val (10 000) / test (10 000).</a:t>
            </a:r>
          </a:p>
          <a:p>
            <a:pPr>
              <a:spcAft>
                <a:spcPts val="800"/>
              </a:spcAft>
              <a:defRPr sz="1400" b="0">
                <a:solidFill>
                  <a:srgbClr val="0F172A"/>
                </a:solidFill>
                <a:latin typeface="Segoe UI"/>
              </a:defRPr>
            </a:pPr>
            <a:r>
              <a:rPr sz="1400" b="0">
                <a:solidFill>
                  <a:srgbClr val="0F172A"/>
                </a:solidFill>
                <a:latin typeface="Segoe UI"/>
              </a:rPr>
              <a:t>• MLP [300, 100], ReLU, salida softmax.</a:t>
            </a:r>
          </a:p>
          <a:p>
            <a:pPr>
              <a:spcAft>
                <a:spcPts val="800"/>
              </a:spcAft>
              <a:defRPr sz="1400" b="0">
                <a:solidFill>
                  <a:srgbClr val="0F172A"/>
                </a:solidFill>
                <a:latin typeface="Segoe UI"/>
              </a:defRPr>
            </a:pPr>
            <a:r>
              <a:rPr sz="1400" b="0">
                <a:solidFill>
                  <a:srgbClr val="0F172A"/>
                </a:solidFill>
                <a:latin typeface="Segoe UI"/>
              </a:rPr>
              <a:t>• Compilar con optimizer='adam', loss='sparse_categorical_crossentropy', metrics=['accuracy'].</a:t>
            </a:r>
          </a:p>
          <a:p>
            <a:pPr>
              <a:spcAft>
                <a:spcPts val="800"/>
              </a:spcAft>
              <a:defRPr sz="1400" b="0">
                <a:solidFill>
                  <a:srgbClr val="0F172A"/>
                </a:solidFill>
                <a:latin typeface="Segoe UI"/>
              </a:defRPr>
            </a:pPr>
            <a:r>
              <a:rPr sz="1400" b="0">
                <a:solidFill>
                  <a:srgbClr val="0F172A"/>
                </a:solidFill>
                <a:latin typeface="Segoe UI"/>
              </a:rPr>
              <a:t>• Entrenar con EarlyStopping(patience=5) y ModelCheckpoint('best.keras', save_best_only=True).</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102 — Keras Sequential API</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102 — Keras Sequential API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The Sequential API.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la Sequential API de Keras — la forma más simple y declarativa de construir un modelo cuando es una pila lineal de capas. Saber cuándo NO alcanza (cualquier topología con ramas, skip connections, multi-input/multi-output → Functional API, clase 103).</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modelo con keras.Sequential([...]) o model.add(...) incrementalmente.</a:t>
            </a:r>
          </a:p>
          <a:p>
            <a:pPr>
              <a:spcAft>
                <a:spcPts val="800"/>
              </a:spcAft>
              <a:defRPr sz="1400" b="0">
                <a:solidFill>
                  <a:srgbClr val="0F172A"/>
                </a:solidFill>
                <a:latin typeface="Segoe UI"/>
              </a:defRPr>
            </a:pPr>
            <a:r>
              <a:rPr sz="1400" b="0">
                <a:solidFill>
                  <a:srgbClr val="0F172A"/>
                </a:solidFill>
                <a:latin typeface="Segoe UI"/>
              </a:rPr>
              <a:t>• Inspeccionar la arquitectura con model.summary() (parámetros por capa, output shape, total).</a:t>
            </a:r>
          </a:p>
          <a:p>
            <a:pPr>
              <a:spcAft>
                <a:spcPts val="800"/>
              </a:spcAft>
              <a:defRPr sz="1400" b="0">
                <a:solidFill>
                  <a:srgbClr val="0F172A"/>
                </a:solidFill>
                <a:latin typeface="Segoe UI"/>
              </a:defRPr>
            </a:pPr>
            <a:r>
              <a:rPr sz="1400" b="0">
                <a:solidFill>
                  <a:srgbClr val="0F172A"/>
                </a:solidFill>
                <a:latin typeface="Segoe UI"/>
              </a:rPr>
              <a:t>• Calcular a mano el número de parámetros de una Dense(n) (= input_dim * n + n por el bias).</a:t>
            </a:r>
          </a:p>
          <a:p>
            <a:pPr>
              <a:spcAft>
                <a:spcPts val="800"/>
              </a:spcAft>
              <a:defRPr sz="1400" b="0">
                <a:solidFill>
                  <a:srgbClr val="0F172A"/>
                </a:solidFill>
                <a:latin typeface="Segoe UI"/>
              </a:defRPr>
            </a:pPr>
            <a:r>
              <a:rPr sz="1400" b="0">
                <a:solidFill>
                  <a:srgbClr val="0F172A"/>
                </a:solidFill>
                <a:latin typeface="Segoe UI"/>
              </a:rPr>
              <a:t>• Compilar (compile), entrenar (fit), evaluar (evaluate) y predecir (predict).</a:t>
            </a:r>
          </a:p>
          <a:p>
            <a:pPr>
              <a:spcAft>
                <a:spcPts val="800"/>
              </a:spcAft>
              <a:defRPr sz="1400" b="0">
                <a:solidFill>
                  <a:srgbClr val="0F172A"/>
                </a:solidFill>
                <a:latin typeface="Segoe UI"/>
              </a:defRPr>
            </a:pPr>
            <a:r>
              <a:rPr sz="1400" b="0">
                <a:solidFill>
                  <a:srgbClr val="0F172A"/>
                </a:solidFill>
                <a:latin typeface="Segoe UI"/>
              </a:rPr>
              <a:t>• Guardar y cargar con el formato moderno .keras (HDF5 legacy).</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102 — Keras Sequential API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Dos formas equivalentes: lista en el constructor vs .add() incremental.</a:t>
            </a:r>
          </a:p>
          <a:p>
            <a:pPr>
              <a:spcAft>
                <a:spcPts val="1000"/>
              </a:spcAft>
              <a:defRPr sz="1600" b="0">
                <a:solidFill>
                  <a:srgbClr val="0F172A"/>
                </a:solidFill>
                <a:latin typeface="Segoe UI"/>
              </a:defRPr>
            </a:pPr>
            <a:r>
              <a:rPr sz="1600" b="0">
                <a:solidFill>
                  <a:srgbClr val="0F172A"/>
                </a:solidFill>
                <a:latin typeface="Segoe UI"/>
              </a:rPr>
              <a:t>• Input layer explícito vs input_shape en la primera capa.</a:t>
            </a:r>
          </a:p>
          <a:p>
            <a:pPr>
              <a:spcAft>
                <a:spcPts val="1000"/>
              </a:spcAft>
              <a:defRPr sz="1600" b="0">
                <a:solidFill>
                  <a:srgbClr val="0F172A"/>
                </a:solidFill>
                <a:latin typeface="Segoe UI"/>
              </a:defRPr>
            </a:pPr>
            <a:r>
              <a:rPr sz="1600" b="0">
                <a:solidFill>
                  <a:srgbClr val="0F172A"/>
                </a:solidFill>
                <a:latin typeface="Segoe UI"/>
              </a:rPr>
              <a:t>• model.summary(): leer parámetros por capa + total trainable / non-trainable.</a:t>
            </a:r>
          </a:p>
          <a:p>
            <a:pPr>
              <a:spcAft>
                <a:spcPts val="1000"/>
              </a:spcAft>
              <a:defRPr sz="1600" b="0">
                <a:solidFill>
                  <a:srgbClr val="0F172A"/>
                </a:solidFill>
                <a:latin typeface="Segoe UI"/>
              </a:defRPr>
            </a:pPr>
            <a:r>
              <a:rPr sz="1600" b="0">
                <a:solidFill>
                  <a:srgbClr val="0F172A"/>
                </a:solidFill>
                <a:latin typeface="Segoe UI"/>
              </a:rPr>
              <a:t>• compile(optimizer, loss, metrics).</a:t>
            </a:r>
          </a:p>
          <a:p>
            <a:pPr>
              <a:spcAft>
                <a:spcPts val="1000"/>
              </a:spcAft>
              <a:defRPr sz="1600" b="0">
                <a:solidFill>
                  <a:srgbClr val="0F172A"/>
                </a:solidFill>
                <a:latin typeface="Segoe UI"/>
              </a:defRPr>
            </a:pPr>
            <a:r>
              <a:rPr sz="1600" b="0">
                <a:solidFill>
                  <a:srgbClr val="0F172A"/>
                </a:solidFill>
                <a:latin typeface="Segoe UI"/>
              </a:rPr>
              <a:t>• fit(X, y, epochs, batch_size, validation_split, callbacks, verbose).</a:t>
            </a:r>
          </a:p>
          <a:p>
            <a:pPr>
              <a:spcAft>
                <a:spcPts val="1000"/>
              </a:spcAft>
              <a:defRPr sz="1600" b="0">
                <a:solidFill>
                  <a:srgbClr val="0F172A"/>
                </a:solidFill>
                <a:latin typeface="Segoe UI"/>
              </a:defRPr>
            </a:pPr>
            <a:r>
              <a:rPr sz="1600" b="0">
                <a:solidFill>
                  <a:srgbClr val="0F172A"/>
                </a:solidFill>
                <a:latin typeface="Segoe UI"/>
              </a:rPr>
              <a:t>• model.save('m.keras') (formato nativo Keras 3+) y keras.models.load_model('m.keras').</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102 — Keras Sequential API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 lista en el constructor</a:t>
            </a:r>
          </a:p>
          <a:p>
            <a:pPr>
              <a:defRPr sz="1200" b="0">
                <a:solidFill>
                  <a:srgbClr val="F8FAFC"/>
                </a:solidFill>
                <a:latin typeface="Courier New"/>
              </a:defRPr>
            </a:pPr>
            <a:r>
              <a:rPr sz="1200" b="0">
                <a:solidFill>
                  <a:srgbClr val="F8FAFC"/>
                </a:solidFill>
                <a:latin typeface="Courier New"/>
              </a:rPr>
              <a:t>modelo_a =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layers.Dense(128, activation="relu"),</a:t>
            </a:r>
          </a:p>
          <a:p>
            <a:pPr>
              <a:defRPr sz="1200" b="0">
                <a:solidFill>
                  <a:srgbClr val="F8FAFC"/>
                </a:solidFill>
                <a:latin typeface="Courier New"/>
              </a:defRPr>
            </a:pPr>
            <a:r>
              <a:rPr sz="1200" b="0">
                <a:solidFill>
                  <a:srgbClr val="F8FAFC"/>
                </a:solidFill>
                <a:latin typeface="Courier New"/>
              </a:rPr>
              <a:t>    layers.Dense(64, activation="relu"),</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(b) incremental con .add()</a:t>
            </a:r>
          </a:p>
          <a:p>
            <a:pPr>
              <a:defRPr sz="1200" b="0">
                <a:solidFill>
                  <a:srgbClr val="F8FAFC"/>
                </a:solidFill>
                <a:latin typeface="Courier New"/>
              </a:defRPr>
            </a:pPr>
            <a:r>
              <a:rPr sz="1200" b="0">
                <a:solidFill>
                  <a:srgbClr val="F8FAFC"/>
                </a:solidFill>
                <a:latin typeface="Courier New"/>
              </a:rPr>
              <a:t>modelo_b = keras.Sequential()</a:t>
            </a:r>
          </a:p>
          <a:p>
            <a:pPr>
              <a:defRPr sz="1200" b="0">
                <a:solidFill>
                  <a:srgbClr val="F8FAFC"/>
                </a:solidFill>
                <a:latin typeface="Courier New"/>
              </a:defRPr>
            </a:pPr>
            <a:r>
              <a:rPr sz="1200" b="0">
                <a:solidFill>
                  <a:srgbClr val="F8FAFC"/>
                </a:solidFill>
                <a:latin typeface="Courier New"/>
              </a:rPr>
              <a:t>modelo_b.add(keras.Input(shape=(784,)))</a:t>
            </a:r>
          </a:p>
          <a:p>
            <a:pPr>
              <a:defRPr sz="1200" b="0">
                <a:solidFill>
                  <a:srgbClr val="F8FAFC"/>
                </a:solidFill>
                <a:latin typeface="Courier New"/>
              </a:defRPr>
            </a:pPr>
            <a:r>
              <a:rPr sz="1200" b="0">
                <a:solidFill>
                  <a:srgbClr val="F8FAFC"/>
                </a:solidFill>
                <a:latin typeface="Courier New"/>
              </a:rPr>
              <a:t>modelo_b.add(layers.Dense(128, activation="relu"))</a:t>
            </a:r>
          </a:p>
          <a:p>
            <a:pPr>
              <a:defRPr sz="1200" b="0">
                <a:solidFill>
                  <a:srgbClr val="F8FAFC"/>
                </a:solidFill>
                <a:latin typeface="Courier New"/>
              </a:defRPr>
            </a:pPr>
            <a:r>
              <a:rPr sz="1200" b="0">
                <a:solidFill>
                  <a:srgbClr val="F8FAFC"/>
                </a:solidFill>
                <a:latin typeface="Courier New"/>
              </a:rPr>
              <a:t>modelo_b.add(layers.Dense(64, activation="relu"))</a:t>
            </a:r>
          </a:p>
          <a:p>
            <a:pPr>
              <a:defRPr sz="1200" b="0">
                <a:solidFill>
                  <a:srgbClr val="F8FAFC"/>
                </a:solidFill>
                <a:latin typeface="Courier New"/>
              </a:defRPr>
            </a:pPr>
            <a:r>
              <a:rPr sz="1200" b="0">
                <a:solidFill>
                  <a:srgbClr val="F8FAFC"/>
                </a:solidFill>
                <a:latin typeface="Courier New"/>
              </a:rPr>
              <a:t>modelo_b.add(layers.Dense(10,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102 — Keras Sequential API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Dos sintaxis: construir el mismo modelo dos veces — una con Sequential([...]) y otra con model = Sequential(); model.add(...).</a:t>
            </a:r>
          </a:p>
          <a:p>
            <a:pPr>
              <a:spcAft>
                <a:spcPts val="800"/>
              </a:spcAft>
              <a:defRPr sz="1400" b="0">
                <a:solidFill>
                  <a:srgbClr val="0F172A"/>
                </a:solidFill>
                <a:latin typeface="Segoe UI"/>
              </a:defRPr>
            </a:pPr>
            <a:r>
              <a:rPr sz="1400" b="0">
                <a:solidFill>
                  <a:srgbClr val="0F172A"/>
                </a:solidFill>
                <a:latin typeface="Segoe UI"/>
              </a:rPr>
              <a:t>• Conteo de parámetros: para Sequential([Dense(128, input_shape=(784,)), Dense(64), Dense(10)]), calcular a mano los parámetros y verificar contra model.summary().</a:t>
            </a:r>
          </a:p>
          <a:p>
            <a:pPr>
              <a:spcAft>
                <a:spcPts val="800"/>
              </a:spcAft>
              <a:defRPr sz="1400" b="0">
                <a:solidFill>
                  <a:srgbClr val="0F172A"/>
                </a:solidFill>
                <a:latin typeface="Segoe UI"/>
              </a:defRPr>
            </a:pPr>
            <a:r>
              <a:rPr sz="1400" b="0">
                <a:solidFill>
                  <a:srgbClr val="0F172A"/>
                </a:solidFill>
                <a:latin typeface="Segoe UI"/>
              </a:rPr>
              <a:t>• Guardado/carga: entrenar 5 épocas, model.save('m.keras'), recargar con load_model, verificar que predict da idéntico.</a:t>
            </a:r>
          </a:p>
          <a:p>
            <a:pPr>
              <a:spcAft>
                <a:spcPts val="800"/>
              </a:spcAft>
              <a:defRPr sz="1400" b="0">
                <a:solidFill>
                  <a:srgbClr val="0F172A"/>
                </a:solidFill>
                <a:latin typeface="Segoe UI"/>
              </a:defRPr>
            </a:pPr>
            <a:r>
              <a:rPr sz="1400" b="0">
                <a:solidFill>
                  <a:srgbClr val="0F172A"/>
                </a:solidFill>
                <a:latin typeface="Segoe UI"/>
              </a:rPr>
              <a:t>• Predict en batch vs individual: predecir 1 sola muestra (¿cómo cambia la shape?) vs predecir 100.</a:t>
            </a:r>
          </a:p>
          <a:p>
            <a:pPr>
              <a:spcAft>
                <a:spcPts val="800"/>
              </a:spcAft>
              <a:defRPr sz="1400" b="0">
                <a:solidFill>
                  <a:srgbClr val="0F172A"/>
                </a:solidFill>
                <a:latin typeface="Segoe UI"/>
              </a:defRPr>
            </a:pPr>
            <a:r>
              <a:rPr sz="1400" b="0">
                <a:solidFill>
                  <a:srgbClr val="0F172A"/>
                </a:solidFill>
                <a:latin typeface="Segoe UI"/>
              </a:rPr>
              <a:t>• Verbose: probá fit(..., verbose=0), verbose=1 (barra), verbose=2 (1 línea por época).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Tiny: Dense(64) → Dense(10).</a:t>
            </a:r>
          </a:p>
          <a:p>
            <a:pPr>
              <a:spcAft>
                <a:spcPts val="800"/>
              </a:spcAft>
              <a:defRPr sz="1500" b="0">
                <a:solidFill>
                  <a:srgbClr val="0F172A"/>
                </a:solidFill>
                <a:latin typeface="Segoe UI"/>
              </a:defRPr>
            </a:pPr>
            <a:r>
              <a:rPr sz="1500" b="0">
                <a:solidFill>
                  <a:srgbClr val="0F172A"/>
                </a:solidFill>
                <a:latin typeface="Segoe UI"/>
              </a:rPr>
              <a:t>• Medium: Dense(256) → Dense(128) → Dense(10).</a:t>
            </a:r>
          </a:p>
          <a:p>
            <a:pPr>
              <a:spcAft>
                <a:spcPts val="800"/>
              </a:spcAft>
              <a:defRPr sz="1500" b="0">
                <a:solidFill>
                  <a:srgbClr val="0F172A"/>
                </a:solidFill>
                <a:latin typeface="Segoe UI"/>
              </a:defRPr>
            </a:pPr>
            <a:r>
              <a:rPr sz="1500" b="0">
                <a:solidFill>
                  <a:srgbClr val="0F172A"/>
                </a:solidFill>
                <a:latin typeface="Segoe UI"/>
              </a:rPr>
              <a:t>• Wide: Dense(1024) → Dense(10).</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103 — Keras Functional API y Subclassing</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103 — Keras Functional API y Subclassing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Building Complex Models Using the Functional API y § Building Dynamic Models Using the Subclassing API.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modelos con topologías no lineales —skip connections, multi-input, multi-output, capas compartidas— usando la Functional API (estilo "grafo de capas"), y modelos con flujo de control dinámico (loops, ifs) usando Subclassing (estilo class MyModel(Model) con call()). Saber elegir entre las tres APIs según el caso.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modelo Wide &amp; Deep (clásico de Cheng et al. 2016) con Functional API.</a:t>
            </a:r>
          </a:p>
          <a:p>
            <a:pPr>
              <a:spcAft>
                <a:spcPts val="800"/>
              </a:spcAft>
              <a:defRPr sz="1400" b="0">
                <a:solidFill>
                  <a:srgbClr val="0F172A"/>
                </a:solidFill>
                <a:latin typeface="Segoe UI"/>
              </a:defRPr>
            </a:pPr>
            <a:r>
              <a:rPr sz="1400" b="0">
                <a:solidFill>
                  <a:srgbClr val="0F172A"/>
                </a:solidFill>
                <a:latin typeface="Segoe UI"/>
              </a:rPr>
              <a:t>• Construir un modelo multi-output con dos Dense finales y dos losses.</a:t>
            </a:r>
          </a:p>
          <a:p>
            <a:pPr>
              <a:spcAft>
                <a:spcPts val="800"/>
              </a:spcAft>
              <a:defRPr sz="1400" b="0">
                <a:solidFill>
                  <a:srgbClr val="0F172A"/>
                </a:solidFill>
                <a:latin typeface="Segoe UI"/>
              </a:defRPr>
            </a:pPr>
            <a:r>
              <a:rPr sz="1400" b="0">
                <a:solidFill>
                  <a:srgbClr val="0F172A"/>
                </a:solidFill>
                <a:latin typeface="Segoe UI"/>
              </a:rPr>
              <a:t>• Implementar un MyResBlock con Subclassing que tiene una skip connection.</a:t>
            </a:r>
          </a:p>
          <a:p>
            <a:pPr>
              <a:spcAft>
                <a:spcPts val="800"/>
              </a:spcAft>
              <a:defRPr sz="1400" b="0">
                <a:solidFill>
                  <a:srgbClr val="0F172A"/>
                </a:solidFill>
                <a:latin typeface="Segoe UI"/>
              </a:defRPr>
            </a:pPr>
            <a:r>
              <a:rPr sz="1400" b="0">
                <a:solidFill>
                  <a:srgbClr val="0F172A"/>
                </a:solidFill>
                <a:latin typeface="Segoe UI"/>
              </a:rPr>
              <a:t>• Reconocer el trade-off: Sequential (simple) → Functional (la mayoría de los casos) → Subclassing (cuando hace falta control dinámico).</a:t>
            </a:r>
          </a:p>
          <a:p>
            <a:pPr>
              <a:spcAft>
                <a:spcPts val="800"/>
              </a:spcAft>
              <a:defRPr sz="1400" b="0">
                <a:solidFill>
                  <a:srgbClr val="0F172A"/>
                </a:solidFill>
                <a:latin typeface="Segoe UI"/>
              </a:defRPr>
            </a:pPr>
            <a:r>
              <a:rPr sz="1400" b="0">
                <a:solidFill>
                  <a:srgbClr val="0F172A"/>
                </a:solidFill>
                <a:latin typeface="Segoe UI"/>
              </a:rPr>
              <a:t>• Convertir un modelo Functional en JSON / cargar con model_from_json (útil para serialización separada de pesos).</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103 — Keras Functional API y Subclassing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Functional API: x = layer(prev_x); al final Model(inputs=[...], outputs=[...]).</a:t>
            </a:r>
          </a:p>
          <a:p>
            <a:pPr>
              <a:spcAft>
                <a:spcPts val="1000"/>
              </a:spcAft>
              <a:defRPr sz="1600" b="0">
                <a:solidFill>
                  <a:srgbClr val="0F172A"/>
                </a:solidFill>
                <a:latin typeface="Segoe UI"/>
              </a:defRPr>
            </a:pPr>
            <a:r>
              <a:rPr sz="1600" b="0">
                <a:solidFill>
                  <a:srgbClr val="0F172A"/>
                </a:solidFill>
                <a:latin typeface="Segoe UI"/>
              </a:rPr>
              <a:t>• Multi-input / multi-output: pasar listas o dicts a inputs= / outputs=.</a:t>
            </a:r>
          </a:p>
          <a:p>
            <a:pPr>
              <a:spcAft>
                <a:spcPts val="1000"/>
              </a:spcAft>
              <a:defRPr sz="1600" b="0">
                <a:solidFill>
                  <a:srgbClr val="0F172A"/>
                </a:solidFill>
                <a:latin typeface="Segoe UI"/>
              </a:defRPr>
            </a:pPr>
            <a:r>
              <a:rPr sz="1600" b="0">
                <a:solidFill>
                  <a:srgbClr val="0F172A"/>
                </a:solidFill>
                <a:latin typeface="Segoe UI"/>
              </a:rPr>
              <a:t>• Capas compartidas (siamese networks): aplicar la misma instancia de capa a dos entradas distintas.</a:t>
            </a:r>
          </a:p>
          <a:p>
            <a:pPr>
              <a:spcAft>
                <a:spcPts val="1000"/>
              </a:spcAft>
              <a:defRPr sz="1600" b="0">
                <a:solidFill>
                  <a:srgbClr val="0F172A"/>
                </a:solidFill>
                <a:latin typeface="Segoe UI"/>
              </a:defRPr>
            </a:pPr>
            <a:r>
              <a:rPr sz="1600" b="0">
                <a:solidFill>
                  <a:srgbClr val="0F172A"/>
                </a:solidFill>
                <a:latin typeface="Segoe UI"/>
              </a:rPr>
              <a:t>• Subclassing: heredar de keras.Model, definir __init__ (capas) y call(self, inputs, training=False).</a:t>
            </a:r>
          </a:p>
          <a:p>
            <a:pPr>
              <a:spcAft>
                <a:spcPts val="1000"/>
              </a:spcAft>
              <a:defRPr sz="1600" b="0">
                <a:solidFill>
                  <a:srgbClr val="0F172A"/>
                </a:solidFill>
                <a:latin typeface="Segoe UI"/>
              </a:defRPr>
            </a:pPr>
            <a:r>
              <a:rPr sz="1600" b="0">
                <a:solidFill>
                  <a:srgbClr val="0F172A"/>
                </a:solidFill>
                <a:latin typeface="Segoe UI"/>
              </a:rPr>
              <a:t>• Cuándo subclassing: control de flujo dinámico, modelos imperativos estilo PyTorch.</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103 — Keras Functional API y Subclassing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output = Capa(...)(input)  -&gt; permite cualquier DAG</a:t>
            </a:r>
          </a:p>
          <a:p>
            <a:pPr>
              <a:defRPr sz="1200" b="0">
                <a:solidFill>
                  <a:srgbClr val="F8FAFC"/>
                </a:solidFill>
                <a:latin typeface="Courier New"/>
              </a:defRPr>
            </a:pPr>
            <a:r>
              <a:rPr sz="1200" b="0">
                <a:solidFill>
                  <a:srgbClr val="F8FAFC"/>
                </a:solidFill>
                <a:latin typeface="Courier New"/>
              </a:rPr>
              <a:t>inputs = keras.Input(shape=(8,))</a:t>
            </a:r>
          </a:p>
          <a:p>
            <a:pPr>
              <a:defRPr sz="1200" b="0">
                <a:solidFill>
                  <a:srgbClr val="F8FAFC"/>
                </a:solidFill>
                <a:latin typeface="Courier New"/>
              </a:defRPr>
            </a:pPr>
            <a:r>
              <a:rPr sz="1200" b="0">
                <a:solidFill>
                  <a:srgbClr val="F8FAFC"/>
                </a:solidFill>
                <a:latin typeface="Courier New"/>
              </a:rPr>
              <a:t>x = layers.Dense(32, activation="relu")(inputs)</a:t>
            </a:r>
          </a:p>
          <a:p>
            <a:pPr>
              <a:defRPr sz="1200" b="0">
                <a:solidFill>
                  <a:srgbClr val="F8FAFC"/>
                </a:solidFill>
                <a:latin typeface="Courier New"/>
              </a:defRPr>
            </a:pPr>
            <a:r>
              <a:rPr sz="1200" b="0">
                <a:solidFill>
                  <a:srgbClr val="F8FAFC"/>
                </a:solidFill>
                <a:latin typeface="Courier New"/>
              </a:rPr>
              <a:t>x = layers.Dense(16, activation="relu")(x)</a:t>
            </a:r>
          </a:p>
          <a:p>
            <a:pPr>
              <a:defRPr sz="1200" b="0">
                <a:solidFill>
                  <a:srgbClr val="F8FAFC"/>
                </a:solidFill>
                <a:latin typeface="Courier New"/>
              </a:defRPr>
            </a:pPr>
            <a:r>
              <a:rPr sz="1200" b="0">
                <a:solidFill>
                  <a:srgbClr val="F8FAFC"/>
                </a:solidFill>
                <a:latin typeface="Courier New"/>
              </a:rPr>
              <a:t>outputs = layers.Dense(1)(x)</a:t>
            </a:r>
          </a:p>
          <a:p>
            <a:pPr>
              <a:defRPr sz="1200" b="0">
                <a:solidFill>
                  <a:srgbClr val="F8FAFC"/>
                </a:solidFill>
                <a:latin typeface="Courier New"/>
              </a:defRPr>
            </a:pPr>
            <a:r>
              <a:rPr sz="1200" b="0">
                <a:solidFill>
                  <a:srgbClr val="F8FAFC"/>
                </a:solidFill>
                <a:latin typeface="Courier New"/>
              </a:rPr>
              <a:t>modelo = keras.Model(inputs=inputs, outputs=outputs, name="mlp_funcional")</a:t>
            </a:r>
          </a:p>
          <a:p>
            <a:pPr>
              <a:defRPr sz="1200" b="0">
                <a:solidFill>
                  <a:srgbClr val="F8FAFC"/>
                </a:solidFill>
                <a:latin typeface="Courier New"/>
              </a:defRPr>
            </a:pPr>
            <a:r>
              <a:rPr sz="1200" b="0">
                <a:solidFill>
                  <a:srgbClr val="F8FAFC"/>
                </a:solidFill>
                <a:latin typeface="Courier New"/>
              </a:rPr>
              <a:t>print("capas:", [l.name for l in modelo.layers])</a:t>
            </a:r>
          </a:p>
          <a:p>
            <a:pPr>
              <a:defRPr sz="1200" b="0">
                <a:solidFill>
                  <a:srgbClr val="F8FAFC"/>
                </a:solidFill>
                <a:latin typeface="Courier New"/>
              </a:defRPr>
            </a:pPr>
            <a:r>
              <a:rPr sz="1200" b="0">
                <a:solidFill>
                  <a:srgbClr val="F8FAFC"/>
                </a:solidFill>
                <a:latin typeface="Courier New"/>
              </a:rPr>
              <a:t>print("params:", modelo.count_params())</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103 — Keras Functional API y Subclassing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Wide &amp; Deep: implementá el modelo de Cheng et al.</a:t>
            </a:r>
          </a:p>
          <a:p>
            <a:pPr>
              <a:spcAft>
                <a:spcPts val="800"/>
              </a:spcAft>
              <a:defRPr sz="1400" b="0">
                <a:solidFill>
                  <a:srgbClr val="0F172A"/>
                </a:solidFill>
                <a:latin typeface="Segoe UI"/>
              </a:defRPr>
            </a:pPr>
            <a:r>
              <a:rPr sz="1400" b="0">
                <a:solidFill>
                  <a:srgbClr val="0F172A"/>
                </a:solidFill>
                <a:latin typeface="Segoe UI"/>
              </a:rPr>
              <a:t>• Multi-output: predecir simultáneamente precio (regresión) Y rango de precio (clasificación 3 clases) sobre California Housing.</a:t>
            </a:r>
          </a:p>
          <a:p>
            <a:pPr>
              <a:spcAft>
                <a:spcPts val="800"/>
              </a:spcAft>
              <a:defRPr sz="1400" b="0">
                <a:solidFill>
                  <a:srgbClr val="0F172A"/>
                </a:solidFill>
                <a:latin typeface="Segoe UI"/>
              </a:defRPr>
            </a:pPr>
            <a:r>
              <a:rPr sz="1400" b="0">
                <a:solidFill>
                  <a:srgbClr val="0F172A"/>
                </a:solidFill>
                <a:latin typeface="Segoe UI"/>
              </a:rPr>
              <a:t>• Capa compartida (siamese): dos imágenes de entrada → mismo encoder Dense(64) aplicado a ambas → concatenar embeddings → clasificación "same/different".</a:t>
            </a:r>
          </a:p>
          <a:p>
            <a:pPr>
              <a:spcAft>
                <a:spcPts val="800"/>
              </a:spcAft>
              <a:defRPr sz="1400" b="0">
                <a:solidFill>
                  <a:srgbClr val="0F172A"/>
                </a:solidFill>
                <a:latin typeface="Segoe UI"/>
              </a:defRPr>
            </a:pPr>
            <a:r>
              <a:rPr sz="1400" b="0">
                <a:solidFill>
                  <a:srgbClr val="0F172A"/>
                </a:solidFill>
                <a:latin typeface="Segoe UI"/>
              </a:rPr>
              <a:t>• ResBlock con Subclassing: implementá una clase ResBlock(Layer) con dos Dense y skip connection.</a:t>
            </a:r>
          </a:p>
          <a:p>
            <a:pPr>
              <a:spcAft>
                <a:spcPts val="800"/>
              </a:spcAft>
              <a:defRPr sz="1400" b="0">
                <a:solidFill>
                  <a:srgbClr val="0F172A"/>
                </a:solidFill>
                <a:latin typeface="Segoe UI"/>
              </a:defRPr>
            </a:pPr>
            <a:r>
              <a:rPr sz="1400" b="0">
                <a:solidFill>
                  <a:srgbClr val="0F172A"/>
                </a:solidFill>
                <a:latin typeface="Segoe UI"/>
              </a:rPr>
              <a:t>• plot_model: graficá el modelo Wide &amp; Deep con keras.utils.plot_model(model, show_shapes=True).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Predecir median_house_value (regresión, loss MSE).</a:t>
            </a:r>
          </a:p>
          <a:p>
            <a:pPr>
              <a:spcAft>
                <a:spcPts val="800"/>
              </a:spcAft>
              <a:defRPr sz="1400" b="0">
                <a:solidFill>
                  <a:srgbClr val="0F172A"/>
                </a:solidFill>
                <a:latin typeface="Segoe UI"/>
              </a:defRPr>
            </a:pPr>
            <a:r>
              <a:rPr sz="1400" b="0">
                <a:solidFill>
                  <a:srgbClr val="0F172A"/>
                </a:solidFill>
                <a:latin typeface="Segoe UI"/>
              </a:rPr>
              <a:t>• Predecir expensive (binario: above/below mediana, loss BCE).</a:t>
            </a:r>
          </a:p>
          <a:p>
            <a:pPr>
              <a:spcAft>
                <a:spcPts val="800"/>
              </a:spcAft>
              <a:defRPr sz="1400" b="0">
                <a:solidFill>
                  <a:srgbClr val="0F172A"/>
                </a:solidFill>
                <a:latin typeface="Segoe UI"/>
              </a:defRPr>
            </a:pPr>
            <a:r>
              <a:rPr sz="1400" b="0">
                <a:solidFill>
                  <a:srgbClr val="0F172A"/>
                </a:solidFill>
                <a:latin typeface="Segoe UI"/>
              </a:rPr>
              <a:t>• Compartir las 2 primeras capas Dense (representación común) y luego ramificar.</a:t>
            </a:r>
          </a:p>
          <a:p>
            <a:pPr>
              <a:spcAft>
                <a:spcPts val="800"/>
              </a:spcAft>
              <a:defRPr sz="1400" b="0">
                <a:solidFill>
                  <a:srgbClr val="0F172A"/>
                </a:solidFill>
                <a:latin typeface="Segoe UI"/>
              </a:defRPr>
            </a:pPr>
            <a:r>
              <a:rPr sz="1400" b="0">
                <a:solidFill>
                  <a:srgbClr val="0F172A"/>
                </a:solidFill>
                <a:latin typeface="Segoe UI"/>
              </a:rPr>
              <a:t>• Compilar con loss=[mse, bce], loss_weights=[0.7, 0.3].</a:t>
            </a:r>
          </a:p>
          <a:p>
            <a:pPr>
              <a:spcAft>
                <a:spcPts val="800"/>
              </a:spcAft>
              <a:defRPr sz="1400" b="0">
                <a:solidFill>
                  <a:srgbClr val="0F172A"/>
                </a:solidFill>
                <a:latin typeface="Segoe UI"/>
              </a:defRPr>
            </a:pPr>
            <a:r>
              <a:rPr sz="1400" b="0">
                <a:solidFill>
                  <a:srgbClr val="0F172A"/>
                </a:solidFill>
                <a:latin typeface="Segoe UI"/>
              </a:rPr>
              <a:t>• Entrenar y reportar MAE + accuracy.</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104 — Callbacks, TensorBoard, guardar/restaurar modelos</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104 — Callbacks, TensorBoard, guardar/restaurar modelos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Using Callbacks y § Using TensorBoard for Visualization.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Inyectar lógica al loop de entrenamiento sin modificarlo, mediante callbacks (EarlyStopping, ModelCheckpoint, ReduceLROnPlateau, custom). Visualizar el progreso del training en TensorBoard (loss, métricas, histogramas de pesos, embeddings). Saber guardar y restaurar correctamente — arquitectura + pesos + estado del optimizador.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los 4 callbacks más usados: EarlyStopping, ModelCheckpoint, ReduceLROnPlateau, TensorBoard.</a:t>
            </a:r>
          </a:p>
          <a:p>
            <a:pPr>
              <a:spcAft>
                <a:spcPts val="800"/>
              </a:spcAft>
              <a:defRPr sz="1400" b="0">
                <a:solidFill>
                  <a:srgbClr val="0F172A"/>
                </a:solidFill>
                <a:latin typeface="Segoe UI"/>
              </a:defRPr>
            </a:pPr>
            <a:r>
              <a:rPr sz="1400" b="0">
                <a:solidFill>
                  <a:srgbClr val="0F172A"/>
                </a:solidFill>
                <a:latin typeface="Segoe UI"/>
              </a:rPr>
              <a:t>• Configurar TensorBoard: keras.callbacks.TensorBoard(log_dir='./logs') y abrirlo con tensorboard --logdir=./logs.</a:t>
            </a:r>
          </a:p>
          <a:p>
            <a:pPr>
              <a:spcAft>
                <a:spcPts val="800"/>
              </a:spcAft>
              <a:defRPr sz="1400" b="0">
                <a:solidFill>
                  <a:srgbClr val="0F172A"/>
                </a:solidFill>
                <a:latin typeface="Segoe UI"/>
              </a:defRPr>
            </a:pPr>
            <a:r>
              <a:rPr sz="1400" b="0">
                <a:solidFill>
                  <a:srgbClr val="0F172A"/>
                </a:solidFill>
                <a:latin typeface="Segoe UI"/>
              </a:rPr>
              <a:t>• Escribir un callback custom heredando de keras.callbacks.Callback con hooks como on_epoch_end.</a:t>
            </a:r>
          </a:p>
          <a:p>
            <a:pPr>
              <a:spcAft>
                <a:spcPts val="800"/>
              </a:spcAft>
              <a:defRPr sz="1400" b="0">
                <a:solidFill>
                  <a:srgbClr val="0F172A"/>
                </a:solidFill>
                <a:latin typeface="Segoe UI"/>
              </a:defRPr>
            </a:pPr>
            <a:r>
              <a:rPr sz="1400" b="0">
                <a:solidFill>
                  <a:srgbClr val="0F172A"/>
                </a:solidFill>
                <a:latin typeface="Segoe UI"/>
              </a:rPr>
              <a:t>• Distinguir guardado completo (model.save('m.keras')) vs solo pesos (model.save_weights('w.weights.h5')).</a:t>
            </a:r>
          </a:p>
          <a:p>
            <a:pPr>
              <a:spcAft>
                <a:spcPts val="800"/>
              </a:spcAft>
              <a:defRPr sz="1400" b="0">
                <a:solidFill>
                  <a:srgbClr val="0F172A"/>
                </a:solidFill>
                <a:latin typeface="Segoe UI"/>
              </a:defRPr>
            </a:pPr>
            <a:r>
              <a:rPr sz="1400" b="0">
                <a:solidFill>
                  <a:srgbClr val="0F172A"/>
                </a:solidFill>
                <a:latin typeface="Segoe UI"/>
              </a:rPr>
              <a:t>• Restaurar y continuar entrenamiento desde checkpoint sin pérdida.</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104 — Callbacks, TensorBoard, guardar/restaurar modelos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Callbacks: hooks (on_train_begin, on_epoch_end, on_batch_end, ...).</a:t>
            </a:r>
          </a:p>
          <a:p>
            <a:pPr>
              <a:spcAft>
                <a:spcPts val="1000"/>
              </a:spcAft>
              <a:defRPr sz="1600" b="0">
                <a:solidFill>
                  <a:srgbClr val="0F172A"/>
                </a:solidFill>
                <a:latin typeface="Segoe UI"/>
              </a:defRPr>
            </a:pPr>
            <a:r>
              <a:rPr sz="1600" b="0">
                <a:solidFill>
                  <a:srgbClr val="0F172A"/>
                </a:solidFill>
                <a:latin typeface="Segoe UI"/>
              </a:rPr>
              <a:t>• EarlyStopping(monitor='val_loss', patience=10, restore_best_weights=True).</a:t>
            </a:r>
          </a:p>
          <a:p>
            <a:pPr>
              <a:spcAft>
                <a:spcPts val="1000"/>
              </a:spcAft>
              <a:defRPr sz="1600" b="0">
                <a:solidFill>
                  <a:srgbClr val="0F172A"/>
                </a:solidFill>
                <a:latin typeface="Segoe UI"/>
              </a:defRPr>
            </a:pPr>
            <a:r>
              <a:rPr sz="1600" b="0">
                <a:solidFill>
                  <a:srgbClr val="0F172A"/>
                </a:solidFill>
                <a:latin typeface="Segoe UI"/>
              </a:rPr>
              <a:t>• ModelCheckpoint(filepath, save_best_only=True, monitor='val_accuracy', mode='max').</a:t>
            </a:r>
          </a:p>
          <a:p>
            <a:pPr>
              <a:spcAft>
                <a:spcPts val="1000"/>
              </a:spcAft>
              <a:defRPr sz="1600" b="0">
                <a:solidFill>
                  <a:srgbClr val="0F172A"/>
                </a:solidFill>
                <a:latin typeface="Segoe UI"/>
              </a:defRPr>
            </a:pPr>
            <a:r>
              <a:rPr sz="1600" b="0">
                <a:solidFill>
                  <a:srgbClr val="0F172A"/>
                </a:solidFill>
                <a:latin typeface="Segoe UI"/>
              </a:rPr>
              <a:t>• ReduceLROnPlateau(factor=0.5, patience=5) — bajar LR cuando se estanca.</a:t>
            </a:r>
          </a:p>
          <a:p>
            <a:pPr>
              <a:spcAft>
                <a:spcPts val="1000"/>
              </a:spcAft>
              <a:defRPr sz="1600" b="0">
                <a:solidFill>
                  <a:srgbClr val="0F172A"/>
                </a:solidFill>
                <a:latin typeface="Segoe UI"/>
              </a:defRPr>
            </a:pPr>
            <a:r>
              <a:rPr sz="1600" b="0">
                <a:solidFill>
                  <a:srgbClr val="0F172A"/>
                </a:solidFill>
                <a:latin typeface="Segoe UI"/>
              </a:rPr>
              <a:t>• TensorBoard: scalars, histograms, distributions, images, projector (embeddings).</a:t>
            </a:r>
          </a:p>
          <a:p>
            <a:pPr>
              <a:spcAft>
                <a:spcPts val="1000"/>
              </a:spcAft>
              <a:defRPr sz="1600" b="0">
                <a:solidFill>
                  <a:srgbClr val="0F172A"/>
                </a:solidFill>
                <a:latin typeface="Segoe UI"/>
              </a:defRPr>
            </a:pPr>
            <a:r>
              <a:rPr sz="1600" b="0">
                <a:solidFill>
                  <a:srgbClr val="0F172A"/>
                </a:solidFill>
                <a:latin typeface="Segoe UI"/>
              </a:rPr>
              <a:t>• Custom callbacks: class MyCallback(keras.callbacks.Callback): def on_epoch_end(self, epoch, logs): ....</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104 — Callbacks, TensorBoard, guardar/restaurar modelos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 y_tr), (X_te, y_te) = keras.datasets.fashion_mnist.load_data()</a:t>
            </a:r>
          </a:p>
          <a:p>
            <a:pPr>
              <a:defRPr sz="1200" b="0">
                <a:solidFill>
                  <a:srgbClr val="F8FAFC"/>
                </a:solidFill>
                <a:latin typeface="Courier New"/>
              </a:defRPr>
            </a:pPr>
            <a:r>
              <a:rPr sz="1200" b="0">
                <a:solidFill>
                  <a:srgbClr val="F8FAFC"/>
                </a:solidFill>
                <a:latin typeface="Courier New"/>
              </a:rPr>
              <a:t>X_tr = X_tr.astype("float32") / 255.0</a:t>
            </a:r>
          </a:p>
          <a:p>
            <a:pPr>
              <a:defRPr sz="1200" b="0">
                <a:solidFill>
                  <a:srgbClr val="F8FAFC"/>
                </a:solidFill>
                <a:latin typeface="Courier New"/>
              </a:defRPr>
            </a:pPr>
            <a:r>
              <a:rPr sz="1200" b="0">
                <a:solidFill>
                  <a:srgbClr val="F8FAFC"/>
                </a:solidFill>
                <a:latin typeface="Courier New"/>
              </a:rPr>
              <a:t>X_te = X_te.astype("float32") / 255.0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build_model():</a:t>
            </a:r>
          </a:p>
          <a:p>
            <a:pPr>
              <a:defRPr sz="1200" b="0">
                <a:solidFill>
                  <a:srgbClr val="F8FAFC"/>
                </a:solidFill>
                <a:latin typeface="Courier New"/>
              </a:defRPr>
            </a:pPr>
            <a:r>
              <a:rPr sz="1200" b="0">
                <a:solidFill>
                  <a:srgbClr val="F8FAFC"/>
                </a:solidFill>
                <a:latin typeface="Courier New"/>
              </a:rPr>
              <a:t>    m = keras.Sequential([</a:t>
            </a:r>
          </a:p>
          <a:p>
            <a:pPr>
              <a:defRPr sz="1200" b="0">
                <a:solidFill>
                  <a:srgbClr val="F8FAFC"/>
                </a:solidFill>
                <a:latin typeface="Courier New"/>
              </a:defRPr>
            </a:pPr>
            <a:r>
              <a:rPr sz="1200" b="0">
                <a:solidFill>
                  <a:srgbClr val="F8FAFC"/>
                </a:solidFill>
                <a:latin typeface="Courier New"/>
              </a:rPr>
              <a:t>        keras.Input(shape=(28, 28)),</a:t>
            </a:r>
          </a:p>
          <a:p>
            <a:pPr>
              <a:defRPr sz="1200" b="0">
                <a:solidFill>
                  <a:srgbClr val="F8FAFC"/>
                </a:solidFill>
                <a:latin typeface="Courier New"/>
              </a:defRPr>
            </a:pPr>
            <a:r>
              <a:rPr sz="1200" b="0">
                <a:solidFill>
                  <a:srgbClr val="F8FAFC"/>
                </a:solidFill>
                <a:latin typeface="Courier New"/>
              </a:rPr>
              <a:t>        layers.Flatten(),</a:t>
            </a:r>
          </a:p>
          <a:p>
            <a:pPr>
              <a:defRPr sz="1200" b="0">
                <a:solidFill>
                  <a:srgbClr val="F8FAFC"/>
                </a:solidFill>
                <a:latin typeface="Courier New"/>
              </a:defRPr>
            </a:pPr>
            <a:r>
              <a:rPr sz="1200" b="0">
                <a:solidFill>
                  <a:srgbClr val="F8FAFC"/>
                </a:solidFill>
                <a:latin typeface="Courier New"/>
              </a:rPr>
              <a:t>        layers.Dense(300, activation="relu"),</a:t>
            </a:r>
          </a:p>
          <a:p>
            <a:pPr>
              <a:defRPr sz="1200" b="0">
                <a:solidFill>
                  <a:srgbClr val="F8FAFC"/>
                </a:solidFill>
                <a:latin typeface="Courier New"/>
              </a:defRPr>
            </a:pPr>
            <a:r>
              <a:rPr sz="1200" b="0">
                <a:solidFill>
                  <a:srgbClr val="F8FAFC"/>
                </a:solidFill>
                <a:latin typeface="Courier New"/>
              </a:rPr>
              <a:t>        layers.Dense(100, activation="relu"),</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m.compile(optimizer="adam", loss="sparse_categorical_crossentropy",</a:t>
            </a:r>
          </a:p>
          <a:p>
            <a:pPr>
              <a:defRPr sz="1200" b="0">
                <a:solidFill>
                  <a:srgbClr val="F8FAFC"/>
                </a:solidFill>
                <a:latin typeface="Courier New"/>
              </a:defRPr>
            </a:pPr>
            <a:r>
              <a:rPr sz="1200" b="0">
                <a:solidFill>
                  <a:srgbClr val="F8FAFC"/>
                </a:solidFill>
                <a:latin typeface="Courier New"/>
              </a:rPr>
              <a:t>              metrics=["accuracy"])</a:t>
            </a:r>
          </a:p>
          <a:p>
            <a:pPr>
              <a:defRPr sz="1200" b="0">
                <a:solidFill>
                  <a:srgbClr val="F8FAFC"/>
                </a:solidFill>
                <a:latin typeface="Courier New"/>
              </a:defRPr>
            </a:pPr>
            <a:r>
              <a:rPr sz="1200" b="0">
                <a:solidFill>
                  <a:srgbClr val="F8FAFC"/>
                </a:solidFill>
                <a:latin typeface="Courier New"/>
              </a:rPr>
              <a:t>    return m</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104 — Callbacks, TensorBoard, guardar/restaurar modelos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EarlyStopping + Checkpoint: entrenar Fashion-MNIST con ambos callbacks.</a:t>
            </a:r>
          </a:p>
          <a:p>
            <a:pPr>
              <a:spcAft>
                <a:spcPts val="800"/>
              </a:spcAft>
              <a:defRPr sz="1400" b="0">
                <a:solidFill>
                  <a:srgbClr val="0F172A"/>
                </a:solidFill>
                <a:latin typeface="Segoe UI"/>
              </a:defRPr>
            </a:pPr>
            <a:r>
              <a:rPr sz="1400" b="0">
                <a:solidFill>
                  <a:srgbClr val="0F172A"/>
                </a:solidFill>
                <a:latin typeface="Segoe UI"/>
              </a:rPr>
              <a:t>• TensorBoard: agregar TensorBoard(log_dir=f'./logs/run-{time}'), entrenar 10 épocas.</a:t>
            </a:r>
          </a:p>
          <a:p>
            <a:pPr>
              <a:spcAft>
                <a:spcPts val="800"/>
              </a:spcAft>
              <a:defRPr sz="1400" b="0">
                <a:solidFill>
                  <a:srgbClr val="0F172A"/>
                </a:solidFill>
                <a:latin typeface="Segoe UI"/>
              </a:defRPr>
            </a:pPr>
            <a:r>
              <a:rPr sz="1400" b="0">
                <a:solidFill>
                  <a:srgbClr val="0F172A"/>
                </a:solidFill>
                <a:latin typeface="Segoe UI"/>
              </a:rPr>
              <a:t>• ReduceLROnPlateau: configurar factor=0.5, patience=3, min_lr=1e-6.</a:t>
            </a:r>
          </a:p>
          <a:p>
            <a:pPr>
              <a:spcAft>
                <a:spcPts val="800"/>
              </a:spcAft>
              <a:defRPr sz="1400" b="0">
                <a:solidFill>
                  <a:srgbClr val="0F172A"/>
                </a:solidFill>
                <a:latin typeface="Segoe UI"/>
              </a:defRPr>
            </a:pPr>
            <a:r>
              <a:rPr sz="1400" b="0">
                <a:solidFill>
                  <a:srgbClr val="0F172A"/>
                </a:solidFill>
                <a:latin typeface="Segoe UI"/>
              </a:rPr>
              <a:t>• Custom callback: escribir uno que loggee a un CSV el (epoch, loss, val_loss, lr_actual) para análisis offline.</a:t>
            </a:r>
          </a:p>
          <a:p>
            <a:pPr>
              <a:spcAft>
                <a:spcPts val="800"/>
              </a:spcAft>
              <a:defRPr sz="1400" b="0">
                <a:solidFill>
                  <a:srgbClr val="0F172A"/>
                </a:solidFill>
                <a:latin typeface="Segoe UI"/>
              </a:defRPr>
            </a:pPr>
            <a:r>
              <a:rPr sz="1400" b="0">
                <a:solidFill>
                  <a:srgbClr val="0F172A"/>
                </a:solidFill>
                <a:latin typeface="Segoe UI"/>
              </a:rPr>
              <a:t>• Restaurar y continuar: entrenar 10 épocas, guardar, recargar y continuar 5 épocas más.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MLP [300, 100].</a:t>
            </a:r>
          </a:p>
          <a:p>
            <a:pPr>
              <a:spcAft>
                <a:spcPts val="800"/>
              </a:spcAft>
              <a:defRPr sz="1400" b="0">
                <a:solidFill>
                  <a:srgbClr val="0F172A"/>
                </a:solidFill>
                <a:latin typeface="Segoe UI"/>
              </a:defRPr>
            </a:pPr>
            <a:r>
              <a:rPr sz="1400" b="0">
                <a:solidFill>
                  <a:srgbClr val="0F172A"/>
                </a:solidFill>
                <a:latin typeface="Segoe UI"/>
              </a:rPr>
              <a:t>• Callbacks: EarlyStopping(patience=10), ModelCheckpoint('best.keras', save_best_only=True), ReduceLROnPlateau(patience=3), TensorBoard('./logs/').</a:t>
            </a:r>
          </a:p>
          <a:p>
            <a:pPr>
              <a:spcAft>
                <a:spcPts val="800"/>
              </a:spcAft>
              <a:defRPr sz="1400" b="0">
                <a:solidFill>
                  <a:srgbClr val="0F172A"/>
                </a:solidFill>
                <a:latin typeface="Segoe UI"/>
              </a:defRPr>
            </a:pPr>
            <a:r>
              <a:rPr sz="1400" b="0">
                <a:solidFill>
                  <a:srgbClr val="0F172A"/>
                </a:solidFill>
                <a:latin typeface="Segoe UI"/>
              </a:rPr>
              <a:t>• Entrenar epochs=100 (sabiendo que EarlyStopping cortará antes).</a:t>
            </a:r>
          </a:p>
          <a:p>
            <a:pPr>
              <a:spcAft>
                <a:spcPts val="800"/>
              </a:spcAft>
              <a:defRPr sz="1400" b="0">
                <a:solidFill>
                  <a:srgbClr val="0F172A"/>
                </a:solidFill>
                <a:latin typeface="Segoe UI"/>
              </a:defRPr>
            </a:pPr>
            <a:r>
              <a:rPr sz="1400" b="0">
                <a:solidFill>
                  <a:srgbClr val="0F172A"/>
                </a:solidFill>
                <a:latin typeface="Segoe UI"/>
              </a:rPr>
              <a:t>• Recargar best.keras y evaluar en test.</a:t>
            </a:r>
          </a:p>
          <a:p>
            <a:pPr>
              <a:spcAft>
                <a:spcPts val="800"/>
              </a:spcAft>
              <a:defRPr sz="1400" b="0">
                <a:solidFill>
                  <a:srgbClr val="0F172A"/>
                </a:solidFill>
                <a:latin typeface="Segoe UI"/>
              </a:defRPr>
            </a:pPr>
            <a:r>
              <a:rPr sz="1400" b="0">
                <a:solidFill>
                  <a:srgbClr val="0F172A"/>
                </a:solidFill>
                <a:latin typeface="Segoe UI"/>
              </a:rPr>
              <a:t>• Capturar un screenshot del TensorBoard mostrando loss y val_loss a lo largo del training.</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105 — Keras Tuner (+ Optuna, Ray Tune)</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105 — Keras Tuner (+ Optuna, Ray Tune)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Fine-Tuning Neural Network Hyperparameters + docs Keras Tuner / Optuna / Ray Tune.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Hacer hyperparameter tuning sistemático en redes neuronales — buscar n_layers, units, lr, dropout, etc. con estrategias modernas: Random Search, Hyperband y Bayesian Optimization. Conocer las tres herramientas estándar de Python — Keras Tuner (TF-native, simple), Optuna (multi-framework, default industrial) y Ray Tune (distribuido, escalable a clusters).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un model-building function con hiperparámetros declarados vía hp.Int, hp.Float, hp.Choice.</a:t>
            </a:r>
          </a:p>
          <a:p>
            <a:pPr>
              <a:spcAft>
                <a:spcPts val="800"/>
              </a:spcAft>
              <a:defRPr sz="1400" b="0">
                <a:solidFill>
                  <a:srgbClr val="0F172A"/>
                </a:solidFill>
                <a:latin typeface="Segoe UI"/>
              </a:defRPr>
            </a:pPr>
            <a:r>
              <a:rPr sz="1400" b="0">
                <a:solidFill>
                  <a:srgbClr val="0F172A"/>
                </a:solidFill>
                <a:latin typeface="Segoe UI"/>
              </a:rPr>
              <a:t>• Lanzar tuners de Keras Tuner: RandomSearch, Hyperband, BayesianOptimization.</a:t>
            </a:r>
          </a:p>
          <a:p>
            <a:pPr>
              <a:spcAft>
                <a:spcPts val="800"/>
              </a:spcAft>
              <a:defRPr sz="1400" b="0">
                <a:solidFill>
                  <a:srgbClr val="0F172A"/>
                </a:solidFill>
                <a:latin typeface="Segoe UI"/>
              </a:defRPr>
            </a:pPr>
            <a:r>
              <a:rPr sz="1400" b="0">
                <a:solidFill>
                  <a:srgbClr val="0F172A"/>
                </a:solidFill>
                <a:latin typeface="Segoe UI"/>
              </a:rPr>
              <a:t>• Migrar el mismo problema a Optuna con optuna.create_study(direction='minimize') y trial.suggest_float.</a:t>
            </a:r>
          </a:p>
          <a:p>
            <a:pPr>
              <a:spcAft>
                <a:spcPts val="800"/>
              </a:spcAft>
              <a:defRPr sz="1400" b="0">
                <a:solidFill>
                  <a:srgbClr val="0F172A"/>
                </a:solidFill>
                <a:latin typeface="Segoe UI"/>
              </a:defRPr>
            </a:pPr>
            <a:r>
              <a:rPr sz="1400" b="0">
                <a:solidFill>
                  <a:srgbClr val="0F172A"/>
                </a:solidFill>
                <a:latin typeface="Segoe UI"/>
              </a:rPr>
              <a:t>• Lanzar Ray Tune con tune.run para distribuir trials en múltiples GPUs/nodos.</a:t>
            </a:r>
          </a:p>
          <a:p>
            <a:pPr>
              <a:spcAft>
                <a:spcPts val="800"/>
              </a:spcAft>
              <a:defRPr sz="1400" b="0">
                <a:solidFill>
                  <a:srgbClr val="0F172A"/>
                </a:solidFill>
                <a:latin typeface="Segoe UI"/>
              </a:defRPr>
            </a:pPr>
            <a:r>
              <a:rPr sz="1400" b="0">
                <a:solidFill>
                  <a:srgbClr val="0F172A"/>
                </a:solidFill>
                <a:latin typeface="Segoe UI"/>
              </a:rPr>
              <a:t>• Comparar las 3 estrategias (Random vs Hyperband vs Bayesian) en términos de eficiencia.</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105 — Keras Tuner (+ Optuna, Ray Tune)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tuning? Los defaults (Adam lr=1e-3, dropout 0.5) rara vez son óptimos.</a:t>
            </a:r>
          </a:p>
          <a:p>
            <a:pPr>
              <a:spcAft>
                <a:spcPts val="1000"/>
              </a:spcAft>
              <a:defRPr sz="1600" b="0">
                <a:solidFill>
                  <a:srgbClr val="0F172A"/>
                </a:solidFill>
                <a:latin typeface="Segoe UI"/>
              </a:defRPr>
            </a:pPr>
            <a:r>
              <a:rPr sz="1600" b="0">
                <a:solidFill>
                  <a:srgbClr val="0F172A"/>
                </a:solidFill>
                <a:latin typeface="Segoe UI"/>
              </a:rPr>
              <a:t>• Random Search vs Grid Search: Bergstra &amp; Bengio (2012) — random gana casi siempre por el "curse of low effective dimensionality".</a:t>
            </a:r>
          </a:p>
          <a:p>
            <a:pPr>
              <a:spcAft>
                <a:spcPts val="1000"/>
              </a:spcAft>
              <a:defRPr sz="1600" b="0">
                <a:solidFill>
                  <a:srgbClr val="0F172A"/>
                </a:solidFill>
                <a:latin typeface="Segoe UI"/>
              </a:defRPr>
            </a:pPr>
            <a:r>
              <a:rPr sz="1600" b="0">
                <a:solidFill>
                  <a:srgbClr val="0F172A"/>
                </a:solidFill>
                <a:latin typeface="Segoe UI"/>
              </a:rPr>
              <a:t>• Hyperband (Li et al. 2017): asignar más cómputo a configs prometedoras (successive halving).</a:t>
            </a:r>
          </a:p>
          <a:p>
            <a:pPr>
              <a:spcAft>
                <a:spcPts val="1000"/>
              </a:spcAft>
              <a:defRPr sz="1600" b="0">
                <a:solidFill>
                  <a:srgbClr val="0F172A"/>
                </a:solidFill>
                <a:latin typeface="Segoe UI"/>
              </a:defRPr>
            </a:pPr>
            <a:r>
              <a:rPr sz="1600" b="0">
                <a:solidFill>
                  <a:srgbClr val="0F172A"/>
                </a:solidFill>
                <a:latin typeface="Segoe UI"/>
              </a:rPr>
              <a:t>• Bayesian Optimization (TPE, GP): construye un modelo del paisaje y elige el siguiente trial inteligentemente.</a:t>
            </a:r>
          </a:p>
          <a:p>
            <a:pPr>
              <a:spcAft>
                <a:spcPts val="1000"/>
              </a:spcAft>
              <a:defRPr sz="1600" b="0">
                <a:solidFill>
                  <a:srgbClr val="0F172A"/>
                </a:solidFill>
                <a:latin typeface="Segoe UI"/>
              </a:defRPr>
            </a:pPr>
            <a:r>
              <a:rPr sz="1600" b="0">
                <a:solidFill>
                  <a:srgbClr val="0F172A"/>
                </a:solidFill>
                <a:latin typeface="Segoe UI"/>
              </a:rPr>
              <a:t>• Trade-off cómputo vs ganancia: típicamente 50-200 trials para una primera optimización.</a:t>
            </a:r>
          </a:p>
          <a:p>
            <a:pPr>
              <a:spcAft>
                <a:spcPts val="1000"/>
              </a:spcAft>
              <a:defRPr sz="1600" b="0">
                <a:solidFill>
                  <a:srgbClr val="0F172A"/>
                </a:solidFill>
                <a:latin typeface="Segoe UI"/>
              </a:defRPr>
            </a:pPr>
            <a:r>
              <a:rPr sz="1600" b="0">
                <a:solidFill>
                  <a:srgbClr val="0F172A"/>
                </a:solidFill>
                <a:latin typeface="Segoe UI"/>
              </a:rPr>
              <a:t>• Complemento moderno: Optuna y Ray Tune como alternativas multi-framework.</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105 — Keras Tuner (+ Optuna, Ray Tune)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keras_tuner as kt</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 y_tr), (X_te, y_te) = keras.datasets.fashion_mnist.load_data()</a:t>
            </a:r>
          </a:p>
          <a:p>
            <a:pPr>
              <a:defRPr sz="1200" b="0">
                <a:solidFill>
                  <a:srgbClr val="F8FAFC"/>
                </a:solidFill>
                <a:latin typeface="Courier New"/>
              </a:defRPr>
            </a:pPr>
            <a:r>
              <a:rPr sz="1200" b="0">
                <a:solidFill>
                  <a:srgbClr val="F8FAFC"/>
                </a:solidFill>
                <a:latin typeface="Courier New"/>
              </a:rPr>
              <a:t>X_tr = X_tr.astype("float32") / 255.0</a:t>
            </a:r>
          </a:p>
          <a:p>
            <a:pPr>
              <a:defRPr sz="1200" b="0">
                <a:solidFill>
                  <a:srgbClr val="F8FAFC"/>
                </a:solidFill>
                <a:latin typeface="Courier New"/>
              </a:defRPr>
            </a:pPr>
            <a:r>
              <a:rPr sz="1200" b="0">
                <a:solidFill>
                  <a:srgbClr val="F8FAFC"/>
                </a:solidFill>
                <a:latin typeface="Courier New"/>
              </a:rPr>
              <a:t>X_te = X_te.astype("float32") / 255.0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build_model(hp):</a:t>
            </a:r>
          </a:p>
          <a:p>
            <a:pPr>
              <a:defRPr sz="1200" b="0">
                <a:solidFill>
                  <a:srgbClr val="F8FAFC"/>
                </a:solidFill>
                <a:latin typeface="Courier New"/>
              </a:defRPr>
            </a:pPr>
            <a:r>
              <a:rPr sz="1200" b="0">
                <a:solidFill>
                  <a:srgbClr val="F8FAFC"/>
                </a:solidFill>
                <a:latin typeface="Courier New"/>
              </a:rPr>
              <a:t>    # los hiperparámetros se declaran con hp.Int / hp.Float / hp.Choice</a:t>
            </a:r>
          </a:p>
          <a:p>
            <a:pPr>
              <a:defRPr sz="1200" b="0">
                <a:solidFill>
                  <a:srgbClr val="F8FAFC"/>
                </a:solidFill>
                <a:latin typeface="Courier New"/>
              </a:defRPr>
            </a:pPr>
            <a:r>
              <a:rPr sz="1200" b="0">
                <a:solidFill>
                  <a:srgbClr val="F8FAFC"/>
                </a:solidFill>
                <a:latin typeface="Courier New"/>
              </a:rPr>
              <a:t>    n_units = hp.Choice("units", values=[32, 64, 128])</a:t>
            </a:r>
          </a:p>
          <a:p>
            <a:pPr>
              <a:defRPr sz="1200" b="0">
                <a:solidFill>
                  <a:srgbClr val="F8FAFC"/>
                </a:solidFill>
                <a:latin typeface="Courier New"/>
              </a:defRPr>
            </a:pPr>
            <a:r>
              <a:rPr sz="1200" b="0">
                <a:solidFill>
                  <a:srgbClr val="F8FAFC"/>
                </a:solidFill>
                <a:latin typeface="Courier New"/>
              </a:rPr>
              <a:t>    lr = hp.Float("lr", min_value=1e-4, max_value=1e-2, sampling="log")  # log para LR</a:t>
            </a:r>
          </a:p>
          <a:p>
            <a:pPr>
              <a:defRPr sz="1200" b="0">
                <a:solidFill>
                  <a:srgbClr val="F8FAFC"/>
                </a:solidFill>
                <a:latin typeface="Courier New"/>
              </a:defRPr>
            </a:pPr>
            <a:r>
              <a:rPr sz="1200" b="0">
                <a:solidFill>
                  <a:srgbClr val="F8FAFC"/>
                </a:solidFill>
                <a:latin typeface="Courier New"/>
              </a:rPr>
              <a:t>    modelo = keras.Sequential([</a:t>
            </a:r>
          </a:p>
          <a:p>
            <a:pPr>
              <a:defRPr sz="1200" b="0">
                <a:solidFill>
                  <a:srgbClr val="F8FAFC"/>
                </a:solidFill>
                <a:latin typeface="Courier New"/>
              </a:defRPr>
            </a:pPr>
            <a:r>
              <a:rPr sz="1200" b="0">
                <a:solidFill>
                  <a:srgbClr val="F8FAFC"/>
                </a:solidFill>
                <a:latin typeface="Courier New"/>
              </a:rPr>
              <a:t>        keras.Input(shape=(28, 28)),</a:t>
            </a:r>
          </a:p>
          <a:p>
            <a:pPr>
              <a:defRPr sz="1200" b="0">
                <a:solidFill>
                  <a:srgbClr val="F8FAFC"/>
                </a:solidFill>
                <a:latin typeface="Courier New"/>
              </a:defRPr>
            </a:pPr>
            <a:r>
              <a:rPr sz="1200" b="0">
                <a:solidFill>
                  <a:srgbClr val="F8FAFC"/>
                </a:solidFill>
                <a:latin typeface="Courier New"/>
              </a:rPr>
              <a:t>        layers.Flatten(),</a:t>
            </a:r>
          </a:p>
          <a:p>
            <a:pPr>
              <a:defRPr sz="1200" b="0">
                <a:solidFill>
                  <a:srgbClr val="F8FAFC"/>
                </a:solidFill>
                <a:latin typeface="Courier New"/>
              </a:defRPr>
            </a:pPr>
            <a:r>
              <a:rPr sz="1200" b="0">
                <a:solidFill>
                  <a:srgbClr val="F8FAFC"/>
                </a:solidFill>
                <a:latin typeface="Courier New"/>
              </a:rPr>
              <a:t>        layers.Dense(n_units, activation="relu"),</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105 — Keras Tuner (+ Optuna, Ray Tune)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Keras Tuner — RandomSearch: tunear units ∈ {32, 64, 128} y lr ∈ [1e-4, 1e-2] log con 20 trials.</a:t>
            </a:r>
          </a:p>
          <a:p>
            <a:pPr>
              <a:spcAft>
                <a:spcPts val="800"/>
              </a:spcAft>
              <a:defRPr sz="1400" b="0">
                <a:solidFill>
                  <a:srgbClr val="0F172A"/>
                </a:solidFill>
                <a:latin typeface="Segoe UI"/>
              </a:defRPr>
            </a:pPr>
            <a:r>
              <a:rPr sz="1400" b="0">
                <a:solidFill>
                  <a:srgbClr val="0F172A"/>
                </a:solidFill>
                <a:latin typeface="Segoe UI"/>
              </a:rPr>
              <a:t>• Keras Tuner — Hyperband: el mismo espacio, 50 trials con Hyperband.</a:t>
            </a:r>
          </a:p>
          <a:p>
            <a:pPr>
              <a:spcAft>
                <a:spcPts val="800"/>
              </a:spcAft>
              <a:defRPr sz="1400" b="0">
                <a:solidFill>
                  <a:srgbClr val="0F172A"/>
                </a:solidFill>
                <a:latin typeface="Segoe UI"/>
              </a:defRPr>
            </a:pPr>
            <a:r>
              <a:rPr sz="1400" b="0">
                <a:solidFill>
                  <a:srgbClr val="0F172A"/>
                </a:solidFill>
                <a:latin typeface="Segoe UI"/>
              </a:rPr>
              <a:t>• Optuna: traducir el espacio a Optuna; correr 50 trials con HyperbandPruner; graficar plot_optimization_history y plot_param_importances.</a:t>
            </a:r>
          </a:p>
          <a:p>
            <a:pPr>
              <a:spcAft>
                <a:spcPts val="800"/>
              </a:spcAft>
              <a:defRPr sz="1400" b="0">
                <a:solidFill>
                  <a:srgbClr val="0F172A"/>
                </a:solidFill>
                <a:latin typeface="Segoe UI"/>
              </a:defRPr>
            </a:pPr>
            <a:r>
              <a:rPr sz="1400" b="0">
                <a:solidFill>
                  <a:srgbClr val="0F172A"/>
                </a:solidFill>
                <a:latin typeface="Segoe UI"/>
              </a:rPr>
              <a:t>• Multi-objective: optimizar simultáneamente val_accuracy (max) y n_params (min) con optuna.create_study(directions=['maximize', 'minimize']).</a:t>
            </a:r>
          </a:p>
          <a:p>
            <a:pPr>
              <a:spcAft>
                <a:spcPts val="800"/>
              </a:spcAft>
              <a:defRPr sz="1400" b="0">
                <a:solidFill>
                  <a:srgbClr val="0F172A"/>
                </a:solidFill>
                <a:latin typeface="Segoe UI"/>
              </a:defRPr>
            </a:pPr>
            <a:r>
              <a:rPr sz="1400" b="0">
                <a:solidFill>
                  <a:srgbClr val="0F172A"/>
                </a:solidFill>
                <a:latin typeface="Segoe UI"/>
              </a:rPr>
              <a:t>• Visualización: con Optuna, generar plot_parallel_coordinate(study) y entender qué dimensiones son las más sensibles.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Espacio: n_layers ∈ [1, 4], units ∈ {32, 64, 128, 256}, dropout ∈ [0, 0.5], lr ∈ [1e-5, 1e-2] log, optimizer ∈ {Adam, SGD}.</a:t>
            </a:r>
          </a:p>
          <a:p>
            <a:pPr>
              <a:spcAft>
                <a:spcPts val="800"/>
              </a:spcAft>
              <a:defRPr sz="1500" b="0">
                <a:solidFill>
                  <a:srgbClr val="0F172A"/>
                </a:solidFill>
                <a:latin typeface="Segoe UI"/>
              </a:defRPr>
            </a:pPr>
            <a:r>
              <a:rPr sz="1500" b="0">
                <a:solidFill>
                  <a:srgbClr val="0F172A"/>
                </a:solidFill>
                <a:latin typeface="Segoe UI"/>
              </a:rPr>
              <a:t>• 100 trials con HyperbandPruner, n_jobs=2.</a:t>
            </a:r>
          </a:p>
          <a:p>
            <a:pPr>
              <a:spcAft>
                <a:spcPts val="800"/>
              </a:spcAft>
              <a:defRPr sz="1500" b="0">
                <a:solidFill>
                  <a:srgbClr val="0F172A"/>
                </a:solidFill>
                <a:latin typeface="Segoe UI"/>
              </a:defRPr>
            </a:pPr>
            <a:r>
              <a:rPr sz="1500" b="0">
                <a:solidFill>
                  <a:srgbClr val="0F172A"/>
                </a:solidFill>
                <a:latin typeface="Segoe UI"/>
              </a:rPr>
              <a:t>• Reportar best_params, best_value, y guardar el modelo final entrenado con esos params.</a:t>
            </a:r>
          </a:p>
          <a:p>
            <a:pPr>
              <a:spcAft>
                <a:spcPts val="800"/>
              </a:spcAft>
              <a:defRPr sz="1500" b="0">
                <a:solidFill>
                  <a:srgbClr val="0F172A"/>
                </a:solidFill>
                <a:latin typeface="Segoe UI"/>
              </a:defRPr>
            </a:pPr>
            <a:r>
              <a:rPr sz="1500" b="0">
                <a:solidFill>
                  <a:srgbClr val="0F172A"/>
                </a:solidFill>
                <a:latin typeface="Segoe UI"/>
              </a:rPr>
              <a:t>• Generar los 3 plots de visualización.</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106 — Ray Tune: HPO distribuido y a escala</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106 — Ray Tune: HPO distribuido y a escala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Liaw et al. (2018) Ray Tune + Ray docs.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Escalar hyperparameter tuning de DL a cluster con Ray Tune — el framework distribuido que la industria (Uber, Anyscale, OpenAI) usa cuando los trials toman horas y se necesitan decenas en paralelo. Cubrir orquestación, schedulers modernos (ASHA, PBT Population Based Training), integración con W&amp;B, MLflow, y combinación con Optuna como search algorithm.</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trainable(config) y reportar progreso con tune.report(loss=...).</a:t>
            </a:r>
          </a:p>
          <a:p>
            <a:pPr>
              <a:spcAft>
                <a:spcPts val="800"/>
              </a:spcAft>
              <a:defRPr sz="1400" b="0">
                <a:solidFill>
                  <a:srgbClr val="0F172A"/>
                </a:solidFill>
                <a:latin typeface="Segoe UI"/>
              </a:defRPr>
            </a:pPr>
            <a:r>
              <a:rPr sz="1400" b="0">
                <a:solidFill>
                  <a:srgbClr val="0F172A"/>
                </a:solidFill>
                <a:latin typeface="Segoe UI"/>
              </a:rPr>
              <a:t>• Configurar ASHA (Async Successive Halving) para podar trials malos.</a:t>
            </a:r>
          </a:p>
          <a:p>
            <a:pPr>
              <a:spcAft>
                <a:spcPts val="800"/>
              </a:spcAft>
              <a:defRPr sz="1400" b="0">
                <a:solidFill>
                  <a:srgbClr val="0F172A"/>
                </a:solidFill>
                <a:latin typeface="Segoe UI"/>
              </a:defRPr>
            </a:pPr>
            <a:r>
              <a:rPr sz="1400" b="0">
                <a:solidFill>
                  <a:srgbClr val="0F172A"/>
                </a:solidFill>
                <a:latin typeface="Segoe UI"/>
              </a:rPr>
              <a:t>• Aplicar Population Based Training (PBT) para evolución de hyperparams durante training.</a:t>
            </a:r>
          </a:p>
          <a:p>
            <a:pPr>
              <a:spcAft>
                <a:spcPts val="800"/>
              </a:spcAft>
              <a:defRPr sz="1400" b="0">
                <a:solidFill>
                  <a:srgbClr val="0F172A"/>
                </a:solidFill>
                <a:latin typeface="Segoe UI"/>
              </a:defRPr>
            </a:pPr>
            <a:r>
              <a:rPr sz="1400" b="0">
                <a:solidFill>
                  <a:srgbClr val="0F172A"/>
                </a:solidFill>
                <a:latin typeface="Segoe UI"/>
              </a:rPr>
              <a:t>• Asignar recursos: resources_per_trial={'cpu': 2, 'gpu': 1}.</a:t>
            </a:r>
          </a:p>
          <a:p>
            <a:pPr>
              <a:spcAft>
                <a:spcPts val="800"/>
              </a:spcAft>
              <a:defRPr sz="1400" b="0">
                <a:solidFill>
                  <a:srgbClr val="0F172A"/>
                </a:solidFill>
                <a:latin typeface="Segoe UI"/>
              </a:defRPr>
            </a:pPr>
            <a:r>
              <a:rPr sz="1400" b="0">
                <a:solidFill>
                  <a:srgbClr val="0F172A"/>
                </a:solidFill>
                <a:latin typeface="Segoe UI"/>
              </a:rPr>
              <a:t>• Usar OptunaSearch como search algorithm + Ray Tune como orchestrator.</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106 — Ray Tune: HPO distribuido y a escala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Ray cluster: local vs multi-node.</a:t>
            </a:r>
          </a:p>
          <a:p>
            <a:pPr>
              <a:spcAft>
                <a:spcPts val="1000"/>
              </a:spcAft>
              <a:defRPr sz="1600" b="0">
                <a:solidFill>
                  <a:srgbClr val="0F172A"/>
                </a:solidFill>
                <a:latin typeface="Segoe UI"/>
              </a:defRPr>
            </a:pPr>
            <a:r>
              <a:rPr sz="1600" b="0">
                <a:solidFill>
                  <a:srgbClr val="0F172A"/>
                </a:solidFill>
                <a:latin typeface="Segoe UI"/>
              </a:rPr>
              <a:t>• Trainable: function-based vs class-based.</a:t>
            </a:r>
          </a:p>
          <a:p>
            <a:pPr>
              <a:spcAft>
                <a:spcPts val="1000"/>
              </a:spcAft>
              <a:defRPr sz="1600" b="0">
                <a:solidFill>
                  <a:srgbClr val="0F172A"/>
                </a:solidFill>
                <a:latin typeface="Segoe UI"/>
              </a:defRPr>
            </a:pPr>
            <a:r>
              <a:rPr sz="1600" b="0">
                <a:solidFill>
                  <a:srgbClr val="0F172A"/>
                </a:solidFill>
                <a:latin typeface="Segoe UI"/>
              </a:rPr>
              <a:t>• ASHA scheduler — async successive halving.</a:t>
            </a:r>
          </a:p>
          <a:p>
            <a:pPr>
              <a:spcAft>
                <a:spcPts val="1000"/>
              </a:spcAft>
              <a:defRPr sz="1600" b="0">
                <a:solidFill>
                  <a:srgbClr val="0F172A"/>
                </a:solidFill>
                <a:latin typeface="Segoe UI"/>
              </a:defRPr>
            </a:pPr>
            <a:r>
              <a:rPr sz="1600" b="0">
                <a:solidFill>
                  <a:srgbClr val="0F172A"/>
                </a:solidFill>
                <a:latin typeface="Segoe UI"/>
              </a:rPr>
              <a:t>• PBT — evoluciona hyperparams + checkpoints.</a:t>
            </a:r>
          </a:p>
          <a:p>
            <a:pPr>
              <a:spcAft>
                <a:spcPts val="1000"/>
              </a:spcAft>
              <a:defRPr sz="1600" b="0">
                <a:solidFill>
                  <a:srgbClr val="0F172A"/>
                </a:solidFill>
                <a:latin typeface="Segoe UI"/>
              </a:defRPr>
            </a:pPr>
            <a:r>
              <a:rPr sz="1600" b="0">
                <a:solidFill>
                  <a:srgbClr val="0F172A"/>
                </a:solidFill>
                <a:latin typeface="Segoe UI"/>
              </a:rPr>
              <a:t>• BOHB — Bayesian opt + Hyperband.</a:t>
            </a:r>
          </a:p>
          <a:p>
            <a:pPr>
              <a:spcAft>
                <a:spcPts val="1000"/>
              </a:spcAft>
              <a:defRPr sz="1600" b="0">
                <a:solidFill>
                  <a:srgbClr val="0F172A"/>
                </a:solidFill>
                <a:latin typeface="Segoe UI"/>
              </a:defRPr>
            </a:pPr>
            <a:r>
              <a:rPr sz="1600" b="0">
                <a:solidFill>
                  <a:srgbClr val="0F172A"/>
                </a:solidFill>
                <a:latin typeface="Segoe UI"/>
              </a:rPr>
              <a:t>• Loggers: TensorBoard, W&amp;B, MLflow.</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106 — Ray Tune: HPO distribuido y a escala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Ray puede ser pesado de instalar en Windows. Usamos try/except y caemos a Optuna como fallback (mismo concepto).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Función objetivo de juguete: paraboloide 2D con mínimo desplazado en (2, -1)</a:t>
            </a:r>
          </a:p>
          <a:p>
            <a:pPr>
              <a:defRPr sz="1200" b="0">
                <a:solidFill>
                  <a:srgbClr val="F8FAFC"/>
                </a:solidFill>
                <a:latin typeface="Courier New"/>
              </a:defRPr>
            </a:pPr>
            <a:r>
              <a:rPr sz="1200" b="0">
                <a:solidFill>
                  <a:srgbClr val="F8FAFC"/>
                </a:solidFill>
                <a:latin typeface="Courier New"/>
              </a:rPr>
              <a:t>def objective(config):</a:t>
            </a:r>
          </a:p>
          <a:p>
            <a:pPr>
              <a:defRPr sz="1200" b="0">
                <a:solidFill>
                  <a:srgbClr val="F8FAFC"/>
                </a:solidFill>
                <a:latin typeface="Courier New"/>
              </a:defRPr>
            </a:pPr>
            <a:r>
              <a:rPr sz="1200" b="0">
                <a:solidFill>
                  <a:srgbClr val="F8FAFC"/>
                </a:solidFill>
                <a:latin typeface="Courier New"/>
              </a:rPr>
              <a:t>    x, y = config['x'], config['y']</a:t>
            </a:r>
          </a:p>
          <a:p>
            <a:pPr>
              <a:defRPr sz="1200" b="0">
                <a:solidFill>
                  <a:srgbClr val="F8FAFC"/>
                </a:solidFill>
                <a:latin typeface="Courier New"/>
              </a:defRPr>
            </a:pPr>
            <a:r>
              <a:rPr sz="1200" b="0">
                <a:solidFill>
                  <a:srgbClr val="F8FAFC"/>
                </a:solidFill>
                <a:latin typeface="Courier New"/>
              </a:rPr>
              <a:t>    # noise simula stochasticidad de entrenamiento</a:t>
            </a:r>
          </a:p>
          <a:p>
            <a:pPr>
              <a:defRPr sz="1200" b="0">
                <a:solidFill>
                  <a:srgbClr val="F8FAFC"/>
                </a:solidFill>
                <a:latin typeface="Courier New"/>
              </a:defRPr>
            </a:pPr>
            <a:r>
              <a:rPr sz="1200" b="0">
                <a:solidFill>
                  <a:srgbClr val="F8FAFC"/>
                </a:solidFill>
                <a:latin typeface="Courier New"/>
              </a:rPr>
              <a:t>    noise = np.random.normal(0, 0.05)</a:t>
            </a:r>
          </a:p>
          <a:p>
            <a:pPr>
              <a:defRPr sz="1200" b="0">
                <a:solidFill>
                  <a:srgbClr val="F8FAFC"/>
                </a:solidFill>
                <a:latin typeface="Courier New"/>
              </a:defRPr>
            </a:pPr>
            <a:r>
              <a:rPr sz="1200" b="0">
                <a:solidFill>
                  <a:srgbClr val="F8FAFC"/>
                </a:solidFill>
                <a:latin typeface="Courier New"/>
              </a:rPr>
              <a:t>    return (x - 2)**2 + (y + 1)**2 + noise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print('óptimo conocido: (x=2, y=-1) → loss=0')</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106 — Ray Tune: HPO distribuido y a escala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Trainable básico: train de CNN con metric report each epoch.</a:t>
            </a:r>
          </a:p>
          <a:p>
            <a:pPr>
              <a:spcAft>
                <a:spcPts val="800"/>
              </a:spcAft>
              <a:defRPr sz="1400" b="0">
                <a:solidFill>
                  <a:srgbClr val="0F172A"/>
                </a:solidFill>
                <a:latin typeface="Segoe UI"/>
              </a:defRPr>
            </a:pPr>
            <a:r>
              <a:rPr sz="1400" b="0">
                <a:solidFill>
                  <a:srgbClr val="0F172A"/>
                </a:solidFill>
                <a:latin typeface="Segoe UI"/>
              </a:rPr>
              <a:t>• ASHA: ASHAScheduler(metric='val_loss', mode='min', max_t=20, grace_period=3).</a:t>
            </a:r>
          </a:p>
          <a:p>
            <a:pPr>
              <a:spcAft>
                <a:spcPts val="800"/>
              </a:spcAft>
              <a:defRPr sz="1400" b="0">
                <a:solidFill>
                  <a:srgbClr val="0F172A"/>
                </a:solidFill>
                <a:latin typeface="Segoe UI"/>
              </a:defRPr>
            </a:pPr>
            <a:r>
              <a:rPr sz="1400" b="0">
                <a:solidFill>
                  <a:srgbClr val="0F172A"/>
                </a:solidFill>
                <a:latin typeface="Segoe UI"/>
              </a:rPr>
              <a:t>• PBT: 8 workers, copy + perturb each 5 epochs.</a:t>
            </a:r>
          </a:p>
          <a:p>
            <a:pPr>
              <a:spcAft>
                <a:spcPts val="800"/>
              </a:spcAft>
              <a:defRPr sz="1400" b="0">
                <a:solidFill>
                  <a:srgbClr val="0F172A"/>
                </a:solidFill>
                <a:latin typeface="Segoe UI"/>
              </a:defRPr>
            </a:pPr>
            <a:r>
              <a:rPr sz="1400" b="0">
                <a:solidFill>
                  <a:srgbClr val="0F172A"/>
                </a:solidFill>
                <a:latin typeface="Segoe UI"/>
              </a:rPr>
              <a:t>• OptunaSearch + ASHA: combination — Optuna sugiere, ASHA poda.</a:t>
            </a:r>
          </a:p>
          <a:p>
            <a:pPr>
              <a:spcAft>
                <a:spcPts val="800"/>
              </a:spcAft>
              <a:defRPr sz="1400" b="0">
                <a:solidFill>
                  <a:srgbClr val="0F172A"/>
                </a:solidFill>
                <a:latin typeface="Segoe UI"/>
              </a:defRPr>
            </a:pPr>
            <a:r>
              <a:rPr sz="1400" b="0">
                <a:solidFill>
                  <a:srgbClr val="0F172A"/>
                </a:solidFill>
                <a:latin typeface="Segoe UI"/>
              </a:rPr>
              <a:t>• Resources: gpus_per_trial=0.5 (fractional GPU sharing).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Tunear LR, batch_size, dropout con Ray Tune.</a:t>
            </a:r>
          </a:p>
          <a:p>
            <a:pPr>
              <a:spcAft>
                <a:spcPts val="800"/>
              </a:spcAft>
              <a:defRPr sz="1500" b="0">
                <a:solidFill>
                  <a:srgbClr val="0F172A"/>
                </a:solidFill>
                <a:latin typeface="Segoe UI"/>
              </a:defRPr>
            </a:pPr>
            <a:r>
              <a:rPr sz="1500" b="0">
                <a:solidFill>
                  <a:srgbClr val="0F172A"/>
                </a:solidFill>
                <a:latin typeface="Segoe UI"/>
              </a:rPr>
              <a:t>• 50 trials, ASHA, OptunaSearch.</a:t>
            </a:r>
          </a:p>
          <a:p>
            <a:pPr>
              <a:spcAft>
                <a:spcPts val="800"/>
              </a:spcAft>
              <a:defRPr sz="1500" b="0">
                <a:solidFill>
                  <a:srgbClr val="0F172A"/>
                </a:solidFill>
                <a:latin typeface="Segoe UI"/>
              </a:defRPr>
            </a:pPr>
            <a:r>
              <a:rPr sz="1500" b="0">
                <a:solidFill>
                  <a:srgbClr val="0F172A"/>
                </a:solidFill>
                <a:latin typeface="Segoe UI"/>
              </a:rPr>
              <a:t>• W&amp;B logging.</a:t>
            </a:r>
          </a:p>
          <a:p>
            <a:pPr>
              <a:spcAft>
                <a:spcPts val="800"/>
              </a:spcAft>
              <a:defRPr sz="1500" b="0">
                <a:solidFill>
                  <a:srgbClr val="0F172A"/>
                </a:solidFill>
                <a:latin typeface="Segoe UI"/>
              </a:defRPr>
            </a:pPr>
            <a:r>
              <a:rPr sz="1500" b="0">
                <a:solidFill>
                  <a:srgbClr val="0F172A"/>
                </a:solidFill>
                <a:latin typeface="Segoe UI"/>
              </a:rPr>
              <a:t>• Reportar mejor config + tiempo total.</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107 — Vanishing/exploding gradients</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107 — Vanishing/exploding gradients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The Vanishing/Exploding Gradients Problems.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el problema central que estancó el Deep Learning hasta 2010: cuando un gradiente atraviesa muchas capas, se desvanece (sigmoid/tanh saturadas → multiplicas números &lt; 1 muchas veces → ≈ 0) o explota (pesos grandes → &gt; 1 muchas veces → ∞). Identificar los 4 culpables (activación, inicialización, profundidad, LR) y conocer las soluciones que destrabaron el campo: Glorot/He init (097), ReLU y variantes (098), BatchNorm (099), Gradient clipping (100).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Diagnosticar vanishing gradient: gradients en capas tempranas con norma ~ 1e-8.</a:t>
            </a:r>
          </a:p>
          <a:p>
            <a:pPr>
              <a:spcAft>
                <a:spcPts val="800"/>
              </a:spcAft>
              <a:defRPr sz="1400" b="0">
                <a:solidFill>
                  <a:srgbClr val="0F172A"/>
                </a:solidFill>
                <a:latin typeface="Segoe UI"/>
              </a:defRPr>
            </a:pPr>
            <a:r>
              <a:rPr sz="1400" b="0">
                <a:solidFill>
                  <a:srgbClr val="0F172A"/>
                </a:solidFill>
                <a:latin typeface="Segoe UI"/>
              </a:rPr>
              <a:t>• Diagnosticar exploding: loss = nan o gradients con norma ~ 1e+10.</a:t>
            </a:r>
          </a:p>
          <a:p>
            <a:pPr>
              <a:spcAft>
                <a:spcPts val="800"/>
              </a:spcAft>
              <a:defRPr sz="1400" b="0">
                <a:solidFill>
                  <a:srgbClr val="0F172A"/>
                </a:solidFill>
                <a:latin typeface="Segoe UI"/>
              </a:defRPr>
            </a:pPr>
            <a:r>
              <a:rPr sz="1400" b="0">
                <a:solidFill>
                  <a:srgbClr val="0F172A"/>
                </a:solidFill>
                <a:latin typeface="Segoe UI"/>
              </a:rPr>
              <a:t>• Inspeccionar gradientes con tf.GradientTape + tf.norm.</a:t>
            </a:r>
          </a:p>
          <a:p>
            <a:pPr>
              <a:spcAft>
                <a:spcPts val="800"/>
              </a:spcAft>
              <a:defRPr sz="1400" b="0">
                <a:solidFill>
                  <a:srgbClr val="0F172A"/>
                </a:solidFill>
                <a:latin typeface="Segoe UI"/>
              </a:defRPr>
            </a:pPr>
            <a:r>
              <a:rPr sz="1400" b="0">
                <a:solidFill>
                  <a:srgbClr val="0F172A"/>
                </a:solidFill>
                <a:latin typeface="Segoe UI"/>
              </a:rPr>
              <a:t>• Mapear cada solución al problema: init para arrancar bien, ReLU para no saturar, BN para estabilizar, clipping para evitar explosión.</a:t>
            </a:r>
          </a:p>
          <a:p>
            <a:pPr>
              <a:spcAft>
                <a:spcPts val="800"/>
              </a:spcAft>
              <a:defRPr sz="1400" b="0">
                <a:solidFill>
                  <a:srgbClr val="0F172A"/>
                </a:solidFill>
                <a:latin typeface="Segoe UI"/>
              </a:defRPr>
            </a:pPr>
            <a:r>
              <a:rPr sz="1400" b="0">
                <a:solidFill>
                  <a:srgbClr val="0F172A"/>
                </a:solidFill>
                <a:latin typeface="Segoe UI"/>
              </a:rPr>
              <a:t>• Explicar por qué sigmoid en MLPs profundos no escala (derivada máx. 0.25 → gradiente decae rápido).</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107 — Vanishing/exploding gradients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Backprop como producto de derivadas a lo largo de capas.</a:t>
            </a:r>
          </a:p>
          <a:p>
            <a:pPr>
              <a:spcAft>
                <a:spcPts val="1000"/>
              </a:spcAft>
              <a:defRPr sz="1600" b="0">
                <a:solidFill>
                  <a:srgbClr val="0F172A"/>
                </a:solidFill>
                <a:latin typeface="Segoe UI"/>
              </a:defRPr>
            </a:pPr>
            <a:r>
              <a:rPr sz="1600" b="0">
                <a:solidFill>
                  <a:srgbClr val="0F172A"/>
                </a:solidFill>
                <a:latin typeface="Segoe UI"/>
              </a:rPr>
              <a:t>• Sigmoid: σ(x) · (1 - σ(x)) máxima 0.25 en x=0; satura a 0 en colas.</a:t>
            </a:r>
          </a:p>
          <a:p>
            <a:pPr>
              <a:spcAft>
                <a:spcPts val="1000"/>
              </a:spcAft>
              <a:defRPr sz="1600" b="0">
                <a:solidFill>
                  <a:srgbClr val="0F172A"/>
                </a:solidFill>
                <a:latin typeface="Segoe UI"/>
              </a:defRPr>
            </a:pPr>
            <a:r>
              <a:rPr sz="1600" b="0">
                <a:solidFill>
                  <a:srgbClr val="0F172A"/>
                </a:solidFill>
                <a:latin typeface="Segoe UI"/>
              </a:rPr>
              <a:t>• Tanh: derivada máx. 1, pero también satura.</a:t>
            </a:r>
          </a:p>
          <a:p>
            <a:pPr>
              <a:spcAft>
                <a:spcPts val="1000"/>
              </a:spcAft>
              <a:defRPr sz="1600" b="0">
                <a:solidFill>
                  <a:srgbClr val="0F172A"/>
                </a:solidFill>
                <a:latin typeface="Segoe UI"/>
              </a:defRPr>
            </a:pPr>
            <a:r>
              <a:rPr sz="1600" b="0">
                <a:solidFill>
                  <a:srgbClr val="0F172A"/>
                </a:solidFill>
                <a:latin typeface="Segoe UI"/>
              </a:rPr>
              <a:t>• ReLU: derivada 0 o 1 — no decae al multiplicar, pero genera "dying ReLU".</a:t>
            </a:r>
          </a:p>
          <a:p>
            <a:pPr>
              <a:spcAft>
                <a:spcPts val="1000"/>
              </a:spcAft>
              <a:defRPr sz="1600" b="0">
                <a:solidFill>
                  <a:srgbClr val="0F172A"/>
                </a:solidFill>
                <a:latin typeface="Segoe UI"/>
              </a:defRPr>
            </a:pPr>
            <a:r>
              <a:rPr sz="1600" b="0">
                <a:solidFill>
                  <a:srgbClr val="0F172A"/>
                </a:solidFill>
                <a:latin typeface="Segoe UI"/>
              </a:rPr>
              <a:t>• Inicialización mala: pesos N(0, 1) → activaciones explotan; pesos N(0, 0.01) → vanishing.</a:t>
            </a:r>
          </a:p>
          <a:p>
            <a:pPr>
              <a:spcAft>
                <a:spcPts val="1000"/>
              </a:spcAft>
              <a:defRPr sz="1600" b="0">
                <a:solidFill>
                  <a:srgbClr val="0F172A"/>
                </a:solidFill>
                <a:latin typeface="Segoe UI"/>
              </a:defRPr>
            </a:pPr>
            <a:r>
              <a:rPr sz="1600" b="0">
                <a:solidFill>
                  <a:srgbClr val="0F172A"/>
                </a:solidFill>
                <a:latin typeface="Segoe UI"/>
              </a:rPr>
              <a:t>• BatchNorm: normaliza dentro del forward pass para que cada capa reciba inputs con varianza controlada.</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107 — Vanishing/exploding gradients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 las colas (|x| &gt; 5) la derivada σ(x)·(1-σ(x)) es ≈ 0. Multiplicar 0.25 diez veces ya aniquila el gradiente.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np.linspace(-10, 10, 500)</a:t>
            </a:r>
          </a:p>
          <a:p>
            <a:pPr>
              <a:defRPr sz="1200" b="0">
                <a:solidFill>
                  <a:srgbClr val="F8FAFC"/>
                </a:solidFill>
                <a:latin typeface="Courier New"/>
              </a:defRPr>
            </a:pPr>
            <a:r>
              <a:rPr sz="1200" b="0">
                <a:solidFill>
                  <a:srgbClr val="F8FAFC"/>
                </a:solidFill>
                <a:latin typeface="Courier New"/>
              </a:rPr>
              <a:t>sig = 1 / (1 + np.exp(-x))</a:t>
            </a:r>
          </a:p>
          <a:p>
            <a:pPr>
              <a:defRPr sz="1200" b="0">
                <a:solidFill>
                  <a:srgbClr val="F8FAFC"/>
                </a:solidFill>
                <a:latin typeface="Courier New"/>
              </a:defRPr>
            </a:pPr>
            <a:r>
              <a:rPr sz="1200" b="0">
                <a:solidFill>
                  <a:srgbClr val="F8FAFC"/>
                </a:solidFill>
                <a:latin typeface="Courier New"/>
              </a:rPr>
              <a:t>dsig = sig * (1 - sig)                       # derivada de la sigmoide</a:t>
            </a:r>
          </a:p>
          <a:p>
            <a:pPr>
              <a:defRPr sz="1200" b="0">
                <a:solidFill>
                  <a:srgbClr val="F8FAFC"/>
                </a:solidFill>
                <a:latin typeface="Courier New"/>
              </a:defRPr>
            </a:pPr>
            <a:r>
              <a:rPr sz="1200" b="0">
                <a:solidFill>
                  <a:srgbClr val="F8FAFC"/>
                </a:solidFill>
                <a:latin typeface="Courier New"/>
              </a:rPr>
              <a:t>print("derivada máxima:", round(dsig.max(), 4), "en x =", round(x[dsig.argmax()], 2))</a:t>
            </a:r>
          </a:p>
          <a:p>
            <a:pPr>
              <a:defRPr sz="1200" b="0">
                <a:solidFill>
                  <a:srgbClr val="F8FAFC"/>
                </a:solidFill>
                <a:latin typeface="Courier New"/>
              </a:defRPr>
            </a:pPr>
            <a:r>
              <a:rPr sz="1200" b="0">
                <a:solidFill>
                  <a:srgbClr val="F8FAFC"/>
                </a:solidFill>
                <a:latin typeface="Courier New"/>
              </a:rPr>
              <a:t>print("(0.25)^10 =", 0.25 ** 10, "→ 10 capas sigmoide casi anulan el gradiente")</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107 — Vanishing/exploding gradients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Diagnóstico vanishing: entrenar un MLP de 10 capas con sigmoid activations e init default.</a:t>
            </a:r>
          </a:p>
          <a:p>
            <a:pPr>
              <a:spcAft>
                <a:spcPts val="800"/>
              </a:spcAft>
              <a:defRPr sz="1400" b="0">
                <a:solidFill>
                  <a:srgbClr val="0F172A"/>
                </a:solidFill>
                <a:latin typeface="Segoe UI"/>
              </a:defRPr>
            </a:pPr>
            <a:r>
              <a:rPr sz="1400" b="0">
                <a:solidFill>
                  <a:srgbClr val="0F172A"/>
                </a:solidFill>
                <a:latin typeface="Segoe UI"/>
              </a:rPr>
              <a:t>• Mismo experimento con ReLU: comparar gradients.</a:t>
            </a:r>
          </a:p>
          <a:p>
            <a:pPr>
              <a:spcAft>
                <a:spcPts val="800"/>
              </a:spcAft>
              <a:defRPr sz="1400" b="0">
                <a:solidFill>
                  <a:srgbClr val="0F172A"/>
                </a:solidFill>
                <a:latin typeface="Segoe UI"/>
              </a:defRPr>
            </a:pPr>
            <a:r>
              <a:rPr sz="1400" b="0">
                <a:solidFill>
                  <a:srgbClr val="0F172A"/>
                </a:solidFill>
                <a:latin typeface="Segoe UI"/>
              </a:rPr>
              <a:t>• Exploding: forzar init RandomNormal(stddev=5).</a:t>
            </a:r>
          </a:p>
          <a:p>
            <a:pPr>
              <a:spcAft>
                <a:spcPts val="800"/>
              </a:spcAft>
              <a:defRPr sz="1400" b="0">
                <a:solidFill>
                  <a:srgbClr val="0F172A"/>
                </a:solidFill>
                <a:latin typeface="Segoe UI"/>
              </a:defRPr>
            </a:pPr>
            <a:r>
              <a:rPr sz="1400" b="0">
                <a:solidFill>
                  <a:srgbClr val="0F172A"/>
                </a:solidFill>
                <a:latin typeface="Segoe UI"/>
              </a:rPr>
              <a:t>• Norma del gradiente por capa: con tf.GradientTape, calcular tf.norm(g) para cada peso y graficar a lo largo del entrenamiento.</a:t>
            </a:r>
          </a:p>
          <a:p>
            <a:pPr>
              <a:spcAft>
                <a:spcPts val="800"/>
              </a:spcAft>
              <a:defRPr sz="1400" b="0">
                <a:solidFill>
                  <a:srgbClr val="0F172A"/>
                </a:solidFill>
                <a:latin typeface="Segoe UI"/>
              </a:defRPr>
            </a:pPr>
            <a:r>
              <a:rPr sz="1400" b="0">
                <a:solidFill>
                  <a:srgbClr val="0F172A"/>
                </a:solidFill>
                <a:latin typeface="Segoe UI"/>
              </a:rPr>
              <a:t>• Solución sencilla: cambiar a He init + ReLU + BatchNorm y mostrar que el problema desaparece (anticipa las siguientes 4 clases).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Sigmoid + Glorot init.</a:t>
            </a:r>
          </a:p>
          <a:p>
            <a:pPr>
              <a:spcAft>
                <a:spcPts val="800"/>
              </a:spcAft>
              <a:defRPr sz="1500" b="0">
                <a:solidFill>
                  <a:srgbClr val="0F172A"/>
                </a:solidFill>
                <a:latin typeface="Segoe UI"/>
              </a:defRPr>
            </a:pPr>
            <a:r>
              <a:rPr sz="1500" b="0">
                <a:solidFill>
                  <a:srgbClr val="0F172A"/>
                </a:solidFill>
                <a:latin typeface="Segoe UI"/>
              </a:rPr>
              <a:t>• ReLU + Glorot init.</a:t>
            </a:r>
          </a:p>
          <a:p>
            <a:pPr>
              <a:spcAft>
                <a:spcPts val="800"/>
              </a:spcAft>
              <a:defRPr sz="1500" b="0">
                <a:solidFill>
                  <a:srgbClr val="0F172A"/>
                </a:solidFill>
                <a:latin typeface="Segoe UI"/>
              </a:defRPr>
            </a:pPr>
            <a:r>
              <a:rPr sz="1500" b="0">
                <a:solidFill>
                  <a:srgbClr val="0F172A"/>
                </a:solidFill>
                <a:latin typeface="Segoe UI"/>
              </a:rPr>
              <a:t>• ReLU + He init.</a:t>
            </a:r>
          </a:p>
          <a:p>
            <a:pPr>
              <a:spcAft>
                <a:spcPts val="800"/>
              </a:spcAft>
              <a:defRPr sz="1500" b="0">
                <a:solidFill>
                  <a:srgbClr val="0F172A"/>
                </a:solidFill>
                <a:latin typeface="Segoe UI"/>
              </a:defRPr>
            </a:pPr>
            <a:r>
              <a:rPr sz="1500" b="0">
                <a:solidFill>
                  <a:srgbClr val="0F172A"/>
                </a:solidFill>
                <a:latin typeface="Segoe UI"/>
              </a:rPr>
              <a:t>• ReLU + He init + BatchNorm.</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108 — Inicialización (Glorot, He)</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108 — Inicialización (Glorot, He)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Glorot and He Initialization.  Duración estimada: 55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inicializar los pesos de cada capa para que la varianza de las activaciones y de los gradientes se mantenga estable a lo largo del forward y backward pass. Diferenciar Glorot (Xavier) —para sigmoid/tanh— de He (Kaiming) —para ReLU y variantes—. Saber cuál usa Keras por default y cuándo cambiarlo.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idea: Var(W) ≈ 1 / fan_in (o promedio fan_in/fan_out) para preservar varianza.</a:t>
            </a:r>
          </a:p>
          <a:p>
            <a:pPr>
              <a:spcAft>
                <a:spcPts val="800"/>
              </a:spcAft>
              <a:defRPr sz="1400" b="0">
                <a:solidFill>
                  <a:srgbClr val="0F172A"/>
                </a:solidFill>
                <a:latin typeface="Segoe UI"/>
              </a:defRPr>
            </a:pPr>
            <a:r>
              <a:rPr sz="1400" b="0">
                <a:solidFill>
                  <a:srgbClr val="0F172A"/>
                </a:solidFill>
                <a:latin typeface="Segoe UI"/>
              </a:rPr>
              <a:t>• Aplicar kernel_initializer='glorot_uniform' (default Keras), 'he_normal', 'he_uniform'.</a:t>
            </a:r>
          </a:p>
          <a:p>
            <a:pPr>
              <a:spcAft>
                <a:spcPts val="800"/>
              </a:spcAft>
              <a:defRPr sz="1400" b="0">
                <a:solidFill>
                  <a:srgbClr val="0F172A"/>
                </a:solidFill>
                <a:latin typeface="Segoe UI"/>
              </a:defRPr>
            </a:pPr>
            <a:r>
              <a:rPr sz="1400" b="0">
                <a:solidFill>
                  <a:srgbClr val="0F172A"/>
                </a:solidFill>
                <a:latin typeface="Segoe UI"/>
              </a:rPr>
              <a:t>• Calcular a mano los límites de la distribución para Glorot uniform: ±√(6/(fan_in+fan_out)).</a:t>
            </a:r>
          </a:p>
          <a:p>
            <a:pPr>
              <a:spcAft>
                <a:spcPts val="800"/>
              </a:spcAft>
              <a:defRPr sz="1400" b="0">
                <a:solidFill>
                  <a:srgbClr val="0F172A"/>
                </a:solidFill>
                <a:latin typeface="Segoe UI"/>
              </a:defRPr>
            </a:pPr>
            <a:r>
              <a:rPr sz="1400" b="0">
                <a:solidFill>
                  <a:srgbClr val="0F172A"/>
                </a:solidFill>
                <a:latin typeface="Segoe UI"/>
              </a:rPr>
              <a:t>• Reconocer que la combinación correcta es He init + ReLU, Glorot + tanh/sigmoid.</a:t>
            </a:r>
          </a:p>
          <a:p>
            <a:pPr>
              <a:spcAft>
                <a:spcPts val="800"/>
              </a:spcAft>
              <a:defRPr sz="1400" b="0">
                <a:solidFill>
                  <a:srgbClr val="0F172A"/>
                </a:solidFill>
                <a:latin typeface="Segoe UI"/>
              </a:defRPr>
            </a:pPr>
            <a:r>
              <a:rPr sz="1400" b="0">
                <a:solidFill>
                  <a:srgbClr val="0F172A"/>
                </a:solidFill>
                <a:latin typeface="Segoe UI"/>
              </a:rPr>
              <a:t>• Inspeccionar el efecto visualmente: histogramas de activaciones por capa.</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108 — Inicialización (Glorot, He)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importa la varianza? Productos de N capas amplifican o atenúan exponencialmente.</a:t>
            </a:r>
          </a:p>
          <a:p>
            <a:pPr>
              <a:spcAft>
                <a:spcPts val="1000"/>
              </a:spcAft>
              <a:defRPr sz="1600" b="0">
                <a:solidFill>
                  <a:srgbClr val="0F172A"/>
                </a:solidFill>
                <a:latin typeface="Segoe UI"/>
              </a:defRPr>
            </a:pPr>
            <a:r>
              <a:rPr sz="1600" b="0">
                <a:solidFill>
                  <a:srgbClr val="0F172A"/>
                </a:solidFill>
                <a:latin typeface="Segoe UI"/>
              </a:rPr>
              <a:t>• Glorot (2010): Var(W) = 2/(fan_in + fan_out). Asume activación lineal/simétrica.</a:t>
            </a:r>
          </a:p>
          <a:p>
            <a:pPr>
              <a:spcAft>
                <a:spcPts val="1000"/>
              </a:spcAft>
              <a:defRPr sz="1600" b="0">
                <a:solidFill>
                  <a:srgbClr val="0F172A"/>
                </a:solidFill>
                <a:latin typeface="Segoe UI"/>
              </a:defRPr>
            </a:pPr>
            <a:r>
              <a:rPr sz="1600" b="0">
                <a:solidFill>
                  <a:srgbClr val="0F172A"/>
                </a:solidFill>
                <a:latin typeface="Segoe UI"/>
              </a:rPr>
              <a:t>• He (2015): Var(W) = 2/fan_in. Compensa que ReLU "mata" la mitad de las salidas.</a:t>
            </a:r>
          </a:p>
          <a:p>
            <a:pPr>
              <a:spcAft>
                <a:spcPts val="1000"/>
              </a:spcAft>
              <a:defRPr sz="1600" b="0">
                <a:solidFill>
                  <a:srgbClr val="0F172A"/>
                </a:solidFill>
                <a:latin typeface="Segoe UI"/>
              </a:defRPr>
            </a:pPr>
            <a:r>
              <a:rPr sz="1600" b="0">
                <a:solidFill>
                  <a:srgbClr val="0F172A"/>
                </a:solidFill>
                <a:latin typeface="Segoe UI"/>
              </a:rPr>
              <a:t>• Distribuciones: uniform o normal. Equivalentes prácticamente.</a:t>
            </a:r>
          </a:p>
          <a:p>
            <a:pPr>
              <a:spcAft>
                <a:spcPts val="1000"/>
              </a:spcAft>
              <a:defRPr sz="1600" b="0">
                <a:solidFill>
                  <a:srgbClr val="0F172A"/>
                </a:solidFill>
                <a:latin typeface="Segoe UI"/>
              </a:defRPr>
            </a:pPr>
            <a:r>
              <a:rPr sz="1600" b="0">
                <a:solidFill>
                  <a:srgbClr val="0F172A"/>
                </a:solidFill>
                <a:latin typeface="Segoe UI"/>
              </a:rPr>
              <a:t>• LeCun init: Var(W) = 1/fan_in. Para SELU.</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108 — Inicialización (Glorot, He)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Dense usa glorot_uniform por defecto: U(-√(6/(fan_in+fan_out)), +√(6/(fan_in+fan_out))).</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capa = layers.Dense(256, kernel_initializer="glorot_uniform")</a:t>
            </a:r>
          </a:p>
          <a:p>
            <a:pPr>
              <a:defRPr sz="1200" b="0">
                <a:solidFill>
                  <a:srgbClr val="F8FAFC"/>
                </a:solidFill>
                <a:latin typeface="Courier New"/>
              </a:defRPr>
            </a:pPr>
            <a:r>
              <a:rPr sz="1200" b="0">
                <a:solidFill>
                  <a:srgbClr val="F8FAFC"/>
                </a:solidFill>
                <a:latin typeface="Courier New"/>
              </a:rPr>
              <a:t>capa.build((None, 784))                          # materializa los pesos</a:t>
            </a:r>
          </a:p>
          <a:p>
            <a:pPr>
              <a:defRPr sz="1200" b="0">
                <a:solidFill>
                  <a:srgbClr val="F8FAFC"/>
                </a:solidFill>
                <a:latin typeface="Courier New"/>
              </a:defRPr>
            </a:pPr>
            <a:r>
              <a:rPr sz="1200" b="0">
                <a:solidFill>
                  <a:srgbClr val="F8FAFC"/>
                </a:solidFill>
                <a:latin typeface="Courier New"/>
              </a:rPr>
              <a:t>W = capa.kernel.numpy()</a:t>
            </a:r>
          </a:p>
          <a:p>
            <a:pPr>
              <a:defRPr sz="1200" b="0">
                <a:solidFill>
                  <a:srgbClr val="F8FAFC"/>
                </a:solidFill>
                <a:latin typeface="Courier New"/>
              </a:defRPr>
            </a:pPr>
            <a:r>
              <a:rPr sz="1200" b="0">
                <a:solidFill>
                  <a:srgbClr val="F8FAFC"/>
                </a:solidFill>
                <a:latin typeface="Courier New"/>
              </a:rPr>
              <a:t>fan_in, fan_out = 784, 256</a:t>
            </a:r>
          </a:p>
          <a:p>
            <a:pPr>
              <a:defRPr sz="1200" b="0">
                <a:solidFill>
                  <a:srgbClr val="F8FAFC"/>
                </a:solidFill>
                <a:latin typeface="Courier New"/>
              </a:defRPr>
            </a:pPr>
            <a:r>
              <a:rPr sz="1200" b="0">
                <a:solidFill>
                  <a:srgbClr val="F8FAFC"/>
                </a:solidFill>
                <a:latin typeface="Courier New"/>
              </a:rPr>
              <a:t>limite = np.sqrt(6 / (fan_in + fan_out))</a:t>
            </a:r>
          </a:p>
          <a:p>
            <a:pPr>
              <a:defRPr sz="1200" b="0">
                <a:solidFill>
                  <a:srgbClr val="F8FAFC"/>
                </a:solidFill>
                <a:latin typeface="Courier New"/>
              </a:defRPr>
            </a:pPr>
            <a:r>
              <a:rPr sz="1200" b="0">
                <a:solidFill>
                  <a:srgbClr val="F8FAFC"/>
                </a:solidFill>
                <a:latin typeface="Courier New"/>
              </a:rPr>
              <a:t>print("límite teórico Glorot uniform: ±", round(limite, 4))</a:t>
            </a:r>
          </a:p>
          <a:p>
            <a:pPr>
              <a:defRPr sz="1200" b="0">
                <a:solidFill>
                  <a:srgbClr val="F8FAFC"/>
                </a:solidFill>
                <a:latin typeface="Courier New"/>
              </a:defRPr>
            </a:pPr>
            <a:r>
              <a:rPr sz="1200" b="0">
                <a:solidFill>
                  <a:srgbClr val="F8FAFC"/>
                </a:solidFill>
                <a:latin typeface="Courier New"/>
              </a:rPr>
              <a:t>print("min/max empírico:", round(W.min(), 4), round(W.max(), 4))</a:t>
            </a:r>
          </a:p>
          <a:p>
            <a:pPr>
              <a:defRPr sz="1200" b="0">
                <a:solidFill>
                  <a:srgbClr val="F8FAFC"/>
                </a:solidFill>
                <a:latin typeface="Courier New"/>
              </a:defRPr>
            </a:pPr>
            <a:r>
              <a:rPr sz="1200" b="0">
                <a:solidFill>
                  <a:srgbClr val="F8FAFC"/>
                </a:solidFill>
                <a:latin typeface="Courier New"/>
              </a:rPr>
              <a:t>print("var empírica:", round(W.var(), 6),</a:t>
            </a:r>
          </a:p>
          <a:p>
            <a:pPr>
              <a:defRPr sz="1200" b="0">
                <a:solidFill>
                  <a:srgbClr val="F8FAFC"/>
                </a:solidFill>
                <a:latin typeface="Courier New"/>
              </a:defRPr>
            </a:pPr>
            <a:r>
              <a:rPr sz="1200" b="0">
                <a:solidFill>
                  <a:srgbClr val="F8FAFC"/>
                </a:solidFill>
                <a:latin typeface="Courier New"/>
              </a:rPr>
              <a:t>      "| var teórica 2/(fan_in+fan_out):", round(2 / (fan_in + fan_out), 6))</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108 — Inicialización (Glorot, He)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Inspección de defaults: para Dense(128, input_shape=(784,)), imprimir model.layers[0].kernel.numpy().</a:t>
            </a:r>
          </a:p>
          <a:p>
            <a:pPr>
              <a:spcAft>
                <a:spcPts val="800"/>
              </a:spcAft>
              <a:defRPr sz="1400" b="0">
                <a:solidFill>
                  <a:srgbClr val="0F172A"/>
                </a:solidFill>
                <a:latin typeface="Segoe UI"/>
              </a:defRPr>
            </a:pPr>
            <a:r>
              <a:rPr sz="1400" b="0">
                <a:solidFill>
                  <a:srgbClr val="0F172A"/>
                </a:solidFill>
                <a:latin typeface="Segoe UI"/>
              </a:rPr>
              <a:t>• Comparación: entrenar MLP [512, 256, 128, 64, 10] con ReLU.</a:t>
            </a:r>
          </a:p>
          <a:p>
            <a:pPr>
              <a:spcAft>
                <a:spcPts val="800"/>
              </a:spcAft>
              <a:defRPr sz="1400" b="0">
                <a:solidFill>
                  <a:srgbClr val="0F172A"/>
                </a:solidFill>
                <a:latin typeface="Segoe UI"/>
              </a:defRPr>
            </a:pPr>
            <a:r>
              <a:rPr sz="1400" b="0">
                <a:solidFill>
                  <a:srgbClr val="0F172A"/>
                </a:solidFill>
                <a:latin typeface="Segoe UI"/>
              </a:rPr>
              <a:t>• Histogramas de activaciones: para cada capa del modelo bien inicializado, plot del histograma de salidas para un batch.</a:t>
            </a:r>
          </a:p>
          <a:p>
            <a:pPr>
              <a:spcAft>
                <a:spcPts val="800"/>
              </a:spcAft>
              <a:defRPr sz="1400" b="0">
                <a:solidFill>
                  <a:srgbClr val="0F172A"/>
                </a:solidFill>
                <a:latin typeface="Segoe UI"/>
              </a:defRPr>
            </a:pPr>
            <a:r>
              <a:rPr sz="1400" b="0">
                <a:solidFill>
                  <a:srgbClr val="0F172A"/>
                </a:solidFill>
                <a:latin typeface="Segoe UI"/>
              </a:rPr>
              <a:t>• He init + Tanh: probar la combinación incorrecta (He con tanh).</a:t>
            </a:r>
          </a:p>
          <a:p>
            <a:pPr>
              <a:spcAft>
                <a:spcPts val="800"/>
              </a:spcAft>
              <a:defRPr sz="1400" b="0">
                <a:solidFill>
                  <a:srgbClr val="0F172A"/>
                </a:solidFill>
                <a:latin typeface="Segoe UI"/>
              </a:defRPr>
            </a:pPr>
            <a:r>
              <a:rPr sz="1400" b="0">
                <a:solidFill>
                  <a:srgbClr val="0F172A"/>
                </a:solidFill>
                <a:latin typeface="Segoe UI"/>
              </a:rPr>
              <a:t>• Reset y reproducibilidad: con tf.random.set_seed(42) + np.random.seed(42), entrenar 2 veces y verificar que da idéntico.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con 3 inits: default Glorot, He uniform, He normal.</a:t>
            </a:r>
          </a:p>
          <a:p>
            <a:pPr>
              <a:spcAft>
                <a:spcPts val="800"/>
              </a:spcAft>
              <a:defRPr sz="1500" b="0">
                <a:solidFill>
                  <a:srgbClr val="0F172A"/>
                </a:solidFill>
                <a:latin typeface="Segoe UI"/>
              </a:defRPr>
            </a:pPr>
            <a:r>
              <a:rPr sz="1500" b="0">
                <a:solidFill>
                  <a:srgbClr val="0F172A"/>
                </a:solidFill>
                <a:latin typeface="Segoe UI"/>
              </a:rPr>
              <a:t>• Reportar val_accuracy tras 20 épocas para cada uno.</a:t>
            </a:r>
          </a:p>
          <a:p>
            <a:pPr>
              <a:spcAft>
                <a:spcPts val="800"/>
              </a:spcAft>
              <a:defRPr sz="1500" b="0">
                <a:solidFill>
                  <a:srgbClr val="0F172A"/>
                </a:solidFill>
                <a:latin typeface="Segoe UI"/>
              </a:defRPr>
            </a:pPr>
            <a:r>
              <a:rPr sz="1500" b="0">
                <a:solidFill>
                  <a:srgbClr val="0F172A"/>
                </a:solidFill>
                <a:latin typeface="Segoe UI"/>
              </a:rPr>
              <a:t>• Para el mejor (He init), inspeccionar la norma de cada kernel antes y después del entrenamiento.</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109 — Activaciones: ReLU, ELU, GELU, Swish, Mish</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109 — Activaciones: ReLU, ELU, GELU, Swish, Mish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Better Activation Functions.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familia de activaciones modernas — desde ReLU (Krizhevsky et al. 2012) hasta GELU (BERT, GPT) y Swish/SiLU (EfficientNet) — entendiendo qué problema resuelve cada una y por qué los Transformers modernos usan GELU y no ReLU. Saber elegir según arquitectura.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matemáticamente las 5 activaciones: ReLU, Leaky ReLU, ELU, GELU, Swish (SiLU), Mish.</a:t>
            </a:r>
          </a:p>
          <a:p>
            <a:pPr>
              <a:spcAft>
                <a:spcPts val="800"/>
              </a:spcAft>
              <a:defRPr sz="1400" b="0">
                <a:solidFill>
                  <a:srgbClr val="0F172A"/>
                </a:solidFill>
                <a:latin typeface="Segoe UI"/>
              </a:defRPr>
            </a:pPr>
            <a:r>
              <a:rPr sz="1400" b="0">
                <a:solidFill>
                  <a:srgbClr val="0F172A"/>
                </a:solidFill>
                <a:latin typeface="Segoe UI"/>
              </a:rPr>
              <a:t>• Identificar dying ReLU y aplicar Leaky ReLU / ELU como mitigación.</a:t>
            </a:r>
          </a:p>
          <a:p>
            <a:pPr>
              <a:spcAft>
                <a:spcPts val="800"/>
              </a:spcAft>
              <a:defRPr sz="1400" b="0">
                <a:solidFill>
                  <a:srgbClr val="0F172A"/>
                </a:solidFill>
                <a:latin typeface="Segoe UI"/>
              </a:defRPr>
            </a:pPr>
            <a:r>
              <a:rPr sz="1400" b="0">
                <a:solidFill>
                  <a:srgbClr val="0F172A"/>
                </a:solidFill>
                <a:latin typeface="Segoe UI"/>
              </a:rPr>
              <a:t>• Reconocer que GELU es la activación default en Transformers (BERT, GPT, ViT) y Swish/SiLU en EfficientNet, modelos modernos de visión.</a:t>
            </a:r>
          </a:p>
          <a:p>
            <a:pPr>
              <a:spcAft>
                <a:spcPts val="800"/>
              </a:spcAft>
              <a:defRPr sz="1400" b="0">
                <a:solidFill>
                  <a:srgbClr val="0F172A"/>
                </a:solidFill>
                <a:latin typeface="Segoe UI"/>
              </a:defRPr>
            </a:pPr>
            <a:r>
              <a:rPr sz="1400" b="0">
                <a:solidFill>
                  <a:srgbClr val="0F172A"/>
                </a:solidFill>
                <a:latin typeface="Segoe UI"/>
              </a:rPr>
              <a:t>• Aplicar cada activación en Keras: Dense(64, activation='relu' | 'gelu' | 'swish' | 'elu' | LeakyReLU()).</a:t>
            </a:r>
          </a:p>
          <a:p>
            <a:pPr>
              <a:spcAft>
                <a:spcPts val="800"/>
              </a:spcAft>
              <a:defRPr sz="1400" b="0">
                <a:solidFill>
                  <a:srgbClr val="0F172A"/>
                </a:solidFill>
                <a:latin typeface="Segoe UI"/>
              </a:defRPr>
            </a:pPr>
            <a:r>
              <a:rPr sz="1400" b="0">
                <a:solidFill>
                  <a:srgbClr val="0F172A"/>
                </a:solidFill>
                <a:latin typeface="Segoe UI"/>
              </a:rPr>
              <a:t>• Saber que el costo computacional de GELU/Swish es mayor (sigmoid/erf internos) pero el beneficio supera en arquitecturas profundas.</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109 — Activaciones: ReLU, ELU, GELU, Swish, Mish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ReLU: max(0, x). Rápida, simple, default histórico. Dying ReLU.</a:t>
            </a:r>
          </a:p>
          <a:p>
            <a:pPr>
              <a:spcAft>
                <a:spcPts val="1000"/>
              </a:spcAft>
              <a:defRPr sz="1600" b="0">
                <a:solidFill>
                  <a:srgbClr val="0F172A"/>
                </a:solidFill>
                <a:latin typeface="Segoe UI"/>
              </a:defRPr>
            </a:pPr>
            <a:r>
              <a:rPr sz="1600" b="0">
                <a:solidFill>
                  <a:srgbClr val="0F172A"/>
                </a:solidFill>
                <a:latin typeface="Segoe UI"/>
              </a:rPr>
              <a:t>• Leaky ReLU: max(αx, x) con α≈0.01. Sin dying.</a:t>
            </a:r>
          </a:p>
          <a:p>
            <a:pPr>
              <a:spcAft>
                <a:spcPts val="1000"/>
              </a:spcAft>
              <a:defRPr sz="1600" b="0">
                <a:solidFill>
                  <a:srgbClr val="0F172A"/>
                </a:solidFill>
                <a:latin typeface="Segoe UI"/>
              </a:defRPr>
            </a:pPr>
            <a:r>
              <a:rPr sz="1600" b="0">
                <a:solidFill>
                  <a:srgbClr val="0F172A"/>
                </a:solidFill>
                <a:latin typeface="Segoe UI"/>
              </a:rPr>
              <a:t>• ELU (Clevert et al. 2015): x si x&gt;0, α(eˣ-1) si x&lt;0. Suave, sin dying, pero más cara.</a:t>
            </a:r>
          </a:p>
          <a:p>
            <a:pPr>
              <a:spcAft>
                <a:spcPts val="1000"/>
              </a:spcAft>
              <a:defRPr sz="1600" b="0">
                <a:solidFill>
                  <a:srgbClr val="0F172A"/>
                </a:solidFill>
                <a:latin typeface="Segoe UI"/>
              </a:defRPr>
            </a:pPr>
            <a:r>
              <a:rPr sz="1600" b="0">
                <a:solidFill>
                  <a:srgbClr val="0F172A"/>
                </a:solidFill>
                <a:latin typeface="Segoe UI"/>
              </a:rPr>
              <a:t>• GELU (Hendrycks &amp; Gimpel 2016): x · Φ(x) (Φ = CDF gaussiana). Suave, no monótona. Default en Transformers.</a:t>
            </a:r>
          </a:p>
          <a:p>
            <a:pPr>
              <a:spcAft>
                <a:spcPts val="1000"/>
              </a:spcAft>
              <a:defRPr sz="1600" b="0">
                <a:solidFill>
                  <a:srgbClr val="0F172A"/>
                </a:solidFill>
                <a:latin typeface="Segoe UI"/>
              </a:defRPr>
            </a:pPr>
            <a:r>
              <a:rPr sz="1600" b="0">
                <a:solidFill>
                  <a:srgbClr val="0F172A"/>
                </a:solidFill>
                <a:latin typeface="Segoe UI"/>
              </a:rPr>
              <a:t>• Swish / SiLU (Ramachandran et al. 2017): x · sigmoid(x). Encontrada por NAS. Casi idéntica a GELU.</a:t>
            </a:r>
          </a:p>
          <a:p>
            <a:pPr>
              <a:spcAft>
                <a:spcPts val="1000"/>
              </a:spcAft>
              <a:defRPr sz="1600" b="0">
                <a:solidFill>
                  <a:srgbClr val="0F172A"/>
                </a:solidFill>
                <a:latin typeface="Segoe UI"/>
              </a:defRPr>
            </a:pPr>
            <a:r>
              <a:rPr sz="1600" b="0">
                <a:solidFill>
                  <a:srgbClr val="0F172A"/>
                </a:solidFill>
                <a:latin typeface="Segoe UI"/>
              </a:rPr>
              <a:t>• Mish (Misra 2019): x · tanh(softplus(x)). Marginalmente mejor en algunos benchmarks.</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109 — Activaciones: ReLU, ELU, GELU, Swish, Mish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Keras 3 expone todas: relu, elu, gelu, silu (= swish), mish, más LeakyReLU como capa.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tf.linspace(-3.0, 3.0, 7)</a:t>
            </a:r>
          </a:p>
          <a:p>
            <a:pPr>
              <a:defRPr sz="1200" b="0">
                <a:solidFill>
                  <a:srgbClr val="F8FAFC"/>
                </a:solidFill>
                <a:latin typeface="Courier New"/>
              </a:defRPr>
            </a:pPr>
            <a:r>
              <a:rPr sz="1200" b="0">
                <a:solidFill>
                  <a:srgbClr val="F8FAFC"/>
                </a:solidFill>
                <a:latin typeface="Courier New"/>
              </a:rPr>
              <a:t>print("ReLU :", keras.activations.relu(x).numpy().round(3))</a:t>
            </a:r>
          </a:p>
          <a:p>
            <a:pPr>
              <a:defRPr sz="1200" b="0">
                <a:solidFill>
                  <a:srgbClr val="F8FAFC"/>
                </a:solidFill>
                <a:latin typeface="Courier New"/>
              </a:defRPr>
            </a:pPr>
            <a:r>
              <a:rPr sz="1200" b="0">
                <a:solidFill>
                  <a:srgbClr val="F8FAFC"/>
                </a:solidFill>
                <a:latin typeface="Courier New"/>
              </a:rPr>
              <a:t>print("ELU  :", keras.activations.elu(x).numpy().round(3))</a:t>
            </a:r>
          </a:p>
          <a:p>
            <a:pPr>
              <a:defRPr sz="1200" b="0">
                <a:solidFill>
                  <a:srgbClr val="F8FAFC"/>
                </a:solidFill>
                <a:latin typeface="Courier New"/>
              </a:defRPr>
            </a:pPr>
            <a:r>
              <a:rPr sz="1200" b="0">
                <a:solidFill>
                  <a:srgbClr val="F8FAFC"/>
                </a:solidFill>
                <a:latin typeface="Courier New"/>
              </a:rPr>
              <a:t>print("GELU :", keras.activations.gelu(x).numpy().round(3))</a:t>
            </a:r>
          </a:p>
          <a:p>
            <a:pPr>
              <a:defRPr sz="1200" b="0">
                <a:solidFill>
                  <a:srgbClr val="F8FAFC"/>
                </a:solidFill>
                <a:latin typeface="Courier New"/>
              </a:defRPr>
            </a:pPr>
            <a:r>
              <a:rPr sz="1200" b="0">
                <a:solidFill>
                  <a:srgbClr val="F8FAFC"/>
                </a:solidFill>
                <a:latin typeface="Courier New"/>
              </a:rPr>
              <a:t>print("SiLU :", keras.activations.silu(x).numpy().round(3))   # = Swish</a:t>
            </a:r>
          </a:p>
          <a:p>
            <a:pPr>
              <a:defRPr sz="1200" b="0">
                <a:solidFill>
                  <a:srgbClr val="F8FAFC"/>
                </a:solidFill>
                <a:latin typeface="Courier New"/>
              </a:defRPr>
            </a:pPr>
            <a:r>
              <a:rPr sz="1200" b="0">
                <a:solidFill>
                  <a:srgbClr val="F8FAFC"/>
                </a:solidFill>
                <a:latin typeface="Courier New"/>
              </a:rPr>
              <a:t>print("Mish :", keras.activations.mish(x).numpy().round(3))</a:t>
            </a:r>
          </a:p>
          <a:p>
            <a:pPr>
              <a:defRPr sz="1200" b="0">
                <a:solidFill>
                  <a:srgbClr val="F8FAFC"/>
                </a:solidFill>
                <a:latin typeface="Courier New"/>
              </a:defRPr>
            </a:pPr>
            <a:r>
              <a:rPr sz="1200" b="0">
                <a:solidFill>
                  <a:srgbClr val="F8FAFC"/>
                </a:solidFill>
                <a:latin typeface="Courier New"/>
              </a:rPr>
              <a:t>leaky = layers.LeakyReLU(negative_slope=0.1)                  # Keras 3: negative_slope</a:t>
            </a:r>
          </a:p>
          <a:p>
            <a:pPr>
              <a:defRPr sz="1200" b="0">
                <a:solidFill>
                  <a:srgbClr val="F8FAFC"/>
                </a:solidFill>
                <a:latin typeface="Courier New"/>
              </a:defRPr>
            </a:pPr>
            <a:r>
              <a:rPr sz="1200" b="0">
                <a:solidFill>
                  <a:srgbClr val="F8FAFC"/>
                </a:solidFill>
                <a:latin typeface="Courier New"/>
              </a:rPr>
              <a:t>print("Leaky:", leaky(x).numpy().round(3))</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109 — Activaciones: ReLU, ELU, GELU, Swish, Mish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Plot de funciones: graficar las 6 activaciones en x ∈ [-3, 3].</a:t>
            </a:r>
          </a:p>
          <a:p>
            <a:pPr>
              <a:spcAft>
                <a:spcPts val="800"/>
              </a:spcAft>
              <a:defRPr sz="1400" b="0">
                <a:solidFill>
                  <a:srgbClr val="0F172A"/>
                </a:solidFill>
                <a:latin typeface="Segoe UI"/>
              </a:defRPr>
            </a:pPr>
            <a:r>
              <a:rPr sz="1400" b="0">
                <a:solidFill>
                  <a:srgbClr val="0F172A"/>
                </a:solidFill>
                <a:latin typeface="Segoe UI"/>
              </a:rPr>
              <a:t>• Comparación empírica: entrenar MLP [256, 128, 64] con cada activación, mismo init He, mismo LR.</a:t>
            </a:r>
          </a:p>
          <a:p>
            <a:pPr>
              <a:spcAft>
                <a:spcPts val="800"/>
              </a:spcAft>
              <a:defRPr sz="1400" b="0">
                <a:solidFill>
                  <a:srgbClr val="0F172A"/>
                </a:solidFill>
                <a:latin typeface="Segoe UI"/>
              </a:defRPr>
            </a:pPr>
            <a:r>
              <a:rPr sz="1400" b="0">
                <a:solidFill>
                  <a:srgbClr val="0F172A"/>
                </a:solidFill>
                <a:latin typeface="Segoe UI"/>
              </a:rPr>
              <a:t>• Dying ReLU: con LR alto (0.1), entrenar con ReLU.</a:t>
            </a:r>
          </a:p>
          <a:p>
            <a:pPr>
              <a:spcAft>
                <a:spcPts val="800"/>
              </a:spcAft>
              <a:defRPr sz="1400" b="0">
                <a:solidFill>
                  <a:srgbClr val="0F172A"/>
                </a:solidFill>
                <a:latin typeface="Segoe UI"/>
              </a:defRPr>
            </a:pPr>
            <a:r>
              <a:rPr sz="1400" b="0">
                <a:solidFill>
                  <a:srgbClr val="0F172A"/>
                </a:solidFill>
                <a:latin typeface="Segoe UI"/>
              </a:rPr>
              <a:t>• Leaky ReLU al rescate: repetir con Leaky.</a:t>
            </a:r>
          </a:p>
          <a:p>
            <a:pPr>
              <a:spcAft>
                <a:spcPts val="800"/>
              </a:spcAft>
              <a:defRPr sz="1400" b="0">
                <a:solidFill>
                  <a:srgbClr val="0F172A"/>
                </a:solidFill>
                <a:latin typeface="Segoe UI"/>
              </a:defRPr>
            </a:pPr>
            <a:r>
              <a:rPr sz="1400" b="0">
                <a:solidFill>
                  <a:srgbClr val="0F172A"/>
                </a:solidFill>
                <a:latin typeface="Segoe UI"/>
              </a:rPr>
              <a:t>• GELU vs ReLU en profundidad: armar un MLP de 12 capas.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4 modelos con: ReLU, Leaky ReLU(α=0.1), ELU, GELU.</a:t>
            </a:r>
          </a:p>
          <a:p>
            <a:pPr>
              <a:spcAft>
                <a:spcPts val="800"/>
              </a:spcAft>
              <a:defRPr sz="1500" b="0">
                <a:solidFill>
                  <a:srgbClr val="0F172A"/>
                </a:solidFill>
                <a:latin typeface="Segoe UI"/>
              </a:defRPr>
            </a:pPr>
            <a:r>
              <a:rPr sz="1500" b="0">
                <a:solidFill>
                  <a:srgbClr val="0F172A"/>
                </a:solidFill>
                <a:latin typeface="Segoe UI"/>
              </a:rPr>
              <a:t>• Reportar val_accuracy y tiempo por época.</a:t>
            </a:r>
          </a:p>
          <a:p>
            <a:pPr>
              <a:spcAft>
                <a:spcPts val="800"/>
              </a:spcAft>
              <a:defRPr sz="1500" b="0">
                <a:solidFill>
                  <a:srgbClr val="0F172A"/>
                </a:solidFill>
                <a:latin typeface="Segoe UI"/>
              </a:defRPr>
            </a:pPr>
            <a:r>
              <a:rPr sz="1500" b="0">
                <a:solidFill>
                  <a:srgbClr val="0F172A"/>
                </a:solidFill>
                <a:latin typeface="Segoe UI"/>
              </a:rPr>
              <a:t>• Para el mejor, inspeccionar % de neuronas "muertas" por capa.</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110 — Batch Normalization, Layer Normalization</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110 — Batch Normalization, Layer Normalization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Batch Normalization.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BatchNorm (Ioffe &amp; Szegedy 2015) — la técnica que destrabó el entrenamiento de redes muy profundas estandarizando las activaciones en cada capa — y su variante LayerNorm (Ba, Kiros &amp; Hinton 2016) — usada en Transformers y RNN porque no depende del batch. Saber dónde poner BN en la arquitectura, qué problemas tiene (batch chico, distribución entre train/inference) y cuándo preferir LN.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BatchNormalization() antes o después de la activación (debate clásico — moderno: antes suele ser mejor para ReLU, después para GELU).</a:t>
            </a:r>
          </a:p>
          <a:p>
            <a:pPr>
              <a:spcAft>
                <a:spcPts val="800"/>
              </a:spcAft>
              <a:defRPr sz="1400" b="0">
                <a:solidFill>
                  <a:srgbClr val="0F172A"/>
                </a:solidFill>
                <a:latin typeface="Segoe UI"/>
              </a:defRPr>
            </a:pPr>
            <a:r>
              <a:rPr sz="1400" b="0">
                <a:solidFill>
                  <a:srgbClr val="0F172A"/>
                </a:solidFill>
                <a:latin typeface="Segoe UI"/>
              </a:rPr>
              <a:t>• Explicar qué hace BN en train (normaliza con stats del batch) vs inference (usa moving averages acumulados).</a:t>
            </a:r>
          </a:p>
          <a:p>
            <a:pPr>
              <a:spcAft>
                <a:spcPts val="800"/>
              </a:spcAft>
              <a:defRPr sz="1400" b="0">
                <a:solidFill>
                  <a:srgbClr val="0F172A"/>
                </a:solidFill>
                <a:latin typeface="Segoe UI"/>
              </a:defRPr>
            </a:pPr>
            <a:r>
              <a:rPr sz="1400" b="0">
                <a:solidFill>
                  <a:srgbClr val="0F172A"/>
                </a:solidFill>
                <a:latin typeface="Segoe UI"/>
              </a:rPr>
              <a:t>• Aplicar LayerNormalization() en RNN y Transformers; saber por qué allí BN falla.</a:t>
            </a:r>
          </a:p>
          <a:p>
            <a:pPr>
              <a:spcAft>
                <a:spcPts val="800"/>
              </a:spcAft>
              <a:defRPr sz="1400" b="0">
                <a:solidFill>
                  <a:srgbClr val="0F172A"/>
                </a:solidFill>
                <a:latin typeface="Segoe UI"/>
              </a:defRPr>
            </a:pPr>
            <a:r>
              <a:rPr sz="1400" b="0">
                <a:solidFill>
                  <a:srgbClr val="0F172A"/>
                </a:solidFill>
                <a:latin typeface="Segoe UI"/>
              </a:rPr>
              <a:t>• Reconocer las 3 variantes: BN, LN, GroupNorm (Wu &amp; He 2018, para batch chico en visión).</a:t>
            </a:r>
          </a:p>
          <a:p>
            <a:pPr>
              <a:spcAft>
                <a:spcPts val="800"/>
              </a:spcAft>
              <a:defRPr sz="1400" b="0">
                <a:solidFill>
                  <a:srgbClr val="0F172A"/>
                </a:solidFill>
                <a:latin typeface="Segoe UI"/>
              </a:defRPr>
            </a:pPr>
            <a:r>
              <a:rPr sz="1400" b="0">
                <a:solidFill>
                  <a:srgbClr val="0F172A"/>
                </a:solidFill>
                <a:latin typeface="Segoe UI"/>
              </a:rPr>
              <a:t>• Diagnosticar el problema de "train-test mismatch" cuando el batch en inference es muy distinto al de train.</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110 — Batch Normalization, Layer Normalization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BN: y = γ · (x - μ_batch)/σ_batch + β. γ, β trainables.</a:t>
            </a:r>
          </a:p>
          <a:p>
            <a:pPr>
              <a:spcAft>
                <a:spcPts val="1000"/>
              </a:spcAft>
              <a:defRPr sz="1600" b="0">
                <a:solidFill>
                  <a:srgbClr val="0F172A"/>
                </a:solidFill>
                <a:latin typeface="Segoe UI"/>
              </a:defRPr>
            </a:pPr>
            <a:r>
              <a:rPr sz="1600" b="0">
                <a:solidFill>
                  <a:srgbClr val="0F172A"/>
                </a:solidFill>
                <a:latin typeface="Segoe UI"/>
              </a:rPr>
              <a:t>• Beneficios: convergencia más rápida, regularización mild, permite LR más altos.</a:t>
            </a:r>
          </a:p>
          <a:p>
            <a:pPr>
              <a:spcAft>
                <a:spcPts val="1000"/>
              </a:spcAft>
              <a:defRPr sz="1600" b="0">
                <a:solidFill>
                  <a:srgbClr val="0F172A"/>
                </a:solidFill>
                <a:latin typeface="Segoe UI"/>
              </a:defRPr>
            </a:pPr>
            <a:r>
              <a:rPr sz="1600" b="0">
                <a:solidFill>
                  <a:srgbClr val="0F172A"/>
                </a:solidFill>
                <a:latin typeface="Segoe UI"/>
              </a:rPr>
              <a:t>• BN en train vs inference: moving avg de μ, σ acumulados.</a:t>
            </a:r>
          </a:p>
          <a:p>
            <a:pPr>
              <a:spcAft>
                <a:spcPts val="1000"/>
              </a:spcAft>
              <a:defRPr sz="1600" b="0">
                <a:solidFill>
                  <a:srgbClr val="0F172A"/>
                </a:solidFill>
                <a:latin typeface="Segoe UI"/>
              </a:defRPr>
            </a:pPr>
            <a:r>
              <a:rPr sz="1600" b="0">
                <a:solidFill>
                  <a:srgbClr val="0F172A"/>
                </a:solidFill>
                <a:latin typeface="Segoe UI"/>
              </a:rPr>
              <a:t>• LN: normaliza sobre los features de una sola muestra (no sobre el batch).</a:t>
            </a:r>
          </a:p>
          <a:p>
            <a:pPr>
              <a:spcAft>
                <a:spcPts val="1000"/>
              </a:spcAft>
              <a:defRPr sz="1600" b="0">
                <a:solidFill>
                  <a:srgbClr val="0F172A"/>
                </a:solidFill>
                <a:latin typeface="Segoe UI"/>
              </a:defRPr>
            </a:pPr>
            <a:r>
              <a:rPr sz="1600" b="0">
                <a:solidFill>
                  <a:srgbClr val="0F172A"/>
                </a:solidFill>
                <a:latin typeface="Segoe UI"/>
              </a:rPr>
              <a:t>• GroupNorm: agrupa canales, normaliza dentro de cada grupo. Para batch chico (segmentación, detección).</a:t>
            </a:r>
          </a:p>
          <a:p>
            <a:pPr>
              <a:spcAft>
                <a:spcPts val="1000"/>
              </a:spcAft>
              <a:defRPr sz="1600" b="0">
                <a:solidFill>
                  <a:srgbClr val="0F172A"/>
                </a:solidFill>
                <a:latin typeface="Segoe UI"/>
              </a:defRPr>
            </a:pPr>
            <a:r>
              <a:rPr sz="1600" b="0">
                <a:solidFill>
                  <a:srgbClr val="0F172A"/>
                </a:solidFill>
                <a:latin typeface="Segoe UI"/>
              </a:rPr>
              <a:t>• ¿Antes o después de la activación? Géron y la práctica moderna: antes funciona mejor con ReLU, después con GELU/Swish.</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110 — Batch Normalization, Layer Normalization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Debate clásico: antes suele funcionar mejor con ReLU, después con GELU/Swish. Con BN se usa use_bias=False en el Dense previo.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bn_antes():</a:t>
            </a:r>
          </a:p>
          <a:p>
            <a:pPr>
              <a:defRPr sz="1200" b="0">
                <a:solidFill>
                  <a:srgbClr val="F8FAFC"/>
                </a:solidFill>
                <a:latin typeface="Courier New"/>
              </a:defRPr>
            </a:pPr>
            <a:r>
              <a:rPr sz="1200" b="0">
                <a:solidFill>
                  <a:srgbClr val="F8FAFC"/>
                </a:solidFill>
                <a:latin typeface="Courier New"/>
              </a:rPr>
              <a:t>    return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layers.Dense(256, use_bias=False, kernel_initializer="he_normal"),</a:t>
            </a:r>
          </a:p>
          <a:p>
            <a:pPr>
              <a:defRPr sz="1200" b="0">
                <a:solidFill>
                  <a:srgbClr val="F8FAFC"/>
                </a:solidFill>
                <a:latin typeface="Courier New"/>
              </a:defRPr>
            </a:pPr>
            <a:r>
              <a:rPr sz="1200" b="0">
                <a:solidFill>
                  <a:srgbClr val="F8FAFC"/>
                </a:solidFill>
                <a:latin typeface="Courier New"/>
              </a:rPr>
              <a:t>        layers.BatchNormalization(),</a:t>
            </a:r>
          </a:p>
          <a:p>
            <a:pPr>
              <a:defRPr sz="1200" b="0">
                <a:solidFill>
                  <a:srgbClr val="F8FAFC"/>
                </a:solidFill>
                <a:latin typeface="Courier New"/>
              </a:defRPr>
            </a:pPr>
            <a:r>
              <a:rPr sz="1200" b="0">
                <a:solidFill>
                  <a:srgbClr val="F8FAFC"/>
                </a:solidFill>
                <a:latin typeface="Courier New"/>
              </a:rPr>
              <a:t>        layers.Activation("relu"),</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bn_despues():</a:t>
            </a:r>
          </a:p>
          <a:p>
            <a:pPr>
              <a:defRPr sz="1200" b="0">
                <a:solidFill>
                  <a:srgbClr val="F8FAFC"/>
                </a:solidFill>
                <a:latin typeface="Courier New"/>
              </a:defRPr>
            </a:pPr>
            <a:r>
              <a:rPr sz="1200" b="0">
                <a:solidFill>
                  <a:srgbClr val="F8FAFC"/>
                </a:solidFill>
                <a:latin typeface="Courier New"/>
              </a:rPr>
              <a:t>    return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layers.Dense(256, activation="relu", kernel_initializer="he_normal"),</a:t>
            </a:r>
          </a:p>
          <a:p>
            <a:pPr>
              <a:defRPr sz="1200" b="0">
                <a:solidFill>
                  <a:srgbClr val="F8FAFC"/>
                </a:solidFill>
                <a:latin typeface="Courier New"/>
              </a:defRPr>
            </a:pPr>
            <a:r>
              <a:rPr sz="1200" b="0">
                <a:solidFill>
                  <a:srgbClr val="F8FAFC"/>
                </a:solidFill>
                <a:latin typeface="Courier New"/>
              </a:rPr>
              <a:t>        layers.BatchNormalization(),</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110 — Batch Normalization, Layer Normalization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BN vs sin BN: entrenar el mismo MLP con y sin BN.</a:t>
            </a:r>
          </a:p>
          <a:p>
            <a:pPr>
              <a:spcAft>
                <a:spcPts val="800"/>
              </a:spcAft>
              <a:defRPr sz="1400" b="0">
                <a:solidFill>
                  <a:srgbClr val="0F172A"/>
                </a:solidFill>
                <a:latin typeface="Segoe UI"/>
              </a:defRPr>
            </a:pPr>
            <a:r>
              <a:rPr sz="1400" b="0">
                <a:solidFill>
                  <a:srgbClr val="0F172A"/>
                </a:solidFill>
                <a:latin typeface="Segoe UI"/>
              </a:rPr>
              <a:t>• ¿Antes o después de la activación?: probar las dos variantes (Dense → BN → ReLU vs Dense → ReLU → BN).</a:t>
            </a:r>
          </a:p>
          <a:p>
            <a:pPr>
              <a:spcAft>
                <a:spcPts val="800"/>
              </a:spcAft>
              <a:defRPr sz="1400" b="0">
                <a:solidFill>
                  <a:srgbClr val="0F172A"/>
                </a:solidFill>
                <a:latin typeface="Segoe UI"/>
              </a:defRPr>
            </a:pPr>
            <a:r>
              <a:rPr sz="1400" b="0">
                <a:solidFill>
                  <a:srgbClr val="0F172A"/>
                </a:solidFill>
                <a:latin typeface="Segoe UI"/>
              </a:rPr>
              <a:t>• Inference mode: entrenar con BN, cambiar a training=False, predecir un batch y comparar con training=True.</a:t>
            </a:r>
          </a:p>
          <a:p>
            <a:pPr>
              <a:spcAft>
                <a:spcPts val="800"/>
              </a:spcAft>
              <a:defRPr sz="1400" b="0">
                <a:solidFill>
                  <a:srgbClr val="0F172A"/>
                </a:solidFill>
                <a:latin typeface="Segoe UI"/>
              </a:defRPr>
            </a:pPr>
            <a:r>
              <a:rPr sz="1400" b="0">
                <a:solidFill>
                  <a:srgbClr val="0F172A"/>
                </a:solidFill>
                <a:latin typeface="Segoe UI"/>
              </a:rPr>
              <a:t>• Batch chico: forzar batch_size=4 y entrenar con BN.</a:t>
            </a:r>
          </a:p>
          <a:p>
            <a:pPr>
              <a:spcAft>
                <a:spcPts val="800"/>
              </a:spcAft>
              <a:defRPr sz="1400" b="0">
                <a:solidFill>
                  <a:srgbClr val="0F172A"/>
                </a:solidFill>
                <a:latin typeface="Segoe UI"/>
              </a:defRPr>
            </a:pPr>
            <a:r>
              <a:rPr sz="1400" b="0">
                <a:solidFill>
                  <a:srgbClr val="0F172A"/>
                </a:solidFill>
                <a:latin typeface="Segoe UI"/>
              </a:rPr>
              <a:t>• LayerNorm en RNN: aplicar keras.layers.LSTM con recurrent_activation y un LayerNormalization previo.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3 versiones: sin norm, con BN, con LN.</a:t>
            </a:r>
          </a:p>
          <a:p>
            <a:pPr>
              <a:spcAft>
                <a:spcPts val="800"/>
              </a:spcAft>
              <a:defRPr sz="1500" b="0">
                <a:solidFill>
                  <a:srgbClr val="0F172A"/>
                </a:solidFill>
                <a:latin typeface="Segoe UI"/>
              </a:defRPr>
            </a:pPr>
            <a:r>
              <a:rPr sz="1500" b="0">
                <a:solidFill>
                  <a:srgbClr val="0F172A"/>
                </a:solidFill>
                <a:latin typeface="Segoe UI"/>
              </a:rPr>
              <a:t>• Reportar val_accuracy + épocas hasta val_loss &lt; 0.4.</a:t>
            </a:r>
          </a:p>
          <a:p>
            <a:pPr>
              <a:spcAft>
                <a:spcPts val="800"/>
              </a:spcAft>
              <a:defRPr sz="1500" b="0">
                <a:solidFill>
                  <a:srgbClr val="0F172A"/>
                </a:solidFill>
                <a:latin typeface="Segoe UI"/>
              </a:defRPr>
            </a:pPr>
            <a:r>
              <a:rPr sz="1500" b="0">
                <a:solidFill>
                  <a:srgbClr val="0F172A"/>
                </a:solidFill>
                <a:latin typeface="Segoe UI"/>
              </a:rPr>
              <a:t>• Entrenar BN con batch_size=128 y luego inferir batch por batch de tamaño 1. Verificar que el accuracy no se rompe (gracias a moving averages).</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111 — Gradient clipping</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111 — Gradient clipping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Gradient Clipping + Pascanu, Mikolov &amp; Bengio (2013).  Duración estimada: 45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gradient clipping —limitar la norma o el valor de los gradientes antes de actualizar pesos— como protección contra exploding gradients, especialmente crítico en RNN/LSTM (clase 120) y en entrenamiento de LLMs. Diferenciar clipnorm (preserva dirección) de clipvalue (clipea por elemento).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Configurar clipping en cualquier optimizer Keras: Adam(clipnorm=1.0) o Adam(clipvalue=0.5).</a:t>
            </a:r>
          </a:p>
          <a:p>
            <a:pPr>
              <a:spcAft>
                <a:spcPts val="800"/>
              </a:spcAft>
              <a:defRPr sz="1400" b="0">
                <a:solidFill>
                  <a:srgbClr val="0F172A"/>
                </a:solidFill>
                <a:latin typeface="Segoe UI"/>
              </a:defRPr>
            </a:pPr>
            <a:r>
              <a:rPr sz="1400" b="0">
                <a:solidFill>
                  <a:srgbClr val="0F172A"/>
                </a:solidFill>
                <a:latin typeface="Segoe UI"/>
              </a:rPr>
              <a:t>• Saber cuándo clipnorm es preferible (default moderno): preserva dirección del gradiente.</a:t>
            </a:r>
          </a:p>
          <a:p>
            <a:pPr>
              <a:spcAft>
                <a:spcPts val="800"/>
              </a:spcAft>
              <a:defRPr sz="1400" b="0">
                <a:solidFill>
                  <a:srgbClr val="0F172A"/>
                </a:solidFill>
                <a:latin typeface="Segoe UI"/>
              </a:defRPr>
            </a:pPr>
            <a:r>
              <a:rPr sz="1400" b="0">
                <a:solidFill>
                  <a:srgbClr val="0F172A"/>
                </a:solidFill>
                <a:latin typeface="Segoe UI"/>
              </a:rPr>
              <a:t>• Implementar clipping manual en custom training loop con tf.clip_by_global_norm.</a:t>
            </a:r>
          </a:p>
          <a:p>
            <a:pPr>
              <a:spcAft>
                <a:spcPts val="800"/>
              </a:spcAft>
              <a:defRPr sz="1400" b="0">
                <a:solidFill>
                  <a:srgbClr val="0F172A"/>
                </a:solidFill>
                <a:latin typeface="Segoe UI"/>
              </a:defRPr>
            </a:pPr>
            <a:r>
              <a:rPr sz="1400" b="0">
                <a:solidFill>
                  <a:srgbClr val="0F172A"/>
                </a:solidFill>
                <a:latin typeface="Segoe UI"/>
              </a:rPr>
              <a:t>• Detectar exploding monitoreando la norma del gradiente.</a:t>
            </a:r>
          </a:p>
          <a:p>
            <a:pPr>
              <a:spcAft>
                <a:spcPts val="800"/>
              </a:spcAft>
              <a:defRPr sz="1400" b="0">
                <a:solidFill>
                  <a:srgbClr val="0F172A"/>
                </a:solidFill>
                <a:latin typeface="Segoe UI"/>
              </a:defRPr>
            </a:pPr>
            <a:r>
              <a:rPr sz="1400" b="0">
                <a:solidFill>
                  <a:srgbClr val="0F172A"/>
                </a:solidFill>
                <a:latin typeface="Segoe UI"/>
              </a:rPr>
              <a:t>• Reconocer que en Transformers de LLM, clipnorm=1.0 es estándar.</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111 — Gradient clipping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Exploding revisitado: ¿qué pasa cuando ||grad|| crece exponencialmente?</a:t>
            </a:r>
          </a:p>
          <a:p>
            <a:pPr>
              <a:spcAft>
                <a:spcPts val="1000"/>
              </a:spcAft>
              <a:defRPr sz="1800" b="0">
                <a:solidFill>
                  <a:srgbClr val="0F172A"/>
                </a:solidFill>
                <a:latin typeface="Segoe UI"/>
              </a:defRPr>
            </a:pPr>
            <a:r>
              <a:rPr sz="1800" b="0">
                <a:solidFill>
                  <a:srgbClr val="0F172A"/>
                </a:solidFill>
                <a:latin typeface="Segoe UI"/>
              </a:rPr>
              <a:t>• clipnorm: si ||g|| &gt; c, escalar g ← g · c/||g||. Preserva dirección.</a:t>
            </a:r>
          </a:p>
          <a:p>
            <a:pPr>
              <a:spcAft>
                <a:spcPts val="1000"/>
              </a:spcAft>
              <a:defRPr sz="1800" b="0">
                <a:solidFill>
                  <a:srgbClr val="0F172A"/>
                </a:solidFill>
                <a:latin typeface="Segoe UI"/>
              </a:defRPr>
            </a:pPr>
            <a:r>
              <a:rPr sz="1800" b="0">
                <a:solidFill>
                  <a:srgbClr val="0F172A"/>
                </a:solidFill>
                <a:latin typeface="Segoe UI"/>
              </a:rPr>
              <a:t>• clipvalue: g_i ← clip(g_i, -c, +c) por elemento. Cambia dirección.</a:t>
            </a:r>
          </a:p>
          <a:p>
            <a:pPr>
              <a:spcAft>
                <a:spcPts val="1000"/>
              </a:spcAft>
              <a:defRPr sz="1800" b="0">
                <a:solidFill>
                  <a:srgbClr val="0F172A"/>
                </a:solidFill>
                <a:latin typeface="Segoe UI"/>
              </a:defRPr>
            </a:pPr>
            <a:r>
              <a:rPr sz="1800" b="0">
                <a:solidFill>
                  <a:srgbClr val="0F172A"/>
                </a:solidFill>
                <a:latin typeface="Segoe UI"/>
              </a:rPr>
              <a:t>• Global norm vs per-variable: clip_by_global_norm mira el norm del tensor concatenado de todos los pesos.</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111 — Gradient clipping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Cualquier optimizer Keras acepta clipnorm, clipvalue o global_clipnorm.</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opt_norm   = keras.optimizers.Adam(learning_rate=1e-3, clipnorm=1.0)</a:t>
            </a:r>
          </a:p>
          <a:p>
            <a:pPr>
              <a:defRPr sz="1200" b="0">
                <a:solidFill>
                  <a:srgbClr val="F8FAFC"/>
                </a:solidFill>
                <a:latin typeface="Courier New"/>
              </a:defRPr>
            </a:pPr>
            <a:r>
              <a:rPr sz="1200" b="0">
                <a:solidFill>
                  <a:srgbClr val="F8FAFC"/>
                </a:solidFill>
                <a:latin typeface="Courier New"/>
              </a:rPr>
              <a:t>opt_value  = keras.optimizers.Adam(learning_rate=1e-3, clipvalue=0.5)</a:t>
            </a:r>
          </a:p>
          <a:p>
            <a:pPr>
              <a:defRPr sz="1200" b="0">
                <a:solidFill>
                  <a:srgbClr val="F8FAFC"/>
                </a:solidFill>
                <a:latin typeface="Courier New"/>
              </a:defRPr>
            </a:pPr>
            <a:r>
              <a:rPr sz="1200" b="0">
                <a:solidFill>
                  <a:srgbClr val="F8FAFC"/>
                </a:solidFill>
                <a:latin typeface="Courier New"/>
              </a:rPr>
              <a:t>opt_global = keras.optimizers.Adam(learning_rate=1e-3, global_clipnorm=1.0)</a:t>
            </a:r>
          </a:p>
          <a:p>
            <a:pPr>
              <a:defRPr sz="1200" b="0">
                <a:solidFill>
                  <a:srgbClr val="F8FAFC"/>
                </a:solidFill>
                <a:latin typeface="Courier New"/>
              </a:defRPr>
            </a:pPr>
            <a:r>
              <a:rPr sz="1200" b="0">
                <a:solidFill>
                  <a:srgbClr val="F8FAFC"/>
                </a:solidFill>
                <a:latin typeface="Courier New"/>
              </a:rPr>
              <a:t>print("clipnorm:", opt_norm.clipnorm,</a:t>
            </a:r>
          </a:p>
          <a:p>
            <a:pPr>
              <a:defRPr sz="1200" b="0">
                <a:solidFill>
                  <a:srgbClr val="F8FAFC"/>
                </a:solidFill>
                <a:latin typeface="Courier New"/>
              </a:defRPr>
            </a:pPr>
            <a:r>
              <a:rPr sz="1200" b="0">
                <a:solidFill>
                  <a:srgbClr val="F8FAFC"/>
                </a:solidFill>
                <a:latin typeface="Courier New"/>
              </a:rPr>
              <a:t>      "| clipvalue:", opt_value.clipvalue,</a:t>
            </a:r>
          </a:p>
          <a:p>
            <a:pPr>
              <a:defRPr sz="1200" b="0">
                <a:solidFill>
                  <a:srgbClr val="F8FAFC"/>
                </a:solidFill>
                <a:latin typeface="Courier New"/>
              </a:defRPr>
            </a:pPr>
            <a:r>
              <a:rPr sz="1200" b="0">
                <a:solidFill>
                  <a:srgbClr val="F8FAFC"/>
                </a:solidFill>
                <a:latin typeface="Courier New"/>
              </a:rPr>
              <a:t>      "| global_clipnorm:", opt_global.global_clipnorm)</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111 — Gradient clipping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Forzar exploding: entrenar MLP con Adam(lr=10.0) sobre Fashion-MNIST.</a:t>
            </a:r>
          </a:p>
          <a:p>
            <a:pPr>
              <a:spcAft>
                <a:spcPts val="800"/>
              </a:spcAft>
              <a:defRPr sz="1400" b="0">
                <a:solidFill>
                  <a:srgbClr val="0F172A"/>
                </a:solidFill>
                <a:latin typeface="Segoe UI"/>
              </a:defRPr>
            </a:pPr>
            <a:r>
              <a:rPr sz="1400" b="0">
                <a:solidFill>
                  <a:srgbClr val="0F172A"/>
                </a:solidFill>
                <a:latin typeface="Segoe UI"/>
              </a:rPr>
              <a:t>• Clipping al rescate: repetir con Adam(lr=10.0, clipnorm=1.0).</a:t>
            </a:r>
          </a:p>
          <a:p>
            <a:pPr>
              <a:spcAft>
                <a:spcPts val="800"/>
              </a:spcAft>
              <a:defRPr sz="1400" b="0">
                <a:solidFill>
                  <a:srgbClr val="0F172A"/>
                </a:solidFill>
                <a:latin typeface="Segoe UI"/>
              </a:defRPr>
            </a:pPr>
            <a:r>
              <a:rPr sz="1400" b="0">
                <a:solidFill>
                  <a:srgbClr val="0F172A"/>
                </a:solidFill>
                <a:latin typeface="Segoe UI"/>
              </a:rPr>
              <a:t>• clipnorm vs clipvalue: comparar las dos con LR razonable.</a:t>
            </a:r>
          </a:p>
          <a:p>
            <a:pPr>
              <a:spcAft>
                <a:spcPts val="800"/>
              </a:spcAft>
              <a:defRPr sz="1400" b="0">
                <a:solidFill>
                  <a:srgbClr val="0F172A"/>
                </a:solidFill>
                <a:latin typeface="Segoe UI"/>
              </a:defRPr>
            </a:pPr>
            <a:r>
              <a:rPr sz="1400" b="0">
                <a:solidFill>
                  <a:srgbClr val="0F172A"/>
                </a:solidFill>
                <a:latin typeface="Segoe UI"/>
              </a:rPr>
              <a:t>• Custom loop: implementar el paso con gradients = tape.gradient(loss, model.trainable_variables); gradients, _ = tf.clip_by_global_norm(gradients, 1.0); optimizer.apply_gradients(...).</a:t>
            </a:r>
          </a:p>
          <a:p>
            <a:pPr>
              <a:spcAft>
                <a:spcPts val="800"/>
              </a:spcAft>
              <a:defRPr sz="1400" b="0">
                <a:solidFill>
                  <a:srgbClr val="0F172A"/>
                </a:solidFill>
                <a:latin typeface="Segoe UI"/>
              </a:defRPr>
            </a:pPr>
            <a:r>
              <a:rPr sz="1400" b="0">
                <a:solidFill>
                  <a:srgbClr val="0F172A"/>
                </a:solidFill>
                <a:latin typeface="Segoe UI"/>
              </a:rPr>
              <a:t>• Monitoreo: graficar ||grad|| por step.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MLP [300, 100] Fashion-MNIST.</a:t>
            </a:r>
          </a:p>
          <a:p>
            <a:pPr>
              <a:spcAft>
                <a:spcPts val="800"/>
              </a:spcAft>
              <a:defRPr sz="1500" b="0">
                <a:solidFill>
                  <a:srgbClr val="0F172A"/>
                </a:solidFill>
                <a:latin typeface="Segoe UI"/>
              </a:defRPr>
            </a:pPr>
            <a:r>
              <a:rPr sz="1500" b="0">
                <a:solidFill>
                  <a:srgbClr val="0F172A"/>
                </a:solidFill>
                <a:latin typeface="Segoe UI"/>
              </a:rPr>
              <a:t>• Adam(learning_rate=1e-3, clipnorm=1.0).</a:t>
            </a:r>
          </a:p>
          <a:p>
            <a:pPr>
              <a:spcAft>
                <a:spcPts val="800"/>
              </a:spcAft>
              <a:defRPr sz="1500" b="0">
                <a:solidFill>
                  <a:srgbClr val="0F172A"/>
                </a:solidFill>
                <a:latin typeface="Segoe UI"/>
              </a:defRPr>
            </a:pPr>
            <a:r>
              <a:rPr sz="1500" b="0">
                <a:solidFill>
                  <a:srgbClr val="0F172A"/>
                </a:solidFill>
                <a:latin typeface="Segoe UI"/>
              </a:rPr>
              <a:t>• Graficar la norma del gradiente en cada step (custom loop o callback).</a:t>
            </a:r>
          </a:p>
          <a:p>
            <a:pPr>
              <a:spcAft>
                <a:spcPts val="800"/>
              </a:spcAft>
              <a:defRPr sz="1500" b="0">
                <a:solidFill>
                  <a:srgbClr val="0F172A"/>
                </a:solidFill>
                <a:latin typeface="Segoe UI"/>
              </a:defRPr>
            </a:pPr>
            <a:r>
              <a:rPr sz="1500" b="0">
                <a:solidFill>
                  <a:srgbClr val="0F172A"/>
                </a:solidFill>
                <a:latin typeface="Segoe UI"/>
              </a:rPr>
              <a:t>• Verificar que la curva está acotada a 1.0 cuando el modelo aún no convergió.</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112 — Transfer learning, unsupervised pretraining</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112 — Transfer learning, unsupervised pretraining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Reusing Pretrained Layers.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transfer learning — el patrón dominante en producción cuando hay pocos datos: tomar un modelo preentrenado (ImageNet para visión, BERT/GPT para texto), reemplazar la cabeza, congelar las capas base, fine-tunear la cabeza, y opcionalmente descongelar gradualmente para una segunda fase con LR muy bajo. Conocer unsupervised pretraining como hermano histórico (autoencoders, contrastive learning).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un modelo preentrenado: keras.applications.MobileNetV3Small(weights='imagenet', include_top=False).</a:t>
            </a:r>
          </a:p>
          <a:p>
            <a:pPr>
              <a:spcAft>
                <a:spcPts val="800"/>
              </a:spcAft>
              <a:defRPr sz="1400" b="0">
                <a:solidFill>
                  <a:srgbClr val="0F172A"/>
                </a:solidFill>
                <a:latin typeface="Segoe UI"/>
              </a:defRPr>
            </a:pPr>
            <a:r>
              <a:rPr sz="1400" b="0">
                <a:solidFill>
                  <a:srgbClr val="0F172A"/>
                </a:solidFill>
                <a:latin typeface="Segoe UI"/>
              </a:rPr>
              <a:t>• Congelar capas: base.trainable = False.</a:t>
            </a:r>
          </a:p>
          <a:p>
            <a:pPr>
              <a:spcAft>
                <a:spcPts val="800"/>
              </a:spcAft>
              <a:defRPr sz="1400" b="0">
                <a:solidFill>
                  <a:srgbClr val="0F172A"/>
                </a:solidFill>
                <a:latin typeface="Segoe UI"/>
              </a:defRPr>
            </a:pPr>
            <a:r>
              <a:rPr sz="1400" b="0">
                <a:solidFill>
                  <a:srgbClr val="0F172A"/>
                </a:solidFill>
                <a:latin typeface="Segoe UI"/>
              </a:rPr>
              <a:t>• Construir un modelo nuevo con la base + un head custom (GlobalAveragePooling2D + Dense).</a:t>
            </a:r>
          </a:p>
          <a:p>
            <a:pPr>
              <a:spcAft>
                <a:spcPts val="800"/>
              </a:spcAft>
              <a:defRPr sz="1400" b="0">
                <a:solidFill>
                  <a:srgbClr val="0F172A"/>
                </a:solidFill>
                <a:latin typeface="Segoe UI"/>
              </a:defRPr>
            </a:pPr>
            <a:r>
              <a:rPr sz="1400" b="0">
                <a:solidFill>
                  <a:srgbClr val="0F172A"/>
                </a:solidFill>
                <a:latin typeface="Segoe UI"/>
              </a:rPr>
              <a:t>• Fine-tunear en dos etapas: (a) solo head con LR normal, (b) toda la red con LR 10× más bajo.</a:t>
            </a:r>
          </a:p>
          <a:p>
            <a:pPr>
              <a:spcAft>
                <a:spcPts val="800"/>
              </a:spcAft>
              <a:defRPr sz="1400" b="0">
                <a:solidFill>
                  <a:srgbClr val="0F172A"/>
                </a:solidFill>
                <a:latin typeface="Segoe UI"/>
              </a:defRPr>
            </a:pPr>
            <a:r>
              <a:rPr sz="1400" b="0">
                <a:solidFill>
                  <a:srgbClr val="0F172A"/>
                </a:solidFill>
                <a:latin typeface="Segoe UI"/>
              </a:rPr>
              <a:t>• Reconocer cuándo NO usar transfer (dataset muy distinto al de origen).</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112 — Transfer learning, unsupervised pretraining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funciona: las capas tempranas aprenden features generales (bordes, texturas); las tardías son task-specific.</a:t>
            </a:r>
          </a:p>
          <a:p>
            <a:pPr>
              <a:spcAft>
                <a:spcPts val="1000"/>
              </a:spcAft>
              <a:defRPr sz="1600" b="0">
                <a:solidFill>
                  <a:srgbClr val="0F172A"/>
                </a:solidFill>
                <a:latin typeface="Segoe UI"/>
              </a:defRPr>
            </a:pPr>
            <a:r>
              <a:rPr sz="1600" b="0">
                <a:solidFill>
                  <a:srgbClr val="0F172A"/>
                </a:solidFill>
                <a:latin typeface="Segoe UI"/>
              </a:rPr>
              <a:t>• Pipeline estándar: load → freeze → new head → fit → unfreeze → fit con LR bajo.</a:t>
            </a:r>
          </a:p>
          <a:p>
            <a:pPr>
              <a:spcAft>
                <a:spcPts val="1000"/>
              </a:spcAft>
              <a:defRPr sz="1600" b="0">
                <a:solidFill>
                  <a:srgbClr val="0F172A"/>
                </a:solidFill>
                <a:latin typeface="Segoe UI"/>
              </a:defRPr>
            </a:pPr>
            <a:r>
              <a:rPr sz="1600" b="0">
                <a:solidFill>
                  <a:srgbClr val="0F172A"/>
                </a:solidFill>
                <a:latin typeface="Segoe UI"/>
              </a:rPr>
              <a:t>• LR diferencial: capas tempranas más bajo (1e-5), capas tardías más alto (1e-3).</a:t>
            </a:r>
          </a:p>
          <a:p>
            <a:pPr>
              <a:spcAft>
                <a:spcPts val="1000"/>
              </a:spcAft>
              <a:defRPr sz="1600" b="0">
                <a:solidFill>
                  <a:srgbClr val="0F172A"/>
                </a:solidFill>
                <a:latin typeface="Segoe UI"/>
              </a:defRPr>
            </a:pPr>
            <a:r>
              <a:rPr sz="1600" b="0">
                <a:solidFill>
                  <a:srgbClr val="0F172A"/>
                </a:solidFill>
                <a:latin typeface="Segoe UI"/>
              </a:rPr>
              <a:t>• Unsupervised pretraining: autoencoders (clase 130), contrastive (SimCLR, MoCo, CLIP).</a:t>
            </a:r>
          </a:p>
          <a:p>
            <a:pPr>
              <a:spcAft>
                <a:spcPts val="1000"/>
              </a:spcAft>
              <a:defRPr sz="1600" b="0">
                <a:solidFill>
                  <a:srgbClr val="0F172A"/>
                </a:solidFill>
                <a:latin typeface="Segoe UI"/>
              </a:defRPr>
            </a:pPr>
            <a:r>
              <a:rPr sz="1600" b="0">
                <a:solidFill>
                  <a:srgbClr val="0F172A"/>
                </a:solidFill>
                <a:latin typeface="Segoe UI"/>
              </a:rPr>
              <a:t>• Self-supervised: cómo BERT/GPT se pre-entrenan sin labels (masked LM / autoregressive).</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112 — Transfer learning, unsupervised pretraining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include_top=False descarta la cabeza de clasificación de ImageNet; trainable=False la congela.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base = keras.applications.MobileNetV3Small(</a:t>
            </a:r>
          </a:p>
          <a:p>
            <a:pPr>
              <a:defRPr sz="1200" b="0">
                <a:solidFill>
                  <a:srgbClr val="F8FAFC"/>
                </a:solidFill>
                <a:latin typeface="Courier New"/>
              </a:defRPr>
            </a:pPr>
            <a:r>
              <a:rPr sz="1200" b="0">
                <a:solidFill>
                  <a:srgbClr val="F8FAFC"/>
                </a:solidFill>
                <a:latin typeface="Courier New"/>
              </a:rPr>
              <a:t>    weights="imagenet", include_top=False, input_shape=(224, 224, 3))</a:t>
            </a:r>
          </a:p>
          <a:p>
            <a:pPr>
              <a:defRPr sz="1200" b="0">
                <a:solidFill>
                  <a:srgbClr val="F8FAFC"/>
                </a:solidFill>
                <a:latin typeface="Courier New"/>
              </a:defRPr>
            </a:pPr>
            <a:r>
              <a:rPr sz="1200" b="0">
                <a:solidFill>
                  <a:srgbClr val="F8FAFC"/>
                </a:solidFill>
                <a:latin typeface="Courier New"/>
              </a:rPr>
              <a:t>base.trainable = False</a:t>
            </a:r>
          </a:p>
          <a:p>
            <a:pPr>
              <a:defRPr sz="1200" b="0">
                <a:solidFill>
                  <a:srgbClr val="F8FAFC"/>
                </a:solidFill>
                <a:latin typeface="Courier New"/>
              </a:defRPr>
            </a:pPr>
            <a:r>
              <a:rPr sz="1200" b="0">
                <a:solidFill>
                  <a:srgbClr val="F8FAFC"/>
                </a:solidFill>
                <a:latin typeface="Courier New"/>
              </a:rPr>
              <a:t>print("capas de la base:", len(base.layers), "| base.trainable:", base.trainable)</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112 — Transfer learning, unsupervised pretraining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 base = MobileNetV3Small(weights='imagenet', include_top=False, input_shape=(224,224,3)); base.trainable = False.</a:t>
            </a:r>
          </a:p>
          <a:p>
            <a:pPr>
              <a:spcAft>
                <a:spcPts val="800"/>
              </a:spcAft>
              <a:defRPr sz="1400" b="0">
                <a:solidFill>
                  <a:srgbClr val="0F172A"/>
                </a:solidFill>
                <a:latin typeface="Segoe UI"/>
              </a:defRPr>
            </a:pPr>
            <a:r>
              <a:rPr sz="1400" b="0">
                <a:solidFill>
                  <a:srgbClr val="0F172A"/>
                </a:solidFill>
                <a:latin typeface="Segoe UI"/>
              </a:rPr>
              <a:t>• Modelo completo: model = Sequential([base, GlobalAveragePooling2D(), Dropout(0.2), Dense(num_classes, activation='softmax')]).</a:t>
            </a:r>
          </a:p>
          <a:p>
            <a:pPr>
              <a:spcAft>
                <a:spcPts val="800"/>
              </a:spcAft>
              <a:defRPr sz="1400" b="0">
                <a:solidFill>
                  <a:srgbClr val="0F172A"/>
                </a:solidFill>
                <a:latin typeface="Segoe UI"/>
              </a:defRPr>
            </a:pPr>
            <a:r>
              <a:rPr sz="1400" b="0">
                <a:solidFill>
                  <a:srgbClr val="0F172A"/>
                </a:solidFill>
                <a:latin typeface="Segoe UI"/>
              </a:rPr>
              <a:t>• Etapa 1: compilar con Adam(1e-3) y entrenar 10 épocas.</a:t>
            </a:r>
          </a:p>
          <a:p>
            <a:pPr>
              <a:spcAft>
                <a:spcPts val="800"/>
              </a:spcAft>
              <a:defRPr sz="1400" b="0">
                <a:solidFill>
                  <a:srgbClr val="0F172A"/>
                </a:solidFill>
                <a:latin typeface="Segoe UI"/>
              </a:defRPr>
            </a:pPr>
            <a:r>
              <a:rPr sz="1400" b="0">
                <a:solidFill>
                  <a:srgbClr val="0F172A"/>
                </a:solidFill>
                <a:latin typeface="Segoe UI"/>
              </a:rPr>
              <a:t>• Etapa 2: base.trainable = True y recompilar con Adam(1e-5).</a:t>
            </a:r>
          </a:p>
          <a:p>
            <a:pPr>
              <a:spcAft>
                <a:spcPts val="800"/>
              </a:spcAft>
              <a:defRPr sz="1400" b="0">
                <a:solidFill>
                  <a:srgbClr val="0F172A"/>
                </a:solidFill>
                <a:latin typeface="Segoe UI"/>
              </a:defRPr>
            </a:pPr>
            <a:r>
              <a:rPr sz="1400" b="0">
                <a:solidFill>
                  <a:srgbClr val="0F172A"/>
                </a:solidFill>
                <a:latin typeface="Segoe UI"/>
              </a:rPr>
              <a:t>• Sin transfer: entrenar la misma arquitectura desde cero (weights=None).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con image_dataset_from_directory + augmentation (RandomFlip, RandomRotation).</a:t>
            </a:r>
          </a:p>
          <a:p>
            <a:pPr>
              <a:spcAft>
                <a:spcPts val="800"/>
              </a:spcAft>
              <a:defRPr sz="1500" b="0">
                <a:solidFill>
                  <a:srgbClr val="0F172A"/>
                </a:solidFill>
                <a:latin typeface="Segoe UI"/>
              </a:defRPr>
            </a:pPr>
            <a:r>
              <a:rPr sz="1500" b="0">
                <a:solidFill>
                  <a:srgbClr val="0F172A"/>
                </a:solidFill>
                <a:latin typeface="Segoe UI"/>
              </a:rPr>
              <a:t>• Transfer learning con EfficientNetB0.</a:t>
            </a:r>
          </a:p>
          <a:p>
            <a:pPr>
              <a:spcAft>
                <a:spcPts val="800"/>
              </a:spcAft>
              <a:defRPr sz="1500" b="0">
                <a:solidFill>
                  <a:srgbClr val="0F172A"/>
                </a:solidFill>
                <a:latin typeface="Segoe UI"/>
              </a:defRPr>
            </a:pPr>
            <a:r>
              <a:rPr sz="1500" b="0">
                <a:solidFill>
                  <a:srgbClr val="0F172A"/>
                </a:solidFill>
                <a:latin typeface="Segoe UI"/>
              </a:rPr>
              <a:t>• Reportar accuracy de las dos etapas (frozen y unfreeze).</a:t>
            </a:r>
          </a:p>
          <a:p>
            <a:pPr>
              <a:spcAft>
                <a:spcPts val="800"/>
              </a:spcAft>
              <a:defRPr sz="1500" b="0">
                <a:solidFill>
                  <a:srgbClr val="0F172A"/>
                </a:solidFill>
                <a:latin typeface="Segoe UI"/>
              </a:defRPr>
            </a:pPr>
            <a:r>
              <a:rPr sz="1500" b="0">
                <a:solidFill>
                  <a:srgbClr val="0F172A"/>
                </a:solidFill>
                <a:latin typeface="Segoe UI"/>
              </a:rPr>
              <a:t>• Comparar contra entrenar desde cero.</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113 — Optimizadores: Momentum, Nesterov, AdaGrad, RMSProp, Adam, AdamW (+ Lion, Sophia)</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113 — Optimizadores: Momentum, Nesterov, AdaGrad, RMSProp, Adam, AdamW (+ Lion, Sophia)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Faster Optimizers + papers Lion (Chen et al. 2023), Sophia (Liu et al. 2023).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evolución de los optimizadores —SGD → Momentum → Nesterov → AdaGrad → RMSProp → Adam → AdamW— entendiendo qué problema resuelve cada uno. Aplicar los optimizadores 2023+ (Lion, Sophia) que están reemplazando a Adam en LLMs grandes por mejor performance y memoria. Saber elegir según contexto (Adam para casi todo, SGD+momentum para visión clásica, Lion para LLMs).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fórmula de cada uno: SGD (w ← w - η·g), Momentum (acumulación), Nesterov (lookahead), Adam (mom 1er + 2do orden).</a:t>
            </a:r>
          </a:p>
          <a:p>
            <a:pPr>
              <a:spcAft>
                <a:spcPts val="800"/>
              </a:spcAft>
              <a:defRPr sz="1400" b="0">
                <a:solidFill>
                  <a:srgbClr val="0F172A"/>
                </a:solidFill>
                <a:latin typeface="Segoe UI"/>
              </a:defRPr>
            </a:pPr>
            <a:r>
              <a:rPr sz="1400" b="0">
                <a:solidFill>
                  <a:srgbClr val="0F172A"/>
                </a:solidFill>
                <a:latin typeface="Segoe UI"/>
              </a:rPr>
              <a:t>• Diferenciar Adam vs AdamW — la corrección de weight decay que Loshchilov &amp; Hutter (2019) demostraron esencial.</a:t>
            </a:r>
          </a:p>
          <a:p>
            <a:pPr>
              <a:spcAft>
                <a:spcPts val="800"/>
              </a:spcAft>
              <a:defRPr sz="1400" b="0">
                <a:solidFill>
                  <a:srgbClr val="0F172A"/>
                </a:solidFill>
                <a:latin typeface="Segoe UI"/>
              </a:defRPr>
            </a:pPr>
            <a:r>
              <a:rPr sz="1400" b="0">
                <a:solidFill>
                  <a:srgbClr val="0F172A"/>
                </a:solidFill>
                <a:latin typeface="Segoe UI"/>
              </a:rPr>
              <a:t>• Usar Lion (tf.keras.optimizers.Lion en Keras 3+) con LR 3-10× más bajo que Adam.</a:t>
            </a:r>
          </a:p>
          <a:p>
            <a:pPr>
              <a:spcAft>
                <a:spcPts val="800"/>
              </a:spcAft>
              <a:defRPr sz="1400" b="0">
                <a:solidFill>
                  <a:srgbClr val="0F172A"/>
                </a:solidFill>
                <a:latin typeface="Segoe UI"/>
              </a:defRPr>
            </a:pPr>
            <a:r>
              <a:rPr sz="1400" b="0">
                <a:solidFill>
                  <a:srgbClr val="0F172A"/>
                </a:solidFill>
                <a:latin typeface="Segoe UI"/>
              </a:rPr>
              <a:t>• Reconocer cuándo SGD+Momentum supera a Adam: visión clásica con datasets grandes (ImageNet), donde el modelo final generaliza mejor.</a:t>
            </a:r>
          </a:p>
          <a:p>
            <a:pPr>
              <a:spcAft>
                <a:spcPts val="800"/>
              </a:spcAft>
              <a:defRPr sz="1400" b="0">
                <a:solidFill>
                  <a:srgbClr val="0F172A"/>
                </a:solidFill>
                <a:latin typeface="Segoe UI"/>
              </a:defRPr>
            </a:pPr>
            <a:r>
              <a:rPr sz="1400" b="0">
                <a:solidFill>
                  <a:srgbClr val="0F172A"/>
                </a:solidFill>
                <a:latin typeface="Segoe UI"/>
              </a:rPr>
              <a:t>• Inspeccionar y entender los hiperparámetros beta_1, beta_2, epsilon, weight_decay.</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113 — Optimizadores: Momentum, Nesterov, AdaGrad, RMSProp, Adam, AdamW (+ Lion, Sophia)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SGD vanilla y por qué es lento en cañones (zigzaguea).</a:t>
            </a:r>
          </a:p>
          <a:p>
            <a:pPr>
              <a:spcAft>
                <a:spcPts val="1000"/>
              </a:spcAft>
              <a:defRPr sz="1600" b="0">
                <a:solidFill>
                  <a:srgbClr val="0F172A"/>
                </a:solidFill>
                <a:latin typeface="Segoe UI"/>
              </a:defRPr>
            </a:pPr>
            <a:r>
              <a:rPr sz="1600" b="0">
                <a:solidFill>
                  <a:srgbClr val="0F172A"/>
                </a:solidFill>
                <a:latin typeface="Segoe UI"/>
              </a:rPr>
              <a:t>• Momentum (Polyak 1964): acelera en direcciones consistentes.</a:t>
            </a:r>
          </a:p>
          <a:p>
            <a:pPr>
              <a:spcAft>
                <a:spcPts val="1000"/>
              </a:spcAft>
              <a:defRPr sz="1600" b="0">
                <a:solidFill>
                  <a:srgbClr val="0F172A"/>
                </a:solidFill>
                <a:latin typeface="Segoe UI"/>
              </a:defRPr>
            </a:pPr>
            <a:r>
              <a:rPr sz="1600" b="0">
                <a:solidFill>
                  <a:srgbClr val="0F172A"/>
                </a:solidFill>
                <a:latin typeface="Segoe UI"/>
              </a:rPr>
              <a:t>• Nesterov (1983): "miro hacia adelante" antes de calcular gradiente.</a:t>
            </a:r>
          </a:p>
          <a:p>
            <a:pPr>
              <a:spcAft>
                <a:spcPts val="1000"/>
              </a:spcAft>
              <a:defRPr sz="1600" b="0">
                <a:solidFill>
                  <a:srgbClr val="0F172A"/>
                </a:solidFill>
                <a:latin typeface="Segoe UI"/>
              </a:defRPr>
            </a:pPr>
            <a:r>
              <a:rPr sz="1600" b="0">
                <a:solidFill>
                  <a:srgbClr val="0F172A"/>
                </a:solidFill>
                <a:latin typeface="Segoe UI"/>
              </a:rPr>
              <a:t>• AdaGrad: tasa adaptativa por parámetro; bueno para sparse data, malo para LR que decae a 0.</a:t>
            </a:r>
          </a:p>
          <a:p>
            <a:pPr>
              <a:spcAft>
                <a:spcPts val="1000"/>
              </a:spcAft>
              <a:defRPr sz="1600" b="0">
                <a:solidFill>
                  <a:srgbClr val="0F172A"/>
                </a:solidFill>
                <a:latin typeface="Segoe UI"/>
              </a:defRPr>
            </a:pPr>
            <a:r>
              <a:rPr sz="1600" b="0">
                <a:solidFill>
                  <a:srgbClr val="0F172A"/>
                </a:solidFill>
                <a:latin typeface="Segoe UI"/>
              </a:rPr>
              <a:t>• RMSProp (Hinton, sin publicar): suaviza AdaGrad con EMA.</a:t>
            </a:r>
          </a:p>
          <a:p>
            <a:pPr>
              <a:spcAft>
                <a:spcPts val="1000"/>
              </a:spcAft>
              <a:defRPr sz="1600" b="0">
                <a:solidFill>
                  <a:srgbClr val="0F172A"/>
                </a:solidFill>
                <a:latin typeface="Segoe UI"/>
              </a:defRPr>
            </a:pPr>
            <a:r>
              <a:rPr sz="1600" b="0">
                <a:solidFill>
                  <a:srgbClr val="0F172A"/>
                </a:solidFill>
                <a:latin typeface="Segoe UI"/>
              </a:rPr>
              <a:t>• Adam (Kingma &amp; Ba 2014): Momentum + RMSProp = caballito industrial.</a:t>
            </a:r>
          </a:p>
          <a:p>
            <a:pPr>
              <a:spcAft>
                <a:spcPts val="1000"/>
              </a:spcAft>
              <a:defRPr sz="1600" b="0">
                <a:solidFill>
                  <a:srgbClr val="0F172A"/>
                </a:solidFill>
                <a:latin typeface="Segoe UI"/>
              </a:defRPr>
            </a:pPr>
            <a:r>
              <a:rPr sz="1600" b="0">
                <a:solidFill>
                  <a:srgbClr val="0F172A"/>
                </a:solidFill>
                <a:latin typeface="Segoe UI"/>
              </a:rPr>
              <a:t>• AdamW (Loshchilov &amp; Hutter 2019): weight decay separado del gradiente.</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113 — Optimizadores: Momentum, Nesterov, AdaGrad, RMSProp, Adam, AdamW (+ Lion, Sophia)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 SGD a AdamW y Lion. Cada uno resuelve una limitación del anterior.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optimizadores = {</a:t>
            </a:r>
          </a:p>
          <a:p>
            <a:pPr>
              <a:defRPr sz="1200" b="0">
                <a:solidFill>
                  <a:srgbClr val="F8FAFC"/>
                </a:solidFill>
                <a:latin typeface="Courier New"/>
              </a:defRPr>
            </a:pPr>
            <a:r>
              <a:rPr sz="1200" b="0">
                <a:solidFill>
                  <a:srgbClr val="F8FAFC"/>
                </a:solidFill>
                <a:latin typeface="Courier New"/>
              </a:rPr>
              <a:t>    "SGD":      keras.optimizers.SGD(learning_rate=0.01),</a:t>
            </a:r>
          </a:p>
          <a:p>
            <a:pPr>
              <a:defRPr sz="1200" b="0">
                <a:solidFill>
                  <a:srgbClr val="F8FAFC"/>
                </a:solidFill>
                <a:latin typeface="Courier New"/>
              </a:defRPr>
            </a:pPr>
            <a:r>
              <a:rPr sz="1200" b="0">
                <a:solidFill>
                  <a:srgbClr val="F8FAFC"/>
                </a:solidFill>
                <a:latin typeface="Courier New"/>
              </a:rPr>
              <a:t>    "Momentum": keras.optimizers.SGD(learning_rate=0.01, momentum=0.9),</a:t>
            </a:r>
          </a:p>
          <a:p>
            <a:pPr>
              <a:defRPr sz="1200" b="0">
                <a:solidFill>
                  <a:srgbClr val="F8FAFC"/>
                </a:solidFill>
                <a:latin typeface="Courier New"/>
              </a:defRPr>
            </a:pPr>
            <a:r>
              <a:rPr sz="1200" b="0">
                <a:solidFill>
                  <a:srgbClr val="F8FAFC"/>
                </a:solidFill>
                <a:latin typeface="Courier New"/>
              </a:rPr>
              <a:t>    "Nesterov": keras.optimizers.SGD(learning_rate=0.01, momentum=0.9, nesterov=True),</a:t>
            </a:r>
          </a:p>
          <a:p>
            <a:pPr>
              <a:defRPr sz="1200" b="0">
                <a:solidFill>
                  <a:srgbClr val="F8FAFC"/>
                </a:solidFill>
                <a:latin typeface="Courier New"/>
              </a:defRPr>
            </a:pPr>
            <a:r>
              <a:rPr sz="1200" b="0">
                <a:solidFill>
                  <a:srgbClr val="F8FAFC"/>
                </a:solidFill>
                <a:latin typeface="Courier New"/>
              </a:rPr>
              <a:t>    "AdaGrad":  keras.optimizers.Adagrad(learning_rate=0.01),</a:t>
            </a:r>
          </a:p>
          <a:p>
            <a:pPr>
              <a:defRPr sz="1200" b="0">
                <a:solidFill>
                  <a:srgbClr val="F8FAFC"/>
                </a:solidFill>
                <a:latin typeface="Courier New"/>
              </a:defRPr>
            </a:pPr>
            <a:r>
              <a:rPr sz="1200" b="0">
                <a:solidFill>
                  <a:srgbClr val="F8FAFC"/>
                </a:solidFill>
                <a:latin typeface="Courier New"/>
              </a:rPr>
              <a:t>    "RMSProp":  keras.optimizers.RMSprop(learning_rate=1e-3, rho=0.9),</a:t>
            </a:r>
          </a:p>
          <a:p>
            <a:pPr>
              <a:defRPr sz="1200" b="0">
                <a:solidFill>
                  <a:srgbClr val="F8FAFC"/>
                </a:solidFill>
                <a:latin typeface="Courier New"/>
              </a:defRPr>
            </a:pPr>
            <a:r>
              <a:rPr sz="1200" b="0">
                <a:solidFill>
                  <a:srgbClr val="F8FAFC"/>
                </a:solidFill>
                <a:latin typeface="Courier New"/>
              </a:rPr>
              <a:t>    "Adam":     keras.optimizers.Adam(learning_rate=1e-3),</a:t>
            </a:r>
          </a:p>
          <a:p>
            <a:pPr>
              <a:defRPr sz="1200" b="0">
                <a:solidFill>
                  <a:srgbClr val="F8FAFC"/>
                </a:solidFill>
                <a:latin typeface="Courier New"/>
              </a:defRPr>
            </a:pPr>
            <a:r>
              <a:rPr sz="1200" b="0">
                <a:solidFill>
                  <a:srgbClr val="F8FAFC"/>
                </a:solidFill>
                <a:latin typeface="Courier New"/>
              </a:rPr>
              <a:t>    "AdamW":    keras.optimizers.AdamW(learning_rate=1e-3, weight_decay=1e-2),</a:t>
            </a:r>
          </a:p>
          <a:p>
            <a:pPr>
              <a:defRPr sz="1200" b="0">
                <a:solidFill>
                  <a:srgbClr val="F8FAFC"/>
                </a:solidFill>
                <a:latin typeface="Courier New"/>
              </a:defRPr>
            </a:pPr>
            <a:r>
              <a:rPr sz="1200" b="0">
                <a:solidFill>
                  <a:srgbClr val="F8FAFC"/>
                </a:solidFill>
                <a:latin typeface="Courier New"/>
              </a:rPr>
              <a:t>    "Lion":     keras.optimizers.Lion(learning_rate=1e-4, weight_decay=0.1),</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for nombre, opt in optimizadores.items():</a:t>
            </a:r>
          </a:p>
          <a:p>
            <a:pPr>
              <a:defRPr sz="1200" b="0">
                <a:solidFill>
                  <a:srgbClr val="F8FAFC"/>
                </a:solidFill>
                <a:latin typeface="Courier New"/>
              </a:defRPr>
            </a:pPr>
            <a:r>
              <a:rPr sz="1200" b="0">
                <a:solidFill>
                  <a:srgbClr val="F8FAFC"/>
                </a:solidFill>
                <a:latin typeface="Courier New"/>
              </a:rPr>
              <a:t>    print(f"{nombre:9s} -&gt; {type(opt).__name__}")</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113 — Optimizadores: Momentum, Nesterov, AdaGrad, RMSProp, Adam, AdamW (+ Lion, Sophia)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Comparar 5 optimizadores: SGD(0.01), SGD+Momentum(0.9), Adam(1e-3), AdamW(1e-3, wd=1e-2), Lion(1e-4, wd=0.1).</a:t>
            </a:r>
          </a:p>
          <a:p>
            <a:pPr>
              <a:spcAft>
                <a:spcPts val="800"/>
              </a:spcAft>
              <a:defRPr sz="1400" b="0">
                <a:solidFill>
                  <a:srgbClr val="0F172A"/>
                </a:solidFill>
                <a:latin typeface="Segoe UI"/>
              </a:defRPr>
            </a:pPr>
            <a:r>
              <a:rPr sz="1400" b="0">
                <a:solidFill>
                  <a:srgbClr val="0F172A"/>
                </a:solidFill>
                <a:latin typeface="Segoe UI"/>
              </a:rPr>
              <a:t>• Tuning del LR: para Adam y Lion, hacer un sweep de LR ∈ [1e-5, 1e-2] log.</a:t>
            </a:r>
          </a:p>
          <a:p>
            <a:pPr>
              <a:spcAft>
                <a:spcPts val="800"/>
              </a:spcAft>
              <a:defRPr sz="1400" b="0">
                <a:solidFill>
                  <a:srgbClr val="0F172A"/>
                </a:solidFill>
                <a:latin typeface="Segoe UI"/>
              </a:defRPr>
            </a:pPr>
            <a:r>
              <a:rPr sz="1400" b="0">
                <a:solidFill>
                  <a:srgbClr val="0F172A"/>
                </a:solidFill>
                <a:latin typeface="Segoe UI"/>
              </a:rPr>
              <a:t>• AdamW vs Adam con L2: comparar Adam + keras.regularizers.L2(1e-2) en cada capa vs AdamW con weight_decay=1e-2.</a:t>
            </a:r>
          </a:p>
          <a:p>
            <a:pPr>
              <a:spcAft>
                <a:spcPts val="800"/>
              </a:spcAft>
              <a:defRPr sz="1400" b="0">
                <a:solidFill>
                  <a:srgbClr val="0F172A"/>
                </a:solidFill>
                <a:latin typeface="Segoe UI"/>
              </a:defRPr>
            </a:pPr>
            <a:r>
              <a:rPr sz="1400" b="0">
                <a:solidFill>
                  <a:srgbClr val="0F172A"/>
                </a:solidFill>
                <a:latin typeface="Segoe UI"/>
              </a:rPr>
              <a:t>• Inspección de buffer: imprimir optimizer.variables.</a:t>
            </a:r>
          </a:p>
          <a:p>
            <a:pPr>
              <a:spcAft>
                <a:spcPts val="800"/>
              </a:spcAft>
              <a:defRPr sz="1400" b="0">
                <a:solidFill>
                  <a:srgbClr val="0F172A"/>
                </a:solidFill>
                <a:latin typeface="Segoe UI"/>
              </a:defRPr>
            </a:pPr>
            <a:r>
              <a:rPr sz="1400" b="0">
                <a:solidFill>
                  <a:srgbClr val="0F172A"/>
                </a:solidFill>
                <a:latin typeface="Segoe UI"/>
              </a:rPr>
              <a:t>• LR alto + Momentum: SGD con LR=0.1 explota; SGD+Momentum(0.9) con LR=0.1 puede funcionar.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Encontrar el LR óptimo para 3 optimizadores: SGD, AdamW, Lion (sweep de 5 valores cada uno).</a:t>
            </a:r>
          </a:p>
          <a:p>
            <a:pPr>
              <a:spcAft>
                <a:spcPts val="800"/>
              </a:spcAft>
              <a:defRPr sz="1500" b="0">
                <a:solidFill>
                  <a:srgbClr val="0F172A"/>
                </a:solidFill>
                <a:latin typeface="Segoe UI"/>
              </a:defRPr>
            </a:pPr>
            <a:r>
              <a:rPr sz="1500" b="0">
                <a:solidFill>
                  <a:srgbClr val="0F172A"/>
                </a:solidFill>
                <a:latin typeface="Segoe UI"/>
              </a:rPr>
              <a:t>• Con el LR óptimo, entrenar 30 épocas y reportar val_accuracy.</a:t>
            </a:r>
          </a:p>
          <a:p>
            <a:pPr>
              <a:spcAft>
                <a:spcPts val="800"/>
              </a:spcAft>
              <a:defRPr sz="1500" b="0">
                <a:solidFill>
                  <a:srgbClr val="0F172A"/>
                </a:solidFill>
                <a:latin typeface="Segoe UI"/>
              </a:defRPr>
            </a:pPr>
            <a:r>
              <a:rPr sz="1500" b="0">
                <a:solidFill>
                  <a:srgbClr val="0F172A"/>
                </a:solidFill>
                <a:latin typeface="Segoe UI"/>
              </a:rPr>
              <a:t>• Comparar wall time y memoria.</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114 — Optimizadores modernos: Lion, Sophia, Schedule-Free</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114 — Optimizadores modernos: Lion, Sophia, Schedule-Free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Chen et al. (2023) Lion + Liu et al. (2023) Sophia + Defazio et al. (2024) Schedule-Free.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nueva generación de optimizadores 2023-2024 que está reemplazando a AdamW en LLM training a escala: Lion (Google, signo del gradiente), Sophia (Stanford, segundo orden aproximado), Schedule-Free (Meta, sin LR scheduling). Saber cuándo justifican el cambio.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Lion con LR 3-10× más chico que AdamW y weight_decay 3-10× más grande.</a:t>
            </a:r>
          </a:p>
          <a:p>
            <a:pPr>
              <a:spcAft>
                <a:spcPts val="800"/>
              </a:spcAft>
              <a:defRPr sz="1400" b="0">
                <a:solidFill>
                  <a:srgbClr val="0F172A"/>
                </a:solidFill>
                <a:latin typeface="Segoe UI"/>
              </a:defRPr>
            </a:pPr>
            <a:r>
              <a:rPr sz="1400" b="0">
                <a:solidFill>
                  <a:srgbClr val="0F172A"/>
                </a:solidFill>
                <a:latin typeface="Segoe UI"/>
              </a:rPr>
              <a:t>• Aplicar Sophia con estimación diagonal del Hessiano (Hutchinson sampling).</a:t>
            </a:r>
          </a:p>
          <a:p>
            <a:pPr>
              <a:spcAft>
                <a:spcPts val="800"/>
              </a:spcAft>
              <a:defRPr sz="1400" b="0">
                <a:solidFill>
                  <a:srgbClr val="0F172A"/>
                </a:solidFill>
                <a:latin typeface="Segoe UI"/>
              </a:defRPr>
            </a:pPr>
            <a:r>
              <a:rPr sz="1400" b="0">
                <a:solidFill>
                  <a:srgbClr val="0F172A"/>
                </a:solidFill>
                <a:latin typeface="Segoe UI"/>
              </a:rPr>
              <a:t>• Aplicar Schedule-Free (schedulefree.AdamWScheduleFree) sin warmup/cosine.</a:t>
            </a:r>
          </a:p>
          <a:p>
            <a:pPr>
              <a:spcAft>
                <a:spcPts val="800"/>
              </a:spcAft>
              <a:defRPr sz="1400" b="0">
                <a:solidFill>
                  <a:srgbClr val="0F172A"/>
                </a:solidFill>
                <a:latin typeface="Segoe UI"/>
              </a:defRPr>
            </a:pPr>
            <a:r>
              <a:rPr sz="1400" b="0">
                <a:solidFill>
                  <a:srgbClr val="0F172A"/>
                </a:solidFill>
                <a:latin typeface="Segoe UI"/>
              </a:rPr>
              <a:t>• Comparar memoria, velocidad y calidad final.</a:t>
            </a:r>
          </a:p>
          <a:p>
            <a:pPr>
              <a:spcAft>
                <a:spcPts val="800"/>
              </a:spcAft>
              <a:defRPr sz="1400" b="0">
                <a:solidFill>
                  <a:srgbClr val="0F172A"/>
                </a:solidFill>
                <a:latin typeface="Segoe UI"/>
              </a:defRPr>
            </a:pPr>
            <a:r>
              <a:rPr sz="1400" b="0">
                <a:solidFill>
                  <a:srgbClr val="0F172A"/>
                </a:solidFill>
                <a:latin typeface="Segoe UI"/>
              </a:rPr>
              <a:t>• Reconocer cuándo Lion supera AdamW (modelos grandes, ViT, CLIP) y cuándo no.</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114 — Optimizadores modernos: Lion, Sophia, Schedule-Free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Lion: update = sign(β·m + (1-β)·g). 1 buffer en lugar de 2.</a:t>
            </a:r>
          </a:p>
          <a:p>
            <a:pPr>
              <a:spcAft>
                <a:spcPts val="1000"/>
              </a:spcAft>
              <a:defRPr sz="1600" b="0">
                <a:solidFill>
                  <a:srgbClr val="0F172A"/>
                </a:solidFill>
                <a:latin typeface="Segoe UI"/>
              </a:defRPr>
            </a:pPr>
            <a:r>
              <a:rPr sz="1600" b="0">
                <a:solidFill>
                  <a:srgbClr val="0F172A"/>
                </a:solidFill>
                <a:latin typeface="Segoe UI"/>
              </a:rPr>
              <a:t>• Sophia: pre-condicionador diagonal del Hessiano vía Hutchinson.</a:t>
            </a:r>
          </a:p>
          <a:p>
            <a:pPr>
              <a:spcAft>
                <a:spcPts val="1000"/>
              </a:spcAft>
              <a:defRPr sz="1600" b="0">
                <a:solidFill>
                  <a:srgbClr val="0F172A"/>
                </a:solidFill>
                <a:latin typeface="Segoe UI"/>
              </a:defRPr>
            </a:pPr>
            <a:r>
              <a:rPr sz="1600" b="0">
                <a:solidFill>
                  <a:srgbClr val="0F172A"/>
                </a:solidFill>
                <a:latin typeface="Segoe UI"/>
              </a:rPr>
              <a:t>• Schedule-Free: aprende sin schedule explícito, sin warmup.</a:t>
            </a:r>
          </a:p>
          <a:p>
            <a:pPr>
              <a:spcAft>
                <a:spcPts val="1000"/>
              </a:spcAft>
              <a:defRPr sz="1600" b="0">
                <a:solidFill>
                  <a:srgbClr val="0F172A"/>
                </a:solidFill>
                <a:latin typeface="Segoe UI"/>
              </a:defRPr>
            </a:pPr>
            <a:r>
              <a:rPr sz="1600" b="0">
                <a:solidFill>
                  <a:srgbClr val="0F172A"/>
                </a:solidFill>
                <a:latin typeface="Segoe UI"/>
              </a:rPr>
              <a:t>• Memory: Lion ahorra 50 % vs AdamW.</a:t>
            </a:r>
          </a:p>
          <a:p>
            <a:pPr>
              <a:spcAft>
                <a:spcPts val="1000"/>
              </a:spcAft>
              <a:defRPr sz="1600" b="0">
                <a:solidFill>
                  <a:srgbClr val="0F172A"/>
                </a:solidFill>
                <a:latin typeface="Segoe UI"/>
              </a:defRPr>
            </a:pPr>
            <a:r>
              <a:rPr sz="1600" b="0">
                <a:solidFill>
                  <a:srgbClr val="0F172A"/>
                </a:solidFill>
                <a:latin typeface="Segoe UI"/>
              </a:rPr>
              <a:t>• Trade-off: Lion + LR alto explota fácilmente.</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114 — Optimizadores modernos: Lion, Sophia, Schedule-Free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Lion (Google, 2023) = sign-based update, sin momentum de 2do orden. Sophia (Stanford, 2023) = aproximación diagonal del Hessian. Comparamos contra Adam manual sobre Rosenbrock.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Rosenbrock: f(x,y) = (1-x)^2 + 100*(y-x^2)^2; mínimo en (1, 1)</a:t>
            </a:r>
          </a:p>
          <a:p>
            <a:pPr>
              <a:defRPr sz="1200" b="0">
                <a:solidFill>
                  <a:srgbClr val="F8FAFC"/>
                </a:solidFill>
                <a:latin typeface="Courier New"/>
              </a:defRPr>
            </a:pPr>
            <a:r>
              <a:rPr sz="1200" b="0">
                <a:solidFill>
                  <a:srgbClr val="F8FAFC"/>
                </a:solidFill>
                <a:latin typeface="Courier New"/>
              </a:rPr>
              <a:t>def rosen(w):</a:t>
            </a:r>
          </a:p>
          <a:p>
            <a:pPr>
              <a:defRPr sz="1200" b="0">
                <a:solidFill>
                  <a:srgbClr val="F8FAFC"/>
                </a:solidFill>
                <a:latin typeface="Courier New"/>
              </a:defRPr>
            </a:pPr>
            <a:r>
              <a:rPr sz="1200" b="0">
                <a:solidFill>
                  <a:srgbClr val="F8FAFC"/>
                </a:solidFill>
                <a:latin typeface="Courier New"/>
              </a:rPr>
              <a:t>    x, y = w</a:t>
            </a:r>
          </a:p>
          <a:p>
            <a:pPr>
              <a:defRPr sz="1200" b="0">
                <a:solidFill>
                  <a:srgbClr val="F8FAFC"/>
                </a:solidFill>
                <a:latin typeface="Courier New"/>
              </a:defRPr>
            </a:pPr>
            <a:r>
              <a:rPr sz="1200" b="0">
                <a:solidFill>
                  <a:srgbClr val="F8FAFC"/>
                </a:solidFill>
                <a:latin typeface="Courier New"/>
              </a:rPr>
              <a:t>    return (1 - x)**2 + 100 * (y - x**2)**2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rosen_grad(w):</a:t>
            </a:r>
          </a:p>
          <a:p>
            <a:pPr>
              <a:defRPr sz="1200" b="0">
                <a:solidFill>
                  <a:srgbClr val="F8FAFC"/>
                </a:solidFill>
                <a:latin typeface="Courier New"/>
              </a:defRPr>
            </a:pPr>
            <a:r>
              <a:rPr sz="1200" b="0">
                <a:solidFill>
                  <a:srgbClr val="F8FAFC"/>
                </a:solidFill>
                <a:latin typeface="Courier New"/>
              </a:rPr>
              <a:t>    x, y = w</a:t>
            </a:r>
          </a:p>
          <a:p>
            <a:pPr>
              <a:defRPr sz="1200" b="0">
                <a:solidFill>
                  <a:srgbClr val="F8FAFC"/>
                </a:solidFill>
                <a:latin typeface="Courier New"/>
              </a:defRPr>
            </a:pPr>
            <a:r>
              <a:rPr sz="1200" b="0">
                <a:solidFill>
                  <a:srgbClr val="F8FAFC"/>
                </a:solidFill>
                <a:latin typeface="Courier New"/>
              </a:rPr>
              <a:t>    dx = -2*(1 - x) - 400*x*(y - x**2)</a:t>
            </a:r>
          </a:p>
          <a:p>
            <a:pPr>
              <a:defRPr sz="1200" b="0">
                <a:solidFill>
                  <a:srgbClr val="F8FAFC"/>
                </a:solidFill>
                <a:latin typeface="Courier New"/>
              </a:defRPr>
            </a:pPr>
            <a:r>
              <a:rPr sz="1200" b="0">
                <a:solidFill>
                  <a:srgbClr val="F8FAFC"/>
                </a:solidFill>
                <a:latin typeface="Courier New"/>
              </a:rPr>
              <a:t>    dy = 200*(y - x**2)</a:t>
            </a:r>
          </a:p>
          <a:p>
            <a:pPr>
              <a:defRPr sz="1200" b="0">
                <a:solidFill>
                  <a:srgbClr val="F8FAFC"/>
                </a:solidFill>
                <a:latin typeface="Courier New"/>
              </a:defRPr>
            </a:pPr>
            <a:r>
              <a:rPr sz="1200" b="0">
                <a:solidFill>
                  <a:srgbClr val="F8FAFC"/>
                </a:solidFill>
                <a:latin typeface="Courier New"/>
              </a:rPr>
              <a:t>    return np.array([dx, dy])</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114 — Optimizadores modernos: Lion, Sophia, Schedule-Free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AdamW baseline: ViT-Tiny en CIFAR-10.</a:t>
            </a:r>
          </a:p>
          <a:p>
            <a:pPr>
              <a:spcAft>
                <a:spcPts val="800"/>
              </a:spcAft>
              <a:defRPr sz="1400" b="0">
                <a:solidFill>
                  <a:srgbClr val="0F172A"/>
                </a:solidFill>
                <a:latin typeface="Segoe UI"/>
              </a:defRPr>
            </a:pPr>
            <a:r>
              <a:rPr sz="1400" b="0">
                <a:solidFill>
                  <a:srgbClr val="0F172A"/>
                </a:solidFill>
                <a:latin typeface="Segoe UI"/>
              </a:rPr>
              <a:t>• Lion: misma red, LR=1e-4, wd=0.5.</a:t>
            </a:r>
          </a:p>
          <a:p>
            <a:pPr>
              <a:spcAft>
                <a:spcPts val="800"/>
              </a:spcAft>
              <a:defRPr sz="1400" b="0">
                <a:solidFill>
                  <a:srgbClr val="0F172A"/>
                </a:solidFill>
                <a:latin typeface="Segoe UI"/>
              </a:defRPr>
            </a:pPr>
            <a:r>
              <a:rPr sz="1400" b="0">
                <a:solidFill>
                  <a:srgbClr val="0F172A"/>
                </a:solidFill>
                <a:latin typeface="Segoe UI"/>
              </a:rPr>
              <a:t>• Sophia: con Hutchinson cada 10 steps.</a:t>
            </a:r>
          </a:p>
          <a:p>
            <a:pPr>
              <a:spcAft>
                <a:spcPts val="800"/>
              </a:spcAft>
              <a:defRPr sz="1400" b="0">
                <a:solidFill>
                  <a:srgbClr val="0F172A"/>
                </a:solidFill>
                <a:latin typeface="Segoe UI"/>
              </a:defRPr>
            </a:pPr>
            <a:r>
              <a:rPr sz="1400" b="0">
                <a:solidFill>
                  <a:srgbClr val="0F172A"/>
                </a:solidFill>
                <a:latin typeface="Segoe UI"/>
              </a:rPr>
              <a:t>• Schedule-Free: AdamWScheduleFree(lr=1e-3, warmup_steps=500).</a:t>
            </a:r>
          </a:p>
          <a:p>
            <a:pPr>
              <a:spcAft>
                <a:spcPts val="800"/>
              </a:spcAft>
              <a:defRPr sz="1400" b="0">
                <a:solidFill>
                  <a:srgbClr val="0F172A"/>
                </a:solidFill>
                <a:latin typeface="Segoe UI"/>
              </a:defRPr>
            </a:pPr>
            <a:r>
              <a:rPr sz="1400" b="0">
                <a:solidFill>
                  <a:srgbClr val="0F172A"/>
                </a:solidFill>
                <a:latin typeface="Segoe UI"/>
              </a:rPr>
              <a:t>• Memory: para modelo grande, medir VRAM con cada uno.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AdamW (baseline).</a:t>
            </a:r>
          </a:p>
          <a:p>
            <a:pPr>
              <a:spcAft>
                <a:spcPts val="800"/>
              </a:spcAft>
              <a:defRPr sz="1500" b="0">
                <a:solidFill>
                  <a:srgbClr val="0F172A"/>
                </a:solidFill>
                <a:latin typeface="Segoe UI"/>
              </a:defRPr>
            </a:pPr>
            <a:r>
              <a:rPr sz="1500" b="0">
                <a:solidFill>
                  <a:srgbClr val="0F172A"/>
                </a:solidFill>
                <a:latin typeface="Segoe UI"/>
              </a:rPr>
              <a:t>• Lion.</a:t>
            </a:r>
          </a:p>
          <a:p>
            <a:pPr>
              <a:spcAft>
                <a:spcPts val="800"/>
              </a:spcAft>
              <a:defRPr sz="1500" b="0">
                <a:solidFill>
                  <a:srgbClr val="0F172A"/>
                </a:solidFill>
                <a:latin typeface="Segoe UI"/>
              </a:defRPr>
            </a:pPr>
            <a:r>
              <a:rPr sz="1500" b="0">
                <a:solidFill>
                  <a:srgbClr val="0F172A"/>
                </a:solidFill>
                <a:latin typeface="Segoe UI"/>
              </a:rPr>
              <a:t>• Sophia.</a:t>
            </a:r>
          </a:p>
          <a:p>
            <a:pPr>
              <a:spcAft>
                <a:spcPts val="800"/>
              </a:spcAft>
              <a:defRPr sz="1500" b="0">
                <a:solidFill>
                  <a:srgbClr val="0F172A"/>
                </a:solidFill>
                <a:latin typeface="Segoe UI"/>
              </a:defRPr>
            </a:pPr>
            <a:r>
              <a:rPr sz="1500" b="0">
                <a:solidFill>
                  <a:srgbClr val="0F172A"/>
                </a:solidFill>
                <a:latin typeface="Segoe UI"/>
              </a:rPr>
              <a:t>• Schedule-Free AdamW.</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115 — Learning rate scheduling</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115 — Learning rate scheduling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Learning Rate Scheduling.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variar el LR durante el entrenamiento —no dejarlo fijo— porque ningún LR es óptimo en todas las fases. Aplicar las 4 estrategias estándar: step decay, exponential decay, cosine annealing (default moderno), y warmup + decay (estándar en Transformers).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Configurar keras.optimizers.schedules.CosineDecay y pasarlo como learning_rate= al optimizer.</a:t>
            </a:r>
          </a:p>
          <a:p>
            <a:pPr>
              <a:spcAft>
                <a:spcPts val="800"/>
              </a:spcAft>
              <a:defRPr sz="1400" b="0">
                <a:solidFill>
                  <a:srgbClr val="0F172A"/>
                </a:solidFill>
                <a:latin typeface="Segoe UI"/>
              </a:defRPr>
            </a:pPr>
            <a:r>
              <a:rPr sz="1400" b="0">
                <a:solidFill>
                  <a:srgbClr val="0F172A"/>
                </a:solidFill>
                <a:latin typeface="Segoe UI"/>
              </a:rPr>
              <a:t>• Diferenciar ExponentialDecay, PiecewiseConstantDecay y CosineDecayRestarts.</a:t>
            </a:r>
          </a:p>
          <a:p>
            <a:pPr>
              <a:spcAft>
                <a:spcPts val="800"/>
              </a:spcAft>
              <a:defRPr sz="1400" b="0">
                <a:solidFill>
                  <a:srgbClr val="0F172A"/>
                </a:solidFill>
                <a:latin typeface="Segoe UI"/>
              </a:defRPr>
            </a:pPr>
            <a:r>
              <a:rPr sz="1400" b="0">
                <a:solidFill>
                  <a:srgbClr val="0F172A"/>
                </a:solidFill>
                <a:latin typeface="Segoe UI"/>
              </a:rPr>
              <a:t>• Implementar warmup lineal + cosine — receta default en BERT/GPT.</a:t>
            </a:r>
          </a:p>
          <a:p>
            <a:pPr>
              <a:spcAft>
                <a:spcPts val="800"/>
              </a:spcAft>
              <a:defRPr sz="1400" b="0">
                <a:solidFill>
                  <a:srgbClr val="0F172A"/>
                </a:solidFill>
                <a:latin typeface="Segoe UI"/>
              </a:defRPr>
            </a:pPr>
            <a:r>
              <a:rPr sz="1400" b="0">
                <a:solidFill>
                  <a:srgbClr val="0F172A"/>
                </a:solidFill>
                <a:latin typeface="Segoe UI"/>
              </a:rPr>
              <a:t>• Usar ReduceLROnPlateau (reactivo) vs schedule (proactivo).</a:t>
            </a:r>
          </a:p>
          <a:p>
            <a:pPr>
              <a:spcAft>
                <a:spcPts val="800"/>
              </a:spcAft>
              <a:defRPr sz="1400" b="0">
                <a:solidFill>
                  <a:srgbClr val="0F172A"/>
                </a:solidFill>
                <a:latin typeface="Segoe UI"/>
              </a:defRPr>
            </a:pPr>
            <a:r>
              <a:rPr sz="1400" b="0">
                <a:solidFill>
                  <a:srgbClr val="0F172A"/>
                </a:solidFill>
                <a:latin typeface="Segoe UI"/>
              </a:rPr>
              <a:t>• Graficar la curva de LR a lo largo del entrenamiento para verificar.</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115 — Learning rate scheduling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LR fijo: arrancás bien, terminás demasiado alto para refinar.</a:t>
            </a:r>
          </a:p>
          <a:p>
            <a:pPr>
              <a:spcAft>
                <a:spcPts val="1000"/>
              </a:spcAft>
              <a:defRPr sz="1600" b="0">
                <a:solidFill>
                  <a:srgbClr val="0F172A"/>
                </a:solidFill>
                <a:latin typeface="Segoe UI"/>
              </a:defRPr>
            </a:pPr>
            <a:r>
              <a:rPr sz="1600" b="0">
                <a:solidFill>
                  <a:srgbClr val="0F172A"/>
                </a:solidFill>
                <a:latin typeface="Segoe UI"/>
              </a:rPr>
              <a:t>• Step decay: cortar LR cada N épocas. Simple, anticuado.</a:t>
            </a:r>
          </a:p>
          <a:p>
            <a:pPr>
              <a:spcAft>
                <a:spcPts val="1000"/>
              </a:spcAft>
              <a:defRPr sz="1600" b="0">
                <a:solidFill>
                  <a:srgbClr val="0F172A"/>
                </a:solidFill>
                <a:latin typeface="Segoe UI"/>
              </a:defRPr>
            </a:pPr>
            <a:r>
              <a:rPr sz="1600" b="0">
                <a:solidFill>
                  <a:srgbClr val="0F172A"/>
                </a:solidFill>
                <a:latin typeface="Segoe UI"/>
              </a:rPr>
              <a:t>• Exponential decay: lr = lr_0 · γ^t.</a:t>
            </a:r>
          </a:p>
          <a:p>
            <a:pPr>
              <a:spcAft>
                <a:spcPts val="1000"/>
              </a:spcAft>
              <a:defRPr sz="1600" b="0">
                <a:solidFill>
                  <a:srgbClr val="0F172A"/>
                </a:solidFill>
                <a:latin typeface="Segoe UI"/>
              </a:defRPr>
            </a:pPr>
            <a:r>
              <a:rPr sz="1600" b="0">
                <a:solidFill>
                  <a:srgbClr val="0F172A"/>
                </a:solidFill>
                <a:latin typeface="Segoe UI"/>
              </a:rPr>
              <a:t>• Cosine annealing (Loshchilov &amp; Hutter 2017): lr = 0.5·lr_0·(1 + cos(πt/T)).</a:t>
            </a:r>
          </a:p>
          <a:p>
            <a:pPr>
              <a:spcAft>
                <a:spcPts val="1000"/>
              </a:spcAft>
              <a:defRPr sz="1600" b="0">
                <a:solidFill>
                  <a:srgbClr val="0F172A"/>
                </a:solidFill>
                <a:latin typeface="Segoe UI"/>
              </a:defRPr>
            </a:pPr>
            <a:r>
              <a:rPr sz="1600" b="0">
                <a:solidFill>
                  <a:srgbClr val="0F172A"/>
                </a:solidFill>
                <a:latin typeface="Segoe UI"/>
              </a:rPr>
              <a:t>• Warmup: empezar bajo y subir linealmente las primeras X steps. Esencial en Transformers.</a:t>
            </a:r>
          </a:p>
          <a:p>
            <a:pPr>
              <a:spcAft>
                <a:spcPts val="1000"/>
              </a:spcAft>
              <a:defRPr sz="1600" b="0">
                <a:solidFill>
                  <a:srgbClr val="0F172A"/>
                </a:solidFill>
                <a:latin typeface="Segoe UI"/>
              </a:defRPr>
            </a:pPr>
            <a:r>
              <a:rPr sz="1600" b="0">
                <a:solidFill>
                  <a:srgbClr val="0F172A"/>
                </a:solidFill>
                <a:latin typeface="Segoe UI"/>
              </a:rPr>
              <a:t>• One-cycle policy (Smith 2018): warmup + cosine descent + tail decay.</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115 — Learning rate scheduling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Un schedule se pasa directamente como learning_rate= del optimizer.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exp = keras.optimizers.schedules.ExponentialDecay(</a:t>
            </a:r>
          </a:p>
          <a:p>
            <a:pPr>
              <a:defRPr sz="1200" b="0">
                <a:solidFill>
                  <a:srgbClr val="F8FAFC"/>
                </a:solidFill>
                <a:latin typeface="Courier New"/>
              </a:defRPr>
            </a:pPr>
            <a:r>
              <a:rPr sz="1200" b="0">
                <a:solidFill>
                  <a:srgbClr val="F8FAFC"/>
                </a:solidFill>
                <a:latin typeface="Courier New"/>
              </a:rPr>
              <a:t>    initial_learning_rate=1e-3, decay_steps=1000, decay_rate=0.9)</a:t>
            </a:r>
          </a:p>
          <a:p>
            <a:pPr>
              <a:defRPr sz="1200" b="0">
                <a:solidFill>
                  <a:srgbClr val="F8FAFC"/>
                </a:solidFill>
                <a:latin typeface="Courier New"/>
              </a:defRPr>
            </a:pPr>
            <a:r>
              <a:rPr sz="1200" b="0">
                <a:solidFill>
                  <a:srgbClr val="F8FAFC"/>
                </a:solidFill>
                <a:latin typeface="Courier New"/>
              </a:rPr>
              <a:t>print("LR exponencial en steps 0, 1000, 5000:",</a:t>
            </a:r>
          </a:p>
          <a:p>
            <a:pPr>
              <a:defRPr sz="1200" b="0">
                <a:solidFill>
                  <a:srgbClr val="F8FAFC"/>
                </a:solidFill>
                <a:latin typeface="Courier New"/>
              </a:defRPr>
            </a:pPr>
            <a:r>
              <a:rPr sz="1200" b="0">
                <a:solidFill>
                  <a:srgbClr val="F8FAFC"/>
                </a:solidFill>
                <a:latin typeface="Courier New"/>
              </a:rPr>
              <a:t>      [round(float(exp(s)), 6) for s in (0, 1000, 5000)])</a:t>
            </a:r>
          </a:p>
          <a:p>
            <a:pPr>
              <a:defRPr sz="1200" b="0">
                <a:solidFill>
                  <a:srgbClr val="F8FAFC"/>
                </a:solidFill>
                <a:latin typeface="Courier New"/>
              </a:defRPr>
            </a:pPr>
            <a:r>
              <a:rPr sz="1200" b="0">
                <a:solidFill>
                  <a:srgbClr val="F8FAFC"/>
                </a:solidFill>
                <a:latin typeface="Courier New"/>
              </a:rPr>
              <a:t>opt = keras.optimizers.Adam(learning_rate=exp)      # el schedule vive dentro del optimizer</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115 — Learning rate scheduling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Schedule básica: lr = CosineDecay(initial_learning_rate=1e-3, decay_steps=10_000); Adam(learning_rate=lr).</a:t>
            </a:r>
          </a:p>
          <a:p>
            <a:pPr>
              <a:spcAft>
                <a:spcPts val="800"/>
              </a:spcAft>
              <a:defRPr sz="1400" b="0">
                <a:solidFill>
                  <a:srgbClr val="0F172A"/>
                </a:solidFill>
                <a:latin typeface="Segoe UI"/>
              </a:defRPr>
            </a:pPr>
            <a:r>
              <a:rPr sz="1400" b="0">
                <a:solidFill>
                  <a:srgbClr val="0F172A"/>
                </a:solidFill>
                <a:latin typeface="Segoe UI"/>
              </a:rPr>
              <a:t>• Visualizar el LR: para una schedule, evaluarla en steps 0, 100, 1000, 5000, 10000 y graficar.</a:t>
            </a:r>
          </a:p>
          <a:p>
            <a:pPr>
              <a:spcAft>
                <a:spcPts val="800"/>
              </a:spcAft>
              <a:defRPr sz="1400" b="0">
                <a:solidFill>
                  <a:srgbClr val="0F172A"/>
                </a:solidFill>
                <a:latin typeface="Segoe UI"/>
              </a:defRPr>
            </a:pPr>
            <a:r>
              <a:rPr sz="1400" b="0">
                <a:solidFill>
                  <a:srgbClr val="0F172A"/>
                </a:solidFill>
                <a:latin typeface="Segoe UI"/>
              </a:rPr>
              <a:t>• Warmup + Cosine: implementar custom callback (o usar CosineDecay(warmup_steps=...) en Keras 3) y entrenar un Transformer chico (anticipo).</a:t>
            </a:r>
          </a:p>
          <a:p>
            <a:pPr>
              <a:spcAft>
                <a:spcPts val="800"/>
              </a:spcAft>
              <a:defRPr sz="1400" b="0">
                <a:solidFill>
                  <a:srgbClr val="0F172A"/>
                </a:solidFill>
                <a:latin typeface="Segoe UI"/>
              </a:defRPr>
            </a:pPr>
            <a:r>
              <a:rPr sz="1400" b="0">
                <a:solidFill>
                  <a:srgbClr val="0F172A"/>
                </a:solidFill>
                <a:latin typeface="Segoe UI"/>
              </a:rPr>
              <a:t>• ReduceLROnPlateau: alternativa reactiva — ReduceLROnPlateau(factor=0.5, patience=3).</a:t>
            </a:r>
          </a:p>
          <a:p>
            <a:pPr>
              <a:spcAft>
                <a:spcPts val="800"/>
              </a:spcAft>
              <a:defRPr sz="1400" b="0">
                <a:solidFill>
                  <a:srgbClr val="0F172A"/>
                </a:solidFill>
                <a:latin typeface="Segoe UI"/>
              </a:defRPr>
            </a:pPr>
            <a:r>
              <a:rPr sz="1400" b="0">
                <a:solidFill>
                  <a:srgbClr val="0F172A"/>
                </a:solidFill>
                <a:latin typeface="Segoe UI"/>
              </a:rPr>
              <a:t>• One-cycle: implementar con LearningRateScheduler callback.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3 modelos con la misma arquitectura: (a) LR fijo 1e-3, (b) ExponentialDecay, (c) CosineDecay(warmup_steps=100).</a:t>
            </a:r>
          </a:p>
          <a:p>
            <a:pPr>
              <a:spcAft>
                <a:spcPts val="800"/>
              </a:spcAft>
              <a:defRPr sz="1500" b="0">
                <a:solidFill>
                  <a:srgbClr val="0F172A"/>
                </a:solidFill>
                <a:latin typeface="Segoe UI"/>
              </a:defRPr>
            </a:pPr>
            <a:r>
              <a:rPr sz="1500" b="0">
                <a:solidFill>
                  <a:srgbClr val="0F172A"/>
                </a:solidFill>
                <a:latin typeface="Segoe UI"/>
              </a:rPr>
              <a:t>• Reportar val_accuracy y graficar las curvas de loss + LR.</a:t>
            </a:r>
          </a:p>
          <a:p>
            <a:pPr>
              <a:spcAft>
                <a:spcPts val="800"/>
              </a:spcAft>
              <a:defRPr sz="1500" b="0">
                <a:solidFill>
                  <a:srgbClr val="0F172A"/>
                </a:solidFill>
                <a:latin typeface="Segoe UI"/>
              </a:defRPr>
            </a:pPr>
            <a:r>
              <a:rPr sz="1500" b="0">
                <a:solidFill>
                  <a:srgbClr val="0F172A"/>
                </a:solidFill>
                <a:latin typeface="Segoe UI"/>
              </a:rPr>
              <a:t>• Concluir qué schedule produjo mejor accuracy.</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116 — Regularización: L1/L2, dropout, max-norm, MC dropout (+ Stochastic Depth, DropPath)</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116 — Regularización: L1/L2, dropout, max-norm, MC dropout (+ Stochastic Depth, DropPath)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Regularization + Huang et al. (2016) Deep Networks with Stochastic Depth.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las técnicas de regularización en DL —L1/L2, dropout (Srivastava et al. 2014), max-norm, MC dropout para incertidumbre— y las técnicas modernas que se usan en arquitecturas profundas (ResNets, ViT, Transformers): Stochastic Depth, DropPath y LayerDrop.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keras.regularizers.l1(...), l2(...), l1_l2(...) en una capa.</a:t>
            </a:r>
          </a:p>
          <a:p>
            <a:pPr>
              <a:spcAft>
                <a:spcPts val="800"/>
              </a:spcAft>
              <a:defRPr sz="1400" b="0">
                <a:solidFill>
                  <a:srgbClr val="0F172A"/>
                </a:solidFill>
                <a:latin typeface="Segoe UI"/>
              </a:defRPr>
            </a:pPr>
            <a:r>
              <a:rPr sz="1400" b="0">
                <a:solidFill>
                  <a:srgbClr val="0F172A"/>
                </a:solidFill>
                <a:latin typeface="Segoe UI"/>
              </a:rPr>
              <a:t>• Aplicar Dropout(rate=0.5) y entender qué hace en train vs en inference (default desactivado).</a:t>
            </a:r>
          </a:p>
          <a:p>
            <a:pPr>
              <a:spcAft>
                <a:spcPts val="800"/>
              </a:spcAft>
              <a:defRPr sz="1400" b="0">
                <a:solidFill>
                  <a:srgbClr val="0F172A"/>
                </a:solidFill>
                <a:latin typeface="Segoe UI"/>
              </a:defRPr>
            </a:pPr>
            <a:r>
              <a:rPr sz="1400" b="0">
                <a:solidFill>
                  <a:srgbClr val="0F172A"/>
                </a:solidFill>
                <a:latin typeface="Segoe UI"/>
              </a:rPr>
              <a:t>• Implementar Monte Carlo dropout (Dropout(0.5) activo en inference → predicciones diferentes → incertidumbre).</a:t>
            </a:r>
          </a:p>
          <a:p>
            <a:pPr>
              <a:spcAft>
                <a:spcPts val="800"/>
              </a:spcAft>
              <a:defRPr sz="1400" b="0">
                <a:solidFill>
                  <a:srgbClr val="0F172A"/>
                </a:solidFill>
                <a:latin typeface="Segoe UI"/>
              </a:defRPr>
            </a:pPr>
            <a:r>
              <a:rPr sz="1400" b="0">
                <a:solidFill>
                  <a:srgbClr val="0F172A"/>
                </a:solidFill>
                <a:latin typeface="Segoe UI"/>
              </a:rPr>
              <a:t>• Aplicar Stochastic Depth en una ResNet: dropear bloques residuales completos al azar durante training.</a:t>
            </a:r>
          </a:p>
          <a:p>
            <a:pPr>
              <a:spcAft>
                <a:spcPts val="800"/>
              </a:spcAft>
              <a:defRPr sz="1400" b="0">
                <a:solidFill>
                  <a:srgbClr val="0F172A"/>
                </a:solidFill>
                <a:latin typeface="Segoe UI"/>
              </a:defRPr>
            </a:pPr>
            <a:r>
              <a:rPr sz="1400" b="0">
                <a:solidFill>
                  <a:srgbClr val="0F172A"/>
                </a:solidFill>
                <a:latin typeface="Segoe UI"/>
              </a:rPr>
              <a:t>• Aplicar DropPath (estándar en ViT, Swin Transformer, ConvNeXt).</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116 — Regularización: L1/L2, dropout, max-norm, MC dropout (+ Stochastic Depth, DropPath)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L1/L2 como penalización en la loss. λ típicamente 1e-4 a 1e-2.</a:t>
            </a:r>
          </a:p>
          <a:p>
            <a:pPr>
              <a:spcAft>
                <a:spcPts val="1000"/>
              </a:spcAft>
              <a:defRPr sz="1600" b="0">
                <a:solidFill>
                  <a:srgbClr val="0F172A"/>
                </a:solidFill>
                <a:latin typeface="Segoe UI"/>
              </a:defRPr>
            </a:pPr>
            <a:r>
              <a:rPr sz="1600" b="0">
                <a:solidFill>
                  <a:srgbClr val="0F172A"/>
                </a:solidFill>
                <a:latin typeface="Segoe UI"/>
              </a:rPr>
              <a:t>• Dropout: enmascarar fracción r de las activaciones por batch.</a:t>
            </a:r>
          </a:p>
          <a:p>
            <a:pPr>
              <a:spcAft>
                <a:spcPts val="1000"/>
              </a:spcAft>
              <a:defRPr sz="1600" b="0">
                <a:solidFill>
                  <a:srgbClr val="0F172A"/>
                </a:solidFill>
                <a:latin typeface="Segoe UI"/>
              </a:defRPr>
            </a:pPr>
            <a:r>
              <a:rPr sz="1600" b="0">
                <a:solidFill>
                  <a:srgbClr val="0F172A"/>
                </a:solidFill>
                <a:latin typeface="Segoe UI"/>
              </a:rPr>
              <a:t>• Inverted dropout: en inference no se hace nada porque train ya escala por 1/(1-r).</a:t>
            </a:r>
          </a:p>
          <a:p>
            <a:pPr>
              <a:spcAft>
                <a:spcPts val="1000"/>
              </a:spcAft>
              <a:defRPr sz="1600" b="0">
                <a:solidFill>
                  <a:srgbClr val="0F172A"/>
                </a:solidFill>
                <a:latin typeface="Segoe UI"/>
              </a:defRPr>
            </a:pPr>
            <a:r>
              <a:rPr sz="1600" b="0">
                <a:solidFill>
                  <a:srgbClr val="0F172A"/>
                </a:solidFill>
                <a:latin typeface="Segoe UI"/>
              </a:rPr>
              <a:t>• Max-norm constraint: ||w|| ≤ c por neurona después de cada update.</a:t>
            </a:r>
          </a:p>
          <a:p>
            <a:pPr>
              <a:spcAft>
                <a:spcPts val="1000"/>
              </a:spcAft>
              <a:defRPr sz="1600" b="0">
                <a:solidFill>
                  <a:srgbClr val="0F172A"/>
                </a:solidFill>
                <a:latin typeface="Segoe UI"/>
              </a:defRPr>
            </a:pPr>
            <a:r>
              <a:rPr sz="1600" b="0">
                <a:solidFill>
                  <a:srgbClr val="0F172A"/>
                </a:solidFill>
                <a:latin typeface="Segoe UI"/>
              </a:rPr>
              <a:t>• MC Dropout (Gal &amp; Ghahramani 2016): incertidumbre bayesiana aproximada.</a:t>
            </a:r>
          </a:p>
          <a:p>
            <a:pPr>
              <a:spcAft>
                <a:spcPts val="1000"/>
              </a:spcAft>
              <a:defRPr sz="1600" b="0">
                <a:solidFill>
                  <a:srgbClr val="0F172A"/>
                </a:solidFill>
                <a:latin typeface="Segoe UI"/>
              </a:defRPr>
            </a:pPr>
            <a:r>
              <a:rPr sz="1600" b="0">
                <a:solidFill>
                  <a:srgbClr val="0F172A"/>
                </a:solidFill>
                <a:latin typeface="Segoe UI"/>
              </a:rPr>
              <a:t>• Complemento moderno: Stochastic Depth, DropPath (= Stochastic Depth aplicado a paths de attention/FFN), LayerDrop (Fan et al. 2020).</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116 — Regularización: L1/L2, dropout, max-norm, MC dropout (+ Stochastic Depth, DropPath)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l2 (weight decay) mantiene pesos chicos; l1 promueve sparsity. Se pasan como kernel_regularizer.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reg_l2 =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layers.Dense(512, activation="relu", kernel_regularizer=keras.regularizers.l2(1e-3)),</a:t>
            </a:r>
          </a:p>
          <a:p>
            <a:pPr>
              <a:defRPr sz="1200" b="0">
                <a:solidFill>
                  <a:srgbClr val="F8FAFC"/>
                </a:solidFill>
                <a:latin typeface="Courier New"/>
              </a:defRPr>
            </a:pPr>
            <a:r>
              <a:rPr sz="1200" b="0">
                <a:solidFill>
                  <a:srgbClr val="F8FAFC"/>
                </a:solidFill>
                <a:latin typeface="Courier New"/>
              </a:rPr>
              <a:t>    layers.Dense(256, activation="relu", kernel_regularizer=keras.regularizers.l2(1e-3)),</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reg_l2.compile(optimizer="adam", loss="sparse_categorical_crossentropy", metrics=["accuracy"])</a:t>
            </a:r>
          </a:p>
          <a:p>
            <a:pPr>
              <a:defRPr sz="1200" b="0">
                <a:solidFill>
                  <a:srgbClr val="F8FAFC"/>
                </a:solidFill>
                <a:latin typeface="Courier New"/>
              </a:defRPr>
            </a:pPr>
            <a:r>
              <a:rPr sz="1200" b="0">
                <a:solidFill>
                  <a:srgbClr val="F8FAFC"/>
                </a:solidFill>
                <a:latin typeface="Courier New"/>
              </a:rPr>
              <a:t>print("l1:", keras.regularizers.l1(1e-4),</a:t>
            </a:r>
          </a:p>
          <a:p>
            <a:pPr>
              <a:defRPr sz="1200" b="0">
                <a:solidFill>
                  <a:srgbClr val="F8FAFC"/>
                </a:solidFill>
                <a:latin typeface="Courier New"/>
              </a:defRPr>
            </a:pPr>
            <a:r>
              <a:rPr sz="1200" b="0">
                <a:solidFill>
                  <a:srgbClr val="F8FAFC"/>
                </a:solidFill>
                <a:latin typeface="Courier New"/>
              </a:rPr>
              <a:t>      "| l1_l2:", keras.regularizers.l1_l2(l1=1e-5, l2=1e-4))</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116 — Regularización: L1/L2, dropout, max-norm, MC dropout (+ Stochastic Depth, DropPath)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Sin regularización: entrenar un MLP grande ([512, 256, 128]) en Fashion-MNIST y observar overfitting (gap train/val ≥ 5 pp).</a:t>
            </a:r>
          </a:p>
          <a:p>
            <a:pPr>
              <a:spcAft>
                <a:spcPts val="800"/>
              </a:spcAft>
              <a:defRPr sz="1400" b="0">
                <a:solidFill>
                  <a:srgbClr val="0F172A"/>
                </a:solidFill>
                <a:latin typeface="Segoe UI"/>
              </a:defRPr>
            </a:pPr>
            <a:r>
              <a:rPr sz="1400" b="0">
                <a:solidFill>
                  <a:srgbClr val="0F172A"/>
                </a:solidFill>
                <a:latin typeface="Segoe UI"/>
              </a:rPr>
              <a:t>• L2: agregar kernel_regularizer=keras.regularizers.l2(1e-3) a cada Dense.</a:t>
            </a:r>
          </a:p>
          <a:p>
            <a:pPr>
              <a:spcAft>
                <a:spcPts val="800"/>
              </a:spcAft>
              <a:defRPr sz="1400" b="0">
                <a:solidFill>
                  <a:srgbClr val="0F172A"/>
                </a:solidFill>
                <a:latin typeface="Segoe UI"/>
              </a:defRPr>
            </a:pPr>
            <a:r>
              <a:rPr sz="1400" b="0">
                <a:solidFill>
                  <a:srgbClr val="0F172A"/>
                </a:solidFill>
                <a:latin typeface="Segoe UI"/>
              </a:rPr>
              <a:t>• Dropout: agregar Dropout(0.3) entre Dense layers.</a:t>
            </a:r>
          </a:p>
          <a:p>
            <a:pPr>
              <a:spcAft>
                <a:spcPts val="800"/>
              </a:spcAft>
              <a:defRPr sz="1400" b="0">
                <a:solidFill>
                  <a:srgbClr val="0F172A"/>
                </a:solidFill>
                <a:latin typeface="Segoe UI"/>
              </a:defRPr>
            </a:pPr>
            <a:r>
              <a:rPr sz="1400" b="0">
                <a:solidFill>
                  <a:srgbClr val="0F172A"/>
                </a:solidFill>
                <a:latin typeface="Segoe UI"/>
              </a:rPr>
              <a:t>• MC Dropout: para 1 sample de test, hacer 100 predicciones con model(x, training=True).</a:t>
            </a:r>
          </a:p>
          <a:p>
            <a:pPr>
              <a:spcAft>
                <a:spcPts val="800"/>
              </a:spcAft>
              <a:defRPr sz="1400" b="0">
                <a:solidFill>
                  <a:srgbClr val="0F172A"/>
                </a:solidFill>
                <a:latin typeface="Segoe UI"/>
              </a:defRPr>
            </a:pPr>
            <a:r>
              <a:rPr sz="1400" b="0">
                <a:solidFill>
                  <a:srgbClr val="0F172A"/>
                </a:solidFill>
                <a:latin typeface="Segoe UI"/>
              </a:rPr>
              <a:t>• Stochastic Depth simulado: en un mini ResNet con 8 bloques, dropear cada bloque con prob 0.1 lineal.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4 versiones: sin regularización; L2(1e-3); Dropout(0.3); L2 + Dropout combinados.</a:t>
            </a:r>
          </a:p>
          <a:p>
            <a:pPr>
              <a:spcAft>
                <a:spcPts val="800"/>
              </a:spcAft>
              <a:defRPr sz="1500" b="0">
                <a:solidFill>
                  <a:srgbClr val="0F172A"/>
                </a:solidFill>
                <a:latin typeface="Segoe UI"/>
              </a:defRPr>
            </a:pPr>
            <a:r>
              <a:rPr sz="1500" b="0">
                <a:solidFill>
                  <a:srgbClr val="0F172A"/>
                </a:solidFill>
                <a:latin typeface="Segoe UI"/>
              </a:rPr>
              <a:t>• Reportar train_acc y val_acc; calcular el gap.</a:t>
            </a:r>
          </a:p>
          <a:p>
            <a:pPr>
              <a:spcAft>
                <a:spcPts val="800"/>
              </a:spcAft>
              <a:defRPr sz="1500" b="0">
                <a:solidFill>
                  <a:srgbClr val="0F172A"/>
                </a:solidFill>
                <a:latin typeface="Segoe UI"/>
              </a:defRPr>
            </a:pPr>
            <a:r>
              <a:rPr sz="1500" b="0">
                <a:solidFill>
                  <a:srgbClr val="0F172A"/>
                </a:solidFill>
                <a:latin typeface="Segoe UI"/>
              </a:rPr>
              <a:t>• Para el mejor modelo, hacer MC Dropout con 50 muestras sobre 5 imágenes ambiguas y reportar incertidumbre.</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117 — Regularización moderna: Stochastic Depth, DropPath, LayerDrop</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117 — Regularización moderna: Stochastic Depth, DropPath, LayerDrop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Huang et al. (2016) Stochastic Depth + Fan et al. (2020) LayerDrop + DropPath en ViT/Swin/ConvNeXt.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regularización por paths/bloques —más allá del dropout clásico— en arquitecturas profundas modernas (ResNet, ViT, ConvNeXt, Swin Transformer). Cubrir Stochastic Depth (drop bloque residual), DropPath (drop path en transformer), LayerDrop (drop layer completa). Beneficio doble: regularización + reducción de cómputo durante training.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keras.layers.StochasticDepth(rate) o DropPath(rate) en bloques residuales.</a:t>
            </a:r>
          </a:p>
          <a:p>
            <a:pPr>
              <a:spcAft>
                <a:spcPts val="800"/>
              </a:spcAft>
              <a:defRPr sz="1400" b="0">
                <a:solidFill>
                  <a:srgbClr val="0F172A"/>
                </a:solidFill>
                <a:latin typeface="Segoe UI"/>
              </a:defRPr>
            </a:pPr>
            <a:r>
              <a:rPr sz="1400" b="0">
                <a:solidFill>
                  <a:srgbClr val="0F172A"/>
                </a:solidFill>
                <a:latin typeface="Segoe UI"/>
              </a:rPr>
              <a:t>• Diseñar rate lineal por profundidad: capa 0 → 0.0, capa N → 0.2.</a:t>
            </a:r>
          </a:p>
          <a:p>
            <a:pPr>
              <a:spcAft>
                <a:spcPts val="800"/>
              </a:spcAft>
              <a:defRPr sz="1400" b="0">
                <a:solidFill>
                  <a:srgbClr val="0F172A"/>
                </a:solidFill>
                <a:latin typeface="Segoe UI"/>
              </a:defRPr>
            </a:pPr>
            <a:r>
              <a:rPr sz="1400" b="0">
                <a:solidFill>
                  <a:srgbClr val="0F172A"/>
                </a:solidFill>
                <a:latin typeface="Segoe UI"/>
              </a:rPr>
              <a:t>• Aplicar LayerDrop durante pretraining para permitir inference con menos capas.</a:t>
            </a:r>
          </a:p>
          <a:p>
            <a:pPr>
              <a:spcAft>
                <a:spcPts val="800"/>
              </a:spcAft>
              <a:defRPr sz="1400" b="0">
                <a:solidFill>
                  <a:srgbClr val="0F172A"/>
                </a:solidFill>
                <a:latin typeface="Segoe UI"/>
              </a:defRPr>
            </a:pPr>
            <a:r>
              <a:rPr sz="1400" b="0">
                <a:solidFill>
                  <a:srgbClr val="0F172A"/>
                </a:solidFill>
                <a:latin typeface="Segoe UI"/>
              </a:rPr>
              <a:t>• Diferenciar Dropout (neurona) vs Stochastic Depth (bloque) vs LayerDrop (layer).</a:t>
            </a:r>
          </a:p>
          <a:p>
            <a:pPr>
              <a:spcAft>
                <a:spcPts val="800"/>
              </a:spcAft>
              <a:defRPr sz="1400" b="0">
                <a:solidFill>
                  <a:srgbClr val="0F172A"/>
                </a:solidFill>
                <a:latin typeface="Segoe UI"/>
              </a:defRPr>
            </a:pPr>
            <a:r>
              <a:rPr sz="1400" b="0">
                <a:solidFill>
                  <a:srgbClr val="0F172A"/>
                </a:solidFill>
                <a:latin typeface="Segoe UI"/>
              </a:rPr>
              <a:t>• Reconocer el speedup de training: 25 % más rápido en ResNet-110 (Huang 2016).</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117 — Regularización moderna: Stochastic Depth, DropPath, LayerDrop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Dropout clásico vs Stochastic Depth.</a:t>
            </a:r>
          </a:p>
          <a:p>
            <a:pPr>
              <a:spcAft>
                <a:spcPts val="1000"/>
              </a:spcAft>
              <a:defRPr sz="1600" b="0">
                <a:solidFill>
                  <a:srgbClr val="0F172A"/>
                </a:solidFill>
                <a:latin typeface="Segoe UI"/>
              </a:defRPr>
            </a:pPr>
            <a:r>
              <a:rPr sz="1600" b="0">
                <a:solidFill>
                  <a:srgbClr val="0F172A"/>
                </a:solidFill>
                <a:latin typeface="Segoe UI"/>
              </a:rPr>
              <a:t>• DropPath = Stochastic Depth para Transformers.</a:t>
            </a:r>
          </a:p>
          <a:p>
            <a:pPr>
              <a:spcAft>
                <a:spcPts val="1000"/>
              </a:spcAft>
              <a:defRPr sz="1600" b="0">
                <a:solidFill>
                  <a:srgbClr val="0F172A"/>
                </a:solidFill>
                <a:latin typeface="Segoe UI"/>
              </a:defRPr>
            </a:pPr>
            <a:r>
              <a:rPr sz="1600" b="0">
                <a:solidFill>
                  <a:srgbClr val="0F172A"/>
                </a:solidFill>
                <a:latin typeface="Segoe UI"/>
              </a:rPr>
              <a:t>• Rate lineal: p_i = i/N · p_max.</a:t>
            </a:r>
          </a:p>
          <a:p>
            <a:pPr>
              <a:spcAft>
                <a:spcPts val="1000"/>
              </a:spcAft>
              <a:defRPr sz="1600" b="0">
                <a:solidFill>
                  <a:srgbClr val="0F172A"/>
                </a:solidFill>
                <a:latin typeface="Segoe UI"/>
              </a:defRPr>
            </a:pPr>
            <a:r>
              <a:rPr sz="1600" b="0">
                <a:solidFill>
                  <a:srgbClr val="0F172A"/>
                </a:solidFill>
                <a:latin typeface="Segoe UI"/>
              </a:rPr>
              <a:t>• LayerDrop para compresión de Transformers.</a:t>
            </a:r>
          </a:p>
          <a:p>
            <a:pPr>
              <a:spcAft>
                <a:spcPts val="1000"/>
              </a:spcAft>
              <a:defRPr sz="1600" b="0">
                <a:solidFill>
                  <a:srgbClr val="0F172A"/>
                </a:solidFill>
                <a:latin typeface="Segoe UI"/>
              </a:defRPr>
            </a:pPr>
            <a:r>
              <a:rPr sz="1600" b="0">
                <a:solidFill>
                  <a:srgbClr val="0F172A"/>
                </a:solidFill>
                <a:latin typeface="Segoe UI"/>
              </a:rPr>
              <a:t>• Combinaciones: Dropout + DropPath + Label Smoothing.</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117 — Regularización moderna: Stochastic Depth, DropPath, LayerDrop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Huang et al. 2016: durante entrenamiento, droppea capas residuales enteras con prob p_l. En inference, escalá el output. Implementamos sin torch — todo numpy + sklearn.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stochastic_depth(x, p, training=True):</a:t>
            </a:r>
          </a:p>
          <a:p>
            <a:pPr>
              <a:defRPr sz="1200" b="0">
                <a:solidFill>
                  <a:srgbClr val="F8FAFC"/>
                </a:solidFill>
                <a:latin typeface="Courier New"/>
              </a:defRPr>
            </a:pPr>
            <a:r>
              <a:rPr sz="1200" b="0">
                <a:solidFill>
                  <a:srgbClr val="F8FAFC"/>
                </a:solidFill>
                <a:latin typeface="Courier New"/>
              </a:rPr>
              <a:t>    """Si training: con prob p dropea (devuelve 0). Si no, escala por (1-p).</a:t>
            </a:r>
          </a:p>
          <a:p>
            <a:pPr>
              <a:defRPr sz="1200" b="0">
                <a:solidFill>
                  <a:srgbClr val="F8FAFC"/>
                </a:solidFill>
                <a:latin typeface="Courier New"/>
              </a:defRPr>
            </a:pPr>
            <a:r>
              <a:rPr sz="1200" b="0">
                <a:solidFill>
                  <a:srgbClr val="F8FAFC"/>
                </a:solidFill>
                <a:latin typeface="Courier New"/>
              </a:rPr>
              <a:t>    Funciona para batch o single sample. p=0 → identidad.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if not training:</a:t>
            </a:r>
          </a:p>
          <a:p>
            <a:pPr>
              <a:defRPr sz="1200" b="0">
                <a:solidFill>
                  <a:srgbClr val="F8FAFC"/>
                </a:solidFill>
                <a:latin typeface="Courier New"/>
              </a:defRPr>
            </a:pPr>
            <a:r>
              <a:rPr sz="1200" b="0">
                <a:solidFill>
                  <a:srgbClr val="F8FAFC"/>
                </a:solidFill>
                <a:latin typeface="Courier New"/>
              </a:rPr>
              <a:t>        return x * (1 - p)</a:t>
            </a:r>
          </a:p>
          <a:p>
            <a:pPr>
              <a:defRPr sz="1200" b="0">
                <a:solidFill>
                  <a:srgbClr val="F8FAFC"/>
                </a:solidFill>
                <a:latin typeface="Courier New"/>
              </a:defRPr>
            </a:pPr>
            <a:r>
              <a:rPr sz="1200" b="0">
                <a:solidFill>
                  <a:srgbClr val="F8FAFC"/>
                </a:solidFill>
                <a:latin typeface="Courier New"/>
              </a:rPr>
              <a:t>    if np.random.rand() &lt; p:</a:t>
            </a:r>
          </a:p>
          <a:p>
            <a:pPr>
              <a:defRPr sz="1200" b="0">
                <a:solidFill>
                  <a:srgbClr val="F8FAFC"/>
                </a:solidFill>
                <a:latin typeface="Courier New"/>
              </a:defRPr>
            </a:pPr>
            <a:r>
              <a:rPr sz="1200" b="0">
                <a:solidFill>
                  <a:srgbClr val="F8FAFC"/>
                </a:solidFill>
                <a:latin typeface="Courier New"/>
              </a:rPr>
              <a:t>        return np.zeros_like(x)</a:t>
            </a:r>
          </a:p>
          <a:p>
            <a:pPr>
              <a:defRPr sz="1200" b="0">
                <a:solidFill>
                  <a:srgbClr val="F8FAFC"/>
                </a:solidFill>
                <a:latin typeface="Courier New"/>
              </a:defRPr>
            </a:pPr>
            <a:r>
              <a:rPr sz="1200" b="0">
                <a:solidFill>
                  <a:srgbClr val="F8FAFC"/>
                </a:solidFill>
                <a:latin typeface="Courier New"/>
              </a:rPr>
              <a:t>    return x</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117 — Regularización moderna: Stochastic Depth, DropPath, LayerDrop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ResNet con Stochastic Depth: implementar BasicBlock con StochasticDepth(p).</a:t>
            </a:r>
          </a:p>
          <a:p>
            <a:pPr>
              <a:spcAft>
                <a:spcPts val="800"/>
              </a:spcAft>
              <a:defRPr sz="1400" b="0">
                <a:solidFill>
                  <a:srgbClr val="0F172A"/>
                </a:solidFill>
                <a:latin typeface="Segoe UI"/>
              </a:defRPr>
            </a:pPr>
            <a:r>
              <a:rPr sz="1400" b="0">
                <a:solidFill>
                  <a:srgbClr val="0F172A"/>
                </a:solidFill>
                <a:latin typeface="Segoe UI"/>
              </a:rPr>
              <a:t>• Rate lineal: aplicar p_i = i/N · 0.2 en cada bloque.</a:t>
            </a:r>
          </a:p>
          <a:p>
            <a:pPr>
              <a:spcAft>
                <a:spcPts val="800"/>
              </a:spcAft>
              <a:defRPr sz="1400" b="0">
                <a:solidFill>
                  <a:srgbClr val="0F172A"/>
                </a:solidFill>
                <a:latin typeface="Segoe UI"/>
              </a:defRPr>
            </a:pPr>
            <a:r>
              <a:rPr sz="1400" b="0">
                <a:solidFill>
                  <a:srgbClr val="0F172A"/>
                </a:solidFill>
                <a:latin typeface="Segoe UI"/>
              </a:rPr>
              <a:t>• ViT con DropPath: timm.create_model('vit_tiny_patch16_224', drop_path_rate=0.1).</a:t>
            </a:r>
          </a:p>
          <a:p>
            <a:pPr>
              <a:spcAft>
                <a:spcPts val="800"/>
              </a:spcAft>
              <a:defRPr sz="1400" b="0">
                <a:solidFill>
                  <a:srgbClr val="0F172A"/>
                </a:solidFill>
                <a:latin typeface="Segoe UI"/>
              </a:defRPr>
            </a:pPr>
            <a:r>
              <a:rPr sz="1400" b="0">
                <a:solidFill>
                  <a:srgbClr val="0F172A"/>
                </a:solidFill>
                <a:latin typeface="Segoe UI"/>
              </a:rPr>
              <a:t>• LayerDrop: simular con 12-layer BERT mini — drop 50 % layers.</a:t>
            </a:r>
          </a:p>
          <a:p>
            <a:pPr>
              <a:spcAft>
                <a:spcPts val="800"/>
              </a:spcAft>
              <a:defRPr sz="1400" b="0">
                <a:solidFill>
                  <a:srgbClr val="0F172A"/>
                </a:solidFill>
                <a:latin typeface="Segoe UI"/>
              </a:defRPr>
            </a:pPr>
            <a:r>
              <a:rPr sz="1400" b="0">
                <a:solidFill>
                  <a:srgbClr val="0F172A"/>
                </a:solidFill>
                <a:latin typeface="Segoe UI"/>
              </a:rPr>
              <a:t>• Speed: medir wall-clock training con vs sin Stochastic Depth.</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con y sin Stochastic Depth (rate lineal a 0.2 final).</a:t>
            </a:r>
          </a:p>
          <a:p>
            <a:pPr>
              <a:spcAft>
                <a:spcPts val="800"/>
              </a:spcAft>
              <a:defRPr sz="1500" b="0">
                <a:solidFill>
                  <a:srgbClr val="0F172A"/>
                </a:solidFill>
                <a:latin typeface="Segoe UI"/>
              </a:defRPr>
            </a:pPr>
            <a:r>
              <a:rPr sz="1500" b="0">
                <a:solidFill>
                  <a:srgbClr val="0F172A"/>
                </a:solidFill>
                <a:latin typeface="Segoe UI"/>
              </a:rPr>
              <a:t>• Reportar accuracy + tiempo total.</a:t>
            </a:r>
          </a:p>
          <a:p>
            <a:pPr>
              <a:spcAft>
                <a:spcPts val="800"/>
              </a:spcAft>
              <a:defRPr sz="1500" b="0">
                <a:solidFill>
                  <a:srgbClr val="0F172A"/>
                </a:solidFill>
                <a:latin typeface="Segoe UI"/>
              </a:defRPr>
            </a:pPr>
            <a:r>
              <a:rPr sz="1500" b="0">
                <a:solidFill>
                  <a:srgbClr val="0F172A"/>
                </a:solidFill>
                <a:latin typeface="Segoe UI"/>
              </a:rPr>
              <a:t>• Verificar regularización: gap train-val.</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118 — TensorFlow: tensores, variables, operaciones</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118 — TensorFlow: tensores, variables, operaciones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12 § Using TensorFlow like NumPy.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Bajar un nivel por debajo de Keras: trabajar directamente con tensores (tf.Tensor) y variables (tf.Variable), entender la API NumPy-like de TF (tf.matmul, tf.reduce_*, tf.cast, tf.reshape), y diferenciar inmutable (Tensor) de mutable (Variable, base de los pesos).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tensores con tf.constant, tf.zeros, tf.ones, tf.random.normal.</a:t>
            </a:r>
          </a:p>
          <a:p>
            <a:pPr>
              <a:spcAft>
                <a:spcPts val="800"/>
              </a:spcAft>
              <a:defRPr sz="1400" b="0">
                <a:solidFill>
                  <a:srgbClr val="0F172A"/>
                </a:solidFill>
                <a:latin typeface="Segoe UI"/>
              </a:defRPr>
            </a:pPr>
            <a:r>
              <a:rPr sz="1400" b="0">
                <a:solidFill>
                  <a:srgbClr val="0F172A"/>
                </a:solidFill>
                <a:latin typeface="Segoe UI"/>
              </a:rPr>
              <a:t>• Aplicar operaciones: aritméticas, matmul, broadcasting, indexing/slicing, reduce_mean/sum/max.</a:t>
            </a:r>
          </a:p>
          <a:p>
            <a:pPr>
              <a:spcAft>
                <a:spcPts val="800"/>
              </a:spcAft>
              <a:defRPr sz="1400" b="0">
                <a:solidFill>
                  <a:srgbClr val="0F172A"/>
                </a:solidFill>
                <a:latin typeface="Segoe UI"/>
              </a:defRPr>
            </a:pPr>
            <a:r>
              <a:rPr sz="1400" b="0">
                <a:solidFill>
                  <a:srgbClr val="0F172A"/>
                </a:solidFill>
                <a:latin typeface="Segoe UI"/>
              </a:rPr>
              <a:t>• Convertir entre TF y NumPy (.numpy(), tf.convert_to_tensor).</a:t>
            </a:r>
          </a:p>
          <a:p>
            <a:pPr>
              <a:spcAft>
                <a:spcPts val="800"/>
              </a:spcAft>
              <a:defRPr sz="1400" b="0">
                <a:solidFill>
                  <a:srgbClr val="0F172A"/>
                </a:solidFill>
                <a:latin typeface="Segoe UI"/>
              </a:defRPr>
            </a:pPr>
            <a:r>
              <a:rPr sz="1400" b="0">
                <a:solidFill>
                  <a:srgbClr val="0F172A"/>
                </a:solidFill>
                <a:latin typeface="Segoe UI"/>
              </a:rPr>
              <a:t>• Crear y modificar tf.Variable con .assign, .assign_add.</a:t>
            </a:r>
          </a:p>
          <a:p>
            <a:pPr>
              <a:spcAft>
                <a:spcPts val="800"/>
              </a:spcAft>
              <a:defRPr sz="1400" b="0">
                <a:solidFill>
                  <a:srgbClr val="0F172A"/>
                </a:solidFill>
                <a:latin typeface="Segoe UI"/>
              </a:defRPr>
            </a:pPr>
            <a:r>
              <a:rPr sz="1400" b="0">
                <a:solidFill>
                  <a:srgbClr val="0F172A"/>
                </a:solidFill>
                <a:latin typeface="Segoe UI"/>
              </a:rPr>
              <a:t>• Reconocer dtypes (float32, float64, int32, bool) y forzar cast cuando hace falta.</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118 — TensorFlow: tensores, variables, operaciones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tf.Tensor: inmutable, similar a np.ndarray.</a:t>
            </a:r>
          </a:p>
          <a:p>
            <a:pPr>
              <a:spcAft>
                <a:spcPts val="1000"/>
              </a:spcAft>
              <a:defRPr sz="1600" b="0">
                <a:solidFill>
                  <a:srgbClr val="0F172A"/>
                </a:solidFill>
                <a:latin typeface="Segoe UI"/>
              </a:defRPr>
            </a:pPr>
            <a:r>
              <a:rPr sz="1600" b="0">
                <a:solidFill>
                  <a:srgbClr val="0F172A"/>
                </a:solidFill>
                <a:latin typeface="Segoe UI"/>
              </a:rPr>
              <a:t>• tf.Variable: mutable, base de los pesos.</a:t>
            </a:r>
          </a:p>
          <a:p>
            <a:pPr>
              <a:spcAft>
                <a:spcPts val="1000"/>
              </a:spcAft>
              <a:defRPr sz="1600" b="0">
                <a:solidFill>
                  <a:srgbClr val="0F172A"/>
                </a:solidFill>
                <a:latin typeface="Segoe UI"/>
              </a:defRPr>
            </a:pPr>
            <a:r>
              <a:rPr sz="1600" b="0">
                <a:solidFill>
                  <a:srgbClr val="0F172A"/>
                </a:solidFill>
                <a:latin typeface="Segoe UI"/>
              </a:rPr>
              <a:t>• Broadcasting (idéntico a NumPy).</a:t>
            </a:r>
          </a:p>
          <a:p>
            <a:pPr>
              <a:spcAft>
                <a:spcPts val="1000"/>
              </a:spcAft>
              <a:defRPr sz="1600" b="0">
                <a:solidFill>
                  <a:srgbClr val="0F172A"/>
                </a:solidFill>
                <a:latin typeface="Segoe UI"/>
              </a:defRPr>
            </a:pPr>
            <a:r>
              <a:rPr sz="1600" b="0">
                <a:solidFill>
                  <a:srgbClr val="0F172A"/>
                </a:solidFill>
                <a:latin typeface="Segoe UI"/>
              </a:rPr>
              <a:t>• Operaciones reduce con axis=.</a:t>
            </a:r>
          </a:p>
          <a:p>
            <a:pPr>
              <a:spcAft>
                <a:spcPts val="1000"/>
              </a:spcAft>
              <a:defRPr sz="1600" b="0">
                <a:solidFill>
                  <a:srgbClr val="0F172A"/>
                </a:solidFill>
                <a:latin typeface="Segoe UI"/>
              </a:defRPr>
            </a:pPr>
            <a:r>
              <a:rPr sz="1600" b="0">
                <a:solidFill>
                  <a:srgbClr val="0F172A"/>
                </a:solidFill>
                <a:latin typeface="Segoe UI"/>
              </a:rPr>
              <a:t>• tf.function (anticipo clase 107) — convierte una función Python en grafo.</a:t>
            </a:r>
          </a:p>
          <a:p>
            <a:pPr>
              <a:spcAft>
                <a:spcPts val="1000"/>
              </a:spcAft>
              <a:defRPr sz="1600" b="0">
                <a:solidFill>
                  <a:srgbClr val="0F172A"/>
                </a:solidFill>
                <a:latin typeface="Segoe UI"/>
              </a:defRPr>
            </a:pPr>
            <a:r>
              <a:rPr sz="1600" b="0">
                <a:solidFill>
                  <a:srgbClr val="0F172A"/>
                </a:solidFill>
                <a:latin typeface="Segoe UI"/>
              </a:rPr>
              <a:t>• TF en GPU: ops sobre tensores van a GPU automáticamente si está disponible.</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118 — TensorFlow: tensores, variables, operaciones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tf.random.set_seed(42)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 = tf.constant([[1.0, 2.0], [3.0, 4.0]])</a:t>
            </a:r>
          </a:p>
          <a:p>
            <a:pPr>
              <a:defRPr sz="1200" b="0">
                <a:solidFill>
                  <a:srgbClr val="F8FAFC"/>
                </a:solidFill>
                <a:latin typeface="Courier New"/>
              </a:defRPr>
            </a:pPr>
            <a:r>
              <a:rPr sz="1200" b="0">
                <a:solidFill>
                  <a:srgbClr val="F8FAFC"/>
                </a:solidFill>
                <a:latin typeface="Courier New"/>
              </a:rPr>
              <a:t>ceros = tf.zeros((2, 3))</a:t>
            </a:r>
          </a:p>
          <a:p>
            <a:pPr>
              <a:defRPr sz="1200" b="0">
                <a:solidFill>
                  <a:srgbClr val="F8FAFC"/>
                </a:solidFill>
                <a:latin typeface="Courier New"/>
              </a:defRPr>
            </a:pPr>
            <a:r>
              <a:rPr sz="1200" b="0">
                <a:solidFill>
                  <a:srgbClr val="F8FAFC"/>
                </a:solidFill>
                <a:latin typeface="Courier New"/>
              </a:rPr>
              <a:t>unos = tf.ones((2, 3))</a:t>
            </a:r>
          </a:p>
          <a:p>
            <a:pPr>
              <a:defRPr sz="1200" b="0">
                <a:solidFill>
                  <a:srgbClr val="F8FAFC"/>
                </a:solidFill>
                <a:latin typeface="Courier New"/>
              </a:defRPr>
            </a:pPr>
            <a:r>
              <a:rPr sz="1200" b="0">
                <a:solidFill>
                  <a:srgbClr val="F8FAFC"/>
                </a:solidFill>
                <a:latin typeface="Courier New"/>
              </a:rPr>
              <a:t>aleatorio = tf.random.normal((2, 2), mean=0.0, stddev=1.0)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print("t =\n", t.numpy())</a:t>
            </a:r>
          </a:p>
          <a:p>
            <a:pPr>
              <a:defRPr sz="1200" b="0">
                <a:solidFill>
                  <a:srgbClr val="F8FAFC"/>
                </a:solidFill>
                <a:latin typeface="Courier New"/>
              </a:defRPr>
            </a:pPr>
            <a:r>
              <a:rPr sz="1200" b="0">
                <a:solidFill>
                  <a:srgbClr val="F8FAFC"/>
                </a:solidFill>
                <a:latin typeface="Courier New"/>
              </a:rPr>
              <a:t>print("shape:", t.shape, "| dtype:", t.dtype)</a:t>
            </a:r>
          </a:p>
          <a:p>
            <a:pPr>
              <a:defRPr sz="1200" b="0">
                <a:solidFill>
                  <a:srgbClr val="F8FAFC"/>
                </a:solidFill>
                <a:latin typeface="Courier New"/>
              </a:defRPr>
            </a:pPr>
            <a:r>
              <a:rPr sz="1200" b="0">
                <a:solidFill>
                  <a:srgbClr val="F8FAFC"/>
                </a:solidFill>
                <a:latin typeface="Courier New"/>
              </a:rPr>
              <a:t>print("aleatorio ~N(0,1):\n", aleatorio.numpy())</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118 — TensorFlow: tensores, variables, operaciones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Tensores básicos: crear t = tf.constant([[1.0, 2.0], [3.0, 4.0]]).</a:t>
            </a:r>
          </a:p>
          <a:p>
            <a:pPr>
              <a:spcAft>
                <a:spcPts val="800"/>
              </a:spcAft>
              <a:defRPr sz="1400" b="0">
                <a:solidFill>
                  <a:srgbClr val="0F172A"/>
                </a:solidFill>
                <a:latin typeface="Segoe UI"/>
              </a:defRPr>
            </a:pPr>
            <a:r>
              <a:rPr sz="1400" b="0">
                <a:solidFill>
                  <a:srgbClr val="0F172A"/>
                </a:solidFill>
                <a:latin typeface="Segoe UI"/>
              </a:rPr>
              <a:t>• Operaciones: tf.matmul(t, t), tf.transpose(t), tf.reduce_sum(t, axis=0).</a:t>
            </a:r>
          </a:p>
          <a:p>
            <a:pPr>
              <a:spcAft>
                <a:spcPts val="800"/>
              </a:spcAft>
              <a:defRPr sz="1400" b="0">
                <a:solidFill>
                  <a:srgbClr val="0F172A"/>
                </a:solidFill>
                <a:latin typeface="Segoe UI"/>
              </a:defRPr>
            </a:pPr>
            <a:r>
              <a:rPr sz="1400" b="0">
                <a:solidFill>
                  <a:srgbClr val="0F172A"/>
                </a:solidFill>
                <a:latin typeface="Segoe UI"/>
              </a:rPr>
              <a:t>• Broadcasting: a = tf.constant([[1.], [2.], [3.]]) (shape 3,1), b = tf.constant([10., 20., 30.]) (3,).</a:t>
            </a:r>
          </a:p>
          <a:p>
            <a:pPr>
              <a:spcAft>
                <a:spcPts val="800"/>
              </a:spcAft>
              <a:defRPr sz="1400" b="0">
                <a:solidFill>
                  <a:srgbClr val="0F172A"/>
                </a:solidFill>
                <a:latin typeface="Segoe UI"/>
              </a:defRPr>
            </a:pPr>
            <a:r>
              <a:rPr sz="1400" b="0">
                <a:solidFill>
                  <a:srgbClr val="0F172A"/>
                </a:solidFill>
                <a:latin typeface="Segoe UI"/>
              </a:rPr>
              <a:t>• Variable y assign: v = tf.Variable([1., 2., 3.]); v.assign([4., 5., 6.]); v.assign_add([1., 1., 1.]).</a:t>
            </a:r>
          </a:p>
          <a:p>
            <a:pPr>
              <a:spcAft>
                <a:spcPts val="800"/>
              </a:spcAft>
              <a:defRPr sz="1400" b="0">
                <a:solidFill>
                  <a:srgbClr val="0F172A"/>
                </a:solidFill>
                <a:latin typeface="Segoe UI"/>
              </a:defRPr>
            </a:pPr>
            <a:r>
              <a:rPr sz="1400" b="0">
                <a:solidFill>
                  <a:srgbClr val="0F172A"/>
                </a:solidFill>
                <a:latin typeface="Segoe UI"/>
              </a:rPr>
              <a:t>• dtype mismatch: tf.constant([1, 2, 3]) + tf.constant([1.0, 2.0, 3.0]) → error.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X = tf.random.normal((100, 2)), y_true = X @ tf.constant([[1.], [2.]]) + 3 + ruido.</a:t>
            </a:r>
          </a:p>
          <a:p>
            <a:pPr>
              <a:spcAft>
                <a:spcPts val="800"/>
              </a:spcAft>
              <a:defRPr sz="1400" b="0">
                <a:solidFill>
                  <a:srgbClr val="0F172A"/>
                </a:solidFill>
                <a:latin typeface="Segoe UI"/>
              </a:defRPr>
            </a:pPr>
            <a:r>
              <a:rPr sz="1400" b="0">
                <a:solidFill>
                  <a:srgbClr val="0F172A"/>
                </a:solidFill>
                <a:latin typeface="Segoe UI"/>
              </a:rPr>
              <a:t>• Variables w = tf.Variable(tf.random.normal((2, 1))), b = tf.Variable(0.0).</a:t>
            </a:r>
          </a:p>
          <a:p>
            <a:pPr>
              <a:spcAft>
                <a:spcPts val="800"/>
              </a:spcAft>
              <a:defRPr sz="1400" b="0">
                <a:solidFill>
                  <a:srgbClr val="0F172A"/>
                </a:solidFill>
                <a:latin typeface="Segoe UI"/>
              </a:defRPr>
            </a:pPr>
            <a:r>
              <a:rPr sz="1400" b="0">
                <a:solidFill>
                  <a:srgbClr val="0F172A"/>
                </a:solidFill>
                <a:latin typeface="Segoe UI"/>
              </a:rPr>
              <a:t>• Loss = MSE.</a:t>
            </a:r>
          </a:p>
          <a:p>
            <a:pPr>
              <a:spcAft>
                <a:spcPts val="800"/>
              </a:spcAft>
              <a:defRPr sz="1400" b="0">
                <a:solidFill>
                  <a:srgbClr val="0F172A"/>
                </a:solidFill>
                <a:latin typeface="Segoe UI"/>
              </a:defRPr>
            </a:pPr>
            <a:r>
              <a:rPr sz="1400" b="0">
                <a:solidFill>
                  <a:srgbClr val="0F172A"/>
                </a:solidFill>
                <a:latin typeface="Segoe UI"/>
              </a:rPr>
              <a:t>• Loop manual: calcular pred, loss, gradientes (con GradientTape — anticipo clase 108), update con assign_sub.</a:t>
            </a:r>
          </a:p>
          <a:p>
            <a:pPr>
              <a:spcAft>
                <a:spcPts val="800"/>
              </a:spcAft>
              <a:defRPr sz="1400" b="0">
                <a:solidFill>
                  <a:srgbClr val="0F172A"/>
                </a:solidFill>
                <a:latin typeface="Segoe UI"/>
              </a:defRPr>
            </a:pPr>
            <a:r>
              <a:rPr sz="1400" b="0">
                <a:solidFill>
                  <a:srgbClr val="0F172A"/>
                </a:solidFill>
                <a:latin typeface="Segoe UI"/>
              </a:rPr>
              <a:t>• Reportar w, b finales, comparar con verdaderos.</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119 — Losses, métricas, capas, modelos custom</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119 — Losses, métricas, capas, modelos custom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12 § Customizing Models and Training Algorithms.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Crear losses, métricas y capas custom cuando los builtins de Keras no alcanzan: focal loss, métrica F1 macro, una capa con normalización custom, modelo subclassed con train_step propio. Diferenciar stateless (función) de stateful (clase con estado acumulado por época).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loss custom como función: def my_loss(y_true, y_pred): return ....</a:t>
            </a:r>
          </a:p>
          <a:p>
            <a:pPr>
              <a:spcAft>
                <a:spcPts val="800"/>
              </a:spcAft>
              <a:defRPr sz="1400" b="0">
                <a:solidFill>
                  <a:srgbClr val="0F172A"/>
                </a:solidFill>
                <a:latin typeface="Segoe UI"/>
              </a:defRPr>
            </a:pPr>
            <a:r>
              <a:rPr sz="1400" b="0">
                <a:solidFill>
                  <a:srgbClr val="0F172A"/>
                </a:solidFill>
                <a:latin typeface="Segoe UI"/>
              </a:rPr>
              <a:t>• Definir métrica stateful heredando keras.metrics.Metric con update_state, result, reset_state.</a:t>
            </a:r>
          </a:p>
          <a:p>
            <a:pPr>
              <a:spcAft>
                <a:spcPts val="800"/>
              </a:spcAft>
              <a:defRPr sz="1400" b="0">
                <a:solidFill>
                  <a:srgbClr val="0F172A"/>
                </a:solidFill>
                <a:latin typeface="Segoe UI"/>
              </a:defRPr>
            </a:pPr>
            <a:r>
              <a:rPr sz="1400" b="0">
                <a:solidFill>
                  <a:srgbClr val="0F172A"/>
                </a:solidFill>
                <a:latin typeface="Segoe UI"/>
              </a:rPr>
              <a:t>• Crear capa custom heredando keras.layers.Layer con build (declara pesos) y call (forward).</a:t>
            </a:r>
          </a:p>
          <a:p>
            <a:pPr>
              <a:spcAft>
                <a:spcPts val="800"/>
              </a:spcAft>
              <a:defRPr sz="1400" b="0">
                <a:solidFill>
                  <a:srgbClr val="0F172A"/>
                </a:solidFill>
                <a:latin typeface="Segoe UI"/>
              </a:defRPr>
            </a:pPr>
            <a:r>
              <a:rPr sz="1400" b="0">
                <a:solidFill>
                  <a:srgbClr val="0F172A"/>
                </a:solidFill>
                <a:latin typeface="Segoe UI"/>
              </a:rPr>
              <a:t>• Overridar train_step de un modelo subclassed (Model) para custom training logic.</a:t>
            </a:r>
          </a:p>
          <a:p>
            <a:pPr>
              <a:spcAft>
                <a:spcPts val="800"/>
              </a:spcAft>
              <a:defRPr sz="1400" b="0">
                <a:solidFill>
                  <a:srgbClr val="0F172A"/>
                </a:solidFill>
                <a:latin typeface="Segoe UI"/>
              </a:defRPr>
            </a:pPr>
            <a:r>
              <a:rPr sz="1400" b="0">
                <a:solidFill>
                  <a:srgbClr val="0F172A"/>
                </a:solidFill>
                <a:latin typeface="Segoe UI"/>
              </a:rPr>
              <a:t>• Saber cuándo usar custom vs cuándo los builtins de Keras alcanzan (casi siempre).</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119 — Losses, métricas, capas, modelos custom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Loss como función simple: 2 args (y_true, y_pred), devuelve un tensor.</a:t>
            </a:r>
          </a:p>
          <a:p>
            <a:pPr>
              <a:spcAft>
                <a:spcPts val="1000"/>
              </a:spcAft>
              <a:defRPr sz="1800" b="0">
                <a:solidFill>
                  <a:srgbClr val="0F172A"/>
                </a:solidFill>
                <a:latin typeface="Segoe UI"/>
              </a:defRPr>
            </a:pPr>
            <a:r>
              <a:rPr sz="1800" b="0">
                <a:solidFill>
                  <a:srgbClr val="0F172A"/>
                </a:solidFill>
                <a:latin typeface="Segoe UI"/>
              </a:rPr>
              <a:t>• Métrica stateless (función) vs stateful (Metric class).</a:t>
            </a:r>
          </a:p>
          <a:p>
            <a:pPr>
              <a:spcAft>
                <a:spcPts val="1000"/>
              </a:spcAft>
              <a:defRPr sz="1800" b="0">
                <a:solidFill>
                  <a:srgbClr val="0F172A"/>
                </a:solidFill>
                <a:latin typeface="Segoe UI"/>
              </a:defRPr>
            </a:pPr>
            <a:r>
              <a:rPr sz="1800" b="0">
                <a:solidFill>
                  <a:srgbClr val="0F172A"/>
                </a:solidFill>
                <a:latin typeface="Segoe UI"/>
              </a:rPr>
              <a:t>• Capa custom: __init__ (config), build (pesos), call (forward).</a:t>
            </a:r>
          </a:p>
          <a:p>
            <a:pPr>
              <a:spcAft>
                <a:spcPts val="1000"/>
              </a:spcAft>
              <a:defRPr sz="1800" b="0">
                <a:solidFill>
                  <a:srgbClr val="0F172A"/>
                </a:solidFill>
                <a:latin typeface="Segoe UI"/>
              </a:defRPr>
            </a:pPr>
            <a:r>
              <a:rPr sz="1800" b="0">
                <a:solidFill>
                  <a:srgbClr val="0F172A"/>
                </a:solidFill>
                <a:latin typeface="Segoe UI"/>
              </a:rPr>
              <a:t>• Model subclass con train_step(self, data) custom.</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119 — Losses, métricas, capas, modelos custom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huber_loss(y_true, y_pred, delta=1.0):</a:t>
            </a:r>
          </a:p>
          <a:p>
            <a:pPr>
              <a:defRPr sz="1200" b="0">
                <a:solidFill>
                  <a:srgbClr val="F8FAFC"/>
                </a:solidFill>
                <a:latin typeface="Courier New"/>
              </a:defRPr>
            </a:pPr>
            <a:r>
              <a:rPr sz="1200" b="0">
                <a:solidFill>
                  <a:srgbClr val="F8FAFC"/>
                </a:solidFill>
                <a:latin typeface="Courier New"/>
              </a:rPr>
              <a:t>    error = y_true - y_pred</a:t>
            </a:r>
          </a:p>
          <a:p>
            <a:pPr>
              <a:defRPr sz="1200" b="0">
                <a:solidFill>
                  <a:srgbClr val="F8FAFC"/>
                </a:solidFill>
                <a:latin typeface="Courier New"/>
              </a:defRPr>
            </a:pPr>
            <a:r>
              <a:rPr sz="1200" b="0">
                <a:solidFill>
                  <a:srgbClr val="F8FAFC"/>
                </a:solidFill>
                <a:latin typeface="Courier New"/>
              </a:rPr>
              <a:t>    abs_error = tf.abs(error)</a:t>
            </a:r>
          </a:p>
          <a:p>
            <a:pPr>
              <a:defRPr sz="1200" b="0">
                <a:solidFill>
                  <a:srgbClr val="F8FAFC"/>
                </a:solidFill>
                <a:latin typeface="Courier New"/>
              </a:defRPr>
            </a:pPr>
            <a:r>
              <a:rPr sz="1200" b="0">
                <a:solidFill>
                  <a:srgbClr val="F8FAFC"/>
                </a:solidFill>
                <a:latin typeface="Courier New"/>
              </a:rPr>
              <a:t>    cuadratica = 0.5 * tf.square(error)</a:t>
            </a:r>
          </a:p>
          <a:p>
            <a:pPr>
              <a:defRPr sz="1200" b="0">
                <a:solidFill>
                  <a:srgbClr val="F8FAFC"/>
                </a:solidFill>
                <a:latin typeface="Courier New"/>
              </a:defRPr>
            </a:pPr>
            <a:r>
              <a:rPr sz="1200" b="0">
                <a:solidFill>
                  <a:srgbClr val="F8FAFC"/>
                </a:solidFill>
                <a:latin typeface="Courier New"/>
              </a:rPr>
              <a:t>    lineal = delta * (abs_error - 0.5 * delta)</a:t>
            </a:r>
          </a:p>
          <a:p>
            <a:pPr>
              <a:defRPr sz="1200" b="0">
                <a:solidFill>
                  <a:srgbClr val="F8FAFC"/>
                </a:solidFill>
                <a:latin typeface="Courier New"/>
              </a:defRPr>
            </a:pPr>
            <a:r>
              <a:rPr sz="1200" b="0">
                <a:solidFill>
                  <a:srgbClr val="F8FAFC"/>
                </a:solidFill>
                <a:latin typeface="Courier New"/>
              </a:rPr>
              <a:t>    return tf.where(abs_error &lt;= delta, cuadratica, lineal)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y_true = tf.constant([0.0, 1.0, 2.0, 5.0])</a:t>
            </a:r>
          </a:p>
          <a:p>
            <a:pPr>
              <a:defRPr sz="1200" b="0">
                <a:solidFill>
                  <a:srgbClr val="F8FAFC"/>
                </a:solidFill>
                <a:latin typeface="Courier New"/>
              </a:defRPr>
            </a:pPr>
            <a:r>
              <a:rPr sz="1200" b="0">
                <a:solidFill>
                  <a:srgbClr val="F8FAFC"/>
                </a:solidFill>
                <a:latin typeface="Courier New"/>
              </a:rPr>
              <a:t>y_pred = tf.constant([0.2, 0.9, 4.0, 5.1])</a:t>
            </a:r>
          </a:p>
          <a:p>
            <a:pPr>
              <a:defRPr sz="1200" b="0">
                <a:solidFill>
                  <a:srgbClr val="F8FAFC"/>
                </a:solidFill>
                <a:latin typeface="Courier New"/>
              </a:defRPr>
            </a:pPr>
            <a:r>
              <a:rPr sz="1200" b="0">
                <a:solidFill>
                  <a:srgbClr val="F8FAFC"/>
                </a:solidFill>
                <a:latin typeface="Courier New"/>
              </a:rPr>
              <a:t>print("Huber por sample:", huber_loss(y_true, y_pred).numpy())</a:t>
            </a:r>
          </a:p>
          <a:p>
            <a:pPr>
              <a:defRPr sz="1200" b="0">
                <a:solidFill>
                  <a:srgbClr val="F8FAFC"/>
                </a:solidFill>
                <a:latin typeface="Courier New"/>
              </a:defRPr>
            </a:pPr>
            <a:r>
              <a:rPr sz="1200" b="0">
                <a:solidFill>
                  <a:srgbClr val="F8FAFC"/>
                </a:solidFill>
                <a:latin typeface="Courier New"/>
              </a:rPr>
              <a:t>print("Huber media:", float(tf.reduce_mean(huber_loss(y_true, y_pred))))</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119 — Losses, métricas, capas, modelos custom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Loss custom: implementar Focal Loss FL(p_t) = -α(1-p_t)^γ log(p_t) (Lin et al.</a:t>
            </a:r>
          </a:p>
          <a:p>
            <a:pPr>
              <a:spcAft>
                <a:spcPts val="800"/>
              </a:spcAft>
              <a:defRPr sz="1400" b="0">
                <a:solidFill>
                  <a:srgbClr val="0F172A"/>
                </a:solidFill>
                <a:latin typeface="Segoe UI"/>
              </a:defRPr>
            </a:pPr>
            <a:r>
              <a:rPr sz="1400" b="0">
                <a:solidFill>
                  <a:srgbClr val="0F172A"/>
                </a:solidFill>
                <a:latin typeface="Segoe UI"/>
              </a:rPr>
              <a:t>• Métrica F1 macro: heredar keras.metrics.Metric, mantener confusion matrix acumulada por época, calcular F1 macro en result().</a:t>
            </a:r>
          </a:p>
          <a:p>
            <a:pPr>
              <a:spcAft>
                <a:spcPts val="800"/>
              </a:spcAft>
              <a:defRPr sz="1400" b="0">
                <a:solidFill>
                  <a:srgbClr val="0F172A"/>
                </a:solidFill>
                <a:latin typeface="Segoe UI"/>
              </a:defRPr>
            </a:pPr>
            <a:r>
              <a:rPr sz="1400" b="0">
                <a:solidFill>
                  <a:srgbClr val="0F172A"/>
                </a:solidFill>
                <a:latin typeface="Segoe UI"/>
              </a:rPr>
              <a:t>• Capa custom: class L2Normalize(Layer) que normaliza cada vector a norma 1.</a:t>
            </a:r>
          </a:p>
          <a:p>
            <a:pPr>
              <a:spcAft>
                <a:spcPts val="800"/>
              </a:spcAft>
              <a:defRPr sz="1400" b="0">
                <a:solidFill>
                  <a:srgbClr val="0F172A"/>
                </a:solidFill>
                <a:latin typeface="Segoe UI"/>
              </a:defRPr>
            </a:pPr>
            <a:r>
              <a:rPr sz="1400" b="0">
                <a:solidFill>
                  <a:srgbClr val="0F172A"/>
                </a:solidFill>
                <a:latin typeface="Segoe UI"/>
              </a:rPr>
              <a:t>• Modelo con train_step custom: subclass que en cada batch aplica gradient clipping manual + logging extra.</a:t>
            </a:r>
          </a:p>
          <a:p>
            <a:pPr>
              <a:spcAft>
                <a:spcPts val="800"/>
              </a:spcAft>
              <a:defRPr sz="1400" b="0">
                <a:solidFill>
                  <a:srgbClr val="0F172A"/>
                </a:solidFill>
                <a:latin typeface="Segoe UI"/>
              </a:defRPr>
            </a:pPr>
            <a:r>
              <a:rPr sz="1400" b="0">
                <a:solidFill>
                  <a:srgbClr val="0F172A"/>
                </a:solidFill>
                <a:latin typeface="Segoe UI"/>
              </a:rPr>
              <a:t>• get_config: agregar a una capa custom; verificar que model.save() y load_model(custom_objects=...) funciona.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con cross-entropy estándar; reportar F1 macro.</a:t>
            </a:r>
          </a:p>
          <a:p>
            <a:pPr>
              <a:spcAft>
                <a:spcPts val="800"/>
              </a:spcAft>
              <a:defRPr sz="1500" b="0">
                <a:solidFill>
                  <a:srgbClr val="0F172A"/>
                </a:solidFill>
                <a:latin typeface="Segoe UI"/>
              </a:defRPr>
            </a:pPr>
            <a:r>
              <a:rPr sz="1500" b="0">
                <a:solidFill>
                  <a:srgbClr val="0F172A"/>
                </a:solidFill>
                <a:latin typeface="Segoe UI"/>
              </a:rPr>
              <a:t>• Entrenar con Focal Loss custom (γ=2.0, α=0.25); reportar F1.</a:t>
            </a:r>
          </a:p>
          <a:p>
            <a:pPr>
              <a:spcAft>
                <a:spcPts val="800"/>
              </a:spcAft>
              <a:defRPr sz="1500" b="0">
                <a:solidFill>
                  <a:srgbClr val="0F172A"/>
                </a:solidFill>
                <a:latin typeface="Segoe UI"/>
              </a:defRPr>
            </a:pPr>
            <a:r>
              <a:rPr sz="1500" b="0">
                <a:solidFill>
                  <a:srgbClr val="0F172A"/>
                </a:solidFill>
                <a:latin typeface="Segoe UI"/>
              </a:rPr>
              <a:t>• Implementar una métrica F1 macro custom y usarla durante el training.</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120 — Funciones y grafos (autograph)</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120 — Funciones y grafos (autograph)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12 § TF Functions and Graphs.  Duración estimada: 55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qué hace @tf.function —compila una función Python a un grafo TF estático, acelerando 2-10× y permitiendo deploy en TF Serving / TFLite—. Conocer AutoGraph (traduce automáticamente if/for/while Python a operaciones TF), saber los gotchas clásicos (efectos colaterales, prints, listas Python) y cuándo el decorator deteriora la experiencia de debugging.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@tf.function a una función custom y verificar speedup.</a:t>
            </a:r>
          </a:p>
          <a:p>
            <a:pPr>
              <a:spcAft>
                <a:spcPts val="800"/>
              </a:spcAft>
              <a:defRPr sz="1400" b="0">
                <a:solidFill>
                  <a:srgbClr val="0F172A"/>
                </a:solidFill>
                <a:latin typeface="Segoe UI"/>
              </a:defRPr>
            </a:pPr>
            <a:r>
              <a:rPr sz="1400" b="0">
                <a:solidFill>
                  <a:srgbClr val="0F172A"/>
                </a:solidFill>
                <a:latin typeface="Segoe UI"/>
              </a:rPr>
              <a:t>• Identificar cuándo NO usarlo (debugging, lógica con efectos colaterales no determinísticos).</a:t>
            </a:r>
          </a:p>
          <a:p>
            <a:pPr>
              <a:spcAft>
                <a:spcPts val="800"/>
              </a:spcAft>
              <a:defRPr sz="1400" b="0">
                <a:solidFill>
                  <a:srgbClr val="0F172A"/>
                </a:solidFill>
                <a:latin typeface="Segoe UI"/>
              </a:defRPr>
            </a:pPr>
            <a:r>
              <a:rPr sz="1400" b="0">
                <a:solidFill>
                  <a:srgbClr val="0F172A"/>
                </a:solidFill>
                <a:latin typeface="Segoe UI"/>
              </a:rPr>
              <a:t>• Entender retracing: cada vez que cambias la shape o dtype del input, TF reconstruye el grafo.</a:t>
            </a:r>
          </a:p>
          <a:p>
            <a:pPr>
              <a:spcAft>
                <a:spcPts val="800"/>
              </a:spcAft>
              <a:defRPr sz="1400" b="0">
                <a:solidFill>
                  <a:srgbClr val="0F172A"/>
                </a:solidFill>
                <a:latin typeface="Segoe UI"/>
              </a:defRPr>
            </a:pPr>
            <a:r>
              <a:rPr sz="1400" b="0">
                <a:solidFill>
                  <a:srgbClr val="0F172A"/>
                </a:solidFill>
                <a:latin typeface="Segoe UI"/>
              </a:rPr>
              <a:t>• Usar tf.function(input_signature=...) para evitar retracing.</a:t>
            </a:r>
          </a:p>
          <a:p>
            <a:pPr>
              <a:spcAft>
                <a:spcPts val="800"/>
              </a:spcAft>
              <a:defRPr sz="1400" b="0">
                <a:solidFill>
                  <a:srgbClr val="0F172A"/>
                </a:solidFill>
                <a:latin typeface="Segoe UI"/>
              </a:defRPr>
            </a:pPr>
            <a:r>
              <a:rPr sz="1400" b="0">
                <a:solidFill>
                  <a:srgbClr val="0F172A"/>
                </a:solidFill>
                <a:latin typeface="Segoe UI"/>
              </a:rPr>
              <a:t>• Diferenciar eager mode (default, dinámico) de graph mode (compilado).</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120 — Funciones y grafos (autograph)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Eager vs graph execution.</a:t>
            </a:r>
          </a:p>
          <a:p>
            <a:pPr>
              <a:spcAft>
                <a:spcPts val="1000"/>
              </a:spcAft>
              <a:defRPr sz="1600" b="0">
                <a:solidFill>
                  <a:srgbClr val="0F172A"/>
                </a:solidFill>
                <a:latin typeface="Segoe UI"/>
              </a:defRPr>
            </a:pPr>
            <a:r>
              <a:rPr sz="1600" b="0">
                <a:solidFill>
                  <a:srgbClr val="0F172A"/>
                </a:solidFill>
                <a:latin typeface="Segoe UI"/>
              </a:rPr>
              <a:t>• @tf.function y AutoGraph.</a:t>
            </a:r>
          </a:p>
          <a:p>
            <a:pPr>
              <a:spcAft>
                <a:spcPts val="1000"/>
              </a:spcAft>
              <a:defRPr sz="1600" b="0">
                <a:solidFill>
                  <a:srgbClr val="0F172A"/>
                </a:solidFill>
                <a:latin typeface="Segoe UI"/>
              </a:defRPr>
            </a:pPr>
            <a:r>
              <a:rPr sz="1600" b="0">
                <a:solidFill>
                  <a:srgbClr val="0F172A"/>
                </a:solidFill>
                <a:latin typeface="Segoe UI"/>
              </a:rPr>
              <a:t>• Retracing: por qué pasar Python ints vs tensors causa retraces.</a:t>
            </a:r>
          </a:p>
          <a:p>
            <a:pPr>
              <a:spcAft>
                <a:spcPts val="1000"/>
              </a:spcAft>
              <a:defRPr sz="1600" b="0">
                <a:solidFill>
                  <a:srgbClr val="0F172A"/>
                </a:solidFill>
                <a:latin typeface="Segoe UI"/>
              </a:defRPr>
            </a:pPr>
            <a:r>
              <a:rPr sz="1600" b="0">
                <a:solidFill>
                  <a:srgbClr val="0F172A"/>
                </a:solidFill>
                <a:latin typeface="Segoe UI"/>
              </a:rPr>
              <a:t>• Print en grafo: tf.print (corre en graph) vs print (solo en tracing).</a:t>
            </a:r>
          </a:p>
          <a:p>
            <a:pPr>
              <a:spcAft>
                <a:spcPts val="1000"/>
              </a:spcAft>
              <a:defRPr sz="1600" b="0">
                <a:solidFill>
                  <a:srgbClr val="0F172A"/>
                </a:solidFill>
                <a:latin typeface="Segoe UI"/>
              </a:defRPr>
            </a:pPr>
            <a:r>
              <a:rPr sz="1600" b="0">
                <a:solidFill>
                  <a:srgbClr val="0F172A"/>
                </a:solidFill>
                <a:latin typeface="Segoe UI"/>
              </a:rPr>
              <a:t>• Cuándo @tf.function vale la pena (loops, training step) y cuándo no (one-shot, debugging).</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120 — Funciones y grafos (autograph)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tf.random.set_seed(42)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f_eager(x):</a:t>
            </a:r>
          </a:p>
          <a:p>
            <a:pPr>
              <a:defRPr sz="1200" b="0">
                <a:solidFill>
                  <a:srgbClr val="F8FAFC"/>
                </a:solidFill>
                <a:latin typeface="Courier New"/>
              </a:defRPr>
            </a:pPr>
            <a:r>
              <a:rPr sz="1200" b="0">
                <a:solidFill>
                  <a:srgbClr val="F8FAFC"/>
                </a:solidFill>
                <a:latin typeface="Courier New"/>
              </a:rPr>
              <a:t>    return tf.reduce_sum(x ** 2 + 3 * x + 1)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@tf.function</a:t>
            </a:r>
          </a:p>
          <a:p>
            <a:pPr>
              <a:defRPr sz="1200" b="0">
                <a:solidFill>
                  <a:srgbClr val="F8FAFC"/>
                </a:solidFill>
                <a:latin typeface="Courier New"/>
              </a:defRPr>
            </a:pPr>
            <a:r>
              <a:rPr sz="1200" b="0">
                <a:solidFill>
                  <a:srgbClr val="F8FAFC"/>
                </a:solidFill>
                <a:latin typeface="Courier New"/>
              </a:rPr>
              <a:t>def f_grafo(x):</a:t>
            </a:r>
          </a:p>
          <a:p>
            <a:pPr>
              <a:defRPr sz="1200" b="0">
                <a:solidFill>
                  <a:srgbClr val="F8FAFC"/>
                </a:solidFill>
                <a:latin typeface="Courier New"/>
              </a:defRPr>
            </a:pPr>
            <a:r>
              <a:rPr sz="1200" b="0">
                <a:solidFill>
                  <a:srgbClr val="F8FAFC"/>
                </a:solidFill>
                <a:latin typeface="Courier New"/>
              </a:rPr>
              <a:t>    return tf.reduce_sum(x ** 2 + 3 * x + 1)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tf.random.normal((1000,))</a:t>
            </a:r>
          </a:p>
          <a:p>
            <a:pPr>
              <a:defRPr sz="1200" b="0">
                <a:solidFill>
                  <a:srgbClr val="F8FAFC"/>
                </a:solidFill>
                <a:latin typeface="Courier New"/>
              </a:defRPr>
            </a:pPr>
            <a:r>
              <a:rPr sz="1200" b="0">
                <a:solidFill>
                  <a:srgbClr val="F8FAFC"/>
                </a:solidFill>
                <a:latin typeface="Courier New"/>
              </a:rPr>
              <a:t>print("eager:", float(f_eager(x)))</a:t>
            </a:r>
          </a:p>
          <a:p>
            <a:pPr>
              <a:defRPr sz="1200" b="0">
                <a:solidFill>
                  <a:srgbClr val="F8FAFC"/>
                </a:solidFill>
                <a:latin typeface="Courier New"/>
              </a:defRPr>
            </a:pPr>
            <a:r>
              <a:rPr sz="1200" b="0">
                <a:solidFill>
                  <a:srgbClr val="F8FAFC"/>
                </a:solidFill>
                <a:latin typeface="Courier New"/>
              </a:rPr>
              <a:t>print("grafo:", float(f_grafo(x)))</a:t>
            </a:r>
          </a:p>
          <a:p>
            <a:pPr>
              <a:defRPr sz="1200" b="0">
                <a:solidFill>
                  <a:srgbClr val="F8FAFC"/>
                </a:solidFill>
                <a:latin typeface="Courier New"/>
              </a:defRPr>
            </a:pPr>
            <a:r>
              <a:rPr sz="1200" b="0">
                <a:solidFill>
                  <a:srgbClr val="F8FAFC"/>
                </a:solidFill>
                <a:latin typeface="Courier New"/>
              </a:rPr>
              <a:t>print("tipo de f_grafo:", type(f_grafo).__name__)</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120 — Funciones y grafos (autograph)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Speedup básico: definir def f(x): return tf.reduce_sum(x * 2 + 3x + 1).</a:t>
            </a:r>
          </a:p>
          <a:p>
            <a:pPr>
              <a:spcAft>
                <a:spcPts val="800"/>
              </a:spcAft>
              <a:defRPr sz="1400" b="0">
                <a:solidFill>
                  <a:srgbClr val="0F172A"/>
                </a:solidFill>
                <a:latin typeface="Segoe UI"/>
              </a:defRPr>
            </a:pPr>
            <a:r>
              <a:rPr sz="1400" b="0">
                <a:solidFill>
                  <a:srgbClr val="0F172A"/>
                </a:solidFill>
                <a:latin typeface="Segoe UI"/>
              </a:rPr>
              <a:t>• Retracing: definir una función con @tf.function.</a:t>
            </a:r>
          </a:p>
          <a:p>
            <a:pPr>
              <a:spcAft>
                <a:spcPts val="800"/>
              </a:spcAft>
              <a:defRPr sz="1400" b="0">
                <a:solidFill>
                  <a:srgbClr val="0F172A"/>
                </a:solidFill>
                <a:latin typeface="Segoe UI"/>
              </a:defRPr>
            </a:pPr>
            <a:r>
              <a:rPr sz="1400" b="0">
                <a:solidFill>
                  <a:srgbClr val="0F172A"/>
                </a:solidFill>
                <a:latin typeface="Segoe UI"/>
              </a:rPr>
              <a:t>• AutoGraph: una función con un for Python y un if.</a:t>
            </a:r>
          </a:p>
          <a:p>
            <a:pPr>
              <a:spcAft>
                <a:spcPts val="800"/>
              </a:spcAft>
              <a:defRPr sz="1400" b="0">
                <a:solidFill>
                  <a:srgbClr val="0F172A"/>
                </a:solidFill>
                <a:latin typeface="Segoe UI"/>
              </a:defRPr>
            </a:pPr>
            <a:r>
              <a:rPr sz="1400" b="0">
                <a:solidFill>
                  <a:srgbClr val="0F172A"/>
                </a:solidFill>
                <a:latin typeface="Segoe UI"/>
              </a:rPr>
              <a:t>• tf.print vs print: dentro de @tf.function, demostrar que print solo se ejecuta en tracing (1ª llamada), tf.print siempre.</a:t>
            </a:r>
          </a:p>
          <a:p>
            <a:pPr>
              <a:spcAft>
                <a:spcPts val="800"/>
              </a:spcAft>
              <a:defRPr sz="1400" b="0">
                <a:solidFill>
                  <a:srgbClr val="0F172A"/>
                </a:solidFill>
                <a:latin typeface="Segoe UI"/>
              </a:defRPr>
            </a:pPr>
            <a:r>
              <a:rPr sz="1400" b="0">
                <a:solidFill>
                  <a:srgbClr val="0F172A"/>
                </a:solidFill>
                <a:latin typeface="Segoe UI"/>
              </a:rPr>
              <a:t>• input_signature: fijar input_signature para evitar retracing con shape (None, 784).</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Modelo simple en numpy/TF (regresión lineal).</a:t>
            </a:r>
          </a:p>
          <a:p>
            <a:pPr>
              <a:spcAft>
                <a:spcPts val="800"/>
              </a:spcAft>
              <a:defRPr sz="1500" b="0">
                <a:solidFill>
                  <a:srgbClr val="0F172A"/>
                </a:solidFill>
                <a:latin typeface="Segoe UI"/>
              </a:defRPr>
            </a:pPr>
            <a:r>
              <a:rPr sz="1500" b="0">
                <a:solidFill>
                  <a:srgbClr val="0F172A"/>
                </a:solidFill>
                <a:latin typeface="Segoe UI"/>
              </a:rPr>
              <a:t>• Loop manual de 1 000 iteraciones.</a:t>
            </a:r>
          </a:p>
          <a:p>
            <a:pPr>
              <a:spcAft>
                <a:spcPts val="800"/>
              </a:spcAft>
              <a:defRPr sz="1500" b="0">
                <a:solidFill>
                  <a:srgbClr val="0F172A"/>
                </a:solidFill>
                <a:latin typeface="Segoe UI"/>
              </a:defRPr>
            </a:pPr>
            <a:r>
              <a:rPr sz="1500" b="0">
                <a:solidFill>
                  <a:srgbClr val="0F172A"/>
                </a:solidFill>
                <a:latin typeface="Segoe UI"/>
              </a:rPr>
              <a:t>• Mismo loop wrapped con @tf.function.</a:t>
            </a:r>
          </a:p>
          <a:p>
            <a:pPr>
              <a:spcAft>
                <a:spcPts val="800"/>
              </a:spcAft>
              <a:defRPr sz="1500" b="0">
                <a:solidFill>
                  <a:srgbClr val="0F172A"/>
                </a:solidFill>
                <a:latin typeface="Segoe UI"/>
              </a:defRPr>
            </a:pPr>
            <a:r>
              <a:rPr sz="1500" b="0">
                <a:solidFill>
                  <a:srgbClr val="0F172A"/>
                </a:solidFill>
                <a:latin typeface="Segoe UI"/>
              </a:rPr>
              <a:t>• Comparar tiempo total.</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121 — Custom training loops (+ PyTorch &amp; PyTorch Lightning)</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121 — Custom training loops (+ PyTorch &amp; PyTorch Lightning)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12 § Custom Training Loops + docs PyTorch, Lightning.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Escribir un training loop manual en TF con GradientTape — control absoluto sobre cada paso (útil para GANs, RL, multi-step optimizers, debugging). Conocer el equivalente en PyTorch (el framework dominante de la industria en 2026) y cómo PyTorch Lightning abstrae los boilerplate del loop, devolviendo la productividad de Keras con la flexibilidad de PyTorch.</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training loop TF con for batch in dataset: with GradientTape() as tape: ...; grads = tape.gradient(loss, vars); optimizer.apply_gradients(...).</a:t>
            </a:r>
          </a:p>
          <a:p>
            <a:pPr>
              <a:spcAft>
                <a:spcPts val="800"/>
              </a:spcAft>
              <a:defRPr sz="1400" b="0">
                <a:solidFill>
                  <a:srgbClr val="0F172A"/>
                </a:solidFill>
                <a:latin typeface="Segoe UI"/>
              </a:defRPr>
            </a:pPr>
            <a:r>
              <a:rPr sz="1400" b="0">
                <a:solidFill>
                  <a:srgbClr val="0F172A"/>
                </a:solidFill>
                <a:latin typeface="Segoe UI"/>
              </a:rPr>
              <a:t>• Hacer el equivalente en PyTorch: optimizer.zero_grad(); loss.backward(); optimizer.step().</a:t>
            </a:r>
          </a:p>
          <a:p>
            <a:pPr>
              <a:spcAft>
                <a:spcPts val="800"/>
              </a:spcAft>
              <a:defRPr sz="1400" b="0">
                <a:solidFill>
                  <a:srgbClr val="0F172A"/>
                </a:solidFill>
                <a:latin typeface="Segoe UI"/>
              </a:defRPr>
            </a:pPr>
            <a:r>
              <a:rPr sz="1400" b="0">
                <a:solidFill>
                  <a:srgbClr val="0F172A"/>
                </a:solidFill>
                <a:latin typeface="Segoe UI"/>
              </a:rPr>
              <a:t>• Usar PyTorch Lightning para el mismo problema con boilerplate mínimo (LightningModule.training_step).</a:t>
            </a:r>
          </a:p>
          <a:p>
            <a:pPr>
              <a:spcAft>
                <a:spcPts val="800"/>
              </a:spcAft>
              <a:defRPr sz="1400" b="0">
                <a:solidFill>
                  <a:srgbClr val="0F172A"/>
                </a:solidFill>
                <a:latin typeface="Segoe UI"/>
              </a:defRPr>
            </a:pPr>
            <a:r>
              <a:rPr sz="1400" b="0">
                <a:solidFill>
                  <a:srgbClr val="0F172A"/>
                </a:solidFill>
                <a:latin typeface="Segoe UI"/>
              </a:rPr>
              <a:t>• Reconocer cuándo el loop manual es necesario (modelo con dos optimizadores, schedule custom step-wise, RL).</a:t>
            </a:r>
          </a:p>
          <a:p>
            <a:pPr>
              <a:spcAft>
                <a:spcPts val="800"/>
              </a:spcAft>
              <a:defRPr sz="1400" b="0">
                <a:solidFill>
                  <a:srgbClr val="0F172A"/>
                </a:solidFill>
                <a:latin typeface="Segoe UI"/>
              </a:defRPr>
            </a:pPr>
            <a:r>
              <a:rPr sz="1400" b="0">
                <a:solidFill>
                  <a:srgbClr val="0F172A"/>
                </a:solidFill>
                <a:latin typeface="Segoe UI"/>
              </a:rPr>
              <a:t>• Comparar productividad y flexibilidad de los 3 frameworks.</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121 — Custom training loops (+ PyTorch &amp; PyTorch Lightning)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Loop básico TF: epochs → batches → tape → grads → apply.</a:t>
            </a:r>
          </a:p>
          <a:p>
            <a:pPr>
              <a:spcAft>
                <a:spcPts val="1000"/>
              </a:spcAft>
              <a:defRPr sz="1600" b="0">
                <a:solidFill>
                  <a:srgbClr val="0F172A"/>
                </a:solidFill>
                <a:latin typeface="Segoe UI"/>
              </a:defRPr>
            </a:pPr>
            <a:r>
              <a:rPr sz="1600" b="0">
                <a:solidFill>
                  <a:srgbClr val="0F172A"/>
                </a:solidFill>
                <a:latin typeface="Segoe UI"/>
              </a:rPr>
              <a:t>• tape.watch(...) para watch tensors que no son tf.Variable.</a:t>
            </a:r>
          </a:p>
          <a:p>
            <a:pPr>
              <a:spcAft>
                <a:spcPts val="1000"/>
              </a:spcAft>
              <a:defRPr sz="1600" b="0">
                <a:solidFill>
                  <a:srgbClr val="0F172A"/>
                </a:solidFill>
                <a:latin typeface="Segoe UI"/>
              </a:defRPr>
            </a:pPr>
            <a:r>
              <a:rPr sz="1600" b="0">
                <a:solidFill>
                  <a:srgbClr val="0F172A"/>
                </a:solidFill>
                <a:latin typeface="Segoe UI"/>
              </a:rPr>
              <a:t>• Métricas y logging manual.</a:t>
            </a:r>
          </a:p>
          <a:p>
            <a:pPr>
              <a:spcAft>
                <a:spcPts val="1000"/>
              </a:spcAft>
              <a:defRPr sz="1600" b="0">
                <a:solidFill>
                  <a:srgbClr val="0F172A"/>
                </a:solidFill>
                <a:latin typeface="Segoe UI"/>
              </a:defRPr>
            </a:pPr>
            <a:r>
              <a:rPr sz="1600" b="0">
                <a:solidFill>
                  <a:srgbClr val="0F172A"/>
                </a:solidFill>
                <a:latin typeface="Segoe UI"/>
              </a:rPr>
              <a:t>• Equivalente PyTorch.</a:t>
            </a:r>
          </a:p>
          <a:p>
            <a:pPr>
              <a:spcAft>
                <a:spcPts val="1000"/>
              </a:spcAft>
              <a:defRPr sz="1600" b="0">
                <a:solidFill>
                  <a:srgbClr val="0F172A"/>
                </a:solidFill>
                <a:latin typeface="Segoe UI"/>
              </a:defRPr>
            </a:pPr>
            <a:r>
              <a:rPr sz="1600" b="0">
                <a:solidFill>
                  <a:srgbClr val="0F172A"/>
                </a:solidFill>
                <a:latin typeface="Segoe UI"/>
              </a:rPr>
              <a:t>• Lightning como capa de abstracción.</a:t>
            </a:r>
          </a:p>
          <a:p>
            <a:pPr>
              <a:spcAft>
                <a:spcPts val="1000"/>
              </a:spcAft>
              <a:defRPr sz="1600" b="0">
                <a:solidFill>
                  <a:srgbClr val="0F172A"/>
                </a:solidFill>
                <a:latin typeface="Segoe UI"/>
              </a:defRPr>
            </a:pPr>
            <a:r>
              <a:rPr sz="1600" b="0">
                <a:solidFill>
                  <a:srgbClr val="0F172A"/>
                </a:solidFill>
                <a:latin typeface="Segoe UI"/>
              </a:rPr>
              <a:t>• Complemento moderno: PyTorch + Lightning en paralelo a TF/Keras.</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121 — Custom training loops (+ PyTorch &amp; PyTorch Lightning)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 y_tr), (X_te, y_te) = keras.datasets.fashion_mnist.load_data()</a:t>
            </a:r>
          </a:p>
          <a:p>
            <a:pPr>
              <a:defRPr sz="1200" b="0">
                <a:solidFill>
                  <a:srgbClr val="F8FAFC"/>
                </a:solidFill>
                <a:latin typeface="Courier New"/>
              </a:defRPr>
            </a:pPr>
            <a:r>
              <a:rPr sz="1200" b="0">
                <a:solidFill>
                  <a:srgbClr val="F8FAFC"/>
                </a:solidFill>
                <a:latin typeface="Courier New"/>
              </a:rPr>
              <a:t>X_tr = X_tr.reshape(-1, 784).astype("float32") / 255.0</a:t>
            </a:r>
          </a:p>
          <a:p>
            <a:pPr>
              <a:defRPr sz="1200" b="0">
                <a:solidFill>
                  <a:srgbClr val="F8FAFC"/>
                </a:solidFill>
                <a:latin typeface="Courier New"/>
              </a:defRPr>
            </a:pPr>
            <a:r>
              <a:rPr sz="1200" b="0">
                <a:solidFill>
                  <a:srgbClr val="F8FAFC"/>
                </a:solidFill>
                <a:latin typeface="Courier New"/>
              </a:rPr>
              <a:t>X_te = X_te.reshape(-1, 784).astype("float32") / 255.0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train_ds = (tf.data.Dataset.from_tensor_slices((X_tr, y_tr))</a:t>
            </a:r>
          </a:p>
          <a:p>
            <a:pPr>
              <a:defRPr sz="1200" b="0">
                <a:solidFill>
                  <a:srgbClr val="F8FAFC"/>
                </a:solidFill>
                <a:latin typeface="Courier New"/>
              </a:defRPr>
            </a:pPr>
            <a:r>
              <a:rPr sz="1200" b="0">
                <a:solidFill>
                  <a:srgbClr val="F8FAFC"/>
                </a:solidFill>
                <a:latin typeface="Courier New"/>
              </a:rPr>
              <a:t>            .shuffle(1024).batch(128).prefetch(tf.data.AUTOTUNE))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modelo = keras.Sequential([</a:t>
            </a:r>
          </a:p>
          <a:p>
            <a:pPr>
              <a:defRPr sz="1200" b="0">
                <a:solidFill>
                  <a:srgbClr val="F8FAFC"/>
                </a:solidFill>
                <a:latin typeface="Courier New"/>
              </a:defRPr>
            </a:pPr>
            <a:r>
              <a:rPr sz="1200" b="0">
                <a:solidFill>
                  <a:srgbClr val="F8FAFC"/>
                </a:solidFill>
                <a:latin typeface="Courier New"/>
              </a:rPr>
              <a:t>    keras.Input((784,)),</a:t>
            </a:r>
          </a:p>
          <a:p>
            <a:pPr>
              <a:defRPr sz="1200" b="0">
                <a:solidFill>
                  <a:srgbClr val="F8FAFC"/>
                </a:solidFill>
                <a:latin typeface="Courier New"/>
              </a:defRPr>
            </a:pPr>
            <a:r>
              <a:rPr sz="1200" b="0">
                <a:solidFill>
                  <a:srgbClr val="F8FAFC"/>
                </a:solidFill>
                <a:latin typeface="Courier New"/>
              </a:rPr>
              <a:t>    layers.Dense(256, activation="relu"),</a:t>
            </a:r>
          </a:p>
          <a:p>
            <a:pPr>
              <a:defRPr sz="1200" b="0">
                <a:solidFill>
                  <a:srgbClr val="F8FAFC"/>
                </a:solidFill>
                <a:latin typeface="Courier New"/>
              </a:defRPr>
            </a:pPr>
            <a:r>
              <a:rPr sz="1200" b="0">
                <a:solidFill>
                  <a:srgbClr val="F8FAFC"/>
                </a:solidFill>
                <a:latin typeface="Courier New"/>
              </a:rPr>
              <a:t>    layers.Dense(128, activation="relu"),</a:t>
            </a:r>
          </a:p>
          <a:p>
            <a:pPr>
              <a:defRPr sz="1200" b="0">
                <a:solidFill>
                  <a:srgbClr val="F8FAFC"/>
                </a:solidFill>
                <a:latin typeface="Courier New"/>
              </a:defRPr>
            </a:pPr>
            <a:r>
              <a:rPr sz="1200" b="0">
                <a:solidFill>
                  <a:srgbClr val="F8FAFC"/>
                </a:solidFill>
                <a:latin typeface="Courier New"/>
              </a:rPr>
              <a:t>    layers.Dense(10),                       # logits (sin softmax)</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print("batches por época:", len(train_ds))</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121 — Custom training loops (+ PyTorch &amp; PyTorch Lightning)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TF loop manual: entrenar un MLP en Fashion-MNIST con GradientTape.</a:t>
            </a:r>
          </a:p>
          <a:p>
            <a:pPr>
              <a:spcAft>
                <a:spcPts val="800"/>
              </a:spcAft>
              <a:defRPr sz="1400" b="0">
                <a:solidFill>
                  <a:srgbClr val="0F172A"/>
                </a:solidFill>
                <a:latin typeface="Segoe UI"/>
              </a:defRPr>
            </a:pPr>
            <a:r>
              <a:rPr sz="1400" b="0">
                <a:solidFill>
                  <a:srgbClr val="0F172A"/>
                </a:solidFill>
                <a:latin typeface="Segoe UI"/>
              </a:rPr>
              <a:t>• PyTorch equivalente: reimplementar el mismo loop en PyTorch.</a:t>
            </a:r>
          </a:p>
          <a:p>
            <a:pPr>
              <a:spcAft>
                <a:spcPts val="800"/>
              </a:spcAft>
              <a:defRPr sz="1400" b="0">
                <a:solidFill>
                  <a:srgbClr val="0F172A"/>
                </a:solidFill>
                <a:latin typeface="Segoe UI"/>
              </a:defRPr>
            </a:pPr>
            <a:r>
              <a:rPr sz="1400" b="0">
                <a:solidFill>
                  <a:srgbClr val="0F172A"/>
                </a:solidFill>
                <a:latin typeface="Segoe UI"/>
              </a:rPr>
              <a:t>• Lightning: mismo problema con LightningModule.</a:t>
            </a:r>
          </a:p>
          <a:p>
            <a:pPr>
              <a:spcAft>
                <a:spcPts val="800"/>
              </a:spcAft>
              <a:defRPr sz="1400" b="0">
                <a:solidFill>
                  <a:srgbClr val="0F172A"/>
                </a:solidFill>
                <a:latin typeface="Segoe UI"/>
              </a:defRPr>
            </a:pPr>
            <a:r>
              <a:rPr sz="1400" b="0">
                <a:solidFill>
                  <a:srgbClr val="0F172A"/>
                </a:solidFill>
                <a:latin typeface="Segoe UI"/>
              </a:rPr>
              <a:t>• Speedup con jit: tf.function en TF; torch.compile en PyTorch.</a:t>
            </a:r>
          </a:p>
          <a:p>
            <a:pPr>
              <a:spcAft>
                <a:spcPts val="800"/>
              </a:spcAft>
              <a:defRPr sz="1400" b="0">
                <a:solidFill>
                  <a:srgbClr val="0F172A"/>
                </a:solidFill>
                <a:latin typeface="Segoe UI"/>
              </a:defRPr>
            </a:pPr>
            <a:r>
              <a:rPr sz="1400" b="0">
                <a:solidFill>
                  <a:srgbClr val="0F172A"/>
                </a:solidFill>
                <a:latin typeface="Segoe UI"/>
              </a:rPr>
              <a:t>• Multi-optimizer: con TF, escribir un loop que aplica un optimizer para las capas frozen-ish (LR bajo) y otro para las nuevas (LR alto).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TF con custom training loop.</a:t>
            </a:r>
          </a:p>
          <a:p>
            <a:pPr>
              <a:spcAft>
                <a:spcPts val="800"/>
              </a:spcAft>
              <a:defRPr sz="1500" b="0">
                <a:solidFill>
                  <a:srgbClr val="0F172A"/>
                </a:solidFill>
                <a:latin typeface="Segoe UI"/>
              </a:defRPr>
            </a:pPr>
            <a:r>
              <a:rPr sz="1500" b="0">
                <a:solidFill>
                  <a:srgbClr val="0F172A"/>
                </a:solidFill>
                <a:latin typeface="Segoe UI"/>
              </a:rPr>
              <a:t>• PyTorch puro.</a:t>
            </a:r>
          </a:p>
          <a:p>
            <a:pPr>
              <a:spcAft>
                <a:spcPts val="800"/>
              </a:spcAft>
              <a:defRPr sz="1500" b="0">
                <a:solidFill>
                  <a:srgbClr val="0F172A"/>
                </a:solidFill>
                <a:latin typeface="Segoe UI"/>
              </a:defRPr>
            </a:pPr>
            <a:r>
              <a:rPr sz="1500" b="0">
                <a:solidFill>
                  <a:srgbClr val="0F172A"/>
                </a:solidFill>
                <a:latin typeface="Segoe UI"/>
              </a:rPr>
              <a:t>• PyTorch Lightning.</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122 — PyTorch fundamentos: tensores, autograd, nn.Module</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122 — PyTorch fundamentos: tensores, autograd, nn.Module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PyTorch tutorials + Howard &amp; Gugger, Deep Learning for Coders with fastai &amp; PyTorch.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PyTorch —el framework dominante en research y en LLMs/multimodal 2026—. Cubrir: tensores (similar a NumPy, en GPU), autograd (requires_grad, .backward()), nn.Module (forma de definir modelos), Dataset/DataLoader para data pipelines. Equivalencias 1:1 con Keras/TF de las clases anteriores.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tensores: torch.tensor, torch.zeros, torch.randn, device='cuda'.</a:t>
            </a:r>
          </a:p>
          <a:p>
            <a:pPr>
              <a:spcAft>
                <a:spcPts val="800"/>
              </a:spcAft>
              <a:defRPr sz="1400" b="0">
                <a:solidFill>
                  <a:srgbClr val="0F172A"/>
                </a:solidFill>
                <a:latin typeface="Segoe UI"/>
              </a:defRPr>
            </a:pPr>
            <a:r>
              <a:rPr sz="1400" b="0">
                <a:solidFill>
                  <a:srgbClr val="0F172A"/>
                </a:solidFill>
                <a:latin typeface="Segoe UI"/>
              </a:rPr>
              <a:t>• Aplicar autograd: x.requires_grad_(True); y = f(x); y.backward(); x.grad.</a:t>
            </a:r>
          </a:p>
          <a:p>
            <a:pPr>
              <a:spcAft>
                <a:spcPts val="800"/>
              </a:spcAft>
              <a:defRPr sz="1400" b="0">
                <a:solidFill>
                  <a:srgbClr val="0F172A"/>
                </a:solidFill>
                <a:latin typeface="Segoe UI"/>
              </a:defRPr>
            </a:pPr>
            <a:r>
              <a:rPr sz="1400" b="0">
                <a:solidFill>
                  <a:srgbClr val="0F172A"/>
                </a:solidFill>
                <a:latin typeface="Segoe UI"/>
              </a:rPr>
              <a:t>• Definir un MLP custom: class Net(nn.Module): def __init__(self): ...; def forward(self, x): ....</a:t>
            </a:r>
          </a:p>
          <a:p>
            <a:pPr>
              <a:spcAft>
                <a:spcPts val="800"/>
              </a:spcAft>
              <a:defRPr sz="1400" b="0">
                <a:solidFill>
                  <a:srgbClr val="0F172A"/>
                </a:solidFill>
                <a:latin typeface="Segoe UI"/>
              </a:defRPr>
            </a:pPr>
            <a:r>
              <a:rPr sz="1400" b="0">
                <a:solidFill>
                  <a:srgbClr val="0F172A"/>
                </a:solidFill>
                <a:latin typeface="Segoe UI"/>
              </a:rPr>
              <a:t>• Escribir el loop manual: optimizer.zero_grad(); loss.backward(); optimizer.step().</a:t>
            </a:r>
          </a:p>
          <a:p>
            <a:pPr>
              <a:spcAft>
                <a:spcPts val="800"/>
              </a:spcAft>
              <a:defRPr sz="1400" b="0">
                <a:solidFill>
                  <a:srgbClr val="0F172A"/>
                </a:solidFill>
                <a:latin typeface="Segoe UI"/>
              </a:defRPr>
            </a:pPr>
            <a:r>
              <a:rPr sz="1400" b="0">
                <a:solidFill>
                  <a:srgbClr val="0F172A"/>
                </a:solidFill>
                <a:latin typeface="Segoe UI"/>
              </a:rPr>
              <a:t>• Usar Dataset y DataLoader para pipelines de datos.</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122 — PyTorch fundamentos: tensores, autograd, nn.Module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Tensors vs ndarray, .to(device).</a:t>
            </a:r>
          </a:p>
          <a:p>
            <a:pPr>
              <a:spcAft>
                <a:spcPts val="1000"/>
              </a:spcAft>
              <a:defRPr sz="1600" b="0">
                <a:solidFill>
                  <a:srgbClr val="0F172A"/>
                </a:solidFill>
                <a:latin typeface="Segoe UI"/>
              </a:defRPr>
            </a:pPr>
            <a:r>
              <a:rPr sz="1600" b="0">
                <a:solidFill>
                  <a:srgbClr val="0F172A"/>
                </a:solidFill>
                <a:latin typeface="Segoe UI"/>
              </a:rPr>
              <a:t>• Computation graph dinámico (vs estático TF1) — define-by-run.</a:t>
            </a:r>
          </a:p>
          <a:p>
            <a:pPr>
              <a:spcAft>
                <a:spcPts val="1000"/>
              </a:spcAft>
              <a:defRPr sz="1600" b="0">
                <a:solidFill>
                  <a:srgbClr val="0F172A"/>
                </a:solidFill>
                <a:latin typeface="Segoe UI"/>
              </a:defRPr>
            </a:pPr>
            <a:r>
              <a:rPr sz="1600" b="0">
                <a:solidFill>
                  <a:srgbClr val="0F172A"/>
                </a:solidFill>
                <a:latin typeface="Segoe UI"/>
              </a:rPr>
              <a:t>• requires_grad y autograd.</a:t>
            </a:r>
          </a:p>
          <a:p>
            <a:pPr>
              <a:spcAft>
                <a:spcPts val="1000"/>
              </a:spcAft>
              <a:defRPr sz="1600" b="0">
                <a:solidFill>
                  <a:srgbClr val="0F172A"/>
                </a:solidFill>
                <a:latin typeface="Segoe UI"/>
              </a:defRPr>
            </a:pPr>
            <a:r>
              <a:rPr sz="1600" b="0">
                <a:solidFill>
                  <a:srgbClr val="0F172A"/>
                </a:solidFill>
                <a:latin typeface="Segoe UI"/>
              </a:rPr>
              <a:t>• nn.Module, nn.Linear, nn.Sequential, nn.functional.</a:t>
            </a:r>
          </a:p>
          <a:p>
            <a:pPr>
              <a:spcAft>
                <a:spcPts val="1000"/>
              </a:spcAft>
              <a:defRPr sz="1600" b="0">
                <a:solidFill>
                  <a:srgbClr val="0F172A"/>
                </a:solidFill>
                <a:latin typeface="Segoe UI"/>
              </a:defRPr>
            </a:pPr>
            <a:r>
              <a:rPr sz="1600" b="0">
                <a:solidFill>
                  <a:srgbClr val="0F172A"/>
                </a:solidFill>
                <a:latin typeface="Segoe UI"/>
              </a:rPr>
              <a:t>• Loss funcs: nn.CrossEntropyLoss, nn.MSELoss.</a:t>
            </a:r>
          </a:p>
          <a:p>
            <a:pPr>
              <a:spcAft>
                <a:spcPts val="1000"/>
              </a:spcAft>
              <a:defRPr sz="1600" b="0">
                <a:solidFill>
                  <a:srgbClr val="0F172A"/>
                </a:solidFill>
                <a:latin typeface="Segoe UI"/>
              </a:defRPr>
            </a:pPr>
            <a:r>
              <a:rPr sz="1600" b="0">
                <a:solidFill>
                  <a:srgbClr val="0F172A"/>
                </a:solidFill>
                <a:latin typeface="Segoe UI"/>
              </a:rPr>
              <a:t>• Optim: torch.optim.Adam(model.parameters(), lr=...).</a:t>
            </a:r>
          </a:p>
          <a:p>
            <a:pPr>
              <a:spcAft>
                <a:spcPts val="1000"/>
              </a:spcAft>
              <a:defRPr sz="1600" b="0">
                <a:solidFill>
                  <a:srgbClr val="0F172A"/>
                </a:solidFill>
                <a:latin typeface="Segoe UI"/>
              </a:defRPr>
            </a:pPr>
            <a:r>
              <a:rPr sz="1600" b="0">
                <a:solidFill>
                  <a:srgbClr val="0F172A"/>
                </a:solidFill>
                <a:latin typeface="Segoe UI"/>
              </a:rPr>
              <a:t>• Dataset + DataLoader(num_workers, pin_memory).</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122 — PyTorch fundamentos: tensores, autograd, nn.Module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Intentamos import torch. Si no está, fallback con numpy y autograd manual.</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USE_TORCH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torch</a:t>
            </a:r>
          </a:p>
          <a:p>
            <a:pPr>
              <a:defRPr sz="1200" b="0">
                <a:solidFill>
                  <a:srgbClr val="F8FAFC"/>
                </a:solidFill>
                <a:latin typeface="Courier New"/>
              </a:defRPr>
            </a:pPr>
            <a:r>
              <a:rPr sz="1200" b="0">
                <a:solidFill>
                  <a:srgbClr val="F8FAFC"/>
                </a:solidFill>
                <a:latin typeface="Courier New"/>
              </a:rPr>
              <a:t>    USE_TORCH = True</a:t>
            </a:r>
          </a:p>
          <a:p>
            <a:pPr>
              <a:defRPr sz="1200" b="0">
                <a:solidFill>
                  <a:srgbClr val="F8FAFC"/>
                </a:solidFill>
                <a:latin typeface="Courier New"/>
              </a:defRPr>
            </a:pPr>
            <a:r>
              <a:rPr sz="1200" b="0">
                <a:solidFill>
                  <a:srgbClr val="F8FAFC"/>
                </a:solidFill>
                <a:latin typeface="Courier New"/>
              </a:rPr>
              <a:t>    print('torch:', torch.__version__, '| device cpu')</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print('torch no disponible. Fallback numpy + autograd manual. Motivo:', type(e).__name__)</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122 — PyTorch fundamentos: tensores, autograd, nn.Module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Tensores: crear, mover a GPU, operaciones básicas.</a:t>
            </a:r>
          </a:p>
          <a:p>
            <a:pPr>
              <a:spcAft>
                <a:spcPts val="800"/>
              </a:spcAft>
              <a:defRPr sz="1400" b="0">
                <a:solidFill>
                  <a:srgbClr val="0F172A"/>
                </a:solidFill>
                <a:latin typeface="Segoe UI"/>
              </a:defRPr>
            </a:pPr>
            <a:r>
              <a:rPr sz="1400" b="0">
                <a:solidFill>
                  <a:srgbClr val="0F172A"/>
                </a:solidFill>
                <a:latin typeface="Segoe UI"/>
              </a:rPr>
              <a:t>• Autograd: x = torch.tensor([2.0], requires_grad=True); y = x**3; y.backward(); print(x.grad) → debe ser 12.</a:t>
            </a:r>
          </a:p>
          <a:p>
            <a:pPr>
              <a:spcAft>
                <a:spcPts val="800"/>
              </a:spcAft>
              <a:defRPr sz="1400" b="0">
                <a:solidFill>
                  <a:srgbClr val="0F172A"/>
                </a:solidFill>
                <a:latin typeface="Segoe UI"/>
              </a:defRPr>
            </a:pPr>
            <a:r>
              <a:rPr sz="1400" b="0">
                <a:solidFill>
                  <a:srgbClr val="0F172A"/>
                </a:solidFill>
                <a:latin typeface="Segoe UI"/>
              </a:rPr>
              <a:t>• MLP custom: definir clase con 2 nn.Linear + ReLU.</a:t>
            </a:r>
          </a:p>
          <a:p>
            <a:pPr>
              <a:spcAft>
                <a:spcPts val="800"/>
              </a:spcAft>
              <a:defRPr sz="1400" b="0">
                <a:solidFill>
                  <a:srgbClr val="0F172A"/>
                </a:solidFill>
                <a:latin typeface="Segoe UI"/>
              </a:defRPr>
            </a:pPr>
            <a:r>
              <a:rPr sz="1400" b="0">
                <a:solidFill>
                  <a:srgbClr val="0F172A"/>
                </a:solidFill>
                <a:latin typeface="Segoe UI"/>
              </a:rPr>
              <a:t>• Training loop manual: Fashion-MNIST, 1 época, reportar loss.</a:t>
            </a:r>
          </a:p>
          <a:p>
            <a:pPr>
              <a:spcAft>
                <a:spcPts val="800"/>
              </a:spcAft>
              <a:defRPr sz="1400" b="0">
                <a:solidFill>
                  <a:srgbClr val="0F172A"/>
                </a:solidFill>
                <a:latin typeface="Segoe UI"/>
              </a:defRPr>
            </a:pPr>
            <a:r>
              <a:rPr sz="1400" b="0">
                <a:solidFill>
                  <a:srgbClr val="0F172A"/>
                </a:solidFill>
                <a:latin typeface="Segoe UI"/>
              </a:rPr>
              <a:t>• DataLoader: DataLoader(dataset, batch_size=32, shuffle=True, num_workers=2).</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MLP [300, 100, 10].</a:t>
            </a:r>
          </a:p>
          <a:p>
            <a:pPr>
              <a:spcAft>
                <a:spcPts val="800"/>
              </a:spcAft>
              <a:defRPr sz="1500" b="0">
                <a:solidFill>
                  <a:srgbClr val="0F172A"/>
                </a:solidFill>
                <a:latin typeface="Segoe UI"/>
              </a:defRPr>
            </a:pPr>
            <a:r>
              <a:rPr sz="1500" b="0">
                <a:solidFill>
                  <a:srgbClr val="0F172A"/>
                </a:solidFill>
                <a:latin typeface="Segoe UI"/>
              </a:rPr>
              <a:t>• CrossEntropy loss, Adam(1e-3).</a:t>
            </a:r>
          </a:p>
          <a:p>
            <a:pPr>
              <a:spcAft>
                <a:spcPts val="800"/>
              </a:spcAft>
              <a:defRPr sz="1500" b="0">
                <a:solidFill>
                  <a:srgbClr val="0F172A"/>
                </a:solidFill>
                <a:latin typeface="Segoe UI"/>
              </a:defRPr>
            </a:pPr>
            <a:r>
              <a:rPr sz="1500" b="0">
                <a:solidFill>
                  <a:srgbClr val="0F172A"/>
                </a:solidFill>
                <a:latin typeface="Segoe UI"/>
              </a:rPr>
              <a:t>• EarlyStopping manual (cuando val_loss no baja por 5 épocas).</a:t>
            </a:r>
          </a:p>
          <a:p>
            <a:pPr>
              <a:spcAft>
                <a:spcPts val="800"/>
              </a:spcAft>
              <a:defRPr sz="1500" b="0">
                <a:solidFill>
                  <a:srgbClr val="0F172A"/>
                </a:solidFill>
                <a:latin typeface="Segoe UI"/>
              </a:defRPr>
            </a:pPr>
            <a:r>
              <a:rPr sz="1500" b="0">
                <a:solidFill>
                  <a:srgbClr val="0F172A"/>
                </a:solidFill>
                <a:latin typeface="Segoe UI"/>
              </a:rPr>
              <a:t>• Reportar test accuracy.</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123 — PyTorch Lightning: Trainer, callbacks, distributed</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123 — PyTorch Lightning: Trainer, callbacks, distributed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Lightning docs.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PyTorch Lightning — la capa de abstracción que convierte PyTorch puro (mucho boilerplate) en algo tan productivo como Keras pero conservando flexibilidad. Cubrir LightningModule, Trainer, callbacks, logging (W&amp;B/TensorBoard), distributed training con un solo kwarg, mixed precision automática.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Subclassear LightningModule con training_step, validation_step, configure_optimizers.</a:t>
            </a:r>
          </a:p>
          <a:p>
            <a:pPr>
              <a:spcAft>
                <a:spcPts val="800"/>
              </a:spcAft>
              <a:defRPr sz="1400" b="0">
                <a:solidFill>
                  <a:srgbClr val="0F172A"/>
                </a:solidFill>
                <a:latin typeface="Segoe UI"/>
              </a:defRPr>
            </a:pPr>
            <a:r>
              <a:rPr sz="1400" b="0">
                <a:solidFill>
                  <a:srgbClr val="0F172A"/>
                </a:solidFill>
                <a:latin typeface="Segoe UI"/>
              </a:rPr>
              <a:t>• Usar Trainer(max_epochs, accelerator='auto', devices='auto', precision='bf16-mixed', logger=...).</a:t>
            </a:r>
          </a:p>
          <a:p>
            <a:pPr>
              <a:spcAft>
                <a:spcPts val="800"/>
              </a:spcAft>
              <a:defRPr sz="1400" b="0">
                <a:solidFill>
                  <a:srgbClr val="0F172A"/>
                </a:solidFill>
                <a:latin typeface="Segoe UI"/>
              </a:defRPr>
            </a:pPr>
            <a:r>
              <a:rPr sz="1400" b="0">
                <a:solidFill>
                  <a:srgbClr val="0F172A"/>
                </a:solidFill>
                <a:latin typeface="Segoe UI"/>
              </a:rPr>
              <a:t>• Aplicar callbacks: EarlyStopping, ModelCheckpoint, LearningRateMonitor.</a:t>
            </a:r>
          </a:p>
          <a:p>
            <a:pPr>
              <a:spcAft>
                <a:spcPts val="800"/>
              </a:spcAft>
              <a:defRPr sz="1400" b="0">
                <a:solidFill>
                  <a:srgbClr val="0F172A"/>
                </a:solidFill>
                <a:latin typeface="Segoe UI"/>
              </a:defRPr>
            </a:pPr>
            <a:r>
              <a:rPr sz="1400" b="0">
                <a:solidFill>
                  <a:srgbClr val="0F172A"/>
                </a:solidFill>
                <a:latin typeface="Segoe UI"/>
              </a:rPr>
              <a:t>• Activar distributed con strategy='ddp' o 'fsdp' para multi-GPU sin reescribir nada.</a:t>
            </a:r>
          </a:p>
          <a:p>
            <a:pPr>
              <a:spcAft>
                <a:spcPts val="800"/>
              </a:spcAft>
              <a:defRPr sz="1400" b="0">
                <a:solidFill>
                  <a:srgbClr val="0F172A"/>
                </a:solidFill>
                <a:latin typeface="Segoe UI"/>
              </a:defRPr>
            </a:pPr>
            <a:r>
              <a:rPr sz="1400" b="0">
                <a:solidFill>
                  <a:srgbClr val="0F172A"/>
                </a:solidFill>
                <a:latin typeface="Segoe UI"/>
              </a:rPr>
              <a:t>• Loggear a W&amp;B / TensorBoard / MLflow vía 1 línea.</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123 — PyTorch Lightning: Trainer, callbacks, distributed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LightningModule vs nn.Module puro.</a:t>
            </a:r>
          </a:p>
          <a:p>
            <a:pPr>
              <a:spcAft>
                <a:spcPts val="1000"/>
              </a:spcAft>
              <a:defRPr sz="1600" b="0">
                <a:solidFill>
                  <a:srgbClr val="0F172A"/>
                </a:solidFill>
                <a:latin typeface="Segoe UI"/>
              </a:defRPr>
            </a:pPr>
            <a:r>
              <a:rPr sz="1600" b="0">
                <a:solidFill>
                  <a:srgbClr val="0F172A"/>
                </a:solidFill>
                <a:latin typeface="Segoe UI"/>
              </a:rPr>
              <a:t>• Trainer args: max_epochs, devices, precision, strategy, accumulate_grad_batches.</a:t>
            </a:r>
          </a:p>
          <a:p>
            <a:pPr>
              <a:spcAft>
                <a:spcPts val="1000"/>
              </a:spcAft>
              <a:defRPr sz="1600" b="0">
                <a:solidFill>
                  <a:srgbClr val="0F172A"/>
                </a:solidFill>
                <a:latin typeface="Segoe UI"/>
              </a:defRPr>
            </a:pPr>
            <a:r>
              <a:rPr sz="1600" b="0">
                <a:solidFill>
                  <a:srgbClr val="0F172A"/>
                </a:solidFill>
                <a:latin typeface="Segoe UI"/>
              </a:rPr>
              <a:t>• Callbacks integrados.</a:t>
            </a:r>
          </a:p>
          <a:p>
            <a:pPr>
              <a:spcAft>
                <a:spcPts val="1000"/>
              </a:spcAft>
              <a:defRPr sz="1600" b="0">
                <a:solidFill>
                  <a:srgbClr val="0F172A"/>
                </a:solidFill>
                <a:latin typeface="Segoe UI"/>
              </a:defRPr>
            </a:pPr>
            <a:r>
              <a:rPr sz="1600" b="0">
                <a:solidFill>
                  <a:srgbClr val="0F172A"/>
                </a:solidFill>
                <a:latin typeface="Segoe UI"/>
              </a:rPr>
              <a:t>• LightningDataModule para data pipelines.</a:t>
            </a:r>
          </a:p>
          <a:p>
            <a:pPr>
              <a:spcAft>
                <a:spcPts val="1000"/>
              </a:spcAft>
              <a:defRPr sz="1600" b="0">
                <a:solidFill>
                  <a:srgbClr val="0F172A"/>
                </a:solidFill>
                <a:latin typeface="Segoe UI"/>
              </a:defRPr>
            </a:pPr>
            <a:r>
              <a:rPr sz="1600" b="0">
                <a:solidFill>
                  <a:srgbClr val="0F172A"/>
                </a:solidFill>
                <a:latin typeface="Segoe UI"/>
              </a:rPr>
              <a:t>• Distributed training: ddp, fsdp, deepspeed.</a:t>
            </a:r>
          </a:p>
          <a:p>
            <a:pPr>
              <a:spcAft>
                <a:spcPts val="1000"/>
              </a:spcAft>
              <a:defRPr sz="1600" b="0">
                <a:solidFill>
                  <a:srgbClr val="0F172A"/>
                </a:solidFill>
                <a:latin typeface="Segoe UI"/>
              </a:defRPr>
            </a:pPr>
            <a:r>
              <a:rPr sz="1600" b="0">
                <a:solidFill>
                  <a:srgbClr val="0F172A"/>
                </a:solidFill>
                <a:latin typeface="Segoe UI"/>
              </a:rPr>
              <a:t>• Logging multi-backend.</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123 — PyTorch Lightning: Trainer, callbacks, distributed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Lightning organiza tu código en LightningModule + LightningDataModule + Trainer. Soporta DDP, FSDP, mixed precision, checkpoints y logging automático. Fallback completo si lightning/torch no están.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USE_PL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torch</a:t>
            </a:r>
          </a:p>
          <a:p>
            <a:pPr>
              <a:defRPr sz="1200" b="0">
                <a:solidFill>
                  <a:srgbClr val="F8FAFC"/>
                </a:solidFill>
                <a:latin typeface="Courier New"/>
              </a:defRPr>
            </a:pPr>
            <a:r>
              <a:rPr sz="1200" b="0">
                <a:solidFill>
                  <a:srgbClr val="F8FAFC"/>
                </a:solidFill>
                <a:latin typeface="Courier New"/>
              </a:rPr>
              <a:t>    import torch.nn as nn</a:t>
            </a:r>
          </a:p>
          <a:p>
            <a:pPr>
              <a:defRPr sz="1200" b="0">
                <a:solidFill>
                  <a:srgbClr val="F8FAFC"/>
                </a:solidFill>
                <a:latin typeface="Courier New"/>
              </a:defRPr>
            </a:pPr>
            <a:r>
              <a:rPr sz="1200" b="0">
                <a:solidFill>
                  <a:srgbClr val="F8FAFC"/>
                </a:solidFill>
                <a:latin typeface="Courier New"/>
              </a:rPr>
              <a:t>    import torch.nn.functional as F</a:t>
            </a:r>
          </a:p>
          <a:p>
            <a:pPr>
              <a:defRPr sz="1200" b="0">
                <a:solidFill>
                  <a:srgbClr val="F8FAFC"/>
                </a:solidFill>
                <a:latin typeface="Courier New"/>
              </a:defRPr>
            </a:pPr>
            <a:r>
              <a:rPr sz="1200" b="0">
                <a:solidFill>
                  <a:srgbClr val="F8FAFC"/>
                </a:solidFill>
                <a:latin typeface="Courier New"/>
              </a:rPr>
              <a:t>    from torch.utils.data import DataLoader, TensorDataset</a:t>
            </a:r>
          </a:p>
          <a:p>
            <a:pPr>
              <a:defRPr sz="1200" b="0">
                <a:solidFill>
                  <a:srgbClr val="F8FAFC"/>
                </a:solidFill>
                <a:latin typeface="Courier New"/>
              </a:defRPr>
            </a:pPr>
            <a:r>
              <a:rPr sz="1200" b="0">
                <a:solidFill>
                  <a:srgbClr val="F8FAFC"/>
                </a:solidFill>
                <a:latin typeface="Courier New"/>
              </a:rPr>
              <a:t>    import pytorch_lightning as pl</a:t>
            </a:r>
          </a:p>
          <a:p>
            <a:pPr>
              <a:defRPr sz="1200" b="0">
                <a:solidFill>
                  <a:srgbClr val="F8FAFC"/>
                </a:solidFill>
                <a:latin typeface="Courier New"/>
              </a:defRPr>
            </a:pPr>
            <a:r>
              <a:rPr sz="1200" b="0">
                <a:solidFill>
                  <a:srgbClr val="F8FAFC"/>
                </a:solidFill>
                <a:latin typeface="Courier New"/>
              </a:rPr>
              <a:t>    USE_PL = True</a:t>
            </a:r>
          </a:p>
          <a:p>
            <a:pPr>
              <a:defRPr sz="1200" b="0">
                <a:solidFill>
                  <a:srgbClr val="F8FAFC"/>
                </a:solidFill>
                <a:latin typeface="Courier New"/>
              </a:defRPr>
            </a:pPr>
            <a:r>
              <a:rPr sz="1200" b="0">
                <a:solidFill>
                  <a:srgbClr val="F8FAFC"/>
                </a:solidFill>
                <a:latin typeface="Courier New"/>
              </a:rPr>
              <a:t>    print('lightning:', pl.__version__)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print('lightning no disponible. Fallback con sklearn MLP. Motivo:', type(e).__name__)</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123 — PyTorch Lightning: Trainer, callbacks, distributed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LightningModule básico: convertir el MLP de 108a a Lightning.</a:t>
            </a:r>
          </a:p>
          <a:p>
            <a:pPr>
              <a:spcAft>
                <a:spcPts val="800"/>
              </a:spcAft>
              <a:defRPr sz="1400" b="0">
                <a:solidFill>
                  <a:srgbClr val="0F172A"/>
                </a:solidFill>
                <a:latin typeface="Segoe UI"/>
              </a:defRPr>
            </a:pPr>
            <a:r>
              <a:rPr sz="1400" b="0">
                <a:solidFill>
                  <a:srgbClr val="0F172A"/>
                </a:solidFill>
                <a:latin typeface="Segoe UI"/>
              </a:rPr>
              <a:t>• Callbacks: agregar EarlyStopping(patience=5) + ModelCheckpoint(save_top_k=3).</a:t>
            </a:r>
          </a:p>
          <a:p>
            <a:pPr>
              <a:spcAft>
                <a:spcPts val="800"/>
              </a:spcAft>
              <a:defRPr sz="1400" b="0">
                <a:solidFill>
                  <a:srgbClr val="0F172A"/>
                </a:solidFill>
                <a:latin typeface="Segoe UI"/>
              </a:defRPr>
            </a:pPr>
            <a:r>
              <a:rPr sz="1400" b="0">
                <a:solidFill>
                  <a:srgbClr val="0F172A"/>
                </a:solidFill>
                <a:latin typeface="Segoe UI"/>
              </a:rPr>
              <a:t>• Mixed precision: Trainer(precision='bf16-mixed').</a:t>
            </a:r>
          </a:p>
          <a:p>
            <a:pPr>
              <a:spcAft>
                <a:spcPts val="800"/>
              </a:spcAft>
              <a:defRPr sz="1400" b="0">
                <a:solidFill>
                  <a:srgbClr val="0F172A"/>
                </a:solidFill>
                <a:latin typeface="Segoe UI"/>
              </a:defRPr>
            </a:pPr>
            <a:r>
              <a:rPr sz="1400" b="0">
                <a:solidFill>
                  <a:srgbClr val="0F172A"/>
                </a:solidFill>
                <a:latin typeface="Segoe UI"/>
              </a:rPr>
              <a:t>• W&amp;B logging: Trainer(logger=WandbLogger(project='test')).</a:t>
            </a:r>
          </a:p>
          <a:p>
            <a:pPr>
              <a:spcAft>
                <a:spcPts val="800"/>
              </a:spcAft>
              <a:defRPr sz="1400" b="0">
                <a:solidFill>
                  <a:srgbClr val="0F172A"/>
                </a:solidFill>
                <a:latin typeface="Segoe UI"/>
              </a:defRPr>
            </a:pPr>
            <a:r>
              <a:rPr sz="1400" b="0">
                <a:solidFill>
                  <a:srgbClr val="0F172A"/>
                </a:solidFill>
                <a:latin typeface="Segoe UI"/>
              </a:rPr>
              <a:t>• DDP: si tenés 2+ GPUs, strategy='ddp', devices=2.</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LightningModule con train/val/test steps.</a:t>
            </a:r>
          </a:p>
          <a:p>
            <a:pPr>
              <a:spcAft>
                <a:spcPts val="800"/>
              </a:spcAft>
              <a:defRPr sz="1500" b="0">
                <a:solidFill>
                  <a:srgbClr val="0F172A"/>
                </a:solidFill>
                <a:latin typeface="Segoe UI"/>
              </a:defRPr>
            </a:pPr>
            <a:r>
              <a:rPr sz="1500" b="0">
                <a:solidFill>
                  <a:srgbClr val="0F172A"/>
                </a:solidFill>
                <a:latin typeface="Segoe UI"/>
              </a:rPr>
              <a:t>• Trainer con EarlyStopping, ModelCheckpoint, mixed precision.</a:t>
            </a:r>
          </a:p>
          <a:p>
            <a:pPr>
              <a:spcAft>
                <a:spcPts val="800"/>
              </a:spcAft>
              <a:defRPr sz="1500" b="0">
                <a:solidFill>
                  <a:srgbClr val="0F172A"/>
                </a:solidFill>
                <a:latin typeface="Segoe UI"/>
              </a:defRPr>
            </a:pPr>
            <a:r>
              <a:rPr sz="1500" b="0">
                <a:solidFill>
                  <a:srgbClr val="0F172A"/>
                </a:solidFill>
                <a:latin typeface="Segoe UI"/>
              </a:rPr>
              <a:t>• Logging a TensorBoard.</a:t>
            </a:r>
          </a:p>
          <a:p>
            <a:pPr>
              <a:spcAft>
                <a:spcPts val="800"/>
              </a:spcAft>
              <a:defRPr sz="1500" b="0">
                <a:solidFill>
                  <a:srgbClr val="0F172A"/>
                </a:solidFill>
                <a:latin typeface="Segoe UI"/>
              </a:defRPr>
            </a:pPr>
            <a:r>
              <a:rPr sz="1500" b="0">
                <a:solidFill>
                  <a:srgbClr val="0F172A"/>
                </a:solidFill>
                <a:latin typeface="Segoe UI"/>
              </a:rPr>
              <a:t>• Reportar accuracy + screenshot del dashboard.</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124 — tf.data API</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124 — tf.data API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13 § The Data API.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pipelines de datos eficientes con tf.data.Dataset: leer desde memoria/archivos/CSV, transformar (map, filter), mezclar (shuffle), batchear (batch), prefetch (paraleliza CPU↔GPU). Saber por qué un buen pipeline de datos es la diferencia entre "GPU al 30 %" y "GPU al 95 %".</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datasets desde varias fuentes: from_tensor_slices, list_files, TextLineDataset.</a:t>
            </a:r>
          </a:p>
          <a:p>
            <a:pPr>
              <a:spcAft>
                <a:spcPts val="800"/>
              </a:spcAft>
              <a:defRPr sz="1400" b="0">
                <a:solidFill>
                  <a:srgbClr val="0F172A"/>
                </a:solidFill>
                <a:latin typeface="Segoe UI"/>
              </a:defRPr>
            </a:pPr>
            <a:r>
              <a:rPr sz="1400" b="0">
                <a:solidFill>
                  <a:srgbClr val="0F172A"/>
                </a:solidFill>
                <a:latin typeface="Segoe UI"/>
              </a:rPr>
              <a:t>• Encadenar transformaciones: .map(fn, num_parallel_calls=tf.data.AUTOTUNE), .filter, .shuffle(buffer), .batch(N), .prefetch(tf.data.AUTOTUNE).</a:t>
            </a:r>
          </a:p>
          <a:p>
            <a:pPr>
              <a:spcAft>
                <a:spcPts val="800"/>
              </a:spcAft>
              <a:defRPr sz="1400" b="0">
                <a:solidFill>
                  <a:srgbClr val="0F172A"/>
                </a:solidFill>
                <a:latin typeface="Segoe UI"/>
              </a:defRPr>
            </a:pPr>
            <a:r>
              <a:rPr sz="1400" b="0">
                <a:solidFill>
                  <a:srgbClr val="0F172A"/>
                </a:solidFill>
                <a:latin typeface="Segoe UI"/>
              </a:rPr>
              <a:t>• Reconocer el orden correcto: cache → shuffle → batch → prefetch.</a:t>
            </a:r>
          </a:p>
          <a:p>
            <a:pPr>
              <a:spcAft>
                <a:spcPts val="800"/>
              </a:spcAft>
              <a:defRPr sz="1400" b="0">
                <a:solidFill>
                  <a:srgbClr val="0F172A"/>
                </a:solidFill>
                <a:latin typeface="Segoe UI"/>
              </a:defRPr>
            </a:pPr>
            <a:r>
              <a:rPr sz="1400" b="0">
                <a:solidFill>
                  <a:srgbClr val="0F172A"/>
                </a:solidFill>
                <a:latin typeface="Segoe UI"/>
              </a:rPr>
              <a:t>• Usar tf.data.AUTOTUNE y profilear con TensorBoard Profiler.</a:t>
            </a:r>
          </a:p>
          <a:p>
            <a:pPr>
              <a:spcAft>
                <a:spcPts val="800"/>
              </a:spcAft>
              <a:defRPr sz="1400" b="0">
                <a:solidFill>
                  <a:srgbClr val="0F172A"/>
                </a:solidFill>
                <a:latin typeface="Segoe UI"/>
              </a:defRPr>
            </a:pPr>
            <a:r>
              <a:rPr sz="1400" b="0">
                <a:solidFill>
                  <a:srgbClr val="0F172A"/>
                </a:solidFill>
                <a:latin typeface="Segoe UI"/>
              </a:rPr>
              <a:t>• Saber cuándo cache() vale la pena (datasets que caben en RAM).</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124 — tf.data API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Lazy evaluation: el dataset es un grafo, no datos cargados.</a:t>
            </a:r>
          </a:p>
          <a:p>
            <a:pPr>
              <a:spcAft>
                <a:spcPts val="1000"/>
              </a:spcAft>
              <a:defRPr sz="1600" b="0">
                <a:solidFill>
                  <a:srgbClr val="0F172A"/>
                </a:solidFill>
                <a:latin typeface="Segoe UI"/>
              </a:defRPr>
            </a:pPr>
            <a:r>
              <a:rPr sz="1600" b="0">
                <a:solidFill>
                  <a:srgbClr val="0F172A"/>
                </a:solidFill>
                <a:latin typeface="Segoe UI"/>
              </a:rPr>
              <a:t>• shuffle(buffer_size): buffer chico → mal mezclado; buffer = dataset_size → perfecto pero RAM.</a:t>
            </a:r>
          </a:p>
          <a:p>
            <a:pPr>
              <a:spcAft>
                <a:spcPts val="1000"/>
              </a:spcAft>
              <a:defRPr sz="1600" b="0">
                <a:solidFill>
                  <a:srgbClr val="0F172A"/>
                </a:solidFill>
                <a:latin typeface="Segoe UI"/>
              </a:defRPr>
            </a:pPr>
            <a:r>
              <a:rPr sz="1600" b="0">
                <a:solidFill>
                  <a:srgbClr val="0F172A"/>
                </a:solidFill>
                <a:latin typeface="Segoe UI"/>
              </a:rPr>
              <a:t>• batch(N) → cada elemento es ahora un mini-batch.</a:t>
            </a:r>
          </a:p>
          <a:p>
            <a:pPr>
              <a:spcAft>
                <a:spcPts val="1000"/>
              </a:spcAft>
              <a:defRPr sz="1600" b="0">
                <a:solidFill>
                  <a:srgbClr val="0F172A"/>
                </a:solidFill>
                <a:latin typeface="Segoe UI"/>
              </a:defRPr>
            </a:pPr>
            <a:r>
              <a:rPr sz="1600" b="0">
                <a:solidFill>
                  <a:srgbClr val="0F172A"/>
                </a:solidFill>
                <a:latin typeface="Segoe UI"/>
              </a:rPr>
              <a:t>• prefetch: solapamiento CPU (loading) con GPU (training).</a:t>
            </a:r>
          </a:p>
          <a:p>
            <a:pPr>
              <a:spcAft>
                <a:spcPts val="1000"/>
              </a:spcAft>
              <a:defRPr sz="1600" b="0">
                <a:solidFill>
                  <a:srgbClr val="0F172A"/>
                </a:solidFill>
                <a:latin typeface="Segoe UI"/>
              </a:defRPr>
            </a:pPr>
            <a:r>
              <a:rPr sz="1600" b="0">
                <a:solidFill>
                  <a:srgbClr val="0F172A"/>
                </a:solidFill>
                <a:latin typeface="Segoe UI"/>
              </a:rPr>
              <a:t>• interleave para leer múltiples archivos en paralelo.</a:t>
            </a:r>
          </a:p>
          <a:p>
            <a:pPr>
              <a:spcAft>
                <a:spcPts val="1000"/>
              </a:spcAft>
              <a:defRPr sz="1600" b="0">
                <a:solidFill>
                  <a:srgbClr val="0F172A"/>
                </a:solidFill>
                <a:latin typeface="Segoe UI"/>
              </a:defRPr>
            </a:pPr>
            <a:r>
              <a:rPr sz="1600" b="0">
                <a:solidFill>
                  <a:srgbClr val="0F172A"/>
                </a:solidFill>
                <a:latin typeface="Segoe UI"/>
              </a:rPr>
              <a:t>• Métricas: tf.data.experimental.assert_cardinality.</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124 — tf.data API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AUTOTUNE = tf.data.AUTOTUNE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 y_tr), _ = keras.datasets.fashion_mnist.load_data()</a:t>
            </a:r>
          </a:p>
          <a:p>
            <a:pPr>
              <a:defRPr sz="1200" b="0">
                <a:solidFill>
                  <a:srgbClr val="F8FAFC"/>
                </a:solidFill>
                <a:latin typeface="Courier New"/>
              </a:defRPr>
            </a:pPr>
            <a:r>
              <a:rPr sz="1200" b="0">
                <a:solidFill>
                  <a:srgbClr val="F8FAFC"/>
                </a:solidFill>
                <a:latin typeface="Courier New"/>
              </a:rPr>
              <a:t>X_tr = X_tr.astype("float32")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ds = tf.data.Dataset.from_tensor_slices((X_tr, y_tr))</a:t>
            </a:r>
          </a:p>
          <a:p>
            <a:pPr>
              <a:defRPr sz="1200" b="0">
                <a:solidFill>
                  <a:srgbClr val="F8FAFC"/>
                </a:solidFill>
                <a:latin typeface="Courier New"/>
              </a:defRPr>
            </a:pPr>
            <a:r>
              <a:rPr sz="1200" b="0">
                <a:solidFill>
                  <a:srgbClr val="F8FAFC"/>
                </a:solidFill>
                <a:latin typeface="Courier New"/>
              </a:rPr>
              <a:t>print("element_spec:", ds.element_spec)</a:t>
            </a:r>
          </a:p>
          <a:p>
            <a:pPr>
              <a:defRPr sz="1200" b="0">
                <a:solidFill>
                  <a:srgbClr val="F8FAFC"/>
                </a:solidFill>
                <a:latin typeface="Courier New"/>
              </a:defRPr>
            </a:pPr>
            <a:r>
              <a:rPr sz="1200" b="0">
                <a:solidFill>
                  <a:srgbClr val="F8FAFC"/>
                </a:solidFill>
                <a:latin typeface="Courier New"/>
              </a:rPr>
              <a:t>for imagen, etiqueta in ds.take(1):</a:t>
            </a:r>
          </a:p>
          <a:p>
            <a:pPr>
              <a:defRPr sz="1200" b="0">
                <a:solidFill>
                  <a:srgbClr val="F8FAFC"/>
                </a:solidFill>
                <a:latin typeface="Courier New"/>
              </a:defRPr>
            </a:pPr>
            <a:r>
              <a:rPr sz="1200" b="0">
                <a:solidFill>
                  <a:srgbClr val="F8FAFC"/>
                </a:solidFill>
                <a:latin typeface="Courier New"/>
              </a:rPr>
              <a:t>    print("primera imagen:", imagen.shape, "| etiqueta:", int(etiqueta))</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124 — tf.data API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Dataset desde NumPy: ds = tf.data.Dataset.from_tensor_slices((x_train, y_train)).shuffle(1024).batch(32).prefetch(tf.data.AUTOTUNE).</a:t>
            </a:r>
          </a:p>
          <a:p>
            <a:pPr>
              <a:spcAft>
                <a:spcPts val="800"/>
              </a:spcAft>
              <a:defRPr sz="1400" b="0">
                <a:solidFill>
                  <a:srgbClr val="0F172A"/>
                </a:solidFill>
                <a:latin typeface="Segoe UI"/>
              </a:defRPr>
            </a:pPr>
            <a:r>
              <a:rPr sz="1400" b="0">
                <a:solidFill>
                  <a:srgbClr val="0F172A"/>
                </a:solidFill>
                <a:latin typeface="Segoe UI"/>
              </a:rPr>
              <a:t>• Map con normalización: .map(lambda x, y: (tf.cast(x, tf.float32)/255., y), num_parallel_calls=tf.data.AUTOTUNE).</a:t>
            </a:r>
          </a:p>
          <a:p>
            <a:pPr>
              <a:spcAft>
                <a:spcPts val="800"/>
              </a:spcAft>
              <a:defRPr sz="1400" b="0">
                <a:solidFill>
                  <a:srgbClr val="0F172A"/>
                </a:solidFill>
                <a:latin typeface="Segoe UI"/>
              </a:defRPr>
            </a:pPr>
            <a:r>
              <a:rPr sz="1400" b="0">
                <a:solidFill>
                  <a:srgbClr val="0F172A"/>
                </a:solidFill>
                <a:latin typeface="Segoe UI"/>
              </a:rPr>
              <a:t>• Cache: comparar tiempo del 1er epoch vs 2do epoch con y sin .cache().</a:t>
            </a:r>
          </a:p>
          <a:p>
            <a:pPr>
              <a:spcAft>
                <a:spcPts val="800"/>
              </a:spcAft>
              <a:defRPr sz="1400" b="0">
                <a:solidFill>
                  <a:srgbClr val="0F172A"/>
                </a:solidFill>
                <a:latin typeface="Segoe UI"/>
              </a:defRPr>
            </a:pPr>
            <a:r>
              <a:rPr sz="1400" b="0">
                <a:solidFill>
                  <a:srgbClr val="0F172A"/>
                </a:solidFill>
                <a:latin typeface="Segoe UI"/>
              </a:rPr>
              <a:t>• Buffer chico: comparar shuffle con buffer_size=10 vs buffer_size=len(data).</a:t>
            </a:r>
          </a:p>
          <a:p>
            <a:pPr>
              <a:spcAft>
                <a:spcPts val="800"/>
              </a:spcAft>
              <a:defRPr sz="1400" b="0">
                <a:solidFill>
                  <a:srgbClr val="0F172A"/>
                </a:solidFill>
                <a:latin typeface="Segoe UI"/>
              </a:defRPr>
            </a:pPr>
            <a:r>
              <a:rPr sz="1400" b="0">
                <a:solidFill>
                  <a:srgbClr val="0F172A"/>
                </a:solidFill>
                <a:latin typeface="Segoe UI"/>
              </a:rPr>
              <a:t>• Profilear: usar tf.profiler (vía TensorBoard) y verificar dónde está el bottleneck — data loading vs compute.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from_tensor_slices con shuffle, augmentation simple (random flip), normalización, batch=128, prefetch.</a:t>
            </a:r>
          </a:p>
          <a:p>
            <a:pPr>
              <a:spcAft>
                <a:spcPts val="800"/>
              </a:spcAft>
              <a:defRPr sz="1500" b="0">
                <a:solidFill>
                  <a:srgbClr val="0F172A"/>
                </a:solidFill>
                <a:latin typeface="Segoe UI"/>
              </a:defRPr>
            </a:pPr>
            <a:r>
              <a:rPr sz="1500" b="0">
                <a:solidFill>
                  <a:srgbClr val="0F172A"/>
                </a:solidFill>
                <a:latin typeface="Segoe UI"/>
              </a:rPr>
              <a:t>• Cachear el dataset (entra en RAM).</a:t>
            </a:r>
          </a:p>
          <a:p>
            <a:pPr>
              <a:spcAft>
                <a:spcPts val="800"/>
              </a:spcAft>
              <a:defRPr sz="1500" b="0">
                <a:solidFill>
                  <a:srgbClr val="0F172A"/>
                </a:solidFill>
                <a:latin typeface="Segoe UI"/>
              </a:defRPr>
            </a:pPr>
            <a:r>
              <a:rPr sz="1500" b="0">
                <a:solidFill>
                  <a:srgbClr val="0F172A"/>
                </a:solidFill>
                <a:latin typeface="Segoe UI"/>
              </a:rPr>
              <a:t>• Train un MLP por 10 épocas; medir tiempo total.</a:t>
            </a:r>
          </a:p>
          <a:p>
            <a:pPr>
              <a:spcAft>
                <a:spcPts val="800"/>
              </a:spcAft>
              <a:defRPr sz="1500" b="0">
                <a:solidFill>
                  <a:srgbClr val="0F172A"/>
                </a:solidFill>
                <a:latin typeface="Segoe UI"/>
              </a:defRPr>
            </a:pPr>
            <a:r>
              <a:rPr sz="1500" b="0">
                <a:solidFill>
                  <a:srgbClr val="0F172A"/>
                </a:solidFill>
                <a:latin typeface="Segoe UI"/>
              </a:rPr>
              <a:t>• Comparar contra pasar x, y directo a model.fit.</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125 — TFRecord</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125 — TFRecord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13 § The TFRecord Format.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el formato TFRecord — el formato binario nativo de TF, optimizado para datasets grandes (cientos de GB) que no caben en RAM. Saber escribirlo (tf.io.TFRecordWriter), parsearlo (tf.io.parse_single_example), y por qué es estándar en TPU/Vertex AI para training a escala.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Serializar un tf.train.Example con Features ↔ Feature (BytesList, Int64List, FloatList).</a:t>
            </a:r>
          </a:p>
          <a:p>
            <a:pPr>
              <a:spcAft>
                <a:spcPts val="800"/>
              </a:spcAft>
              <a:defRPr sz="1400" b="0">
                <a:solidFill>
                  <a:srgbClr val="0F172A"/>
                </a:solidFill>
                <a:latin typeface="Segoe UI"/>
              </a:defRPr>
            </a:pPr>
            <a:r>
              <a:rPr sz="1400" b="0">
                <a:solidFill>
                  <a:srgbClr val="0F172A"/>
                </a:solidFill>
                <a:latin typeface="Segoe UI"/>
              </a:rPr>
              <a:t>• Escribir TFRecord shards: with tf.io.TFRecordWriter('file.tfrecord') as w: w.write(serialized).</a:t>
            </a:r>
          </a:p>
          <a:p>
            <a:pPr>
              <a:spcAft>
                <a:spcPts val="800"/>
              </a:spcAft>
              <a:defRPr sz="1400" b="0">
                <a:solidFill>
                  <a:srgbClr val="0F172A"/>
                </a:solidFill>
                <a:latin typeface="Segoe UI"/>
              </a:defRPr>
            </a:pPr>
            <a:r>
              <a:rPr sz="1400" b="0">
                <a:solidFill>
                  <a:srgbClr val="0F172A"/>
                </a:solidFill>
                <a:latin typeface="Segoe UI"/>
              </a:rPr>
              <a:t>• Leer con tf.data.TFRecordDataset('file.tfrecord').map(parse_fn).</a:t>
            </a:r>
          </a:p>
          <a:p>
            <a:pPr>
              <a:spcAft>
                <a:spcPts val="800"/>
              </a:spcAft>
              <a:defRPr sz="1400" b="0">
                <a:solidFill>
                  <a:srgbClr val="0F172A"/>
                </a:solidFill>
                <a:latin typeface="Segoe UI"/>
              </a:defRPr>
            </a:pPr>
            <a:r>
              <a:rPr sz="1400" b="0">
                <a:solidFill>
                  <a:srgbClr val="0F172A"/>
                </a:solidFill>
                <a:latin typeface="Segoe UI"/>
              </a:rPr>
              <a:t>• Splitear datasets grandes en múltiples shards (*.tfrecord-00000-of-00010) para paralelizar reads.</a:t>
            </a:r>
          </a:p>
          <a:p>
            <a:pPr>
              <a:spcAft>
                <a:spcPts val="800"/>
              </a:spcAft>
              <a:defRPr sz="1400" b="0">
                <a:solidFill>
                  <a:srgbClr val="0F172A"/>
                </a:solidFill>
                <a:latin typeface="Segoe UI"/>
              </a:defRPr>
            </a:pPr>
            <a:r>
              <a:rPr sz="1400" b="0">
                <a:solidFill>
                  <a:srgbClr val="0F172A"/>
                </a:solidFill>
                <a:latin typeface="Segoe UI"/>
              </a:rPr>
              <a:t>• Reconocer cuándo TFRecord vale la pena vs alternativas modernas (Parquet, WebDataset).</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125 — TFRecord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tf.train.Example: estructura protobuf con Features (dict de strings a Feature).</a:t>
            </a:r>
          </a:p>
          <a:p>
            <a:pPr>
              <a:spcAft>
                <a:spcPts val="1000"/>
              </a:spcAft>
              <a:defRPr sz="1600" b="0">
                <a:solidFill>
                  <a:srgbClr val="0F172A"/>
                </a:solidFill>
                <a:latin typeface="Segoe UI"/>
              </a:defRPr>
            </a:pPr>
            <a:r>
              <a:rPr sz="1600" b="0">
                <a:solidFill>
                  <a:srgbClr val="0F172A"/>
                </a:solidFill>
                <a:latin typeface="Segoe UI"/>
              </a:rPr>
              <a:t>• Feature types: BytesList, Int64List, FloatList.</a:t>
            </a:r>
          </a:p>
          <a:p>
            <a:pPr>
              <a:spcAft>
                <a:spcPts val="1000"/>
              </a:spcAft>
              <a:defRPr sz="1600" b="0">
                <a:solidFill>
                  <a:srgbClr val="0F172A"/>
                </a:solidFill>
                <a:latin typeface="Segoe UI"/>
              </a:defRPr>
            </a:pPr>
            <a:r>
              <a:rPr sz="1600" b="0">
                <a:solidFill>
                  <a:srgbClr val="0F172A"/>
                </a:solidFill>
                <a:latin typeface="Segoe UI"/>
              </a:rPr>
              <a:t>• Serialize → escribir → leer → parse.</a:t>
            </a:r>
          </a:p>
          <a:p>
            <a:pPr>
              <a:spcAft>
                <a:spcPts val="1000"/>
              </a:spcAft>
              <a:defRPr sz="1600" b="0">
                <a:solidFill>
                  <a:srgbClr val="0F172A"/>
                </a:solidFill>
                <a:latin typeface="Segoe UI"/>
              </a:defRPr>
            </a:pPr>
            <a:r>
              <a:rPr sz="1600" b="0">
                <a:solidFill>
                  <a:srgbClr val="0F172A"/>
                </a:solidFill>
                <a:latin typeface="Segoe UI"/>
              </a:rPr>
              <a:t>• Sharding: data.tfrecord-NNNNN-of-MMMMM.</a:t>
            </a:r>
          </a:p>
          <a:p>
            <a:pPr>
              <a:spcAft>
                <a:spcPts val="1000"/>
              </a:spcAft>
              <a:defRPr sz="1600" b="0">
                <a:solidFill>
                  <a:srgbClr val="0F172A"/>
                </a:solidFill>
                <a:latin typeface="Segoe UI"/>
              </a:defRPr>
            </a:pPr>
            <a:r>
              <a:rPr sz="1600" b="0">
                <a:solidFill>
                  <a:srgbClr val="0F172A"/>
                </a:solidFill>
                <a:latin typeface="Segoe UI"/>
              </a:rPr>
              <a:t>• tf.data.experimental.bucket_by_sequence_length para batches eficientes por longitud (NLP).</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125 — TFRecord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glob</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_bytes_feature(valor):</a:t>
            </a:r>
          </a:p>
          <a:p>
            <a:pPr>
              <a:defRPr sz="1200" b="0">
                <a:solidFill>
                  <a:srgbClr val="F8FAFC"/>
                </a:solidFill>
                <a:latin typeface="Courier New"/>
              </a:defRPr>
            </a:pPr>
            <a:r>
              <a:rPr sz="1200" b="0">
                <a:solidFill>
                  <a:srgbClr val="F8FAFC"/>
                </a:solidFill>
                <a:latin typeface="Courier New"/>
              </a:rPr>
              <a:t>    if isinstance(valor, type(tf.constant(0))):</a:t>
            </a:r>
          </a:p>
          <a:p>
            <a:pPr>
              <a:defRPr sz="1200" b="0">
                <a:solidFill>
                  <a:srgbClr val="F8FAFC"/>
                </a:solidFill>
                <a:latin typeface="Courier New"/>
              </a:defRPr>
            </a:pPr>
            <a:r>
              <a:rPr sz="1200" b="0">
                <a:solidFill>
                  <a:srgbClr val="F8FAFC"/>
                </a:solidFill>
                <a:latin typeface="Courier New"/>
              </a:rPr>
              <a:t>        valor = valor.numpy()</a:t>
            </a:r>
          </a:p>
          <a:p>
            <a:pPr>
              <a:defRPr sz="1200" b="0">
                <a:solidFill>
                  <a:srgbClr val="F8FAFC"/>
                </a:solidFill>
                <a:latin typeface="Courier New"/>
              </a:defRPr>
            </a:pPr>
            <a:r>
              <a:rPr sz="1200" b="0">
                <a:solidFill>
                  <a:srgbClr val="F8FAFC"/>
                </a:solidFill>
                <a:latin typeface="Courier New"/>
              </a:rPr>
              <a:t>    return tf.train.Feature(bytes_list=tf.train.BytesList(value=[valor]))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_int64_feature(valor):</a:t>
            </a:r>
          </a:p>
          <a:p>
            <a:pPr>
              <a:defRPr sz="1200" b="0">
                <a:solidFill>
                  <a:srgbClr val="F8FAFC"/>
                </a:solidFill>
                <a:latin typeface="Courier New"/>
              </a:defRPr>
            </a:pPr>
            <a:r>
              <a:rPr sz="1200" b="0">
                <a:solidFill>
                  <a:srgbClr val="F8FAFC"/>
                </a:solidFill>
                <a:latin typeface="Courier New"/>
              </a:rPr>
              <a:t>    return tf.train.Feature(int64_list=tf.train.Int64List(value=[valor]))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_float_feature(valor):</a:t>
            </a:r>
          </a:p>
          <a:p>
            <a:pPr>
              <a:defRPr sz="1200" b="0">
                <a:solidFill>
                  <a:srgbClr val="F8FAFC"/>
                </a:solidFill>
                <a:latin typeface="Courier New"/>
              </a:defRPr>
            </a:pPr>
            <a:r>
              <a:rPr sz="1200" b="0">
                <a:solidFill>
                  <a:srgbClr val="F8FAFC"/>
                </a:solidFill>
                <a:latin typeface="Courier New"/>
              </a:rPr>
              <a:t>    return tf.train.Feature(float_list=tf.train.FloatList(value=[valor]))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print("helpers de Feature listos: bytes / int64 / float")</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125 — TFRecord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convertir Fashion-MNIST (60 000 imágenes) a 10 shards TFRecord.</a:t>
            </a:r>
          </a:p>
          <a:p>
            <a:pPr>
              <a:spcAft>
                <a:spcPts val="800"/>
              </a:spcAft>
              <a:defRPr sz="1400" b="0">
                <a:solidFill>
                  <a:srgbClr val="0F172A"/>
                </a:solidFill>
                <a:latin typeface="Segoe UI"/>
              </a:defRPr>
            </a:pPr>
            <a:r>
              <a:rPr sz="1400" b="0">
                <a:solidFill>
                  <a:srgbClr val="0F172A"/>
                </a:solidFill>
                <a:latin typeface="Segoe UI"/>
              </a:rPr>
              <a:t>• Leer y parsear: ds = tf.data.TFRecordDataset(glob.glob('shards/*.tfrecord')).map(parse_fn).</a:t>
            </a:r>
          </a:p>
          <a:p>
            <a:pPr>
              <a:spcAft>
                <a:spcPts val="800"/>
              </a:spcAft>
              <a:defRPr sz="1400" b="0">
                <a:solidFill>
                  <a:srgbClr val="0F172A"/>
                </a:solidFill>
                <a:latin typeface="Segoe UI"/>
              </a:defRPr>
            </a:pPr>
            <a:r>
              <a:rPr sz="1400" b="0">
                <a:solidFill>
                  <a:srgbClr val="0F172A"/>
                </a:solidFill>
                <a:latin typeface="Segoe UI"/>
              </a:rPr>
              <a:t>• Compresión: escribir con options=tf.io.TFRecordOptions(compression_type='GZIP').</a:t>
            </a:r>
          </a:p>
          <a:p>
            <a:pPr>
              <a:spcAft>
                <a:spcPts val="800"/>
              </a:spcAft>
              <a:defRPr sz="1400" b="0">
                <a:solidFill>
                  <a:srgbClr val="0F172A"/>
                </a:solidFill>
                <a:latin typeface="Segoe UI"/>
              </a:defRPr>
            </a:pPr>
            <a:r>
              <a:rPr sz="1400" b="0">
                <a:solidFill>
                  <a:srgbClr val="0F172A"/>
                </a:solidFill>
                <a:latin typeface="Segoe UI"/>
              </a:rPr>
              <a:t>• Reads paralelos: ds = ds.interleave(lambda f: tf.data.TFRecordDataset(f), num_parallel_calls=AUTOTUNE).</a:t>
            </a:r>
          </a:p>
          <a:p>
            <a:pPr>
              <a:spcAft>
                <a:spcPts val="800"/>
              </a:spcAft>
              <a:defRPr sz="1400" b="0">
                <a:solidFill>
                  <a:srgbClr val="0F172A"/>
                </a:solidFill>
                <a:latin typeface="Segoe UI"/>
              </a:defRPr>
            </a:pPr>
            <a:r>
              <a:rPr sz="1400" b="0">
                <a:solidFill>
                  <a:srgbClr val="0F172A"/>
                </a:solidFill>
                <a:latin typeface="Segoe UI"/>
              </a:rPr>
              <a:t>• Schema: usar tf.io.FixedLenFeature (tamaño fijo) vs VarLenFeature (variable, returns SparseTensor).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Escribir 10 shards.</a:t>
            </a:r>
          </a:p>
          <a:p>
            <a:pPr>
              <a:spcAft>
                <a:spcPts val="800"/>
              </a:spcAft>
              <a:defRPr sz="1500" b="0">
                <a:solidFill>
                  <a:srgbClr val="0F172A"/>
                </a:solidFill>
                <a:latin typeface="Segoe UI"/>
              </a:defRPr>
            </a:pPr>
            <a:r>
              <a:rPr sz="1500" b="0">
                <a:solidFill>
                  <a:srgbClr val="0F172A"/>
                </a:solidFill>
                <a:latin typeface="Segoe UI"/>
              </a:rPr>
              <a:t>• Leer con interleave + map + batch + prefetch.</a:t>
            </a:r>
          </a:p>
          <a:p>
            <a:pPr>
              <a:spcAft>
                <a:spcPts val="800"/>
              </a:spcAft>
              <a:defRPr sz="1500" b="0">
                <a:solidFill>
                  <a:srgbClr val="0F172A"/>
                </a:solidFill>
                <a:latin typeface="Segoe UI"/>
              </a:defRPr>
            </a:pPr>
            <a:r>
              <a:rPr sz="1500" b="0">
                <a:solidFill>
                  <a:srgbClr val="0F172A"/>
                </a:solidFill>
                <a:latin typeface="Segoe UI"/>
              </a:rPr>
              <a:t>• Entrenar un modelo y comparar tiempo vs cargar desde NumPy.</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126 — Keras preprocessing layers</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126 — Keras preprocessing layers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13 § The Keras Preprocessing Layers.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Hacer preprocesamiento dentro del modelo con las preprocessing layers de Keras (Normalization, StringLookup, IntegerLookup, Discretization, CategoryEncoding, Hashing, TextVectorization). Beneficio: el preprocesamiento viaja con el modelo (.keras), no como código separado — elimina el clásico "train-serve skew" en producción.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Normalization() con .adapt(data) para escalar features tabulares.</a:t>
            </a:r>
          </a:p>
          <a:p>
            <a:pPr>
              <a:spcAft>
                <a:spcPts val="800"/>
              </a:spcAft>
              <a:defRPr sz="1400" b="0">
                <a:solidFill>
                  <a:srgbClr val="0F172A"/>
                </a:solidFill>
                <a:latin typeface="Segoe UI"/>
              </a:defRPr>
            </a:pPr>
            <a:r>
              <a:rPr sz="1400" b="0">
                <a:solidFill>
                  <a:srgbClr val="0F172A"/>
                </a:solidFill>
                <a:latin typeface="Segoe UI"/>
              </a:rPr>
              <a:t>• Usar StringLookup para encoding de categóricas.</a:t>
            </a:r>
          </a:p>
          <a:p>
            <a:pPr>
              <a:spcAft>
                <a:spcPts val="800"/>
              </a:spcAft>
              <a:defRPr sz="1400" b="0">
                <a:solidFill>
                  <a:srgbClr val="0F172A"/>
                </a:solidFill>
                <a:latin typeface="Segoe UI"/>
              </a:defRPr>
            </a:pPr>
            <a:r>
              <a:rPr sz="1400" b="0">
                <a:solidFill>
                  <a:srgbClr val="0F172A"/>
                </a:solidFill>
                <a:latin typeface="Segoe UI"/>
              </a:rPr>
              <a:t>• Aplicar TextVectorization para tokenización + indexing.</a:t>
            </a:r>
          </a:p>
          <a:p>
            <a:pPr>
              <a:spcAft>
                <a:spcPts val="800"/>
              </a:spcAft>
              <a:defRPr sz="1400" b="0">
                <a:solidFill>
                  <a:srgbClr val="0F172A"/>
                </a:solidFill>
                <a:latin typeface="Segoe UI"/>
              </a:defRPr>
            </a:pPr>
            <a:r>
              <a:rPr sz="1400" b="0">
                <a:solidFill>
                  <a:srgbClr val="0F172A"/>
                </a:solidFill>
                <a:latin typeface="Segoe UI"/>
              </a:rPr>
              <a:t>• Construir un modelo "todo en uno": preprocesamiento + red en el mismo keras.Model.</a:t>
            </a:r>
          </a:p>
          <a:p>
            <a:pPr>
              <a:spcAft>
                <a:spcPts val="800"/>
              </a:spcAft>
              <a:defRPr sz="1400" b="0">
                <a:solidFill>
                  <a:srgbClr val="0F172A"/>
                </a:solidFill>
                <a:latin typeface="Segoe UI"/>
              </a:defRPr>
            </a:pPr>
            <a:r>
              <a:rPr sz="1400" b="0">
                <a:solidFill>
                  <a:srgbClr val="0F172A"/>
                </a:solidFill>
                <a:latin typeface="Segoe UI"/>
              </a:rPr>
              <a:t>• Reconocer la ventaja: model.predict(raw_data) funciona, sin necesidad de scaler separado.</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126 — Keras preprocessing layers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Normalization: substrae mean, divide por std. .adapt(data) aprende los stats.</a:t>
            </a:r>
          </a:p>
          <a:p>
            <a:pPr>
              <a:spcAft>
                <a:spcPts val="1000"/>
              </a:spcAft>
              <a:defRPr sz="1600" b="0">
                <a:solidFill>
                  <a:srgbClr val="0F172A"/>
                </a:solidFill>
                <a:latin typeface="Segoe UI"/>
              </a:defRPr>
            </a:pPr>
            <a:r>
              <a:rPr sz="1600" b="0">
                <a:solidFill>
                  <a:srgbClr val="0F172A"/>
                </a:solidFill>
                <a:latin typeface="Segoe UI"/>
              </a:rPr>
              <a:t>• StringLookup / IntegerLookup: mapea categorías a índices enteros.</a:t>
            </a:r>
          </a:p>
          <a:p>
            <a:pPr>
              <a:spcAft>
                <a:spcPts val="1000"/>
              </a:spcAft>
              <a:defRPr sz="1600" b="0">
                <a:solidFill>
                  <a:srgbClr val="0F172A"/>
                </a:solidFill>
                <a:latin typeface="Segoe UI"/>
              </a:defRPr>
            </a:pPr>
            <a:r>
              <a:rPr sz="1600" b="0">
                <a:solidFill>
                  <a:srgbClr val="0F172A"/>
                </a:solidFill>
                <a:latin typeface="Segoe UI"/>
              </a:rPr>
              <a:t>• CategoryEncoding: one-hot, multi-hot, count.</a:t>
            </a:r>
          </a:p>
          <a:p>
            <a:pPr>
              <a:spcAft>
                <a:spcPts val="1000"/>
              </a:spcAft>
              <a:defRPr sz="1600" b="0">
                <a:solidFill>
                  <a:srgbClr val="0F172A"/>
                </a:solidFill>
                <a:latin typeface="Segoe UI"/>
              </a:defRPr>
            </a:pPr>
            <a:r>
              <a:rPr sz="1600" b="0">
                <a:solidFill>
                  <a:srgbClr val="0F172A"/>
                </a:solidFill>
                <a:latin typeface="Segoe UI"/>
              </a:rPr>
              <a:t>• Discretization: convierte continua en bucket (bin_boundaries=...).</a:t>
            </a:r>
          </a:p>
          <a:p>
            <a:pPr>
              <a:spcAft>
                <a:spcPts val="1000"/>
              </a:spcAft>
              <a:defRPr sz="1600" b="0">
                <a:solidFill>
                  <a:srgbClr val="0F172A"/>
                </a:solidFill>
                <a:latin typeface="Segoe UI"/>
              </a:defRPr>
            </a:pPr>
            <a:r>
              <a:rPr sz="1600" b="0">
                <a:solidFill>
                  <a:srgbClr val="0F172A"/>
                </a:solidFill>
                <a:latin typeface="Segoe UI"/>
              </a:rPr>
              <a:t>• Hashing: mapea categorías a buckets via hash (sin necesidad de vocabulario).</a:t>
            </a:r>
          </a:p>
          <a:p>
            <a:pPr>
              <a:spcAft>
                <a:spcPts val="1000"/>
              </a:spcAft>
              <a:defRPr sz="1600" b="0">
                <a:solidFill>
                  <a:srgbClr val="0F172A"/>
                </a:solidFill>
                <a:latin typeface="Segoe UI"/>
              </a:defRPr>
            </a:pPr>
            <a:r>
              <a:rPr sz="1600" b="0">
                <a:solidFill>
                  <a:srgbClr val="0F172A"/>
                </a:solidFill>
                <a:latin typeface="Segoe UI"/>
              </a:rPr>
              <a:t>• TextVectorization: tokeniza + lookup en una capa.</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126 — Keras preprocessing layers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X_train = tf.random.normal((500, 4), mean=5.0, stddev=2.0)</a:t>
            </a:r>
          </a:p>
          <a:p>
            <a:pPr>
              <a:defRPr sz="1200" b="0">
                <a:solidFill>
                  <a:srgbClr val="F8FAFC"/>
                </a:solidFill>
                <a:latin typeface="Courier New"/>
              </a:defRPr>
            </a:pPr>
            <a:r>
              <a:rPr sz="1200" b="0">
                <a:solidFill>
                  <a:srgbClr val="F8FAFC"/>
                </a:solidFill>
                <a:latin typeface="Courier New"/>
              </a:rPr>
              <a:t>norm = layers.Normalization()</a:t>
            </a:r>
          </a:p>
          <a:p>
            <a:pPr>
              <a:defRPr sz="1200" b="0">
                <a:solidFill>
                  <a:srgbClr val="F8FAFC"/>
                </a:solidFill>
                <a:latin typeface="Courier New"/>
              </a:defRPr>
            </a:pPr>
            <a:r>
              <a:rPr sz="1200" b="0">
                <a:solidFill>
                  <a:srgbClr val="F8FAFC"/>
                </a:solidFill>
                <a:latin typeface="Courier New"/>
              </a:rPr>
              <a:t>norm.adapt(X_train)                       # aprende mean/std por feature</a:t>
            </a:r>
          </a:p>
          <a:p>
            <a:pPr>
              <a:defRPr sz="1200" b="0">
                <a:solidFill>
                  <a:srgbClr val="F8FAFC"/>
                </a:solidFill>
                <a:latin typeface="Courier New"/>
              </a:defRPr>
            </a:pPr>
            <a:r>
              <a:rPr sz="1200" b="0">
                <a:solidFill>
                  <a:srgbClr val="F8FAFC"/>
                </a:solidFill>
                <a:latin typeface="Courier New"/>
              </a:rPr>
              <a:t>X_norm = norm(X_train)</a:t>
            </a:r>
          </a:p>
          <a:p>
            <a:pPr>
              <a:defRPr sz="1200" b="0">
                <a:solidFill>
                  <a:srgbClr val="F8FAFC"/>
                </a:solidFill>
                <a:latin typeface="Courier New"/>
              </a:defRPr>
            </a:pPr>
            <a:r>
              <a:rPr sz="1200" b="0">
                <a:solidFill>
                  <a:srgbClr val="F8FAFC"/>
                </a:solidFill>
                <a:latin typeface="Courier New"/>
              </a:rPr>
              <a:t>print("mean tras normalizar ~ 0:", np.round(tf.reduce_mean(X_norm, axis=0).numpy(), 3))</a:t>
            </a:r>
          </a:p>
          <a:p>
            <a:pPr>
              <a:defRPr sz="1200" b="0">
                <a:solidFill>
                  <a:srgbClr val="F8FAFC"/>
                </a:solidFill>
                <a:latin typeface="Courier New"/>
              </a:defRPr>
            </a:pPr>
            <a:r>
              <a:rPr sz="1200" b="0">
                <a:solidFill>
                  <a:srgbClr val="F8FAFC"/>
                </a:solidFill>
                <a:latin typeface="Courier New"/>
              </a:rPr>
              <a:t>print("std  tras normalizar ~ 1:", np.round(tf.math.reduce_std(X_norm, axis=0).numpy(), 3))</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126 — Keras preprocessing layers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Normalization tabular: norm = Normalization(); norm.adapt(X_train); X_norm = norm(X_test).</a:t>
            </a:r>
          </a:p>
          <a:p>
            <a:pPr>
              <a:spcAft>
                <a:spcPts val="800"/>
              </a:spcAft>
              <a:defRPr sz="1400" b="0">
                <a:solidFill>
                  <a:srgbClr val="0F172A"/>
                </a:solidFill>
                <a:latin typeface="Segoe UI"/>
              </a:defRPr>
            </a:pPr>
            <a:r>
              <a:rPr sz="1400" b="0">
                <a:solidFill>
                  <a:srgbClr val="0F172A"/>
                </a:solidFill>
                <a:latin typeface="Segoe UI"/>
              </a:rPr>
              <a:t>• StringLookup: con un array de categorías, lookup = StringLookup(); lookup.adapt(categorias); lookup(['A', 'B', 'C']) → tensor de ints.</a:t>
            </a:r>
          </a:p>
          <a:p>
            <a:pPr>
              <a:spcAft>
                <a:spcPts val="800"/>
              </a:spcAft>
              <a:defRPr sz="1400" b="0">
                <a:solidFill>
                  <a:srgbClr val="0F172A"/>
                </a:solidFill>
                <a:latin typeface="Segoe UI"/>
              </a:defRPr>
            </a:pPr>
            <a:r>
              <a:rPr sz="1400" b="0">
                <a:solidFill>
                  <a:srgbClr val="0F172A"/>
                </a:solidFill>
                <a:latin typeface="Segoe UI"/>
              </a:rPr>
              <a:t>• Modelo end-to-end tabular: inputs = Input((n,)); x = Normalization()(inputs); x = Dense(64, ...)(x); ....</a:t>
            </a:r>
          </a:p>
          <a:p>
            <a:pPr>
              <a:spcAft>
                <a:spcPts val="800"/>
              </a:spcAft>
              <a:defRPr sz="1400" b="0">
                <a:solidFill>
                  <a:srgbClr val="0F172A"/>
                </a:solidFill>
                <a:latin typeface="Segoe UI"/>
              </a:defRPr>
            </a:pPr>
            <a:r>
              <a:rPr sz="1400" b="0">
                <a:solidFill>
                  <a:srgbClr val="0F172A"/>
                </a:solidFill>
                <a:latin typeface="Segoe UI"/>
              </a:rPr>
              <a:t>• TextVectorization: sobre IMDB, tokenizar, entrenar un modelo de sentimiento.</a:t>
            </a:r>
          </a:p>
          <a:p>
            <a:pPr>
              <a:spcAft>
                <a:spcPts val="800"/>
              </a:spcAft>
              <a:defRPr sz="1400" b="0">
                <a:solidFill>
                  <a:srgbClr val="0F172A"/>
                </a:solidFill>
                <a:latin typeface="Segoe UI"/>
              </a:defRPr>
            </a:pPr>
            <a:r>
              <a:rPr sz="1400" b="0">
                <a:solidFill>
                  <a:srgbClr val="0F172A"/>
                </a:solidFill>
                <a:latin typeface="Segoe UI"/>
              </a:rPr>
              <a:t>• Hashing: con un dataset que tiene 100 000 categorías únicas, Hashing(1024) lo mapea a 1024 buckets.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tf.data con CSV.</a:t>
            </a:r>
          </a:p>
          <a:p>
            <a:pPr>
              <a:spcAft>
                <a:spcPts val="800"/>
              </a:spcAft>
              <a:defRPr sz="1500" b="0">
                <a:solidFill>
                  <a:srgbClr val="0F172A"/>
                </a:solidFill>
                <a:latin typeface="Segoe UI"/>
              </a:defRPr>
            </a:pPr>
            <a:r>
              <a:rPr sz="1500" b="0">
                <a:solidFill>
                  <a:srgbClr val="0F172A"/>
                </a:solidFill>
                <a:latin typeface="Segoe UI"/>
              </a:rPr>
              <a:t>• Modelo con Normalization layer adaptada al train set.</a:t>
            </a:r>
          </a:p>
          <a:p>
            <a:pPr>
              <a:spcAft>
                <a:spcPts val="800"/>
              </a:spcAft>
              <a:defRPr sz="1500" b="0">
                <a:solidFill>
                  <a:srgbClr val="0F172A"/>
                </a:solidFill>
                <a:latin typeface="Segoe UI"/>
              </a:defRPr>
            </a:pPr>
            <a:r>
              <a:rPr sz="1500" b="0">
                <a:solidFill>
                  <a:srgbClr val="0F172A"/>
                </a:solidFill>
                <a:latin typeface="Segoe UI"/>
              </a:rPr>
              <a:t>• Entrenar y guardar con model.save('m.keras').</a:t>
            </a:r>
          </a:p>
          <a:p>
            <a:pPr>
              <a:spcAft>
                <a:spcPts val="800"/>
              </a:spcAft>
              <a:defRPr sz="1500" b="0">
                <a:solidFill>
                  <a:srgbClr val="0F172A"/>
                </a:solidFill>
                <a:latin typeface="Segoe UI"/>
              </a:defRPr>
            </a:pPr>
            <a:r>
              <a:rPr sz="1500" b="0">
                <a:solidFill>
                  <a:srgbClr val="0F172A"/>
                </a:solidFill>
                <a:latin typeface="Segoe UI"/>
              </a:rPr>
              <a:t>• Recargar y predecir sobre datos RAW (sin pre-escalar). Verificar que funciona.</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127 — TensorFlow Datasets (TFDS)</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127 — TensorFlow Datasets (TFDS)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13 § The TensorFlow Datasets (TFDS) Project.  Duración estimada: 40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TFDS —catálogo de datasets prearmados (CIFAR, ImageNet, IMDB, COCO, MNIST, GLUE, etc.)— y la alternativa moderna Hugging Face datasets (estándar en NLP/LLMs). Cargar datasets de prueba, hacer splits, y entender por qué TFDS es práctico para benchmarks reproducibles.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Listar datasets disponibles con tfds.list_builders().</a:t>
            </a:r>
          </a:p>
          <a:p>
            <a:pPr>
              <a:spcAft>
                <a:spcPts val="800"/>
              </a:spcAft>
              <a:defRPr sz="1500" b="0">
                <a:solidFill>
                  <a:srgbClr val="0F172A"/>
                </a:solidFill>
                <a:latin typeface="Segoe UI"/>
              </a:defRPr>
            </a:pPr>
            <a:r>
              <a:rPr sz="1500" b="0">
                <a:solidFill>
                  <a:srgbClr val="0F172A"/>
                </a:solidFill>
                <a:latin typeface="Segoe UI"/>
              </a:rPr>
              <a:t>• Cargar con tfds.load('cifar10', split=['train', 'test'], as_supervised=True).</a:t>
            </a:r>
          </a:p>
          <a:p>
            <a:pPr>
              <a:spcAft>
                <a:spcPts val="800"/>
              </a:spcAft>
              <a:defRPr sz="1500" b="0">
                <a:solidFill>
                  <a:srgbClr val="0F172A"/>
                </a:solidFill>
                <a:latin typeface="Segoe UI"/>
              </a:defRPr>
            </a:pPr>
            <a:r>
              <a:rPr sz="1500" b="0">
                <a:solidFill>
                  <a:srgbClr val="0F172A"/>
                </a:solidFill>
                <a:latin typeface="Segoe UI"/>
              </a:rPr>
              <a:t>• Hacer splits custom con la slicing API: 'train[:80%]', 'train[80%:]'.</a:t>
            </a:r>
          </a:p>
          <a:p>
            <a:pPr>
              <a:spcAft>
                <a:spcPts val="800"/>
              </a:spcAft>
              <a:defRPr sz="1500" b="0">
                <a:solidFill>
                  <a:srgbClr val="0F172A"/>
                </a:solidFill>
                <a:latin typeface="Segoe UI"/>
              </a:defRPr>
            </a:pPr>
            <a:r>
              <a:rPr sz="1500" b="0">
                <a:solidFill>
                  <a:srgbClr val="0F172A"/>
                </a:solidFill>
                <a:latin typeface="Segoe UI"/>
              </a:rPr>
              <a:t>• Reconocer cuando usar tfds vs huggingface_hub.datasets.</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127 — TensorFlow Datasets (TFDS)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Catálogo TFDS: 200+ datasets, descarga automática + cache.</a:t>
            </a:r>
          </a:p>
          <a:p>
            <a:pPr>
              <a:spcAft>
                <a:spcPts val="1000"/>
              </a:spcAft>
              <a:defRPr sz="1600" b="0">
                <a:solidFill>
                  <a:srgbClr val="0F172A"/>
                </a:solidFill>
                <a:latin typeface="Segoe UI"/>
              </a:defRPr>
            </a:pPr>
            <a:r>
              <a:rPr sz="1600" b="0">
                <a:solidFill>
                  <a:srgbClr val="0F172A"/>
                </a:solidFill>
                <a:latin typeface="Segoe UI"/>
              </a:rPr>
              <a:t>• as_supervised=True → tuplas (x, y).</a:t>
            </a:r>
          </a:p>
          <a:p>
            <a:pPr>
              <a:spcAft>
                <a:spcPts val="1000"/>
              </a:spcAft>
              <a:defRPr sz="1600" b="0">
                <a:solidFill>
                  <a:srgbClr val="0F172A"/>
                </a:solidFill>
                <a:latin typeface="Segoe UI"/>
              </a:defRPr>
            </a:pPr>
            <a:r>
              <a:rPr sz="1600" b="0">
                <a:solidFill>
                  <a:srgbClr val="0F172A"/>
                </a:solidFill>
                <a:latin typeface="Segoe UI"/>
              </a:rPr>
              <a:t>• Splits: 'train[:80%]', 'train[-20%:]', 'all'.</a:t>
            </a:r>
          </a:p>
          <a:p>
            <a:pPr>
              <a:spcAft>
                <a:spcPts val="1000"/>
              </a:spcAft>
              <a:defRPr sz="1600" b="0">
                <a:solidFill>
                  <a:srgbClr val="0F172A"/>
                </a:solidFill>
                <a:latin typeface="Segoe UI"/>
              </a:defRPr>
            </a:pPr>
            <a:r>
              <a:rPr sz="1600" b="0">
                <a:solidFill>
                  <a:srgbClr val="0F172A"/>
                </a:solidFill>
                <a:latin typeface="Segoe UI"/>
              </a:rPr>
              <a:t>• dataset.info con metadata (shape, num_classes, etc.).</a:t>
            </a:r>
          </a:p>
          <a:p>
            <a:pPr>
              <a:spcAft>
                <a:spcPts val="1000"/>
              </a:spcAft>
              <a:defRPr sz="1600" b="0">
                <a:solidFill>
                  <a:srgbClr val="0F172A"/>
                </a:solidFill>
                <a:latin typeface="Segoe UI"/>
              </a:defRPr>
            </a:pPr>
            <a:r>
              <a:rPr sz="1600" b="0">
                <a:solidFill>
                  <a:srgbClr val="0F172A"/>
                </a:solidFill>
                <a:latin typeface="Segoe UI"/>
              </a:rPr>
              <a:t>• Hugging Face datasets: estándar moderno multi-framework.</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127 — TensorFlow Datasets (TFDS)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import tensorflow_datasets as tfds</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AUTOTUNE = tf.data.AUTOTUNE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tfds.load descarga y cachea en ~/tensorflow_datasets la primera vez.</a:t>
            </a:r>
          </a:p>
          <a:p>
            <a:pPr>
              <a:defRPr sz="1200" b="0">
                <a:solidFill>
                  <a:srgbClr val="F8FAFC"/>
                </a:solidFill>
                <a:latin typeface="Courier New"/>
              </a:defRPr>
            </a:pPr>
            <a:r>
              <a:rPr sz="1200" b="0">
                <a:solidFill>
                  <a:srgbClr val="F8FAFC"/>
                </a:solidFill>
                <a:latin typeface="Courier New"/>
              </a:rPr>
              <a:t>print("datasets disponibles (primeros 10):", tfds.list_builders()[:10])</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127 — TensorFlow Datasets (TFDS)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Listar: tfds.list_builders() → primeros 20 datasets.</a:t>
            </a:r>
          </a:p>
          <a:p>
            <a:pPr>
              <a:spcAft>
                <a:spcPts val="800"/>
              </a:spcAft>
              <a:defRPr sz="1400" b="0">
                <a:solidFill>
                  <a:srgbClr val="0F172A"/>
                </a:solidFill>
                <a:latin typeface="Segoe UI"/>
              </a:defRPr>
            </a:pPr>
            <a:r>
              <a:rPr sz="1400" b="0">
                <a:solidFill>
                  <a:srgbClr val="0F172A"/>
                </a:solidFill>
                <a:latin typeface="Segoe UI"/>
              </a:rPr>
              <a:t>• CIFAR-10: (ds_train, ds_test), info = tfds.load('cifar10', split=['train', 'test'], as_supervised=True, with_info=True).</a:t>
            </a:r>
          </a:p>
          <a:p>
            <a:pPr>
              <a:spcAft>
                <a:spcPts val="800"/>
              </a:spcAft>
              <a:defRPr sz="1400" b="0">
                <a:solidFill>
                  <a:srgbClr val="0F172A"/>
                </a:solidFill>
                <a:latin typeface="Segoe UI"/>
              </a:defRPr>
            </a:pPr>
            <a:r>
              <a:rPr sz="1400" b="0">
                <a:solidFill>
                  <a:srgbClr val="0F172A"/>
                </a:solidFill>
                <a:latin typeface="Segoe UI"/>
              </a:rPr>
              <a:t>• Slicing: cargar train[:90%] + train[90%:] como train/val split.</a:t>
            </a:r>
          </a:p>
          <a:p>
            <a:pPr>
              <a:spcAft>
                <a:spcPts val="800"/>
              </a:spcAft>
              <a:defRPr sz="1400" b="0">
                <a:solidFill>
                  <a:srgbClr val="0F172A"/>
                </a:solidFill>
                <a:latin typeface="Segoe UI"/>
              </a:defRPr>
            </a:pPr>
            <a:r>
              <a:rPr sz="1400" b="0">
                <a:solidFill>
                  <a:srgbClr val="0F172A"/>
                </a:solidFill>
                <a:latin typeface="Segoe UI"/>
              </a:rPr>
              <a:t>• Pipeline: ds_train.map(preprocess).cache().shuffle(1024).batch(32).prefetch(AUTOTUNE).</a:t>
            </a:r>
          </a:p>
          <a:p>
            <a:pPr>
              <a:spcAft>
                <a:spcPts val="800"/>
              </a:spcAft>
              <a:defRPr sz="1400" b="0">
                <a:solidFill>
                  <a:srgbClr val="0F172A"/>
                </a:solidFill>
                <a:latin typeface="Segoe UI"/>
              </a:defRPr>
            </a:pPr>
            <a:r>
              <a:rPr sz="1400" b="0">
                <a:solidFill>
                  <a:srgbClr val="0F172A"/>
                </a:solidFill>
                <a:latin typeface="Segoe UI"/>
              </a:rPr>
              <a:t>• HF datasets: from datasets import load_dataset; ds = load_dataset('imdb').</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Cargar con tfds.load(..., as_supervised=True).</a:t>
            </a:r>
          </a:p>
          <a:p>
            <a:pPr>
              <a:spcAft>
                <a:spcPts val="800"/>
              </a:spcAft>
              <a:defRPr sz="1500" b="0">
                <a:solidFill>
                  <a:srgbClr val="0F172A"/>
                </a:solidFill>
                <a:latin typeface="Segoe UI"/>
              </a:defRPr>
            </a:pPr>
            <a:r>
              <a:rPr sz="1500" b="0">
                <a:solidFill>
                  <a:srgbClr val="0F172A"/>
                </a:solidFill>
                <a:latin typeface="Segoe UI"/>
              </a:rPr>
              <a:t>• Pipeline con preprocessing, batch, prefetch.</a:t>
            </a:r>
          </a:p>
          <a:p>
            <a:pPr>
              <a:spcAft>
                <a:spcPts val="800"/>
              </a:spcAft>
              <a:defRPr sz="1500" b="0">
                <a:solidFill>
                  <a:srgbClr val="0F172A"/>
                </a:solidFill>
                <a:latin typeface="Segoe UI"/>
              </a:defRPr>
            </a:pPr>
            <a:r>
              <a:rPr sz="1500" b="0">
                <a:solidFill>
                  <a:srgbClr val="0F172A"/>
                </a:solidFill>
                <a:latin typeface="Segoe UI"/>
              </a:rPr>
              <a:t>• MLP [1024, 512, 256, 10] con BN + Dropout.</a:t>
            </a:r>
          </a:p>
          <a:p>
            <a:pPr>
              <a:spcAft>
                <a:spcPts val="800"/>
              </a:spcAft>
              <a:defRPr sz="1500" b="0">
                <a:solidFill>
                  <a:srgbClr val="0F172A"/>
                </a:solidFill>
                <a:latin typeface="Segoe UI"/>
              </a:defRPr>
            </a:pPr>
            <a:r>
              <a:rPr sz="1500" b="0">
                <a:solidFill>
                  <a:srgbClr val="0F172A"/>
                </a:solidFill>
                <a:latin typeface="Segoe UI"/>
              </a:rPr>
              <a:t>• Reportar accuracy en test.</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128 — Capas convolucionales, filtros, feature maps</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128 — Capas convolucionales, filtros, feature maps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Convolutional Layers.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la operación de convolución 2D — un filtro K×K se desliza sobre la imagen produciendo un feature map —, los hiperparámetros (filters, kernel_size, strides, padding), por qué las CNN son parameter-efficient vs MLPs (sharing + locality + translation invariance) y cómo aprenden jerarquías visuales (bordes → texturas → partes → objetos).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Conv2D(filters=32, kernel_size=3, strides=1, padding='same', activation='relu').</a:t>
            </a:r>
          </a:p>
          <a:p>
            <a:pPr>
              <a:spcAft>
                <a:spcPts val="800"/>
              </a:spcAft>
              <a:defRPr sz="1400" b="0">
                <a:solidFill>
                  <a:srgbClr val="0F172A"/>
                </a:solidFill>
                <a:latin typeface="Segoe UI"/>
              </a:defRPr>
            </a:pPr>
            <a:r>
              <a:rPr sz="1400" b="0">
                <a:solidFill>
                  <a:srgbClr val="0F172A"/>
                </a:solidFill>
                <a:latin typeface="Segoe UI"/>
              </a:rPr>
              <a:t>• Calcular el shape de la salida: H' = (H - K + 2P)/S + 1.</a:t>
            </a:r>
          </a:p>
          <a:p>
            <a:pPr>
              <a:spcAft>
                <a:spcPts val="800"/>
              </a:spcAft>
              <a:defRPr sz="1400" b="0">
                <a:solidFill>
                  <a:srgbClr val="0F172A"/>
                </a:solidFill>
                <a:latin typeface="Segoe UI"/>
              </a:defRPr>
            </a:pPr>
            <a:r>
              <a:rPr sz="1400" b="0">
                <a:solidFill>
                  <a:srgbClr val="0F172A"/>
                </a:solidFill>
                <a:latin typeface="Segoe UI"/>
              </a:rPr>
              <a:t>• Visualizar feature maps (activaciones intermedias) y filtros aprendidos.</a:t>
            </a:r>
          </a:p>
          <a:p>
            <a:pPr>
              <a:spcAft>
                <a:spcPts val="800"/>
              </a:spcAft>
              <a:defRPr sz="1400" b="0">
                <a:solidFill>
                  <a:srgbClr val="0F172A"/>
                </a:solidFill>
                <a:latin typeface="Segoe UI"/>
              </a:defRPr>
            </a:pPr>
            <a:r>
              <a:rPr sz="1400" b="0">
                <a:solidFill>
                  <a:srgbClr val="0F172A"/>
                </a:solidFill>
                <a:latin typeface="Segoe UI"/>
              </a:rPr>
              <a:t>• Diferenciar padding='same' (preserva tamaño) de 'valid' (reduce).</a:t>
            </a:r>
          </a:p>
          <a:p>
            <a:pPr>
              <a:spcAft>
                <a:spcPts val="800"/>
              </a:spcAft>
              <a:defRPr sz="1400" b="0">
                <a:solidFill>
                  <a:srgbClr val="0F172A"/>
                </a:solidFill>
                <a:latin typeface="Segoe UI"/>
              </a:defRPr>
            </a:pPr>
            <a:r>
              <a:rPr sz="1400" b="0">
                <a:solidFill>
                  <a:srgbClr val="0F172A"/>
                </a:solidFill>
                <a:latin typeface="Segoe UI"/>
              </a:rPr>
              <a:t>• Calcular el # de parámetros de una Conv2D: K  K  C_in * C_out + C_out (mucho menos que Dense equivalente).</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128 — Capas convolucionales, filtros, feature maps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Operación convolución 2D paso a paso.</a:t>
            </a:r>
          </a:p>
          <a:p>
            <a:pPr>
              <a:spcAft>
                <a:spcPts val="1000"/>
              </a:spcAft>
              <a:defRPr sz="1600" b="0">
                <a:solidFill>
                  <a:srgbClr val="0F172A"/>
                </a:solidFill>
                <a:latin typeface="Segoe UI"/>
              </a:defRPr>
            </a:pPr>
            <a:r>
              <a:rPr sz="1600" b="0">
                <a:solidFill>
                  <a:srgbClr val="0F172A"/>
                </a:solidFill>
                <a:latin typeface="Segoe UI"/>
              </a:rPr>
              <a:t>• Filters / kernels como features detectables.</a:t>
            </a:r>
          </a:p>
          <a:p>
            <a:pPr>
              <a:spcAft>
                <a:spcPts val="1000"/>
              </a:spcAft>
              <a:defRPr sz="1600" b="0">
                <a:solidFill>
                  <a:srgbClr val="0F172A"/>
                </a:solidFill>
                <a:latin typeface="Segoe UI"/>
              </a:defRPr>
            </a:pPr>
            <a:r>
              <a:rPr sz="1600" b="0">
                <a:solidFill>
                  <a:srgbClr val="0F172A"/>
                </a:solidFill>
                <a:latin typeface="Segoe UI"/>
              </a:rPr>
              <a:t>• Feature maps como representación espacial.</a:t>
            </a:r>
          </a:p>
          <a:p>
            <a:pPr>
              <a:spcAft>
                <a:spcPts val="1000"/>
              </a:spcAft>
              <a:defRPr sz="1600" b="0">
                <a:solidFill>
                  <a:srgbClr val="0F172A"/>
                </a:solidFill>
                <a:latin typeface="Segoe UI"/>
              </a:defRPr>
            </a:pPr>
            <a:r>
              <a:rPr sz="1600" b="0">
                <a:solidFill>
                  <a:srgbClr val="0F172A"/>
                </a:solidFill>
                <a:latin typeface="Segoe UI"/>
              </a:rPr>
              <a:t>• Stride: paso del filtro.</a:t>
            </a:r>
          </a:p>
          <a:p>
            <a:pPr>
              <a:spcAft>
                <a:spcPts val="1000"/>
              </a:spcAft>
              <a:defRPr sz="1600" b="0">
                <a:solidFill>
                  <a:srgbClr val="0F172A"/>
                </a:solidFill>
                <a:latin typeface="Segoe UI"/>
              </a:defRPr>
            </a:pPr>
            <a:r>
              <a:rPr sz="1600" b="0">
                <a:solidFill>
                  <a:srgbClr val="0F172A"/>
                </a:solidFill>
                <a:latin typeface="Segoe UI"/>
              </a:rPr>
              <a:t>• Padding: bordes; 'same' agrega zeros para preservar shape.</a:t>
            </a:r>
          </a:p>
          <a:p>
            <a:pPr>
              <a:spcAft>
                <a:spcPts val="1000"/>
              </a:spcAft>
              <a:defRPr sz="1600" b="0">
                <a:solidFill>
                  <a:srgbClr val="0F172A"/>
                </a:solidFill>
                <a:latin typeface="Segoe UI"/>
              </a:defRPr>
            </a:pPr>
            <a:r>
              <a:rPr sz="1600" b="0">
                <a:solidFill>
                  <a:srgbClr val="0F172A"/>
                </a:solidFill>
                <a:latin typeface="Segoe UI"/>
              </a:rPr>
              <a:t>• Parameter sharing: el mismo filtro se aplica en toda la imagen.</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128 — Capas convolucionales, filtros, feature maps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scipy.signal import convolve2d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Imagen sintética 6x6 con un borde vertical (mitad derecha encendida)</a:t>
            </a:r>
          </a:p>
          <a:p>
            <a:pPr>
              <a:defRPr sz="1200" b="0">
                <a:solidFill>
                  <a:srgbClr val="F8FAFC"/>
                </a:solidFill>
                <a:latin typeface="Courier New"/>
              </a:defRPr>
            </a:pPr>
            <a:r>
              <a:rPr sz="1200" b="0">
                <a:solidFill>
                  <a:srgbClr val="F8FAFC"/>
                </a:solidFill>
                <a:latin typeface="Courier New"/>
              </a:rPr>
              <a:t>img = np.zeros((6, 6), dtype=np.float32)</a:t>
            </a:r>
          </a:p>
          <a:p>
            <a:pPr>
              <a:defRPr sz="1200" b="0">
                <a:solidFill>
                  <a:srgbClr val="F8FAFC"/>
                </a:solidFill>
                <a:latin typeface="Courier New"/>
              </a:defRPr>
            </a:pPr>
            <a:r>
              <a:rPr sz="1200" b="0">
                <a:solidFill>
                  <a:srgbClr val="F8FAFC"/>
                </a:solidFill>
                <a:latin typeface="Courier New"/>
              </a:rPr>
              <a:t>img[:, 3:] = 1.0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Kernel Sobel-x: detecta bordes verticales</a:t>
            </a:r>
          </a:p>
          <a:p>
            <a:pPr>
              <a:defRPr sz="1200" b="0">
                <a:solidFill>
                  <a:srgbClr val="F8FAFC"/>
                </a:solidFill>
                <a:latin typeface="Courier New"/>
              </a:defRPr>
            </a:pPr>
            <a:r>
              <a:rPr sz="1200" b="0">
                <a:solidFill>
                  <a:srgbClr val="F8FAFC"/>
                </a:solidFill>
                <a:latin typeface="Courier New"/>
              </a:rPr>
              <a:t>sobel_x = np.array([[-1, 0, 1],</a:t>
            </a:r>
          </a:p>
          <a:p>
            <a:pPr>
              <a:defRPr sz="1200" b="0">
                <a:solidFill>
                  <a:srgbClr val="F8FAFC"/>
                </a:solidFill>
                <a:latin typeface="Courier New"/>
              </a:defRPr>
            </a:pPr>
            <a:r>
              <a:rPr sz="1200" b="0">
                <a:solidFill>
                  <a:srgbClr val="F8FAFC"/>
                </a:solidFill>
                <a:latin typeface="Courier New"/>
              </a:rPr>
              <a:t>                    [-2, 0, 2],</a:t>
            </a:r>
          </a:p>
          <a:p>
            <a:pPr>
              <a:defRPr sz="1200" b="0">
                <a:solidFill>
                  <a:srgbClr val="F8FAFC"/>
                </a:solidFill>
                <a:latin typeface="Courier New"/>
              </a:defRPr>
            </a:pPr>
            <a:r>
              <a:rPr sz="1200" b="0">
                <a:solidFill>
                  <a:srgbClr val="F8FAFC"/>
                </a:solidFill>
                <a:latin typeface="Courier New"/>
              </a:rPr>
              <a:t>                    [-1, 0, 1]], dtype=np.float32)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'valid' (sin padding) reduce el tamaño; 'same' lo preserva con zeros</a:t>
            </a:r>
          </a:p>
          <a:p>
            <a:pPr>
              <a:defRPr sz="1200" b="0">
                <a:solidFill>
                  <a:srgbClr val="F8FAFC"/>
                </a:solidFill>
                <a:latin typeface="Courier New"/>
              </a:defRPr>
            </a:pPr>
            <a:r>
              <a:rPr sz="1200" b="0">
                <a:solidFill>
                  <a:srgbClr val="F8FAFC"/>
                </a:solidFill>
                <a:latin typeface="Courier New"/>
              </a:rPr>
              <a:t>fmap_valid = convolve2d(img, sobel_x, mode="valid")</a:t>
            </a:r>
          </a:p>
          <a:p>
            <a:pPr>
              <a:defRPr sz="1200" b="0">
                <a:solidFill>
                  <a:srgbClr val="F8FAFC"/>
                </a:solidFill>
                <a:latin typeface="Courier New"/>
              </a:defRPr>
            </a:pPr>
            <a:r>
              <a:rPr sz="1200" b="0">
                <a:solidFill>
                  <a:srgbClr val="F8FAFC"/>
                </a:solidFill>
                <a:latin typeface="Courier New"/>
              </a:rPr>
              <a:t>fmap_same = convolve2d(img, sobel_x, mode="same")</a:t>
            </a:r>
          </a:p>
          <a:p>
            <a:pPr>
              <a:defRPr sz="1200" b="0">
                <a:solidFill>
                  <a:srgbClr val="F8FAFC"/>
                </a:solidFill>
                <a:latin typeface="Courier New"/>
              </a:defRPr>
            </a:pPr>
            <a:r>
              <a:rPr sz="1200" b="0">
                <a:solidFill>
                  <a:srgbClr val="F8FAFC"/>
                </a:solidFill>
                <a:latin typeface="Courier New"/>
              </a:rPr>
              <a:t>print("entrada:", img.shape, "-&gt; valid:", fmap_valid.shape,</a:t>
            </a:r>
          </a:p>
          <a:p>
            <a:pPr>
              <a:defRPr sz="1200" b="0">
                <a:solidFill>
                  <a:srgbClr val="F8FAFC"/>
                </a:solidFill>
                <a:latin typeface="Courier New"/>
              </a:defRPr>
            </a:pPr>
            <a:r>
              <a:rPr sz="1200" b="0">
                <a:solidFill>
                  <a:srgbClr val="F8FAFC"/>
                </a:solidFill>
                <a:latin typeface="Courier New"/>
              </a:rPr>
              <a:t>      "| same:", fmap_same.shape)</a:t>
            </a:r>
          </a:p>
          <a:p>
            <a:pPr>
              <a:defRPr sz="1200" b="0">
                <a:solidFill>
                  <a:srgbClr val="F8FAFC"/>
                </a:solidFill>
                <a:latin typeface="Courier New"/>
              </a:defRPr>
            </a:pPr>
            <a:r>
              <a:rPr sz="1200" b="0">
                <a:solidFill>
                  <a:srgbClr val="F8FAFC"/>
                </a:solidFill>
                <a:latin typeface="Courier New"/>
              </a:rPr>
              <a:t>print("feature map (same): la respuesta se concentra en el borde")</a:t>
            </a:r>
          </a:p>
          <a:p>
            <a:pPr>
              <a:defRPr sz="1200" b="0">
                <a:solidFill>
                  <a:srgbClr val="F8FAFC"/>
                </a:solidFill>
                <a:latin typeface="Courier New"/>
              </a:defRPr>
            </a:pPr>
            <a:r>
              <a:rPr sz="1200" b="0">
                <a:solidFill>
                  <a:srgbClr val="F8FAFC"/>
                </a:solidFill>
                <a:latin typeface="Courier New"/>
              </a:rPr>
              <a:t>print(np.round(fmap_same, 1))</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128 — Capas convolucionales, filtros, feature maps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 básica: Conv2D(8, 3, padding='same', activation='relu')(input_28x28x1).</a:t>
            </a:r>
          </a:p>
          <a:p>
            <a:pPr>
              <a:spcAft>
                <a:spcPts val="800"/>
              </a:spcAft>
              <a:defRPr sz="1400" b="0">
                <a:solidFill>
                  <a:srgbClr val="0F172A"/>
                </a:solidFill>
                <a:latin typeface="Segoe UI"/>
              </a:defRPr>
            </a:pPr>
            <a:r>
              <a:rPr sz="1400" b="0">
                <a:solidFill>
                  <a:srgbClr val="0F172A"/>
                </a:solidFill>
                <a:latin typeface="Segoe UI"/>
              </a:rPr>
              <a:t>• Conteo parámetros: para Conv2D(32, kernel_size=5) aplicado a entrada (28, 28, 1), calcular params (551*32 + 32 = 832).</a:t>
            </a:r>
          </a:p>
          <a:p>
            <a:pPr>
              <a:spcAft>
                <a:spcPts val="800"/>
              </a:spcAft>
              <a:defRPr sz="1400" b="0">
                <a:solidFill>
                  <a:srgbClr val="0F172A"/>
                </a:solidFill>
                <a:latin typeface="Segoe UI"/>
              </a:defRPr>
            </a:pPr>
            <a:r>
              <a:rPr sz="1400" b="0">
                <a:solidFill>
                  <a:srgbClr val="0F172A"/>
                </a:solidFill>
                <a:latin typeface="Segoe UI"/>
              </a:rPr>
              <a:t>• Stride 2: Conv2D(32, 3, strides=2, padding='same')(x).</a:t>
            </a:r>
          </a:p>
          <a:p>
            <a:pPr>
              <a:spcAft>
                <a:spcPts val="800"/>
              </a:spcAft>
              <a:defRPr sz="1400" b="0">
                <a:solidFill>
                  <a:srgbClr val="0F172A"/>
                </a:solidFill>
                <a:latin typeface="Segoe UI"/>
              </a:defRPr>
            </a:pPr>
            <a:r>
              <a:rPr sz="1400" b="0">
                <a:solidFill>
                  <a:srgbClr val="0F172A"/>
                </a:solidFill>
                <a:latin typeface="Segoe UI"/>
              </a:rPr>
              <a:t>• Visualizar feature maps: entrenar una mini-CNN en MNIST; tomar las activaciones intermedias para una imagen y visualizar.</a:t>
            </a:r>
          </a:p>
          <a:p>
            <a:pPr>
              <a:spcAft>
                <a:spcPts val="800"/>
              </a:spcAft>
              <a:defRPr sz="1400" b="0">
                <a:solidFill>
                  <a:srgbClr val="0F172A"/>
                </a:solidFill>
                <a:latin typeface="Segoe UI"/>
              </a:defRPr>
            </a:pPr>
            <a:r>
              <a:rPr sz="1400" b="0">
                <a:solidFill>
                  <a:srgbClr val="0F172A"/>
                </a:solidFill>
                <a:latin typeface="Segoe UI"/>
              </a:rPr>
              <a:t>• Filtros aprendidos: visualizar model.layers[0].kernel.numpy() para los primeros filtros.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Conv(32, 3) → MaxPool(2) → Conv(64, 3) → MaxPool(2) → Flatten → Dense(128) → Dense(10).</a:t>
            </a:r>
          </a:p>
          <a:p>
            <a:pPr>
              <a:spcAft>
                <a:spcPts val="800"/>
              </a:spcAft>
              <a:defRPr sz="1500" b="0">
                <a:solidFill>
                  <a:srgbClr val="0F172A"/>
                </a:solidFill>
                <a:latin typeface="Segoe UI"/>
              </a:defRPr>
            </a:pPr>
            <a:r>
              <a:rPr sz="1500" b="0">
                <a:solidFill>
                  <a:srgbClr val="0F172A"/>
                </a:solidFill>
                <a:latin typeface="Segoe UI"/>
              </a:rPr>
              <a:t>• Entrenar y reportar accuracy.</a:t>
            </a:r>
          </a:p>
          <a:p>
            <a:pPr>
              <a:spcAft>
                <a:spcPts val="800"/>
              </a:spcAft>
              <a:defRPr sz="1500" b="0">
                <a:solidFill>
                  <a:srgbClr val="0F172A"/>
                </a:solidFill>
                <a:latin typeface="Segoe UI"/>
              </a:defRPr>
            </a:pPr>
            <a:r>
              <a:rPr sz="1500" b="0">
                <a:solidFill>
                  <a:srgbClr val="0F172A"/>
                </a:solidFill>
                <a:latin typeface="Segoe UI"/>
              </a:rPr>
              <a:t>• Visualizar feature maps de la primera Conv para 3 imágenes test.</a:t>
            </a:r>
          </a:p>
          <a:p>
            <a:pPr>
              <a:spcAft>
                <a:spcPts val="800"/>
              </a:spcAft>
              <a:defRPr sz="1500" b="0">
                <a:solidFill>
                  <a:srgbClr val="0F172A"/>
                </a:solidFill>
                <a:latin typeface="Segoe UI"/>
              </a:defRPr>
            </a:pPr>
            <a:r>
              <a:rPr sz="1500" b="0">
                <a:solidFill>
                  <a:srgbClr val="0F172A"/>
                </a:solidFill>
                <a:latin typeface="Segoe UI"/>
              </a:rPr>
              <a:t>• Calcular # parámetros total y compararlo con un MLP equivalente en tamaño (Dense(128) → Dense(64) → Dense(10) sin Conv).</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129 — Pooling</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129 — Pooling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Pooling Layers.  Duración estimada: 45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pooling — operación sin parámetros que reduce dimensiones espaciales: MaxPooling2D, AveragePooling2D, GlobalAveragePooling2D. Saber que max-pool agrega invariancia local a translación y reduce cómputo de capas posteriores. Comparar contra el approach moderno (stride &gt; 1 en Conv).</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MaxPooling2D(2), AveragePooling2D(2), GlobalAveragePooling2D() y conocer sus shapes de salida.</a:t>
            </a:r>
          </a:p>
          <a:p>
            <a:pPr>
              <a:spcAft>
                <a:spcPts val="800"/>
              </a:spcAft>
              <a:defRPr sz="1400" b="0">
                <a:solidFill>
                  <a:srgbClr val="0F172A"/>
                </a:solidFill>
                <a:latin typeface="Segoe UI"/>
              </a:defRPr>
            </a:pPr>
            <a:r>
              <a:rPr sz="1400" b="0">
                <a:solidFill>
                  <a:srgbClr val="0F172A"/>
                </a:solidFill>
                <a:latin typeface="Segoe UI"/>
              </a:rPr>
              <a:t>• Diferenciar max-pool (preserva la característica más fuerte) de average-pool (promedio espacial).</a:t>
            </a:r>
          </a:p>
          <a:p>
            <a:pPr>
              <a:spcAft>
                <a:spcPts val="800"/>
              </a:spcAft>
              <a:defRPr sz="1400" b="0">
                <a:solidFill>
                  <a:srgbClr val="0F172A"/>
                </a:solidFill>
                <a:latin typeface="Segoe UI"/>
              </a:defRPr>
            </a:pPr>
            <a:r>
              <a:rPr sz="1400" b="0">
                <a:solidFill>
                  <a:srgbClr val="0F172A"/>
                </a:solidFill>
                <a:latin typeface="Segoe UI"/>
              </a:rPr>
              <a:t>• Aplicar GlobalAveragePooling2D antes de la cabeza Dense (estándar en CNN modernas — reemplaza Flatten).</a:t>
            </a:r>
          </a:p>
          <a:p>
            <a:pPr>
              <a:spcAft>
                <a:spcPts val="800"/>
              </a:spcAft>
              <a:defRPr sz="1400" b="0">
                <a:solidFill>
                  <a:srgbClr val="0F172A"/>
                </a:solidFill>
                <a:latin typeface="Segoe UI"/>
              </a:defRPr>
            </a:pPr>
            <a:r>
              <a:rPr sz="1400" b="0">
                <a:solidFill>
                  <a:srgbClr val="0F172A"/>
                </a:solidFill>
                <a:latin typeface="Segoe UI"/>
              </a:rPr>
              <a:t>• Reconocer que pooling no tiene parámetros entrenables (es solo una reducción).</a:t>
            </a:r>
          </a:p>
          <a:p>
            <a:pPr>
              <a:spcAft>
                <a:spcPts val="800"/>
              </a:spcAft>
              <a:defRPr sz="1400" b="0">
                <a:solidFill>
                  <a:srgbClr val="0F172A"/>
                </a:solidFill>
                <a:latin typeface="Segoe UI"/>
              </a:defRPr>
            </a:pPr>
            <a:r>
              <a:rPr sz="1400" b="0">
                <a:solidFill>
                  <a:srgbClr val="0F172A"/>
                </a:solidFill>
                <a:latin typeface="Segoe UI"/>
              </a:rPr>
              <a:t>• Saber que ResNet/ConvNeXt usan stride en lugar de pool intermedio.</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129 — Pooling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MaxPool: ventana k×k → toma el máximo. Default pool_size=2, strides=2 → halve H y W.</a:t>
            </a:r>
          </a:p>
          <a:p>
            <a:pPr>
              <a:spcAft>
                <a:spcPts val="1000"/>
              </a:spcAft>
              <a:defRPr sz="1600" b="0">
                <a:solidFill>
                  <a:srgbClr val="0F172A"/>
                </a:solidFill>
                <a:latin typeface="Segoe UI"/>
              </a:defRPr>
            </a:pPr>
            <a:r>
              <a:rPr sz="1600" b="0">
                <a:solidFill>
                  <a:srgbClr val="0F172A"/>
                </a:solidFill>
                <a:latin typeface="Segoe UI"/>
              </a:rPr>
              <a:t>• AvgPool: promedio de la ventana. Suaviza.</a:t>
            </a:r>
          </a:p>
          <a:p>
            <a:pPr>
              <a:spcAft>
                <a:spcPts val="1000"/>
              </a:spcAft>
              <a:defRPr sz="1600" b="0">
                <a:solidFill>
                  <a:srgbClr val="0F172A"/>
                </a:solidFill>
                <a:latin typeface="Segoe UI"/>
              </a:defRPr>
            </a:pPr>
            <a:r>
              <a:rPr sz="1600" b="0">
                <a:solidFill>
                  <a:srgbClr val="0F172A"/>
                </a:solidFill>
                <a:latin typeface="Segoe UI"/>
              </a:rPr>
              <a:t>• GlobalAvgPool: una sola activación por feature map → (batch, channels).</a:t>
            </a:r>
          </a:p>
          <a:p>
            <a:pPr>
              <a:spcAft>
                <a:spcPts val="1000"/>
              </a:spcAft>
              <a:defRPr sz="1600" b="0">
                <a:solidFill>
                  <a:srgbClr val="0F172A"/>
                </a:solidFill>
                <a:latin typeface="Segoe UI"/>
              </a:defRPr>
            </a:pPr>
            <a:r>
              <a:rPr sz="1600" b="0">
                <a:solidFill>
                  <a:srgbClr val="0F172A"/>
                </a:solidFill>
                <a:latin typeface="Segoe UI"/>
              </a:rPr>
              <a:t>• Invariancia a translación local: si el feature se mueve 1 px, el max no cambia.</a:t>
            </a:r>
          </a:p>
          <a:p>
            <a:pPr>
              <a:spcAft>
                <a:spcPts val="1000"/>
              </a:spcAft>
              <a:defRPr sz="1600" b="0">
                <a:solidFill>
                  <a:srgbClr val="0F172A"/>
                </a:solidFill>
                <a:latin typeface="Segoe UI"/>
              </a:defRPr>
            </a:pPr>
            <a:r>
              <a:rPr sz="1600" b="0">
                <a:solidFill>
                  <a:srgbClr val="0F172A"/>
                </a:solidFill>
                <a:latin typeface="Segoe UI"/>
              </a:rPr>
              <a:t>• Pool vs stride: equivalentes en muchos casos; tendencia moderna es eliminar pool intermedio.</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129 — Pooling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entrada = keras.Input(shape=(28, 28, 32))</a:t>
            </a:r>
          </a:p>
          <a:p>
            <a:pPr>
              <a:defRPr sz="1200" b="0">
                <a:solidFill>
                  <a:srgbClr val="F8FAFC"/>
                </a:solidFill>
                <a:latin typeface="Courier New"/>
              </a:defRPr>
            </a:pPr>
            <a:r>
              <a:rPr sz="1200" b="0">
                <a:solidFill>
                  <a:srgbClr val="F8FAFC"/>
                </a:solidFill>
                <a:latin typeface="Courier New"/>
              </a:rPr>
              <a:t>y = layers.MaxPooling2D(pool_size=2)(entrada)   # strides=2 por defecto</a:t>
            </a:r>
          </a:p>
          <a:p>
            <a:pPr>
              <a:defRPr sz="1200" b="0">
                <a:solidFill>
                  <a:srgbClr val="F8FAFC"/>
                </a:solidFill>
                <a:latin typeface="Courier New"/>
              </a:defRPr>
            </a:pPr>
            <a:r>
              <a:rPr sz="1200" b="0">
                <a:solidFill>
                  <a:srgbClr val="F8FAFC"/>
                </a:solidFill>
                <a:latin typeface="Courier New"/>
              </a:rPr>
              <a:t>print("MaxPooling2D(2):", entrada.shape, "-&gt;", y.shape)   # (None, 14, 14, 32)</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129 — Pooling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MaxPool shape: aplicar MaxPool(2) a tensor (1, 28, 28, 32).</a:t>
            </a:r>
          </a:p>
          <a:p>
            <a:pPr>
              <a:spcAft>
                <a:spcPts val="800"/>
              </a:spcAft>
              <a:defRPr sz="1400" b="0">
                <a:solidFill>
                  <a:srgbClr val="0F172A"/>
                </a:solidFill>
                <a:latin typeface="Segoe UI"/>
              </a:defRPr>
            </a:pPr>
            <a:r>
              <a:rPr sz="1400" b="0">
                <a:solidFill>
                  <a:srgbClr val="0F172A"/>
                </a:solidFill>
                <a:latin typeface="Segoe UI"/>
              </a:rPr>
              <a:t>• MaxPool vs AvgPool: con la misma CNN, intercambiar y comparar accuracy en Fashion-MNIST.</a:t>
            </a:r>
          </a:p>
          <a:p>
            <a:pPr>
              <a:spcAft>
                <a:spcPts val="800"/>
              </a:spcAft>
              <a:defRPr sz="1400" b="0">
                <a:solidFill>
                  <a:srgbClr val="0F172A"/>
                </a:solidFill>
                <a:latin typeface="Segoe UI"/>
              </a:defRPr>
            </a:pPr>
            <a:r>
              <a:rPr sz="1400" b="0">
                <a:solidFill>
                  <a:srgbClr val="0F172A"/>
                </a:solidFill>
                <a:latin typeface="Segoe UI"/>
              </a:rPr>
              <a:t>• GlobalAvgPool reemplaza Flatten: arquitectura Conv → Conv → GlobalAvgPool → Dense(10) vs Conv → Conv → Flatten → Dense(128) → Dense(10).</a:t>
            </a:r>
          </a:p>
          <a:p>
            <a:pPr>
              <a:spcAft>
                <a:spcPts val="800"/>
              </a:spcAft>
              <a:defRPr sz="1400" b="0">
                <a:solidFill>
                  <a:srgbClr val="0F172A"/>
                </a:solidFill>
                <a:latin typeface="Segoe UI"/>
              </a:defRPr>
            </a:pPr>
            <a:r>
              <a:rPr sz="1400" b="0">
                <a:solidFill>
                  <a:srgbClr val="0F172A"/>
                </a:solidFill>
                <a:latin typeface="Segoe UI"/>
              </a:rPr>
              <a:t>• Pool vs stride: comparar Conv(stride=1) → Pool(2) vs Conv(stride=2) (sin pool).</a:t>
            </a:r>
          </a:p>
          <a:p>
            <a:pPr>
              <a:spcAft>
                <a:spcPts val="800"/>
              </a:spcAft>
              <a:defRPr sz="1400" b="0">
                <a:solidFill>
                  <a:srgbClr val="0F172A"/>
                </a:solidFill>
                <a:latin typeface="Segoe UI"/>
              </a:defRPr>
            </a:pPr>
            <a:r>
              <a:rPr sz="1400" b="0">
                <a:solidFill>
                  <a:srgbClr val="0F172A"/>
                </a:solidFill>
                <a:latin typeface="Segoe UI"/>
              </a:rPr>
              <a:t>• padding='same' en pool: comportamiento si H es impar.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Conv(32) → MaxPool → Conv(64) → MaxPool → Flatten → Dense(128) → Dense(10).</a:t>
            </a:r>
          </a:p>
          <a:p>
            <a:pPr>
              <a:spcAft>
                <a:spcPts val="800"/>
              </a:spcAft>
              <a:defRPr sz="1500" b="0">
                <a:solidFill>
                  <a:srgbClr val="0F172A"/>
                </a:solidFill>
                <a:latin typeface="Segoe UI"/>
              </a:defRPr>
            </a:pPr>
            <a:r>
              <a:rPr sz="1500" b="0">
                <a:solidFill>
                  <a:srgbClr val="0F172A"/>
                </a:solidFill>
                <a:latin typeface="Segoe UI"/>
              </a:rPr>
              <a:t>• Conv(32) → MaxPool → Conv(64) → MaxPool → GlobalAvgPool → Dense(10).</a:t>
            </a:r>
          </a:p>
          <a:p>
            <a:pPr>
              <a:spcAft>
                <a:spcPts val="800"/>
              </a:spcAft>
              <a:defRPr sz="1500" b="0">
                <a:solidFill>
                  <a:srgbClr val="0F172A"/>
                </a:solidFill>
                <a:latin typeface="Segoe UI"/>
              </a:defRPr>
            </a:pPr>
            <a:r>
              <a:rPr sz="1500" b="0">
                <a:solidFill>
                  <a:srgbClr val="0F172A"/>
                </a:solidFill>
                <a:latin typeface="Segoe UI"/>
              </a:rPr>
              <a:t>• Conv(32, stride=2) → Conv(64, stride=2) → GlobalAvgPool → Dense(10) (sin pool).</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130 — Arquitecturas CNN: LeNet, AlexNet, VGG, GoogLeNet, ResNet, Xception, SENet, EfficientNet, ConvNeXt</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130 — Arquitecturas CNN: LeNet, AlexNet, VGG, GoogLeNet, ResNet, Xception, SENet, EfficientNet, ConvNeXt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CNN Architectures + papers originales.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historia y evolución de las arquitecturas CNN desde LeNet-5 (1998) hasta ConvNeXt (2022) — qué innovación introdujo cada una, por qué importaba, y cuál usar hoy. Identificar 3 patrones clave: profundidad creciente, módulos con paths múltiples, eficiencia paramétrica.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Trazar la línea temporal: LeNet → AlexNet → VGG → GoogLeNet (Inception) → ResNet → Xception → SENet → EfficientNet → ConvNeXt.</a:t>
            </a:r>
          </a:p>
          <a:p>
            <a:pPr>
              <a:spcAft>
                <a:spcPts val="800"/>
              </a:spcAft>
              <a:defRPr sz="1400" b="0">
                <a:solidFill>
                  <a:srgbClr val="0F172A"/>
                </a:solidFill>
                <a:latin typeface="Segoe UI"/>
              </a:defRPr>
            </a:pPr>
            <a:r>
              <a:rPr sz="1400" b="0">
                <a:solidFill>
                  <a:srgbClr val="0F172A"/>
                </a:solidFill>
                <a:latin typeface="Segoe UI"/>
              </a:rPr>
              <a:t>• Reconocer qué innovación trajo cada una: ReLU + dropout (AlexNet), kernels 3×3 (VGG), módulos Inception (GoogLeNet), skip connections (ResNet), depthwise-separable (Xception), squeeze-and-excite (SENet), compound scaling (EfficientNet), modernización con receta ConvNeXt.</a:t>
            </a:r>
          </a:p>
          <a:p>
            <a:pPr>
              <a:spcAft>
                <a:spcPts val="800"/>
              </a:spcAft>
              <a:defRPr sz="1400" b="0">
                <a:solidFill>
                  <a:srgbClr val="0F172A"/>
                </a:solidFill>
                <a:latin typeface="Segoe UI"/>
              </a:defRPr>
            </a:pPr>
            <a:r>
              <a:rPr sz="1400" b="0">
                <a:solidFill>
                  <a:srgbClr val="0F172A"/>
                </a:solidFill>
                <a:latin typeface="Segoe UI"/>
              </a:rPr>
              <a:t>• Implementar un mini-ResNet con Add() y skip connections.</a:t>
            </a:r>
          </a:p>
          <a:p>
            <a:pPr>
              <a:spcAft>
                <a:spcPts val="800"/>
              </a:spcAft>
              <a:defRPr sz="1400" b="0">
                <a:solidFill>
                  <a:srgbClr val="0F172A"/>
                </a:solidFill>
                <a:latin typeface="Segoe UI"/>
              </a:defRPr>
            </a:pPr>
            <a:r>
              <a:rPr sz="1400" b="0">
                <a:solidFill>
                  <a:srgbClr val="0F172A"/>
                </a:solidFill>
                <a:latin typeface="Segoe UI"/>
              </a:rPr>
              <a:t>• Cargar arquitecturas de keras.applications y leer sus tamaños (MobileNetV3, EfficientNetB0, ConvNeXtTiny).</a:t>
            </a:r>
          </a:p>
          <a:p>
            <a:pPr>
              <a:spcAft>
                <a:spcPts val="800"/>
              </a:spcAft>
              <a:defRPr sz="1400" b="0">
                <a:solidFill>
                  <a:srgbClr val="0F172A"/>
                </a:solidFill>
                <a:latin typeface="Segoe UI"/>
              </a:defRPr>
            </a:pPr>
            <a:r>
              <a:rPr sz="1400" b="0">
                <a:solidFill>
                  <a:srgbClr val="0F172A"/>
                </a:solidFill>
                <a:latin typeface="Segoe UI"/>
              </a:rPr>
              <a:t>• Elegir la arquitectura adecuada según constraint (latency, accuracy, memory).</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130 — Arquitecturas CNN: LeNet, AlexNet, VGG, GoogLeNet, ResNet, Xception, SENet, EfficientNet, ConvNeXt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LeNet-5 (1998): 7 capas, MNIST. La cuna.</a:t>
            </a:r>
          </a:p>
          <a:p>
            <a:pPr>
              <a:spcAft>
                <a:spcPts val="1000"/>
              </a:spcAft>
              <a:defRPr sz="1600" b="0">
                <a:solidFill>
                  <a:srgbClr val="0F172A"/>
                </a:solidFill>
                <a:latin typeface="Segoe UI"/>
              </a:defRPr>
            </a:pPr>
            <a:r>
              <a:rPr sz="1600" b="0">
                <a:solidFill>
                  <a:srgbClr val="0F172A"/>
                </a:solidFill>
                <a:latin typeface="Segoe UI"/>
              </a:rPr>
              <a:t>• AlexNet (2012): GPU + ReLU + Dropout. Ganó ImageNet → revolución DL.</a:t>
            </a:r>
          </a:p>
          <a:p>
            <a:pPr>
              <a:spcAft>
                <a:spcPts val="1000"/>
              </a:spcAft>
              <a:defRPr sz="1600" b="0">
                <a:solidFill>
                  <a:srgbClr val="0F172A"/>
                </a:solidFill>
                <a:latin typeface="Segoe UI"/>
              </a:defRPr>
            </a:pPr>
            <a:r>
              <a:rPr sz="1600" b="0">
                <a:solidFill>
                  <a:srgbClr val="0F172A"/>
                </a:solidFill>
                <a:latin typeface="Segoe UI"/>
              </a:rPr>
              <a:t>• VGG (2014): muy uniforme — solo conv 3×3 + maxpool. 138M parámetros.</a:t>
            </a:r>
          </a:p>
          <a:p>
            <a:pPr>
              <a:spcAft>
                <a:spcPts val="1000"/>
              </a:spcAft>
              <a:defRPr sz="1600" b="0">
                <a:solidFill>
                  <a:srgbClr val="0F172A"/>
                </a:solidFill>
                <a:latin typeface="Segoe UI"/>
              </a:defRPr>
            </a:pPr>
            <a:r>
              <a:rPr sz="1600" b="0">
                <a:solidFill>
                  <a:srgbClr val="0F172A"/>
                </a:solidFill>
                <a:latin typeface="Segoe UI"/>
              </a:rPr>
              <a:t>• GoogLeNet / Inception (2014): módulos paralelos con kernels 1×1, 3×3, 5×5.</a:t>
            </a:r>
          </a:p>
          <a:p>
            <a:pPr>
              <a:spcAft>
                <a:spcPts val="1000"/>
              </a:spcAft>
              <a:defRPr sz="1600" b="0">
                <a:solidFill>
                  <a:srgbClr val="0F172A"/>
                </a:solidFill>
                <a:latin typeface="Segoe UI"/>
              </a:defRPr>
            </a:pPr>
            <a:r>
              <a:rPr sz="1600" b="0">
                <a:solidFill>
                  <a:srgbClr val="0F172A"/>
                </a:solidFill>
                <a:latin typeface="Segoe UI"/>
              </a:rPr>
              <a:t>• ResNet (2015): skip connections → entrenamiento de redes de 152 capas posible. Cambió el juego.</a:t>
            </a:r>
          </a:p>
          <a:p>
            <a:pPr>
              <a:spcAft>
                <a:spcPts val="1000"/>
              </a:spcAft>
              <a:defRPr sz="1600" b="0">
                <a:solidFill>
                  <a:srgbClr val="0F172A"/>
                </a:solidFill>
                <a:latin typeface="Segoe UI"/>
              </a:defRPr>
            </a:pPr>
            <a:r>
              <a:rPr sz="1600" b="0">
                <a:solidFill>
                  <a:srgbClr val="0F172A"/>
                </a:solidFill>
                <a:latin typeface="Segoe UI"/>
              </a:rPr>
              <a:t>• Xception (2017): depthwise-separable convolutions → eficiencia.</a:t>
            </a:r>
          </a:p>
          <a:p>
            <a:pPr>
              <a:spcAft>
                <a:spcPts val="1000"/>
              </a:spcAft>
              <a:defRPr sz="1600" b="0">
                <a:solidFill>
                  <a:srgbClr val="0F172A"/>
                </a:solidFill>
                <a:latin typeface="Segoe UI"/>
              </a:defRPr>
            </a:pPr>
            <a:r>
              <a:rPr sz="1600" b="0">
                <a:solidFill>
                  <a:srgbClr val="0F172A"/>
                </a:solidFill>
                <a:latin typeface="Segoe UI"/>
              </a:rPr>
              <a:t>• SENet (2017): attention sobre canales (squeeze-and-excite).</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130 — Arquitecturas CNN: LeNet, AlexNet, VGG, GoogLeNet, ResNet, Xception, SENet, EfficientNet, ConvNeXt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lenet = keras.Sequential([</a:t>
            </a:r>
          </a:p>
          <a:p>
            <a:pPr>
              <a:defRPr sz="1200" b="0">
                <a:solidFill>
                  <a:srgbClr val="F8FAFC"/>
                </a:solidFill>
                <a:latin typeface="Courier New"/>
              </a:defRPr>
            </a:pPr>
            <a:r>
              <a:rPr sz="1200" b="0">
                <a:solidFill>
                  <a:srgbClr val="F8FAFC"/>
                </a:solidFill>
                <a:latin typeface="Courier New"/>
              </a:rPr>
              <a:t>    keras.Input(shape=(32, 32, 1)),</a:t>
            </a:r>
          </a:p>
          <a:p>
            <a:pPr>
              <a:defRPr sz="1200" b="0">
                <a:solidFill>
                  <a:srgbClr val="F8FAFC"/>
                </a:solidFill>
                <a:latin typeface="Courier New"/>
              </a:defRPr>
            </a:pPr>
            <a:r>
              <a:rPr sz="1200" b="0">
                <a:solidFill>
                  <a:srgbClr val="F8FAFC"/>
                </a:solidFill>
                <a:latin typeface="Courier New"/>
              </a:rPr>
              <a:t>    layers.Conv2D(6, 5, activation="tanh", padding="valid"),    # C1</a:t>
            </a:r>
          </a:p>
          <a:p>
            <a:pPr>
              <a:defRPr sz="1200" b="0">
                <a:solidFill>
                  <a:srgbClr val="F8FAFC"/>
                </a:solidFill>
                <a:latin typeface="Courier New"/>
              </a:defRPr>
            </a:pPr>
            <a:r>
              <a:rPr sz="1200" b="0">
                <a:solidFill>
                  <a:srgbClr val="F8FAFC"/>
                </a:solidFill>
                <a:latin typeface="Courier New"/>
              </a:rPr>
              <a:t>    layers.AveragePooling2D(2),                                 # S2</a:t>
            </a:r>
          </a:p>
          <a:p>
            <a:pPr>
              <a:defRPr sz="1200" b="0">
                <a:solidFill>
                  <a:srgbClr val="F8FAFC"/>
                </a:solidFill>
                <a:latin typeface="Courier New"/>
              </a:defRPr>
            </a:pPr>
            <a:r>
              <a:rPr sz="1200" b="0">
                <a:solidFill>
                  <a:srgbClr val="F8FAFC"/>
                </a:solidFill>
                <a:latin typeface="Courier New"/>
              </a:rPr>
              <a:t>    layers.Conv2D(16, 5, activation="tanh", padding="valid"),   # C3</a:t>
            </a:r>
          </a:p>
          <a:p>
            <a:pPr>
              <a:defRPr sz="1200" b="0">
                <a:solidFill>
                  <a:srgbClr val="F8FAFC"/>
                </a:solidFill>
                <a:latin typeface="Courier New"/>
              </a:defRPr>
            </a:pPr>
            <a:r>
              <a:rPr sz="1200" b="0">
                <a:solidFill>
                  <a:srgbClr val="F8FAFC"/>
                </a:solidFill>
                <a:latin typeface="Courier New"/>
              </a:rPr>
              <a:t>    layers.AveragePooling2D(2),                                 # S4</a:t>
            </a:r>
          </a:p>
          <a:p>
            <a:pPr>
              <a:defRPr sz="1200" b="0">
                <a:solidFill>
                  <a:srgbClr val="F8FAFC"/>
                </a:solidFill>
                <a:latin typeface="Courier New"/>
              </a:defRPr>
            </a:pPr>
            <a:r>
              <a:rPr sz="1200" b="0">
                <a:solidFill>
                  <a:srgbClr val="F8FAFC"/>
                </a:solidFill>
                <a:latin typeface="Courier New"/>
              </a:rPr>
              <a:t>    layers.Flatten(),</a:t>
            </a:r>
          </a:p>
          <a:p>
            <a:pPr>
              <a:defRPr sz="1200" b="0">
                <a:solidFill>
                  <a:srgbClr val="F8FAFC"/>
                </a:solidFill>
                <a:latin typeface="Courier New"/>
              </a:defRPr>
            </a:pPr>
            <a:r>
              <a:rPr sz="1200" b="0">
                <a:solidFill>
                  <a:srgbClr val="F8FAFC"/>
                </a:solidFill>
                <a:latin typeface="Courier New"/>
              </a:rPr>
              <a:t>    layers.Dense(120, activation="tanh"),                       # C5</a:t>
            </a:r>
          </a:p>
          <a:p>
            <a:pPr>
              <a:defRPr sz="1200" b="0">
                <a:solidFill>
                  <a:srgbClr val="F8FAFC"/>
                </a:solidFill>
                <a:latin typeface="Courier New"/>
              </a:defRPr>
            </a:pPr>
            <a:r>
              <a:rPr sz="1200" b="0">
                <a:solidFill>
                  <a:srgbClr val="F8FAFC"/>
                </a:solidFill>
                <a:latin typeface="Courier New"/>
              </a:rPr>
              <a:t>    layers.Dense(84, activation="tanh"),                        # F6</a:t>
            </a:r>
          </a:p>
          <a:p>
            <a:pPr>
              <a:defRPr sz="1200" b="0">
                <a:solidFill>
                  <a:srgbClr val="F8FAFC"/>
                </a:solidFill>
                <a:latin typeface="Courier New"/>
              </a:defRPr>
            </a:pPr>
            <a:r>
              <a:rPr sz="1200" b="0">
                <a:solidFill>
                  <a:srgbClr val="F8FAFC"/>
                </a:solidFill>
                <a:latin typeface="Courier New"/>
              </a:rPr>
              <a:t>    layers.Dense(10, activation="softmax"),                     # salida</a:t>
            </a:r>
          </a:p>
          <a:p>
            <a:pPr>
              <a:defRPr sz="1200" b="0">
                <a:solidFill>
                  <a:srgbClr val="F8FAFC"/>
                </a:solidFill>
                <a:latin typeface="Courier New"/>
              </a:defRPr>
            </a:pPr>
            <a:r>
              <a:rPr sz="1200" b="0">
                <a:solidFill>
                  <a:srgbClr val="F8FAFC"/>
                </a:solidFill>
                <a:latin typeface="Courier New"/>
              </a:rPr>
              <a:t>], name="LeNet5")</a:t>
            </a:r>
          </a:p>
          <a:p>
            <a:pPr>
              <a:defRPr sz="1200" b="0">
                <a:solidFill>
                  <a:srgbClr val="F8FAFC"/>
                </a:solidFill>
                <a:latin typeface="Courier New"/>
              </a:defRPr>
            </a:pPr>
            <a:r>
              <a:rPr sz="1200" b="0">
                <a:solidFill>
                  <a:srgbClr val="F8FAFC"/>
                </a:solidFill>
                <a:latin typeface="Courier New"/>
              </a:rPr>
              <a:t>print("LeNet-5 params:", lenet.count_params())</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130 — Arquitecturas CNN: LeNet, AlexNet, VGG, GoogLeNet, ResNet, Xception, SENet, EfficientNet, ConvNeXt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varios modelos: keras.applications.{ResNet50, EfficientNetB0, ConvNeXtTiny}(weights='imagenet').</a:t>
            </a:r>
          </a:p>
          <a:p>
            <a:pPr>
              <a:spcAft>
                <a:spcPts val="800"/>
              </a:spcAft>
              <a:defRPr sz="1400" b="0">
                <a:solidFill>
                  <a:srgbClr val="0F172A"/>
                </a:solidFill>
                <a:latin typeface="Segoe UI"/>
              </a:defRPr>
            </a:pPr>
            <a:r>
              <a:rPr sz="1400" b="0">
                <a:solidFill>
                  <a:srgbClr val="0F172A"/>
                </a:solidFill>
                <a:latin typeface="Segoe UI"/>
              </a:rPr>
              <a:t>• Mini-ResNet: implementar 4 bloques residuales: def res_block(x): return x + Conv(64,3,padding='same')(ReLU()(Conv(64,3,padding='same')(x))).</a:t>
            </a:r>
          </a:p>
          <a:p>
            <a:pPr>
              <a:spcAft>
                <a:spcPts val="800"/>
              </a:spcAft>
              <a:defRPr sz="1400" b="0">
                <a:solidFill>
                  <a:srgbClr val="0F172A"/>
                </a:solidFill>
                <a:latin typeface="Segoe UI"/>
              </a:defRPr>
            </a:pPr>
            <a:r>
              <a:rPr sz="1400" b="0">
                <a:solidFill>
                  <a:srgbClr val="0F172A"/>
                </a:solidFill>
                <a:latin typeface="Segoe UI"/>
              </a:rPr>
              <a:t>• Skip connection a mano: comparar entrenamiento de un "ResNet" sin skip vs con skip a 50 capas.</a:t>
            </a:r>
          </a:p>
          <a:p>
            <a:pPr>
              <a:spcAft>
                <a:spcPts val="800"/>
              </a:spcAft>
              <a:defRPr sz="1400" b="0">
                <a:solidFill>
                  <a:srgbClr val="0F172A"/>
                </a:solidFill>
                <a:latin typeface="Segoe UI"/>
              </a:defRPr>
            </a:pPr>
            <a:r>
              <a:rPr sz="1400" b="0">
                <a:solidFill>
                  <a:srgbClr val="0F172A"/>
                </a:solidFill>
                <a:latin typeface="Segoe UI"/>
              </a:rPr>
              <a:t>• Depthwise-separable: usar SeparableConv2D en lugar de Conv2D en el mismo modelo.</a:t>
            </a:r>
          </a:p>
          <a:p>
            <a:pPr>
              <a:spcAft>
                <a:spcPts val="800"/>
              </a:spcAft>
              <a:defRPr sz="1400" b="0">
                <a:solidFill>
                  <a:srgbClr val="0F172A"/>
                </a:solidFill>
                <a:latin typeface="Segoe UI"/>
              </a:defRPr>
            </a:pPr>
            <a:r>
              <a:rPr sz="1400" b="0">
                <a:solidFill>
                  <a:srgbClr val="0F172A"/>
                </a:solidFill>
                <a:latin typeface="Segoe UI"/>
              </a:rPr>
              <a:t>• Squeeze-Excite: implementar un bloque SE manualmente: s = GlobalAvgPool(x); s = Dense(C//r)(s); s = Dense(C, sigmoid)(s); return x * Reshape((1,1,C))(s).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ResNet50 (clásico).</a:t>
            </a:r>
          </a:p>
          <a:p>
            <a:pPr>
              <a:spcAft>
                <a:spcPts val="800"/>
              </a:spcAft>
              <a:defRPr sz="1500" b="0">
                <a:solidFill>
                  <a:srgbClr val="0F172A"/>
                </a:solidFill>
                <a:latin typeface="Segoe UI"/>
              </a:defRPr>
            </a:pPr>
            <a:r>
              <a:rPr sz="1500" b="0">
                <a:solidFill>
                  <a:srgbClr val="0F172A"/>
                </a:solidFill>
                <a:latin typeface="Segoe UI"/>
              </a:rPr>
              <a:t>• EfficientNetB0 (eficiente).</a:t>
            </a:r>
          </a:p>
          <a:p>
            <a:pPr>
              <a:spcAft>
                <a:spcPts val="800"/>
              </a:spcAft>
              <a:defRPr sz="1500" b="0">
                <a:solidFill>
                  <a:srgbClr val="0F172A"/>
                </a:solidFill>
                <a:latin typeface="Segoe UI"/>
              </a:defRPr>
            </a:pPr>
            <a:r>
              <a:rPr sz="1500" b="0">
                <a:solidFill>
                  <a:srgbClr val="0F172A"/>
                </a:solidFill>
                <a:latin typeface="Segoe UI"/>
              </a:rPr>
              <a:t>• MobileNetV3Small (móvil).</a:t>
            </a:r>
          </a:p>
          <a:p>
            <a:pPr>
              <a:spcAft>
                <a:spcPts val="800"/>
              </a:spcAft>
              <a:defRPr sz="1500" b="0">
                <a:solidFill>
                  <a:srgbClr val="0F172A"/>
                </a:solidFill>
                <a:latin typeface="Segoe UI"/>
              </a:defRPr>
            </a:pPr>
            <a:r>
              <a:rPr sz="1500" b="0">
                <a:solidFill>
                  <a:srgbClr val="0F172A"/>
                </a:solidFill>
                <a:latin typeface="Segoe UI"/>
              </a:rPr>
              <a:t>• ConvNeXtTiny (moderno).</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131 — Transfer learning con CNNs preentrenadas</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131 — Transfer learning con CNNs preentrenadas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Using Pretrained Models from Keras.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transfer learning específicamente en visión — el caso de uso más común del campo. Profundizar la clase 101 con receta industrial: data augmentation, fine-tuning gradual, learning rate diferencial, y manejo de BatchNorm en fine-tuning (un gotcha clásico).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pipeline con image_dataset_from_directory + augmentation (RandomFlip, RandomRotation, RandomZoom).</a:t>
            </a:r>
          </a:p>
          <a:p>
            <a:pPr>
              <a:spcAft>
                <a:spcPts val="800"/>
              </a:spcAft>
              <a:defRPr sz="1400" b="0">
                <a:solidFill>
                  <a:srgbClr val="0F172A"/>
                </a:solidFill>
                <a:latin typeface="Segoe UI"/>
              </a:defRPr>
            </a:pPr>
            <a:r>
              <a:rPr sz="1400" b="0">
                <a:solidFill>
                  <a:srgbClr val="0F172A"/>
                </a:solidFill>
                <a:latin typeface="Segoe UI"/>
              </a:rPr>
              <a:t>• Aplicar el preprocess_input específico del modelo base.</a:t>
            </a:r>
          </a:p>
          <a:p>
            <a:pPr>
              <a:spcAft>
                <a:spcPts val="800"/>
              </a:spcAft>
              <a:defRPr sz="1400" b="0">
                <a:solidFill>
                  <a:srgbClr val="0F172A"/>
                </a:solidFill>
                <a:latin typeface="Segoe UI"/>
              </a:defRPr>
            </a:pPr>
            <a:r>
              <a:rPr sz="1400" b="0">
                <a:solidFill>
                  <a:srgbClr val="0F172A"/>
                </a:solidFill>
                <a:latin typeface="Segoe UI"/>
              </a:rPr>
              <a:t>• Hacer fine-tuning en 2 fases con LR diferencial.</a:t>
            </a:r>
          </a:p>
          <a:p>
            <a:pPr>
              <a:spcAft>
                <a:spcPts val="800"/>
              </a:spcAft>
              <a:defRPr sz="1400" b="0">
                <a:solidFill>
                  <a:srgbClr val="0F172A"/>
                </a:solidFill>
                <a:latin typeface="Segoe UI"/>
              </a:defRPr>
            </a:pPr>
            <a:r>
              <a:rPr sz="1400" b="0">
                <a:solidFill>
                  <a:srgbClr val="0F172A"/>
                </a:solidFill>
                <a:latin typeface="Segoe UI"/>
              </a:rPr>
              <a:t>• Manejar correctamente BatchNorm en fine-tuning (mantenerlo en inference mode si descongelaste pocas capas).</a:t>
            </a:r>
          </a:p>
          <a:p>
            <a:pPr>
              <a:spcAft>
                <a:spcPts val="800"/>
              </a:spcAft>
              <a:defRPr sz="1400" b="0">
                <a:solidFill>
                  <a:srgbClr val="0F172A"/>
                </a:solidFill>
                <a:latin typeface="Segoe UI"/>
              </a:defRPr>
            </a:pPr>
            <a:r>
              <a:rPr sz="1400" b="0">
                <a:solidFill>
                  <a:srgbClr val="0F172A"/>
                </a:solidFill>
                <a:latin typeface="Segoe UI"/>
              </a:rPr>
              <a:t>• Comparar feature extraction (frozen base + nueva head) vs fine-tune (descongelar todo) según tamaño del dataset.</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131 — Transfer learning con CNNs preentrenadas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Augmentation como capa: RandomFlip, RandomRotation, RandomZoom, RandomCrop, RandomContrast.</a:t>
            </a:r>
          </a:p>
          <a:p>
            <a:pPr>
              <a:spcAft>
                <a:spcPts val="1000"/>
              </a:spcAft>
              <a:defRPr sz="1600" b="0">
                <a:solidFill>
                  <a:srgbClr val="0F172A"/>
                </a:solidFill>
                <a:latin typeface="Segoe UI"/>
              </a:defRPr>
            </a:pPr>
            <a:r>
              <a:rPr sz="1600" b="0">
                <a:solidFill>
                  <a:srgbClr val="0F172A"/>
                </a:solidFill>
                <a:latin typeface="Segoe UI"/>
              </a:rPr>
              <a:t>• preprocess_input por modelo (cada red espera su escalado).</a:t>
            </a:r>
          </a:p>
          <a:p>
            <a:pPr>
              <a:spcAft>
                <a:spcPts val="1000"/>
              </a:spcAft>
              <a:defRPr sz="1600" b="0">
                <a:solidFill>
                  <a:srgbClr val="0F172A"/>
                </a:solidFill>
                <a:latin typeface="Segoe UI"/>
              </a:defRPr>
            </a:pPr>
            <a:r>
              <a:rPr sz="1600" b="0">
                <a:solidFill>
                  <a:srgbClr val="0F172A"/>
                </a:solidFill>
                <a:latin typeface="Segoe UI"/>
              </a:rPr>
              <a:t>• 2-stage training: freeze + head warmup → unfreeze + LR bajo.</a:t>
            </a:r>
          </a:p>
          <a:p>
            <a:pPr>
              <a:spcAft>
                <a:spcPts val="1000"/>
              </a:spcAft>
              <a:defRPr sz="1600" b="0">
                <a:solidFill>
                  <a:srgbClr val="0F172A"/>
                </a:solidFill>
                <a:latin typeface="Segoe UI"/>
              </a:defRPr>
            </a:pPr>
            <a:r>
              <a:rPr sz="1600" b="0">
                <a:solidFill>
                  <a:srgbClr val="0F172A"/>
                </a:solidFill>
                <a:latin typeface="Segoe UI"/>
              </a:rPr>
              <a:t>• BN gotcha: cuando descongelás, BN sigue actualizando moving averages → puede dañar pretraining.</a:t>
            </a:r>
          </a:p>
          <a:p>
            <a:pPr>
              <a:spcAft>
                <a:spcPts val="1000"/>
              </a:spcAft>
              <a:defRPr sz="1600" b="0">
                <a:solidFill>
                  <a:srgbClr val="0F172A"/>
                </a:solidFill>
                <a:latin typeface="Segoe UI"/>
              </a:defRPr>
            </a:pPr>
            <a:r>
              <a:rPr sz="1600" b="0">
                <a:solidFill>
                  <a:srgbClr val="0F172A"/>
                </a:solidFill>
                <a:latin typeface="Segoe UI"/>
              </a:rPr>
              <a:t>• MixUp, CutMix, RandAugment como augmentations modernas (anticipo).</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131 — Transfer learning con CNNs preentrenadas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Carga las imágenes desde un directorio con una subcarpeta por clase e infiere las etiquetas automáticamente.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IMG_SIZE = (224, 224)</a:t>
            </a:r>
          </a:p>
          <a:p>
            <a:pPr>
              <a:defRPr sz="1200" b="0">
                <a:solidFill>
                  <a:srgbClr val="F8FAFC"/>
                </a:solidFill>
                <a:latin typeface="Courier New"/>
              </a:defRPr>
            </a:pPr>
            <a:r>
              <a:rPr sz="1200" b="0">
                <a:solidFill>
                  <a:srgbClr val="F8FAFC"/>
                </a:solidFill>
                <a:latin typeface="Courier New"/>
              </a:rPr>
              <a:t>NUM_CLASSES = 5</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En la práctica (directorio flores/ con subcarpetas margarita/, rosa/, ...):</a:t>
            </a:r>
          </a:p>
          <a:p>
            <a:pPr>
              <a:defRPr sz="1200" b="0">
                <a:solidFill>
                  <a:srgbClr val="F8FAFC"/>
                </a:solidFill>
                <a:latin typeface="Courier New"/>
              </a:defRPr>
            </a:pPr>
            <a:r>
              <a:rPr sz="1200" b="0">
                <a:solidFill>
                  <a:srgbClr val="F8FAFC"/>
                </a:solidFill>
                <a:latin typeface="Courier New"/>
              </a:rPr>
              <a:t># train_ds = keras.utils.image_dataset_from_directory(</a:t>
            </a:r>
          </a:p>
          <a:p>
            <a:pPr>
              <a:defRPr sz="1200" b="0">
                <a:solidFill>
                  <a:srgbClr val="F8FAFC"/>
                </a:solidFill>
                <a:latin typeface="Courier New"/>
              </a:defRPr>
            </a:pPr>
            <a:r>
              <a:rPr sz="1200" b="0">
                <a:solidFill>
                  <a:srgbClr val="F8FAFC"/>
                </a:solidFill>
                <a:latin typeface="Courier New"/>
              </a:rPr>
              <a:t>#     "flores", validation_split=0.2, subset="training", seed=42,</a:t>
            </a:r>
          </a:p>
          <a:p>
            <a:pPr>
              <a:defRPr sz="1200" b="0">
                <a:solidFill>
                  <a:srgbClr val="F8FAFC"/>
                </a:solidFill>
                <a:latin typeface="Courier New"/>
              </a:defRPr>
            </a:pPr>
            <a:r>
              <a:rPr sz="1200" b="0">
                <a:solidFill>
                  <a:srgbClr val="F8FAFC"/>
                </a:solidFill>
                <a:latin typeface="Courier New"/>
              </a:rPr>
              <a:t>#     image_size=IMG_SIZE, batch_size=32)</a:t>
            </a:r>
          </a:p>
          <a:p>
            <a:pPr>
              <a:defRPr sz="1200" b="0">
                <a:solidFill>
                  <a:srgbClr val="F8FAFC"/>
                </a:solidFill>
                <a:latin typeface="Courier New"/>
              </a:defRPr>
            </a:pPr>
            <a:r>
              <a:rPr sz="1200" b="0">
                <a:solidFill>
                  <a:srgbClr val="F8FAFC"/>
                </a:solidFill>
                <a:latin typeface="Courier New"/>
              </a:rPr>
              <a:t># val_ds = keras.utils.image_dataset_from_directory(</a:t>
            </a:r>
          </a:p>
          <a:p>
            <a:pPr>
              <a:defRPr sz="1200" b="0">
                <a:solidFill>
                  <a:srgbClr val="F8FAFC"/>
                </a:solidFill>
                <a:latin typeface="Courier New"/>
              </a:defRPr>
            </a:pPr>
            <a:r>
              <a:rPr sz="1200" b="0">
                <a:solidFill>
                  <a:srgbClr val="F8FAFC"/>
                </a:solidFill>
                <a:latin typeface="Courier New"/>
              </a:rPr>
              <a:t>#     "flores", validation_split=0.2, subset="validation", seed=42,</a:t>
            </a:r>
          </a:p>
          <a:p>
            <a:pPr>
              <a:defRPr sz="1200" b="0">
                <a:solidFill>
                  <a:srgbClr val="F8FAFC"/>
                </a:solidFill>
                <a:latin typeface="Courier New"/>
              </a:defRPr>
            </a:pPr>
            <a:r>
              <a:rPr sz="1200" b="0">
                <a:solidFill>
                  <a:srgbClr val="F8FAFC"/>
                </a:solidFill>
                <a:latin typeface="Courier New"/>
              </a:rPr>
              <a:t>#     image_size=IMG_SIZE, batch_size=32)</a:t>
            </a:r>
          </a:p>
          <a:p>
            <a:pPr>
              <a:defRPr sz="1200" b="0">
                <a:solidFill>
                  <a:srgbClr val="F8FAFC"/>
                </a:solidFill>
                <a:latin typeface="Courier New"/>
              </a:defRPr>
            </a:pPr>
            <a:r>
              <a:rPr sz="1200" b="0">
                <a:solidFill>
                  <a:srgbClr val="F8FAFC"/>
                </a:solidFill>
                <a:latin typeface="Courier New"/>
              </a:rPr>
              <a:t>print("image_dataset_from_directory infiere las clases de las subcarpetas")</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131 — Transfer learning con CNNs preentrenadas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con augmentation: RandomFlip + RandomRotation(0.1) + RandomZoom(0.1) como capas.</a:t>
            </a:r>
          </a:p>
          <a:p>
            <a:pPr>
              <a:spcAft>
                <a:spcPts val="800"/>
              </a:spcAft>
              <a:defRPr sz="1400" b="0">
                <a:solidFill>
                  <a:srgbClr val="0F172A"/>
                </a:solidFill>
                <a:latin typeface="Segoe UI"/>
              </a:defRPr>
            </a:pPr>
            <a:r>
              <a:rPr sz="1400" b="0">
                <a:solidFill>
                  <a:srgbClr val="0F172A"/>
                </a:solidFill>
                <a:latin typeface="Segoe UI"/>
              </a:rPr>
              <a:t>• Modelo con base + head: base = EfficientNetB0(include_top=False, weights='imagenet'); base.trainable = False; model = Sequential([data_aug, preprocess_input, base, GlobalAvgPool, Dropout, Dense(num_classes)]).</a:t>
            </a:r>
          </a:p>
          <a:p>
            <a:pPr>
              <a:spcAft>
                <a:spcPts val="800"/>
              </a:spcAft>
              <a:defRPr sz="1400" b="0">
                <a:solidFill>
                  <a:srgbClr val="0F172A"/>
                </a:solidFill>
                <a:latin typeface="Segoe UI"/>
              </a:defRPr>
            </a:pPr>
            <a:r>
              <a:rPr sz="1400" b="0">
                <a:solidFill>
                  <a:srgbClr val="0F172A"/>
                </a:solidFill>
                <a:latin typeface="Segoe UI"/>
              </a:rPr>
              <a:t>• Etapa 1 (head warmup): Adam(1e-3), entrenar 5 épocas.</a:t>
            </a:r>
          </a:p>
          <a:p>
            <a:pPr>
              <a:spcAft>
                <a:spcPts val="800"/>
              </a:spcAft>
              <a:defRPr sz="1400" b="0">
                <a:solidFill>
                  <a:srgbClr val="0F172A"/>
                </a:solidFill>
                <a:latin typeface="Segoe UI"/>
              </a:defRPr>
            </a:pPr>
            <a:r>
              <a:rPr sz="1400" b="0">
                <a:solidFill>
                  <a:srgbClr val="0F172A"/>
                </a:solidFill>
                <a:latin typeface="Segoe UI"/>
              </a:rPr>
              <a:t>• Etapa 2 (fine-tune): base.trainable = True, recompilar con Adam(1e-5).</a:t>
            </a:r>
          </a:p>
          <a:p>
            <a:pPr>
              <a:spcAft>
                <a:spcPts val="800"/>
              </a:spcAft>
              <a:defRPr sz="1400" b="0">
                <a:solidFill>
                  <a:srgbClr val="0F172A"/>
                </a:solidFill>
                <a:latin typeface="Segoe UI"/>
              </a:defRPr>
            </a:pPr>
            <a:r>
              <a:rPr sz="1400" b="0">
                <a:solidFill>
                  <a:srgbClr val="0F172A"/>
                </a:solidFill>
                <a:latin typeface="Segoe UI"/>
              </a:rPr>
              <a:t>• BN gotcha: con base.trainable = True pero pasando training=False a la base durante fine-tuning → BN no se actualiza.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completo con augmentation.</a:t>
            </a:r>
          </a:p>
          <a:p>
            <a:pPr>
              <a:spcAft>
                <a:spcPts val="800"/>
              </a:spcAft>
              <a:defRPr sz="1500" b="0">
                <a:solidFill>
                  <a:srgbClr val="0F172A"/>
                </a:solidFill>
                <a:latin typeface="Segoe UI"/>
              </a:defRPr>
            </a:pPr>
            <a:r>
              <a:rPr sz="1500" b="0">
                <a:solidFill>
                  <a:srgbClr val="0F172A"/>
                </a:solidFill>
                <a:latin typeface="Segoe UI"/>
              </a:rPr>
              <a:t>• Transfer learning con EfficientNetB0 en 2 fases.</a:t>
            </a:r>
          </a:p>
          <a:p>
            <a:pPr>
              <a:spcAft>
                <a:spcPts val="800"/>
              </a:spcAft>
              <a:defRPr sz="1500" b="0">
                <a:solidFill>
                  <a:srgbClr val="0F172A"/>
                </a:solidFill>
                <a:latin typeface="Segoe UI"/>
              </a:defRPr>
            </a:pPr>
            <a:r>
              <a:rPr sz="1500" b="0">
                <a:solidFill>
                  <a:srgbClr val="0F172A"/>
                </a:solidFill>
                <a:latin typeface="Segoe UI"/>
              </a:rPr>
              <a:t>• Reportar accuracy de cada fase.</a:t>
            </a:r>
          </a:p>
          <a:p>
            <a:pPr>
              <a:spcAft>
                <a:spcPts val="800"/>
              </a:spcAft>
              <a:defRPr sz="1500" b="0">
                <a:solidFill>
                  <a:srgbClr val="0F172A"/>
                </a:solidFill>
                <a:latin typeface="Segoe UI"/>
              </a:defRPr>
            </a:pPr>
            <a:r>
              <a:rPr sz="1500" b="0">
                <a:solidFill>
                  <a:srgbClr val="0F172A"/>
                </a:solidFill>
                <a:latin typeface="Segoe UI"/>
              </a:rPr>
              <a:t>• Comparar contra entrenar EfficientNet desde cero (sin transfer).</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132 — Localización, detección, segmentación (+ DETR, Segment Anything, YOLOv11)</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132 — Localización, detección, segmentación (+ DETR, Segment Anything, YOLOv11)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Object Detection y § Semantic Segmentation + papers DETR, SAM, YOLOv11.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detectar y segmentar objetos en imágenes — la tarea de visión más compleja y más comercial. Conocer la evolución: Faster R-CNN (two-stage, lento + preciso) → YOLO (one-stage, rápido) → DETR (Transformer, end-to-end) → YOLOv11 (estado del arte 2024) → Segment Anything (SAM/SAM 2) (foundation model para segmentación).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las 4 tareas: clasificación, localización (1 objeto), detección (N objetos + cajas), segmentación (pixel-wise mask).</a:t>
            </a:r>
          </a:p>
          <a:p>
            <a:pPr>
              <a:spcAft>
                <a:spcPts val="800"/>
              </a:spcAft>
              <a:defRPr sz="1400" b="0">
                <a:solidFill>
                  <a:srgbClr val="0F172A"/>
                </a:solidFill>
                <a:latin typeface="Segoe UI"/>
              </a:defRPr>
            </a:pPr>
            <a:r>
              <a:rPr sz="1400" b="0">
                <a:solidFill>
                  <a:srgbClr val="0F172A"/>
                </a:solidFill>
                <a:latin typeface="Segoe UI"/>
              </a:rPr>
              <a:t>• Usar un modelo YOLOv11 preentrenado con ultralytics: model = YOLO('yolo11n.pt'); results = model('imagen.jpg').</a:t>
            </a:r>
          </a:p>
          <a:p>
            <a:pPr>
              <a:spcAft>
                <a:spcPts val="800"/>
              </a:spcAft>
              <a:defRPr sz="1400" b="0">
                <a:solidFill>
                  <a:srgbClr val="0F172A"/>
                </a:solidFill>
                <a:latin typeface="Segoe UI"/>
              </a:defRPr>
            </a:pPr>
            <a:r>
              <a:rPr sz="1400" b="0">
                <a:solidFill>
                  <a:srgbClr val="0F172A"/>
                </a:solidFill>
                <a:latin typeface="Segoe UI"/>
              </a:rPr>
              <a:t>• Aplicar Segment Anything (SAM 2) para segmentación promptable con puntos o cajas como input.</a:t>
            </a:r>
          </a:p>
          <a:p>
            <a:pPr>
              <a:spcAft>
                <a:spcPts val="800"/>
              </a:spcAft>
              <a:defRPr sz="1400" b="0">
                <a:solidFill>
                  <a:srgbClr val="0F172A"/>
                </a:solidFill>
                <a:latin typeface="Segoe UI"/>
              </a:defRPr>
            </a:pPr>
            <a:r>
              <a:rPr sz="1400" b="0">
                <a:solidFill>
                  <a:srgbClr val="0F172A"/>
                </a:solidFill>
                <a:latin typeface="Segoe UI"/>
              </a:rPr>
              <a:t>• Reconocer cuándo elegir DETR (mejor formal, lento) vs YOLO (rápido, default industrial) vs SAM (pre-entrenado universal).</a:t>
            </a:r>
          </a:p>
          <a:p>
            <a:pPr>
              <a:spcAft>
                <a:spcPts val="800"/>
              </a:spcAft>
              <a:defRPr sz="1400" b="0">
                <a:solidFill>
                  <a:srgbClr val="0F172A"/>
                </a:solidFill>
                <a:latin typeface="Segoe UI"/>
              </a:defRPr>
            </a:pPr>
            <a:r>
              <a:rPr sz="1400" b="0">
                <a:solidFill>
                  <a:srgbClr val="0F172A"/>
                </a:solidFill>
                <a:latin typeface="Segoe UI"/>
              </a:rPr>
              <a:t>• Métricas: IoU, mAP, COCO AP@[.5:.05:.95].</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132 — Localización, detección, segmentación (+ DETR, Segment Anything, YOLOv11)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Localización vs detección vs instance segmentation vs semantic segmentation.</a:t>
            </a:r>
          </a:p>
          <a:p>
            <a:pPr>
              <a:spcAft>
                <a:spcPts val="1000"/>
              </a:spcAft>
              <a:defRPr sz="1600" b="0">
                <a:solidFill>
                  <a:srgbClr val="0F172A"/>
                </a:solidFill>
                <a:latin typeface="Segoe UI"/>
              </a:defRPr>
            </a:pPr>
            <a:r>
              <a:rPr sz="1600" b="0">
                <a:solidFill>
                  <a:srgbClr val="0F172A"/>
                </a:solidFill>
                <a:latin typeface="Segoe UI"/>
              </a:rPr>
              <a:t>• IoU, mAP, COCO benchmark.</a:t>
            </a:r>
          </a:p>
          <a:p>
            <a:pPr>
              <a:spcAft>
                <a:spcPts val="1000"/>
              </a:spcAft>
              <a:defRPr sz="1600" b="0">
                <a:solidFill>
                  <a:srgbClr val="0F172A"/>
                </a:solidFill>
                <a:latin typeface="Segoe UI"/>
              </a:defRPr>
            </a:pPr>
            <a:r>
              <a:rPr sz="1600" b="0">
                <a:solidFill>
                  <a:srgbClr val="0F172A"/>
                </a:solidFill>
                <a:latin typeface="Segoe UI"/>
              </a:rPr>
              <a:t>• Anchors vs anchor-free.</a:t>
            </a:r>
          </a:p>
          <a:p>
            <a:pPr>
              <a:spcAft>
                <a:spcPts val="1000"/>
              </a:spcAft>
              <a:defRPr sz="1600" b="0">
                <a:solidFill>
                  <a:srgbClr val="0F172A"/>
                </a:solidFill>
                <a:latin typeface="Segoe UI"/>
              </a:defRPr>
            </a:pPr>
            <a:r>
              <a:rPr sz="1600" b="0">
                <a:solidFill>
                  <a:srgbClr val="0F172A"/>
                </a:solidFill>
                <a:latin typeface="Segoe UI"/>
              </a:rPr>
              <a:t>• One-stage (YOLO, SSD) vs two-stage (Faster R-CNN).</a:t>
            </a:r>
          </a:p>
          <a:p>
            <a:pPr>
              <a:spcAft>
                <a:spcPts val="1000"/>
              </a:spcAft>
              <a:defRPr sz="1600" b="0">
                <a:solidFill>
                  <a:srgbClr val="0F172A"/>
                </a:solidFill>
                <a:latin typeface="Segoe UI"/>
              </a:defRPr>
            </a:pPr>
            <a:r>
              <a:rPr sz="1600" b="0">
                <a:solidFill>
                  <a:srgbClr val="0F172A"/>
                </a:solidFill>
                <a:latin typeface="Segoe UI"/>
              </a:rPr>
              <a:t>• Complemento moderno: DETR (Carion et al. 2020), SAM/SAM 2 (Meta 2023/2024), YOLOv11 (Ultralytics 2024).</a:t>
            </a:r>
          </a:p>
          <a:p>
            <a:pPr>
              <a:spcAft>
                <a:spcPts val="1000"/>
              </a:spcAft>
              <a:defRPr sz="1600" b="0">
                <a:solidFill>
                  <a:srgbClr val="0F172A"/>
                </a:solidFill>
                <a:latin typeface="Segoe UI"/>
              </a:defRPr>
            </a:pPr>
            <a:r>
              <a:rPr sz="1600" b="0">
                <a:solidFill>
                  <a:srgbClr val="0F172A"/>
                </a:solidFill>
                <a:latin typeface="Segoe UI"/>
              </a:rPr>
              <a:t>• Pre-trained pipelines: ultralytics, transformers (DETR), segment_anything.</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132 — Localización, detección, segmentación (+ DETR, Segment Anything, YOLOv11)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Dos convenciones habituales: (x1, y1, x2, y2) (esquinas) y (cx, cy, w, h) (centro + tamaño). Convertir entre ambas es rutina.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xywh_a_xyxy(cx, cy, w, h):</a:t>
            </a:r>
          </a:p>
          <a:p>
            <a:pPr>
              <a:defRPr sz="1200" b="0">
                <a:solidFill>
                  <a:srgbClr val="F8FAFC"/>
                </a:solidFill>
                <a:latin typeface="Courier New"/>
              </a:defRPr>
            </a:pPr>
            <a:r>
              <a:rPr sz="1200" b="0">
                <a:solidFill>
                  <a:srgbClr val="F8FAFC"/>
                </a:solidFill>
                <a:latin typeface="Courier New"/>
              </a:rPr>
              <a:t>    return np.array([cx - w / 2, cy - h / 2, cx + w / 2, cy + h / 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xyxy_a_xywh(x1, y1, x2, y2):</a:t>
            </a:r>
          </a:p>
          <a:p>
            <a:pPr>
              <a:defRPr sz="1200" b="0">
                <a:solidFill>
                  <a:srgbClr val="F8FAFC"/>
                </a:solidFill>
                <a:latin typeface="Courier New"/>
              </a:defRPr>
            </a:pPr>
            <a:r>
              <a:rPr sz="1200" b="0">
                <a:solidFill>
                  <a:srgbClr val="F8FAFC"/>
                </a:solidFill>
                <a:latin typeface="Courier New"/>
              </a:rPr>
              <a:t>    return np.array([(x1 + x2) / 2, (y1 + y2) / 2, x2 - x1, y2 - y1])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caja = xywh_a_xyxy(50, 50, 20, 30)</a:t>
            </a:r>
          </a:p>
          <a:p>
            <a:pPr>
              <a:defRPr sz="1200" b="0">
                <a:solidFill>
                  <a:srgbClr val="F8FAFC"/>
                </a:solidFill>
                <a:latin typeface="Courier New"/>
              </a:defRPr>
            </a:pPr>
            <a:r>
              <a:rPr sz="1200" b="0">
                <a:solidFill>
                  <a:srgbClr val="F8FAFC"/>
                </a:solidFill>
                <a:latin typeface="Courier New"/>
              </a:rPr>
              <a:t>print("(cx,cy,w,h)=(50,50,20,30) -&gt; (x1,y1,x2,y2) =", caja)</a:t>
            </a:r>
          </a:p>
          <a:p>
            <a:pPr>
              <a:defRPr sz="1200" b="0">
                <a:solidFill>
                  <a:srgbClr val="F8FAFC"/>
                </a:solidFill>
                <a:latin typeface="Courier New"/>
              </a:defRPr>
            </a:pPr>
            <a:r>
              <a:rPr sz="1200" b="0">
                <a:solidFill>
                  <a:srgbClr val="F8FAFC"/>
                </a:solidFill>
                <a:latin typeface="Courier New"/>
              </a:rPr>
              <a:t>print("de vuelta a (cx,cy,w,h)   =", xyxy_a_xywh(*caja))</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132 — Localización, detección, segmentación (+ DETR, Segment Anything, YOLOv11)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YOLO inference: cargar yolo11n.pt y detectar sobre 3 imágenes propias.</a:t>
            </a:r>
          </a:p>
          <a:p>
            <a:pPr>
              <a:spcAft>
                <a:spcPts val="800"/>
              </a:spcAft>
              <a:defRPr sz="1400" b="0">
                <a:solidFill>
                  <a:srgbClr val="0F172A"/>
                </a:solidFill>
                <a:latin typeface="Segoe UI"/>
              </a:defRPr>
            </a:pPr>
            <a:r>
              <a:rPr sz="1400" b="0">
                <a:solidFill>
                  <a:srgbClr val="0F172A"/>
                </a:solidFill>
                <a:latin typeface="Segoe UI"/>
              </a:rPr>
              <a:t>• DETR inference: usar facebook/detr-resnet-50 desde HF.</a:t>
            </a:r>
          </a:p>
          <a:p>
            <a:pPr>
              <a:spcAft>
                <a:spcPts val="800"/>
              </a:spcAft>
              <a:defRPr sz="1400" b="0">
                <a:solidFill>
                  <a:srgbClr val="0F172A"/>
                </a:solidFill>
                <a:latin typeface="Segoe UI"/>
              </a:defRPr>
            </a:pPr>
            <a:r>
              <a:rPr sz="1400" b="0">
                <a:solidFill>
                  <a:srgbClr val="0F172A"/>
                </a:solidFill>
                <a:latin typeface="Segoe UI"/>
              </a:rPr>
              <a:t>• SAM segmentation: dar un punto sobre un objeto en una imagen, obtener máscara.</a:t>
            </a:r>
          </a:p>
          <a:p>
            <a:pPr>
              <a:spcAft>
                <a:spcPts val="800"/>
              </a:spcAft>
              <a:defRPr sz="1400" b="0">
                <a:solidFill>
                  <a:srgbClr val="0F172A"/>
                </a:solidFill>
                <a:latin typeface="Segoe UI"/>
              </a:defRPr>
            </a:pPr>
            <a:r>
              <a:rPr sz="1400" b="0">
                <a:solidFill>
                  <a:srgbClr val="0F172A"/>
                </a:solidFill>
                <a:latin typeface="Segoe UI"/>
              </a:rPr>
              <a:t>• mAP a mano: dado un set de predicciones y GT, implementar IoU y calcular AP@0.5 manualmente.</a:t>
            </a:r>
          </a:p>
          <a:p>
            <a:pPr>
              <a:spcAft>
                <a:spcPts val="800"/>
              </a:spcAft>
              <a:defRPr sz="1400" b="0">
                <a:solidFill>
                  <a:srgbClr val="0F172A"/>
                </a:solidFill>
                <a:latin typeface="Segoe UI"/>
              </a:defRPr>
            </a:pPr>
            <a:r>
              <a:rPr sz="1400" b="0">
                <a:solidFill>
                  <a:srgbClr val="0F172A"/>
                </a:solidFill>
                <a:latin typeface="Segoe UI"/>
              </a:rPr>
              <a:t>• YOLO fine-tune: dataset propio (≥ 100 imágenes anotadas), model.train(data='dataset.yaml', epochs=50).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Etiquetar ~100 imágenes con CVAT, LabelImg o Roboflow → YOLO format.</a:t>
            </a:r>
          </a:p>
          <a:p>
            <a:pPr>
              <a:spcAft>
                <a:spcPts val="800"/>
              </a:spcAft>
              <a:defRPr sz="1500" b="0">
                <a:solidFill>
                  <a:srgbClr val="0F172A"/>
                </a:solidFill>
                <a:latin typeface="Segoe UI"/>
              </a:defRPr>
            </a:pPr>
            <a:r>
              <a:rPr sz="1500" b="0">
                <a:solidFill>
                  <a:srgbClr val="0F172A"/>
                </a:solidFill>
                <a:latin typeface="Segoe UI"/>
              </a:rPr>
              <a:t>• dataset.yaml con paths + clases.</a:t>
            </a:r>
          </a:p>
          <a:p>
            <a:pPr>
              <a:spcAft>
                <a:spcPts val="800"/>
              </a:spcAft>
              <a:defRPr sz="1500" b="0">
                <a:solidFill>
                  <a:srgbClr val="0F172A"/>
                </a:solidFill>
                <a:latin typeface="Segoe UI"/>
              </a:defRPr>
            </a:pPr>
            <a:r>
              <a:rPr sz="1500" b="0">
                <a:solidFill>
                  <a:srgbClr val="0F172A"/>
                </a:solidFill>
                <a:latin typeface="Segoe UI"/>
              </a:rPr>
              <a:t>• model.train(data='dataset.yaml', epochs=100, imgsz=640).</a:t>
            </a:r>
          </a:p>
          <a:p>
            <a:pPr>
              <a:spcAft>
                <a:spcPts val="800"/>
              </a:spcAft>
              <a:defRPr sz="1500" b="0">
                <a:solidFill>
                  <a:srgbClr val="0F172A"/>
                </a:solidFill>
                <a:latin typeface="Segoe UI"/>
              </a:defRPr>
            </a:pPr>
            <a:r>
              <a:rPr sz="1500" b="0">
                <a:solidFill>
                  <a:srgbClr val="0F172A"/>
                </a:solidFill>
                <a:latin typeface="Segoe UI"/>
              </a:rPr>
              <a:t>• Reportar mAP@0.5 en val + 3 imágenes con bounding boxes superpuestos.</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133 — Segment Anything (SAM / SAM 2): foundation model para segmentación</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133 — Segment Anything (SAM / SAM 2): foundation model para segmentación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Kirillov et al. (2023) + Ravi et al. (2024) SAM 2.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Usar Segment Anything (Meta AI 2023) y SAM 2 (2024) — el foundation model para segmentación: entrenado en 11M imágenes + 1.1B máscaras (SAM 2 agrega video). Segmenta cualquier objeto dado un prompt (punto, caja, máscara, "todo"). Zero-shot — no requiere training para empezar.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Instalar y cargar SAM/SAM 2 con pip install 'git+https://github.com/facebookresearch/segment-anything-2'.</a:t>
            </a:r>
          </a:p>
          <a:p>
            <a:pPr>
              <a:spcAft>
                <a:spcPts val="800"/>
              </a:spcAft>
              <a:defRPr sz="1400" b="0">
                <a:solidFill>
                  <a:srgbClr val="0F172A"/>
                </a:solidFill>
                <a:latin typeface="Segoe UI"/>
              </a:defRPr>
            </a:pPr>
            <a:r>
              <a:rPr sz="1400" b="0">
                <a:solidFill>
                  <a:srgbClr val="0F172A"/>
                </a:solidFill>
                <a:latin typeface="Segoe UI"/>
              </a:rPr>
              <a:t>• Aplicar prompts: punto, caja, multi-punto positivo/negativo.</a:t>
            </a:r>
          </a:p>
          <a:p>
            <a:pPr>
              <a:spcAft>
                <a:spcPts val="800"/>
              </a:spcAft>
              <a:defRPr sz="1400" b="0">
                <a:solidFill>
                  <a:srgbClr val="0F172A"/>
                </a:solidFill>
                <a:latin typeface="Segoe UI"/>
              </a:defRPr>
            </a:pPr>
            <a:r>
              <a:rPr sz="1400" b="0">
                <a:solidFill>
                  <a:srgbClr val="0F172A"/>
                </a:solidFill>
                <a:latin typeface="Segoe UI"/>
              </a:rPr>
              <a:t>• Generar máscaras en modo "everything" (segmenta cada objeto automáticamente).</a:t>
            </a:r>
          </a:p>
          <a:p>
            <a:pPr>
              <a:spcAft>
                <a:spcPts val="800"/>
              </a:spcAft>
              <a:defRPr sz="1400" b="0">
                <a:solidFill>
                  <a:srgbClr val="0F172A"/>
                </a:solidFill>
                <a:latin typeface="Segoe UI"/>
              </a:defRPr>
            </a:pPr>
            <a:r>
              <a:rPr sz="1400" b="0">
                <a:solidFill>
                  <a:srgbClr val="0F172A"/>
                </a:solidFill>
                <a:latin typeface="Segoe UI"/>
              </a:rPr>
              <a:t>• Tracking de máscaras en video con SAM 2 (memoria temporal).</a:t>
            </a:r>
          </a:p>
          <a:p>
            <a:pPr>
              <a:spcAft>
                <a:spcPts val="800"/>
              </a:spcAft>
              <a:defRPr sz="1400" b="0">
                <a:solidFill>
                  <a:srgbClr val="0F172A"/>
                </a:solidFill>
                <a:latin typeface="Segoe UI"/>
              </a:defRPr>
            </a:pPr>
            <a:r>
              <a:rPr sz="1400" b="0">
                <a:solidFill>
                  <a:srgbClr val="0F172A"/>
                </a:solidFill>
                <a:latin typeface="Segoe UI"/>
              </a:rPr>
              <a:t>• Combinar SAM con detector (YOLO) para pipeline detection → segmentation.</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133 — Segment Anything (SAM / SAM 2): foundation model para segmentación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Arquitectura SAM: ViT encoder + prompt encoder + mask decoder.</a:t>
            </a:r>
          </a:p>
          <a:p>
            <a:pPr>
              <a:spcAft>
                <a:spcPts val="1000"/>
              </a:spcAft>
              <a:defRPr sz="1600" b="0">
                <a:solidFill>
                  <a:srgbClr val="0F172A"/>
                </a:solidFill>
                <a:latin typeface="Segoe UI"/>
              </a:defRPr>
            </a:pPr>
            <a:r>
              <a:rPr sz="1600" b="0">
                <a:solidFill>
                  <a:srgbClr val="0F172A"/>
                </a:solidFill>
                <a:latin typeface="Segoe UI"/>
              </a:rPr>
              <a:t>• Promptable: una sola red, múltiples interfaces.</a:t>
            </a:r>
          </a:p>
          <a:p>
            <a:pPr>
              <a:spcAft>
                <a:spcPts val="1000"/>
              </a:spcAft>
              <a:defRPr sz="1600" b="0">
                <a:solidFill>
                  <a:srgbClr val="0F172A"/>
                </a:solidFill>
                <a:latin typeface="Segoe UI"/>
              </a:defRPr>
            </a:pPr>
            <a:r>
              <a:rPr sz="1600" b="0">
                <a:solidFill>
                  <a:srgbClr val="0F172A"/>
                </a:solidFill>
                <a:latin typeface="Segoe UI"/>
              </a:rPr>
              <a:t>• SAM 2: adds memory + tracking en video.</a:t>
            </a:r>
          </a:p>
          <a:p>
            <a:pPr>
              <a:spcAft>
                <a:spcPts val="1000"/>
              </a:spcAft>
              <a:defRPr sz="1600" b="0">
                <a:solidFill>
                  <a:srgbClr val="0F172A"/>
                </a:solidFill>
                <a:latin typeface="Segoe UI"/>
              </a:defRPr>
            </a:pPr>
            <a:r>
              <a:rPr sz="1600" b="0">
                <a:solidFill>
                  <a:srgbClr val="0F172A"/>
                </a:solidFill>
                <a:latin typeface="Segoe UI"/>
              </a:rPr>
              <a:t>• Variants: vit_h (mejor calidad), vit_l, vit_b (más rápido).</a:t>
            </a:r>
          </a:p>
          <a:p>
            <a:pPr>
              <a:spcAft>
                <a:spcPts val="1000"/>
              </a:spcAft>
              <a:defRPr sz="1600" b="0">
                <a:solidFill>
                  <a:srgbClr val="0F172A"/>
                </a:solidFill>
                <a:latin typeface="Segoe UI"/>
              </a:defRPr>
            </a:pPr>
            <a:r>
              <a:rPr sz="1600" b="0">
                <a:solidFill>
                  <a:srgbClr val="0F172A"/>
                </a:solidFill>
                <a:latin typeface="Segoe UI"/>
              </a:rPr>
              <a:t>• Pipeline detección + segmentación: YOLO/Grounding DINO → boxes → SAM → masks.</a:t>
            </a:r>
          </a:p>
          <a:p>
            <a:pPr>
              <a:spcAft>
                <a:spcPts val="1000"/>
              </a:spcAft>
              <a:defRPr sz="1600" b="0">
                <a:solidFill>
                  <a:srgbClr val="0F172A"/>
                </a:solidFill>
                <a:latin typeface="Segoe UI"/>
              </a:defRPr>
            </a:pPr>
            <a:r>
              <a:rPr sz="1600" b="0">
                <a:solidFill>
                  <a:srgbClr val="0F172A"/>
                </a:solidFill>
                <a:latin typeface="Segoe UI"/>
              </a:rPr>
              <a:t>• Fine-tuning SAM (rara vez necesario, casos médicos / dominios muy específicos).</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133 — Segment Anything (SAM / SAM 2): foundation model para segmentación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SAM pesa ~2.4 GB (ViT-H). Fallback con SLIC superpixels de skimage que ilustra el concepto de máscara por prompt sobre imagen sintética 256x256.</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USE_SAM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segment_anything import sam_model_registry, SamPredictor</a:t>
            </a:r>
          </a:p>
          <a:p>
            <a:pPr>
              <a:defRPr sz="1200" b="0">
                <a:solidFill>
                  <a:srgbClr val="F8FAFC"/>
                </a:solidFill>
                <a:latin typeface="Courier New"/>
              </a:defRPr>
            </a:pPr>
            <a:r>
              <a:rPr sz="1200" b="0">
                <a:solidFill>
                  <a:srgbClr val="F8FAFC"/>
                </a:solidFill>
                <a:latin typeface="Courier New"/>
              </a:rPr>
              <a:t>    USE_SAM = True</a:t>
            </a:r>
          </a:p>
          <a:p>
            <a:pPr>
              <a:defRPr sz="1200" b="0">
                <a:solidFill>
                  <a:srgbClr val="F8FAFC"/>
                </a:solidFill>
                <a:latin typeface="Courier New"/>
              </a:defRPr>
            </a:pPr>
            <a:r>
              <a:rPr sz="1200" b="0">
                <a:solidFill>
                  <a:srgbClr val="F8FAFC"/>
                </a:solidFill>
                <a:latin typeface="Courier New"/>
              </a:rPr>
              <a:t>    print('segment_anything disponible')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print('SAM no disponible. Fallback SLIC.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skimage.segmentation import slic, mark_boundaries</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133 — Segment Anything (SAM / SAM 2): foundation model para segmentación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SAM setup: descargar checkpoint vit_h.</a:t>
            </a:r>
          </a:p>
          <a:p>
            <a:pPr>
              <a:spcAft>
                <a:spcPts val="800"/>
              </a:spcAft>
              <a:defRPr sz="1400" b="0">
                <a:solidFill>
                  <a:srgbClr val="0F172A"/>
                </a:solidFill>
                <a:latin typeface="Segoe UI"/>
              </a:defRPr>
            </a:pPr>
            <a:r>
              <a:rPr sz="1400" b="0">
                <a:solidFill>
                  <a:srgbClr val="0F172A"/>
                </a:solidFill>
                <a:latin typeface="Segoe UI"/>
              </a:rPr>
              <a:t>• Punto prompt: predictor.set_image(img); masks, scores, _ = predictor.predict(point_coords=[[x,y]], point_labels=[1]).</a:t>
            </a:r>
          </a:p>
          <a:p>
            <a:pPr>
              <a:spcAft>
                <a:spcPts val="800"/>
              </a:spcAft>
              <a:defRPr sz="1400" b="0">
                <a:solidFill>
                  <a:srgbClr val="0F172A"/>
                </a:solidFill>
                <a:latin typeface="Segoe UI"/>
              </a:defRPr>
            </a:pPr>
            <a:r>
              <a:rPr sz="1400" b="0">
                <a:solidFill>
                  <a:srgbClr val="0F172A"/>
                </a:solidFill>
                <a:latin typeface="Segoe UI"/>
              </a:rPr>
              <a:t>• Box prompt: pasar box=[x1,y1,x2,y2]; útil después de YOLO.</a:t>
            </a:r>
          </a:p>
          <a:p>
            <a:pPr>
              <a:spcAft>
                <a:spcPts val="800"/>
              </a:spcAft>
              <a:defRPr sz="1400" b="0">
                <a:solidFill>
                  <a:srgbClr val="0F172A"/>
                </a:solidFill>
                <a:latin typeface="Segoe UI"/>
              </a:defRPr>
            </a:pPr>
            <a:r>
              <a:rPr sz="1400" b="0">
                <a:solidFill>
                  <a:srgbClr val="0F172A"/>
                </a:solidFill>
                <a:latin typeface="Segoe UI"/>
              </a:rPr>
              <a:t>• Everything mode: SamAutomaticMaskGenerator(sam).generate(img) → lista de masks.</a:t>
            </a:r>
          </a:p>
          <a:p>
            <a:pPr>
              <a:spcAft>
                <a:spcPts val="800"/>
              </a:spcAft>
              <a:defRPr sz="1400" b="0">
                <a:solidFill>
                  <a:srgbClr val="0F172A"/>
                </a:solidFill>
                <a:latin typeface="Segoe UI"/>
              </a:defRPr>
            </a:pPr>
            <a:r>
              <a:rPr sz="1400" b="0">
                <a:solidFill>
                  <a:srgbClr val="0F172A"/>
                </a:solidFill>
                <a:latin typeface="Segoe UI"/>
              </a:rPr>
              <a:t>• SAM 2 video tracking: tomar un punto en frame 0, propagar a través del video.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YOLOv11 detecta objects → boxes.</a:t>
            </a:r>
          </a:p>
          <a:p>
            <a:pPr>
              <a:spcAft>
                <a:spcPts val="800"/>
              </a:spcAft>
              <a:defRPr sz="1500" b="0">
                <a:solidFill>
                  <a:srgbClr val="0F172A"/>
                </a:solidFill>
                <a:latin typeface="Segoe UI"/>
              </a:defRPr>
            </a:pPr>
            <a:r>
              <a:rPr sz="1500" b="0">
                <a:solidFill>
                  <a:srgbClr val="0F172A"/>
                </a:solidFill>
                <a:latin typeface="Segoe UI"/>
              </a:rPr>
              <a:t>• Para cada box, SAM produce máscara precisa.</a:t>
            </a:r>
          </a:p>
          <a:p>
            <a:pPr>
              <a:spcAft>
                <a:spcPts val="800"/>
              </a:spcAft>
              <a:defRPr sz="1500" b="0">
                <a:solidFill>
                  <a:srgbClr val="0F172A"/>
                </a:solidFill>
                <a:latin typeface="Segoe UI"/>
              </a:defRPr>
            </a:pPr>
            <a:r>
              <a:rPr sz="1500" b="0">
                <a:solidFill>
                  <a:srgbClr val="0F172A"/>
                </a:solidFill>
                <a:latin typeface="Segoe UI"/>
              </a:rPr>
              <a:t>• Visualizar overlay sobre imagen.</a:t>
            </a:r>
          </a:p>
          <a:p>
            <a:pPr>
              <a:spcAft>
                <a:spcPts val="800"/>
              </a:spcAft>
              <a:defRPr sz="1500" b="0">
                <a:solidFill>
                  <a:srgbClr val="0F172A"/>
                </a:solidFill>
                <a:latin typeface="Segoe UI"/>
              </a:defRPr>
            </a:pPr>
            <a:r>
              <a:rPr sz="1500" b="0">
                <a:solidFill>
                  <a:srgbClr val="0F172A"/>
                </a:solidFill>
                <a:latin typeface="Segoe UI"/>
              </a:rPr>
              <a:t>• Reportar tiempo por imagen.</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134 — YOLOv11 práctico: detección, segmentación, pose, tracking</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134 — YOLOv11 práctico: detección, segmentación, pose, tracking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Ultralytics YOLOv11 docs.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YOLOv11 (Ultralytics, 2024) — el detector default industrial 2026: inference real-time, fine-tuning sencillo, export a ONNX/TensorRT/CoreML/TFLite con un kwarg. Cubrir las 4 tareas: detection, segmentation, pose estimation, oriented bounding boxes (OBB).</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Inferir con un modelo COCO-pretrained: YOLO('yolo11n.pt')(img).</a:t>
            </a:r>
          </a:p>
          <a:p>
            <a:pPr>
              <a:spcAft>
                <a:spcPts val="800"/>
              </a:spcAft>
              <a:defRPr sz="1400" b="0">
                <a:solidFill>
                  <a:srgbClr val="0F172A"/>
                </a:solidFill>
                <a:latin typeface="Segoe UI"/>
              </a:defRPr>
            </a:pPr>
            <a:r>
              <a:rPr sz="1400" b="0">
                <a:solidFill>
                  <a:srgbClr val="0F172A"/>
                </a:solidFill>
                <a:latin typeface="Segoe UI"/>
              </a:rPr>
              <a:t>• Fine-tunear con dataset propio en formato YOLO (txt por imagen).</a:t>
            </a:r>
          </a:p>
          <a:p>
            <a:pPr>
              <a:spcAft>
                <a:spcPts val="800"/>
              </a:spcAft>
              <a:defRPr sz="1400" b="0">
                <a:solidFill>
                  <a:srgbClr val="0F172A"/>
                </a:solidFill>
                <a:latin typeface="Segoe UI"/>
              </a:defRPr>
            </a:pPr>
            <a:r>
              <a:rPr sz="1400" b="0">
                <a:solidFill>
                  <a:srgbClr val="0F172A"/>
                </a:solidFill>
                <a:latin typeface="Segoe UI"/>
              </a:rPr>
              <a:t>• Aplicar las 4 tareas: detection (yolo11n.pt), segmentation (yolo11n-seg.pt), pose (yolo11n-pose.pt), OBB (yolo11n-obb.pt).</a:t>
            </a:r>
          </a:p>
          <a:p>
            <a:pPr>
              <a:spcAft>
                <a:spcPts val="800"/>
              </a:spcAft>
              <a:defRPr sz="1400" b="0">
                <a:solidFill>
                  <a:srgbClr val="0F172A"/>
                </a:solidFill>
                <a:latin typeface="Segoe UI"/>
              </a:defRPr>
            </a:pPr>
            <a:r>
              <a:rPr sz="1400" b="0">
                <a:solidFill>
                  <a:srgbClr val="0F172A"/>
                </a:solidFill>
                <a:latin typeface="Segoe UI"/>
              </a:rPr>
              <a:t>• Tracking de objetos en video con ByteTrack / BoT-SORT integrado.</a:t>
            </a:r>
          </a:p>
          <a:p>
            <a:pPr>
              <a:spcAft>
                <a:spcPts val="800"/>
              </a:spcAft>
              <a:defRPr sz="1400" b="0">
                <a:solidFill>
                  <a:srgbClr val="0F172A"/>
                </a:solidFill>
                <a:latin typeface="Segoe UI"/>
              </a:defRPr>
            </a:pPr>
            <a:r>
              <a:rPr sz="1400" b="0">
                <a:solidFill>
                  <a:srgbClr val="0F172A"/>
                </a:solidFill>
                <a:latin typeface="Segoe UI"/>
              </a:rPr>
              <a:t>• Exportar a ONNX/TensorRT para deploy.</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134 — YOLOv11 práctico: detección, segmentación, pose, tracking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Modelos: n (nano), s, m, l, x. Trade-off speed vs accuracy.</a:t>
            </a:r>
          </a:p>
          <a:p>
            <a:pPr>
              <a:spcAft>
                <a:spcPts val="1000"/>
              </a:spcAft>
              <a:defRPr sz="1600" b="0">
                <a:solidFill>
                  <a:srgbClr val="0F172A"/>
                </a:solidFill>
                <a:latin typeface="Segoe UI"/>
              </a:defRPr>
            </a:pPr>
            <a:r>
              <a:rPr sz="1600" b="0">
                <a:solidFill>
                  <a:srgbClr val="0F172A"/>
                </a:solidFill>
                <a:latin typeface="Segoe UI"/>
              </a:rPr>
              <a:t>• Formato YOLO de anotación: class cx cy w h (normalizado).</a:t>
            </a:r>
          </a:p>
          <a:p>
            <a:pPr>
              <a:spcAft>
                <a:spcPts val="1000"/>
              </a:spcAft>
              <a:defRPr sz="1600" b="0">
                <a:solidFill>
                  <a:srgbClr val="0F172A"/>
                </a:solidFill>
                <a:latin typeface="Segoe UI"/>
              </a:defRPr>
            </a:pPr>
            <a:r>
              <a:rPr sz="1600" b="0">
                <a:solidFill>
                  <a:srgbClr val="0F172A"/>
                </a:solidFill>
                <a:latin typeface="Segoe UI"/>
              </a:rPr>
              <a:t>• dataset.yaml: paths + nombres de clases.</a:t>
            </a:r>
          </a:p>
          <a:p>
            <a:pPr>
              <a:spcAft>
                <a:spcPts val="1000"/>
              </a:spcAft>
              <a:defRPr sz="1600" b="0">
                <a:solidFill>
                  <a:srgbClr val="0F172A"/>
                </a:solidFill>
                <a:latin typeface="Segoe UI"/>
              </a:defRPr>
            </a:pPr>
            <a:r>
              <a:rPr sz="1600" b="0">
                <a:solidFill>
                  <a:srgbClr val="0F172A"/>
                </a:solidFill>
                <a:latin typeface="Segoe UI"/>
              </a:rPr>
              <a:t>• Fine-tuning: model.train(data='dataset.yaml', epochs=100, imgsz=640).</a:t>
            </a:r>
          </a:p>
          <a:p>
            <a:pPr>
              <a:spcAft>
                <a:spcPts val="1000"/>
              </a:spcAft>
              <a:defRPr sz="1600" b="0">
                <a:solidFill>
                  <a:srgbClr val="0F172A"/>
                </a:solidFill>
                <a:latin typeface="Segoe UI"/>
              </a:defRPr>
            </a:pPr>
            <a:r>
              <a:rPr sz="1600" b="0">
                <a:solidFill>
                  <a:srgbClr val="0F172A"/>
                </a:solidFill>
                <a:latin typeface="Segoe UI"/>
              </a:rPr>
              <a:t>• Modes: predict, val, train, export, benchmark.</a:t>
            </a:r>
          </a:p>
          <a:p>
            <a:pPr>
              <a:spcAft>
                <a:spcPts val="1000"/>
              </a:spcAft>
              <a:defRPr sz="1600" b="0">
                <a:solidFill>
                  <a:srgbClr val="0F172A"/>
                </a:solidFill>
                <a:latin typeface="Segoe UI"/>
              </a:defRPr>
            </a:pPr>
            <a:r>
              <a:rPr sz="1600" b="0">
                <a:solidFill>
                  <a:srgbClr val="0F172A"/>
                </a:solidFill>
                <a:latin typeface="Segoe UI"/>
              </a:rPr>
              <a:t>• Tracking integrado.</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134 — YOLOv11 práctico: detección, segmentación, pose, tracking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ultralytics descarga modelos ~6 MB (yolo11n) — funciona en CPU pero lento. Fallback: sliding-window + HOG features + SVM sklearn.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USE_YOLO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ultralytics import YOLO</a:t>
            </a:r>
          </a:p>
          <a:p>
            <a:pPr>
              <a:defRPr sz="1200" b="0">
                <a:solidFill>
                  <a:srgbClr val="F8FAFC"/>
                </a:solidFill>
                <a:latin typeface="Courier New"/>
              </a:defRPr>
            </a:pPr>
            <a:r>
              <a:rPr sz="1200" b="0">
                <a:solidFill>
                  <a:srgbClr val="F8FAFC"/>
                </a:solidFill>
                <a:latin typeface="Courier New"/>
              </a:rPr>
              <a:t>    USE_YOLO = True</a:t>
            </a:r>
          </a:p>
          <a:p>
            <a:pPr>
              <a:defRPr sz="1200" b="0">
                <a:solidFill>
                  <a:srgbClr val="F8FAFC"/>
                </a:solidFill>
                <a:latin typeface="Courier New"/>
              </a:defRPr>
            </a:pPr>
            <a:r>
              <a:rPr sz="1200" b="0">
                <a:solidFill>
                  <a:srgbClr val="F8FAFC"/>
                </a:solidFill>
                <a:latin typeface="Courier New"/>
              </a:rPr>
              <a:t>    print('ultralytics disponible')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print('YOLO no disponible. Fallback sliding-window HOG+SVM.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import matplotlib.patches as patches</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134 — YOLOv11 práctico: detección, segmentación, pose, tracking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Inference: model = YOLO('yolo11n.pt'); results = model('zidane.jpg'); results[0].show().</a:t>
            </a:r>
          </a:p>
          <a:p>
            <a:pPr>
              <a:spcAft>
                <a:spcPts val="800"/>
              </a:spcAft>
              <a:defRPr sz="1400" b="0">
                <a:solidFill>
                  <a:srgbClr val="0F172A"/>
                </a:solidFill>
                <a:latin typeface="Segoe UI"/>
              </a:defRPr>
            </a:pPr>
            <a:r>
              <a:rPr sz="1400" b="0">
                <a:solidFill>
                  <a:srgbClr val="0F172A"/>
                </a:solidFill>
                <a:latin typeface="Segoe UI"/>
              </a:rPr>
              <a:t>• Segmentation: YOLO('yolo11n-seg.pt').</a:t>
            </a:r>
          </a:p>
          <a:p>
            <a:pPr>
              <a:spcAft>
                <a:spcPts val="800"/>
              </a:spcAft>
              <a:defRPr sz="1400" b="0">
                <a:solidFill>
                  <a:srgbClr val="0F172A"/>
                </a:solidFill>
                <a:latin typeface="Segoe UI"/>
              </a:defRPr>
            </a:pPr>
            <a:r>
              <a:rPr sz="1400" b="0">
                <a:solidFill>
                  <a:srgbClr val="0F172A"/>
                </a:solidFill>
                <a:latin typeface="Segoe UI"/>
              </a:rPr>
              <a:t>• Pose: YOLO('yolo11n-pose.pt').</a:t>
            </a:r>
          </a:p>
          <a:p>
            <a:pPr>
              <a:spcAft>
                <a:spcPts val="800"/>
              </a:spcAft>
              <a:defRPr sz="1400" b="0">
                <a:solidFill>
                  <a:srgbClr val="0F172A"/>
                </a:solidFill>
                <a:latin typeface="Segoe UI"/>
              </a:defRPr>
            </a:pPr>
            <a:r>
              <a:rPr sz="1400" b="0">
                <a:solidFill>
                  <a:srgbClr val="0F172A"/>
                </a:solidFill>
                <a:latin typeface="Segoe UI"/>
              </a:rPr>
              <a:t>• Fine-tune: dataset propio (50-100 imágenes anotadas).</a:t>
            </a:r>
          </a:p>
          <a:p>
            <a:pPr>
              <a:spcAft>
                <a:spcPts val="800"/>
              </a:spcAft>
              <a:defRPr sz="1400" b="0">
                <a:solidFill>
                  <a:srgbClr val="0F172A"/>
                </a:solidFill>
                <a:latin typeface="Segoe UI"/>
              </a:defRPr>
            </a:pPr>
            <a:r>
              <a:rPr sz="1400" b="0">
                <a:solidFill>
                  <a:srgbClr val="0F172A"/>
                </a:solidFill>
                <a:latin typeface="Segoe UI"/>
              </a:rPr>
              <a:t>• Tracking: model.track('video.mp4', tracker='botsort.yaml').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Etiquetar ~100 imágenes con Roboflow / LabelImg → formato YOLO.</a:t>
            </a:r>
          </a:p>
          <a:p>
            <a:pPr>
              <a:spcAft>
                <a:spcPts val="800"/>
              </a:spcAft>
              <a:defRPr sz="1400" b="0">
                <a:solidFill>
                  <a:srgbClr val="0F172A"/>
                </a:solidFill>
                <a:latin typeface="Segoe UI"/>
              </a:defRPr>
            </a:pPr>
            <a:r>
              <a:rPr sz="1400" b="0">
                <a:solidFill>
                  <a:srgbClr val="0F172A"/>
                </a:solidFill>
                <a:latin typeface="Segoe UI"/>
              </a:rPr>
              <a:t>• dataset.yaml correcto.</a:t>
            </a:r>
          </a:p>
          <a:p>
            <a:pPr>
              <a:spcAft>
                <a:spcPts val="800"/>
              </a:spcAft>
              <a:defRPr sz="1400" b="0">
                <a:solidFill>
                  <a:srgbClr val="0F172A"/>
                </a:solidFill>
                <a:latin typeface="Segoe UI"/>
              </a:defRPr>
            </a:pPr>
            <a:r>
              <a:rPr sz="1400" b="0">
                <a:solidFill>
                  <a:srgbClr val="0F172A"/>
                </a:solidFill>
                <a:latin typeface="Segoe UI"/>
              </a:rPr>
              <a:t>• Train YOLOv11n por 100 épocas.</a:t>
            </a:r>
          </a:p>
          <a:p>
            <a:pPr>
              <a:spcAft>
                <a:spcPts val="800"/>
              </a:spcAft>
              <a:defRPr sz="1400" b="0">
                <a:solidFill>
                  <a:srgbClr val="0F172A"/>
                </a:solidFill>
                <a:latin typeface="Segoe UI"/>
              </a:defRPr>
            </a:pPr>
            <a:r>
              <a:rPr sz="1400" b="0">
                <a:solidFill>
                  <a:srgbClr val="0F172A"/>
                </a:solidFill>
                <a:latin typeface="Segoe UI"/>
              </a:rPr>
              <a:t>• Reportar mAP@0.5; visualizar 3 inferencias.</a:t>
            </a:r>
          </a:p>
          <a:p>
            <a:pPr>
              <a:spcAft>
                <a:spcPts val="800"/>
              </a:spcAft>
              <a:defRPr sz="1400" b="0">
                <a:solidFill>
                  <a:srgbClr val="0F172A"/>
                </a:solidFill>
                <a:latin typeface="Segoe UI"/>
              </a:defRPr>
            </a:pPr>
            <a:r>
              <a:rPr sz="1400" b="0">
                <a:solidFill>
                  <a:srgbClr val="0F172A"/>
                </a:solidFill>
                <a:latin typeface="Segoe UI"/>
              </a:rPr>
              <a:t>• Exportar a ONNX y verificar que predice igual.</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135 — RNNs: neuronas recurrentes, BPTT</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135 — RNNs: neuronas recurrentes, BPTT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15 § Recurrent Neurons and Layers.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las redes recurrentes (RNN) — la primera arquitectura para secuencias: misma celda aplicada en cada timestep, estado oculto h_t que acumula contexto, y BPTT (Backpropagation Through Time) que entrena estos modelos. Reconocer sus limitaciones (vanishing en secuencias largas) que motivaron LSTM (clase 120) y eventualmente Transformers.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ecuación h_t = tanh(W_h · h_{t-1} + W_x · x_t + b).</a:t>
            </a:r>
          </a:p>
          <a:p>
            <a:pPr>
              <a:spcAft>
                <a:spcPts val="800"/>
              </a:spcAft>
              <a:defRPr sz="1400" b="0">
                <a:solidFill>
                  <a:srgbClr val="0F172A"/>
                </a:solidFill>
                <a:latin typeface="Segoe UI"/>
              </a:defRPr>
            </a:pPr>
            <a:r>
              <a:rPr sz="1400" b="0">
                <a:solidFill>
                  <a:srgbClr val="0F172A"/>
                </a:solidFill>
                <a:latin typeface="Segoe UI"/>
              </a:rPr>
              <a:t>• Usar keras.layers.SimpleRNN(units=N, return_sequences=False|True).</a:t>
            </a:r>
          </a:p>
          <a:p>
            <a:pPr>
              <a:spcAft>
                <a:spcPts val="800"/>
              </a:spcAft>
              <a:defRPr sz="1400" b="0">
                <a:solidFill>
                  <a:srgbClr val="0F172A"/>
                </a:solidFill>
                <a:latin typeface="Segoe UI"/>
              </a:defRPr>
            </a:pPr>
            <a:r>
              <a:rPr sz="1400" b="0">
                <a:solidFill>
                  <a:srgbClr val="0F172A"/>
                </a:solidFill>
                <a:latin typeface="Segoe UI"/>
              </a:rPr>
              <a:t>• Diferenciar return_sequences=False (un único output al final) vs True (output por timestep).</a:t>
            </a:r>
          </a:p>
          <a:p>
            <a:pPr>
              <a:spcAft>
                <a:spcPts val="800"/>
              </a:spcAft>
              <a:defRPr sz="1400" b="0">
                <a:solidFill>
                  <a:srgbClr val="0F172A"/>
                </a:solidFill>
                <a:latin typeface="Segoe UI"/>
              </a:defRPr>
            </a:pPr>
            <a:r>
              <a:rPr sz="1400" b="0">
                <a:solidFill>
                  <a:srgbClr val="0F172A"/>
                </a:solidFill>
                <a:latin typeface="Segoe UI"/>
              </a:rPr>
              <a:t>• Implementar BPTT truncado (longitud máxima de window).</a:t>
            </a:r>
          </a:p>
          <a:p>
            <a:pPr>
              <a:spcAft>
                <a:spcPts val="800"/>
              </a:spcAft>
              <a:defRPr sz="1400" b="0">
                <a:solidFill>
                  <a:srgbClr val="0F172A"/>
                </a:solidFill>
                <a:latin typeface="Segoe UI"/>
              </a:defRPr>
            </a:pPr>
            <a:r>
              <a:rPr sz="1400" b="0">
                <a:solidFill>
                  <a:srgbClr val="0F172A"/>
                </a:solidFill>
                <a:latin typeface="Segoe UI"/>
              </a:rPr>
              <a:t>• Reconocer cuándo una RNN simple es suficiente (secuencias cortas, &lt; 20 pasos) y cuándo necesitás LSTM/Transformer.</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135 — RNNs: neuronas recurrentes, BPTT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Estado oculto h_t como memoria.</a:t>
            </a:r>
          </a:p>
          <a:p>
            <a:pPr>
              <a:spcAft>
                <a:spcPts val="1000"/>
              </a:spcAft>
              <a:defRPr sz="1600" b="0">
                <a:solidFill>
                  <a:srgbClr val="0F172A"/>
                </a:solidFill>
                <a:latin typeface="Segoe UI"/>
              </a:defRPr>
            </a:pPr>
            <a:r>
              <a:rPr sz="1600" b="0">
                <a:solidFill>
                  <a:srgbClr val="0F172A"/>
                </a:solidFill>
                <a:latin typeface="Segoe UI"/>
              </a:rPr>
              <a:t>• Unfolding: la RNN como red feedforward muy profunda en el tiempo.</a:t>
            </a:r>
          </a:p>
          <a:p>
            <a:pPr>
              <a:spcAft>
                <a:spcPts val="1000"/>
              </a:spcAft>
              <a:defRPr sz="1600" b="0">
                <a:solidFill>
                  <a:srgbClr val="0F172A"/>
                </a:solidFill>
                <a:latin typeface="Segoe UI"/>
              </a:defRPr>
            </a:pPr>
            <a:r>
              <a:rPr sz="1600" b="0">
                <a:solidFill>
                  <a:srgbClr val="0F172A"/>
                </a:solidFill>
                <a:latin typeface="Segoe UI"/>
              </a:rPr>
              <a:t>• BPTT: gradientes a través de cada paso temporal.</a:t>
            </a:r>
          </a:p>
          <a:p>
            <a:pPr>
              <a:spcAft>
                <a:spcPts val="1000"/>
              </a:spcAft>
              <a:defRPr sz="1600" b="0">
                <a:solidFill>
                  <a:srgbClr val="0F172A"/>
                </a:solidFill>
                <a:latin typeface="Segoe UI"/>
              </a:defRPr>
            </a:pPr>
            <a:r>
              <a:rPr sz="1600" b="0">
                <a:solidFill>
                  <a:srgbClr val="0F172A"/>
                </a:solidFill>
                <a:latin typeface="Segoe UI"/>
              </a:rPr>
              <a:t>• Vanishing/exploding en secuencias largas (compounding multiplicativo).</a:t>
            </a:r>
          </a:p>
          <a:p>
            <a:pPr>
              <a:spcAft>
                <a:spcPts val="1000"/>
              </a:spcAft>
              <a:defRPr sz="1600" b="0">
                <a:solidFill>
                  <a:srgbClr val="0F172A"/>
                </a:solidFill>
                <a:latin typeface="Segoe UI"/>
              </a:defRPr>
            </a:pPr>
            <a:r>
              <a:rPr sz="1600" b="0">
                <a:solidFill>
                  <a:srgbClr val="0F172A"/>
                </a:solidFill>
                <a:latin typeface="Segoe UI"/>
              </a:rPr>
              <a:t>• BPTT truncado.</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135 — RNNs: neuronas recurrentes, BPTT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h_t = tanh(W_x·x_t + W_h·h_{t-1} + b) — misma celda en cada paso</a:t>
            </a:r>
          </a:p>
          <a:p>
            <a:pPr>
              <a:defRPr sz="1200" b="0">
                <a:solidFill>
                  <a:srgbClr val="F8FAFC"/>
                </a:solidFill>
                <a:latin typeface="Courier New"/>
              </a:defRPr>
            </a:pPr>
            <a:r>
              <a:rPr sz="1200" b="0">
                <a:solidFill>
                  <a:srgbClr val="F8FAFC"/>
                </a:solidFill>
                <a:latin typeface="Courier New"/>
              </a:rPr>
              <a:t>T, n_x, n_h = 5, 3, 4</a:t>
            </a:r>
          </a:p>
          <a:p>
            <a:pPr>
              <a:defRPr sz="1200" b="0">
                <a:solidFill>
                  <a:srgbClr val="F8FAFC"/>
                </a:solidFill>
                <a:latin typeface="Courier New"/>
              </a:defRPr>
            </a:pPr>
            <a:r>
              <a:rPr sz="1200" b="0">
                <a:solidFill>
                  <a:srgbClr val="F8FAFC"/>
                </a:solidFill>
                <a:latin typeface="Courier New"/>
              </a:rPr>
              <a:t>Wx = rng.standard_normal((n_h, n_x)) * 0.1</a:t>
            </a:r>
          </a:p>
          <a:p>
            <a:pPr>
              <a:defRPr sz="1200" b="0">
                <a:solidFill>
                  <a:srgbClr val="F8FAFC"/>
                </a:solidFill>
                <a:latin typeface="Courier New"/>
              </a:defRPr>
            </a:pPr>
            <a:r>
              <a:rPr sz="1200" b="0">
                <a:solidFill>
                  <a:srgbClr val="F8FAFC"/>
                </a:solidFill>
                <a:latin typeface="Courier New"/>
              </a:rPr>
              <a:t>Wh = rng.standard_normal((n_h, n_h)) * 0.1</a:t>
            </a:r>
          </a:p>
          <a:p>
            <a:pPr>
              <a:defRPr sz="1200" b="0">
                <a:solidFill>
                  <a:srgbClr val="F8FAFC"/>
                </a:solidFill>
                <a:latin typeface="Courier New"/>
              </a:defRPr>
            </a:pPr>
            <a:r>
              <a:rPr sz="1200" b="0">
                <a:solidFill>
                  <a:srgbClr val="F8FAFC"/>
                </a:solidFill>
                <a:latin typeface="Courier New"/>
              </a:rPr>
              <a:t>b = np.zeros(n_h)</a:t>
            </a:r>
          </a:p>
          <a:p>
            <a:pPr>
              <a:defRPr sz="1200" b="0">
                <a:solidFill>
                  <a:srgbClr val="F8FAFC"/>
                </a:solidFill>
                <a:latin typeface="Courier New"/>
              </a:defRPr>
            </a:pPr>
            <a:r>
              <a:rPr sz="1200" b="0">
                <a:solidFill>
                  <a:srgbClr val="F8FAFC"/>
                </a:solidFill>
                <a:latin typeface="Courier New"/>
              </a:rPr>
              <a:t>xs = rng.standard_normal((T, n_x))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h = np.zeros(n_h)</a:t>
            </a:r>
          </a:p>
          <a:p>
            <a:pPr>
              <a:defRPr sz="1200" b="0">
                <a:solidFill>
                  <a:srgbClr val="F8FAFC"/>
                </a:solidFill>
                <a:latin typeface="Courier New"/>
              </a:defRPr>
            </a:pPr>
            <a:r>
              <a:rPr sz="1200" b="0">
                <a:solidFill>
                  <a:srgbClr val="F8FAFC"/>
                </a:solidFill>
                <a:latin typeface="Courier New"/>
              </a:rPr>
              <a:t>H = []</a:t>
            </a:r>
          </a:p>
          <a:p>
            <a:pPr>
              <a:defRPr sz="1200" b="0">
                <a:solidFill>
                  <a:srgbClr val="F8FAFC"/>
                </a:solidFill>
                <a:latin typeface="Courier New"/>
              </a:defRPr>
            </a:pPr>
            <a:r>
              <a:rPr sz="1200" b="0">
                <a:solidFill>
                  <a:srgbClr val="F8FAFC"/>
                </a:solidFill>
                <a:latin typeface="Courier New"/>
              </a:rPr>
              <a:t>for t in range(T):</a:t>
            </a:r>
          </a:p>
          <a:p>
            <a:pPr>
              <a:defRPr sz="1200" b="0">
                <a:solidFill>
                  <a:srgbClr val="F8FAFC"/>
                </a:solidFill>
                <a:latin typeface="Courier New"/>
              </a:defRPr>
            </a:pPr>
            <a:r>
              <a:rPr sz="1200" b="0">
                <a:solidFill>
                  <a:srgbClr val="F8FAFC"/>
                </a:solidFill>
                <a:latin typeface="Courier New"/>
              </a:rPr>
              <a:t>    h = np.tanh(Wx @ xs[t] + Wh @ h + b)   # el estado se realimenta</a:t>
            </a:r>
          </a:p>
          <a:p>
            <a:pPr>
              <a:defRPr sz="1200" b="0">
                <a:solidFill>
                  <a:srgbClr val="F8FAFC"/>
                </a:solidFill>
                <a:latin typeface="Courier New"/>
              </a:defRPr>
            </a:pPr>
            <a:r>
              <a:rPr sz="1200" b="0">
                <a:solidFill>
                  <a:srgbClr val="F8FAFC"/>
                </a:solidFill>
                <a:latin typeface="Courier New"/>
              </a:rPr>
              <a:t>    H.append(h)</a:t>
            </a:r>
          </a:p>
          <a:p>
            <a:pPr>
              <a:defRPr sz="1200" b="0">
                <a:solidFill>
                  <a:srgbClr val="F8FAFC"/>
                </a:solidFill>
                <a:latin typeface="Courier New"/>
              </a:defRPr>
            </a:pPr>
            <a:r>
              <a:rPr sz="1200" b="0">
                <a:solidFill>
                  <a:srgbClr val="F8FAFC"/>
                </a:solidFill>
                <a:latin typeface="Courier New"/>
              </a:rPr>
              <a:t>H = np.stack(H)</a:t>
            </a:r>
          </a:p>
          <a:p>
            <a:pPr>
              <a:defRPr sz="1200" b="0">
                <a:solidFill>
                  <a:srgbClr val="F8FAFC"/>
                </a:solidFill>
                <a:latin typeface="Courier New"/>
              </a:defRPr>
            </a:pPr>
            <a:r>
              <a:rPr sz="1200" b="0">
                <a:solidFill>
                  <a:srgbClr val="F8FAFC"/>
                </a:solidFill>
                <a:latin typeface="Courier New"/>
              </a:rPr>
              <a:t>print("estados h_t:", H.shape)             # (T, n_h)</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135 — RNNs: neuronas recurrentes, BPTT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SimpleRNN básico: predecir el siguiente valor de sin(t).</a:t>
            </a:r>
          </a:p>
          <a:p>
            <a:pPr>
              <a:spcAft>
                <a:spcPts val="800"/>
              </a:spcAft>
              <a:defRPr sz="1400" b="0">
                <a:solidFill>
                  <a:srgbClr val="0F172A"/>
                </a:solidFill>
                <a:latin typeface="Segoe UI"/>
              </a:defRPr>
            </a:pPr>
            <a:r>
              <a:rPr sz="1400" b="0">
                <a:solidFill>
                  <a:srgbClr val="0F172A"/>
                </a:solidFill>
                <a:latin typeface="Segoe UI"/>
              </a:rPr>
              <a:t>• return_sequences=True: apilar 2 RNN, primera con return_sequences=True, segunda sin.</a:t>
            </a:r>
          </a:p>
          <a:p>
            <a:pPr>
              <a:spcAft>
                <a:spcPts val="800"/>
              </a:spcAft>
              <a:defRPr sz="1400" b="0">
                <a:solidFill>
                  <a:srgbClr val="0F172A"/>
                </a:solidFill>
                <a:latin typeface="Segoe UI"/>
              </a:defRPr>
            </a:pPr>
            <a:r>
              <a:rPr sz="1400" b="0">
                <a:solidFill>
                  <a:srgbClr val="0F172A"/>
                </a:solidFill>
                <a:latin typeface="Segoe UI"/>
              </a:rPr>
              <a:t>• Predicción de N pasos adelante: iterar prediciendo, alimentando la predicción anterior como nuevo input.</a:t>
            </a:r>
          </a:p>
          <a:p>
            <a:pPr>
              <a:spcAft>
                <a:spcPts val="800"/>
              </a:spcAft>
              <a:defRPr sz="1400" b="0">
                <a:solidFill>
                  <a:srgbClr val="0F172A"/>
                </a:solidFill>
                <a:latin typeface="Segoe UI"/>
              </a:defRPr>
            </a:pPr>
            <a:r>
              <a:rPr sz="1400" b="0">
                <a:solidFill>
                  <a:srgbClr val="0F172A"/>
                </a:solidFill>
                <a:latin typeface="Segoe UI"/>
              </a:rPr>
              <a:t>• BPTT truncado: con secuencia de 200 pasos, comparar BPTT completo vs truncado a 20.</a:t>
            </a:r>
          </a:p>
          <a:p>
            <a:pPr>
              <a:spcAft>
                <a:spcPts val="800"/>
              </a:spcAft>
              <a:defRPr sz="1400" b="0">
                <a:solidFill>
                  <a:srgbClr val="0F172A"/>
                </a:solidFill>
                <a:latin typeface="Segoe UI"/>
              </a:defRPr>
            </a:pPr>
            <a:r>
              <a:rPr sz="1400" b="0">
                <a:solidFill>
                  <a:srgbClr val="0F172A"/>
                </a:solidFill>
                <a:latin typeface="Segoe UI"/>
              </a:rPr>
              <a:t>• Vanishing demo: usar SimpleRNN con secuencias de 100 pasos.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Generar 5 000 pasos de sin(0.01·t) + N(0, 0.05).</a:t>
            </a:r>
          </a:p>
          <a:p>
            <a:pPr>
              <a:spcAft>
                <a:spcPts val="800"/>
              </a:spcAft>
              <a:defRPr sz="1500" b="0">
                <a:solidFill>
                  <a:srgbClr val="0F172A"/>
                </a:solidFill>
                <a:latin typeface="Segoe UI"/>
              </a:defRPr>
            </a:pPr>
            <a:r>
              <a:rPr sz="1500" b="0">
                <a:solidFill>
                  <a:srgbClr val="0F172A"/>
                </a:solidFill>
                <a:latin typeface="Segoe UI"/>
              </a:rPr>
              <a:t>• Construir samples de longitud 50 → predecir el paso 51.</a:t>
            </a:r>
          </a:p>
          <a:p>
            <a:pPr>
              <a:spcAft>
                <a:spcPts val="800"/>
              </a:spcAft>
              <a:defRPr sz="1500" b="0">
                <a:solidFill>
                  <a:srgbClr val="0F172A"/>
                </a:solidFill>
                <a:latin typeface="Segoe UI"/>
              </a:defRPr>
            </a:pPr>
            <a:r>
              <a:rPr sz="1500" b="0">
                <a:solidFill>
                  <a:srgbClr val="0F172A"/>
                </a:solidFill>
                <a:latin typeface="Segoe UI"/>
              </a:rPr>
              <a:t>• SimpleRNN [20] + Dense(1).</a:t>
            </a:r>
          </a:p>
          <a:p>
            <a:pPr>
              <a:spcAft>
                <a:spcPts val="800"/>
              </a:spcAft>
              <a:defRPr sz="1500" b="0">
                <a:solidFill>
                  <a:srgbClr val="0F172A"/>
                </a:solidFill>
                <a:latin typeface="Segoe UI"/>
              </a:defRPr>
            </a:pPr>
            <a:r>
              <a:rPr sz="1500" b="0">
                <a:solidFill>
                  <a:srgbClr val="0F172A"/>
                </a:solidFill>
                <a:latin typeface="Segoe UI"/>
              </a:rPr>
              <a:t>• Evaluar MAE en test y graficar predicción vs realidad.</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136 — Forecasting de series con RNN</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136 — Forecasting de series con RNN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15 § Forecasting a Time Series.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RNN/LSTM/GRU a un problema real de forecasting de series temporales. Hacer split temporal (NO aleatorio), preparar windows, comparar contra baselines (naive, MA, ARIMA), y reportar métricas estándar (MAE, MAPE, RMSE).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Hacer split temporal (train: período antiguo, val/test: período más reciente).</a:t>
            </a:r>
          </a:p>
          <a:p>
            <a:pPr>
              <a:spcAft>
                <a:spcPts val="800"/>
              </a:spcAft>
              <a:defRPr sz="1400" b="0">
                <a:solidFill>
                  <a:srgbClr val="0F172A"/>
                </a:solidFill>
                <a:latin typeface="Segoe UI"/>
              </a:defRPr>
            </a:pPr>
            <a:r>
              <a:rPr sz="1400" b="0">
                <a:solidFill>
                  <a:srgbClr val="0F172A"/>
                </a:solidFill>
                <a:latin typeface="Segoe UI"/>
              </a:rPr>
              <a:t>• Construir samples de longitud T con tf.keras.utils.timeseries_dataset_from_array.</a:t>
            </a:r>
          </a:p>
          <a:p>
            <a:pPr>
              <a:spcAft>
                <a:spcPts val="800"/>
              </a:spcAft>
              <a:defRPr sz="1400" b="0">
                <a:solidFill>
                  <a:srgbClr val="0F172A"/>
                </a:solidFill>
                <a:latin typeface="Segoe UI"/>
              </a:defRPr>
            </a:pPr>
            <a:r>
              <a:rPr sz="1400" b="0">
                <a:solidFill>
                  <a:srgbClr val="0F172A"/>
                </a:solidFill>
                <a:latin typeface="Segoe UI"/>
              </a:rPr>
              <a:t>• Comparar contra el baseline naïve (ŷ_t = y_{t-1}) y media móvil.</a:t>
            </a:r>
          </a:p>
          <a:p>
            <a:pPr>
              <a:spcAft>
                <a:spcPts val="800"/>
              </a:spcAft>
              <a:defRPr sz="1400" b="0">
                <a:solidFill>
                  <a:srgbClr val="0F172A"/>
                </a:solidFill>
                <a:latin typeface="Segoe UI"/>
              </a:defRPr>
            </a:pPr>
            <a:r>
              <a:rPr sz="1400" b="0">
                <a:solidFill>
                  <a:srgbClr val="0F172A"/>
                </a:solidFill>
                <a:latin typeface="Segoe UI"/>
              </a:rPr>
              <a:t>• Reportar MAE, MAPE, RMSE.</a:t>
            </a:r>
          </a:p>
          <a:p>
            <a:pPr>
              <a:spcAft>
                <a:spcPts val="800"/>
              </a:spcAft>
              <a:defRPr sz="1400" b="0">
                <a:solidFill>
                  <a:srgbClr val="0F172A"/>
                </a:solidFill>
                <a:latin typeface="Segoe UI"/>
              </a:defRPr>
            </a:pPr>
            <a:r>
              <a:rPr sz="1400" b="0">
                <a:solidFill>
                  <a:srgbClr val="0F172A"/>
                </a:solidFill>
                <a:latin typeface="Segoe UI"/>
              </a:rPr>
              <a:t>• Reconocer cuándo Deep Learning es mejor que ARIMA / Prophet / XGBoost para series.</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136 — Forecasting de series con RNN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Split temporal estricto (no shuffle).</a:t>
            </a:r>
          </a:p>
          <a:p>
            <a:pPr>
              <a:spcAft>
                <a:spcPts val="1000"/>
              </a:spcAft>
              <a:defRPr sz="1600" b="0">
                <a:solidFill>
                  <a:srgbClr val="0F172A"/>
                </a:solidFill>
                <a:latin typeface="Segoe UI"/>
              </a:defRPr>
            </a:pPr>
            <a:r>
              <a:rPr sz="1600" b="0">
                <a:solidFill>
                  <a:srgbClr val="0F172A"/>
                </a:solidFill>
                <a:latin typeface="Segoe UI"/>
              </a:rPr>
              <a:t>• Stationarity / diferenciación.</a:t>
            </a:r>
          </a:p>
          <a:p>
            <a:pPr>
              <a:spcAft>
                <a:spcPts val="1000"/>
              </a:spcAft>
              <a:defRPr sz="1600" b="0">
                <a:solidFill>
                  <a:srgbClr val="0F172A"/>
                </a:solidFill>
                <a:latin typeface="Segoe UI"/>
              </a:defRPr>
            </a:pPr>
            <a:r>
              <a:rPr sz="1600" b="0">
                <a:solidFill>
                  <a:srgbClr val="0F172A"/>
                </a:solidFill>
                <a:latin typeface="Segoe UI"/>
              </a:rPr>
              <a:t>• Baseline naïve y por qué siempre comparar contra él.</a:t>
            </a:r>
          </a:p>
          <a:p>
            <a:pPr>
              <a:spcAft>
                <a:spcPts val="1000"/>
              </a:spcAft>
              <a:defRPr sz="1600" b="0">
                <a:solidFill>
                  <a:srgbClr val="0F172A"/>
                </a:solidFill>
                <a:latin typeface="Segoe UI"/>
              </a:defRPr>
            </a:pPr>
            <a:r>
              <a:rPr sz="1600" b="0">
                <a:solidFill>
                  <a:srgbClr val="0F172A"/>
                </a:solidFill>
                <a:latin typeface="Segoe UI"/>
              </a:rPr>
              <a:t>• Windowing: cómo elegir tamaño de window (T) y horizonte.</a:t>
            </a:r>
          </a:p>
          <a:p>
            <a:pPr>
              <a:spcAft>
                <a:spcPts val="1000"/>
              </a:spcAft>
              <a:defRPr sz="1600" b="0">
                <a:solidFill>
                  <a:srgbClr val="0F172A"/>
                </a:solidFill>
                <a:latin typeface="Segoe UI"/>
              </a:defRPr>
            </a:pPr>
            <a:r>
              <a:rPr sz="1600" b="0">
                <a:solidFill>
                  <a:srgbClr val="0F172A"/>
                </a:solidFill>
                <a:latin typeface="Segoe UI"/>
              </a:rPr>
              <a:t>• Forecasting multi-step: directo vs recursivo vs seq2seq.</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136 — Forecasting de series con RNN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r = np.random.default_rng(42)</a:t>
            </a:r>
          </a:p>
          <a:p>
            <a:pPr>
              <a:defRPr sz="1200" b="0">
                <a:solidFill>
                  <a:srgbClr val="F8FAFC"/>
                </a:solidFill>
                <a:latin typeface="Courier New"/>
              </a:defRPr>
            </a:pPr>
            <a:r>
              <a:rPr sz="1200" b="0">
                <a:solidFill>
                  <a:srgbClr val="F8FAFC"/>
                </a:solidFill>
                <a:latin typeface="Courier New"/>
              </a:rPr>
              <a:t>t = np.arange(2000)</a:t>
            </a:r>
          </a:p>
          <a:p>
            <a:pPr>
              <a:defRPr sz="1200" b="0">
                <a:solidFill>
                  <a:srgbClr val="F8FAFC"/>
                </a:solidFill>
                <a:latin typeface="Courier New"/>
              </a:defRPr>
            </a:pPr>
            <a:r>
              <a:rPr sz="1200" b="0">
                <a:solidFill>
                  <a:srgbClr val="F8FAFC"/>
                </a:solidFill>
                <a:latin typeface="Courier New"/>
              </a:rPr>
              <a:t>serie = (np.sin(2 * np.pi * t / 50) + 0.3 * np.sin(2 * np.pi * t / 13)</a:t>
            </a:r>
          </a:p>
          <a:p>
            <a:pPr>
              <a:defRPr sz="1200" b="0">
                <a:solidFill>
                  <a:srgbClr val="F8FAFC"/>
                </a:solidFill>
                <a:latin typeface="Courier New"/>
              </a:defRPr>
            </a:pPr>
            <a:r>
              <a:rPr sz="1200" b="0">
                <a:solidFill>
                  <a:srgbClr val="F8FAFC"/>
                </a:solidFill>
                <a:latin typeface="Courier New"/>
              </a:rPr>
              <a:t>         + r.normal(0, 0.1, t.size)).astype("float32")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 len(serie)</a:t>
            </a:r>
          </a:p>
          <a:p>
            <a:pPr>
              <a:defRPr sz="1200" b="0">
                <a:solidFill>
                  <a:srgbClr val="F8FAFC"/>
                </a:solidFill>
                <a:latin typeface="Courier New"/>
              </a:defRPr>
            </a:pPr>
            <a:r>
              <a:rPr sz="1200" b="0">
                <a:solidFill>
                  <a:srgbClr val="F8FAFC"/>
                </a:solidFill>
                <a:latin typeface="Courier New"/>
              </a:rPr>
              <a:t>tr_end, val_end = int(n * 0.7), int(n * 0.85)</a:t>
            </a:r>
          </a:p>
          <a:p>
            <a:pPr>
              <a:defRPr sz="1200" b="0">
                <a:solidFill>
                  <a:srgbClr val="F8FAFC"/>
                </a:solidFill>
                <a:latin typeface="Courier New"/>
              </a:defRPr>
            </a:pPr>
            <a:r>
              <a:rPr sz="1200" b="0">
                <a:solidFill>
                  <a:srgbClr val="F8FAFC"/>
                </a:solidFill>
                <a:latin typeface="Courier New"/>
              </a:rPr>
              <a:t>train, val, test = serie[:tr_end], serie[tr_end:val_end], serie[val_end:]  # 70/15/15 temporal</a:t>
            </a:r>
          </a:p>
          <a:p>
            <a:pPr>
              <a:defRPr sz="1200" b="0">
                <a:solidFill>
                  <a:srgbClr val="F8FAFC"/>
                </a:solidFill>
                <a:latin typeface="Courier New"/>
              </a:defRPr>
            </a:pPr>
            <a:r>
              <a:rPr sz="1200" b="0">
                <a:solidFill>
                  <a:srgbClr val="F8FAFC"/>
                </a:solidFill>
                <a:latin typeface="Courier New"/>
              </a:rPr>
              <a:t>mu, sigma = train.mean(), train.std()          # stats SOLO de train (sin leakage)</a:t>
            </a:r>
          </a:p>
          <a:p>
            <a:pPr>
              <a:defRPr sz="1200" b="0">
                <a:solidFill>
                  <a:srgbClr val="F8FAFC"/>
                </a:solidFill>
                <a:latin typeface="Courier New"/>
              </a:defRPr>
            </a:pPr>
            <a:r>
              <a:rPr sz="1200" b="0">
                <a:solidFill>
                  <a:srgbClr val="F8FAFC"/>
                </a:solidFill>
                <a:latin typeface="Courier New"/>
              </a:rPr>
              <a:t>train_n = (train - mu) / sigma</a:t>
            </a:r>
          </a:p>
          <a:p>
            <a:pPr>
              <a:defRPr sz="1200" b="0">
                <a:solidFill>
                  <a:srgbClr val="F8FAFC"/>
                </a:solidFill>
                <a:latin typeface="Courier New"/>
              </a:defRPr>
            </a:pPr>
            <a:r>
              <a:rPr sz="1200" b="0">
                <a:solidFill>
                  <a:srgbClr val="F8FAFC"/>
                </a:solidFill>
                <a:latin typeface="Courier New"/>
              </a:rPr>
              <a:t>val_n = (val - mu) / sigma</a:t>
            </a:r>
          </a:p>
          <a:p>
            <a:pPr>
              <a:defRPr sz="1200" b="0">
                <a:solidFill>
                  <a:srgbClr val="F8FAFC"/>
                </a:solidFill>
                <a:latin typeface="Courier New"/>
              </a:defRPr>
            </a:pPr>
            <a:r>
              <a:rPr sz="1200" b="0">
                <a:solidFill>
                  <a:srgbClr val="F8FAFC"/>
                </a:solidFill>
                <a:latin typeface="Courier New"/>
              </a:rPr>
              <a:t>test_n = (test - mu) / sigma</a:t>
            </a:r>
          </a:p>
          <a:p>
            <a:pPr>
              <a:defRPr sz="1200" b="0">
                <a:solidFill>
                  <a:srgbClr val="F8FAFC"/>
                </a:solidFill>
                <a:latin typeface="Courier New"/>
              </a:defRPr>
            </a:pPr>
            <a:r>
              <a:rPr sz="1200" b="0">
                <a:solidFill>
                  <a:srgbClr val="F8FAFC"/>
                </a:solidFill>
                <a:latin typeface="Courier New"/>
              </a:rPr>
              <a:t>print("tamaños:", train.shape, val.shape, test.shape)</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136 — Forecasting de series con RNN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Split temporal: separar primer 70 % train, 15 % val, último 15 % test.</a:t>
            </a:r>
          </a:p>
          <a:p>
            <a:pPr>
              <a:spcAft>
                <a:spcPts val="800"/>
              </a:spcAft>
              <a:defRPr sz="1400" b="0">
                <a:solidFill>
                  <a:srgbClr val="0F172A"/>
                </a:solidFill>
                <a:latin typeface="Segoe UI"/>
              </a:defRPr>
            </a:pPr>
            <a:r>
              <a:rPr sz="1400" b="0">
                <a:solidFill>
                  <a:srgbClr val="0F172A"/>
                </a:solidFill>
                <a:latin typeface="Segoe UI"/>
              </a:rPr>
              <a:t>• Baseline naïve: y_pred = y_test.shift(1).</a:t>
            </a:r>
          </a:p>
          <a:p>
            <a:pPr>
              <a:spcAft>
                <a:spcPts val="800"/>
              </a:spcAft>
              <a:defRPr sz="1400" b="0">
                <a:solidFill>
                  <a:srgbClr val="0F172A"/>
                </a:solidFill>
                <a:latin typeface="Segoe UI"/>
              </a:defRPr>
            </a:pPr>
            <a:r>
              <a:rPr sz="1400" b="0">
                <a:solidFill>
                  <a:srgbClr val="0F172A"/>
                </a:solidFill>
                <a:latin typeface="Segoe UI"/>
              </a:rPr>
              <a:t>• LSTM forecasting: Sequential([LSTM(32), Dense(1)]).</a:t>
            </a:r>
          </a:p>
          <a:p>
            <a:pPr>
              <a:spcAft>
                <a:spcPts val="800"/>
              </a:spcAft>
              <a:defRPr sz="1400" b="0">
                <a:solidFill>
                  <a:srgbClr val="0F172A"/>
                </a:solidFill>
                <a:latin typeface="Segoe UI"/>
              </a:defRPr>
            </a:pPr>
            <a:r>
              <a:rPr sz="1400" b="0">
                <a:solidFill>
                  <a:srgbClr val="0F172A"/>
                </a:solidFill>
                <a:latin typeface="Segoe UI"/>
              </a:rPr>
              <a:t>• GRU: igual con GRU.</a:t>
            </a:r>
          </a:p>
          <a:p>
            <a:pPr>
              <a:spcAft>
                <a:spcPts val="800"/>
              </a:spcAft>
              <a:defRPr sz="1400" b="0">
                <a:solidFill>
                  <a:srgbClr val="0F172A"/>
                </a:solidFill>
                <a:latin typeface="Segoe UI"/>
              </a:defRPr>
            </a:pPr>
            <a:r>
              <a:rPr sz="1400" b="0">
                <a:solidFill>
                  <a:srgbClr val="0F172A"/>
                </a:solidFill>
                <a:latin typeface="Segoe UI"/>
              </a:rPr>
              <a:t>• Multi-step: predecir 7 pasos directamente (Dense(7) al final).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diario, 5 años; split 70/15/15 temporal.</a:t>
            </a:r>
          </a:p>
          <a:p>
            <a:pPr>
              <a:spcAft>
                <a:spcPts val="800"/>
              </a:spcAft>
              <a:defRPr sz="1500" b="0">
                <a:solidFill>
                  <a:srgbClr val="0F172A"/>
                </a:solidFill>
                <a:latin typeface="Segoe UI"/>
              </a:defRPr>
            </a:pPr>
            <a:r>
              <a:rPr sz="1500" b="0">
                <a:solidFill>
                  <a:srgbClr val="0F172A"/>
                </a:solidFill>
                <a:latin typeface="Segoe UI"/>
              </a:rPr>
              <a:t>• Baselines: naïve y MA(7).</a:t>
            </a:r>
          </a:p>
          <a:p>
            <a:pPr>
              <a:spcAft>
                <a:spcPts val="800"/>
              </a:spcAft>
              <a:defRPr sz="1500" b="0">
                <a:solidFill>
                  <a:srgbClr val="0F172A"/>
                </a:solidFill>
                <a:latin typeface="Segoe UI"/>
              </a:defRPr>
            </a:pPr>
            <a:r>
              <a:rPr sz="1500" b="0">
                <a:solidFill>
                  <a:srgbClr val="0F172A"/>
                </a:solidFill>
                <a:latin typeface="Segoe UI"/>
              </a:rPr>
              <a:t>• LSTM [64], lookback=30 días, horizon=7 días.</a:t>
            </a:r>
          </a:p>
          <a:p>
            <a:pPr>
              <a:spcAft>
                <a:spcPts val="800"/>
              </a:spcAft>
              <a:defRPr sz="1500" b="0">
                <a:solidFill>
                  <a:srgbClr val="0F172A"/>
                </a:solidFill>
                <a:latin typeface="Segoe UI"/>
              </a:defRPr>
            </a:pPr>
            <a:r>
              <a:rPr sz="1500" b="0">
                <a:solidFill>
                  <a:srgbClr val="0F172A"/>
                </a:solidFill>
                <a:latin typeface="Segoe UI"/>
              </a:rPr>
              <a:t>• Reportar MAE en test para los 3.</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137 — LSTM, GRU</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137 — LSTM, GRU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15 § Tackling Short-Term Memory Problems.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LSTM (Hochreiter &amp; Schmidhuber 1997) y GRU (Cho et al. 2014) — celdas recurrentes con gates que solucionan el vanishing gradient de SimpleRNN: la información puede fluir sin atenuación por la cell state, y los gates aprenden qué olvidar, recordar y emitir.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los 3 gates de LSTM: forget, input, output, y la cell state que viaja "horizontal".</a:t>
            </a:r>
          </a:p>
          <a:p>
            <a:pPr>
              <a:spcAft>
                <a:spcPts val="800"/>
              </a:spcAft>
              <a:defRPr sz="1400" b="0">
                <a:solidFill>
                  <a:srgbClr val="0F172A"/>
                </a:solidFill>
                <a:latin typeface="Segoe UI"/>
              </a:defRPr>
            </a:pPr>
            <a:r>
              <a:rPr sz="1400" b="0">
                <a:solidFill>
                  <a:srgbClr val="0F172A"/>
                </a:solidFill>
                <a:latin typeface="Segoe UI"/>
              </a:rPr>
              <a:t>• Diferenciar LSTM (3 gates + 2 estados) de GRU (2 gates + 1 estado, más simple, casi igual de bueno).</a:t>
            </a:r>
          </a:p>
          <a:p>
            <a:pPr>
              <a:spcAft>
                <a:spcPts val="800"/>
              </a:spcAft>
              <a:defRPr sz="1400" b="0">
                <a:solidFill>
                  <a:srgbClr val="0F172A"/>
                </a:solidFill>
                <a:latin typeface="Segoe UI"/>
              </a:defRPr>
            </a:pPr>
            <a:r>
              <a:rPr sz="1400" b="0">
                <a:solidFill>
                  <a:srgbClr val="0F172A"/>
                </a:solidFill>
                <a:latin typeface="Segoe UI"/>
              </a:rPr>
              <a:t>• Usar keras.layers.LSTM y keras.layers.GRU con return_sequences, return_state, recurrent_dropout.</a:t>
            </a:r>
          </a:p>
          <a:p>
            <a:pPr>
              <a:spcAft>
                <a:spcPts val="800"/>
              </a:spcAft>
              <a:defRPr sz="1400" b="0">
                <a:solidFill>
                  <a:srgbClr val="0F172A"/>
                </a:solidFill>
                <a:latin typeface="Segoe UI"/>
              </a:defRPr>
            </a:pPr>
            <a:r>
              <a:rPr sz="1400" b="0">
                <a:solidFill>
                  <a:srgbClr val="0F172A"/>
                </a:solidFill>
                <a:latin typeface="Segoe UI"/>
              </a:rPr>
              <a:t>• Aplicar Bidirectional cuando la tarea lo permite.</a:t>
            </a:r>
          </a:p>
          <a:p>
            <a:pPr>
              <a:spcAft>
                <a:spcPts val="800"/>
              </a:spcAft>
              <a:defRPr sz="1400" b="0">
                <a:solidFill>
                  <a:srgbClr val="0F172A"/>
                </a:solidFill>
                <a:latin typeface="Segoe UI"/>
              </a:defRPr>
            </a:pPr>
            <a:r>
              <a:rPr sz="1400" b="0">
                <a:solidFill>
                  <a:srgbClr val="0F172A"/>
                </a:solidFill>
                <a:latin typeface="Segoe UI"/>
              </a:rPr>
              <a:t>• Reconocer que con T &gt; 100, incluso LSTM lucha — preferir Transformers.</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137 — LSTM, GRU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Cell state c_t (memoria larga) vs hidden state h_t (memoria corta).</a:t>
            </a:r>
          </a:p>
          <a:p>
            <a:pPr>
              <a:spcAft>
                <a:spcPts val="1000"/>
              </a:spcAft>
              <a:defRPr sz="1600" b="0">
                <a:solidFill>
                  <a:srgbClr val="0F172A"/>
                </a:solidFill>
                <a:latin typeface="Segoe UI"/>
              </a:defRPr>
            </a:pPr>
            <a:r>
              <a:rPr sz="1600" b="0">
                <a:solidFill>
                  <a:srgbClr val="0F172A"/>
                </a:solidFill>
                <a:latin typeface="Segoe UI"/>
              </a:rPr>
              <a:t>• Forget gate: cuánto borrar de c_{t-1}.</a:t>
            </a:r>
          </a:p>
          <a:p>
            <a:pPr>
              <a:spcAft>
                <a:spcPts val="1000"/>
              </a:spcAft>
              <a:defRPr sz="1600" b="0">
                <a:solidFill>
                  <a:srgbClr val="0F172A"/>
                </a:solidFill>
                <a:latin typeface="Segoe UI"/>
              </a:defRPr>
            </a:pPr>
            <a:r>
              <a:rPr sz="1600" b="0">
                <a:solidFill>
                  <a:srgbClr val="0F172A"/>
                </a:solidFill>
                <a:latin typeface="Segoe UI"/>
              </a:rPr>
              <a:t>• Input gate: cuánto agregar nuevo a c_t.</a:t>
            </a:r>
          </a:p>
          <a:p>
            <a:pPr>
              <a:spcAft>
                <a:spcPts val="1000"/>
              </a:spcAft>
              <a:defRPr sz="1600" b="0">
                <a:solidFill>
                  <a:srgbClr val="0F172A"/>
                </a:solidFill>
                <a:latin typeface="Segoe UI"/>
              </a:defRPr>
            </a:pPr>
            <a:r>
              <a:rPr sz="1600" b="0">
                <a:solidFill>
                  <a:srgbClr val="0F172A"/>
                </a:solidFill>
                <a:latin typeface="Segoe UI"/>
              </a:rPr>
              <a:t>• Output gate: cuánto exponer en h_t.</a:t>
            </a:r>
          </a:p>
          <a:p>
            <a:pPr>
              <a:spcAft>
                <a:spcPts val="1000"/>
              </a:spcAft>
              <a:defRPr sz="1600" b="0">
                <a:solidFill>
                  <a:srgbClr val="0F172A"/>
                </a:solidFill>
                <a:latin typeface="Segoe UI"/>
              </a:defRPr>
            </a:pPr>
            <a:r>
              <a:rPr sz="1600" b="0">
                <a:solidFill>
                  <a:srgbClr val="0F172A"/>
                </a:solidFill>
                <a:latin typeface="Segoe UI"/>
              </a:rPr>
              <a:t>• GRU: combina forget e input en una sola "update gate".</a:t>
            </a:r>
          </a:p>
          <a:p>
            <a:pPr>
              <a:spcAft>
                <a:spcPts val="1000"/>
              </a:spcAft>
              <a:defRPr sz="1600" b="0">
                <a:solidFill>
                  <a:srgbClr val="0F172A"/>
                </a:solidFill>
                <a:latin typeface="Segoe UI"/>
              </a:defRPr>
            </a:pPr>
            <a:r>
              <a:rPr sz="1600" b="0">
                <a:solidFill>
                  <a:srgbClr val="0F172A"/>
                </a:solidFill>
                <a:latin typeface="Segoe UI"/>
              </a:rPr>
              <a:t>• Bidirectional + stacked LSTMs como receta clásica pre-Transformers.</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137 — LSTM, GRU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El target depende del PRIMER y del ÚLTIMO paso -&gt; requiere memoria a 100 pasos</a:t>
            </a:r>
          </a:p>
          <a:p>
            <a:pPr>
              <a:defRPr sz="1200" b="0">
                <a:solidFill>
                  <a:srgbClr val="F8FAFC"/>
                </a:solidFill>
                <a:latin typeface="Courier New"/>
              </a:defRPr>
            </a:pPr>
            <a:r>
              <a:rPr sz="1200" b="0">
                <a:solidFill>
                  <a:srgbClr val="F8FAFC"/>
                </a:solidFill>
                <a:latin typeface="Courier New"/>
              </a:rPr>
              <a:t>T, F = 100, 1</a:t>
            </a:r>
          </a:p>
          <a:p>
            <a:pPr>
              <a:defRPr sz="1200" b="0">
                <a:solidFill>
                  <a:srgbClr val="F8FAFC"/>
                </a:solidFill>
                <a:latin typeface="Courier New"/>
              </a:defRPr>
            </a:pPr>
            <a:r>
              <a:rPr sz="1200" b="0">
                <a:solidFill>
                  <a:srgbClr val="F8FAFC"/>
                </a:solidFill>
                <a:latin typeface="Courier New"/>
              </a:rPr>
              <a:t>r = np.random.default_rng(42)</a:t>
            </a:r>
          </a:p>
          <a:p>
            <a:pPr>
              <a:defRPr sz="1200" b="0">
                <a:solidFill>
                  <a:srgbClr val="F8FAFC"/>
                </a:solidFill>
                <a:latin typeface="Courier New"/>
              </a:defRPr>
            </a:pPr>
            <a:r>
              <a:rPr sz="1200" b="0">
                <a:solidFill>
                  <a:srgbClr val="F8FAFC"/>
                </a:solidFill>
                <a:latin typeface="Courier New"/>
              </a:rPr>
              <a:t>X = r.standard_normal((2000, T, F)).astype("float32")</a:t>
            </a:r>
          </a:p>
          <a:p>
            <a:pPr>
              <a:defRPr sz="1200" b="0">
                <a:solidFill>
                  <a:srgbClr val="F8FAFC"/>
                </a:solidFill>
                <a:latin typeface="Courier New"/>
              </a:defRPr>
            </a:pPr>
            <a:r>
              <a:rPr sz="1200" b="0">
                <a:solidFill>
                  <a:srgbClr val="F8FAFC"/>
                </a:solidFill>
                <a:latin typeface="Courier New"/>
              </a:rPr>
              <a:t>y = ((X[:, 0, 0] + X[:, -1, 0]) &gt; 0).astype("float32")</a:t>
            </a:r>
          </a:p>
          <a:p>
            <a:pPr>
              <a:defRPr sz="1200" b="0">
                <a:solidFill>
                  <a:srgbClr val="F8FAFC"/>
                </a:solidFill>
                <a:latin typeface="Courier New"/>
              </a:defRPr>
            </a:pPr>
            <a:r>
              <a:rPr sz="1200" b="0">
                <a:solidFill>
                  <a:srgbClr val="F8FAFC"/>
                </a:solidFill>
                <a:latin typeface="Courier New"/>
              </a:rPr>
              <a:t>print("X:", X.shape, "| balance de clases:", round(float(y.mean()), 3))</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137 — LSTM, GRU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LSTM vs SimpleRNN: en una serie de 100 pasos con dependencia long-range, comparar accuracy.</a:t>
            </a:r>
          </a:p>
          <a:p>
            <a:pPr>
              <a:spcAft>
                <a:spcPts val="800"/>
              </a:spcAft>
              <a:defRPr sz="1400" b="0">
                <a:solidFill>
                  <a:srgbClr val="0F172A"/>
                </a:solidFill>
                <a:latin typeface="Segoe UI"/>
              </a:defRPr>
            </a:pPr>
            <a:r>
              <a:rPr sz="1400" b="0">
                <a:solidFill>
                  <a:srgbClr val="0F172A"/>
                </a:solidFill>
                <a:latin typeface="Segoe UI"/>
              </a:rPr>
              <a:t>• GRU vs LSTM: misma tarea, comparar.</a:t>
            </a:r>
          </a:p>
          <a:p>
            <a:pPr>
              <a:spcAft>
                <a:spcPts val="800"/>
              </a:spcAft>
              <a:defRPr sz="1400" b="0">
                <a:solidFill>
                  <a:srgbClr val="0F172A"/>
                </a:solidFill>
                <a:latin typeface="Segoe UI"/>
              </a:defRPr>
            </a:pPr>
            <a:r>
              <a:rPr sz="1400" b="0">
                <a:solidFill>
                  <a:srgbClr val="0F172A"/>
                </a:solidFill>
                <a:latin typeface="Segoe UI"/>
              </a:rPr>
              <a:t>• Stacked: 2-3 capas LSTM apiladas con return_sequences=True en las primeras.</a:t>
            </a:r>
          </a:p>
          <a:p>
            <a:pPr>
              <a:spcAft>
                <a:spcPts val="800"/>
              </a:spcAft>
              <a:defRPr sz="1400" b="0">
                <a:solidFill>
                  <a:srgbClr val="0F172A"/>
                </a:solidFill>
                <a:latin typeface="Segoe UI"/>
              </a:defRPr>
            </a:pPr>
            <a:r>
              <a:rPr sz="1400" b="0">
                <a:solidFill>
                  <a:srgbClr val="0F172A"/>
                </a:solidFill>
                <a:latin typeface="Segoe UI"/>
              </a:rPr>
              <a:t>• Bidirectional: para sentimiento IMDB, comparar LSTM vs Bidirectional(LSTM).</a:t>
            </a:r>
          </a:p>
          <a:p>
            <a:pPr>
              <a:spcAft>
                <a:spcPts val="800"/>
              </a:spcAft>
              <a:defRPr sz="1400" b="0">
                <a:solidFill>
                  <a:srgbClr val="0F172A"/>
                </a:solidFill>
                <a:latin typeface="Segoe UI"/>
              </a:defRPr>
            </a:pPr>
            <a:r>
              <a:rPr sz="1400" b="0">
                <a:solidFill>
                  <a:srgbClr val="0F172A"/>
                </a:solidFill>
                <a:latin typeface="Segoe UI"/>
              </a:rPr>
              <a:t>• cuDNN check: medir velocidad LSTM vanilla vs con recurrent_dropout (desactiva cuDNN).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Tokenizar con TextVectorization(max_tokens=20_000, output_sequence_length=200).</a:t>
            </a:r>
          </a:p>
          <a:p>
            <a:pPr>
              <a:spcAft>
                <a:spcPts val="800"/>
              </a:spcAft>
              <a:defRPr sz="1500" b="0">
                <a:solidFill>
                  <a:srgbClr val="0F172A"/>
                </a:solidFill>
                <a:latin typeface="Segoe UI"/>
              </a:defRPr>
            </a:pPr>
            <a:r>
              <a:rPr sz="1500" b="0">
                <a:solidFill>
                  <a:srgbClr val="0F172A"/>
                </a:solidFill>
                <a:latin typeface="Segoe UI"/>
              </a:rPr>
              <a:t>• Embedding(20_000, 128) → Bidirectional(LSTM(64)) → Dense(64) → Dense(1, sigmoid).</a:t>
            </a:r>
          </a:p>
          <a:p>
            <a:pPr>
              <a:spcAft>
                <a:spcPts val="800"/>
              </a:spcAft>
              <a:defRPr sz="1500" b="0">
                <a:solidFill>
                  <a:srgbClr val="0F172A"/>
                </a:solidFill>
                <a:latin typeface="Segoe UI"/>
              </a:defRPr>
            </a:pPr>
            <a:r>
              <a:rPr sz="1500" b="0">
                <a:solidFill>
                  <a:srgbClr val="0F172A"/>
                </a:solidFill>
                <a:latin typeface="Segoe UI"/>
              </a:rPr>
              <a:t>• Entrenar 5 épocas.</a:t>
            </a:r>
          </a:p>
          <a:p>
            <a:pPr>
              <a:spcAft>
                <a:spcPts val="800"/>
              </a:spcAft>
              <a:defRPr sz="1500" b="0">
                <a:solidFill>
                  <a:srgbClr val="0F172A"/>
                </a:solidFill>
                <a:latin typeface="Segoe UI"/>
              </a:defRPr>
            </a:pPr>
            <a:r>
              <a:rPr sz="1500" b="0">
                <a:solidFill>
                  <a:srgbClr val="0F172A"/>
                </a:solidFill>
                <a:latin typeface="Segoe UI"/>
              </a:rPr>
              <a:t>• Reportar accuracy y comparar contra una baseline Dense sin RNN.</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138 — 1D CNNs y WaveNet</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138 — 1D CNNs y WaveNet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15 § Handling Long Sequences + WaveNet paper (van den Oord et al. 2016).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alternativa a RNN para secuencias: Conv1D y WaveNet (dilated causal convolutions). Más rápido que LSTM (paralelizable), receptive field amplio con pocas capas (dilated convolutions). Útil para audio, series temporales y como capa de preprocesamiento.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Conv1D(filters, kernel_size, padding='causal') sobre secuencias.</a:t>
            </a:r>
          </a:p>
          <a:p>
            <a:pPr>
              <a:spcAft>
                <a:spcPts val="800"/>
              </a:spcAft>
              <a:defRPr sz="1400" b="0">
                <a:solidFill>
                  <a:srgbClr val="0F172A"/>
                </a:solidFill>
                <a:latin typeface="Segoe UI"/>
              </a:defRPr>
            </a:pPr>
            <a:r>
              <a:rPr sz="1400" b="0">
                <a:solidFill>
                  <a:srgbClr val="0F172A"/>
                </a:solidFill>
                <a:latin typeface="Segoe UI"/>
              </a:rPr>
              <a:t>• Implementar dilated convolutions (kernel salta posiciones).</a:t>
            </a:r>
          </a:p>
          <a:p>
            <a:pPr>
              <a:spcAft>
                <a:spcPts val="800"/>
              </a:spcAft>
              <a:defRPr sz="1400" b="0">
                <a:solidFill>
                  <a:srgbClr val="0F172A"/>
                </a:solidFill>
                <a:latin typeface="Segoe UI"/>
              </a:defRPr>
            </a:pPr>
            <a:r>
              <a:rPr sz="1400" b="0">
                <a:solidFill>
                  <a:srgbClr val="0F172A"/>
                </a:solidFill>
                <a:latin typeface="Segoe UI"/>
              </a:rPr>
              <a:t>• Reconocer causal convolution: el output en t depende solo de inputs ≤ t.</a:t>
            </a:r>
          </a:p>
          <a:p>
            <a:pPr>
              <a:spcAft>
                <a:spcPts val="800"/>
              </a:spcAft>
              <a:defRPr sz="1400" b="0">
                <a:solidFill>
                  <a:srgbClr val="0F172A"/>
                </a:solidFill>
                <a:latin typeface="Segoe UI"/>
              </a:defRPr>
            </a:pPr>
            <a:r>
              <a:rPr sz="1400" b="0">
                <a:solidFill>
                  <a:srgbClr val="0F172A"/>
                </a:solidFill>
                <a:latin typeface="Segoe UI"/>
              </a:rPr>
              <a:t>• Construir un mini-WaveNet con dilation rates exponenciales (1, 2, 4, 8, ...).</a:t>
            </a:r>
          </a:p>
          <a:p>
            <a:pPr>
              <a:spcAft>
                <a:spcPts val="800"/>
              </a:spcAft>
              <a:defRPr sz="1400" b="0">
                <a:solidFill>
                  <a:srgbClr val="0F172A"/>
                </a:solidFill>
                <a:latin typeface="Segoe UI"/>
              </a:defRPr>
            </a:pPr>
            <a:r>
              <a:rPr sz="1400" b="0">
                <a:solidFill>
                  <a:srgbClr val="0F172A"/>
                </a:solidFill>
                <a:latin typeface="Segoe UI"/>
              </a:rPr>
              <a:t>• Comparar Conv1D vs LSTM en speed/accuracy.</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138 — 1D CNNs y WaveNet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Conv1D fundamentos: stride, padding, dilation.</a:t>
            </a:r>
          </a:p>
          <a:p>
            <a:pPr>
              <a:spcAft>
                <a:spcPts val="1000"/>
              </a:spcAft>
              <a:defRPr sz="1600" b="0">
                <a:solidFill>
                  <a:srgbClr val="0F172A"/>
                </a:solidFill>
                <a:latin typeface="Segoe UI"/>
              </a:defRPr>
            </a:pPr>
            <a:r>
              <a:rPr sz="1600" b="0">
                <a:solidFill>
                  <a:srgbClr val="0F172A"/>
                </a:solidFill>
                <a:latin typeface="Segoe UI"/>
              </a:rPr>
              <a:t>• Causal padding: para no ver el futuro.</a:t>
            </a:r>
          </a:p>
          <a:p>
            <a:pPr>
              <a:spcAft>
                <a:spcPts val="1000"/>
              </a:spcAft>
              <a:defRPr sz="1600" b="0">
                <a:solidFill>
                  <a:srgbClr val="0F172A"/>
                </a:solidFill>
                <a:latin typeface="Segoe UI"/>
              </a:defRPr>
            </a:pPr>
            <a:r>
              <a:rPr sz="1600" b="0">
                <a:solidFill>
                  <a:srgbClr val="0F172A"/>
                </a:solidFill>
                <a:latin typeface="Segoe UI"/>
              </a:rPr>
              <a:t>• Dilated convolutions: receptive field grande sin más layers.</a:t>
            </a:r>
          </a:p>
          <a:p>
            <a:pPr>
              <a:spcAft>
                <a:spcPts val="1000"/>
              </a:spcAft>
              <a:defRPr sz="1600" b="0">
                <a:solidFill>
                  <a:srgbClr val="0F172A"/>
                </a:solidFill>
                <a:latin typeface="Segoe UI"/>
              </a:defRPr>
            </a:pPr>
            <a:r>
              <a:rPr sz="1600" b="0">
                <a:solidFill>
                  <a:srgbClr val="0F172A"/>
                </a:solidFill>
                <a:latin typeface="Segoe UI"/>
              </a:rPr>
              <a:t>• WaveNet: stack de dilated causal convolutions (1, 2, 4, ..., 512).</a:t>
            </a:r>
          </a:p>
          <a:p>
            <a:pPr>
              <a:spcAft>
                <a:spcPts val="1000"/>
              </a:spcAft>
              <a:defRPr sz="1600" b="0">
                <a:solidFill>
                  <a:srgbClr val="0F172A"/>
                </a:solidFill>
                <a:latin typeface="Segoe UI"/>
              </a:defRPr>
            </a:pPr>
            <a:r>
              <a:rPr sz="1600" b="0">
                <a:solidFill>
                  <a:srgbClr val="0F172A"/>
                </a:solidFill>
                <a:latin typeface="Segoe UI"/>
              </a:rPr>
              <a:t>• Conv1D vs LSTM: paralelización, receptive field, parameter count.</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138 — 1D CNNs y WaveNet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T, F = 64, 1</a:t>
            </a:r>
          </a:p>
          <a:p>
            <a:pPr>
              <a:defRPr sz="1200" b="0">
                <a:solidFill>
                  <a:srgbClr val="F8FAFC"/>
                </a:solidFill>
                <a:latin typeface="Courier New"/>
              </a:defRPr>
            </a:pPr>
            <a:r>
              <a:rPr sz="1200" b="0">
                <a:solidFill>
                  <a:srgbClr val="F8FAFC"/>
                </a:solidFill>
                <a:latin typeface="Courier New"/>
              </a:rPr>
              <a:t>conv = keras.Sequential([</a:t>
            </a:r>
          </a:p>
          <a:p>
            <a:pPr>
              <a:defRPr sz="1200" b="0">
                <a:solidFill>
                  <a:srgbClr val="F8FAFC"/>
                </a:solidFill>
                <a:latin typeface="Courier New"/>
              </a:defRPr>
            </a:pPr>
            <a:r>
              <a:rPr sz="1200" b="0">
                <a:solidFill>
                  <a:srgbClr val="F8FAFC"/>
                </a:solidFill>
                <a:latin typeface="Courier New"/>
              </a:rPr>
              <a:t>    keras.Input(shape=(T, F)),</a:t>
            </a:r>
          </a:p>
          <a:p>
            <a:pPr>
              <a:defRPr sz="1200" b="0">
                <a:solidFill>
                  <a:srgbClr val="F8FAFC"/>
                </a:solidFill>
                <a:latin typeface="Courier New"/>
              </a:defRPr>
            </a:pPr>
            <a:r>
              <a:rPr sz="1200" b="0">
                <a:solidFill>
                  <a:srgbClr val="F8FAFC"/>
                </a:solidFill>
                <a:latin typeface="Courier New"/>
              </a:rPr>
              <a:t>    layers.Conv1D(32, kernel_size=5, activation="relu"),   # padding='valid' por defecto</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print("salida Conv1D (valid):", conv.output_shape)   # (None, 60, 32)</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138 — 1D CNNs y WaveNet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Conv1D vs LSTM: forecasting de serie.</a:t>
            </a:r>
          </a:p>
          <a:p>
            <a:pPr>
              <a:spcAft>
                <a:spcPts val="800"/>
              </a:spcAft>
              <a:defRPr sz="1400" b="0">
                <a:solidFill>
                  <a:srgbClr val="0F172A"/>
                </a:solidFill>
                <a:latin typeface="Segoe UI"/>
              </a:defRPr>
            </a:pPr>
            <a:r>
              <a:rPr sz="1400" b="0">
                <a:solidFill>
                  <a:srgbClr val="0F172A"/>
                </a:solidFill>
                <a:latin typeface="Segoe UI"/>
              </a:rPr>
              <a:t>• Dilation rates: stack de 4 Conv1D con dilation_rate ∈ {1, 2, 4, 8}.</a:t>
            </a:r>
          </a:p>
          <a:p>
            <a:pPr>
              <a:spcAft>
                <a:spcPts val="800"/>
              </a:spcAft>
              <a:defRPr sz="1400" b="0">
                <a:solidFill>
                  <a:srgbClr val="0F172A"/>
                </a:solidFill>
                <a:latin typeface="Segoe UI"/>
              </a:defRPr>
            </a:pPr>
            <a:r>
              <a:rPr sz="1400" b="0">
                <a:solidFill>
                  <a:srgbClr val="0F172A"/>
                </a:solidFill>
                <a:latin typeface="Segoe UI"/>
              </a:rPr>
              <a:t>• Speed test: medir tiempo de training Conv1D vs LSTM para misma data.</a:t>
            </a:r>
          </a:p>
          <a:p>
            <a:pPr>
              <a:spcAft>
                <a:spcPts val="800"/>
              </a:spcAft>
              <a:defRPr sz="1400" b="0">
                <a:solidFill>
                  <a:srgbClr val="0F172A"/>
                </a:solidFill>
                <a:latin typeface="Segoe UI"/>
              </a:defRPr>
            </a:pPr>
            <a:r>
              <a:rPr sz="1400" b="0">
                <a:solidFill>
                  <a:srgbClr val="0F172A"/>
                </a:solidFill>
                <a:latin typeface="Segoe UI"/>
              </a:rPr>
              <a:t>• WaveNet mini: implementar stack de 10 Conv1D causal con dilations {1, 2, 4, ..., 512} para una serie larga.</a:t>
            </a:r>
          </a:p>
          <a:p>
            <a:pPr>
              <a:spcAft>
                <a:spcPts val="800"/>
              </a:spcAft>
              <a:defRPr sz="1400" b="0">
                <a:solidFill>
                  <a:srgbClr val="0F172A"/>
                </a:solidFill>
                <a:latin typeface="Segoe UI"/>
              </a:defRPr>
            </a:pPr>
            <a:r>
              <a:rPr sz="1400" b="0">
                <a:solidFill>
                  <a:srgbClr val="0F172A"/>
                </a:solidFill>
                <a:latin typeface="Segoe UI"/>
              </a:rPr>
              <a:t>• Visualización del receptive field: para un output [t], marcar qué inputs lo afectan.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Stack de 6 Conv1D causal dilated con rates 1, 2, 4, 8, 16, 32.</a:t>
            </a:r>
          </a:p>
          <a:p>
            <a:pPr>
              <a:spcAft>
                <a:spcPts val="800"/>
              </a:spcAft>
              <a:defRPr sz="1500" b="0">
                <a:solidFill>
                  <a:srgbClr val="0F172A"/>
                </a:solidFill>
                <a:latin typeface="Segoe UI"/>
              </a:defRPr>
            </a:pPr>
            <a:r>
              <a:rPr sz="1500" b="0">
                <a:solidFill>
                  <a:srgbClr val="0F172A"/>
                </a:solidFill>
                <a:latin typeface="Segoe UI"/>
              </a:rPr>
              <a:t>• Cada capa con 32 filtros, kernel 2.</a:t>
            </a:r>
          </a:p>
          <a:p>
            <a:pPr>
              <a:spcAft>
                <a:spcPts val="800"/>
              </a:spcAft>
              <a:defRPr sz="1500" b="0">
                <a:solidFill>
                  <a:srgbClr val="0F172A"/>
                </a:solidFill>
                <a:latin typeface="Segoe UI"/>
              </a:defRPr>
            </a:pPr>
            <a:r>
              <a:rPr sz="1500" b="0">
                <a:solidFill>
                  <a:srgbClr val="0F172A"/>
                </a:solidFill>
                <a:latin typeface="Segoe UI"/>
              </a:rPr>
              <a:t>• Comparar MAE en test vs LSTM del ejercicio 119.</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139 — Generación de texto char-RNN</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139 — Generación de texto char-RNN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Generating Shakespearean Text Using a Character RNN.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modelo de lenguaje autoregresivo a nivel carácter — el ejercicio canónico de Karpathy 2015 sobre Shakespeare. Entender next-token prediction como tarea de pre-training (la base de todo LLM moderno), sampling con temperatura, y por qué char-RNN fue importante históricamente aunque hoy se hace con tokens BPE y Transformers.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vocabulario de caracteres (stoi, itos dicts).</a:t>
            </a:r>
          </a:p>
          <a:p>
            <a:pPr>
              <a:spcAft>
                <a:spcPts val="800"/>
              </a:spcAft>
              <a:defRPr sz="1400" b="0">
                <a:solidFill>
                  <a:srgbClr val="0F172A"/>
                </a:solidFill>
                <a:latin typeface="Segoe UI"/>
              </a:defRPr>
            </a:pPr>
            <a:r>
              <a:rPr sz="1400" b="0">
                <a:solidFill>
                  <a:srgbClr val="0F172A"/>
                </a:solidFill>
                <a:latin typeface="Segoe UI"/>
              </a:rPr>
              <a:t>• Generar samples (window, target) donde el target es el siguiente carácter.</a:t>
            </a:r>
          </a:p>
          <a:p>
            <a:pPr>
              <a:spcAft>
                <a:spcPts val="800"/>
              </a:spcAft>
              <a:defRPr sz="1400" b="0">
                <a:solidFill>
                  <a:srgbClr val="0F172A"/>
                </a:solidFill>
                <a:latin typeface="Segoe UI"/>
              </a:defRPr>
            </a:pPr>
            <a:r>
              <a:rPr sz="1400" b="0">
                <a:solidFill>
                  <a:srgbClr val="0F172A"/>
                </a:solidFill>
                <a:latin typeface="Segoe UI"/>
              </a:rPr>
              <a:t>• Entrenar un modelo Embedding → LSTM → Dense(vocab_size) con cross-entropy.</a:t>
            </a:r>
          </a:p>
          <a:p>
            <a:pPr>
              <a:spcAft>
                <a:spcPts val="800"/>
              </a:spcAft>
              <a:defRPr sz="1400" b="0">
                <a:solidFill>
                  <a:srgbClr val="0F172A"/>
                </a:solidFill>
                <a:latin typeface="Segoe UI"/>
              </a:defRPr>
            </a:pPr>
            <a:r>
              <a:rPr sz="1400" b="0">
                <a:solidFill>
                  <a:srgbClr val="0F172A"/>
                </a:solidFill>
                <a:latin typeface="Segoe UI"/>
              </a:rPr>
              <a:t>• Implementar sampling autoregresivo: softmax → multinomial → next char → feed back.</a:t>
            </a:r>
          </a:p>
          <a:p>
            <a:pPr>
              <a:spcAft>
                <a:spcPts val="800"/>
              </a:spcAft>
              <a:defRPr sz="1400" b="0">
                <a:solidFill>
                  <a:srgbClr val="0F172A"/>
                </a:solidFill>
                <a:latin typeface="Segoe UI"/>
              </a:defRPr>
            </a:pPr>
            <a:r>
              <a:rPr sz="1400" b="0">
                <a:solidFill>
                  <a:srgbClr val="0F172A"/>
                </a:solidFill>
                <a:latin typeface="Segoe UI"/>
              </a:rPr>
              <a:t>• Aplicar temperatura: logits / T antes de softmax — bajo T = más determinista, alto T = más random.</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139 — Generación de texto char-RNN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Tokenización a nivel carácter vs word vs BPE.</a:t>
            </a:r>
          </a:p>
          <a:p>
            <a:pPr>
              <a:spcAft>
                <a:spcPts val="1000"/>
              </a:spcAft>
              <a:defRPr sz="1600" b="0">
                <a:solidFill>
                  <a:srgbClr val="0F172A"/>
                </a:solidFill>
                <a:latin typeface="Segoe UI"/>
              </a:defRPr>
            </a:pPr>
            <a:r>
              <a:rPr sz="1600" b="0">
                <a:solidFill>
                  <a:srgbClr val="0F172A"/>
                </a:solidFill>
                <a:latin typeface="Segoe UI"/>
              </a:rPr>
              <a:t>• Stateful vs stateless RNN: stateful=True para mantener h entre batches.</a:t>
            </a:r>
          </a:p>
          <a:p>
            <a:pPr>
              <a:spcAft>
                <a:spcPts val="1000"/>
              </a:spcAft>
              <a:defRPr sz="1600" b="0">
                <a:solidFill>
                  <a:srgbClr val="0F172A"/>
                </a:solidFill>
                <a:latin typeface="Segoe UI"/>
              </a:defRPr>
            </a:pPr>
            <a:r>
              <a:rPr sz="1600" b="0">
                <a:solidFill>
                  <a:srgbClr val="0F172A"/>
                </a:solidFill>
                <a:latin typeface="Segoe UI"/>
              </a:rPr>
              <a:t>• Loss: cross-entropy sobre vocab_size.</a:t>
            </a:r>
          </a:p>
          <a:p>
            <a:pPr>
              <a:spcAft>
                <a:spcPts val="1000"/>
              </a:spcAft>
              <a:defRPr sz="1600" b="0">
                <a:solidFill>
                  <a:srgbClr val="0F172A"/>
                </a:solidFill>
                <a:latin typeface="Segoe UI"/>
              </a:defRPr>
            </a:pPr>
            <a:r>
              <a:rPr sz="1600" b="0">
                <a:solidFill>
                  <a:srgbClr val="0F172A"/>
                </a:solidFill>
                <a:latin typeface="Segoe UI"/>
              </a:rPr>
              <a:t>• Sampling: greedy vs categorical multinomial vs top-k vs nucleus.</a:t>
            </a:r>
          </a:p>
          <a:p>
            <a:pPr>
              <a:spcAft>
                <a:spcPts val="1000"/>
              </a:spcAft>
              <a:defRPr sz="1600" b="0">
                <a:solidFill>
                  <a:srgbClr val="0F172A"/>
                </a:solidFill>
                <a:latin typeface="Segoe UI"/>
              </a:defRPr>
            </a:pPr>
            <a:r>
              <a:rPr sz="1600" b="0">
                <a:solidFill>
                  <a:srgbClr val="0F172A"/>
                </a:solidFill>
                <a:latin typeface="Segoe UI"/>
              </a:rPr>
              <a:t>• Temperatura como control de creatividad.</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139 — Generación de texto char-RNN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texto = ("ROMEO: But soft, what light through yonder window breaks? "</a:t>
            </a:r>
          </a:p>
          <a:p>
            <a:pPr>
              <a:defRPr sz="1200" b="0">
                <a:solidFill>
                  <a:srgbClr val="F8FAFC"/>
                </a:solidFill>
                <a:latin typeface="Courier New"/>
              </a:defRPr>
            </a:pPr>
            <a:r>
              <a:rPr sz="1200" b="0">
                <a:solidFill>
                  <a:srgbClr val="F8FAFC"/>
                </a:solidFill>
                <a:latin typeface="Courier New"/>
              </a:rPr>
              <a:t>         "It is the east, and Juliet is the sun. "</a:t>
            </a:r>
          </a:p>
          <a:p>
            <a:pPr>
              <a:defRPr sz="1200" b="0">
                <a:solidFill>
                  <a:srgbClr val="F8FAFC"/>
                </a:solidFill>
                <a:latin typeface="Courier New"/>
              </a:defRPr>
            </a:pPr>
            <a:r>
              <a:rPr sz="1200" b="0">
                <a:solidFill>
                  <a:srgbClr val="F8FAFC"/>
                </a:solidFill>
                <a:latin typeface="Courier New"/>
              </a:rPr>
              <a:t>         "Arise fair sun and kill the envious moon. ") * 40</a:t>
            </a:r>
          </a:p>
          <a:p>
            <a:pPr>
              <a:defRPr sz="1200" b="0">
                <a:solidFill>
                  <a:srgbClr val="F8FAFC"/>
                </a:solidFill>
                <a:latin typeface="Courier New"/>
              </a:defRPr>
            </a:pPr>
            <a:r>
              <a:rPr sz="1200" b="0">
                <a:solidFill>
                  <a:srgbClr val="F8FAFC"/>
                </a:solidFill>
                <a:latin typeface="Courier New"/>
              </a:rPr>
              <a:t>vocab = sorted(set(texto))</a:t>
            </a:r>
          </a:p>
          <a:p>
            <a:pPr>
              <a:defRPr sz="1200" b="0">
                <a:solidFill>
                  <a:srgbClr val="F8FAFC"/>
                </a:solidFill>
                <a:latin typeface="Courier New"/>
              </a:defRPr>
            </a:pPr>
            <a:r>
              <a:rPr sz="1200" b="0">
                <a:solidFill>
                  <a:srgbClr val="F8FAFC"/>
                </a:solidFill>
                <a:latin typeface="Courier New"/>
              </a:rPr>
              <a:t>stoi = {c: i for i, c in enumerate(vocab)}      # char -&gt; int</a:t>
            </a:r>
          </a:p>
          <a:p>
            <a:pPr>
              <a:defRPr sz="1200" b="0">
                <a:solidFill>
                  <a:srgbClr val="F8FAFC"/>
                </a:solidFill>
                <a:latin typeface="Courier New"/>
              </a:defRPr>
            </a:pPr>
            <a:r>
              <a:rPr sz="1200" b="0">
                <a:solidFill>
                  <a:srgbClr val="F8FAFC"/>
                </a:solidFill>
                <a:latin typeface="Courier New"/>
              </a:rPr>
              <a:t>itos = {i: c for c, i in stoi.items()}          # int -&gt; char</a:t>
            </a:r>
          </a:p>
          <a:p>
            <a:pPr>
              <a:defRPr sz="1200" b="0">
                <a:solidFill>
                  <a:srgbClr val="F8FAFC"/>
                </a:solidFill>
                <a:latin typeface="Courier New"/>
              </a:defRPr>
            </a:pPr>
            <a:r>
              <a:rPr sz="1200" b="0">
                <a:solidFill>
                  <a:srgbClr val="F8FAFC"/>
                </a:solidFill>
                <a:latin typeface="Courier New"/>
              </a:rPr>
              <a:t>vocab_size = len(vocab)</a:t>
            </a:r>
          </a:p>
          <a:p>
            <a:pPr>
              <a:defRPr sz="1200" b="0">
                <a:solidFill>
                  <a:srgbClr val="F8FAFC"/>
                </a:solidFill>
                <a:latin typeface="Courier New"/>
              </a:defRPr>
            </a:pPr>
            <a:r>
              <a:rPr sz="1200" b="0">
                <a:solidFill>
                  <a:srgbClr val="F8FAFC"/>
                </a:solidFill>
                <a:latin typeface="Courier New"/>
              </a:rPr>
              <a:t>print("longitud corpus:", len(texto), "| vocab_size:", vocab_size)</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139 — Generación de texto char-RNN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Vocab + encoding: tokenizar el texto a ints.</a:t>
            </a:r>
          </a:p>
          <a:p>
            <a:pPr>
              <a:spcAft>
                <a:spcPts val="800"/>
              </a:spcAft>
              <a:defRPr sz="1400" b="0">
                <a:solidFill>
                  <a:srgbClr val="0F172A"/>
                </a:solidFill>
                <a:latin typeface="Segoe UI"/>
              </a:defRPr>
            </a:pPr>
            <a:r>
              <a:rPr sz="1400" b="0">
                <a:solidFill>
                  <a:srgbClr val="0F172A"/>
                </a:solidFill>
                <a:latin typeface="Segoe UI"/>
              </a:rPr>
              <a:t>• Modelo: Embedding(vocab_size, 64) → GRU(128, return_sequences=True) → Dense(vocab_size).</a:t>
            </a:r>
          </a:p>
          <a:p>
            <a:pPr>
              <a:spcAft>
                <a:spcPts val="800"/>
              </a:spcAft>
              <a:defRPr sz="1400" b="0">
                <a:solidFill>
                  <a:srgbClr val="0F172A"/>
                </a:solidFill>
                <a:latin typeface="Segoe UI"/>
              </a:defRPr>
            </a:pPr>
            <a:r>
              <a:rPr sz="1400" b="0">
                <a:solidFill>
                  <a:srgbClr val="0F172A"/>
                </a:solidFill>
                <a:latin typeface="Segoe UI"/>
              </a:rPr>
              <a:t>• Train: pasar batches de longitud 100; loss = sparse_categorical_crossentropy.</a:t>
            </a:r>
          </a:p>
          <a:p>
            <a:pPr>
              <a:spcAft>
                <a:spcPts val="800"/>
              </a:spcAft>
              <a:defRPr sz="1400" b="0">
                <a:solidFill>
                  <a:srgbClr val="0F172A"/>
                </a:solidFill>
                <a:latin typeface="Segoe UI"/>
              </a:defRPr>
            </a:pPr>
            <a:r>
              <a:rPr sz="1400" b="0">
                <a:solidFill>
                  <a:srgbClr val="0F172A"/>
                </a:solidFill>
                <a:latin typeface="Segoe UI"/>
              </a:rPr>
              <a:t>• Sample: implementar función que genera N caracteres con T=1.0, T=0.5, T=1.5.</a:t>
            </a:r>
          </a:p>
          <a:p>
            <a:pPr>
              <a:spcAft>
                <a:spcPts val="800"/>
              </a:spcAft>
              <a:defRPr sz="1400" b="0">
                <a:solidFill>
                  <a:srgbClr val="0F172A"/>
                </a:solidFill>
                <a:latin typeface="Segoe UI"/>
              </a:defRPr>
            </a:pPr>
            <a:r>
              <a:rPr sz="1400" b="0">
                <a:solidFill>
                  <a:srgbClr val="0F172A"/>
                </a:solidFill>
                <a:latin typeface="Segoe UI"/>
              </a:rPr>
              <a:t>• Top-k: implementar np.argpartition(logits, -k) antes de muestrear.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Embedding(64) → GRU(256, return_sequences=True, stateful=True) → Dense(vocab_size) por 10 épocas.</a:t>
            </a:r>
          </a:p>
          <a:p>
            <a:pPr>
              <a:spcAft>
                <a:spcPts val="800"/>
              </a:spcAft>
              <a:defRPr sz="1500" b="0">
                <a:solidFill>
                  <a:srgbClr val="0F172A"/>
                </a:solidFill>
                <a:latin typeface="Segoe UI"/>
              </a:defRPr>
            </a:pPr>
            <a:r>
              <a:rPr sz="1500" b="0">
                <a:solidFill>
                  <a:srgbClr val="0F172A"/>
                </a:solidFill>
                <a:latin typeface="Segoe UI"/>
              </a:rPr>
              <a:t>• Generar 1000 caracteres comenzando con "ROMEO:" a temperaturas 0.3, 0.7, 1.2.</a:t>
            </a:r>
          </a:p>
          <a:p>
            <a:pPr>
              <a:spcAft>
                <a:spcPts val="800"/>
              </a:spcAft>
              <a:defRPr sz="1500" b="0">
                <a:solidFill>
                  <a:srgbClr val="0F172A"/>
                </a:solidFill>
                <a:latin typeface="Segoe UI"/>
              </a:defRPr>
            </a:pPr>
            <a:r>
              <a:rPr sz="1500" b="0">
                <a:solidFill>
                  <a:srgbClr val="0F172A"/>
                </a:solidFill>
                <a:latin typeface="Segoe UI"/>
              </a:rPr>
              <a:t>• Reportar val_loss y muestras de output.</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140 — Análisis de sentimiento</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140 — Análisis de sentimiento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Sentiment Analysis.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un modelo de clasificación de texto sobre IMDB reviews — la tarea NLP más clásica para benchmarks. Pipeline completo: TextVectorization → Embedding → arquitectura (Dense / CNN / RNN / Transformer) → Dense(1, sigmoid). Comparar el zoo de approaches y reconocer que con Hugging Face hoy se hace en 3 líneas (clase 127).</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Tokenizar y vectorizar texto con TextVectorization(max_tokens=20_000, output_sequence_length=200).</a:t>
            </a:r>
          </a:p>
          <a:p>
            <a:pPr>
              <a:spcAft>
                <a:spcPts val="800"/>
              </a:spcAft>
              <a:defRPr sz="1400" b="0">
                <a:solidFill>
                  <a:srgbClr val="0F172A"/>
                </a:solidFill>
                <a:latin typeface="Segoe UI"/>
              </a:defRPr>
            </a:pPr>
            <a:r>
              <a:rPr sz="1400" b="0">
                <a:solidFill>
                  <a:srgbClr val="0F172A"/>
                </a:solidFill>
                <a:latin typeface="Segoe UI"/>
              </a:rPr>
              <a:t>• Aplicar Embedding(vocab_size, dim) y entender que es una lookup table aprendible.</a:t>
            </a:r>
          </a:p>
          <a:p>
            <a:pPr>
              <a:spcAft>
                <a:spcPts val="800"/>
              </a:spcAft>
              <a:defRPr sz="1400" b="0">
                <a:solidFill>
                  <a:srgbClr val="0F172A"/>
                </a:solidFill>
                <a:latin typeface="Segoe UI"/>
              </a:defRPr>
            </a:pPr>
            <a:r>
              <a:rPr sz="1400" b="0">
                <a:solidFill>
                  <a:srgbClr val="0F172A"/>
                </a:solidFill>
                <a:latin typeface="Segoe UI"/>
              </a:rPr>
              <a:t>• Construir 4 arquitecturas: bag-of-embeddings (sin orden), Conv1D, LSTM, Bidirectional LSTM.</a:t>
            </a:r>
          </a:p>
          <a:p>
            <a:pPr>
              <a:spcAft>
                <a:spcPts val="800"/>
              </a:spcAft>
              <a:defRPr sz="1400" b="0">
                <a:solidFill>
                  <a:srgbClr val="0F172A"/>
                </a:solidFill>
                <a:latin typeface="Segoe UI"/>
              </a:defRPr>
            </a:pPr>
            <a:r>
              <a:rPr sz="1400" b="0">
                <a:solidFill>
                  <a:srgbClr val="0F172A"/>
                </a:solidFill>
                <a:latin typeface="Segoe UI"/>
              </a:rPr>
              <a:t>• Comparar accuracy de las 4 vs un baseline TfidfVectorizer + LogisticRegression.</a:t>
            </a:r>
          </a:p>
          <a:p>
            <a:pPr>
              <a:spcAft>
                <a:spcPts val="800"/>
              </a:spcAft>
              <a:defRPr sz="1400" b="0">
                <a:solidFill>
                  <a:srgbClr val="0F172A"/>
                </a:solidFill>
                <a:latin typeface="Segoe UI"/>
              </a:defRPr>
            </a:pPr>
            <a:r>
              <a:rPr sz="1400" b="0">
                <a:solidFill>
                  <a:srgbClr val="0F172A"/>
                </a:solidFill>
                <a:latin typeface="Segoe UI"/>
              </a:rPr>
              <a:t>• Usar Embedding(..., mask_zero=True) para manejar padding correctamente.</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140 — Análisis de sentimiento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TextVectorization moderno (Keras 3+).</a:t>
            </a:r>
          </a:p>
          <a:p>
            <a:pPr>
              <a:spcAft>
                <a:spcPts val="1000"/>
              </a:spcAft>
              <a:defRPr sz="1600" b="0">
                <a:solidFill>
                  <a:srgbClr val="0F172A"/>
                </a:solidFill>
                <a:latin typeface="Segoe UI"/>
              </a:defRPr>
            </a:pPr>
            <a:r>
              <a:rPr sz="1600" b="0">
                <a:solidFill>
                  <a:srgbClr val="0F172A"/>
                </a:solidFill>
                <a:latin typeface="Segoe UI"/>
              </a:rPr>
              <a:t>• Embedding: lookup table inicializada random y entrenable.</a:t>
            </a:r>
          </a:p>
          <a:p>
            <a:pPr>
              <a:spcAft>
                <a:spcPts val="1000"/>
              </a:spcAft>
              <a:defRPr sz="1600" b="0">
                <a:solidFill>
                  <a:srgbClr val="0F172A"/>
                </a:solidFill>
                <a:latin typeface="Segoe UI"/>
              </a:defRPr>
            </a:pPr>
            <a:r>
              <a:rPr sz="1600" b="0">
                <a:solidFill>
                  <a:srgbClr val="0F172A"/>
                </a:solidFill>
                <a:latin typeface="Segoe UI"/>
              </a:rPr>
              <a:t>• BagOfEmbeddings (mean pooling) como baseline DL.</a:t>
            </a:r>
          </a:p>
          <a:p>
            <a:pPr>
              <a:spcAft>
                <a:spcPts val="1000"/>
              </a:spcAft>
              <a:defRPr sz="1600" b="0">
                <a:solidFill>
                  <a:srgbClr val="0F172A"/>
                </a:solidFill>
                <a:latin typeface="Segoe UI"/>
              </a:defRPr>
            </a:pPr>
            <a:r>
              <a:rPr sz="1600" b="0">
                <a:solidFill>
                  <a:srgbClr val="0F172A"/>
                </a:solidFill>
                <a:latin typeface="Segoe UI"/>
              </a:rPr>
              <a:t>• Conv1D para texto: capta n-gramas.</a:t>
            </a:r>
          </a:p>
          <a:p>
            <a:pPr>
              <a:spcAft>
                <a:spcPts val="1000"/>
              </a:spcAft>
              <a:defRPr sz="1600" b="0">
                <a:solidFill>
                  <a:srgbClr val="0F172A"/>
                </a:solidFill>
                <a:latin typeface="Segoe UI"/>
              </a:defRPr>
            </a:pPr>
            <a:r>
              <a:rPr sz="1600" b="0">
                <a:solidFill>
                  <a:srgbClr val="0F172A"/>
                </a:solidFill>
                <a:latin typeface="Segoe UI"/>
              </a:rPr>
              <a:t>• LSTM + Bidirectional: captura contexto largo y bidireccional.</a:t>
            </a:r>
          </a:p>
          <a:p>
            <a:pPr>
              <a:spcAft>
                <a:spcPts val="1000"/>
              </a:spcAft>
              <a:defRPr sz="1600" b="0">
                <a:solidFill>
                  <a:srgbClr val="0F172A"/>
                </a:solidFill>
                <a:latin typeface="Segoe UI"/>
              </a:defRPr>
            </a:pPr>
            <a:r>
              <a:rPr sz="1600" b="0">
                <a:solidFill>
                  <a:srgbClr val="0F172A"/>
                </a:solidFill>
                <a:latin typeface="Segoe UI"/>
              </a:rPr>
              <a:t>• Pre-trained embeddings (GloVe, Word2Vec) — históricamente importantes; hoy reemplazados por embeddings de transformers.</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140 — Análisis de sentimiento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Mini-corpus de juguete; el dataset real es IMDB (25k train / 25k test).</a:t>
            </a:r>
          </a:p>
          <a:p>
            <a:pPr>
              <a:defRPr sz="1200" b="0">
                <a:solidFill>
                  <a:srgbClr val="F8FAFC"/>
                </a:solidFill>
                <a:latin typeface="Courier New"/>
              </a:defRPr>
            </a:pPr>
            <a:r>
              <a:rPr sz="1200" b="0">
                <a:solidFill>
                  <a:srgbClr val="F8FAFC"/>
                </a:solidFill>
                <a:latin typeface="Courier New"/>
              </a:rPr>
              <a:t>textos = np.array([</a:t>
            </a:r>
          </a:p>
          <a:p>
            <a:pPr>
              <a:defRPr sz="1200" b="0">
                <a:solidFill>
                  <a:srgbClr val="F8FAFC"/>
                </a:solidFill>
                <a:latin typeface="Courier New"/>
              </a:defRPr>
            </a:pPr>
            <a:r>
              <a:rPr sz="1200" b="0">
                <a:solidFill>
                  <a:srgbClr val="F8FAFC"/>
                </a:solidFill>
                <a:latin typeface="Courier New"/>
              </a:rPr>
              <a:t>    "la pelicula fue excelente y muy entretenida",</a:t>
            </a:r>
          </a:p>
          <a:p>
            <a:pPr>
              <a:defRPr sz="1200" b="0">
                <a:solidFill>
                  <a:srgbClr val="F8FAFC"/>
                </a:solidFill>
                <a:latin typeface="Courier New"/>
              </a:defRPr>
            </a:pPr>
            <a:r>
              <a:rPr sz="1200" b="0">
                <a:solidFill>
                  <a:srgbClr val="F8FAFC"/>
                </a:solidFill>
                <a:latin typeface="Courier New"/>
              </a:rPr>
              <a:t>    "una obra maestra, actuaciones brillantes",</a:t>
            </a:r>
          </a:p>
          <a:p>
            <a:pPr>
              <a:defRPr sz="1200" b="0">
                <a:solidFill>
                  <a:srgbClr val="F8FAFC"/>
                </a:solidFill>
                <a:latin typeface="Courier New"/>
              </a:defRPr>
            </a:pPr>
            <a:r>
              <a:rPr sz="1200" b="0">
                <a:solidFill>
                  <a:srgbClr val="F8FAFC"/>
                </a:solidFill>
                <a:latin typeface="Courier New"/>
              </a:rPr>
              <a:t>    "pesima, aburrida y sin sentido alguno",</a:t>
            </a:r>
          </a:p>
          <a:p>
            <a:pPr>
              <a:defRPr sz="1200" b="0">
                <a:solidFill>
                  <a:srgbClr val="F8FAFC"/>
                </a:solidFill>
                <a:latin typeface="Courier New"/>
              </a:defRPr>
            </a:pPr>
            <a:r>
              <a:rPr sz="1200" b="0">
                <a:solidFill>
                  <a:srgbClr val="F8FAFC"/>
                </a:solidFill>
                <a:latin typeface="Courier New"/>
              </a:rPr>
              <a:t>    "no la recomiendo, perdi mi tiempo",</a:t>
            </a:r>
          </a:p>
          <a:p>
            <a:pPr>
              <a:defRPr sz="1200" b="0">
                <a:solidFill>
                  <a:srgbClr val="F8FAFC"/>
                </a:solidFill>
                <a:latin typeface="Courier New"/>
              </a:defRPr>
            </a:pPr>
            <a:r>
              <a:rPr sz="1200" b="0">
                <a:solidFill>
                  <a:srgbClr val="F8FAFC"/>
                </a:solidFill>
                <a:latin typeface="Courier New"/>
              </a:rPr>
              <a:t>    "genial, la volveria a ver sin dudarlo",</a:t>
            </a:r>
          </a:p>
          <a:p>
            <a:pPr>
              <a:defRPr sz="1200" b="0">
                <a:solidFill>
                  <a:srgbClr val="F8FAFC"/>
                </a:solidFill>
                <a:latin typeface="Courier New"/>
              </a:defRPr>
            </a:pPr>
            <a:r>
              <a:rPr sz="1200" b="0">
                <a:solidFill>
                  <a:srgbClr val="F8FAFC"/>
                </a:solidFill>
                <a:latin typeface="Courier New"/>
              </a:rPr>
              <a:t>    "horrible guion y mala direccion",</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etiquetas = np.array([1, 1, 0, 0, 1, 0], dtype="float32")   # 1 = positivo, 0 = negativo</a:t>
            </a:r>
          </a:p>
          <a:p>
            <a:pPr>
              <a:defRPr sz="1200" b="0">
                <a:solidFill>
                  <a:srgbClr val="F8FAFC"/>
                </a:solidFill>
                <a:latin typeface="Courier New"/>
              </a:defRPr>
            </a:pPr>
            <a:r>
              <a:rPr sz="1200" b="0">
                <a:solidFill>
                  <a:srgbClr val="F8FAFC"/>
                </a:solidFill>
                <a:latin typeface="Courier New"/>
              </a:rPr>
              <a:t>print("ejemplos:", len(textos))</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140 — Análisis de sentimiento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Baseline ML clásico: TfidfVectorizer + LogisticRegression.</a:t>
            </a:r>
          </a:p>
          <a:p>
            <a:pPr>
              <a:spcAft>
                <a:spcPts val="800"/>
              </a:spcAft>
              <a:defRPr sz="1400" b="0">
                <a:solidFill>
                  <a:srgbClr val="0F172A"/>
                </a:solidFill>
                <a:latin typeface="Segoe UI"/>
              </a:defRPr>
            </a:pPr>
            <a:r>
              <a:rPr sz="1400" b="0">
                <a:solidFill>
                  <a:srgbClr val="0F172A"/>
                </a:solidFill>
                <a:latin typeface="Segoe UI"/>
              </a:rPr>
              <a:t>• Bag-of-embeddings: Embedding → GlobalAveragePooling1D → Dense(1, sigmoid).</a:t>
            </a:r>
          </a:p>
          <a:p>
            <a:pPr>
              <a:spcAft>
                <a:spcPts val="800"/>
              </a:spcAft>
              <a:defRPr sz="1400" b="0">
                <a:solidFill>
                  <a:srgbClr val="0F172A"/>
                </a:solidFill>
                <a:latin typeface="Segoe UI"/>
              </a:defRPr>
            </a:pPr>
            <a:r>
              <a:rPr sz="1400" b="0">
                <a:solidFill>
                  <a:srgbClr val="0F172A"/>
                </a:solidFill>
                <a:latin typeface="Segoe UI"/>
              </a:rPr>
              <a:t>• Conv1D: Embedding → Conv1D(64, 5) → GlobalMaxPool1D → Dense(1, sigmoid).</a:t>
            </a:r>
          </a:p>
          <a:p>
            <a:pPr>
              <a:spcAft>
                <a:spcPts val="800"/>
              </a:spcAft>
              <a:defRPr sz="1400" b="0">
                <a:solidFill>
                  <a:srgbClr val="0F172A"/>
                </a:solidFill>
                <a:latin typeface="Segoe UI"/>
              </a:defRPr>
            </a:pPr>
            <a:r>
              <a:rPr sz="1400" b="0">
                <a:solidFill>
                  <a:srgbClr val="0F172A"/>
                </a:solidFill>
                <a:latin typeface="Segoe UI"/>
              </a:rPr>
              <a:t>• Bidirectional LSTM: Embedding → Bidirectional(LSTM(64)) → Dense(1, sigmoid).</a:t>
            </a:r>
          </a:p>
          <a:p>
            <a:pPr>
              <a:spcAft>
                <a:spcPts val="800"/>
              </a:spcAft>
              <a:defRPr sz="1400" b="0">
                <a:solidFill>
                  <a:srgbClr val="0F172A"/>
                </a:solidFill>
                <a:latin typeface="Segoe UI"/>
              </a:defRPr>
            </a:pPr>
            <a:r>
              <a:rPr sz="1400" b="0">
                <a:solidFill>
                  <a:srgbClr val="0F172A"/>
                </a:solidFill>
                <a:latin typeface="Segoe UI"/>
              </a:rPr>
              <a:t>• Pre-trained: cargar GloVe 100d y inicializar la matriz de Embedding con ellos.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TextVectorization(20_000, 200).</a:t>
            </a:r>
          </a:p>
          <a:p>
            <a:pPr>
              <a:spcAft>
                <a:spcPts val="800"/>
              </a:spcAft>
              <a:defRPr sz="1500" b="0">
                <a:solidFill>
                  <a:srgbClr val="0F172A"/>
                </a:solidFill>
                <a:latin typeface="Segoe UI"/>
              </a:defRPr>
            </a:pPr>
            <a:r>
              <a:rPr sz="1500" b="0">
                <a:solidFill>
                  <a:srgbClr val="0F172A"/>
                </a:solidFill>
                <a:latin typeface="Segoe UI"/>
              </a:rPr>
              <a:t>• Tres modelos: Conv1D, Bidirectional LSTM, BagOfEmbeddings.</a:t>
            </a:r>
          </a:p>
          <a:p>
            <a:pPr>
              <a:spcAft>
                <a:spcPts val="800"/>
              </a:spcAft>
              <a:defRPr sz="1500" b="0">
                <a:solidFill>
                  <a:srgbClr val="0F172A"/>
                </a:solidFill>
                <a:latin typeface="Segoe UI"/>
              </a:defRPr>
            </a:pPr>
            <a:r>
              <a:rPr sz="1500" b="0">
                <a:solidFill>
                  <a:srgbClr val="0F172A"/>
                </a:solidFill>
                <a:latin typeface="Segoe UI"/>
              </a:rPr>
              <a:t>• Reportar accuracy en test para cada uno.</a:t>
            </a:r>
          </a:p>
          <a:p>
            <a:pPr>
              <a:spcAft>
                <a:spcPts val="800"/>
              </a:spcAft>
              <a:defRPr sz="1500" b="0">
                <a:solidFill>
                  <a:srgbClr val="0F172A"/>
                </a:solidFill>
                <a:latin typeface="Segoe UI"/>
              </a:defRPr>
            </a:pPr>
            <a:r>
              <a:rPr sz="1500" b="0">
                <a:solidFill>
                  <a:srgbClr val="0F172A"/>
                </a:solidFill>
                <a:latin typeface="Segoe UI"/>
              </a:rPr>
              <a:t>• Comparar contra TFIDF + LogReg.</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141 — Encoder-Decoder para traducción</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Encoder–Decoder Network for Neural Machine Translation.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la arquitectura seq2seq (Sutskever, Vinyals &amp; Le 2014) — un encoder que comprime la oración fuente en un vector de contexto + un decoder que genera la oración destino token por token. Conocer teacher forcing (durante training, el decoder ve los targets reales como input) vs inference autoregresiva. Esta arquitectura es la antesala de atención (clase 125) y de Transformers (clase 126).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seq2seq con dos LSTM: encoder devuelve state, decoder usa ese state como inicialización.</a:t>
            </a:r>
          </a:p>
          <a:p>
            <a:pPr>
              <a:spcAft>
                <a:spcPts val="800"/>
              </a:spcAft>
              <a:defRPr sz="1400" b="0">
                <a:solidFill>
                  <a:srgbClr val="0F172A"/>
                </a:solidFill>
                <a:latin typeface="Segoe UI"/>
              </a:defRPr>
            </a:pPr>
            <a:r>
              <a:rPr sz="1400" b="0">
                <a:solidFill>
                  <a:srgbClr val="0F172A"/>
                </a:solidFill>
                <a:latin typeface="Segoe UI"/>
              </a:rPr>
              <a:t>• Aplicar teacher forcing: en training, decoder input = target shifted; en inference, autoregresivo.</a:t>
            </a:r>
          </a:p>
          <a:p>
            <a:pPr>
              <a:spcAft>
                <a:spcPts val="800"/>
              </a:spcAft>
              <a:defRPr sz="1400" b="0">
                <a:solidFill>
                  <a:srgbClr val="0F172A"/>
                </a:solidFill>
                <a:latin typeface="Segoe UI"/>
              </a:defRPr>
            </a:pPr>
            <a:r>
              <a:rPr sz="1400" b="0">
                <a:solidFill>
                  <a:srgbClr val="0F172A"/>
                </a:solidFill>
                <a:latin typeface="Segoe UI"/>
              </a:rPr>
              <a:t>• Tokens especiales: &lt;start&gt;, &lt;end&gt;, &lt;pad&gt;, &lt;unk&gt;.</a:t>
            </a:r>
          </a:p>
          <a:p>
            <a:pPr>
              <a:spcAft>
                <a:spcPts val="800"/>
              </a:spcAft>
              <a:defRPr sz="1400" b="0">
                <a:solidFill>
                  <a:srgbClr val="0F172A"/>
                </a:solidFill>
                <a:latin typeface="Segoe UI"/>
              </a:defRPr>
            </a:pPr>
            <a:r>
              <a:rPr sz="1400" b="0">
                <a:solidFill>
                  <a:srgbClr val="0F172A"/>
                </a:solidFill>
                <a:latin typeface="Segoe UI"/>
              </a:rPr>
              <a:t>• Reconocer la limitación del cuello de botella (todo el meaning de la oración fuente en un vector fijo) — motivación para atención.</a:t>
            </a:r>
          </a:p>
          <a:p>
            <a:pPr>
              <a:spcAft>
                <a:spcPts val="800"/>
              </a:spcAft>
              <a:defRPr sz="1400" b="0">
                <a:solidFill>
                  <a:srgbClr val="0F172A"/>
                </a:solidFill>
                <a:latin typeface="Segoe UI"/>
              </a:defRPr>
            </a:pPr>
            <a:r>
              <a:rPr sz="1400" b="0">
                <a:solidFill>
                  <a:srgbClr val="0F172A"/>
                </a:solidFill>
                <a:latin typeface="Segoe UI"/>
              </a:rPr>
              <a:t>• Evaluar traducción con BLEU (nltk.translate.bleu_score).</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Arquitectura clásica seq2seq con 2 LSTM.</a:t>
            </a:r>
          </a:p>
          <a:p>
            <a:pPr>
              <a:spcAft>
                <a:spcPts val="1000"/>
              </a:spcAft>
              <a:defRPr sz="1600" b="0">
                <a:solidFill>
                  <a:srgbClr val="0F172A"/>
                </a:solidFill>
                <a:latin typeface="Segoe UI"/>
              </a:defRPr>
            </a:pPr>
            <a:r>
              <a:rPr sz="1600" b="0">
                <a:solidFill>
                  <a:srgbClr val="0F172A"/>
                </a:solidFill>
                <a:latin typeface="Segoe UI"/>
              </a:rPr>
              <a:t>• Teacher forcing vs scheduled sampling.</a:t>
            </a:r>
          </a:p>
          <a:p>
            <a:pPr>
              <a:spcAft>
                <a:spcPts val="1000"/>
              </a:spcAft>
              <a:defRPr sz="1600" b="0">
                <a:solidFill>
                  <a:srgbClr val="0F172A"/>
                </a:solidFill>
                <a:latin typeface="Segoe UI"/>
              </a:defRPr>
            </a:pPr>
            <a:r>
              <a:rPr sz="1600" b="0">
                <a:solidFill>
                  <a:srgbClr val="0F172A"/>
                </a:solidFill>
                <a:latin typeface="Segoe UI"/>
              </a:rPr>
              <a:t>• Inference autoregresiva con generate loop.</a:t>
            </a:r>
          </a:p>
          <a:p>
            <a:pPr>
              <a:spcAft>
                <a:spcPts val="1000"/>
              </a:spcAft>
              <a:defRPr sz="1600" b="0">
                <a:solidFill>
                  <a:srgbClr val="0F172A"/>
                </a:solidFill>
                <a:latin typeface="Segoe UI"/>
              </a:defRPr>
            </a:pPr>
            <a:r>
              <a:rPr sz="1600" b="0">
                <a:solidFill>
                  <a:srgbClr val="0F172A"/>
                </a:solidFill>
                <a:latin typeface="Segoe UI"/>
              </a:rPr>
              <a:t>• Beam search (mejor que greedy).</a:t>
            </a:r>
          </a:p>
          <a:p>
            <a:pPr>
              <a:spcAft>
                <a:spcPts val="1000"/>
              </a:spcAft>
              <a:defRPr sz="1600" b="0">
                <a:solidFill>
                  <a:srgbClr val="0F172A"/>
                </a:solidFill>
                <a:latin typeface="Segoe UI"/>
              </a:defRPr>
            </a:pPr>
            <a:r>
              <a:rPr sz="1600" b="0">
                <a:solidFill>
                  <a:srgbClr val="0F172A"/>
                </a:solidFill>
                <a:latin typeface="Segoe UI"/>
              </a:rPr>
              <a:t>• BLEU como métrica.</a:t>
            </a:r>
          </a:p>
          <a:p>
            <a:pPr>
              <a:spcAft>
                <a:spcPts val="1000"/>
              </a:spcAft>
              <a:defRPr sz="1600" b="0">
                <a:solidFill>
                  <a:srgbClr val="0F172A"/>
                </a:solidFill>
                <a:latin typeface="Segoe UI"/>
              </a:defRPr>
            </a:pPr>
            <a:r>
              <a:rPr sz="1600" b="0">
                <a:solidFill>
                  <a:srgbClr val="0F172A"/>
                </a:solidFill>
                <a:latin typeface="Segoe UI"/>
              </a:rPr>
              <a:t>• Limitación del bottleneck → motivó atención (Bahdanau 2014).</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pares = [</a:t>
            </a:r>
          </a:p>
          <a:p>
            <a:pPr>
              <a:defRPr sz="1200" b="0">
                <a:solidFill>
                  <a:srgbClr val="F8FAFC"/>
                </a:solidFill>
                <a:latin typeface="Courier New"/>
              </a:defRPr>
            </a:pPr>
            <a:r>
              <a:rPr sz="1200" b="0">
                <a:solidFill>
                  <a:srgbClr val="F8FAFC"/>
                </a:solidFill>
                <a:latin typeface="Courier New"/>
              </a:rPr>
              <a:t>    ("hello", "hola"),</a:t>
            </a:r>
          </a:p>
          <a:p>
            <a:pPr>
              <a:defRPr sz="1200" b="0">
                <a:solidFill>
                  <a:srgbClr val="F8FAFC"/>
                </a:solidFill>
                <a:latin typeface="Courier New"/>
              </a:defRPr>
            </a:pPr>
            <a:r>
              <a:rPr sz="1200" b="0">
                <a:solidFill>
                  <a:srgbClr val="F8FAFC"/>
                </a:solidFill>
                <a:latin typeface="Courier New"/>
              </a:rPr>
              <a:t>    ("good morning", "buenos dias"),</a:t>
            </a:r>
          </a:p>
          <a:p>
            <a:pPr>
              <a:defRPr sz="1200" b="0">
                <a:solidFill>
                  <a:srgbClr val="F8FAFC"/>
                </a:solidFill>
                <a:latin typeface="Courier New"/>
              </a:defRPr>
            </a:pPr>
            <a:r>
              <a:rPr sz="1200" b="0">
                <a:solidFill>
                  <a:srgbClr val="F8FAFC"/>
                </a:solidFill>
                <a:latin typeface="Courier New"/>
              </a:rPr>
              <a:t>    ("thank you", "gracias"),</a:t>
            </a:r>
          </a:p>
          <a:p>
            <a:pPr>
              <a:defRPr sz="1200" b="0">
                <a:solidFill>
                  <a:srgbClr val="F8FAFC"/>
                </a:solidFill>
                <a:latin typeface="Courier New"/>
              </a:defRPr>
            </a:pPr>
            <a:r>
              <a:rPr sz="1200" b="0">
                <a:solidFill>
                  <a:srgbClr val="F8FAFC"/>
                </a:solidFill>
                <a:latin typeface="Courier New"/>
              </a:rPr>
              <a:t>    ("how are you", "como estas"),</a:t>
            </a:r>
          </a:p>
          <a:p>
            <a:pPr>
              <a:defRPr sz="1200" b="0">
                <a:solidFill>
                  <a:srgbClr val="F8FAFC"/>
                </a:solidFill>
                <a:latin typeface="Courier New"/>
              </a:defRPr>
            </a:pPr>
            <a:r>
              <a:rPr sz="1200" b="0">
                <a:solidFill>
                  <a:srgbClr val="F8FAFC"/>
                </a:solidFill>
                <a:latin typeface="Courier New"/>
              </a:rPr>
              <a:t>    ("see you later", "hasta luego"),</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fuente = [s for s, _ in pares]</a:t>
            </a:r>
          </a:p>
          <a:p>
            <a:pPr>
              <a:defRPr sz="1200" b="0">
                <a:solidFill>
                  <a:srgbClr val="F8FAFC"/>
                </a:solidFill>
                <a:latin typeface="Courier New"/>
              </a:defRPr>
            </a:pPr>
            <a:r>
              <a:rPr sz="1200" b="0">
                <a:solidFill>
                  <a:srgbClr val="F8FAFC"/>
                </a:solidFill>
                <a:latin typeface="Courier New"/>
              </a:rPr>
              <a:t>destino = ["[start] " + t + " [end]" for _, t in pares]   # marcadores de inicio/fin</a:t>
            </a:r>
          </a:p>
          <a:p>
            <a:pPr>
              <a:defRPr sz="1200" b="0">
                <a:solidFill>
                  <a:srgbClr val="F8FAFC"/>
                </a:solidFill>
                <a:latin typeface="Courier New"/>
              </a:defRPr>
            </a:pPr>
            <a:r>
              <a:rPr sz="1200" b="0">
                <a:solidFill>
                  <a:srgbClr val="F8FAFC"/>
                </a:solidFill>
                <a:latin typeface="Courier New"/>
              </a:rPr>
              <a:t>print(destino[0])</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Preparar datos: tokenizar source y target, agregar &lt;start&gt; y &lt;end&gt; al target, padding.</a:t>
            </a:r>
          </a:p>
          <a:p>
            <a:pPr>
              <a:spcAft>
                <a:spcPts val="800"/>
              </a:spcAft>
              <a:defRPr sz="1400" b="0">
                <a:solidFill>
                  <a:srgbClr val="0F172A"/>
                </a:solidFill>
                <a:latin typeface="Segoe UI"/>
              </a:defRPr>
            </a:pPr>
            <a:r>
              <a:rPr sz="1400" b="0">
                <a:solidFill>
                  <a:srgbClr val="0F172A"/>
                </a:solidFill>
                <a:latin typeface="Segoe UI"/>
              </a:rPr>
              <a:t>• Encoder: Embedding → LSTM(256, return_state=True).</a:t>
            </a:r>
          </a:p>
          <a:p>
            <a:pPr>
              <a:spcAft>
                <a:spcPts val="800"/>
              </a:spcAft>
              <a:defRPr sz="1400" b="0">
                <a:solidFill>
                  <a:srgbClr val="0F172A"/>
                </a:solidFill>
                <a:latin typeface="Segoe UI"/>
              </a:defRPr>
            </a:pPr>
            <a:r>
              <a:rPr sz="1400" b="0">
                <a:solidFill>
                  <a:srgbClr val="0F172A"/>
                </a:solidFill>
                <a:latin typeface="Segoe UI"/>
              </a:rPr>
              <a:t>• Decoder en training: Embedding(decoder_input) → LSTM(256, initial_state=encoder_state) → Dense(target_vocab, softmax).</a:t>
            </a:r>
          </a:p>
          <a:p>
            <a:pPr>
              <a:spcAft>
                <a:spcPts val="800"/>
              </a:spcAft>
              <a:defRPr sz="1400" b="0">
                <a:solidFill>
                  <a:srgbClr val="0F172A"/>
                </a:solidFill>
                <a:latin typeface="Segoe UI"/>
              </a:defRPr>
            </a:pPr>
            <a:r>
              <a:rPr sz="1400" b="0">
                <a:solidFill>
                  <a:srgbClr val="0F172A"/>
                </a:solidFill>
                <a:latin typeface="Segoe UI"/>
              </a:rPr>
              <a:t>• Inference loop: feed &lt;start&gt;, predecir, alimentar prediction como next input, hasta &lt;end&gt; o max_len.</a:t>
            </a:r>
          </a:p>
          <a:p>
            <a:pPr>
              <a:spcAft>
                <a:spcPts val="800"/>
              </a:spcAft>
              <a:defRPr sz="1400" b="0">
                <a:solidFill>
                  <a:srgbClr val="0F172A"/>
                </a:solidFill>
                <a:latin typeface="Segoe UI"/>
              </a:defRPr>
            </a:pPr>
            <a:r>
              <a:rPr sz="1400" b="0">
                <a:solidFill>
                  <a:srgbClr val="0F172A"/>
                </a:solidFill>
                <a:latin typeface="Segoe UI"/>
              </a:rPr>
              <a:t>• BLEU: calcular sobre el test set.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Tatoeba (~10k frases).</a:t>
            </a:r>
          </a:p>
          <a:p>
            <a:pPr>
              <a:spcAft>
                <a:spcPts val="800"/>
              </a:spcAft>
              <a:defRPr sz="1500" b="0">
                <a:solidFill>
                  <a:srgbClr val="0F172A"/>
                </a:solidFill>
                <a:latin typeface="Segoe UI"/>
              </a:defRPr>
            </a:pPr>
            <a:r>
              <a:rPr sz="1500" b="0">
                <a:solidFill>
                  <a:srgbClr val="0F172A"/>
                </a:solidFill>
                <a:latin typeface="Segoe UI"/>
              </a:rPr>
              <a:t>• Encoder + decoder LSTM con 256 units.</a:t>
            </a:r>
          </a:p>
          <a:p>
            <a:pPr>
              <a:spcAft>
                <a:spcPts val="800"/>
              </a:spcAft>
              <a:defRPr sz="1500" b="0">
                <a:solidFill>
                  <a:srgbClr val="0F172A"/>
                </a:solidFill>
                <a:latin typeface="Segoe UI"/>
              </a:defRPr>
            </a:pPr>
            <a:r>
              <a:rPr sz="1500" b="0">
                <a:solidFill>
                  <a:srgbClr val="0F172A"/>
                </a:solidFill>
                <a:latin typeface="Segoe UI"/>
              </a:rPr>
              <a:t>• Train 30 épocas con teacher forcing.</a:t>
            </a:r>
          </a:p>
          <a:p>
            <a:pPr>
              <a:spcAft>
                <a:spcPts val="800"/>
              </a:spcAft>
              <a:defRPr sz="1500" b="0">
                <a:solidFill>
                  <a:srgbClr val="0F172A"/>
                </a:solidFill>
                <a:latin typeface="Segoe UI"/>
              </a:defRPr>
            </a:pPr>
            <a:r>
              <a:rPr sz="1500" b="0">
                <a:solidFill>
                  <a:srgbClr val="0F172A"/>
                </a:solidFill>
                <a:latin typeface="Segoe UI"/>
              </a:rPr>
              <a:t>• Inference autoregresiva + BLEU.</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142 — Mecanismos de atención</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142 — Mecanismos de atención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Attention Mechanisms + Bahdanau et al. (2015), Luong et al. (2015).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la atención — el mecanismo que destrabó NLP moderno. Bahdanau (2015): permite al decoder mirar todos los hidden states del encoder, ponderando dinámicamente. Luego self-attention (Vaswani 2017): tokens dentro de la misma secuencia se atienden entre sí → Transformer (clase 126).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scaled dot-product attention: softmax(QK^T / √d) V.</a:t>
            </a:r>
          </a:p>
          <a:p>
            <a:pPr>
              <a:spcAft>
                <a:spcPts val="800"/>
              </a:spcAft>
              <a:defRPr sz="1400" b="0">
                <a:solidFill>
                  <a:srgbClr val="0F172A"/>
                </a:solidFill>
                <a:latin typeface="Segoe UI"/>
              </a:defRPr>
            </a:pPr>
            <a:r>
              <a:rPr sz="1400" b="0">
                <a:solidFill>
                  <a:srgbClr val="0F172A"/>
                </a:solidFill>
                <a:latin typeface="Segoe UI"/>
              </a:rPr>
              <a:t>• Diferenciar cross-attention (decoder→encoder, clásico Bahdanau) de self-attention (intra-secuencia, base del Transformer).</a:t>
            </a:r>
          </a:p>
          <a:p>
            <a:pPr>
              <a:spcAft>
                <a:spcPts val="800"/>
              </a:spcAft>
              <a:defRPr sz="1400" b="0">
                <a:solidFill>
                  <a:srgbClr val="0F172A"/>
                </a:solidFill>
                <a:latin typeface="Segoe UI"/>
              </a:defRPr>
            </a:pPr>
            <a:r>
              <a:rPr sz="1400" b="0">
                <a:solidFill>
                  <a:srgbClr val="0F172A"/>
                </a:solidFill>
                <a:latin typeface="Segoe UI"/>
              </a:rPr>
              <a:t>• Implementar attention a mano en numpy/TF para una secuencia corta.</a:t>
            </a:r>
          </a:p>
          <a:p>
            <a:pPr>
              <a:spcAft>
                <a:spcPts val="800"/>
              </a:spcAft>
              <a:defRPr sz="1400" b="0">
                <a:solidFill>
                  <a:srgbClr val="0F172A"/>
                </a:solidFill>
                <a:latin typeface="Segoe UI"/>
              </a:defRPr>
            </a:pPr>
            <a:r>
              <a:rPr sz="1400" b="0">
                <a:solidFill>
                  <a:srgbClr val="0F172A"/>
                </a:solidFill>
                <a:latin typeface="Segoe UI"/>
              </a:rPr>
              <a:t>• Aplicar keras.layers.Attention o keras.layers.MultiHeadAttention.</a:t>
            </a:r>
          </a:p>
          <a:p>
            <a:pPr>
              <a:spcAft>
                <a:spcPts val="800"/>
              </a:spcAft>
              <a:defRPr sz="1400" b="0">
                <a:solidFill>
                  <a:srgbClr val="0F172A"/>
                </a:solidFill>
                <a:latin typeface="Segoe UI"/>
              </a:defRPr>
            </a:pPr>
            <a:r>
              <a:rPr sz="1400" b="0">
                <a:solidFill>
                  <a:srgbClr val="0F172A"/>
                </a:solidFill>
                <a:latin typeface="Segoe UI"/>
              </a:rPr>
              <a:t>• Interpretar attention weights como "qué tokens fuente miró el decoder al generar cada token destino".</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142 — Mecanismos de atención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Motivación: bottleneck del encoder en seq2seq.</a:t>
            </a:r>
          </a:p>
          <a:p>
            <a:pPr>
              <a:spcAft>
                <a:spcPts val="1000"/>
              </a:spcAft>
              <a:defRPr sz="1600" b="0">
                <a:solidFill>
                  <a:srgbClr val="0F172A"/>
                </a:solidFill>
                <a:latin typeface="Segoe UI"/>
              </a:defRPr>
            </a:pPr>
            <a:r>
              <a:rPr sz="1600" b="0">
                <a:solidFill>
                  <a:srgbClr val="0F172A"/>
                </a:solidFill>
                <a:latin typeface="Segoe UI"/>
              </a:rPr>
              <a:t>• Bahdanau (additive) vs Luong (multiplicative / dot-product).</a:t>
            </a:r>
          </a:p>
          <a:p>
            <a:pPr>
              <a:spcAft>
                <a:spcPts val="1000"/>
              </a:spcAft>
              <a:defRPr sz="1600" b="0">
                <a:solidFill>
                  <a:srgbClr val="0F172A"/>
                </a:solidFill>
                <a:latin typeface="Segoe UI"/>
              </a:defRPr>
            </a:pPr>
            <a:r>
              <a:rPr sz="1600" b="0">
                <a:solidFill>
                  <a:srgbClr val="0F172A"/>
                </a:solidFill>
                <a:latin typeface="Segoe UI"/>
              </a:rPr>
              <a:t>• Q, K, V: queries, keys, values.</a:t>
            </a:r>
          </a:p>
          <a:p>
            <a:pPr>
              <a:spcAft>
                <a:spcPts val="1000"/>
              </a:spcAft>
              <a:defRPr sz="1600" b="0">
                <a:solidFill>
                  <a:srgbClr val="0F172A"/>
                </a:solidFill>
                <a:latin typeface="Segoe UI"/>
              </a:defRPr>
            </a:pPr>
            <a:r>
              <a:rPr sz="1600" b="0">
                <a:solidFill>
                  <a:srgbClr val="0F172A"/>
                </a:solidFill>
                <a:latin typeface="Segoe UI"/>
              </a:rPr>
              <a:t>• Scaled dot-product attention.</a:t>
            </a:r>
          </a:p>
          <a:p>
            <a:pPr>
              <a:spcAft>
                <a:spcPts val="1000"/>
              </a:spcAft>
              <a:defRPr sz="1600" b="0">
                <a:solidFill>
                  <a:srgbClr val="0F172A"/>
                </a:solidFill>
                <a:latin typeface="Segoe UI"/>
              </a:defRPr>
            </a:pPr>
            <a:r>
              <a:rPr sz="1600" b="0">
                <a:solidFill>
                  <a:srgbClr val="0F172A"/>
                </a:solidFill>
                <a:latin typeface="Segoe UI"/>
              </a:rPr>
              <a:t>• Self-attention vs cross-attention.</a:t>
            </a:r>
          </a:p>
          <a:p>
            <a:pPr>
              <a:spcAft>
                <a:spcPts val="1000"/>
              </a:spcAft>
              <a:defRPr sz="1600" b="0">
                <a:solidFill>
                  <a:srgbClr val="0F172A"/>
                </a:solidFill>
                <a:latin typeface="Segoe UI"/>
              </a:defRPr>
            </a:pPr>
            <a:r>
              <a:rPr sz="1600" b="0">
                <a:solidFill>
                  <a:srgbClr val="0F172A"/>
                </a:solidFill>
                <a:latin typeface="Segoe UI"/>
              </a:rPr>
              <a:t>• Multi-head: paralelizar varias attention heads con subspaces distintos.</a:t>
            </a:r>
          </a:p>
          <a:p>
            <a:pPr>
              <a:spcAft>
                <a:spcPts val="1000"/>
              </a:spcAft>
              <a:defRPr sz="1600" b="0">
                <a:solidFill>
                  <a:srgbClr val="0F172A"/>
                </a:solidFill>
                <a:latin typeface="Segoe UI"/>
              </a:defRPr>
            </a:pPr>
            <a:r>
              <a:rPr sz="1600" b="0">
                <a:solidFill>
                  <a:srgbClr val="0F172A"/>
                </a:solidFill>
                <a:latin typeface="Segoe UI"/>
              </a:rPr>
              <a:t>• Attention weights visualizables.</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142 — Mecanismos de atención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softmax(x, axis=-1):</a:t>
            </a:r>
          </a:p>
          <a:p>
            <a:pPr>
              <a:defRPr sz="1200" b="0">
                <a:solidFill>
                  <a:srgbClr val="F8FAFC"/>
                </a:solidFill>
                <a:latin typeface="Courier New"/>
              </a:defRPr>
            </a:pPr>
            <a:r>
              <a:rPr sz="1200" b="0">
                <a:solidFill>
                  <a:srgbClr val="F8FAFC"/>
                </a:solidFill>
                <a:latin typeface="Courier New"/>
              </a:rPr>
              <a:t>    x = x - x.max(axis=axis, keepdims=True)</a:t>
            </a:r>
          </a:p>
          <a:p>
            <a:pPr>
              <a:defRPr sz="1200" b="0">
                <a:solidFill>
                  <a:srgbClr val="F8FAFC"/>
                </a:solidFill>
                <a:latin typeface="Courier New"/>
              </a:defRPr>
            </a:pPr>
            <a:r>
              <a:rPr sz="1200" b="0">
                <a:solidFill>
                  <a:srgbClr val="F8FAFC"/>
                </a:solidFill>
                <a:latin typeface="Courier New"/>
              </a:rPr>
              <a:t>    e = np.exp(x)</a:t>
            </a:r>
          </a:p>
          <a:p>
            <a:pPr>
              <a:defRPr sz="1200" b="0">
                <a:solidFill>
                  <a:srgbClr val="F8FAFC"/>
                </a:solidFill>
                <a:latin typeface="Courier New"/>
              </a:defRPr>
            </a:pPr>
            <a:r>
              <a:rPr sz="1200" b="0">
                <a:solidFill>
                  <a:srgbClr val="F8FAFC"/>
                </a:solidFill>
                <a:latin typeface="Courier New"/>
              </a:rPr>
              <a:t>    return e / e.sum(axis=axis, keepdims=True)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atencion(Q, K, V):</a:t>
            </a:r>
          </a:p>
          <a:p>
            <a:pPr>
              <a:defRPr sz="1200" b="0">
                <a:solidFill>
                  <a:srgbClr val="F8FAFC"/>
                </a:solidFill>
                <a:latin typeface="Courier New"/>
              </a:defRPr>
            </a:pPr>
            <a:r>
              <a:rPr sz="1200" b="0">
                <a:solidFill>
                  <a:srgbClr val="F8FAFC"/>
                </a:solidFill>
                <a:latin typeface="Courier New"/>
              </a:rPr>
              <a:t>    d = Q.shape[-1]</a:t>
            </a:r>
          </a:p>
          <a:p>
            <a:pPr>
              <a:defRPr sz="1200" b="0">
                <a:solidFill>
                  <a:srgbClr val="F8FAFC"/>
                </a:solidFill>
                <a:latin typeface="Courier New"/>
              </a:defRPr>
            </a:pPr>
            <a:r>
              <a:rPr sz="1200" b="0">
                <a:solidFill>
                  <a:srgbClr val="F8FAFC"/>
                </a:solidFill>
                <a:latin typeface="Courier New"/>
              </a:rPr>
              <a:t>    pesos = softmax(Q @ K.T / np.sqrt(d))   # softmax(QK^T / sqrt(d))</a:t>
            </a:r>
          </a:p>
          <a:p>
            <a:pPr>
              <a:defRPr sz="1200" b="0">
                <a:solidFill>
                  <a:srgbClr val="F8FAFC"/>
                </a:solidFill>
                <a:latin typeface="Courier New"/>
              </a:defRPr>
            </a:pPr>
            <a:r>
              <a:rPr sz="1200" b="0">
                <a:solidFill>
                  <a:srgbClr val="F8FAFC"/>
                </a:solidFill>
                <a:latin typeface="Courier New"/>
              </a:rPr>
              <a:t>    return pesos @ V, pesos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seq_q, seq_k, d = 3, 4, 8</a:t>
            </a:r>
          </a:p>
          <a:p>
            <a:pPr>
              <a:defRPr sz="1200" b="0">
                <a:solidFill>
                  <a:srgbClr val="F8FAFC"/>
                </a:solidFill>
                <a:latin typeface="Courier New"/>
              </a:defRPr>
            </a:pPr>
            <a:r>
              <a:rPr sz="1200" b="0">
                <a:solidFill>
                  <a:srgbClr val="F8FAFC"/>
                </a:solidFill>
                <a:latin typeface="Courier New"/>
              </a:rPr>
              <a:t>Q = rng.standard_normal((seq_q, d))</a:t>
            </a:r>
          </a:p>
          <a:p>
            <a:pPr>
              <a:defRPr sz="1200" b="0">
                <a:solidFill>
                  <a:srgbClr val="F8FAFC"/>
                </a:solidFill>
                <a:latin typeface="Courier New"/>
              </a:defRPr>
            </a:pPr>
            <a:r>
              <a:rPr sz="1200" b="0">
                <a:solidFill>
                  <a:srgbClr val="F8FAFC"/>
                </a:solidFill>
                <a:latin typeface="Courier New"/>
              </a:rPr>
              <a:t>K = rng.standard_normal((seq_k, d))</a:t>
            </a:r>
          </a:p>
          <a:p>
            <a:pPr>
              <a:defRPr sz="1200" b="0">
                <a:solidFill>
                  <a:srgbClr val="F8FAFC"/>
                </a:solidFill>
                <a:latin typeface="Courier New"/>
              </a:defRPr>
            </a:pPr>
            <a:r>
              <a:rPr sz="1200" b="0">
                <a:solidFill>
                  <a:srgbClr val="F8FAFC"/>
                </a:solidFill>
                <a:latin typeface="Courier New"/>
              </a:rPr>
              <a:t>V = rng.standard_normal((seq_k, d))</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142 — Mecanismos de atención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Attention a mano: Q, K, V random (seq, d); calcular softmax(QK^T / √d) V.</a:t>
            </a:r>
          </a:p>
          <a:p>
            <a:pPr>
              <a:spcAft>
                <a:spcPts val="800"/>
              </a:spcAft>
              <a:defRPr sz="1400" b="0">
                <a:solidFill>
                  <a:srgbClr val="0F172A"/>
                </a:solidFill>
                <a:latin typeface="Segoe UI"/>
              </a:defRPr>
            </a:pPr>
            <a:r>
              <a:rPr sz="1400" b="0">
                <a:solidFill>
                  <a:srgbClr val="0F172A"/>
                </a:solidFill>
                <a:latin typeface="Segoe UI"/>
              </a:rPr>
              <a:t>• Visualizar attention map: tras entrenar un seq2seq con atención, plot heatmap de los pesos (target, source) para una traducción.</a:t>
            </a:r>
          </a:p>
          <a:p>
            <a:pPr>
              <a:spcAft>
                <a:spcPts val="800"/>
              </a:spcAft>
              <a:defRPr sz="1400" b="0">
                <a:solidFill>
                  <a:srgbClr val="0F172A"/>
                </a:solidFill>
                <a:latin typeface="Segoe UI"/>
              </a:defRPr>
            </a:pPr>
            <a:r>
              <a:rPr sz="1400" b="0">
                <a:solidFill>
                  <a:srgbClr val="0F172A"/>
                </a:solidFill>
                <a:latin typeface="Segoe UI"/>
              </a:rPr>
              <a:t>• MultiHeadAttention: mha = MultiHeadAttention(num_heads=8, key_dim=64); output = mha(query, value).</a:t>
            </a:r>
          </a:p>
          <a:p>
            <a:pPr>
              <a:spcAft>
                <a:spcPts val="800"/>
              </a:spcAft>
              <a:defRPr sz="1400" b="0">
                <a:solidFill>
                  <a:srgbClr val="0F172A"/>
                </a:solidFill>
                <a:latin typeface="Segoe UI"/>
              </a:defRPr>
            </a:pPr>
            <a:r>
              <a:rPr sz="1400" b="0">
                <a:solidFill>
                  <a:srgbClr val="0F172A"/>
                </a:solidFill>
                <a:latin typeface="Segoe UI"/>
              </a:rPr>
              <a:t>• Self-attention: aplicar mha(x, x) (query = key = value).</a:t>
            </a:r>
          </a:p>
          <a:p>
            <a:pPr>
              <a:spcAft>
                <a:spcPts val="800"/>
              </a:spcAft>
              <a:defRPr sz="1400" b="0">
                <a:solidFill>
                  <a:srgbClr val="0F172A"/>
                </a:solidFill>
                <a:latin typeface="Segoe UI"/>
              </a:defRPr>
            </a:pPr>
            <a:r>
              <a:rPr sz="1400" b="0">
                <a:solidFill>
                  <a:srgbClr val="0F172A"/>
                </a:solidFill>
                <a:latin typeface="Segoe UI"/>
              </a:rPr>
              <a:t>• Causal mask: para generación autoregresiva, MultiHeadAttention(..., use_causal_mask=True).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Encoder LSTM con return_sequences=True.</a:t>
            </a:r>
          </a:p>
          <a:p>
            <a:pPr>
              <a:spcAft>
                <a:spcPts val="800"/>
              </a:spcAft>
              <a:defRPr sz="1500" b="0">
                <a:solidFill>
                  <a:srgbClr val="0F172A"/>
                </a:solidFill>
                <a:latin typeface="Segoe UI"/>
              </a:defRPr>
            </a:pPr>
            <a:r>
              <a:rPr sz="1500" b="0">
                <a:solidFill>
                  <a:srgbClr val="0F172A"/>
                </a:solidFill>
                <a:latin typeface="Segoe UI"/>
              </a:rPr>
              <a:t>• Decoder con cross-attention sobre todos los outputs del encoder.</a:t>
            </a:r>
          </a:p>
          <a:p>
            <a:pPr>
              <a:spcAft>
                <a:spcPts val="800"/>
              </a:spcAft>
              <a:defRPr sz="1500" b="0">
                <a:solidFill>
                  <a:srgbClr val="0F172A"/>
                </a:solidFill>
                <a:latin typeface="Segoe UI"/>
              </a:defRPr>
            </a:pPr>
            <a:r>
              <a:rPr sz="1500" b="0">
                <a:solidFill>
                  <a:srgbClr val="0F172A"/>
                </a:solidFill>
                <a:latin typeface="Segoe UI"/>
              </a:rPr>
              <a:t>• Train y evaluar BLEU.</a:t>
            </a:r>
          </a:p>
          <a:p>
            <a:pPr>
              <a:spcAft>
                <a:spcPts val="800"/>
              </a:spcAft>
              <a:defRPr sz="1500" b="0">
                <a:solidFill>
                  <a:srgbClr val="0F172A"/>
                </a:solidFill>
                <a:latin typeface="Segoe UI"/>
              </a:defRPr>
            </a:pPr>
            <a:r>
              <a:rPr sz="1500" b="0">
                <a:solidFill>
                  <a:srgbClr val="0F172A"/>
                </a:solidFill>
                <a:latin typeface="Segoe UI"/>
              </a:rPr>
              <a:t>• Visualizar attention map para 2 frases.</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143 — Transformers: arquitectura, BERT, GPT (+ Flash Attention, RoPE, GQA)</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143 — Transformers: arquitectura, BERT, GPT (+ Flash Attention, RoPE, GQA)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The Transformer Architecture + Vaswani et al. (2017) + papers BERT, GPT, FlashAttention.  Duración estimada: 100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la arquitectura Transformer —encoder, decoder, ambas variantes (BERT encoder-only, GPT decoder-only, T5 encoder-decoder)— a nivel de poder implementarla a mano. Conocer las mejoras clave 2022-2024 que hacen a los LLMs modernos rápidos y eficientes: Flash Attention v2/v3, RoPE (Rotary Position Embeddings), Grouped-Query Attention (GQA).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Dibujar el block de Transformer: LayerNorm → MultiHeadAttention → +residual → LayerNorm → FFN → +residual.</a:t>
            </a:r>
          </a:p>
          <a:p>
            <a:pPr>
              <a:spcAft>
                <a:spcPts val="800"/>
              </a:spcAft>
              <a:defRPr sz="1400" b="0">
                <a:solidFill>
                  <a:srgbClr val="0F172A"/>
                </a:solidFill>
                <a:latin typeface="Segoe UI"/>
              </a:defRPr>
            </a:pPr>
            <a:r>
              <a:rPr sz="1400" b="0">
                <a:solidFill>
                  <a:srgbClr val="0F172A"/>
                </a:solidFill>
                <a:latin typeface="Segoe UI"/>
              </a:rPr>
              <a:t>• Implementar positional encoding sinusoidal o aprendible.</a:t>
            </a:r>
          </a:p>
          <a:p>
            <a:pPr>
              <a:spcAft>
                <a:spcPts val="800"/>
              </a:spcAft>
              <a:defRPr sz="1400" b="0">
                <a:solidFill>
                  <a:srgbClr val="0F172A"/>
                </a:solidFill>
                <a:latin typeface="Segoe UI"/>
              </a:defRPr>
            </a:pPr>
            <a:r>
              <a:rPr sz="1400" b="0">
                <a:solidFill>
                  <a:srgbClr val="0F172A"/>
                </a:solidFill>
                <a:latin typeface="Segoe UI"/>
              </a:rPr>
              <a:t>• Reconocer 3 variantes: encoder-only (BERT), decoder-only (GPT), encoder-decoder (T5, Whisper).</a:t>
            </a:r>
          </a:p>
          <a:p>
            <a:pPr>
              <a:spcAft>
                <a:spcPts val="800"/>
              </a:spcAft>
              <a:defRPr sz="1400" b="0">
                <a:solidFill>
                  <a:srgbClr val="0F172A"/>
                </a:solidFill>
                <a:latin typeface="Segoe UI"/>
              </a:defRPr>
            </a:pPr>
            <a:r>
              <a:rPr sz="1400" b="0">
                <a:solidFill>
                  <a:srgbClr val="0F172A"/>
                </a:solidFill>
                <a:latin typeface="Segoe UI"/>
              </a:rPr>
              <a:t>• Saber qué hace cada mejora moderna: Flash Attention (O(N) memoria, 2-3× speedup), RoPE (mejor extrapolación a secuencias largas), GQA (compartir KV heads → menos KV cache en inference).</a:t>
            </a:r>
          </a:p>
          <a:p>
            <a:pPr>
              <a:spcAft>
                <a:spcPts val="800"/>
              </a:spcAft>
              <a:defRPr sz="1400" b="0">
                <a:solidFill>
                  <a:srgbClr val="0F172A"/>
                </a:solidFill>
                <a:latin typeface="Segoe UI"/>
              </a:defRPr>
            </a:pPr>
            <a:r>
              <a:rPr sz="1400" b="0">
                <a:solidFill>
                  <a:srgbClr val="0F172A"/>
                </a:solidFill>
                <a:latin typeface="Segoe UI"/>
              </a:rPr>
              <a:t>• Cargar y usar un Transformer chico con keras.layers.MultiHeadAttention o desde Hugging Face.</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143 — Transformers: arquitectura, BERT, GPT (+ Flash Attention, RoPE, GQA)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Block Transformer: LN → MHA → res → LN → FFN → res.</a:t>
            </a:r>
          </a:p>
          <a:p>
            <a:pPr>
              <a:spcAft>
                <a:spcPts val="1000"/>
              </a:spcAft>
              <a:defRPr sz="1600" b="0">
                <a:solidFill>
                  <a:srgbClr val="0F172A"/>
                </a:solidFill>
                <a:latin typeface="Segoe UI"/>
              </a:defRPr>
            </a:pPr>
            <a:r>
              <a:rPr sz="1600" b="0">
                <a:solidFill>
                  <a:srgbClr val="0F172A"/>
                </a:solidFill>
                <a:latin typeface="Segoe UI"/>
              </a:rPr>
              <a:t>• Positional encoding: por qué se necesita (attention es permutation-invariant) — sin → aprendible → RoPE.</a:t>
            </a:r>
          </a:p>
          <a:p>
            <a:pPr>
              <a:spcAft>
                <a:spcPts val="1000"/>
              </a:spcAft>
              <a:defRPr sz="1600" b="0">
                <a:solidFill>
                  <a:srgbClr val="0F172A"/>
                </a:solidFill>
                <a:latin typeface="Segoe UI"/>
              </a:defRPr>
            </a:pPr>
            <a:r>
              <a:rPr sz="1600" b="0">
                <a:solidFill>
                  <a:srgbClr val="0F172A"/>
                </a:solidFill>
                <a:latin typeface="Segoe UI"/>
              </a:rPr>
              <a:t>• BERT: encoder-only, MLM + NSP, bidireccional.</a:t>
            </a:r>
          </a:p>
          <a:p>
            <a:pPr>
              <a:spcAft>
                <a:spcPts val="1000"/>
              </a:spcAft>
              <a:defRPr sz="1600" b="0">
                <a:solidFill>
                  <a:srgbClr val="0F172A"/>
                </a:solidFill>
                <a:latin typeface="Segoe UI"/>
              </a:defRPr>
            </a:pPr>
            <a:r>
              <a:rPr sz="1600" b="0">
                <a:solidFill>
                  <a:srgbClr val="0F172A"/>
                </a:solidFill>
                <a:latin typeface="Segoe UI"/>
              </a:rPr>
              <a:t>• GPT: decoder-only, next-token, causal mask.</a:t>
            </a:r>
          </a:p>
          <a:p>
            <a:pPr>
              <a:spcAft>
                <a:spcPts val="1000"/>
              </a:spcAft>
              <a:defRPr sz="1600" b="0">
                <a:solidFill>
                  <a:srgbClr val="0F172A"/>
                </a:solidFill>
                <a:latin typeface="Segoe UI"/>
              </a:defRPr>
            </a:pPr>
            <a:r>
              <a:rPr sz="1600" b="0">
                <a:solidFill>
                  <a:srgbClr val="0F172A"/>
                </a:solidFill>
                <a:latin typeface="Segoe UI"/>
              </a:rPr>
              <a:t>• T5 / BART: encoder-decoder, span-corruption / denoising.</a:t>
            </a:r>
          </a:p>
          <a:p>
            <a:pPr>
              <a:spcAft>
                <a:spcPts val="1000"/>
              </a:spcAft>
              <a:defRPr sz="1600" b="0">
                <a:solidFill>
                  <a:srgbClr val="0F172A"/>
                </a:solidFill>
                <a:latin typeface="Segoe UI"/>
              </a:defRPr>
            </a:pPr>
            <a:r>
              <a:rPr sz="1600" b="0">
                <a:solidFill>
                  <a:srgbClr val="0F172A"/>
                </a:solidFill>
                <a:latin typeface="Segoe UI"/>
              </a:rPr>
              <a:t>• Complemento moderno: Flash Attention, RoPE, GQA, MQA.</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143 — Transformers: arquitectura, BERT, GPT (+ Flash Attention, RoPE, GQA)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def positional_encoding(seq_len, d_model):</a:t>
            </a:r>
          </a:p>
          <a:p>
            <a:pPr>
              <a:defRPr sz="1200" b="0">
                <a:solidFill>
                  <a:srgbClr val="F8FAFC"/>
                </a:solidFill>
                <a:latin typeface="Courier New"/>
              </a:defRPr>
            </a:pPr>
            <a:r>
              <a:rPr sz="1200" b="0">
                <a:solidFill>
                  <a:srgbClr val="F8FAFC"/>
                </a:solidFill>
                <a:latin typeface="Courier New"/>
              </a:rPr>
              <a:t>    pos = np.arange(seq_len)[:, None]</a:t>
            </a:r>
          </a:p>
          <a:p>
            <a:pPr>
              <a:defRPr sz="1200" b="0">
                <a:solidFill>
                  <a:srgbClr val="F8FAFC"/>
                </a:solidFill>
                <a:latin typeface="Courier New"/>
              </a:defRPr>
            </a:pPr>
            <a:r>
              <a:rPr sz="1200" b="0">
                <a:solidFill>
                  <a:srgbClr val="F8FAFC"/>
                </a:solidFill>
                <a:latin typeface="Courier New"/>
              </a:rPr>
              <a:t>    i = np.arange(d_model)[None, :]</a:t>
            </a:r>
          </a:p>
          <a:p>
            <a:pPr>
              <a:defRPr sz="1200" b="0">
                <a:solidFill>
                  <a:srgbClr val="F8FAFC"/>
                </a:solidFill>
                <a:latin typeface="Courier New"/>
              </a:defRPr>
            </a:pPr>
            <a:r>
              <a:rPr sz="1200" b="0">
                <a:solidFill>
                  <a:srgbClr val="F8FAFC"/>
                </a:solidFill>
                <a:latin typeface="Courier New"/>
              </a:rPr>
              <a:t>    ang = pos / np.power(10000.0, (2 * (i // 2)) / d_model)</a:t>
            </a:r>
          </a:p>
          <a:p>
            <a:pPr>
              <a:defRPr sz="1200" b="0">
                <a:solidFill>
                  <a:srgbClr val="F8FAFC"/>
                </a:solidFill>
                <a:latin typeface="Courier New"/>
              </a:defRPr>
            </a:pPr>
            <a:r>
              <a:rPr sz="1200" b="0">
                <a:solidFill>
                  <a:srgbClr val="F8FAFC"/>
                </a:solidFill>
                <a:latin typeface="Courier New"/>
              </a:rPr>
              <a:t>    pe = np.zeros((seq_len, d_model))</a:t>
            </a:r>
          </a:p>
          <a:p>
            <a:pPr>
              <a:defRPr sz="1200" b="0">
                <a:solidFill>
                  <a:srgbClr val="F8FAFC"/>
                </a:solidFill>
                <a:latin typeface="Courier New"/>
              </a:defRPr>
            </a:pPr>
            <a:r>
              <a:rPr sz="1200" b="0">
                <a:solidFill>
                  <a:srgbClr val="F8FAFC"/>
                </a:solidFill>
                <a:latin typeface="Courier New"/>
              </a:rPr>
              <a:t>    pe[:, 0::2] = np.sin(ang[:, 0::2])   # dimensiones pares -&gt; seno</a:t>
            </a:r>
          </a:p>
          <a:p>
            <a:pPr>
              <a:defRPr sz="1200" b="0">
                <a:solidFill>
                  <a:srgbClr val="F8FAFC"/>
                </a:solidFill>
                <a:latin typeface="Courier New"/>
              </a:defRPr>
            </a:pPr>
            <a:r>
              <a:rPr sz="1200" b="0">
                <a:solidFill>
                  <a:srgbClr val="F8FAFC"/>
                </a:solidFill>
                <a:latin typeface="Courier New"/>
              </a:rPr>
              <a:t>    pe[:, 1::2] = np.cos(ang[:, 1::2])   # dimensiones impares -&gt; coseno</a:t>
            </a:r>
          </a:p>
          <a:p>
            <a:pPr>
              <a:defRPr sz="1200" b="0">
                <a:solidFill>
                  <a:srgbClr val="F8FAFC"/>
                </a:solidFill>
                <a:latin typeface="Courier New"/>
              </a:defRPr>
            </a:pPr>
            <a:r>
              <a:rPr sz="1200" b="0">
                <a:solidFill>
                  <a:srgbClr val="F8FAFC"/>
                </a:solidFill>
                <a:latin typeface="Courier New"/>
              </a:rPr>
              <a:t>    return pe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pe = positional_encoding(50, 64)</a:t>
            </a:r>
          </a:p>
          <a:p>
            <a:pPr>
              <a:defRPr sz="1200" b="0">
                <a:solidFill>
                  <a:srgbClr val="F8FAFC"/>
                </a:solidFill>
                <a:latin typeface="Courier New"/>
              </a:defRPr>
            </a:pPr>
            <a:r>
              <a:rPr sz="1200" b="0">
                <a:solidFill>
                  <a:srgbClr val="F8FAFC"/>
                </a:solidFill>
                <a:latin typeface="Courier New"/>
              </a:rPr>
              <a:t>print("positional encoding:", pe.shape, "| rango:", round(pe.min(), 2), round(pe.max(), 2))</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143 — Transformers: arquitectura, BERT, GPT (+ Flash Attention, RoPE, GQA)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Transformer block desde cero: implementar def transformer_block(x): x = x + mha(LN(x)); x = x + ffn(LN(x)); return x con MultiHeadAttention y FFN.</a:t>
            </a:r>
          </a:p>
          <a:p>
            <a:pPr>
              <a:spcAft>
                <a:spcPts val="800"/>
              </a:spcAft>
              <a:defRPr sz="1400" b="0">
                <a:solidFill>
                  <a:srgbClr val="0F172A"/>
                </a:solidFill>
                <a:latin typeface="Segoe UI"/>
              </a:defRPr>
            </a:pPr>
            <a:r>
              <a:rPr sz="1400" b="0">
                <a:solidFill>
                  <a:srgbClr val="0F172A"/>
                </a:solidFill>
                <a:latin typeface="Segoe UI"/>
              </a:rPr>
              <a:t>• Positional encoding sinusoidal: implementar la fórmula original de Vaswani; visualizar como heatmap.</a:t>
            </a:r>
          </a:p>
          <a:p>
            <a:pPr>
              <a:spcAft>
                <a:spcPts val="800"/>
              </a:spcAft>
              <a:defRPr sz="1400" b="0">
                <a:solidFill>
                  <a:srgbClr val="0F172A"/>
                </a:solidFill>
                <a:latin typeface="Segoe UI"/>
              </a:defRPr>
            </a:pPr>
            <a:r>
              <a:rPr sz="1400" b="0">
                <a:solidFill>
                  <a:srgbClr val="0F172A"/>
                </a:solidFill>
                <a:latin typeface="Segoe UI"/>
              </a:rPr>
              <a:t>• Mini-GPT: 4 capas Transformer con causal mask.</a:t>
            </a:r>
          </a:p>
          <a:p>
            <a:pPr>
              <a:spcAft>
                <a:spcPts val="800"/>
              </a:spcAft>
              <a:defRPr sz="1400" b="0">
                <a:solidFill>
                  <a:srgbClr val="0F172A"/>
                </a:solidFill>
                <a:latin typeface="Segoe UI"/>
              </a:defRPr>
            </a:pPr>
            <a:r>
              <a:rPr sz="1400" b="0">
                <a:solidFill>
                  <a:srgbClr val="0F172A"/>
                </a:solidFill>
                <a:latin typeface="Segoe UI"/>
              </a:rPr>
              <a:t>• RoPE manual: implementar la rotación.</a:t>
            </a:r>
          </a:p>
          <a:p>
            <a:pPr>
              <a:spcAft>
                <a:spcPts val="800"/>
              </a:spcAft>
              <a:defRPr sz="1400" b="0">
                <a:solidFill>
                  <a:srgbClr val="0F172A"/>
                </a:solidFill>
                <a:latin typeface="Segoe UI"/>
              </a:defRPr>
            </a:pPr>
            <a:r>
              <a:rPr sz="1400" b="0">
                <a:solidFill>
                  <a:srgbClr val="0F172A"/>
                </a:solidFill>
                <a:latin typeface="Segoe UI"/>
              </a:rPr>
              <a:t>• HuggingFace check: cargar bert-base-uncased y gpt2; imprimir model.config.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4 capas Transformer decoder con causal mask.</a:t>
            </a:r>
          </a:p>
          <a:p>
            <a:pPr>
              <a:spcAft>
                <a:spcPts val="800"/>
              </a:spcAft>
              <a:defRPr sz="1500" b="0">
                <a:solidFill>
                  <a:srgbClr val="0F172A"/>
                </a:solidFill>
                <a:latin typeface="Segoe UI"/>
              </a:defRPr>
            </a:pPr>
            <a:r>
              <a:rPr sz="1500" b="0">
                <a:solidFill>
                  <a:srgbClr val="0F172A"/>
                </a:solidFill>
                <a:latin typeface="Segoe UI"/>
              </a:rPr>
              <a:t>• d_model=128, n_heads=4, vocab=char-level.</a:t>
            </a:r>
          </a:p>
          <a:p>
            <a:pPr>
              <a:spcAft>
                <a:spcPts val="800"/>
              </a:spcAft>
              <a:defRPr sz="1500" b="0">
                <a:solidFill>
                  <a:srgbClr val="0F172A"/>
                </a:solidFill>
                <a:latin typeface="Segoe UI"/>
              </a:defRPr>
            </a:pPr>
            <a:r>
              <a:rPr sz="1500" b="0">
                <a:solidFill>
                  <a:srgbClr val="0F172A"/>
                </a:solidFill>
                <a:latin typeface="Segoe UI"/>
              </a:rPr>
              <a:t>• Train 20 épocas; generar 1000 caracteres con temperatura 0.7.</a:t>
            </a:r>
          </a:p>
          <a:p>
            <a:pPr>
              <a:spcAft>
                <a:spcPts val="800"/>
              </a:spcAft>
              <a:defRPr sz="1500" b="0">
                <a:solidFill>
                  <a:srgbClr val="0F172A"/>
                </a:solidFill>
                <a:latin typeface="Segoe UI"/>
              </a:defRPr>
            </a:pPr>
            <a:r>
              <a:rPr sz="1500" b="0">
                <a:solidFill>
                  <a:srgbClr val="0F172A"/>
                </a:solidFill>
                <a:latin typeface="Segoe UI"/>
              </a:rPr>
              <a:t>• Comparar val_loss y muestras vs char-RNN (clase 122).</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144 — Flash Attention v2/v3, RoPE, GQA: el motor de los LLMs modernos</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144 — Flash Attention v2/v3, RoPE, GQA: el motor de los LLMs modernos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Dao et al. (2022, 2023, 2024) FlashAttention + Su et al. (2021) RoPE + Ainslie et al. (2023) GQA.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en profundidad las 3 piezas técnicas que hacen que un LLM moderno (Llama 3, Mistral, Qwen, Gemma) sea rápido y memory-efficient: Flash Attention v2/v3 (O(N) memoria + 2-3× speedup), Rotary Position Embeddings (RoPE) (mejor extrapolación), Grouped-Query Attention (GQA) (menos KV cache en inference).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por qué attention naïve es O(N²) en memoria y cómo FlashAttention lo reduce a O(N) con online softmax + tiling.</a:t>
            </a:r>
          </a:p>
          <a:p>
            <a:pPr>
              <a:spcAft>
                <a:spcPts val="800"/>
              </a:spcAft>
              <a:defRPr sz="1400" b="0">
                <a:solidFill>
                  <a:srgbClr val="0F172A"/>
                </a:solidFill>
                <a:latin typeface="Segoe UI"/>
              </a:defRPr>
            </a:pPr>
            <a:r>
              <a:rPr sz="1400" b="0">
                <a:solidFill>
                  <a:srgbClr val="0F172A"/>
                </a:solidFill>
                <a:latin typeface="Segoe UI"/>
              </a:rPr>
              <a:t>• Implementar RoPE: rotar pares de dimensiones de Q, K por ángulo función de posición.</a:t>
            </a:r>
          </a:p>
          <a:p>
            <a:pPr>
              <a:spcAft>
                <a:spcPts val="800"/>
              </a:spcAft>
              <a:defRPr sz="1400" b="0">
                <a:solidFill>
                  <a:srgbClr val="0F172A"/>
                </a:solidFill>
                <a:latin typeface="Segoe UI"/>
              </a:defRPr>
            </a:pPr>
            <a:r>
              <a:rPr sz="1400" b="0">
                <a:solidFill>
                  <a:srgbClr val="0F172A"/>
                </a:solidFill>
                <a:latin typeface="Segoe UI"/>
              </a:rPr>
              <a:t>• Diferenciar MHA, MQA, GQA — y por qué GQA es el compromiso default 2026.</a:t>
            </a:r>
          </a:p>
          <a:p>
            <a:pPr>
              <a:spcAft>
                <a:spcPts val="800"/>
              </a:spcAft>
              <a:defRPr sz="1400" b="0">
                <a:solidFill>
                  <a:srgbClr val="0F172A"/>
                </a:solidFill>
                <a:latin typeface="Segoe UI"/>
              </a:defRPr>
            </a:pPr>
            <a:r>
              <a:rPr sz="1400" b="0">
                <a:solidFill>
                  <a:srgbClr val="0F172A"/>
                </a:solidFill>
                <a:latin typeface="Segoe UI"/>
              </a:rPr>
              <a:t>• Aplicar torch.nn.functional.scaled_dot_product_attention(q, k, v, is_causal=True) que elige Flash auto.</a:t>
            </a:r>
          </a:p>
          <a:p>
            <a:pPr>
              <a:spcAft>
                <a:spcPts val="800"/>
              </a:spcAft>
              <a:defRPr sz="1400" b="0">
                <a:solidFill>
                  <a:srgbClr val="0F172A"/>
                </a:solidFill>
                <a:latin typeface="Segoe UI"/>
              </a:defRPr>
            </a:pPr>
            <a:r>
              <a:rPr sz="1400" b="0">
                <a:solidFill>
                  <a:srgbClr val="0F172A"/>
                </a:solidFill>
                <a:latin typeface="Segoe UI"/>
              </a:rPr>
              <a:t>• Reconocer combinación moderna: RMSNorm + GQA + RoPE + SwiGLU + Flash Attention.</a:t>
            </a:r>
          </a:p>
        </p:txBody>
      </p:sp>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144 — Flash Attention v2/v3, RoPE, GQA: el motor de los LLMs modernos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Attention cost: matriz (N, N) → 64 MB por head con N=8192, fp16.</a:t>
            </a:r>
          </a:p>
          <a:p>
            <a:pPr>
              <a:spcAft>
                <a:spcPts val="1000"/>
              </a:spcAft>
              <a:defRPr sz="1600" b="0">
                <a:solidFill>
                  <a:srgbClr val="0F172A"/>
                </a:solidFill>
                <a:latin typeface="Segoe UI"/>
              </a:defRPr>
            </a:pPr>
            <a:r>
              <a:rPr sz="1600" b="0">
                <a:solidFill>
                  <a:srgbClr val="0F172A"/>
                </a:solidFill>
                <a:latin typeface="Segoe UI"/>
              </a:rPr>
              <a:t>• FlashAttention: bloques en SRAM, no materializa la matriz completa.</a:t>
            </a:r>
          </a:p>
          <a:p>
            <a:pPr>
              <a:spcAft>
                <a:spcPts val="1000"/>
              </a:spcAft>
              <a:defRPr sz="1600" b="0">
                <a:solidFill>
                  <a:srgbClr val="0F172A"/>
                </a:solidFill>
                <a:latin typeface="Segoe UI"/>
              </a:defRPr>
            </a:pPr>
            <a:r>
              <a:rPr sz="1600" b="0">
                <a:solidFill>
                  <a:srgbClr val="0F172A"/>
                </a:solidFill>
                <a:latin typeface="Segoe UI"/>
              </a:rPr>
              <a:t>• v1 (2022), v2 (2023, 2× speedup), v3 (2024, optimizado H100).</a:t>
            </a:r>
          </a:p>
          <a:p>
            <a:pPr>
              <a:spcAft>
                <a:spcPts val="1000"/>
              </a:spcAft>
              <a:defRPr sz="1600" b="0">
                <a:solidFill>
                  <a:srgbClr val="0F172A"/>
                </a:solidFill>
                <a:latin typeface="Segoe UI"/>
              </a:defRPr>
            </a:pPr>
            <a:r>
              <a:rPr sz="1600" b="0">
                <a:solidFill>
                  <a:srgbClr val="0F172A"/>
                </a:solidFill>
                <a:latin typeface="Segoe UI"/>
              </a:rPr>
              <a:t>• Positional encoding: sinusoidal → learnable → RoPE.</a:t>
            </a:r>
          </a:p>
          <a:p>
            <a:pPr>
              <a:spcAft>
                <a:spcPts val="1000"/>
              </a:spcAft>
              <a:defRPr sz="1600" b="0">
                <a:solidFill>
                  <a:srgbClr val="0F172A"/>
                </a:solidFill>
                <a:latin typeface="Segoe UI"/>
              </a:defRPr>
            </a:pPr>
            <a:r>
              <a:rPr sz="1600" b="0">
                <a:solidFill>
                  <a:srgbClr val="0F172A"/>
                </a:solidFill>
                <a:latin typeface="Segoe UI"/>
              </a:rPr>
              <a:t>• RoPE: rotación bidimensional, propiedad relativa.</a:t>
            </a:r>
          </a:p>
          <a:p>
            <a:pPr>
              <a:spcAft>
                <a:spcPts val="1000"/>
              </a:spcAft>
              <a:defRPr sz="1600" b="0">
                <a:solidFill>
                  <a:srgbClr val="0F172A"/>
                </a:solidFill>
                <a:latin typeface="Segoe UI"/>
              </a:defRPr>
            </a:pPr>
            <a:r>
              <a:rPr sz="1600" b="0">
                <a:solidFill>
                  <a:srgbClr val="0F172A"/>
                </a:solidFill>
                <a:latin typeface="Segoe UI"/>
              </a:rPr>
              <a:t>• MHA / MQA / GQA: trade-off entre calidad y memoria.</a:t>
            </a:r>
          </a:p>
          <a:p>
            <a:pPr>
              <a:spcAft>
                <a:spcPts val="1000"/>
              </a:spcAft>
              <a:defRPr sz="1600" b="0">
                <a:solidFill>
                  <a:srgbClr val="0F172A"/>
                </a:solidFill>
                <a:latin typeface="Segoe UI"/>
              </a:defRPr>
            </a:pPr>
            <a:r>
              <a:rPr sz="1600" b="0">
                <a:solidFill>
                  <a:srgbClr val="0F172A"/>
                </a:solidFill>
                <a:latin typeface="Segoe UI"/>
              </a:rPr>
              <a:t>• KV cache: por qué crece en inference.</a:t>
            </a:r>
          </a:p>
        </p:txBody>
      </p:sp>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144 — Flash Attention v2/v3, RoPE, GQA: el motor de los LLMs modernos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Los 3 ingredientes que hacen que un LLM moderno (Llama-3, Mistral) corra en GPU consumer. Todo implementado en numpy puro.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d = 32, 64</a:t>
            </a:r>
          </a:p>
          <a:p>
            <a:pPr>
              <a:defRPr sz="1200" b="0">
                <a:solidFill>
                  <a:srgbClr val="F8FAFC"/>
                </a:solidFill>
                <a:latin typeface="Courier New"/>
              </a:defRPr>
            </a:pPr>
            <a:r>
              <a:rPr sz="1200" b="0">
                <a:solidFill>
                  <a:srgbClr val="F8FAFC"/>
                </a:solidFill>
                <a:latin typeface="Courier New"/>
              </a:rPr>
              <a:t>Q = np.random.randn(n, d) / np.sqrt(d)</a:t>
            </a:r>
          </a:p>
          <a:p>
            <a:pPr>
              <a:defRPr sz="1200" b="0">
                <a:solidFill>
                  <a:srgbClr val="F8FAFC"/>
                </a:solidFill>
                <a:latin typeface="Courier New"/>
              </a:defRPr>
            </a:pPr>
            <a:r>
              <a:rPr sz="1200" b="0">
                <a:solidFill>
                  <a:srgbClr val="F8FAFC"/>
                </a:solidFill>
                <a:latin typeface="Courier New"/>
              </a:rPr>
              <a:t>K = np.random.randn(n, d) / np.sqrt(d)</a:t>
            </a:r>
          </a:p>
          <a:p>
            <a:pPr>
              <a:defRPr sz="1200" b="0">
                <a:solidFill>
                  <a:srgbClr val="F8FAFC"/>
                </a:solidFill>
                <a:latin typeface="Courier New"/>
              </a:defRPr>
            </a:pPr>
            <a:r>
              <a:rPr sz="1200" b="0">
                <a:solidFill>
                  <a:srgbClr val="F8FAFC"/>
                </a:solidFill>
                <a:latin typeface="Courier New"/>
              </a:rPr>
              <a:t>V = np.random.randn(n, d)</a:t>
            </a:r>
          </a:p>
          <a:p>
            <a:pPr>
              <a:defRPr sz="1200" b="0">
                <a:solidFill>
                  <a:srgbClr val="F8FAFC"/>
                </a:solidFill>
                <a:latin typeface="Courier New"/>
              </a:defRPr>
            </a:pPr>
            <a:r>
              <a:rPr sz="1200" b="0">
                <a:solidFill>
                  <a:srgbClr val="F8FAFC"/>
                </a:solidFill>
                <a:latin typeface="Courier New"/>
              </a:rPr>
              <a:t>print('Q,K,V shapes:', Q.shape, K.shape, V.shape)</a:t>
            </a:r>
          </a:p>
        </p:txBody>
      </p:sp>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144 — Flash Attention v2/v3, RoPE, GQA: el motor de los LLMs modernos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SDPA vs naïve: implementar attention naïve y F.scaled_dot_product_attention.</a:t>
            </a:r>
          </a:p>
          <a:p>
            <a:pPr>
              <a:spcAft>
                <a:spcPts val="800"/>
              </a:spcAft>
              <a:defRPr sz="1400" b="0">
                <a:solidFill>
                  <a:srgbClr val="0F172A"/>
                </a:solidFill>
                <a:latin typeface="Segoe UI"/>
              </a:defRPr>
            </a:pPr>
            <a:r>
              <a:rPr sz="1400" b="0">
                <a:solidFill>
                  <a:srgbClr val="0F172A"/>
                </a:solidFill>
                <a:latin typeface="Segoe UI"/>
              </a:rPr>
              <a:t>• RoPE: implementar rotation function, verificar propiedad attention(R_θ q, R_φ k) = f(θ - φ).</a:t>
            </a:r>
          </a:p>
          <a:p>
            <a:pPr>
              <a:spcAft>
                <a:spcPts val="800"/>
              </a:spcAft>
              <a:defRPr sz="1400" b="0">
                <a:solidFill>
                  <a:srgbClr val="0F172A"/>
                </a:solidFill>
                <a:latin typeface="Segoe UI"/>
              </a:defRPr>
            </a:pPr>
            <a:r>
              <a:rPr sz="1400" b="0">
                <a:solidFill>
                  <a:srgbClr val="0F172A"/>
                </a:solidFill>
                <a:latin typeface="Segoe UI"/>
              </a:rPr>
              <a:t>• GQA Vs MHA: con Llama config (n_heads=32, kv_heads=8), inspeccionar shapes.</a:t>
            </a:r>
          </a:p>
          <a:p>
            <a:pPr>
              <a:spcAft>
                <a:spcPts val="800"/>
              </a:spcAft>
              <a:defRPr sz="1400" b="0">
                <a:solidFill>
                  <a:srgbClr val="0F172A"/>
                </a:solidFill>
                <a:latin typeface="Segoe UI"/>
              </a:defRPr>
            </a:pPr>
            <a:r>
              <a:rPr sz="1400" b="0">
                <a:solidFill>
                  <a:srgbClr val="0F172A"/>
                </a:solidFill>
                <a:latin typeface="Segoe UI"/>
              </a:rPr>
              <a:t>• KV cache: medir VRAM en inference con secuencia 8192 — comparar MHA vs GQA.</a:t>
            </a:r>
          </a:p>
          <a:p>
            <a:pPr>
              <a:spcAft>
                <a:spcPts val="800"/>
              </a:spcAft>
              <a:defRPr sz="1400" b="0">
                <a:solidFill>
                  <a:srgbClr val="0F172A"/>
                </a:solidFill>
                <a:latin typeface="Segoe UI"/>
              </a:defRPr>
            </a:pPr>
            <a:r>
              <a:rPr sz="1400" b="0">
                <a:solidFill>
                  <a:srgbClr val="0F172A"/>
                </a:solidFill>
                <a:latin typeface="Segoe UI"/>
              </a:rPr>
              <a:t>• FlashAttention v3 en H100: si tenés H100, benchmark vs v2.</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6-layer Transformer con: RMSNorm, GQA (4 KV heads / 8 Q heads), RoPE, SwiGLU FFN.</a:t>
            </a:r>
          </a:p>
          <a:p>
            <a:pPr>
              <a:spcAft>
                <a:spcPts val="800"/>
              </a:spcAft>
              <a:defRPr sz="1500" b="0">
                <a:solidFill>
                  <a:srgbClr val="0F172A"/>
                </a:solidFill>
                <a:latin typeface="Segoe UI"/>
              </a:defRPr>
            </a:pPr>
            <a:r>
              <a:rPr sz="1500" b="0">
                <a:solidFill>
                  <a:srgbClr val="0F172A"/>
                </a:solidFill>
                <a:latin typeface="Segoe UI"/>
              </a:rPr>
              <a:t>• Train next-token sobre Tiny Shakespeare.</a:t>
            </a:r>
          </a:p>
          <a:p>
            <a:pPr>
              <a:spcAft>
                <a:spcPts val="800"/>
              </a:spcAft>
              <a:defRPr sz="1500" b="0">
                <a:solidFill>
                  <a:srgbClr val="0F172A"/>
                </a:solidFill>
                <a:latin typeface="Segoe UI"/>
              </a:defRPr>
            </a:pPr>
            <a:r>
              <a:rPr sz="1500" b="0">
                <a:solidFill>
                  <a:srgbClr val="0F172A"/>
                </a:solidFill>
                <a:latin typeface="Segoe UI"/>
              </a:rPr>
              <a:t>• Comparar contra mini-GPT clásico (LayerNorm + MHA + Sin PE + GELU FFN).</a:t>
            </a:r>
          </a:p>
        </p:txBody>
      </p:sp>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145 — Hugging Face Transformers (uso práctico)</a:t>
            </a:r>
          </a:p>
        </p:txBody>
      </p:sp>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145 — Hugging Face Transformers (uso práctico)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HuggingFace docs + Géron, cap. 16 § Pretrained Transformer Models.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Hugging Face Transformers — la librería estándar de la industria para usar modelos preentrenados (BERT, GPT, T5, Llama, Whisper, ViT...). Aprender el pipeline API (one-liner para 90 % de los casos), el Trainer API (fine-tuning con muy poco código) y los componentes manuales (Tokenizer + Model + DataLoader).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pipeline('sentiment-analysis'), pipeline('summarization'), pipeline('zero-shot-classification'), etc. en 1 línea.</a:t>
            </a:r>
          </a:p>
          <a:p>
            <a:pPr>
              <a:spcAft>
                <a:spcPts val="800"/>
              </a:spcAft>
              <a:defRPr sz="1400" b="0">
                <a:solidFill>
                  <a:srgbClr val="0F172A"/>
                </a:solidFill>
                <a:latin typeface="Segoe UI"/>
              </a:defRPr>
            </a:pPr>
            <a:r>
              <a:rPr sz="1400" b="0">
                <a:solidFill>
                  <a:srgbClr val="0F172A"/>
                </a:solidFill>
                <a:latin typeface="Segoe UI"/>
              </a:rPr>
              <a:t>• Cargar manualmente: tokenizer = AutoTokenizer.from_pretrained('bert-base-uncased'), model = AutoModelForSequenceClassification.from_pretrained('...').</a:t>
            </a:r>
          </a:p>
          <a:p>
            <a:pPr>
              <a:spcAft>
                <a:spcPts val="800"/>
              </a:spcAft>
              <a:defRPr sz="1400" b="0">
                <a:solidFill>
                  <a:srgbClr val="0F172A"/>
                </a:solidFill>
                <a:latin typeface="Segoe UI"/>
              </a:defRPr>
            </a:pPr>
            <a:r>
              <a:rPr sz="1400" b="0">
                <a:solidFill>
                  <a:srgbClr val="0F172A"/>
                </a:solidFill>
                <a:latin typeface="Segoe UI"/>
              </a:rPr>
              <a:t>• Tokenizar con tokenizer(texts, padding=True, truncation=True, return_tensors='pt').</a:t>
            </a:r>
          </a:p>
          <a:p>
            <a:pPr>
              <a:spcAft>
                <a:spcPts val="800"/>
              </a:spcAft>
              <a:defRPr sz="1400" b="0">
                <a:solidFill>
                  <a:srgbClr val="0F172A"/>
                </a:solidFill>
                <a:latin typeface="Segoe UI"/>
              </a:defRPr>
            </a:pPr>
            <a:r>
              <a:rPr sz="1400" b="0">
                <a:solidFill>
                  <a:srgbClr val="0F172A"/>
                </a:solidFill>
                <a:latin typeface="Segoe UI"/>
              </a:rPr>
              <a:t>• Fine-tunear con Trainer sobre un dataset propio.</a:t>
            </a:r>
          </a:p>
          <a:p>
            <a:pPr>
              <a:spcAft>
                <a:spcPts val="800"/>
              </a:spcAft>
              <a:defRPr sz="1400" b="0">
                <a:solidFill>
                  <a:srgbClr val="0F172A"/>
                </a:solidFill>
                <a:latin typeface="Segoe UI"/>
              </a:defRPr>
            </a:pPr>
            <a:r>
              <a:rPr sz="1400" b="0">
                <a:solidFill>
                  <a:srgbClr val="0F172A"/>
                </a:solidFill>
                <a:latin typeface="Segoe UI"/>
              </a:rPr>
              <a:t>• Reconocer el Hub (huggingface.co/models) como catálogo de + de 500k modelos.</a:t>
            </a:r>
          </a:p>
        </p:txBody>
      </p:sp>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145 — Hugging Face Transformers (uso práctico)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pipeline API: lo más fácil. Tareas: sentiment, NER, QA, summarization, translation, fill-mask, zero-shot, etc.</a:t>
            </a:r>
          </a:p>
          <a:p>
            <a:pPr>
              <a:spcAft>
                <a:spcPts val="1000"/>
              </a:spcAft>
              <a:defRPr sz="1600" b="0">
                <a:solidFill>
                  <a:srgbClr val="0F172A"/>
                </a:solidFill>
                <a:latin typeface="Segoe UI"/>
              </a:defRPr>
            </a:pPr>
            <a:r>
              <a:rPr sz="1600" b="0">
                <a:solidFill>
                  <a:srgbClr val="0F172A"/>
                </a:solidFill>
                <a:latin typeface="Segoe UI"/>
              </a:rPr>
              <a:t>• AutoTokenizer + AutoModel*: API manual flexible.</a:t>
            </a:r>
          </a:p>
          <a:p>
            <a:pPr>
              <a:spcAft>
                <a:spcPts val="1000"/>
              </a:spcAft>
              <a:defRPr sz="1600" b="0">
                <a:solidFill>
                  <a:srgbClr val="0F172A"/>
                </a:solidFill>
                <a:latin typeface="Segoe UI"/>
              </a:defRPr>
            </a:pPr>
            <a:r>
              <a:rPr sz="1600" b="0">
                <a:solidFill>
                  <a:srgbClr val="0F172A"/>
                </a:solidFill>
                <a:latin typeface="Segoe UI"/>
              </a:rPr>
              <a:t>• Tokenizers: BPE, WordPiece, SentencePiece, tiktoken.</a:t>
            </a:r>
          </a:p>
          <a:p>
            <a:pPr>
              <a:spcAft>
                <a:spcPts val="1000"/>
              </a:spcAft>
              <a:defRPr sz="1600" b="0">
                <a:solidFill>
                  <a:srgbClr val="0F172A"/>
                </a:solidFill>
                <a:latin typeface="Segoe UI"/>
              </a:defRPr>
            </a:pPr>
            <a:r>
              <a:rPr sz="1600" b="0">
                <a:solidFill>
                  <a:srgbClr val="0F172A"/>
                </a:solidFill>
                <a:latin typeface="Segoe UI"/>
              </a:rPr>
              <a:t>• Trainer + TrainingArguments: fine-tuning con 20 líneas.</a:t>
            </a:r>
          </a:p>
          <a:p>
            <a:pPr>
              <a:spcAft>
                <a:spcPts val="1000"/>
              </a:spcAft>
              <a:defRPr sz="1600" b="0">
                <a:solidFill>
                  <a:srgbClr val="0F172A"/>
                </a:solidFill>
                <a:latin typeface="Segoe UI"/>
              </a:defRPr>
            </a:pPr>
            <a:r>
              <a:rPr sz="1600" b="0">
                <a:solidFill>
                  <a:srgbClr val="0F172A"/>
                </a:solidFill>
                <a:latin typeface="Segoe UI"/>
              </a:rPr>
              <a:t>• Hub: descubrir modelos, datasets, spaces.</a:t>
            </a:r>
          </a:p>
          <a:p>
            <a:pPr>
              <a:spcAft>
                <a:spcPts val="1000"/>
              </a:spcAft>
              <a:defRPr sz="1600" b="0">
                <a:solidFill>
                  <a:srgbClr val="0F172A"/>
                </a:solidFill>
                <a:latin typeface="Segoe UI"/>
              </a:defRPr>
            </a:pPr>
            <a:r>
              <a:rPr sz="1600" b="0">
                <a:solidFill>
                  <a:srgbClr val="0F172A"/>
                </a:solidFill>
                <a:latin typeface="Segoe UI"/>
              </a:rPr>
              <a:t>• datasets library: cargar datasets, preprocesar.</a:t>
            </a:r>
          </a:p>
        </p:txBody>
      </p:sp>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145 — Hugging Face Transformers (uso práctico)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transformers</a:t>
            </a:r>
          </a:p>
          <a:p>
            <a:pPr>
              <a:defRPr sz="1200" b="0">
                <a:solidFill>
                  <a:srgbClr val="F8FAFC"/>
                </a:solidFill>
                <a:latin typeface="Courier New"/>
              </a:defRPr>
            </a:pPr>
            <a:r>
              <a:rPr sz="1200" b="0">
                <a:solidFill>
                  <a:srgbClr val="F8FAFC"/>
                </a:solidFill>
                <a:latin typeface="Courier New"/>
              </a:rPr>
              <a:t>    from transformers import pipeline</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    print('transformers:', transformers.__version__)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print('transformers no instalado. No se descargan modelos.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145 — Hugging Face Transformers (uso práctico)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one-liner: pipe = pipeline('sentiment-analysis'); pipe('I loved this movie!').</a:t>
            </a:r>
          </a:p>
          <a:p>
            <a:pPr>
              <a:spcAft>
                <a:spcPts val="800"/>
              </a:spcAft>
              <a:defRPr sz="1400" b="0">
                <a:solidFill>
                  <a:srgbClr val="0F172A"/>
                </a:solidFill>
                <a:latin typeface="Segoe UI"/>
              </a:defRPr>
            </a:pPr>
            <a:r>
              <a:rPr sz="1400" b="0">
                <a:solidFill>
                  <a:srgbClr val="0F172A"/>
                </a:solidFill>
                <a:latin typeface="Segoe UI"/>
              </a:rPr>
              <a:t>• Zero-shot classification: pipeline('zero-shot-classification')(text, candidate_labels=['sports', 'politics', 'tech']).</a:t>
            </a:r>
          </a:p>
          <a:p>
            <a:pPr>
              <a:spcAft>
                <a:spcPts val="800"/>
              </a:spcAft>
              <a:defRPr sz="1400" b="0">
                <a:solidFill>
                  <a:srgbClr val="0F172A"/>
                </a:solidFill>
                <a:latin typeface="Segoe UI"/>
              </a:defRPr>
            </a:pPr>
            <a:r>
              <a:rPr sz="1400" b="0">
                <a:solidFill>
                  <a:srgbClr val="0F172A"/>
                </a:solidFill>
                <a:latin typeface="Segoe UI"/>
              </a:rPr>
              <a:t>• Manual: tokenizar texto con bert-base-uncased.</a:t>
            </a:r>
          </a:p>
          <a:p>
            <a:pPr>
              <a:spcAft>
                <a:spcPts val="800"/>
              </a:spcAft>
              <a:defRPr sz="1400" b="0">
                <a:solidFill>
                  <a:srgbClr val="0F172A"/>
                </a:solidFill>
                <a:latin typeface="Segoe UI"/>
              </a:defRPr>
            </a:pPr>
            <a:r>
              <a:rPr sz="1400" b="0">
                <a:solidFill>
                  <a:srgbClr val="0F172A"/>
                </a:solidFill>
                <a:latin typeface="Segoe UI"/>
              </a:rPr>
              <a:t>• Modelo + forward: outputs = model(**inputs).</a:t>
            </a:r>
          </a:p>
          <a:p>
            <a:pPr>
              <a:spcAft>
                <a:spcPts val="800"/>
              </a:spcAft>
              <a:defRPr sz="1400" b="0">
                <a:solidFill>
                  <a:srgbClr val="0F172A"/>
                </a:solidFill>
                <a:latin typeface="Segoe UI"/>
              </a:defRPr>
            </a:pPr>
            <a:r>
              <a:rPr sz="1400" b="0">
                <a:solidFill>
                  <a:srgbClr val="0F172A"/>
                </a:solidFill>
                <a:latin typeface="Segoe UI"/>
              </a:rPr>
              <a:t>• Tokenizer especiales: tokenizer.decode([101, 7592, 102]) → '[CLS] hello [SEP]'.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load_dataset('imdb').</a:t>
            </a:r>
          </a:p>
          <a:p>
            <a:pPr>
              <a:spcAft>
                <a:spcPts val="800"/>
              </a:spcAft>
              <a:defRPr sz="1400" b="0">
                <a:solidFill>
                  <a:srgbClr val="0F172A"/>
                </a:solidFill>
                <a:latin typeface="Segoe UI"/>
              </a:defRPr>
            </a:pPr>
            <a:r>
              <a:rPr sz="1400" b="0">
                <a:solidFill>
                  <a:srgbClr val="0F172A"/>
                </a:solidFill>
                <a:latin typeface="Segoe UI"/>
              </a:rPr>
              <a:t>• Tokenizar con tokenizer(texts, truncation=True, padding='max_length', max_length=256).</a:t>
            </a:r>
          </a:p>
          <a:p>
            <a:pPr>
              <a:spcAft>
                <a:spcPts val="800"/>
              </a:spcAft>
              <a:defRPr sz="1400" b="0">
                <a:solidFill>
                  <a:srgbClr val="0F172A"/>
                </a:solidFill>
                <a:latin typeface="Segoe UI"/>
              </a:defRPr>
            </a:pPr>
            <a:r>
              <a:rPr sz="1400" b="0">
                <a:solidFill>
                  <a:srgbClr val="0F172A"/>
                </a:solidFill>
                <a:latin typeface="Segoe UI"/>
              </a:rPr>
              <a:t>• AutoModelForSequenceClassification.from_pretrained(..., num_labels=2).</a:t>
            </a:r>
          </a:p>
          <a:p>
            <a:pPr>
              <a:spcAft>
                <a:spcPts val="800"/>
              </a:spcAft>
              <a:defRPr sz="1400" b="0">
                <a:solidFill>
                  <a:srgbClr val="0F172A"/>
                </a:solidFill>
                <a:latin typeface="Segoe UI"/>
              </a:defRPr>
            </a:pPr>
            <a:r>
              <a:rPr sz="1400" b="0">
                <a:solidFill>
                  <a:srgbClr val="0F172A"/>
                </a:solidFill>
                <a:latin typeface="Segoe UI"/>
              </a:rPr>
              <a:t>• TrainingArguments(output_dir, num_train_epochs=2, per_device_train_batch_size=16, eval_strategy='epoch').</a:t>
            </a:r>
          </a:p>
          <a:p>
            <a:pPr>
              <a:spcAft>
                <a:spcPts val="800"/>
              </a:spcAft>
              <a:defRPr sz="1400" b="0">
                <a:solidFill>
                  <a:srgbClr val="0F172A"/>
                </a:solidFill>
                <a:latin typeface="Segoe UI"/>
              </a:defRPr>
            </a:pPr>
            <a:r>
              <a:rPr sz="1400" b="0">
                <a:solidFill>
                  <a:srgbClr val="0F172A"/>
                </a:solidFill>
                <a:latin typeface="Segoe UI"/>
              </a:rPr>
              <a:t>• Trainer(...).train().</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146 — CLIP, SigLIP: multimodal embeddings (visión + texto)</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146 — CLIP, SigLIP: multimodal embeddings (visión + texto)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Radford et al. (2021) CLIP + Zhai et al. (2023) SigLIP.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CLIP (OpenAI 2021) y su evolución SigLIP (Google 2023) — los foundation models que mapean imágenes y texto al mismo espacio vectorial, entrenados con contrastive learning sobre 400M-4B pares. Aplicaciones: zero-shot classification, image search por texto, content moderation, embeddings para RAG multimodal.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CLIP/SigLIP desde HuggingFace: CLIPModel.from_pretrained('openai/clip-vit-base-patch32').</a:t>
            </a:r>
          </a:p>
          <a:p>
            <a:pPr>
              <a:spcAft>
                <a:spcPts val="800"/>
              </a:spcAft>
              <a:defRPr sz="1400" b="0">
                <a:solidFill>
                  <a:srgbClr val="0F172A"/>
                </a:solidFill>
                <a:latin typeface="Segoe UI"/>
              </a:defRPr>
            </a:pPr>
            <a:r>
              <a:rPr sz="1400" b="0">
                <a:solidFill>
                  <a:srgbClr val="0F172A"/>
                </a:solidFill>
                <a:latin typeface="Segoe UI"/>
              </a:rPr>
              <a:t>• Calcular embeddings de imágenes y de texto; cosine similarity entre ambos.</a:t>
            </a:r>
          </a:p>
          <a:p>
            <a:pPr>
              <a:spcAft>
                <a:spcPts val="800"/>
              </a:spcAft>
              <a:defRPr sz="1400" b="0">
                <a:solidFill>
                  <a:srgbClr val="0F172A"/>
                </a:solidFill>
                <a:latin typeface="Segoe UI"/>
              </a:defRPr>
            </a:pPr>
            <a:r>
              <a:rPr sz="1400" b="0">
                <a:solidFill>
                  <a:srgbClr val="0F172A"/>
                </a:solidFill>
                <a:latin typeface="Segoe UI"/>
              </a:rPr>
              <a:t>• Implementar zero-shot classification: predecir clase con la mayor similaridad a "a photo of a [class]".</a:t>
            </a:r>
          </a:p>
          <a:p>
            <a:pPr>
              <a:spcAft>
                <a:spcPts val="800"/>
              </a:spcAft>
              <a:defRPr sz="1400" b="0">
                <a:solidFill>
                  <a:srgbClr val="0F172A"/>
                </a:solidFill>
                <a:latin typeface="Segoe UI"/>
              </a:defRPr>
            </a:pPr>
            <a:r>
              <a:rPr sz="1400" b="0">
                <a:solidFill>
                  <a:srgbClr val="0F172A"/>
                </a:solidFill>
                <a:latin typeface="Segoe UI"/>
              </a:rPr>
              <a:t>• Hacer image retrieval por texto sobre un corpus de imágenes.</a:t>
            </a:r>
          </a:p>
          <a:p>
            <a:pPr>
              <a:spcAft>
                <a:spcPts val="800"/>
              </a:spcAft>
              <a:defRPr sz="1400" b="0">
                <a:solidFill>
                  <a:srgbClr val="0F172A"/>
                </a:solidFill>
                <a:latin typeface="Segoe UI"/>
              </a:defRPr>
            </a:pPr>
            <a:r>
              <a:rPr sz="1400" b="0">
                <a:solidFill>
                  <a:srgbClr val="0F172A"/>
                </a:solidFill>
                <a:latin typeface="Segoe UI"/>
              </a:rPr>
              <a:t>• Diferenciar CLIP (softmax contrastive) de SigLIP (sigmoid pairwise, mejor escalabilidad).</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146 — CLIP, SigLIP: multimodal embeddings (visión + texto)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Contrastive Language-Image Pre-training: matchear pares correctos, separar incorrectos.</a:t>
            </a:r>
          </a:p>
          <a:p>
            <a:pPr>
              <a:spcAft>
                <a:spcPts val="1000"/>
              </a:spcAft>
              <a:defRPr sz="1600" b="0">
                <a:solidFill>
                  <a:srgbClr val="0F172A"/>
                </a:solidFill>
                <a:latin typeface="Segoe UI"/>
              </a:defRPr>
            </a:pPr>
            <a:r>
              <a:rPr sz="1600" b="0">
                <a:solidFill>
                  <a:srgbClr val="0F172A"/>
                </a:solidFill>
                <a:latin typeface="Segoe UI"/>
              </a:rPr>
              <a:t>• Arquitectura: image encoder (ViT) + text encoder (Transformer).</a:t>
            </a:r>
          </a:p>
          <a:p>
            <a:pPr>
              <a:spcAft>
                <a:spcPts val="1000"/>
              </a:spcAft>
              <a:defRPr sz="1600" b="0">
                <a:solidFill>
                  <a:srgbClr val="0F172A"/>
                </a:solidFill>
                <a:latin typeface="Segoe UI"/>
              </a:defRPr>
            </a:pPr>
            <a:r>
              <a:rPr sz="1600" b="0">
                <a:solidFill>
                  <a:srgbClr val="0F172A"/>
                </a:solidFill>
                <a:latin typeface="Segoe UI"/>
              </a:rPr>
              <a:t>• Cosine similarity como métrica.</a:t>
            </a:r>
          </a:p>
          <a:p>
            <a:pPr>
              <a:spcAft>
                <a:spcPts val="1000"/>
              </a:spcAft>
              <a:defRPr sz="1600" b="0">
                <a:solidFill>
                  <a:srgbClr val="0F172A"/>
                </a:solidFill>
                <a:latin typeface="Segoe UI"/>
              </a:defRPr>
            </a:pPr>
            <a:r>
              <a:rPr sz="1600" b="0">
                <a:solidFill>
                  <a:srgbClr val="0F172A"/>
                </a:solidFill>
                <a:latin typeface="Segoe UI"/>
              </a:rPr>
              <a:t>• Zero-shot vs few-shot.</a:t>
            </a:r>
          </a:p>
          <a:p>
            <a:pPr>
              <a:spcAft>
                <a:spcPts val="1000"/>
              </a:spcAft>
              <a:defRPr sz="1600" b="0">
                <a:solidFill>
                  <a:srgbClr val="0F172A"/>
                </a:solidFill>
                <a:latin typeface="Segoe UI"/>
              </a:defRPr>
            </a:pPr>
            <a:r>
              <a:rPr sz="1600" b="0">
                <a:solidFill>
                  <a:srgbClr val="0F172A"/>
                </a:solidFill>
                <a:latin typeface="Segoe UI"/>
              </a:rPr>
              <a:t>• Variantes modernas: SigLIP (sigmoid loss), EVA-CLIP, OpenCLIP, Apple AIM.</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146 — CLIP, SigLIP: multimodal embeddings (visión + texto)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CLIP entrena texto + imagen para mapear ambos al mismo espacio (cosine similarity). Habilita zero-shot classification y image search.</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USE_ST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sentence_transformers import SentenceTransformer</a:t>
            </a:r>
          </a:p>
          <a:p>
            <a:pPr>
              <a:defRPr sz="1200" b="0">
                <a:solidFill>
                  <a:srgbClr val="F8FAFC"/>
                </a:solidFill>
                <a:latin typeface="Courier New"/>
              </a:defRPr>
            </a:pPr>
            <a:r>
              <a:rPr sz="1200" b="0">
                <a:solidFill>
                  <a:srgbClr val="F8FAFC"/>
                </a:solidFill>
                <a:latin typeface="Courier New"/>
              </a:rPr>
              <a:t>    USE_ST = True</a:t>
            </a:r>
          </a:p>
          <a:p>
            <a:pPr>
              <a:defRPr sz="1200" b="0">
                <a:solidFill>
                  <a:srgbClr val="F8FAFC"/>
                </a:solidFill>
                <a:latin typeface="Courier New"/>
              </a:defRPr>
            </a:pPr>
            <a:r>
              <a:rPr sz="1200" b="0">
                <a:solidFill>
                  <a:srgbClr val="F8FAFC"/>
                </a:solidFill>
                <a:latin typeface="Courier New"/>
              </a:rPr>
              <a:t>    print('sentence_transformers disponible')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print('ST no disponible. Fallback embeddings random tagged.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146 — CLIP, SigLIP: multimodal embeddings (visión + texto)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CLIP setup: cargar processor + model.</a:t>
            </a:r>
          </a:p>
          <a:p>
            <a:pPr>
              <a:spcAft>
                <a:spcPts val="800"/>
              </a:spcAft>
              <a:defRPr sz="1400" b="0">
                <a:solidFill>
                  <a:srgbClr val="0F172A"/>
                </a:solidFill>
                <a:latin typeface="Segoe UI"/>
              </a:defRPr>
            </a:pPr>
            <a:r>
              <a:rPr sz="1400" b="0">
                <a:solidFill>
                  <a:srgbClr val="0F172A"/>
                </a:solidFill>
                <a:latin typeface="Segoe UI"/>
              </a:rPr>
              <a:t>• Zero-shot classification: dada una imagen, comparar contra ["a photo of a cat", "a photo of a dog"].</a:t>
            </a:r>
          </a:p>
          <a:p>
            <a:pPr>
              <a:spcAft>
                <a:spcPts val="800"/>
              </a:spcAft>
              <a:defRPr sz="1400" b="0">
                <a:solidFill>
                  <a:srgbClr val="0F172A"/>
                </a:solidFill>
                <a:latin typeface="Segoe UI"/>
              </a:defRPr>
            </a:pPr>
            <a:r>
              <a:rPr sz="1400" b="0">
                <a:solidFill>
                  <a:srgbClr val="0F172A"/>
                </a:solidFill>
                <a:latin typeface="Segoe UI"/>
              </a:rPr>
              <a:t>• Image search: corpus de 100 imágenes; query texto "a sunset over the ocean" → top-5 más similares.</a:t>
            </a:r>
          </a:p>
          <a:p>
            <a:pPr>
              <a:spcAft>
                <a:spcPts val="800"/>
              </a:spcAft>
              <a:defRPr sz="1400" b="0">
                <a:solidFill>
                  <a:srgbClr val="0F172A"/>
                </a:solidFill>
                <a:latin typeface="Segoe UI"/>
              </a:defRPr>
            </a:pPr>
            <a:r>
              <a:rPr sz="1400" b="0">
                <a:solidFill>
                  <a:srgbClr val="0F172A"/>
                </a:solidFill>
                <a:latin typeface="Segoe UI"/>
              </a:rPr>
              <a:t>• SigLIP: misma tarea, comparar accuracy.</a:t>
            </a:r>
          </a:p>
          <a:p>
            <a:pPr>
              <a:spcAft>
                <a:spcPts val="800"/>
              </a:spcAft>
              <a:defRPr sz="1400" b="0">
                <a:solidFill>
                  <a:srgbClr val="0F172A"/>
                </a:solidFill>
                <a:latin typeface="Segoe UI"/>
              </a:defRPr>
            </a:pPr>
            <a:r>
              <a:rPr sz="1400" b="0">
                <a:solidFill>
                  <a:srgbClr val="0F172A"/>
                </a:solidFill>
                <a:latin typeface="Segoe UI"/>
              </a:rPr>
              <a:t>• Fine-tune ligero: con dataset chico custom, fine-tunear CLIP con LoRA para un dominio específico.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200 imágenes diversas.</a:t>
            </a:r>
          </a:p>
          <a:p>
            <a:pPr>
              <a:spcAft>
                <a:spcPts val="800"/>
              </a:spcAft>
              <a:defRPr sz="1500" b="0">
                <a:solidFill>
                  <a:srgbClr val="0F172A"/>
                </a:solidFill>
                <a:latin typeface="Segoe UI"/>
              </a:defRPr>
            </a:pPr>
            <a:r>
              <a:rPr sz="1500" b="0">
                <a:solidFill>
                  <a:srgbClr val="0F172A"/>
                </a:solidFill>
                <a:latin typeface="Segoe UI"/>
              </a:rPr>
              <a:t>• Embed todas con CLIP ViT-B/32.</a:t>
            </a:r>
          </a:p>
          <a:p>
            <a:pPr>
              <a:spcAft>
                <a:spcPts val="800"/>
              </a:spcAft>
              <a:defRPr sz="1500" b="0">
                <a:solidFill>
                  <a:srgbClr val="0F172A"/>
                </a:solidFill>
                <a:latin typeface="Segoe UI"/>
              </a:defRPr>
            </a:pPr>
            <a:r>
              <a:rPr sz="1500" b="0">
                <a:solidFill>
                  <a:srgbClr val="0F172A"/>
                </a:solidFill>
                <a:latin typeface="Segoe UI"/>
              </a:rPr>
              <a:t>• UI simple (notebook): input texto → top-5 imágenes.</a:t>
            </a:r>
          </a:p>
          <a:p>
            <a:pPr>
              <a:spcAft>
                <a:spcPts val="800"/>
              </a:spcAft>
              <a:defRPr sz="1500" b="0">
                <a:solidFill>
                  <a:srgbClr val="0F172A"/>
                </a:solidFill>
                <a:latin typeface="Segoe UI"/>
              </a:defRPr>
            </a:pPr>
            <a:r>
              <a:rPr sz="1500" b="0">
                <a:solidFill>
                  <a:srgbClr val="0F172A"/>
                </a:solidFill>
                <a:latin typeface="Segoe UI"/>
              </a:rPr>
              <a:t>• Probar 10 queries; reportar precisión subjetiva.</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147 — Whisper: ASR, transcripción, traducción de audio</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147 — Whisper: ASR, transcripción, traducción de audio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Radford et al. (2022) Whisper + OpenAI release notes.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Usar Whisper (OpenAI 2022, open-source) — el modelo de ASR (Automatic Speech Recognition) multilenguaje que destronó a Google STT y AWS Transcribe en accuracy. Cubrir transcripción, traducción a inglés, timestamps, word-level timing. Alternativas modernas: Whisper-large-v3, distil-whisper (4× más rápido), insanely-fast-whisper.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Whisper con transformers (openai/whisper-large-v3) o openai-whisper (lib oficial).</a:t>
            </a:r>
          </a:p>
          <a:p>
            <a:pPr>
              <a:spcAft>
                <a:spcPts val="800"/>
              </a:spcAft>
              <a:defRPr sz="1400" b="0">
                <a:solidFill>
                  <a:srgbClr val="0F172A"/>
                </a:solidFill>
                <a:latin typeface="Segoe UI"/>
              </a:defRPr>
            </a:pPr>
            <a:r>
              <a:rPr sz="1400" b="0">
                <a:solidFill>
                  <a:srgbClr val="0F172A"/>
                </a:solidFill>
                <a:latin typeface="Segoe UI"/>
              </a:rPr>
              <a:t>• Transcribir audio en cualquier idioma (99+ soportados).</a:t>
            </a:r>
          </a:p>
          <a:p>
            <a:pPr>
              <a:spcAft>
                <a:spcPts val="800"/>
              </a:spcAft>
              <a:defRPr sz="1400" b="0">
                <a:solidFill>
                  <a:srgbClr val="0F172A"/>
                </a:solidFill>
                <a:latin typeface="Segoe UI"/>
              </a:defRPr>
            </a:pPr>
            <a:r>
              <a:rPr sz="1400" b="0">
                <a:solidFill>
                  <a:srgbClr val="0F172A"/>
                </a:solidFill>
                <a:latin typeface="Segoe UI"/>
              </a:rPr>
              <a:t>• Aplicar task='translate' para traducir directo a inglés.</a:t>
            </a:r>
          </a:p>
          <a:p>
            <a:pPr>
              <a:spcAft>
                <a:spcPts val="800"/>
              </a:spcAft>
              <a:defRPr sz="1400" b="0">
                <a:solidFill>
                  <a:srgbClr val="0F172A"/>
                </a:solidFill>
                <a:latin typeface="Segoe UI"/>
              </a:defRPr>
            </a:pPr>
            <a:r>
              <a:rPr sz="1400" b="0">
                <a:solidFill>
                  <a:srgbClr val="0F172A"/>
                </a:solidFill>
                <a:latin typeface="Segoe UI"/>
              </a:rPr>
              <a:t>• Obtener timestamps a nivel palabra para subtítulos.</a:t>
            </a:r>
          </a:p>
          <a:p>
            <a:pPr>
              <a:spcAft>
                <a:spcPts val="800"/>
              </a:spcAft>
              <a:defRPr sz="1400" b="0">
                <a:solidFill>
                  <a:srgbClr val="0F172A"/>
                </a:solidFill>
                <a:latin typeface="Segoe UI"/>
              </a:defRPr>
            </a:pPr>
            <a:r>
              <a:rPr sz="1400" b="0">
                <a:solidFill>
                  <a:srgbClr val="0F172A"/>
                </a:solidFill>
                <a:latin typeface="Segoe UI"/>
              </a:rPr>
              <a:t>• Usar distil-whisper para inference 4-6× más rápida con calidad similar.</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147 — Whisper: ASR, transcripción, traducción de audio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Arquitectura: encoder-decoder Transformer + spectrogram input.</a:t>
            </a:r>
          </a:p>
          <a:p>
            <a:pPr>
              <a:spcAft>
                <a:spcPts val="1000"/>
              </a:spcAft>
              <a:defRPr sz="1600" b="0">
                <a:solidFill>
                  <a:srgbClr val="0F172A"/>
                </a:solidFill>
                <a:latin typeface="Segoe UI"/>
              </a:defRPr>
            </a:pPr>
            <a:r>
              <a:rPr sz="1600" b="0">
                <a:solidFill>
                  <a:srgbClr val="0F172A"/>
                </a:solidFill>
                <a:latin typeface="Segoe UI"/>
              </a:rPr>
              <a:t>• Tamaños: tiny, base, small, medium, large-v3.</a:t>
            </a:r>
          </a:p>
          <a:p>
            <a:pPr>
              <a:spcAft>
                <a:spcPts val="1000"/>
              </a:spcAft>
              <a:defRPr sz="1600" b="0">
                <a:solidFill>
                  <a:srgbClr val="0F172A"/>
                </a:solidFill>
                <a:latin typeface="Segoe UI"/>
              </a:defRPr>
            </a:pPr>
            <a:r>
              <a:rPr sz="1600" b="0">
                <a:solidFill>
                  <a:srgbClr val="0F172A"/>
                </a:solidFill>
                <a:latin typeface="Segoe UI"/>
              </a:rPr>
              <a:t>• Languages: detectado automático o explícito.</a:t>
            </a:r>
          </a:p>
          <a:p>
            <a:pPr>
              <a:spcAft>
                <a:spcPts val="1000"/>
              </a:spcAft>
              <a:defRPr sz="1600" b="0">
                <a:solidFill>
                  <a:srgbClr val="0F172A"/>
                </a:solidFill>
                <a:latin typeface="Segoe UI"/>
              </a:defRPr>
            </a:pPr>
            <a:r>
              <a:rPr sz="1600" b="0">
                <a:solidFill>
                  <a:srgbClr val="0F172A"/>
                </a:solidFill>
                <a:latin typeface="Segoe UI"/>
              </a:rPr>
              <a:t>• Tareas: transcribe (en idioma origen), translate (→ inglés).</a:t>
            </a:r>
          </a:p>
          <a:p>
            <a:pPr>
              <a:spcAft>
                <a:spcPts val="1000"/>
              </a:spcAft>
              <a:defRPr sz="1600" b="0">
                <a:solidFill>
                  <a:srgbClr val="0F172A"/>
                </a:solidFill>
                <a:latin typeface="Segoe UI"/>
              </a:defRPr>
            </a:pPr>
            <a:r>
              <a:rPr sz="1600" b="0">
                <a:solidFill>
                  <a:srgbClr val="0F172A"/>
                </a:solidFill>
                <a:latin typeface="Segoe UI"/>
              </a:rPr>
              <a:t>• Diarization (quién habla): no built-in, requiere pyannote.audio separado.</a:t>
            </a:r>
          </a:p>
          <a:p>
            <a:pPr>
              <a:spcAft>
                <a:spcPts val="1000"/>
              </a:spcAft>
              <a:defRPr sz="1600" b="0">
                <a:solidFill>
                  <a:srgbClr val="0F172A"/>
                </a:solidFill>
                <a:latin typeface="Segoe UI"/>
              </a:defRPr>
            </a:pPr>
            <a:r>
              <a:rPr sz="1600" b="0">
                <a:solidFill>
                  <a:srgbClr val="0F172A"/>
                </a:solidFill>
                <a:latin typeface="Segoe UI"/>
              </a:rPr>
              <a:t>• Long-form audio: chunking con overlap.</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147 — Whisper: ASR, transcripción, traducción de audio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Whisper (OpenAI 2022) = encoder-decoder transformer entrenado en 680k h de audio multilingüe. Pipeline: audio → mel-spectrogram → encoder → decoder autoregressive → texto. Fallback completo si whisper no está instalado.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USE_WH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whisper</a:t>
            </a:r>
          </a:p>
          <a:p>
            <a:pPr>
              <a:defRPr sz="1200" b="0">
                <a:solidFill>
                  <a:srgbClr val="F8FAFC"/>
                </a:solidFill>
                <a:latin typeface="Courier New"/>
              </a:defRPr>
            </a:pPr>
            <a:r>
              <a:rPr sz="1200" b="0">
                <a:solidFill>
                  <a:srgbClr val="F8FAFC"/>
                </a:solidFill>
                <a:latin typeface="Courier New"/>
              </a:rPr>
              <a:t>    USE_WH = True</a:t>
            </a:r>
          </a:p>
          <a:p>
            <a:pPr>
              <a:defRPr sz="1200" b="0">
                <a:solidFill>
                  <a:srgbClr val="F8FAFC"/>
                </a:solidFill>
                <a:latin typeface="Courier New"/>
              </a:defRPr>
            </a:pPr>
            <a:r>
              <a:rPr sz="1200" b="0">
                <a:solidFill>
                  <a:srgbClr val="F8FAFC"/>
                </a:solidFill>
                <a:latin typeface="Courier New"/>
              </a:rPr>
              <a:t>    print('whisper disponible')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print('whisper no disponible. Fallback: mel-spec desde scratch + API conceptual.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scipy.signal import stft</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147 — Whisper: ASR, transcripción, traducción de audio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Transcripción básica: cargar pipeline('asr', model='openai/whisper-base'); pasar un audio.</a:t>
            </a:r>
          </a:p>
          <a:p>
            <a:pPr>
              <a:spcAft>
                <a:spcPts val="800"/>
              </a:spcAft>
              <a:defRPr sz="1400" b="0">
                <a:solidFill>
                  <a:srgbClr val="0F172A"/>
                </a:solidFill>
                <a:latin typeface="Segoe UI"/>
              </a:defRPr>
            </a:pPr>
            <a:r>
              <a:rPr sz="1400" b="0">
                <a:solidFill>
                  <a:srgbClr val="0F172A"/>
                </a:solidFill>
                <a:latin typeface="Segoe UI"/>
              </a:rPr>
              <a:t>• Multilenguaje: audio en español → transcribir; verificar.</a:t>
            </a:r>
          </a:p>
          <a:p>
            <a:pPr>
              <a:spcAft>
                <a:spcPts val="800"/>
              </a:spcAft>
              <a:defRPr sz="1400" b="0">
                <a:solidFill>
                  <a:srgbClr val="0F172A"/>
                </a:solidFill>
                <a:latin typeface="Segoe UI"/>
              </a:defRPr>
            </a:pPr>
            <a:r>
              <a:rPr sz="1400" b="0">
                <a:solidFill>
                  <a:srgbClr val="0F172A"/>
                </a:solidFill>
                <a:latin typeface="Segoe UI"/>
              </a:rPr>
              <a:t>• Traducción: pipe(audio, task='translate') → texto en inglés.</a:t>
            </a:r>
          </a:p>
          <a:p>
            <a:pPr>
              <a:spcAft>
                <a:spcPts val="800"/>
              </a:spcAft>
              <a:defRPr sz="1400" b="0">
                <a:solidFill>
                  <a:srgbClr val="0F172A"/>
                </a:solidFill>
                <a:latin typeface="Segoe UI"/>
              </a:defRPr>
            </a:pPr>
            <a:r>
              <a:rPr sz="1400" b="0">
                <a:solidFill>
                  <a:srgbClr val="0F172A"/>
                </a:solidFill>
                <a:latin typeface="Segoe UI"/>
              </a:rPr>
              <a:t>• Timestamps: pipe(audio, return_timestamps='word') → palabras con start/end seconds.</a:t>
            </a:r>
          </a:p>
          <a:p>
            <a:pPr>
              <a:spcAft>
                <a:spcPts val="800"/>
              </a:spcAft>
              <a:defRPr sz="1400" b="0">
                <a:solidFill>
                  <a:srgbClr val="0F172A"/>
                </a:solidFill>
                <a:latin typeface="Segoe UI"/>
              </a:defRPr>
            </a:pPr>
            <a:r>
              <a:rPr sz="1400" b="0">
                <a:solidFill>
                  <a:srgbClr val="0F172A"/>
                </a:solidFill>
                <a:latin typeface="Segoe UI"/>
              </a:rPr>
              <a:t>• Distil-Whisper: comparar tiempo y WER vs full Whisper.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Audio de 5-10 min (clase grabada, podcast).</a:t>
            </a:r>
          </a:p>
          <a:p>
            <a:pPr>
              <a:spcAft>
                <a:spcPts val="800"/>
              </a:spcAft>
              <a:defRPr sz="1500" b="0">
                <a:solidFill>
                  <a:srgbClr val="0F172A"/>
                </a:solidFill>
                <a:latin typeface="Segoe UI"/>
              </a:defRPr>
            </a:pPr>
            <a:r>
              <a:rPr sz="1500" b="0">
                <a:solidFill>
                  <a:srgbClr val="0F172A"/>
                </a:solidFill>
                <a:latin typeface="Segoe UI"/>
              </a:rPr>
              <a:t>• Whisper-large-v3 con return_timestamps='word'.</a:t>
            </a:r>
          </a:p>
          <a:p>
            <a:pPr>
              <a:spcAft>
                <a:spcPts val="800"/>
              </a:spcAft>
              <a:defRPr sz="1500" b="0">
                <a:solidFill>
                  <a:srgbClr val="0F172A"/>
                </a:solidFill>
                <a:latin typeface="Segoe UI"/>
              </a:defRPr>
            </a:pPr>
            <a:r>
              <a:rPr sz="1500" b="0">
                <a:solidFill>
                  <a:srgbClr val="0F172A"/>
                </a:solidFill>
                <a:latin typeface="Segoe UI"/>
              </a:rPr>
              <a:t>• Generar SRT (formato subtítulos) a partir del output.</a:t>
            </a:r>
          </a:p>
          <a:p>
            <a:pPr>
              <a:spcAft>
                <a:spcPts val="800"/>
              </a:spcAft>
              <a:defRPr sz="1500" b="0">
                <a:solidFill>
                  <a:srgbClr val="0F172A"/>
                </a:solidFill>
                <a:latin typeface="Segoe UI"/>
              </a:defRPr>
            </a:pPr>
            <a:r>
              <a:rPr sz="1500" b="0">
                <a:solidFill>
                  <a:srgbClr val="0F172A"/>
                </a:solidFill>
                <a:latin typeface="Segoe UI"/>
              </a:rPr>
              <a:t>• Verificar manualmente la calidad en 1 minuto random.</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148 — LLMs aplicados: fine-tuning, prompting (+ LoRA / QLoRA, DPO, vLLM)</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148 — LLMs aplicados: fine-tuning, prompting (+ LoRA / QLoRA, DPO, vLLM)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docs HuggingFace PEFT + TRL + vLLM + papers LoRA (Hu et al. 2021), QLoRA (Dettmers et al. 2023), DPO (Rafailov et al. 2023).  Duración estimada: 110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Manejar Large Language Models (Llama 3, Mistral, Qwen, etc.) en flujos reales: prompting técnico (zero-shot, few-shot, chain-of-thought), fine-tuning eficiente con LoRA / QLoRA (entrenar solo 0.1-1 % de parámetros), alineamiento con DPO (preferencias, en lugar de RLHF clásico), e inference de producción con vLLM (continuous batching, PagedAttention).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Diseñar prompts con system prompts, few-shot examples y chain-of-thought.</a:t>
            </a:r>
          </a:p>
          <a:p>
            <a:pPr>
              <a:spcAft>
                <a:spcPts val="800"/>
              </a:spcAft>
              <a:defRPr sz="1400" b="0">
                <a:solidFill>
                  <a:srgbClr val="0F172A"/>
                </a:solidFill>
                <a:latin typeface="Segoe UI"/>
              </a:defRPr>
            </a:pPr>
            <a:r>
              <a:rPr sz="1400" b="0">
                <a:solidFill>
                  <a:srgbClr val="0F172A"/>
                </a:solidFill>
                <a:latin typeface="Segoe UI"/>
              </a:rPr>
              <a:t>• Aplicar LoRA con peft library: agregar adapters chicos a un LLM grande, entrenar solo ~0.5 % de params.</a:t>
            </a:r>
          </a:p>
          <a:p>
            <a:pPr>
              <a:spcAft>
                <a:spcPts val="800"/>
              </a:spcAft>
              <a:defRPr sz="1400" b="0">
                <a:solidFill>
                  <a:srgbClr val="0F172A"/>
                </a:solidFill>
                <a:latin typeface="Segoe UI"/>
              </a:defRPr>
            </a:pPr>
            <a:r>
              <a:rPr sz="1400" b="0">
                <a:solidFill>
                  <a:srgbClr val="0F172A"/>
                </a:solidFill>
                <a:latin typeface="Segoe UI"/>
              </a:rPr>
              <a:t>• Aplicar QLoRA (cuantización 4-bit) para fine-tunear Llama 7B en una sola GPU de 24 GB.</a:t>
            </a:r>
          </a:p>
          <a:p>
            <a:pPr>
              <a:spcAft>
                <a:spcPts val="800"/>
              </a:spcAft>
              <a:defRPr sz="1400" b="0">
                <a:solidFill>
                  <a:srgbClr val="0F172A"/>
                </a:solidFill>
                <a:latin typeface="Segoe UI"/>
              </a:defRPr>
            </a:pPr>
            <a:r>
              <a:rPr sz="1400" b="0">
                <a:solidFill>
                  <a:srgbClr val="0F172A"/>
                </a:solidFill>
                <a:latin typeface="Segoe UI"/>
              </a:rPr>
              <a:t>• Alinear con preferencias usando DPO (trl library) — más simple y estable que RLHF.</a:t>
            </a:r>
          </a:p>
          <a:p>
            <a:pPr>
              <a:spcAft>
                <a:spcPts val="800"/>
              </a:spcAft>
              <a:defRPr sz="1400" b="0">
                <a:solidFill>
                  <a:srgbClr val="0F172A"/>
                </a:solidFill>
                <a:latin typeface="Segoe UI"/>
              </a:defRPr>
            </a:pPr>
            <a:r>
              <a:rPr sz="1400" b="0">
                <a:solidFill>
                  <a:srgbClr val="0F172A"/>
                </a:solidFill>
                <a:latin typeface="Segoe UI"/>
              </a:rPr>
              <a:t>• Servir un modelo con vLLM y medir throughput.</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148 — LLMs aplicados: fine-tuning, prompting (+ LoRA / QLoRA, DPO, vLLM)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LLM stack en 2026: base → SFT (Supervised Fine-Tuning) → DPO/RLHF → inference optimizada.</a:t>
            </a:r>
          </a:p>
          <a:p>
            <a:pPr>
              <a:spcAft>
                <a:spcPts val="1000"/>
              </a:spcAft>
              <a:defRPr sz="1600" b="0">
                <a:solidFill>
                  <a:srgbClr val="0F172A"/>
                </a:solidFill>
                <a:latin typeface="Segoe UI"/>
              </a:defRPr>
            </a:pPr>
            <a:r>
              <a:rPr sz="1600" b="0">
                <a:solidFill>
                  <a:srgbClr val="0F172A"/>
                </a:solidFill>
                <a:latin typeface="Segoe UI"/>
              </a:rPr>
              <a:t>• Prompting técnico: structure, few-shot, chain-of-thought, function calling.</a:t>
            </a:r>
          </a:p>
          <a:p>
            <a:pPr>
              <a:spcAft>
                <a:spcPts val="1000"/>
              </a:spcAft>
              <a:defRPr sz="1600" b="0">
                <a:solidFill>
                  <a:srgbClr val="0F172A"/>
                </a:solidFill>
                <a:latin typeface="Segoe UI"/>
              </a:defRPr>
            </a:pPr>
            <a:r>
              <a:rPr sz="1600" b="0">
                <a:solidFill>
                  <a:srgbClr val="0F172A"/>
                </a:solidFill>
                <a:latin typeface="Segoe UI"/>
              </a:rPr>
              <a:t>• PEFT (Parameter-Efficient Fine-Tuning): LoRA, QLoRA, adapters.</a:t>
            </a:r>
          </a:p>
          <a:p>
            <a:pPr>
              <a:spcAft>
                <a:spcPts val="1000"/>
              </a:spcAft>
              <a:defRPr sz="1600" b="0">
                <a:solidFill>
                  <a:srgbClr val="0F172A"/>
                </a:solidFill>
                <a:latin typeface="Segoe UI"/>
              </a:defRPr>
            </a:pPr>
            <a:r>
              <a:rPr sz="1600" b="0">
                <a:solidFill>
                  <a:srgbClr val="0F172A"/>
                </a:solidFill>
                <a:latin typeface="Segoe UI"/>
              </a:rPr>
              <a:t>• DPO vs RLHF.</a:t>
            </a:r>
          </a:p>
          <a:p>
            <a:pPr>
              <a:spcAft>
                <a:spcPts val="1000"/>
              </a:spcAft>
              <a:defRPr sz="1600" b="0">
                <a:solidFill>
                  <a:srgbClr val="0F172A"/>
                </a:solidFill>
                <a:latin typeface="Segoe UI"/>
              </a:defRPr>
            </a:pPr>
            <a:r>
              <a:rPr sz="1600" b="0">
                <a:solidFill>
                  <a:srgbClr val="0F172A"/>
                </a:solidFill>
                <a:latin typeface="Segoe UI"/>
              </a:rPr>
              <a:t>• vLLM: continuous batching, PagedAttention, OpenAI-compatible API.</a:t>
            </a:r>
          </a:p>
          <a:p>
            <a:pPr>
              <a:spcAft>
                <a:spcPts val="1000"/>
              </a:spcAft>
              <a:defRPr sz="1600" b="0">
                <a:solidFill>
                  <a:srgbClr val="0F172A"/>
                </a:solidFill>
                <a:latin typeface="Segoe UI"/>
              </a:defRPr>
            </a:pPr>
            <a:r>
              <a:rPr sz="1600" b="0">
                <a:solidFill>
                  <a:srgbClr val="0F172A"/>
                </a:solidFill>
                <a:latin typeface="Segoe UI"/>
              </a:rPr>
              <a:t>• Evaluación: MMLU, HumanEval, MT-Bench, LMSys Arena.</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148 — LLMs aplicados: fine-tuning, prompting (+ LoRA / QLoRA, DPO, vLLM)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transformers, torch</a:t>
            </a:r>
          </a:p>
          <a:p>
            <a:pPr>
              <a:defRPr sz="1200" b="0">
                <a:solidFill>
                  <a:srgbClr val="F8FAFC"/>
                </a:solidFill>
                <a:latin typeface="Courier New"/>
              </a:defRPr>
            </a:pPr>
            <a:r>
              <a:rPr sz="1200" b="0">
                <a:solidFill>
                  <a:srgbClr val="F8FAFC"/>
                </a:solidFill>
                <a:latin typeface="Courier New"/>
              </a:rPr>
              <a:t>    HAS_LLM = True</a:t>
            </a:r>
          </a:p>
          <a:p>
            <a:pPr>
              <a:defRPr sz="1200" b="0">
                <a:solidFill>
                  <a:srgbClr val="F8FAFC"/>
                </a:solidFill>
                <a:latin typeface="Courier New"/>
              </a:defRPr>
            </a:pPr>
            <a:r>
              <a:rPr sz="1200" b="0">
                <a:solidFill>
                  <a:srgbClr val="F8FAFC"/>
                </a:solidFill>
                <a:latin typeface="Courier New"/>
              </a:rPr>
              <a:t>    print('transformers:', transformers.__version__)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HAS_LLM = False</a:t>
            </a:r>
          </a:p>
          <a:p>
            <a:pPr>
              <a:defRPr sz="1200" b="0">
                <a:solidFill>
                  <a:srgbClr val="F8FAFC"/>
                </a:solidFill>
                <a:latin typeface="Courier New"/>
              </a:defRPr>
            </a:pPr>
            <a:r>
              <a:rPr sz="1200" b="0">
                <a:solidFill>
                  <a:srgbClr val="F8FAFC"/>
                </a:solidFill>
                <a:latin typeface="Courier New"/>
              </a:rPr>
              <a:t>    print('LLM stack no instalado.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148 — LLMs aplicados: fine-tuning, prompting (+ LoRA / QLoRA, DPO, vLLM)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Prompt engineering: para una tarea (e.g., clasificación de quejas), iterar 5 versiones de prompt (zero-shot, few-shot, CoT, etc.).</a:t>
            </a:r>
          </a:p>
          <a:p>
            <a:pPr>
              <a:spcAft>
                <a:spcPts val="800"/>
              </a:spcAft>
              <a:defRPr sz="1400" b="0">
                <a:solidFill>
                  <a:srgbClr val="0F172A"/>
                </a:solidFill>
                <a:latin typeface="Segoe UI"/>
              </a:defRPr>
            </a:pPr>
            <a:r>
              <a:rPr sz="1400" b="0">
                <a:solidFill>
                  <a:srgbClr val="0F172A"/>
                </a:solidFill>
                <a:latin typeface="Segoe UI"/>
              </a:rPr>
              <a:t>• LoRA SFT: fine-tunear un Mistral 7B Instruct con LoRA sobre un dataset propio chico (1k-10k ejemplos).</a:t>
            </a:r>
          </a:p>
          <a:p>
            <a:pPr>
              <a:spcAft>
                <a:spcPts val="800"/>
              </a:spcAft>
              <a:defRPr sz="1400" b="0">
                <a:solidFill>
                  <a:srgbClr val="0F172A"/>
                </a:solidFill>
                <a:latin typeface="Segoe UI"/>
              </a:defRPr>
            </a:pPr>
            <a:r>
              <a:rPr sz="1400" b="0">
                <a:solidFill>
                  <a:srgbClr val="0F172A"/>
                </a:solidFill>
                <a:latin typeface="Segoe UI"/>
              </a:rPr>
              <a:t>• QLoRA: el mismo experimento pero con quantization 4-bit.</a:t>
            </a:r>
          </a:p>
          <a:p>
            <a:pPr>
              <a:spcAft>
                <a:spcPts val="800"/>
              </a:spcAft>
              <a:defRPr sz="1400" b="0">
                <a:solidFill>
                  <a:srgbClr val="0F172A"/>
                </a:solidFill>
                <a:latin typeface="Segoe UI"/>
              </a:defRPr>
            </a:pPr>
            <a:r>
              <a:rPr sz="1400" b="0">
                <a:solidFill>
                  <a:srgbClr val="0F172A"/>
                </a:solidFill>
                <a:latin typeface="Segoe UI"/>
              </a:rPr>
              <a:t>• DPO: con un dataset de preferencias mínimo (e.g., 500 pairs), aplicar DPO sobre el modelo SFT.</a:t>
            </a:r>
          </a:p>
          <a:p>
            <a:pPr>
              <a:spcAft>
                <a:spcPts val="800"/>
              </a:spcAft>
              <a:defRPr sz="1400" b="0">
                <a:solidFill>
                  <a:srgbClr val="0F172A"/>
                </a:solidFill>
                <a:latin typeface="Segoe UI"/>
              </a:defRPr>
            </a:pPr>
            <a:r>
              <a:rPr sz="1400" b="0">
                <a:solidFill>
                  <a:srgbClr val="0F172A"/>
                </a:solidFill>
                <a:latin typeface="Segoe UI"/>
              </a:rPr>
              <a:t>• vLLM serving: levantar vLLM con el modelo + LoRA adapter, medir throughput vs HF pipeline.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Elegir Llama 3 8B Instruct o Mistral 7B Instruct.</a:t>
            </a:r>
          </a:p>
          <a:p>
            <a:pPr>
              <a:spcAft>
                <a:spcPts val="800"/>
              </a:spcAft>
              <a:defRPr sz="1400" b="0">
                <a:solidFill>
                  <a:srgbClr val="0F172A"/>
                </a:solidFill>
                <a:latin typeface="Segoe UI"/>
              </a:defRPr>
            </a:pPr>
            <a:r>
              <a:rPr sz="1400" b="0">
                <a:solidFill>
                  <a:srgbClr val="0F172A"/>
                </a:solidFill>
                <a:latin typeface="Segoe UI"/>
              </a:rPr>
              <a:t>• Dataset propio: 500-2000 pares (instrucción, respuesta).</a:t>
            </a:r>
          </a:p>
          <a:p>
            <a:pPr>
              <a:spcAft>
                <a:spcPts val="800"/>
              </a:spcAft>
              <a:defRPr sz="1400" b="0">
                <a:solidFill>
                  <a:srgbClr val="0F172A"/>
                </a:solidFill>
                <a:latin typeface="Segoe UI"/>
              </a:defRPr>
            </a:pPr>
            <a:r>
              <a:rPr sz="1400" b="0">
                <a:solidFill>
                  <a:srgbClr val="0F172A"/>
                </a:solidFill>
                <a:latin typeface="Segoe UI"/>
              </a:rPr>
              <a:t>• QLoRA config: r=16, target=['q_proj','k_proj','v_proj','o_proj'], 4-bit.</a:t>
            </a:r>
          </a:p>
          <a:p>
            <a:pPr>
              <a:spcAft>
                <a:spcPts val="800"/>
              </a:spcAft>
              <a:defRPr sz="1400" b="0">
                <a:solidFill>
                  <a:srgbClr val="0F172A"/>
                </a:solidFill>
                <a:latin typeface="Segoe UI"/>
              </a:defRPr>
            </a:pPr>
            <a:r>
              <a:rPr sz="1400" b="0">
                <a:solidFill>
                  <a:srgbClr val="0F172A"/>
                </a:solidFill>
                <a:latin typeface="Segoe UI"/>
              </a:rPr>
              <a:t>• Entrenar 3 épocas; evaluar perplexity en val.</a:t>
            </a:r>
          </a:p>
          <a:p>
            <a:pPr>
              <a:spcAft>
                <a:spcPts val="800"/>
              </a:spcAft>
              <a:defRPr sz="1400" b="0">
                <a:solidFill>
                  <a:srgbClr val="0F172A"/>
                </a:solidFill>
                <a:latin typeface="Segoe UI"/>
              </a:defRPr>
            </a:pPr>
            <a:r>
              <a:rPr sz="1400" b="0">
                <a:solidFill>
                  <a:srgbClr val="0F172A"/>
                </a:solidFill>
                <a:latin typeface="Segoe UI"/>
              </a:rPr>
              <a:t>• Servir con vLLM y testear 10 ejemplos.</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149 — LoRA / QLoRA: fine-tuning eficiente de LLMs</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149 — LoRA / QLoRA: fine-tuning eficiente de LLMs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Hu et al. (2021) LoRA + Dettmers et al. (2023) QLoRA.  Duración estimada: 100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Hacer fine-tuning de LLMs (Llama 3, Mistral, Qwen 2) en una GPU consumer con LoRA y QLoRA. Cubrir hyperparámetros (r, alpha, dropout, target_modules), inspección de trainable params, merge LoRA con base, y deployment.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LoRA con peft.LoraConfig y get_peft_model.</a:t>
            </a:r>
          </a:p>
          <a:p>
            <a:pPr>
              <a:spcAft>
                <a:spcPts val="800"/>
              </a:spcAft>
              <a:defRPr sz="1400" b="0">
                <a:solidFill>
                  <a:srgbClr val="0F172A"/>
                </a:solidFill>
                <a:latin typeface="Segoe UI"/>
              </a:defRPr>
            </a:pPr>
            <a:r>
              <a:rPr sz="1400" b="0">
                <a:solidFill>
                  <a:srgbClr val="0F172A"/>
                </a:solidFill>
                <a:latin typeface="Segoe UI"/>
              </a:rPr>
              <a:t>• Configurar QLoRA con bitsandbytes 4-bit + BitsAndBytesConfig(load_in_4bit=True, bnb_4bit_quant_type='nf4').</a:t>
            </a:r>
          </a:p>
          <a:p>
            <a:pPr>
              <a:spcAft>
                <a:spcPts val="800"/>
              </a:spcAft>
              <a:defRPr sz="1400" b="0">
                <a:solidFill>
                  <a:srgbClr val="0F172A"/>
                </a:solidFill>
                <a:latin typeface="Segoe UI"/>
              </a:defRPr>
            </a:pPr>
            <a:r>
              <a:rPr sz="1400" b="0">
                <a:solidFill>
                  <a:srgbClr val="0F172A"/>
                </a:solidFill>
                <a:latin typeface="Segoe UI"/>
              </a:rPr>
              <a:t>• Elegir rank r (típico 8-64), alpha (típico 2×r), target_modules.</a:t>
            </a:r>
          </a:p>
          <a:p>
            <a:pPr>
              <a:spcAft>
                <a:spcPts val="800"/>
              </a:spcAft>
              <a:defRPr sz="1400" b="0">
                <a:solidFill>
                  <a:srgbClr val="0F172A"/>
                </a:solidFill>
                <a:latin typeface="Segoe UI"/>
              </a:defRPr>
            </a:pPr>
            <a:r>
              <a:rPr sz="1400" b="0">
                <a:solidFill>
                  <a:srgbClr val="0F172A"/>
                </a:solidFill>
                <a:latin typeface="Segoe UI"/>
              </a:rPr>
              <a:t>• Mergear el LoRA adapter con el base para deploy: model.merge_and_unload().</a:t>
            </a:r>
          </a:p>
          <a:p>
            <a:pPr>
              <a:spcAft>
                <a:spcPts val="800"/>
              </a:spcAft>
              <a:defRPr sz="1400" b="0">
                <a:solidFill>
                  <a:srgbClr val="0F172A"/>
                </a:solidFill>
                <a:latin typeface="Segoe UI"/>
              </a:defRPr>
            </a:pPr>
            <a:r>
              <a:rPr sz="1400" b="0">
                <a:solidFill>
                  <a:srgbClr val="0F172A"/>
                </a:solidFill>
                <a:latin typeface="Segoe UI"/>
              </a:rPr>
              <a:t>• Calcular trainable params vs total: ~0.1-1 % es el ratio típico.</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149 — LoRA / QLoRA: fine-tuning eficiente de LLMs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LoRA matemáticamente: W' = W + (B·A)·alpha/r.</a:t>
            </a:r>
          </a:p>
          <a:p>
            <a:pPr>
              <a:spcAft>
                <a:spcPts val="1000"/>
              </a:spcAft>
              <a:defRPr sz="1600" b="0">
                <a:solidFill>
                  <a:srgbClr val="0F172A"/>
                </a:solidFill>
                <a:latin typeface="Segoe UI"/>
              </a:defRPr>
            </a:pPr>
            <a:r>
              <a:rPr sz="1600" b="0">
                <a:solidFill>
                  <a:srgbClr val="0F172A"/>
                </a:solidFill>
                <a:latin typeface="Segoe UI"/>
              </a:rPr>
              <a:t>• QLoRA: NF4 quantization + double quant + paged optimizers.</a:t>
            </a:r>
          </a:p>
          <a:p>
            <a:pPr>
              <a:spcAft>
                <a:spcPts val="1000"/>
              </a:spcAft>
              <a:defRPr sz="1600" b="0">
                <a:solidFill>
                  <a:srgbClr val="0F172A"/>
                </a:solidFill>
                <a:latin typeface="Segoe UI"/>
              </a:defRPr>
            </a:pPr>
            <a:r>
              <a:rPr sz="1600" b="0">
                <a:solidFill>
                  <a:srgbClr val="0F172A"/>
                </a:solidFill>
                <a:latin typeface="Segoe UI"/>
              </a:rPr>
              <a:t>• target_modules: ['q_proj', 'k_proj', 'v_proj', 'o_proj'] clásico; o all-linear.</a:t>
            </a:r>
          </a:p>
          <a:p>
            <a:pPr>
              <a:spcAft>
                <a:spcPts val="1000"/>
              </a:spcAft>
              <a:defRPr sz="1600" b="0">
                <a:solidFill>
                  <a:srgbClr val="0F172A"/>
                </a:solidFill>
                <a:latin typeface="Segoe UI"/>
              </a:defRPr>
            </a:pPr>
            <a:r>
              <a:rPr sz="1600" b="0">
                <a:solidFill>
                  <a:srgbClr val="0F172A"/>
                </a:solidFill>
                <a:latin typeface="Segoe UI"/>
              </a:rPr>
              <a:t>• Save / load: solo el adapter (~10-50 MB) en lugar del full model.</a:t>
            </a:r>
          </a:p>
          <a:p>
            <a:pPr>
              <a:spcAft>
                <a:spcPts val="1000"/>
              </a:spcAft>
              <a:defRPr sz="1600" b="0">
                <a:solidFill>
                  <a:srgbClr val="0F172A"/>
                </a:solidFill>
                <a:latin typeface="Segoe UI"/>
              </a:defRPr>
            </a:pPr>
            <a:r>
              <a:rPr sz="1600" b="0">
                <a:solidFill>
                  <a:srgbClr val="0F172A"/>
                </a:solidFill>
                <a:latin typeface="Segoe UI"/>
              </a:rPr>
              <a:t>• Merge + serve vs separated adapter.</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149 — LoRA / QLoRA: fine-tuning eficiente de LLMs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LoRA desde scratch en numpy (CPU-friendly). La API real con HuggingFace + PEFT requiere GPU y se muestra en markdown.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Toy: matriz base W (frozen) 100x100</a:t>
            </a:r>
          </a:p>
          <a:p>
            <a:pPr>
              <a:defRPr sz="1200" b="0">
                <a:solidFill>
                  <a:srgbClr val="F8FAFC"/>
                </a:solidFill>
                <a:latin typeface="Courier New"/>
              </a:defRPr>
            </a:pPr>
            <a:r>
              <a:rPr sz="1200" b="0">
                <a:solidFill>
                  <a:srgbClr val="F8FAFC"/>
                </a:solidFill>
                <a:latin typeface="Courier New"/>
              </a:rPr>
              <a:t>d_in, d_out = 100, 100</a:t>
            </a:r>
          </a:p>
          <a:p>
            <a:pPr>
              <a:defRPr sz="1200" b="0">
                <a:solidFill>
                  <a:srgbClr val="F8FAFC"/>
                </a:solidFill>
                <a:latin typeface="Courier New"/>
              </a:defRPr>
            </a:pPr>
            <a:r>
              <a:rPr sz="1200" b="0">
                <a:solidFill>
                  <a:srgbClr val="F8FAFC"/>
                </a:solidFill>
                <a:latin typeface="Courier New"/>
              </a:rPr>
              <a:t>W = rng.standard_normal((d_in, d_out)) * 0.1</a:t>
            </a:r>
          </a:p>
          <a:p>
            <a:pPr>
              <a:defRPr sz="1200" b="0">
                <a:solidFill>
                  <a:srgbClr val="F8FAFC"/>
                </a:solidFill>
                <a:latin typeface="Courier New"/>
              </a:defRPr>
            </a:pPr>
            <a:r>
              <a:rPr sz="1200" b="0">
                <a:solidFill>
                  <a:srgbClr val="F8FAFC"/>
                </a:solidFill>
                <a:latin typeface="Courier New"/>
              </a:rPr>
              <a:t>print('W shape:', W.shape, '| params:', W.size)</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149 — LoRA / QLoRA: fine-tuning eficiente de LLMs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LoRA básico: cargar Mistral 7B Instruct sin quantization; aplicar LoRA r=16.</a:t>
            </a:r>
          </a:p>
          <a:p>
            <a:pPr>
              <a:spcAft>
                <a:spcPts val="800"/>
              </a:spcAft>
              <a:defRPr sz="1400" b="0">
                <a:solidFill>
                  <a:srgbClr val="0F172A"/>
                </a:solidFill>
                <a:latin typeface="Segoe UI"/>
              </a:defRPr>
            </a:pPr>
            <a:r>
              <a:rPr sz="1400" b="0">
                <a:solidFill>
                  <a:srgbClr val="0F172A"/>
                </a:solidFill>
                <a:latin typeface="Segoe UI"/>
              </a:rPr>
              <a:t>• QLoRA: ahora con load_in_4bit=True.</a:t>
            </a:r>
          </a:p>
          <a:p>
            <a:pPr>
              <a:spcAft>
                <a:spcPts val="800"/>
              </a:spcAft>
              <a:defRPr sz="1400" b="0">
                <a:solidFill>
                  <a:srgbClr val="0F172A"/>
                </a:solidFill>
                <a:latin typeface="Segoe UI"/>
              </a:defRPr>
            </a:pPr>
            <a:r>
              <a:rPr sz="1400" b="0">
                <a:solidFill>
                  <a:srgbClr val="0F172A"/>
                </a:solidFill>
                <a:latin typeface="Segoe UI"/>
              </a:rPr>
              <a:t>• Train con TRL: SFTTrainer sobre 500 ejemplos custom.</a:t>
            </a:r>
          </a:p>
          <a:p>
            <a:pPr>
              <a:spcAft>
                <a:spcPts val="800"/>
              </a:spcAft>
              <a:defRPr sz="1400" b="0">
                <a:solidFill>
                  <a:srgbClr val="0F172A"/>
                </a:solidFill>
                <a:latin typeface="Segoe UI"/>
              </a:defRPr>
            </a:pPr>
            <a:r>
              <a:rPr sz="1400" b="0">
                <a:solidFill>
                  <a:srgbClr val="0F172A"/>
                </a:solidFill>
                <a:latin typeface="Segoe UI"/>
              </a:rPr>
              <a:t>• Inference con adapter: cargar base + LoRA y predecir.</a:t>
            </a:r>
          </a:p>
          <a:p>
            <a:pPr>
              <a:spcAft>
                <a:spcPts val="800"/>
              </a:spcAft>
              <a:defRPr sz="1400" b="0">
                <a:solidFill>
                  <a:srgbClr val="0F172A"/>
                </a:solidFill>
                <a:latin typeface="Segoe UI"/>
              </a:defRPr>
            </a:pPr>
            <a:r>
              <a:rPr sz="1400" b="0">
                <a:solidFill>
                  <a:srgbClr val="0F172A"/>
                </a:solidFill>
                <a:latin typeface="Segoe UI"/>
              </a:rPr>
              <a:t>• Merge: model.merge_and_unload() → save como modelo normal.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200-500 pares (instrucción, respuesta).</a:t>
            </a:r>
          </a:p>
          <a:p>
            <a:pPr>
              <a:spcAft>
                <a:spcPts val="800"/>
              </a:spcAft>
              <a:defRPr sz="1500" b="0">
                <a:solidFill>
                  <a:srgbClr val="0F172A"/>
                </a:solidFill>
                <a:latin typeface="Segoe UI"/>
              </a:defRPr>
            </a:pPr>
            <a:r>
              <a:rPr sz="1500" b="0">
                <a:solidFill>
                  <a:srgbClr val="0F172A"/>
                </a:solidFill>
                <a:latin typeface="Segoe UI"/>
              </a:rPr>
              <a:t>• QLoRA r=16, target=all-linear, 3 épocas.</a:t>
            </a:r>
          </a:p>
          <a:p>
            <a:pPr>
              <a:spcAft>
                <a:spcPts val="800"/>
              </a:spcAft>
              <a:defRPr sz="1500" b="0">
                <a:solidFill>
                  <a:srgbClr val="0F172A"/>
                </a:solidFill>
                <a:latin typeface="Segoe UI"/>
              </a:defRPr>
            </a:pPr>
            <a:r>
              <a:rPr sz="1500" b="0">
                <a:solidFill>
                  <a:srgbClr val="0F172A"/>
                </a:solidFill>
                <a:latin typeface="Segoe UI"/>
              </a:rPr>
              <a:t>• Inference con el adapter: 10 ejemplos test.</a:t>
            </a:r>
          </a:p>
          <a:p>
            <a:pPr>
              <a:spcAft>
                <a:spcPts val="800"/>
              </a:spcAft>
              <a:defRPr sz="1500" b="0">
                <a:solidFill>
                  <a:srgbClr val="0F172A"/>
                </a:solidFill>
                <a:latin typeface="Segoe UI"/>
              </a:defRPr>
            </a:pPr>
            <a:r>
              <a:rPr sz="1500" b="0">
                <a:solidFill>
                  <a:srgbClr val="0F172A"/>
                </a:solidFill>
                <a:latin typeface="Segoe UI"/>
              </a:rPr>
              <a:t>• Reportar mejora cualitativa vs base.</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150 — DPO y RLHF: alineamiento de LLMs</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150 — DPO y RLHF: alineamiento de LLMs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Ouyang et al. (2022) InstructGPT/RLHF + Rafailov et al. (2023) DPO + papers IPO/KTO/ORPO.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Alinear LLMs con preferencias humanas (helpful, harmless, honest). Cubrir RLHF clásico (SFT → Reward Model → PPO, complejo) y DPO (Direct Preference Optimization, moderno y simple). Conocer variantes 2023-2024: IPO, KTO, ORPO.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el pipeline RLHF de 3 etapas (SFT, RM, PPO).</a:t>
            </a:r>
          </a:p>
          <a:p>
            <a:pPr>
              <a:spcAft>
                <a:spcPts val="800"/>
              </a:spcAft>
              <a:defRPr sz="1400" b="0">
                <a:solidFill>
                  <a:srgbClr val="0F172A"/>
                </a:solidFill>
                <a:latin typeface="Segoe UI"/>
              </a:defRPr>
            </a:pPr>
            <a:r>
              <a:rPr sz="1400" b="0">
                <a:solidFill>
                  <a:srgbClr val="0F172A"/>
                </a:solidFill>
                <a:latin typeface="Segoe UI"/>
              </a:rPr>
              <a:t>• Aplicar DPO con trl.DPOTrainer sobre un dataset de preferencias.</a:t>
            </a:r>
          </a:p>
          <a:p>
            <a:pPr>
              <a:spcAft>
                <a:spcPts val="800"/>
              </a:spcAft>
              <a:defRPr sz="1400" b="0">
                <a:solidFill>
                  <a:srgbClr val="0F172A"/>
                </a:solidFill>
                <a:latin typeface="Segoe UI"/>
              </a:defRPr>
            </a:pPr>
            <a:r>
              <a:rPr sz="1400" b="0">
                <a:solidFill>
                  <a:srgbClr val="0F172A"/>
                </a:solidFill>
                <a:latin typeface="Segoe UI"/>
              </a:rPr>
              <a:t>• Diferenciar DPO (single-step) de KTO (no requiere pairs) y ORPO (combina SFT + alineamiento).</a:t>
            </a:r>
          </a:p>
          <a:p>
            <a:pPr>
              <a:spcAft>
                <a:spcPts val="800"/>
              </a:spcAft>
              <a:defRPr sz="1400" b="0">
                <a:solidFill>
                  <a:srgbClr val="0F172A"/>
                </a:solidFill>
                <a:latin typeface="Segoe UI"/>
              </a:defRPr>
            </a:pPr>
            <a:r>
              <a:rPr sz="1400" b="0">
                <a:solidFill>
                  <a:srgbClr val="0F172A"/>
                </a:solidFill>
                <a:latin typeface="Segoe UI"/>
              </a:rPr>
              <a:t>• Crear un dataset de preferencias: (prompt, chosen, rejected).</a:t>
            </a:r>
          </a:p>
          <a:p>
            <a:pPr>
              <a:spcAft>
                <a:spcPts val="800"/>
              </a:spcAft>
              <a:defRPr sz="1400" b="0">
                <a:solidFill>
                  <a:srgbClr val="0F172A"/>
                </a:solidFill>
                <a:latin typeface="Segoe UI"/>
              </a:defRPr>
            </a:pPr>
            <a:r>
              <a:rPr sz="1400" b="0">
                <a:solidFill>
                  <a:srgbClr val="0F172A"/>
                </a:solidFill>
                <a:latin typeface="Segoe UI"/>
              </a:rPr>
              <a:t>• Evaluar alineamiento con MT-Bench, AlpacaEval, o LLM-as-judge.</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150 — DPO y RLHF: alineamiento de LLMs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alineamiento: LLM pretrained → genera pero no sigue instrucciones bien ni evita harm.</a:t>
            </a:r>
          </a:p>
          <a:p>
            <a:pPr>
              <a:spcAft>
                <a:spcPts val="1000"/>
              </a:spcAft>
              <a:defRPr sz="1600" b="0">
                <a:solidFill>
                  <a:srgbClr val="0F172A"/>
                </a:solidFill>
                <a:latin typeface="Segoe UI"/>
              </a:defRPr>
            </a:pPr>
            <a:r>
              <a:rPr sz="1600" b="0">
                <a:solidFill>
                  <a:srgbClr val="0F172A"/>
                </a:solidFill>
                <a:latin typeface="Segoe UI"/>
              </a:rPr>
              <a:t>• SFT (Supervised Fine-Tuning): instruction tuning.</a:t>
            </a:r>
          </a:p>
          <a:p>
            <a:pPr>
              <a:spcAft>
                <a:spcPts val="1000"/>
              </a:spcAft>
              <a:defRPr sz="1600" b="0">
                <a:solidFill>
                  <a:srgbClr val="0F172A"/>
                </a:solidFill>
                <a:latin typeface="Segoe UI"/>
              </a:defRPr>
            </a:pPr>
            <a:r>
              <a:rPr sz="1600" b="0">
                <a:solidFill>
                  <a:srgbClr val="0F172A"/>
                </a:solidFill>
                <a:latin typeface="Segoe UI"/>
              </a:rPr>
              <a:t>• Reward Model: regression entrenada con human preferences.</a:t>
            </a:r>
          </a:p>
          <a:p>
            <a:pPr>
              <a:spcAft>
                <a:spcPts val="1000"/>
              </a:spcAft>
              <a:defRPr sz="1600" b="0">
                <a:solidFill>
                  <a:srgbClr val="0F172A"/>
                </a:solidFill>
                <a:latin typeface="Segoe UI"/>
              </a:defRPr>
            </a:pPr>
            <a:r>
              <a:rPr sz="1600" b="0">
                <a:solidFill>
                  <a:srgbClr val="0F172A"/>
                </a:solidFill>
                <a:latin typeface="Segoe UI"/>
              </a:rPr>
              <a:t>• PPO: optimizar el LLM contra el RM.</a:t>
            </a:r>
          </a:p>
          <a:p>
            <a:pPr>
              <a:spcAft>
                <a:spcPts val="1000"/>
              </a:spcAft>
              <a:defRPr sz="1600" b="0">
                <a:solidFill>
                  <a:srgbClr val="0F172A"/>
                </a:solidFill>
                <a:latin typeface="Segoe UI"/>
              </a:defRPr>
            </a:pPr>
            <a:r>
              <a:rPr sz="1600" b="0">
                <a:solidFill>
                  <a:srgbClr val="0F172A"/>
                </a:solidFill>
                <a:latin typeface="Segoe UI"/>
              </a:rPr>
              <a:t>• DPO: derivación matemática que elimina el RM.</a:t>
            </a:r>
          </a:p>
          <a:p>
            <a:pPr>
              <a:spcAft>
                <a:spcPts val="1000"/>
              </a:spcAft>
              <a:defRPr sz="1600" b="0">
                <a:solidFill>
                  <a:srgbClr val="0F172A"/>
                </a:solidFill>
                <a:latin typeface="Segoe UI"/>
              </a:defRPr>
            </a:pPr>
            <a:r>
              <a:rPr sz="1600" b="0">
                <a:solidFill>
                  <a:srgbClr val="0F172A"/>
                </a:solidFill>
                <a:latin typeface="Segoe UI"/>
              </a:rPr>
              <a:t>• IPO: variante con identity link, más estable.</a:t>
            </a:r>
          </a:p>
          <a:p>
            <a:pPr>
              <a:spcAft>
                <a:spcPts val="1000"/>
              </a:spcAft>
              <a:defRPr sz="1600" b="0">
                <a:solidFill>
                  <a:srgbClr val="0F172A"/>
                </a:solidFill>
                <a:latin typeface="Segoe UI"/>
              </a:defRPr>
            </a:pPr>
            <a:r>
              <a:rPr sz="1600" b="0">
                <a:solidFill>
                  <a:srgbClr val="0F172A"/>
                </a:solidFill>
                <a:latin typeface="Segoe UI"/>
              </a:rPr>
              <a:t>• KTO: solo chosen o rejected (no necesita pairs).</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150 — DPO y RLHF: alineamiento de LLMs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DPO loss desde scratch con dataset sintético de preferencias. RLHF tradicional (SFT → RM → PPO) se explica conceptualmente.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Dataset sintético: 100 pares (prompt, chosen, rejected) como embeddings</a:t>
            </a:r>
          </a:p>
          <a:p>
            <a:pPr>
              <a:defRPr sz="1200" b="0">
                <a:solidFill>
                  <a:srgbClr val="F8FAFC"/>
                </a:solidFill>
                <a:latin typeface="Courier New"/>
              </a:defRPr>
            </a:pPr>
            <a:r>
              <a:rPr sz="1200" b="0">
                <a:solidFill>
                  <a:srgbClr val="F8FAFC"/>
                </a:solidFill>
                <a:latin typeface="Courier New"/>
              </a:rPr>
              <a:t>n_pairs = 100</a:t>
            </a:r>
          </a:p>
          <a:p>
            <a:pPr>
              <a:defRPr sz="1200" b="0">
                <a:solidFill>
                  <a:srgbClr val="F8FAFC"/>
                </a:solidFill>
                <a:latin typeface="Courier New"/>
              </a:defRPr>
            </a:pPr>
            <a:r>
              <a:rPr sz="1200" b="0">
                <a:solidFill>
                  <a:srgbClr val="F8FAFC"/>
                </a:solidFill>
                <a:latin typeface="Courier New"/>
              </a:rPr>
              <a:t>d_emb = 32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Generamos "prompts" y respuestas: chosen siempre tiene un offset hacia un "good direction"</a:t>
            </a:r>
          </a:p>
          <a:p>
            <a:pPr>
              <a:defRPr sz="1200" b="0">
                <a:solidFill>
                  <a:srgbClr val="F8FAFC"/>
                </a:solidFill>
                <a:latin typeface="Courier New"/>
              </a:defRPr>
            </a:pPr>
            <a:r>
              <a:rPr sz="1200" b="0">
                <a:solidFill>
                  <a:srgbClr val="F8FAFC"/>
                </a:solidFill>
                <a:latin typeface="Courier New"/>
              </a:rPr>
              <a:t>good_dir = rng.standard_normal(d_emb)</a:t>
            </a:r>
          </a:p>
          <a:p>
            <a:pPr>
              <a:defRPr sz="1200" b="0">
                <a:solidFill>
                  <a:srgbClr val="F8FAFC"/>
                </a:solidFill>
                <a:latin typeface="Courier New"/>
              </a:defRPr>
            </a:pPr>
            <a:r>
              <a:rPr sz="1200" b="0">
                <a:solidFill>
                  <a:srgbClr val="F8FAFC"/>
                </a:solidFill>
                <a:latin typeface="Courier New"/>
              </a:rPr>
              <a:t>good_dir /= np.linalg.norm(good_dir)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prompts = rng.standard_normal((n_pairs, d_emb))</a:t>
            </a:r>
          </a:p>
          <a:p>
            <a:pPr>
              <a:defRPr sz="1200" b="0">
                <a:solidFill>
                  <a:srgbClr val="F8FAFC"/>
                </a:solidFill>
                <a:latin typeface="Courier New"/>
              </a:defRPr>
            </a:pPr>
            <a:r>
              <a:rPr sz="1200" b="0">
                <a:solidFill>
                  <a:srgbClr val="F8FAFC"/>
                </a:solidFill>
                <a:latin typeface="Courier New"/>
              </a:rPr>
              <a:t>chosen = rng.standard_normal((n_pairs, d_emb)) + 1.5 * good_dir</a:t>
            </a:r>
          </a:p>
          <a:p>
            <a:pPr>
              <a:defRPr sz="1200" b="0">
                <a:solidFill>
                  <a:srgbClr val="F8FAFC"/>
                </a:solidFill>
                <a:latin typeface="Courier New"/>
              </a:defRPr>
            </a:pPr>
            <a:r>
              <a:rPr sz="1200" b="0">
                <a:solidFill>
                  <a:srgbClr val="F8FAFC"/>
                </a:solidFill>
                <a:latin typeface="Courier New"/>
              </a:rPr>
              <a:t>rejected = rng.standard_normal((n_pairs, d_emb)) - 0.5 * good_dir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print(f'pairs: {n_pairs}, dim={d_emb}')</a:t>
            </a:r>
          </a:p>
          <a:p>
            <a:pPr>
              <a:defRPr sz="1200" b="0">
                <a:solidFill>
                  <a:srgbClr val="F8FAFC"/>
                </a:solidFill>
                <a:latin typeface="Courier New"/>
              </a:defRPr>
            </a:pPr>
            <a:r>
              <a:rPr sz="1200" b="0">
                <a:solidFill>
                  <a:srgbClr val="F8FAFC"/>
                </a:solidFill>
                <a:latin typeface="Courier New"/>
              </a:rPr>
              <a:t>print(f'chosen·good = {(chosen @ good_dir).mean():.3f} (alto)')</a:t>
            </a:r>
          </a:p>
          <a:p>
            <a:pPr>
              <a:defRPr sz="1200" b="0">
                <a:solidFill>
                  <a:srgbClr val="F8FAFC"/>
                </a:solidFill>
                <a:latin typeface="Courier New"/>
              </a:defRPr>
            </a:pPr>
            <a:r>
              <a:rPr sz="1200" b="0">
                <a:solidFill>
                  <a:srgbClr val="F8FAFC"/>
                </a:solidFill>
                <a:latin typeface="Courier New"/>
              </a:rPr>
              <a:t>print(f'rejected·good = {(rejected @ good_dir).mean():.3f} (bajo)')</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150 — DPO y RLHF: alineamiento de LLMs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Dataset de preferencias: cargar Anthropic/hh-rlhf.</a:t>
            </a:r>
          </a:p>
          <a:p>
            <a:pPr>
              <a:spcAft>
                <a:spcPts val="800"/>
              </a:spcAft>
              <a:defRPr sz="1400" b="0">
                <a:solidFill>
                  <a:srgbClr val="0F172A"/>
                </a:solidFill>
                <a:latin typeface="Segoe UI"/>
              </a:defRPr>
            </a:pPr>
            <a:r>
              <a:rPr sz="1400" b="0">
                <a:solidFill>
                  <a:srgbClr val="0F172A"/>
                </a:solidFill>
                <a:latin typeface="Segoe UI"/>
              </a:rPr>
              <a:t>• DPO con TRL: DPOTrainer(model, ref_model, ...) con LoRA encima.</a:t>
            </a:r>
          </a:p>
          <a:p>
            <a:pPr>
              <a:spcAft>
                <a:spcPts val="800"/>
              </a:spcAft>
              <a:defRPr sz="1400" b="0">
                <a:solidFill>
                  <a:srgbClr val="0F172A"/>
                </a:solidFill>
                <a:latin typeface="Segoe UI"/>
              </a:defRPr>
            </a:pPr>
            <a:r>
              <a:rPr sz="1400" b="0">
                <a:solidFill>
                  <a:srgbClr val="0F172A"/>
                </a:solidFill>
                <a:latin typeface="Segoe UI"/>
              </a:rPr>
              <a:t>• Eval pre/post: generar respuestas a 20 prompts antes y después; comparar manualmente.</a:t>
            </a:r>
          </a:p>
          <a:p>
            <a:pPr>
              <a:spcAft>
                <a:spcPts val="800"/>
              </a:spcAft>
              <a:defRPr sz="1400" b="0">
                <a:solidFill>
                  <a:srgbClr val="0F172A"/>
                </a:solidFill>
                <a:latin typeface="Segoe UI"/>
              </a:defRPr>
            </a:pPr>
            <a:r>
              <a:rPr sz="1400" b="0">
                <a:solidFill>
                  <a:srgbClr val="0F172A"/>
                </a:solidFill>
                <a:latin typeface="Segoe UI"/>
              </a:rPr>
              <a:t>• β sensitivity: probar β ∈ {0.1, 0.3, 1.0}.</a:t>
            </a:r>
          </a:p>
          <a:p>
            <a:pPr>
              <a:spcAft>
                <a:spcPts val="800"/>
              </a:spcAft>
              <a:defRPr sz="1400" b="0">
                <a:solidFill>
                  <a:srgbClr val="0F172A"/>
                </a:solidFill>
                <a:latin typeface="Segoe UI"/>
              </a:defRPr>
            </a:pPr>
            <a:r>
              <a:rPr sz="1400" b="0">
                <a:solidFill>
                  <a:srgbClr val="0F172A"/>
                </a:solidFill>
                <a:latin typeface="Segoe UI"/>
              </a:rPr>
              <a:t>• KTO: dataset con solo chosen (no pairs).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de 200-500 pares (puede ser sintético con LLM como judge).</a:t>
            </a:r>
          </a:p>
          <a:p>
            <a:pPr>
              <a:spcAft>
                <a:spcPts val="800"/>
              </a:spcAft>
              <a:defRPr sz="1500" b="0">
                <a:solidFill>
                  <a:srgbClr val="0F172A"/>
                </a:solidFill>
                <a:latin typeface="Segoe UI"/>
              </a:defRPr>
            </a:pPr>
            <a:r>
              <a:rPr sz="1500" b="0">
                <a:solidFill>
                  <a:srgbClr val="0F172A"/>
                </a:solidFill>
                <a:latin typeface="Segoe UI"/>
              </a:rPr>
              <a:t>• Base: modelo SFT propio (de 128a).</a:t>
            </a:r>
          </a:p>
          <a:p>
            <a:pPr>
              <a:spcAft>
                <a:spcPts val="800"/>
              </a:spcAft>
              <a:defRPr sz="1500" b="0">
                <a:solidFill>
                  <a:srgbClr val="0F172A"/>
                </a:solidFill>
                <a:latin typeface="Segoe UI"/>
              </a:defRPr>
            </a:pPr>
            <a:r>
              <a:rPr sz="1500" b="0">
                <a:solidFill>
                  <a:srgbClr val="0F172A"/>
                </a:solidFill>
                <a:latin typeface="Segoe UI"/>
              </a:rPr>
              <a:t>• DPO con LoRA, β=0.1.</a:t>
            </a:r>
          </a:p>
          <a:p>
            <a:pPr>
              <a:spcAft>
                <a:spcPts val="800"/>
              </a:spcAft>
              <a:defRPr sz="1500" b="0">
                <a:solidFill>
                  <a:srgbClr val="0F172A"/>
                </a:solidFill>
                <a:latin typeface="Segoe UI"/>
              </a:defRPr>
            </a:pPr>
            <a:r>
              <a:rPr sz="1500" b="0">
                <a:solidFill>
                  <a:srgbClr val="0F172A"/>
                </a:solidFill>
                <a:latin typeface="Segoe UI"/>
              </a:rPr>
              <a:t>• Comparar 20 respuestas pre/post; evaluar con LLM-as-judge (e.g., Claude).</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151 — vLLM y TGI: serving de LLMs en producción</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151 — vLLM y TGI: serving de LLMs en producción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Kwon et al. (2023) vLLM + HuggingFace TGI docs.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Servir LLMs eficientemente en producción con vLLM (Berkeley) o TGI (HuggingFace). Cubrir: PagedAttention, continuous batching, prefill/decode, quantization (AWQ, GPTQ, FP8), structured output (JSON, function calling), streaming, OpenAI-compatible API.</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Levantar vLLM serving: python -m vllm.entrypoints.openai.api_server --model X.</a:t>
            </a:r>
          </a:p>
          <a:p>
            <a:pPr>
              <a:spcAft>
                <a:spcPts val="800"/>
              </a:spcAft>
              <a:defRPr sz="1400" b="0">
                <a:solidFill>
                  <a:srgbClr val="0F172A"/>
                </a:solidFill>
                <a:latin typeface="Segoe UI"/>
              </a:defRPr>
            </a:pPr>
            <a:r>
              <a:rPr sz="1400" b="0">
                <a:solidFill>
                  <a:srgbClr val="0F172A"/>
                </a:solidFill>
                <a:latin typeface="Segoe UI"/>
              </a:rPr>
              <a:t>• Hacer requests con OpenAI client apuntando a vLLM.</a:t>
            </a:r>
          </a:p>
          <a:p>
            <a:pPr>
              <a:spcAft>
                <a:spcPts val="800"/>
              </a:spcAft>
              <a:defRPr sz="1400" b="0">
                <a:solidFill>
                  <a:srgbClr val="0F172A"/>
                </a:solidFill>
                <a:latin typeface="Segoe UI"/>
              </a:defRPr>
            </a:pPr>
            <a:r>
              <a:rPr sz="1400" b="0">
                <a:solidFill>
                  <a:srgbClr val="0F172A"/>
                </a:solidFill>
                <a:latin typeface="Segoe UI"/>
              </a:rPr>
              <a:t>• Aplicar continuous batching y entender ganancia de throughput.</a:t>
            </a:r>
          </a:p>
          <a:p>
            <a:pPr>
              <a:spcAft>
                <a:spcPts val="800"/>
              </a:spcAft>
              <a:defRPr sz="1400" b="0">
                <a:solidFill>
                  <a:srgbClr val="0F172A"/>
                </a:solidFill>
                <a:latin typeface="Segoe UI"/>
              </a:defRPr>
            </a:pPr>
            <a:r>
              <a:rPr sz="1400" b="0">
                <a:solidFill>
                  <a:srgbClr val="0F172A"/>
                </a:solidFill>
                <a:latin typeface="Segoe UI"/>
              </a:rPr>
              <a:t>• Servir modelos cuantizados (AWQ, GPTQ, FP8) para reducir VRAM.</a:t>
            </a:r>
          </a:p>
          <a:p>
            <a:pPr>
              <a:spcAft>
                <a:spcPts val="800"/>
              </a:spcAft>
              <a:defRPr sz="1400" b="0">
                <a:solidFill>
                  <a:srgbClr val="0F172A"/>
                </a:solidFill>
                <a:latin typeface="Segoe UI"/>
              </a:defRPr>
            </a:pPr>
            <a:r>
              <a:rPr sz="1400" b="0">
                <a:solidFill>
                  <a:srgbClr val="0F172A"/>
                </a:solidFill>
                <a:latin typeface="Segoe UI"/>
              </a:rPr>
              <a:t>• Activar structured outputs con guided_json (JSON schema enforced).</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151 — vLLM y TGI: serving de LLMs en producción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KV cache: por qué crece con secuencia.</a:t>
            </a:r>
          </a:p>
          <a:p>
            <a:pPr>
              <a:spcAft>
                <a:spcPts val="1000"/>
              </a:spcAft>
              <a:defRPr sz="1600" b="0">
                <a:solidFill>
                  <a:srgbClr val="0F172A"/>
                </a:solidFill>
                <a:latin typeface="Segoe UI"/>
              </a:defRPr>
            </a:pPr>
            <a:r>
              <a:rPr sz="1600" b="0">
                <a:solidFill>
                  <a:srgbClr val="0F172A"/>
                </a:solidFill>
                <a:latin typeface="Segoe UI"/>
              </a:rPr>
              <a:t>• PagedAttention (vLLM): page table como OS → no fragmentación.</a:t>
            </a:r>
          </a:p>
          <a:p>
            <a:pPr>
              <a:spcAft>
                <a:spcPts val="1000"/>
              </a:spcAft>
              <a:defRPr sz="1600" b="0">
                <a:solidFill>
                  <a:srgbClr val="0F172A"/>
                </a:solidFill>
                <a:latin typeface="Segoe UI"/>
              </a:defRPr>
            </a:pPr>
            <a:r>
              <a:rPr sz="1600" b="0">
                <a:solidFill>
                  <a:srgbClr val="0F172A"/>
                </a:solidFill>
                <a:latin typeface="Segoe UI"/>
              </a:rPr>
              <a:t>• Continuous batching: nuevos requests entran sin esperar al batch.</a:t>
            </a:r>
          </a:p>
          <a:p>
            <a:pPr>
              <a:spcAft>
                <a:spcPts val="1000"/>
              </a:spcAft>
              <a:defRPr sz="1600" b="0">
                <a:solidFill>
                  <a:srgbClr val="0F172A"/>
                </a:solidFill>
                <a:latin typeface="Segoe UI"/>
              </a:defRPr>
            </a:pPr>
            <a:r>
              <a:rPr sz="1600" b="0">
                <a:solidFill>
                  <a:srgbClr val="0F172A"/>
                </a:solidFill>
                <a:latin typeface="Segoe UI"/>
              </a:rPr>
              <a:t>• Prefill (compute KV) vs decode (1 token/step).</a:t>
            </a:r>
          </a:p>
          <a:p>
            <a:pPr>
              <a:spcAft>
                <a:spcPts val="1000"/>
              </a:spcAft>
              <a:defRPr sz="1600" b="0">
                <a:solidFill>
                  <a:srgbClr val="0F172A"/>
                </a:solidFill>
                <a:latin typeface="Segoe UI"/>
              </a:defRPr>
            </a:pPr>
            <a:r>
              <a:rPr sz="1600" b="0">
                <a:solidFill>
                  <a:srgbClr val="0F172A"/>
                </a:solidFill>
                <a:latin typeface="Segoe UI"/>
              </a:rPr>
              <a:t>• Speculative decoding: predecir N tokens, verificar con modelo grande.</a:t>
            </a:r>
          </a:p>
          <a:p>
            <a:pPr>
              <a:spcAft>
                <a:spcPts val="1000"/>
              </a:spcAft>
              <a:defRPr sz="1600" b="0">
                <a:solidFill>
                  <a:srgbClr val="0F172A"/>
                </a:solidFill>
                <a:latin typeface="Segoe UI"/>
              </a:defRPr>
            </a:pPr>
            <a:r>
              <a:rPr sz="1600" b="0">
                <a:solidFill>
                  <a:srgbClr val="0F172A"/>
                </a:solidFill>
                <a:latin typeface="Segoe UI"/>
              </a:rPr>
              <a:t>• Quantization: FP8 (H100), AWQ/GPTQ (4-bit weight-only).</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151 — vLLM y TGI: serving de LLMs en producción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Simulamos continuous batching y PagedAttention con asyncio + colas. La API real de vLLM se muestra en markdown.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asyncio, time, random</a:t>
            </a:r>
          </a:p>
          <a:p>
            <a:pPr>
              <a:defRPr sz="1200" b="0">
                <a:solidFill>
                  <a:srgbClr val="F8FAFC"/>
                </a:solidFill>
                <a:latin typeface="Courier New"/>
              </a:defRPr>
            </a:pPr>
            <a:r>
              <a:rPr sz="1200" b="0">
                <a:solidFill>
                  <a:srgbClr val="F8FAFC"/>
                </a:solidFill>
                <a:latin typeface="Courier New"/>
              </a:rPr>
              <a:t>from collections import deque</a:t>
            </a:r>
          </a:p>
          <a:p>
            <a:pPr>
              <a:defRPr sz="1200" b="0">
                <a:solidFill>
                  <a:srgbClr val="F8FAFC"/>
                </a:solidFill>
                <a:latin typeface="Courier New"/>
              </a:defRPr>
            </a:pPr>
            <a:r>
              <a:rPr sz="1200" b="0">
                <a:solidFill>
                  <a:srgbClr val="F8FAFC"/>
                </a:solidFill>
                <a:latin typeface="Courier New"/>
              </a:rPr>
              <a:t>random.seed(42); np.random.seed(42)</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151 — vLLM y TGI: serving de LLMs en producción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vLLM básico: python -m vllm.entrypoints.openai.api_server --model mistralai/Mistral-7B-Instruct-v0.2.</a:t>
            </a:r>
          </a:p>
          <a:p>
            <a:pPr>
              <a:spcAft>
                <a:spcPts val="800"/>
              </a:spcAft>
              <a:defRPr sz="1400" b="0">
                <a:solidFill>
                  <a:srgbClr val="0F172A"/>
                </a:solidFill>
                <a:latin typeface="Segoe UI"/>
              </a:defRPr>
            </a:pPr>
            <a:r>
              <a:rPr sz="1400" b="0">
                <a:solidFill>
                  <a:srgbClr val="0F172A"/>
                </a:solidFill>
                <a:latin typeface="Segoe UI"/>
              </a:rPr>
              <a:t>• Continuous batching benchmark: 100 requests paralelos vs 1 a la vez.</a:t>
            </a:r>
          </a:p>
          <a:p>
            <a:pPr>
              <a:spcAft>
                <a:spcPts val="800"/>
              </a:spcAft>
              <a:defRPr sz="1400" b="0">
                <a:solidFill>
                  <a:srgbClr val="0F172A"/>
                </a:solidFill>
                <a:latin typeface="Segoe UI"/>
              </a:defRPr>
            </a:pPr>
            <a:r>
              <a:rPr sz="1400" b="0">
                <a:solidFill>
                  <a:srgbClr val="0F172A"/>
                </a:solidFill>
                <a:latin typeface="Segoe UI"/>
              </a:rPr>
              <a:t>• AWQ quantization: cargar TheBloke/Mistral-7B-Instruct-v0.2-AWQ.</a:t>
            </a:r>
          </a:p>
          <a:p>
            <a:pPr>
              <a:spcAft>
                <a:spcPts val="800"/>
              </a:spcAft>
              <a:defRPr sz="1400" b="0">
                <a:solidFill>
                  <a:srgbClr val="0F172A"/>
                </a:solidFill>
                <a:latin typeface="Segoe UI"/>
              </a:defRPr>
            </a:pPr>
            <a:r>
              <a:rPr sz="1400" b="0">
                <a:solidFill>
                  <a:srgbClr val="0F172A"/>
                </a:solidFill>
                <a:latin typeface="Segoe UI"/>
              </a:rPr>
              <a:t>• Structured JSON output: extra_body={'guided_json': {schema}} → forced JSON valid.</a:t>
            </a:r>
          </a:p>
          <a:p>
            <a:pPr>
              <a:spcAft>
                <a:spcPts val="800"/>
              </a:spcAft>
              <a:defRPr sz="1400" b="0">
                <a:solidFill>
                  <a:srgbClr val="0F172A"/>
                </a:solidFill>
                <a:latin typeface="Segoe UI"/>
              </a:defRPr>
            </a:pPr>
            <a:r>
              <a:rPr sz="1400" b="0">
                <a:solidFill>
                  <a:srgbClr val="0F172A"/>
                </a:solidFill>
                <a:latin typeface="Segoe UI"/>
              </a:rPr>
              <a:t>• TGI: docker run --gpus all ghcr.io/huggingface/text-generation-inference:latest --model-id X.</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Levantar server vLLM.</a:t>
            </a:r>
          </a:p>
          <a:p>
            <a:pPr>
              <a:spcAft>
                <a:spcPts val="800"/>
              </a:spcAft>
              <a:defRPr sz="1400" b="0">
                <a:solidFill>
                  <a:srgbClr val="0F172A"/>
                </a:solidFill>
                <a:latin typeface="Segoe UI"/>
              </a:defRPr>
            </a:pPr>
            <a:r>
              <a:rPr sz="1400" b="0">
                <a:solidFill>
                  <a:srgbClr val="0F172A"/>
                </a:solidFill>
                <a:latin typeface="Segoe UI"/>
              </a:rPr>
              <a:t>• 50 prompts batch en paralelo desde cliente.</a:t>
            </a:r>
          </a:p>
          <a:p>
            <a:pPr>
              <a:spcAft>
                <a:spcPts val="800"/>
              </a:spcAft>
              <a:defRPr sz="1400" b="0">
                <a:solidFill>
                  <a:srgbClr val="0F172A"/>
                </a:solidFill>
                <a:latin typeface="Segoe UI"/>
              </a:defRPr>
            </a:pPr>
            <a:r>
              <a:rPr sz="1400" b="0">
                <a:solidFill>
                  <a:srgbClr val="0F172A"/>
                </a:solidFill>
                <a:latin typeface="Segoe UI"/>
              </a:rPr>
              <a:t>• Medir throughput (tokens/sec total).</a:t>
            </a:r>
          </a:p>
          <a:p>
            <a:pPr>
              <a:spcAft>
                <a:spcPts val="800"/>
              </a:spcAft>
              <a:defRPr sz="1400" b="0">
                <a:solidFill>
                  <a:srgbClr val="0F172A"/>
                </a:solidFill>
                <a:latin typeface="Segoe UI"/>
              </a:defRPr>
            </a:pPr>
            <a:r>
              <a:rPr sz="1400" b="0">
                <a:solidFill>
                  <a:srgbClr val="0F172A"/>
                </a:solidFill>
                <a:latin typeface="Segoe UI"/>
              </a:rPr>
              <a:t>• Comparar contra transformers.pipeline generate.</a:t>
            </a:r>
          </a:p>
          <a:p>
            <a:pPr>
              <a:spcAft>
                <a:spcPts val="800"/>
              </a:spcAft>
              <a:defRPr sz="1400" b="0">
                <a:solidFill>
                  <a:srgbClr val="0F172A"/>
                </a:solidFill>
                <a:latin typeface="Segoe UI"/>
              </a:defRPr>
            </a:pPr>
            <a:r>
              <a:rPr sz="1400" b="0">
                <a:solidFill>
                  <a:srgbClr val="0F172A"/>
                </a:solidFill>
                <a:latin typeface="Segoe UI"/>
              </a:rPr>
              <a:t>• Activar guided_json para una tarea específica.</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152 — RAG básico y embeddings (+ hybrid search, re-ranking, MCP)</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152 — RAG básico y embeddings (+ hybrid search, re-ranking, MCP)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Lewis et al. (2020) RAG paper + LlamaIndex / LangChain docs + Anthropic MCP spec.  Duración estimada: 100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sistema RAG (Retrieval-Augmented Generation) — pipeline que enriquece a un LLM con conocimiento externo: documentos propios, base de datos, web. Pipeline: embedding los docs → almacenar en vector DB → al query, hacer retrieval de los k más relevantes → inyectar como contexto al LLM → respuesta basada en docs. Conocer mejoras modernas: hybrid search (denso + sparse), cross-encoder re-ranking, y el Model Context Protocol (MCP) que estandariza la conexión LLM-herramientas.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embeddings de texto con sentence-transformers o modelos HF.</a:t>
            </a:r>
          </a:p>
          <a:p>
            <a:pPr>
              <a:spcAft>
                <a:spcPts val="800"/>
              </a:spcAft>
              <a:defRPr sz="1400" b="0">
                <a:solidFill>
                  <a:srgbClr val="0F172A"/>
                </a:solidFill>
                <a:latin typeface="Segoe UI"/>
              </a:defRPr>
            </a:pPr>
            <a:r>
              <a:rPr sz="1400" b="0">
                <a:solidFill>
                  <a:srgbClr val="0F172A"/>
                </a:solidFill>
                <a:latin typeface="Segoe UI"/>
              </a:rPr>
              <a:t>• Almacenar y buscar embeddings con FAISS, Chroma, Pinecone, Qdrant, o pgvector.</a:t>
            </a:r>
          </a:p>
          <a:p>
            <a:pPr>
              <a:spcAft>
                <a:spcPts val="800"/>
              </a:spcAft>
              <a:defRPr sz="1400" b="0">
                <a:solidFill>
                  <a:srgbClr val="0F172A"/>
                </a:solidFill>
                <a:latin typeface="Segoe UI"/>
              </a:defRPr>
            </a:pPr>
            <a:r>
              <a:rPr sz="1400" b="0">
                <a:solidFill>
                  <a:srgbClr val="0F172A"/>
                </a:solidFill>
                <a:latin typeface="Segoe UI"/>
              </a:rPr>
              <a:t>• Construir el flujo query → embed → top-k → context → LLM.</a:t>
            </a:r>
          </a:p>
          <a:p>
            <a:pPr>
              <a:spcAft>
                <a:spcPts val="800"/>
              </a:spcAft>
              <a:defRPr sz="1400" b="0">
                <a:solidFill>
                  <a:srgbClr val="0F172A"/>
                </a:solidFill>
                <a:latin typeface="Segoe UI"/>
              </a:defRPr>
            </a:pPr>
            <a:r>
              <a:rPr sz="1400" b="0">
                <a:solidFill>
                  <a:srgbClr val="0F172A"/>
                </a:solidFill>
                <a:latin typeface="Segoe UI"/>
              </a:rPr>
              <a:t>• Aplicar hybrid search: combinar BM25 (sparse) con embeddings (dense) → mejor recall.</a:t>
            </a:r>
          </a:p>
          <a:p>
            <a:pPr>
              <a:spcAft>
                <a:spcPts val="800"/>
              </a:spcAft>
              <a:defRPr sz="1400" b="0">
                <a:solidFill>
                  <a:srgbClr val="0F172A"/>
                </a:solidFill>
                <a:latin typeface="Segoe UI"/>
              </a:defRPr>
            </a:pPr>
            <a:r>
              <a:rPr sz="1400" b="0">
                <a:solidFill>
                  <a:srgbClr val="0F172A"/>
                </a:solidFill>
                <a:latin typeface="Segoe UI"/>
              </a:rPr>
              <a:t>• Aplicar cross-encoder re-ranking sobre los top-100 retornados para promover los top-10 reales.</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152 — RAG básico y embeddings (+ hybrid search, re-ranking, MCP)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RAG: LLMs no saben de documentos privados; entrenar fine-tune no escala para conocimiento dinámico.</a:t>
            </a:r>
          </a:p>
          <a:p>
            <a:pPr>
              <a:spcAft>
                <a:spcPts val="1000"/>
              </a:spcAft>
              <a:defRPr sz="1600" b="0">
                <a:solidFill>
                  <a:srgbClr val="0F172A"/>
                </a:solidFill>
                <a:latin typeface="Segoe UI"/>
              </a:defRPr>
            </a:pPr>
            <a:r>
              <a:rPr sz="1600" b="0">
                <a:solidFill>
                  <a:srgbClr val="0F172A"/>
                </a:solidFill>
                <a:latin typeface="Segoe UI"/>
              </a:rPr>
              <a:t>• Embeddings: vectores de dimensión ~768-1536.</a:t>
            </a:r>
          </a:p>
          <a:p>
            <a:pPr>
              <a:spcAft>
                <a:spcPts val="1000"/>
              </a:spcAft>
              <a:defRPr sz="1600" b="0">
                <a:solidFill>
                  <a:srgbClr val="0F172A"/>
                </a:solidFill>
                <a:latin typeface="Segoe UI"/>
              </a:defRPr>
            </a:pPr>
            <a:r>
              <a:rPr sz="1600" b="0">
                <a:solidFill>
                  <a:srgbClr val="0F172A"/>
                </a:solidFill>
                <a:latin typeface="Segoe UI"/>
              </a:rPr>
              <a:t>• Vector DBs: FAISS (in-memory), Chroma (local), Qdrant/Weaviate (server), pgvector (Postgres extension).</a:t>
            </a:r>
          </a:p>
          <a:p>
            <a:pPr>
              <a:spcAft>
                <a:spcPts val="1000"/>
              </a:spcAft>
              <a:defRPr sz="1600" b="0">
                <a:solidFill>
                  <a:srgbClr val="0F172A"/>
                </a:solidFill>
                <a:latin typeface="Segoe UI"/>
              </a:defRPr>
            </a:pPr>
            <a:r>
              <a:rPr sz="1600" b="0">
                <a:solidFill>
                  <a:srgbClr val="0F172A"/>
                </a:solidFill>
                <a:latin typeface="Segoe UI"/>
              </a:rPr>
              <a:t>• Chunking: dividir docs en piezas de ~200-1000 tokens.</a:t>
            </a:r>
          </a:p>
          <a:p>
            <a:pPr>
              <a:spcAft>
                <a:spcPts val="1000"/>
              </a:spcAft>
              <a:defRPr sz="1600" b="0">
                <a:solidFill>
                  <a:srgbClr val="0F172A"/>
                </a:solidFill>
                <a:latin typeface="Segoe UI"/>
              </a:defRPr>
            </a:pPr>
            <a:r>
              <a:rPr sz="1600" b="0">
                <a:solidFill>
                  <a:srgbClr val="0F172A"/>
                </a:solidFill>
                <a:latin typeface="Segoe UI"/>
              </a:rPr>
              <a:t>• Top-k retrieval + context window.</a:t>
            </a:r>
          </a:p>
          <a:p>
            <a:pPr>
              <a:spcAft>
                <a:spcPts val="1000"/>
              </a:spcAft>
              <a:defRPr sz="1600" b="0">
                <a:solidFill>
                  <a:srgbClr val="0F172A"/>
                </a:solidFill>
                <a:latin typeface="Segoe UI"/>
              </a:defRPr>
            </a:pPr>
            <a:r>
              <a:rPr sz="1600" b="0">
                <a:solidFill>
                  <a:srgbClr val="0F172A"/>
                </a:solidFill>
                <a:latin typeface="Segoe UI"/>
              </a:rPr>
              <a:t>• Complemento moderno: hybrid search, cross-encoder rerank, MCP.</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152 — RAG básico y embeddings (+ hybrid search, re-ranking, MCP)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sentence_transformers import SentenceTransformer</a:t>
            </a:r>
          </a:p>
          <a:p>
            <a:pPr>
              <a:defRPr sz="1200" b="0">
                <a:solidFill>
                  <a:srgbClr val="F8FAFC"/>
                </a:solidFill>
                <a:latin typeface="Courier New"/>
              </a:defRPr>
            </a:pPr>
            <a:r>
              <a:rPr sz="1200" b="0">
                <a:solidFill>
                  <a:srgbClr val="F8FAFC"/>
                </a:solidFill>
                <a:latin typeface="Courier New"/>
              </a:rPr>
              <a:t>    HAS_ST = True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HAS_ST = False</a:t>
            </a:r>
          </a:p>
          <a:p>
            <a:pPr>
              <a:defRPr sz="1200" b="0">
                <a:solidFill>
                  <a:srgbClr val="F8FAFC"/>
                </a:solidFill>
                <a:latin typeface="Courier New"/>
              </a:defRPr>
            </a:pPr>
            <a:r>
              <a:rPr sz="1200" b="0">
                <a:solidFill>
                  <a:srgbClr val="F8FAFC"/>
                </a:solidFill>
                <a:latin typeface="Courier New"/>
              </a:rPr>
              <a:t>    print('sentence-transformers no instalado; uso embeddings bag-of-words.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corpus = [</a:t>
            </a:r>
          </a:p>
          <a:p>
            <a:pPr>
              <a:defRPr sz="1200" b="0">
                <a:solidFill>
                  <a:srgbClr val="F8FAFC"/>
                </a:solidFill>
                <a:latin typeface="Courier New"/>
              </a:defRPr>
            </a:pPr>
            <a:r>
              <a:rPr sz="1200" b="0">
                <a:solidFill>
                  <a:srgbClr val="F8FAFC"/>
                </a:solidFill>
                <a:latin typeface="Courier New"/>
              </a:rPr>
              <a:t>    'FAISS es una librería para búsqueda de vectores densos.',</a:t>
            </a:r>
          </a:p>
          <a:p>
            <a:pPr>
              <a:defRPr sz="1200" b="0">
                <a:solidFill>
                  <a:srgbClr val="F8FAFC"/>
                </a:solidFill>
                <a:latin typeface="Courier New"/>
              </a:defRPr>
            </a:pPr>
            <a:r>
              <a:rPr sz="1200" b="0">
                <a:solidFill>
                  <a:srgbClr val="F8FAFC"/>
                </a:solidFill>
                <a:latin typeface="Courier New"/>
              </a:rPr>
              <a:t>    'BM25 es un método de recuperación disperso basado en frecuencias.',</a:t>
            </a:r>
          </a:p>
          <a:p>
            <a:pPr>
              <a:defRPr sz="1200" b="0">
                <a:solidFill>
                  <a:srgbClr val="F8FAFC"/>
                </a:solidFill>
                <a:latin typeface="Courier New"/>
              </a:defRPr>
            </a:pPr>
            <a:r>
              <a:rPr sz="1200" b="0">
                <a:solidFill>
                  <a:srgbClr val="F8FAFC"/>
                </a:solidFill>
                <a:latin typeface="Courier New"/>
              </a:rPr>
              <a:t>    'Los embeddings mapean texto a vectores de dimensión fija.',</a:t>
            </a:r>
          </a:p>
          <a:p>
            <a:pPr>
              <a:defRPr sz="1200" b="0">
                <a:solidFill>
                  <a:srgbClr val="F8FAFC"/>
                </a:solidFill>
                <a:latin typeface="Courier New"/>
              </a:defRPr>
            </a:pPr>
            <a:r>
              <a:rPr sz="1200" b="0">
                <a:solidFill>
                  <a:srgbClr val="F8FAFC"/>
                </a:solidFill>
                <a:latin typeface="Courier New"/>
              </a:rPr>
              <a:t>    'El re-ranking con cross-encoder mejora la precisión del top-k.',</a:t>
            </a:r>
          </a:p>
          <a:p>
            <a:pPr>
              <a:defRPr sz="1200" b="0">
                <a:solidFill>
                  <a:srgbClr val="F8FAFC"/>
                </a:solidFill>
                <a:latin typeface="Courier New"/>
              </a:defRPr>
            </a:pPr>
            <a:r>
              <a:rPr sz="1200" b="0">
                <a:solidFill>
                  <a:srgbClr val="F8FAFC"/>
                </a:solidFill>
                <a:latin typeface="Courier New"/>
              </a:rPr>
              <a:t>    'Chroma y Qdrant son bases de datos vectoriales.',</a:t>
            </a:r>
          </a:p>
          <a:p>
            <a:pPr>
              <a:defRPr sz="1200" b="0">
                <a:solidFill>
                  <a:srgbClr val="F8FAFC"/>
                </a:solidFill>
                <a:latin typeface="Courier New"/>
              </a:defRPr>
            </a:pPr>
            <a:r>
              <a:rPr sz="1200" b="0">
                <a:solidFill>
                  <a:srgbClr val="F8FAFC"/>
                </a:solidFill>
                <a:latin typeface="Courier New"/>
              </a:rPr>
              <a:t>    'Un LLM genera la respuesta a partir del contexto recuperado.',</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print(f'{len(corpus)} documentos en el corpus')</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152 — RAG básico y embeddings (+ hybrid search, re-ranking, MCP)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Embed + index: con sentence-transformers/all-MiniLM-L6-v2, embeber 100 párrafos y guardarlos en Chroma.</a:t>
            </a:r>
          </a:p>
          <a:p>
            <a:pPr>
              <a:spcAft>
                <a:spcPts val="800"/>
              </a:spcAft>
              <a:defRPr sz="1400" b="0">
                <a:solidFill>
                  <a:srgbClr val="0F172A"/>
                </a:solidFill>
                <a:latin typeface="Segoe UI"/>
              </a:defRPr>
            </a:pPr>
            <a:r>
              <a:rPr sz="1400" b="0">
                <a:solidFill>
                  <a:srgbClr val="0F172A"/>
                </a:solidFill>
                <a:latin typeface="Segoe UI"/>
              </a:rPr>
              <a:t>• BM25 baseline: con rank_bm25, query y comparar resultados vs dense.</a:t>
            </a:r>
          </a:p>
          <a:p>
            <a:pPr>
              <a:spcAft>
                <a:spcPts val="800"/>
              </a:spcAft>
              <a:defRPr sz="1400" b="0">
                <a:solidFill>
                  <a:srgbClr val="0F172A"/>
                </a:solidFill>
                <a:latin typeface="Segoe UI"/>
              </a:defRPr>
            </a:pPr>
            <a:r>
              <a:rPr sz="1400" b="0">
                <a:solidFill>
                  <a:srgbClr val="0F172A"/>
                </a:solidFill>
                <a:latin typeface="Segoe UI"/>
              </a:rPr>
              <a:t>• Hybrid (RRF): combinar ambos.</a:t>
            </a:r>
          </a:p>
          <a:p>
            <a:pPr>
              <a:spcAft>
                <a:spcPts val="800"/>
              </a:spcAft>
              <a:defRPr sz="1400" b="0">
                <a:solidFill>
                  <a:srgbClr val="0F172A"/>
                </a:solidFill>
                <a:latin typeface="Segoe UI"/>
              </a:defRPr>
            </a:pPr>
            <a:r>
              <a:rPr sz="1400" b="0">
                <a:solidFill>
                  <a:srgbClr val="0F172A"/>
                </a:solidFill>
                <a:latin typeface="Segoe UI"/>
              </a:rPr>
              <a:t>• Cross-encoder rerank: tomar top-50 del paso 3, rerankar con cross-encoder/ms-marco-MiniLM-L-6-v2.</a:t>
            </a:r>
          </a:p>
          <a:p>
            <a:pPr>
              <a:spcAft>
                <a:spcPts val="800"/>
              </a:spcAft>
              <a:defRPr sz="1400" b="0">
                <a:solidFill>
                  <a:srgbClr val="0F172A"/>
                </a:solidFill>
                <a:latin typeface="Segoe UI"/>
              </a:defRPr>
            </a:pPr>
            <a:r>
              <a:rPr sz="1400" b="0">
                <a:solidFill>
                  <a:srgbClr val="0F172A"/>
                </a:solidFill>
                <a:latin typeface="Segoe UI"/>
              </a:rPr>
              <a:t>• RAG con LLM: top-5 → contexto + query → Claude o GPT → respuesta con citas.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Chunking + embedding + indexado en Chroma.</a:t>
            </a:r>
          </a:p>
          <a:p>
            <a:pPr>
              <a:spcAft>
                <a:spcPts val="800"/>
              </a:spcAft>
              <a:defRPr sz="1400" b="0">
                <a:solidFill>
                  <a:srgbClr val="0F172A"/>
                </a:solidFill>
                <a:latin typeface="Segoe UI"/>
              </a:defRPr>
            </a:pPr>
            <a:r>
              <a:rPr sz="1400" b="0">
                <a:solidFill>
                  <a:srgbClr val="0F172A"/>
                </a:solidFill>
                <a:latin typeface="Segoe UI"/>
              </a:rPr>
              <a:t>• Pipeline retrieval (dense), generate (LLM via API o vLLM local).</a:t>
            </a:r>
          </a:p>
          <a:p>
            <a:pPr>
              <a:spcAft>
                <a:spcPts val="800"/>
              </a:spcAft>
              <a:defRPr sz="1400" b="0">
                <a:solidFill>
                  <a:srgbClr val="0F172A"/>
                </a:solidFill>
                <a:latin typeface="Segoe UI"/>
              </a:defRPr>
            </a:pPr>
            <a:r>
              <a:rPr sz="1400" b="0">
                <a:solidFill>
                  <a:srgbClr val="0F172A"/>
                </a:solidFill>
                <a:latin typeface="Segoe UI"/>
              </a:rPr>
              <a:t>• 10 queries de prueba.</a:t>
            </a:r>
          </a:p>
          <a:p>
            <a:pPr>
              <a:spcAft>
                <a:spcPts val="800"/>
              </a:spcAft>
              <a:defRPr sz="1400" b="0">
                <a:solidFill>
                  <a:srgbClr val="0F172A"/>
                </a:solidFill>
                <a:latin typeface="Segoe UI"/>
              </a:defRPr>
            </a:pPr>
            <a:r>
              <a:rPr sz="1400" b="0">
                <a:solidFill>
                  <a:srgbClr val="0F172A"/>
                </a:solidFill>
                <a:latin typeface="Segoe UI"/>
              </a:rPr>
              <a:t>• Evaluar manualmente: ¿cuántas respuestas correctas con citas válidas?</a:t>
            </a:r>
          </a:p>
          <a:p>
            <a:pPr>
              <a:spcAft>
                <a:spcPts val="800"/>
              </a:spcAft>
              <a:defRPr sz="1400" b="0">
                <a:solidFill>
                  <a:srgbClr val="0F172A"/>
                </a:solidFill>
                <a:latin typeface="Segoe UI"/>
              </a:defRPr>
            </a:pPr>
            <a:r>
              <a:rPr sz="1400" b="0">
                <a:solidFill>
                  <a:srgbClr val="0F172A"/>
                </a:solidFill>
                <a:latin typeface="Segoe UI"/>
              </a:rPr>
              <a:t>• Bonus: agregar BM25 + cross-encoder rerank y medir mejora.</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153 — MCP (Model Context Protocol): herramientas y datos para LLMs</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153 — MCP (Model Context Protocol): herramientas y datos para LLMs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MCP spec (Anthropic 2024).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MCP (Model Context Protocol) — estándar abierto publicado por Anthropic en noviembre 2024 que define cómo un LLM se conecta a herramientas externas (filesystems, databases, APIs, search engines, etc.). Antes de MCP, cada framework (LangChain, LlamaIndex, OpenAI plugins) tenía API propia. MCP unifica → portabilidad entre LLMs y clients.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arquitectura MCP: client, server, resources, tools, prompts.</a:t>
            </a:r>
          </a:p>
          <a:p>
            <a:pPr>
              <a:spcAft>
                <a:spcPts val="800"/>
              </a:spcAft>
              <a:defRPr sz="1400" b="0">
                <a:solidFill>
                  <a:srgbClr val="0F172A"/>
                </a:solidFill>
                <a:latin typeface="Segoe UI"/>
              </a:defRPr>
            </a:pPr>
            <a:r>
              <a:rPr sz="1400" b="0">
                <a:solidFill>
                  <a:srgbClr val="0F172A"/>
                </a:solidFill>
                <a:latin typeface="Segoe UI"/>
              </a:rPr>
              <a:t>• Conectar MCP servers existentes a Claude Desktop, Cursor, Zed.</a:t>
            </a:r>
          </a:p>
          <a:p>
            <a:pPr>
              <a:spcAft>
                <a:spcPts val="800"/>
              </a:spcAft>
              <a:defRPr sz="1400" b="0">
                <a:solidFill>
                  <a:srgbClr val="0F172A"/>
                </a:solidFill>
                <a:latin typeface="Segoe UI"/>
              </a:defRPr>
            </a:pPr>
            <a:r>
              <a:rPr sz="1400" b="0">
                <a:solidFill>
                  <a:srgbClr val="0F172A"/>
                </a:solidFill>
                <a:latin typeface="Segoe UI"/>
              </a:rPr>
              <a:t>• Escribir un MCP server propio en Python (con fastmcp).</a:t>
            </a:r>
          </a:p>
          <a:p>
            <a:pPr>
              <a:spcAft>
                <a:spcPts val="800"/>
              </a:spcAft>
              <a:defRPr sz="1400" b="0">
                <a:solidFill>
                  <a:srgbClr val="0F172A"/>
                </a:solidFill>
                <a:latin typeface="Segoe UI"/>
              </a:defRPr>
            </a:pPr>
            <a:r>
              <a:rPr sz="1400" b="0">
                <a:solidFill>
                  <a:srgbClr val="0F172A"/>
                </a:solidFill>
                <a:latin typeface="Segoe UI"/>
              </a:rPr>
              <a:t>• Diferenciar MCP de tool use clásico de OpenAI / LangChain.</a:t>
            </a:r>
          </a:p>
          <a:p>
            <a:pPr>
              <a:spcAft>
                <a:spcPts val="800"/>
              </a:spcAft>
              <a:defRPr sz="1400" b="0">
                <a:solidFill>
                  <a:srgbClr val="0F172A"/>
                </a:solidFill>
                <a:latin typeface="Segoe UI"/>
              </a:defRPr>
            </a:pPr>
            <a:r>
              <a:rPr sz="1400" b="0">
                <a:solidFill>
                  <a:srgbClr val="0F172A"/>
                </a:solidFill>
                <a:latin typeface="Segoe UI"/>
              </a:rPr>
              <a:t>• Usar MCP servers populares: filesystem, postgres, git, slack, brave-search.</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153 — MCP (Model Context Protocol): herramientas y datos para LLMs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Cliente (LLM app) vs Server (provee tools/resources/prompts).</a:t>
            </a:r>
          </a:p>
          <a:p>
            <a:pPr>
              <a:spcAft>
                <a:spcPts val="1000"/>
              </a:spcAft>
              <a:defRPr sz="1600" b="0">
                <a:solidFill>
                  <a:srgbClr val="0F172A"/>
                </a:solidFill>
                <a:latin typeface="Segoe UI"/>
              </a:defRPr>
            </a:pPr>
            <a:r>
              <a:rPr sz="1600" b="0">
                <a:solidFill>
                  <a:srgbClr val="0F172A"/>
                </a:solidFill>
                <a:latin typeface="Segoe UI"/>
              </a:rPr>
              <a:t>• Transport: stdio (local) y SSE (network).</a:t>
            </a:r>
          </a:p>
          <a:p>
            <a:pPr>
              <a:spcAft>
                <a:spcPts val="1000"/>
              </a:spcAft>
              <a:defRPr sz="1600" b="0">
                <a:solidFill>
                  <a:srgbClr val="0F172A"/>
                </a:solidFill>
                <a:latin typeface="Segoe UI"/>
              </a:defRPr>
            </a:pPr>
            <a:r>
              <a:rPr sz="1600" b="0">
                <a:solidFill>
                  <a:srgbClr val="0F172A"/>
                </a:solidFill>
                <a:latin typeface="Segoe UI"/>
              </a:rPr>
              <a:t>• Resources: read-only data (archivos, DB rows).</a:t>
            </a:r>
          </a:p>
          <a:p>
            <a:pPr>
              <a:spcAft>
                <a:spcPts val="1000"/>
              </a:spcAft>
              <a:defRPr sz="1600" b="0">
                <a:solidFill>
                  <a:srgbClr val="0F172A"/>
                </a:solidFill>
                <a:latin typeface="Segoe UI"/>
              </a:defRPr>
            </a:pPr>
            <a:r>
              <a:rPr sz="1600" b="0">
                <a:solidFill>
                  <a:srgbClr val="0F172A"/>
                </a:solidFill>
                <a:latin typeface="Segoe UI"/>
              </a:rPr>
              <a:t>• Tools: funciones invocables (search, write).</a:t>
            </a:r>
          </a:p>
          <a:p>
            <a:pPr>
              <a:spcAft>
                <a:spcPts val="1000"/>
              </a:spcAft>
              <a:defRPr sz="1600" b="0">
                <a:solidFill>
                  <a:srgbClr val="0F172A"/>
                </a:solidFill>
                <a:latin typeface="Segoe UI"/>
              </a:defRPr>
            </a:pPr>
            <a:r>
              <a:rPr sz="1600" b="0">
                <a:solidFill>
                  <a:srgbClr val="0F172A"/>
                </a:solidFill>
                <a:latin typeface="Segoe UI"/>
              </a:rPr>
              <a:t>• Prompts: templates reusables.</a:t>
            </a:r>
          </a:p>
          <a:p>
            <a:pPr>
              <a:spcAft>
                <a:spcPts val="1000"/>
              </a:spcAft>
              <a:defRPr sz="1600" b="0">
                <a:solidFill>
                  <a:srgbClr val="0F172A"/>
                </a:solidFill>
                <a:latin typeface="Segoe UI"/>
              </a:defRPr>
            </a:pPr>
            <a:r>
              <a:rPr sz="1600" b="0">
                <a:solidFill>
                  <a:srgbClr val="0F172A"/>
                </a:solidFill>
                <a:latin typeface="Segoe UI"/>
              </a:rPr>
              <a:t>• Discovery: el client descubre dinámicamente qué hay disponible.</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153 — MCP (Model Context Protocol): herramientas y datos para LLMs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un mini servidor y cliente MCP en Python: JSON-RPC sobre stdin/stdout (simulado in-process). Sin dependencias externas.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json, re, uuid</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153 — MCP (Model Context Protocol): herramientas y datos para LLMs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Conectar server existente: instalar mcp-server-filesystem en Claude Desktop.</a:t>
            </a:r>
          </a:p>
          <a:p>
            <a:pPr>
              <a:spcAft>
                <a:spcPts val="800"/>
              </a:spcAft>
              <a:defRPr sz="1400" b="0">
                <a:solidFill>
                  <a:srgbClr val="0F172A"/>
                </a:solidFill>
                <a:latin typeface="Segoe UI"/>
              </a:defRPr>
            </a:pPr>
            <a:r>
              <a:rPr sz="1400" b="0">
                <a:solidFill>
                  <a:srgbClr val="0F172A"/>
                </a:solidFill>
                <a:latin typeface="Segoe UI"/>
              </a:rPr>
              <a:t>• Server propio: con fastmcp, exponer un tool search_docs(query) sobre un corpus local.</a:t>
            </a:r>
          </a:p>
          <a:p>
            <a:pPr>
              <a:spcAft>
                <a:spcPts val="800"/>
              </a:spcAft>
              <a:defRPr sz="1400" b="0">
                <a:solidFill>
                  <a:srgbClr val="0F172A"/>
                </a:solidFill>
                <a:latin typeface="Segoe UI"/>
              </a:defRPr>
            </a:pPr>
            <a:r>
              <a:rPr sz="1400" b="0">
                <a:solidFill>
                  <a:srgbClr val="0F172A"/>
                </a:solidFill>
                <a:latin typeface="Segoe UI"/>
              </a:rPr>
              <a:t>• Resource: exponer archivos .md como resources lectura.</a:t>
            </a:r>
          </a:p>
          <a:p>
            <a:pPr>
              <a:spcAft>
                <a:spcPts val="800"/>
              </a:spcAft>
              <a:defRPr sz="1400" b="0">
                <a:solidFill>
                  <a:srgbClr val="0F172A"/>
                </a:solidFill>
                <a:latin typeface="Segoe UI"/>
              </a:defRPr>
            </a:pPr>
            <a:r>
              <a:rPr sz="1400" b="0">
                <a:solidFill>
                  <a:srgbClr val="0F172A"/>
                </a:solidFill>
                <a:latin typeface="Segoe UI"/>
              </a:rPr>
              <a:t>• Prompt template: definir summarize(file_uri) como prompt reusable.</a:t>
            </a:r>
          </a:p>
          <a:p>
            <a:pPr>
              <a:spcAft>
                <a:spcPts val="800"/>
              </a:spcAft>
              <a:defRPr sz="1400" b="0">
                <a:solidFill>
                  <a:srgbClr val="0F172A"/>
                </a:solidFill>
                <a:latin typeface="Segoe UI"/>
              </a:defRPr>
            </a:pPr>
            <a:r>
              <a:rPr sz="1400" b="0">
                <a:solidFill>
                  <a:srgbClr val="0F172A"/>
                </a:solidFill>
                <a:latin typeface="Segoe UI"/>
              </a:rPr>
              <a:t>• Multi-server: conectar 2-3 servers simultáneos a Claude Desktop; usar conjuntamente.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fastmcp con tool search(query) que usa el RAG de clase 152.</a:t>
            </a:r>
          </a:p>
          <a:p>
            <a:pPr>
              <a:spcAft>
                <a:spcPts val="800"/>
              </a:spcAft>
              <a:defRPr sz="1500" b="0">
                <a:solidFill>
                  <a:srgbClr val="0F172A"/>
                </a:solidFill>
                <a:latin typeface="Segoe UI"/>
              </a:defRPr>
            </a:pPr>
            <a:r>
              <a:rPr sz="1500" b="0">
                <a:solidFill>
                  <a:srgbClr val="0F172A"/>
                </a:solidFill>
                <a:latin typeface="Segoe UI"/>
              </a:rPr>
              <a:t>• Resource list_documents() que lista archivos indexados.</a:t>
            </a:r>
          </a:p>
          <a:p>
            <a:pPr>
              <a:spcAft>
                <a:spcPts val="800"/>
              </a:spcAft>
              <a:defRPr sz="1500" b="0">
                <a:solidFill>
                  <a:srgbClr val="0F172A"/>
                </a:solidFill>
                <a:latin typeface="Segoe UI"/>
              </a:defRPr>
            </a:pPr>
            <a:r>
              <a:rPr sz="1500" b="0">
                <a:solidFill>
                  <a:srgbClr val="0F172A"/>
                </a:solidFill>
                <a:latin typeface="Segoe UI"/>
              </a:rPr>
              <a:t>• Conectar a Claude Desktop; usarlo en una conversación.</a:t>
            </a:r>
          </a:p>
          <a:p>
            <a:pPr>
              <a:spcAft>
                <a:spcPts val="800"/>
              </a:spcAft>
              <a:defRPr sz="1500" b="0">
                <a:solidFill>
                  <a:srgbClr val="0F172A"/>
                </a:solidFill>
                <a:latin typeface="Segoe UI"/>
              </a:defRPr>
            </a:pPr>
            <a:r>
              <a:rPr sz="1500" b="0">
                <a:solidFill>
                  <a:srgbClr val="0F172A"/>
                </a:solidFill>
                <a:latin typeface="Segoe UI"/>
              </a:rPr>
              <a:t>• Comparar UX vs hacer RAG manual en código.</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154 — Agentes: tool use, ReAct, multi-agent</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154 — Agentes: tool use, ReAct, multi-agent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Yao et al. (2023) ReAct + Schick et al. (2023) Toolformer + Anthropic agent patterns (2024).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agentes con LLMs: el LLM planifica, invoca tools (funciones, MCP servers, APIs), observa los resultados y decide el siguiente paso. Cubrir el paradigma ReAct (Reasoning + Acting), tool use moderno (function calling structured), y patrones multi-agent (workflows, swarms, supervisores).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tools con JSON schema; pasar a la API del LLM.</a:t>
            </a:r>
          </a:p>
          <a:p>
            <a:pPr>
              <a:spcAft>
                <a:spcPts val="800"/>
              </a:spcAft>
              <a:defRPr sz="1400" b="0">
                <a:solidFill>
                  <a:srgbClr val="0F172A"/>
                </a:solidFill>
                <a:latin typeface="Segoe UI"/>
              </a:defRPr>
            </a:pPr>
            <a:r>
              <a:rPr sz="1400" b="0">
                <a:solidFill>
                  <a:srgbClr val="0F172A"/>
                </a:solidFill>
                <a:latin typeface="Segoe UI"/>
              </a:rPr>
              <a:t>• Implementar loop ReAct manual: prompt → LLM → tool call → execute → observation → prompt.</a:t>
            </a:r>
          </a:p>
          <a:p>
            <a:pPr>
              <a:spcAft>
                <a:spcPts val="800"/>
              </a:spcAft>
              <a:defRPr sz="1400" b="0">
                <a:solidFill>
                  <a:srgbClr val="0F172A"/>
                </a:solidFill>
                <a:latin typeface="Segoe UI"/>
              </a:defRPr>
            </a:pPr>
            <a:r>
              <a:rPr sz="1400" b="0">
                <a:solidFill>
                  <a:srgbClr val="0F172A"/>
                </a:solidFill>
                <a:latin typeface="Segoe UI"/>
              </a:rPr>
              <a:t>• Usar LangGraph o AutoGen o CrewAI para orquestar multi-agent.</a:t>
            </a:r>
          </a:p>
          <a:p>
            <a:pPr>
              <a:spcAft>
                <a:spcPts val="800"/>
              </a:spcAft>
              <a:defRPr sz="1400" b="0">
                <a:solidFill>
                  <a:srgbClr val="0F172A"/>
                </a:solidFill>
                <a:latin typeface="Segoe UI"/>
              </a:defRPr>
            </a:pPr>
            <a:r>
              <a:rPr sz="1400" b="0">
                <a:solidFill>
                  <a:srgbClr val="0F172A"/>
                </a:solidFill>
                <a:latin typeface="Segoe UI"/>
              </a:rPr>
              <a:t>• Diseñar patrones: workflow (lineal), router (decide ruta), evaluator-optimizer (loop con auto-crítica).</a:t>
            </a:r>
          </a:p>
          <a:p>
            <a:pPr>
              <a:spcAft>
                <a:spcPts val="800"/>
              </a:spcAft>
              <a:defRPr sz="1400" b="0">
                <a:solidFill>
                  <a:srgbClr val="0F172A"/>
                </a:solidFill>
                <a:latin typeface="Segoe UI"/>
              </a:defRPr>
            </a:pPr>
            <a:r>
              <a:rPr sz="1400" b="0">
                <a:solidFill>
                  <a:srgbClr val="0F172A"/>
                </a:solidFill>
                <a:latin typeface="Segoe UI"/>
              </a:rPr>
              <a:t>• Reconocer cuándo NO usar agentes (tareas determinísticas → workflow simple; agentes solo si hace falta razonamiento dinámico).</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154 — Agentes: tool use, ReAct, multi-agent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Tool use con OpenAI/Anthropic function calling.</a:t>
            </a:r>
          </a:p>
          <a:p>
            <a:pPr>
              <a:spcAft>
                <a:spcPts val="1000"/>
              </a:spcAft>
              <a:defRPr sz="1600" b="0">
                <a:solidFill>
                  <a:srgbClr val="0F172A"/>
                </a:solidFill>
                <a:latin typeface="Segoe UI"/>
              </a:defRPr>
            </a:pPr>
            <a:r>
              <a:rPr sz="1600" b="0">
                <a:solidFill>
                  <a:srgbClr val="0F172A"/>
                </a:solidFill>
                <a:latin typeface="Segoe UI"/>
              </a:rPr>
              <a:t>• ReAct prompt template.</a:t>
            </a:r>
          </a:p>
          <a:p>
            <a:pPr>
              <a:spcAft>
                <a:spcPts val="1000"/>
              </a:spcAft>
              <a:defRPr sz="1600" b="0">
                <a:solidFill>
                  <a:srgbClr val="0F172A"/>
                </a:solidFill>
                <a:latin typeface="Segoe UI"/>
              </a:defRPr>
            </a:pPr>
            <a:r>
              <a:rPr sz="1600" b="0">
                <a:solidFill>
                  <a:srgbClr val="0F172A"/>
                </a:solidFill>
                <a:latin typeface="Segoe UI"/>
              </a:rPr>
              <a:t>• Loops: while LLM produces tool_call, execute and feed observation.</a:t>
            </a:r>
          </a:p>
          <a:p>
            <a:pPr>
              <a:spcAft>
                <a:spcPts val="1000"/>
              </a:spcAft>
              <a:defRPr sz="1600" b="0">
                <a:solidFill>
                  <a:srgbClr val="0F172A"/>
                </a:solidFill>
                <a:latin typeface="Segoe UI"/>
              </a:defRPr>
            </a:pPr>
            <a:r>
              <a:rPr sz="1600" b="0">
                <a:solidFill>
                  <a:srgbClr val="0F172A"/>
                </a:solidFill>
                <a:latin typeface="Segoe UI"/>
              </a:rPr>
              <a:t>• LangGraph: state machines para agentes.</a:t>
            </a:r>
          </a:p>
          <a:p>
            <a:pPr>
              <a:spcAft>
                <a:spcPts val="1000"/>
              </a:spcAft>
              <a:defRPr sz="1600" b="0">
                <a:solidFill>
                  <a:srgbClr val="0F172A"/>
                </a:solidFill>
                <a:latin typeface="Segoe UI"/>
              </a:defRPr>
            </a:pPr>
            <a:r>
              <a:rPr sz="1600" b="0">
                <a:solidFill>
                  <a:srgbClr val="0F172A"/>
                </a:solidFill>
                <a:latin typeface="Segoe UI"/>
              </a:rPr>
              <a:t>• AutoGen / CrewAI: multi-agent frameworks.</a:t>
            </a:r>
          </a:p>
          <a:p>
            <a:pPr>
              <a:spcAft>
                <a:spcPts val="1000"/>
              </a:spcAft>
              <a:defRPr sz="1600" b="0">
                <a:solidFill>
                  <a:srgbClr val="0F172A"/>
                </a:solidFill>
                <a:latin typeface="Segoe UI"/>
              </a:defRPr>
            </a:pPr>
            <a:r>
              <a:rPr sz="1600" b="0">
                <a:solidFill>
                  <a:srgbClr val="0F172A"/>
                </a:solidFill>
                <a:latin typeface="Segoe UI"/>
              </a:rPr>
              <a:t>• Patrones (Anthropic 2024): prompt chaining, routing, parallelization, orchestrator-workers, evaluator-optimizer.</a:t>
            </a:r>
          </a:p>
          <a:p>
            <a:pPr>
              <a:spcAft>
                <a:spcPts val="1000"/>
              </a:spcAft>
              <a:defRPr sz="1600" b="0">
                <a:solidFill>
                  <a:srgbClr val="0F172A"/>
                </a:solidFill>
                <a:latin typeface="Segoe UI"/>
              </a:defRPr>
            </a:pPr>
            <a:r>
              <a:rPr sz="1600" b="0">
                <a:solidFill>
                  <a:srgbClr val="0F172A"/>
                </a:solidFill>
                <a:latin typeface="Segoe UI"/>
              </a:rPr>
              <a:t>• Token cost: agentes con loops pueden gastar mucho.</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154 — Agentes: tool use, ReAct, multi-agent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un loop ReAct desde scratch (sin LLM real, usando un mock determinístico) y luego 2 agentes coordinados por un manager.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re, random</a:t>
            </a:r>
          </a:p>
          <a:p>
            <a:pPr>
              <a:defRPr sz="1200" b="0">
                <a:solidFill>
                  <a:srgbClr val="F8FAFC"/>
                </a:solidFill>
                <a:latin typeface="Courier New"/>
              </a:defRPr>
            </a:pPr>
            <a:r>
              <a:rPr sz="1200" b="0">
                <a:solidFill>
                  <a:srgbClr val="F8FAFC"/>
                </a:solidFill>
                <a:latin typeface="Courier New"/>
              </a:rPr>
              <a:t>random.seed(42)</a:t>
            </a:r>
          </a:p>
        </p:txBody>
      </p:sp>
    </p:spTree>
  </p:cSld>
  <p:clrMapOvr>
    <a:masterClrMapping/>
  </p:clrMapOvr>
</p:sld>
</file>

<file path=ppt/slides/slide7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154 — Agentes: tool use, ReAct, multi-agent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Tool básico: definir weather(city) y search(query) tools en Claude API.</a:t>
            </a:r>
          </a:p>
          <a:p>
            <a:pPr>
              <a:spcAft>
                <a:spcPts val="800"/>
              </a:spcAft>
              <a:defRPr sz="1400" b="0">
                <a:solidFill>
                  <a:srgbClr val="0F172A"/>
                </a:solidFill>
                <a:latin typeface="Segoe UI"/>
              </a:defRPr>
            </a:pPr>
            <a:r>
              <a:rPr sz="1400" b="0">
                <a:solidFill>
                  <a:srgbClr val="0F172A"/>
                </a:solidFill>
                <a:latin typeface="Segoe UI"/>
              </a:rPr>
              <a:t>• ReAct loop manual: implementar el loop sin librería, en Python puro.</a:t>
            </a:r>
          </a:p>
          <a:p>
            <a:pPr>
              <a:spcAft>
                <a:spcPts val="800"/>
              </a:spcAft>
              <a:defRPr sz="1400" b="0">
                <a:solidFill>
                  <a:srgbClr val="0F172A"/>
                </a:solidFill>
                <a:latin typeface="Segoe UI"/>
              </a:defRPr>
            </a:pPr>
            <a:r>
              <a:rPr sz="1400" b="0">
                <a:solidFill>
                  <a:srgbClr val="0F172A"/>
                </a:solidFill>
                <a:latin typeface="Segoe UI"/>
              </a:rPr>
              <a:t>• LangGraph: definir un grafo: router → tool → evaluator → end.</a:t>
            </a:r>
          </a:p>
          <a:p>
            <a:pPr>
              <a:spcAft>
                <a:spcPts val="800"/>
              </a:spcAft>
              <a:defRPr sz="1400" b="0">
                <a:solidFill>
                  <a:srgbClr val="0F172A"/>
                </a:solidFill>
                <a:latin typeface="Segoe UI"/>
              </a:defRPr>
            </a:pPr>
            <a:r>
              <a:rPr sz="1400" b="0">
                <a:solidFill>
                  <a:srgbClr val="0F172A"/>
                </a:solidFill>
                <a:latin typeface="Segoe UI"/>
              </a:rPr>
              <a:t>• Multi-agent (CrewAI): 3 agents (researcher, writer, editor) para producir un blog post.</a:t>
            </a:r>
          </a:p>
          <a:p>
            <a:pPr>
              <a:spcAft>
                <a:spcPts val="800"/>
              </a:spcAft>
              <a:defRPr sz="1400" b="0">
                <a:solidFill>
                  <a:srgbClr val="0F172A"/>
                </a:solidFill>
                <a:latin typeface="Segoe UI"/>
              </a:defRPr>
            </a:pPr>
            <a:r>
              <a:rPr sz="1400" b="0">
                <a:solidFill>
                  <a:srgbClr val="0F172A"/>
                </a:solidFill>
                <a:latin typeface="Segoe UI"/>
              </a:rPr>
              <a:t>• Evaluator-optimizer: agent que escribe + agent que critica + loop hasta approved=True.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Tools: web_search, fetch_url, extract_text, save_note.</a:t>
            </a:r>
          </a:p>
          <a:p>
            <a:pPr>
              <a:spcAft>
                <a:spcPts val="800"/>
              </a:spcAft>
              <a:defRPr sz="1500" b="0">
                <a:solidFill>
                  <a:srgbClr val="0F172A"/>
                </a:solidFill>
                <a:latin typeface="Segoe UI"/>
              </a:defRPr>
            </a:pPr>
            <a:r>
              <a:rPr sz="1500" b="0">
                <a:solidFill>
                  <a:srgbClr val="0F172A"/>
                </a:solidFill>
                <a:latin typeface="Segoe UI"/>
              </a:rPr>
              <a:t>• Prompt: "investigá X y produce un resumen de 200 palabras citando fuentes".</a:t>
            </a:r>
          </a:p>
          <a:p>
            <a:pPr>
              <a:spcAft>
                <a:spcPts val="800"/>
              </a:spcAft>
              <a:defRPr sz="1500" b="0">
                <a:solidFill>
                  <a:srgbClr val="0F172A"/>
                </a:solidFill>
                <a:latin typeface="Segoe UI"/>
              </a:defRPr>
            </a:pPr>
            <a:r>
              <a:rPr sz="1500" b="0">
                <a:solidFill>
                  <a:srgbClr val="0F172A"/>
                </a:solidFill>
                <a:latin typeface="Segoe UI"/>
              </a:rPr>
              <a:t>• Loop ReAct hasta produce el resumen.</a:t>
            </a:r>
          </a:p>
          <a:p>
            <a:pPr>
              <a:spcAft>
                <a:spcPts val="800"/>
              </a:spcAft>
              <a:defRPr sz="1500" b="0">
                <a:solidFill>
                  <a:srgbClr val="0F172A"/>
                </a:solidFill>
                <a:latin typeface="Segoe UI"/>
              </a:defRPr>
            </a:pPr>
            <a:r>
              <a:rPr sz="1500" b="0">
                <a:solidFill>
                  <a:srgbClr val="0F172A"/>
                </a:solidFill>
                <a:latin typeface="Segoe UI"/>
              </a:rPr>
              <a:t>• Reportar # de iteraciones, # de tool calls, costo en tokens.</a:t>
            </a:r>
          </a:p>
        </p:txBody>
      </p:sp>
    </p:spTree>
  </p:cSld>
  <p:clrMapOvr>
    <a:masterClrMapping/>
  </p:clrMapOvr>
</p:sld>
</file>

<file path=ppt/slides/slide77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155 — LLM Evaluation: MMLU, MT-Bench, LLM-as-judge, evals propios</a:t>
            </a:r>
          </a:p>
        </p:txBody>
      </p:sp>
    </p:spTree>
  </p:cSld>
  <p:clrMapOvr>
    <a:masterClrMapping/>
  </p:clrMapOvr>
</p:sld>
</file>

<file path=ppt/slides/slide7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155 — LLM Evaluation: MMLU, MT-Bench, LLM-as-judge, evals propios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Hendrycks et al. (2021) MMLU + Zheng et al. (2023) MT-Bench + LMSys Arena.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Evaluar LLMs (propios o terceros) con rigor: benchmarks estándar (MMLU, HumanEval, GSM8K, MT-Bench, LMSys Arena), LLM-as-judge para casos open-ended, y evals propios específicos al dominio. Reconocer las trampas (data contamination, reward hacking, leaderboard hacking).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Correr MMLU con lm-evaluation-harness sobre un modelo propio.</a:t>
            </a:r>
          </a:p>
          <a:p>
            <a:pPr>
              <a:spcAft>
                <a:spcPts val="800"/>
              </a:spcAft>
              <a:defRPr sz="1400" b="0">
                <a:solidFill>
                  <a:srgbClr val="0F172A"/>
                </a:solidFill>
                <a:latin typeface="Segoe UI"/>
              </a:defRPr>
            </a:pPr>
            <a:r>
              <a:rPr sz="1400" b="0">
                <a:solidFill>
                  <a:srgbClr val="0F172A"/>
                </a:solidFill>
                <a:latin typeface="Segoe UI"/>
              </a:rPr>
              <a:t>• Implementar LLM-as-judge con (prompt, response_A, response_B) → "cuál es mejor".</a:t>
            </a:r>
          </a:p>
          <a:p>
            <a:pPr>
              <a:spcAft>
                <a:spcPts val="800"/>
              </a:spcAft>
              <a:defRPr sz="1400" b="0">
                <a:solidFill>
                  <a:srgbClr val="0F172A"/>
                </a:solidFill>
                <a:latin typeface="Segoe UI"/>
              </a:defRPr>
            </a:pPr>
            <a:r>
              <a:rPr sz="1400" b="0">
                <a:solidFill>
                  <a:srgbClr val="0F172A"/>
                </a:solidFill>
                <a:latin typeface="Segoe UI"/>
              </a:rPr>
              <a:t>• Diseñar evals custom: cobertura por tema, casos edge, regresiones.</a:t>
            </a:r>
          </a:p>
          <a:p>
            <a:pPr>
              <a:spcAft>
                <a:spcPts val="800"/>
              </a:spcAft>
              <a:defRPr sz="1400" b="0">
                <a:solidFill>
                  <a:srgbClr val="0F172A"/>
                </a:solidFill>
                <a:latin typeface="Segoe UI"/>
              </a:defRPr>
            </a:pPr>
            <a:r>
              <a:rPr sz="1400" b="0">
                <a:solidFill>
                  <a:srgbClr val="0F172A"/>
                </a:solidFill>
                <a:latin typeface="Segoe UI"/>
              </a:rPr>
              <a:t>• Diferenciar classification metrics (accuracy on MCQs) de generation metrics (BLEU, ROUGE, BERTScore, LLM-judge).</a:t>
            </a:r>
          </a:p>
          <a:p>
            <a:pPr>
              <a:spcAft>
                <a:spcPts val="800"/>
              </a:spcAft>
              <a:defRPr sz="1400" b="0">
                <a:solidFill>
                  <a:srgbClr val="0F172A"/>
                </a:solidFill>
                <a:latin typeface="Segoe UI"/>
              </a:defRPr>
            </a:pPr>
            <a:r>
              <a:rPr sz="1400" b="0">
                <a:solidFill>
                  <a:srgbClr val="0F172A"/>
                </a:solidFill>
                <a:latin typeface="Segoe UI"/>
              </a:rPr>
              <a:t>• Reconocer data contamination (test set en pretraining) y leaderboard hacking.</a:t>
            </a:r>
          </a:p>
        </p:txBody>
      </p:sp>
    </p:spTree>
  </p:cSld>
  <p:clrMapOvr>
    <a:masterClrMapping/>
  </p:clrMapOvr>
</p:sld>
</file>

<file path=ppt/slides/slide7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155 — LLM Evaluation: MMLU, MT-Bench, LLM-as-judge, evals propios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MMLU: 57 dominios, multiple choice. Standard 2020-2023.</a:t>
            </a:r>
          </a:p>
          <a:p>
            <a:pPr>
              <a:spcAft>
                <a:spcPts val="1000"/>
              </a:spcAft>
              <a:defRPr sz="1600" b="0">
                <a:solidFill>
                  <a:srgbClr val="0F172A"/>
                </a:solidFill>
                <a:latin typeface="Segoe UI"/>
              </a:defRPr>
            </a:pPr>
            <a:r>
              <a:rPr sz="1600" b="0">
                <a:solidFill>
                  <a:srgbClr val="0F172A"/>
                </a:solidFill>
                <a:latin typeface="Segoe UI"/>
              </a:rPr>
              <a:t>• HumanEval: 164 problemas Python codegen.</a:t>
            </a:r>
          </a:p>
          <a:p>
            <a:pPr>
              <a:spcAft>
                <a:spcPts val="1000"/>
              </a:spcAft>
              <a:defRPr sz="1600" b="0">
                <a:solidFill>
                  <a:srgbClr val="0F172A"/>
                </a:solidFill>
                <a:latin typeface="Segoe UI"/>
              </a:defRPr>
            </a:pPr>
            <a:r>
              <a:rPr sz="1600" b="0">
                <a:solidFill>
                  <a:srgbClr val="0F172A"/>
                </a:solidFill>
                <a:latin typeface="Segoe UI"/>
              </a:rPr>
              <a:t>• GSM8K: math word problems.</a:t>
            </a:r>
          </a:p>
          <a:p>
            <a:pPr>
              <a:spcAft>
                <a:spcPts val="1000"/>
              </a:spcAft>
              <a:defRPr sz="1600" b="0">
                <a:solidFill>
                  <a:srgbClr val="0F172A"/>
                </a:solidFill>
                <a:latin typeface="Segoe UI"/>
              </a:defRPr>
            </a:pPr>
            <a:r>
              <a:rPr sz="1600" b="0">
                <a:solidFill>
                  <a:srgbClr val="0F172A"/>
                </a:solidFill>
                <a:latin typeface="Segoe UI"/>
              </a:rPr>
              <a:t>• MT-Bench: 80 multi-turn questions evaluadas por GPT-4 judge.</a:t>
            </a:r>
          </a:p>
          <a:p>
            <a:pPr>
              <a:spcAft>
                <a:spcPts val="1000"/>
              </a:spcAft>
              <a:defRPr sz="1600" b="0">
                <a:solidFill>
                  <a:srgbClr val="0F172A"/>
                </a:solidFill>
                <a:latin typeface="Segoe UI"/>
              </a:defRPr>
            </a:pPr>
            <a:r>
              <a:rPr sz="1600" b="0">
                <a:solidFill>
                  <a:srgbClr val="0F172A"/>
                </a:solidFill>
                <a:latin typeface="Segoe UI"/>
              </a:rPr>
              <a:t>• LMSys Arena: head-to-head humanos. Standard moderno (ELO ranking).</a:t>
            </a:r>
          </a:p>
          <a:p>
            <a:pPr>
              <a:spcAft>
                <a:spcPts val="1000"/>
              </a:spcAft>
              <a:defRPr sz="1600" b="0">
                <a:solidFill>
                  <a:srgbClr val="0F172A"/>
                </a:solidFill>
                <a:latin typeface="Segoe UI"/>
              </a:defRPr>
            </a:pPr>
            <a:r>
              <a:rPr sz="1600" b="0">
                <a:solidFill>
                  <a:srgbClr val="0F172A"/>
                </a:solidFill>
                <a:latin typeface="Segoe UI"/>
              </a:rPr>
              <a:t>• LLM-as-judge: usar GPT-4/Claude como evaluador.</a:t>
            </a:r>
          </a:p>
          <a:p>
            <a:pPr>
              <a:spcAft>
                <a:spcPts val="1000"/>
              </a:spcAft>
              <a:defRPr sz="1600" b="0">
                <a:solidFill>
                  <a:srgbClr val="0F172A"/>
                </a:solidFill>
                <a:latin typeface="Segoe UI"/>
              </a:defRPr>
            </a:pPr>
            <a:r>
              <a:rPr sz="1600" b="0">
                <a:solidFill>
                  <a:srgbClr val="0F172A"/>
                </a:solidFill>
                <a:latin typeface="Segoe UI"/>
              </a:rPr>
              <a:t>• Custom evals: críticos para producción.</a:t>
            </a:r>
          </a:p>
        </p:txBody>
      </p:sp>
    </p:spTree>
  </p:cSld>
  <p:clrMapOvr>
    <a:masterClrMapping/>
  </p:clrMapOvr>
</p:sld>
</file>

<file path=ppt/slides/slide7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155 — LLM Evaluation: MMLU, MT-Bench, LLM-as-judge, evals propios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Simulamos MMLU, MT-Bench y un LLM-as-judge sintético. Discutimos biases comunes del judge.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7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155 — LLM Evaluation: MMLU, MT-Bench, LLM-as-judge, evals propios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MMLU con lm-eval-harness: lm_eval --model hf --model_args pretrained=mistralai/Mistral-7B-v0.1 --tasks mmlu --num_fewshot 5.</a:t>
            </a:r>
          </a:p>
          <a:p>
            <a:pPr>
              <a:spcAft>
                <a:spcPts val="800"/>
              </a:spcAft>
              <a:defRPr sz="1400" b="0">
                <a:solidFill>
                  <a:srgbClr val="0F172A"/>
                </a:solidFill>
                <a:latin typeface="Segoe UI"/>
              </a:defRPr>
            </a:pPr>
            <a:r>
              <a:rPr sz="1400" b="0">
                <a:solidFill>
                  <a:srgbClr val="0F172A"/>
                </a:solidFill>
                <a:latin typeface="Segoe UI"/>
              </a:rPr>
              <a:t>• HumanEval: code generation, pass@1.</a:t>
            </a:r>
          </a:p>
          <a:p>
            <a:pPr>
              <a:spcAft>
                <a:spcPts val="800"/>
              </a:spcAft>
              <a:defRPr sz="1400" b="0">
                <a:solidFill>
                  <a:srgbClr val="0F172A"/>
                </a:solidFill>
                <a:latin typeface="Segoe UI"/>
              </a:defRPr>
            </a:pPr>
            <a:r>
              <a:rPr sz="1400" b="0">
                <a:solidFill>
                  <a:srgbClr val="0F172A"/>
                </a:solidFill>
                <a:latin typeface="Segoe UI"/>
              </a:rPr>
              <a:t>• MT-Bench: usar GPT-4 / Claude como judge.</a:t>
            </a:r>
          </a:p>
          <a:p>
            <a:pPr>
              <a:spcAft>
                <a:spcPts val="800"/>
              </a:spcAft>
              <a:defRPr sz="1400" b="0">
                <a:solidFill>
                  <a:srgbClr val="0F172A"/>
                </a:solidFill>
                <a:latin typeface="Segoe UI"/>
              </a:defRPr>
            </a:pPr>
            <a:r>
              <a:rPr sz="1400" b="0">
                <a:solidFill>
                  <a:srgbClr val="0F172A"/>
                </a:solidFill>
                <a:latin typeface="Segoe UI"/>
              </a:rPr>
              <a:t>• LLM-as-judge propio: 20 pairs (model_A vs model_B); judge devuelve A/B/tie + reasoning.</a:t>
            </a:r>
          </a:p>
          <a:p>
            <a:pPr>
              <a:spcAft>
                <a:spcPts val="800"/>
              </a:spcAft>
              <a:defRPr sz="1400" b="0">
                <a:solidFill>
                  <a:srgbClr val="0F172A"/>
                </a:solidFill>
                <a:latin typeface="Segoe UI"/>
              </a:defRPr>
            </a:pPr>
            <a:r>
              <a:rPr sz="1400" b="0">
                <a:solidFill>
                  <a:srgbClr val="0F172A"/>
                </a:solidFill>
                <a:latin typeface="Segoe UI"/>
              </a:rPr>
              <a:t>• Custom eval: 50 prompts específicos a tu use case + criterios de aceptación.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30 prompts específicos al dominio.</a:t>
            </a:r>
          </a:p>
          <a:p>
            <a:pPr>
              <a:spcAft>
                <a:spcPts val="800"/>
              </a:spcAft>
              <a:defRPr sz="1500" b="0">
                <a:solidFill>
                  <a:srgbClr val="0F172A"/>
                </a:solidFill>
                <a:latin typeface="Segoe UI"/>
              </a:defRPr>
            </a:pPr>
            <a:r>
              <a:rPr sz="1500" b="0">
                <a:solidFill>
                  <a:srgbClr val="0F172A"/>
                </a:solidFill>
                <a:latin typeface="Segoe UI"/>
              </a:rPr>
              <a:t>• Generar respuestas con ambos.</a:t>
            </a:r>
          </a:p>
          <a:p>
            <a:pPr>
              <a:spcAft>
                <a:spcPts val="800"/>
              </a:spcAft>
              <a:defRPr sz="1500" b="0">
                <a:solidFill>
                  <a:srgbClr val="0F172A"/>
                </a:solidFill>
                <a:latin typeface="Segoe UI"/>
              </a:defRPr>
            </a:pPr>
            <a:r>
              <a:rPr sz="1500" b="0">
                <a:solidFill>
                  <a:srgbClr val="0F172A"/>
                </a:solidFill>
                <a:latin typeface="Segoe UI"/>
              </a:rPr>
              <a:t>• LLM-as-judge (Claude o GPT-4) comparando.</a:t>
            </a:r>
          </a:p>
          <a:p>
            <a:pPr>
              <a:spcAft>
                <a:spcPts val="800"/>
              </a:spcAft>
              <a:defRPr sz="1500" b="0">
                <a:solidFill>
                  <a:srgbClr val="0F172A"/>
                </a:solidFill>
                <a:latin typeface="Segoe UI"/>
              </a:defRPr>
            </a:pPr>
            <a:r>
              <a:rPr sz="1500" b="0">
                <a:solidFill>
                  <a:srgbClr val="0F172A"/>
                </a:solidFill>
                <a:latin typeface="Segoe UI"/>
              </a:rPr>
              <a:t>• Reportar win rate de cada uno.</a:t>
            </a:r>
          </a:p>
        </p:txBody>
      </p:sp>
    </p:spTree>
  </p:cSld>
  <p:clrMapOvr>
    <a:masterClrMapping/>
  </p:clrMapOvr>
</p:sld>
</file>

<file path=ppt/slides/slide78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156 — Autoencoders: undercomplete, stacked, denoising, sparse</a:t>
            </a:r>
          </a:p>
        </p:txBody>
      </p:sp>
    </p:spTree>
  </p:cSld>
  <p:clrMapOvr>
    <a:masterClrMapping/>
  </p:clrMapOvr>
</p:sld>
</file>

<file path=ppt/slides/slide7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156 — Autoencoders: undercomplete, stacked, denoising, sparse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17 § Autoencoders, GANs, and Diffusion Models.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autoencoders — red Encoder → bottleneck → Decoder entrenada a reconstruir su input. Variantes que cubrimos: undercomplete (dim_latent &lt; dim_input, fuerza compresión), stacked (deep), denoising (input ruidoso → output limpio), sparse (penaliza activaciones latentes). Saber qué problemas resuelven (compresión, anomaly detection, pretraining) y cuándo VAEs/GANs/Diffusion los superan en generación.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undercomplete AE con MLP/CNN y entrenarlo con MSE.</a:t>
            </a:r>
          </a:p>
          <a:p>
            <a:pPr>
              <a:spcAft>
                <a:spcPts val="800"/>
              </a:spcAft>
              <a:defRPr sz="1400" b="0">
                <a:solidFill>
                  <a:srgbClr val="0F172A"/>
                </a:solidFill>
                <a:latin typeface="Segoe UI"/>
              </a:defRPr>
            </a:pPr>
            <a:r>
              <a:rPr sz="1400" b="0">
                <a:solidFill>
                  <a:srgbClr val="0F172A"/>
                </a:solidFill>
                <a:latin typeface="Segoe UI"/>
              </a:rPr>
              <a:t>• Diferenciar latent_dim &lt; input_dim (compresión real) de latent_dim &gt;&gt; input_dim con regularización (sparse).</a:t>
            </a:r>
          </a:p>
          <a:p>
            <a:pPr>
              <a:spcAft>
                <a:spcPts val="800"/>
              </a:spcAft>
              <a:defRPr sz="1400" b="0">
                <a:solidFill>
                  <a:srgbClr val="0F172A"/>
                </a:solidFill>
                <a:latin typeface="Segoe UI"/>
              </a:defRPr>
            </a:pPr>
            <a:r>
              <a:rPr sz="1400" b="0">
                <a:solidFill>
                  <a:srgbClr val="0F172A"/>
                </a:solidFill>
                <a:latin typeface="Segoe UI"/>
              </a:rPr>
              <a:t>• Implementar Denoising AE: input x + noise, target x.</a:t>
            </a:r>
          </a:p>
          <a:p>
            <a:pPr>
              <a:spcAft>
                <a:spcPts val="800"/>
              </a:spcAft>
              <a:defRPr sz="1400" b="0">
                <a:solidFill>
                  <a:srgbClr val="0F172A"/>
                </a:solidFill>
                <a:latin typeface="Segoe UI"/>
              </a:defRPr>
            </a:pPr>
            <a:r>
              <a:rPr sz="1400" b="0">
                <a:solidFill>
                  <a:srgbClr val="0F172A"/>
                </a:solidFill>
                <a:latin typeface="Segoe UI"/>
              </a:rPr>
              <a:t>• Aplicar AE como anomaly detector: alta reconstruction error → anomalía.</a:t>
            </a:r>
          </a:p>
          <a:p>
            <a:pPr>
              <a:spcAft>
                <a:spcPts val="800"/>
              </a:spcAft>
              <a:defRPr sz="1400" b="0">
                <a:solidFill>
                  <a:srgbClr val="0F172A"/>
                </a:solidFill>
                <a:latin typeface="Segoe UI"/>
              </a:defRPr>
            </a:pPr>
            <a:r>
              <a:rPr sz="1400" b="0">
                <a:solidFill>
                  <a:srgbClr val="0F172A"/>
                </a:solidFill>
                <a:latin typeface="Segoe UI"/>
              </a:rPr>
              <a:t>• Reconocer que autoencoders no son buenos generadores (latent space irregular) → motivó VAE (clase 131).</a:t>
            </a:r>
          </a:p>
        </p:txBody>
      </p:sp>
    </p:spTree>
  </p:cSld>
  <p:clrMapOvr>
    <a:masterClrMapping/>
  </p:clrMapOvr>
</p:sld>
</file>

<file path=ppt/slides/slide7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156 — Autoencoders: undercomplete, stacked, denoising, sparse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Encoder + Decoder simétricos.</a:t>
            </a:r>
          </a:p>
          <a:p>
            <a:pPr>
              <a:spcAft>
                <a:spcPts val="1000"/>
              </a:spcAft>
              <a:defRPr sz="1600" b="0">
                <a:solidFill>
                  <a:srgbClr val="0F172A"/>
                </a:solidFill>
                <a:latin typeface="Segoe UI"/>
              </a:defRPr>
            </a:pPr>
            <a:r>
              <a:rPr sz="1600" b="0">
                <a:solidFill>
                  <a:srgbClr val="0F172A"/>
                </a:solidFill>
                <a:latin typeface="Segoe UI"/>
              </a:rPr>
              <a:t>• Bottleneck: latent space.</a:t>
            </a:r>
          </a:p>
          <a:p>
            <a:pPr>
              <a:spcAft>
                <a:spcPts val="1000"/>
              </a:spcAft>
              <a:defRPr sz="1600" b="0">
                <a:solidFill>
                  <a:srgbClr val="0F172A"/>
                </a:solidFill>
                <a:latin typeface="Segoe UI"/>
              </a:defRPr>
            </a:pPr>
            <a:r>
              <a:rPr sz="1600" b="0">
                <a:solidFill>
                  <a:srgbClr val="0F172A"/>
                </a:solidFill>
                <a:latin typeface="Segoe UI"/>
              </a:rPr>
              <a:t>• Undercomplete: dimensión chica.</a:t>
            </a:r>
          </a:p>
          <a:p>
            <a:pPr>
              <a:spcAft>
                <a:spcPts val="1000"/>
              </a:spcAft>
              <a:defRPr sz="1600" b="0">
                <a:solidFill>
                  <a:srgbClr val="0F172A"/>
                </a:solidFill>
                <a:latin typeface="Segoe UI"/>
              </a:defRPr>
            </a:pPr>
            <a:r>
              <a:rPr sz="1600" b="0">
                <a:solidFill>
                  <a:srgbClr val="0F172A"/>
                </a:solidFill>
                <a:latin typeface="Segoe UI"/>
              </a:rPr>
              <a:t>• Stacked: varias capas Dense/Conv.</a:t>
            </a:r>
          </a:p>
          <a:p>
            <a:pPr>
              <a:spcAft>
                <a:spcPts val="1000"/>
              </a:spcAft>
              <a:defRPr sz="1600" b="0">
                <a:solidFill>
                  <a:srgbClr val="0F172A"/>
                </a:solidFill>
                <a:latin typeface="Segoe UI"/>
              </a:defRPr>
            </a:pPr>
            <a:r>
              <a:rPr sz="1600" b="0">
                <a:solidFill>
                  <a:srgbClr val="0F172A"/>
                </a:solidFill>
                <a:latin typeface="Segoe UI"/>
              </a:rPr>
              <a:t>• Denoising: robusto a ruido.</a:t>
            </a:r>
          </a:p>
          <a:p>
            <a:pPr>
              <a:spcAft>
                <a:spcPts val="1000"/>
              </a:spcAft>
              <a:defRPr sz="1600" b="0">
                <a:solidFill>
                  <a:srgbClr val="0F172A"/>
                </a:solidFill>
                <a:latin typeface="Segoe UI"/>
              </a:defRPr>
            </a:pPr>
            <a:r>
              <a:rPr sz="1600" b="0">
                <a:solidFill>
                  <a:srgbClr val="0F172A"/>
                </a:solidFill>
                <a:latin typeface="Segoe UI"/>
              </a:rPr>
              <a:t>• Sparse: penalizar ||latent||_1 para que pocas neuronas activas.</a:t>
            </a:r>
          </a:p>
          <a:p>
            <a:pPr>
              <a:spcAft>
                <a:spcPts val="1000"/>
              </a:spcAft>
              <a:defRPr sz="1600" b="0">
                <a:solidFill>
                  <a:srgbClr val="0F172A"/>
                </a:solidFill>
                <a:latin typeface="Segoe UI"/>
              </a:defRPr>
            </a:pPr>
            <a:r>
              <a:rPr sz="1600" b="0">
                <a:solidFill>
                  <a:srgbClr val="0F172A"/>
                </a:solidFill>
                <a:latin typeface="Segoe UI"/>
              </a:rPr>
              <a:t>• AE para anomaly detection.</a:t>
            </a:r>
          </a:p>
        </p:txBody>
      </p:sp>
    </p:spTree>
  </p:cSld>
  <p:clrMapOvr>
    <a:masterClrMapping/>
  </p:clrMapOvr>
</p:sld>
</file>

<file path=ppt/slides/slide7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156 — Autoencoders: undercomplete, stacked, denoising, sparse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from tensorflow.keras import layers, regularizers</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    tf.random.set_seed(42)</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print('tensorflow no instalado.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7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156 — Autoencoders: undercomplete, stacked, denoising, sparse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AE simple: Encoder: 784 → 64; Decoder: 64 → 784.</a:t>
            </a:r>
          </a:p>
          <a:p>
            <a:pPr>
              <a:spcAft>
                <a:spcPts val="800"/>
              </a:spcAft>
              <a:defRPr sz="1400" b="0">
                <a:solidFill>
                  <a:srgbClr val="0F172A"/>
                </a:solidFill>
                <a:latin typeface="Segoe UI"/>
              </a:defRPr>
            </a:pPr>
            <a:r>
              <a:rPr sz="1400" b="0">
                <a:solidFill>
                  <a:srgbClr val="0F172A"/>
                </a:solidFill>
                <a:latin typeface="Segoe UI"/>
              </a:rPr>
              <a:t>• Latent space 2D: latent_dim=2.</a:t>
            </a:r>
          </a:p>
          <a:p>
            <a:pPr>
              <a:spcAft>
                <a:spcPts val="800"/>
              </a:spcAft>
              <a:defRPr sz="1400" b="0">
                <a:solidFill>
                  <a:srgbClr val="0F172A"/>
                </a:solidFill>
                <a:latin typeface="Segoe UI"/>
              </a:defRPr>
            </a:pPr>
            <a:r>
              <a:rPr sz="1400" b="0">
                <a:solidFill>
                  <a:srgbClr val="0F172A"/>
                </a:solidFill>
                <a:latin typeface="Segoe UI"/>
              </a:rPr>
              <a:t>• Denoising: noise = 0.5 * rng.normal(x.shape), target = x.</a:t>
            </a:r>
          </a:p>
          <a:p>
            <a:pPr>
              <a:spcAft>
                <a:spcPts val="800"/>
              </a:spcAft>
              <a:defRPr sz="1400" b="0">
                <a:solidFill>
                  <a:srgbClr val="0F172A"/>
                </a:solidFill>
                <a:latin typeface="Segoe UI"/>
              </a:defRPr>
            </a:pPr>
            <a:r>
              <a:rPr sz="1400" b="0">
                <a:solidFill>
                  <a:srgbClr val="0F172A"/>
                </a:solidFill>
                <a:latin typeface="Segoe UI"/>
              </a:rPr>
              <a:t>• Sparse: agregar keras.regularizers.l1(1e-3) sobre la capa latente.</a:t>
            </a:r>
          </a:p>
          <a:p>
            <a:pPr>
              <a:spcAft>
                <a:spcPts val="800"/>
              </a:spcAft>
              <a:defRPr sz="1400" b="0">
                <a:solidFill>
                  <a:srgbClr val="0F172A"/>
                </a:solidFill>
                <a:latin typeface="Segoe UI"/>
              </a:defRPr>
            </a:pPr>
            <a:r>
              <a:rPr sz="1400" b="0">
                <a:solidFill>
                  <a:srgbClr val="0F172A"/>
                </a:solidFill>
                <a:latin typeface="Segoe UI"/>
              </a:rPr>
              <a:t>• Anomaly detection: entrenar AE solo sobre clase "normal"; calcular reconstruction error en clase "anomalía"; usar como score.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AE convolucional solo sobre clase 0 (T-shirt).</a:t>
            </a:r>
          </a:p>
          <a:p>
            <a:pPr>
              <a:spcAft>
                <a:spcPts val="800"/>
              </a:spcAft>
              <a:defRPr sz="1500" b="0">
                <a:solidFill>
                  <a:srgbClr val="0F172A"/>
                </a:solidFill>
                <a:latin typeface="Segoe UI"/>
              </a:defRPr>
            </a:pPr>
            <a:r>
              <a:rPr sz="1500" b="0">
                <a:solidFill>
                  <a:srgbClr val="0F172A"/>
                </a:solidFill>
                <a:latin typeface="Segoe UI"/>
              </a:rPr>
              <a:t>• Calcular MSE de reconstrucción para todas las imágenes test.</a:t>
            </a:r>
          </a:p>
          <a:p>
            <a:pPr>
              <a:spcAft>
                <a:spcPts val="800"/>
              </a:spcAft>
              <a:defRPr sz="1500" b="0">
                <a:solidFill>
                  <a:srgbClr val="0F172A"/>
                </a:solidFill>
                <a:latin typeface="Segoe UI"/>
              </a:defRPr>
            </a:pPr>
            <a:r>
              <a:rPr sz="1500" b="0">
                <a:solidFill>
                  <a:srgbClr val="0F172A"/>
                </a:solidFill>
                <a:latin typeface="Segoe UI"/>
              </a:rPr>
              <a:t>• Plotear histograma del MSE separado por "T-shirt" vs "no T-shirt".</a:t>
            </a:r>
          </a:p>
          <a:p>
            <a:pPr>
              <a:spcAft>
                <a:spcPts val="800"/>
              </a:spcAft>
              <a:defRPr sz="1500" b="0">
                <a:solidFill>
                  <a:srgbClr val="0F172A"/>
                </a:solidFill>
                <a:latin typeface="Segoe UI"/>
              </a:defRPr>
            </a:pPr>
            <a:r>
              <a:rPr sz="1500" b="0">
                <a:solidFill>
                  <a:srgbClr val="0F172A"/>
                </a:solidFill>
                <a:latin typeface="Segoe UI"/>
              </a:rPr>
              <a:t>• ROC-AUC de "es T-shirt" usando MSE como score (negativo).</a:t>
            </a:r>
          </a:p>
        </p:txBody>
      </p:sp>
    </p:spTree>
  </p:cSld>
  <p:clrMapOvr>
    <a:masterClrMapping/>
  </p:clrMapOvr>
</p:sld>
</file>

<file path=ppt/slides/slide78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157 — Variational Autoencoders (VAE)</a:t>
            </a:r>
          </a:p>
        </p:txBody>
      </p:sp>
    </p:spTree>
  </p:cSld>
  <p:clrMapOvr>
    <a:masterClrMapping/>
  </p:clrMapOvr>
</p:sld>
</file>

<file path=ppt/slides/slide7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157 — Variational Autoencoders (VAE)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17 § Variational Autoencoders + Kingma &amp; Welling (2014).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VAE (Variational Autoencoder, Kingma &amp; Welling 2014) — variante probabilística del AE que aprende una distribución sobre el latent en lugar de un punto: encoder outputs μ, σ de una gaussiana; sampling + reparametrization trick para mantener gradientes. Resultado: latent space continuo y estructurado → permite generación, interpolación entre samples.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encoder que devuelve (μ, log σ²); sample con z = μ + σ · ε (reparametrization).</a:t>
            </a:r>
          </a:p>
          <a:p>
            <a:pPr>
              <a:spcAft>
                <a:spcPts val="800"/>
              </a:spcAft>
              <a:defRPr sz="1400" b="0">
                <a:solidFill>
                  <a:srgbClr val="0F172A"/>
                </a:solidFill>
                <a:latin typeface="Segoe UI"/>
              </a:defRPr>
            </a:pPr>
            <a:r>
              <a:rPr sz="1400" b="0">
                <a:solidFill>
                  <a:srgbClr val="0F172A"/>
                </a:solidFill>
                <a:latin typeface="Segoe UI"/>
              </a:rPr>
              <a:t>• Loss = reconstruction_loss + β · KL(N(μ,σ²) || N(0,I)).</a:t>
            </a:r>
          </a:p>
          <a:p>
            <a:pPr>
              <a:spcAft>
                <a:spcPts val="800"/>
              </a:spcAft>
              <a:defRPr sz="1400" b="0">
                <a:solidFill>
                  <a:srgbClr val="0F172A"/>
                </a:solidFill>
                <a:latin typeface="Segoe UI"/>
              </a:defRPr>
            </a:pPr>
            <a:r>
              <a:rPr sz="1400" b="0">
                <a:solidFill>
                  <a:srgbClr val="0F172A"/>
                </a:solidFill>
                <a:latin typeface="Segoe UI"/>
              </a:rPr>
              <a:t>• Generar samples nuevos: muestrear z ~ N(0,I), pasar por el decoder.</a:t>
            </a:r>
          </a:p>
          <a:p>
            <a:pPr>
              <a:spcAft>
                <a:spcPts val="800"/>
              </a:spcAft>
              <a:defRPr sz="1400" b="0">
                <a:solidFill>
                  <a:srgbClr val="0F172A"/>
                </a:solidFill>
                <a:latin typeface="Segoe UI"/>
              </a:defRPr>
            </a:pPr>
            <a:r>
              <a:rPr sz="1400" b="0">
                <a:solidFill>
                  <a:srgbClr val="0F172A"/>
                </a:solidFill>
                <a:latin typeface="Segoe UI"/>
              </a:rPr>
              <a:t>• Interpolar en el latent space y verificar transiciones suaves.</a:t>
            </a:r>
          </a:p>
          <a:p>
            <a:pPr>
              <a:spcAft>
                <a:spcPts val="800"/>
              </a:spcAft>
              <a:defRPr sz="1400" b="0">
                <a:solidFill>
                  <a:srgbClr val="0F172A"/>
                </a:solidFill>
                <a:latin typeface="Segoe UI"/>
              </a:defRPr>
            </a:pPr>
            <a:r>
              <a:rPr sz="1400" b="0">
                <a:solidFill>
                  <a:srgbClr val="0F172A"/>
                </a:solidFill>
                <a:latin typeface="Segoe UI"/>
              </a:rPr>
              <a:t>• Reconocer que VAE produce outputs borrosos (consecuencia del MSE/BCE) — motivó GANs (132).</a:t>
            </a:r>
          </a:p>
        </p:txBody>
      </p:sp>
    </p:spTree>
  </p:cSld>
  <p:clrMapOvr>
    <a:masterClrMapping/>
  </p:clrMapOvr>
</p:sld>
</file>

<file path=ppt/slides/slide7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157 — Variational Autoencoders (VAE)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ELBO (Evidence Lower BOund): log p(x) ≥ E[log p(x|z)] - KL(q(z|x) || p(z)).</a:t>
            </a:r>
          </a:p>
          <a:p>
            <a:pPr>
              <a:spcAft>
                <a:spcPts val="1000"/>
              </a:spcAft>
              <a:defRPr sz="1800" b="0">
                <a:solidFill>
                  <a:srgbClr val="0F172A"/>
                </a:solidFill>
                <a:latin typeface="Segoe UI"/>
              </a:defRPr>
            </a:pPr>
            <a:r>
              <a:rPr sz="1800" b="0">
                <a:solidFill>
                  <a:srgbClr val="0F172A"/>
                </a:solidFill>
                <a:latin typeface="Segoe UI"/>
              </a:rPr>
              <a:t>• Reparametrization trick: para back-propagar a través del sample.</a:t>
            </a:r>
          </a:p>
          <a:p>
            <a:pPr>
              <a:spcAft>
                <a:spcPts val="1000"/>
              </a:spcAft>
              <a:defRPr sz="1800" b="0">
                <a:solidFill>
                  <a:srgbClr val="0F172A"/>
                </a:solidFill>
                <a:latin typeface="Segoe UI"/>
              </a:defRPr>
            </a:pPr>
            <a:r>
              <a:rPr sz="1800" b="0">
                <a:solidFill>
                  <a:srgbClr val="0F172A"/>
                </a:solidFill>
                <a:latin typeface="Segoe UI"/>
              </a:rPr>
              <a:t>• β-VAE: subir β fuerza latent más disentangled.</a:t>
            </a:r>
          </a:p>
          <a:p>
            <a:pPr>
              <a:spcAft>
                <a:spcPts val="1000"/>
              </a:spcAft>
              <a:defRPr sz="1800" b="0">
                <a:solidFill>
                  <a:srgbClr val="0F172A"/>
                </a:solidFill>
                <a:latin typeface="Segoe UI"/>
              </a:defRPr>
            </a:pPr>
            <a:r>
              <a:rPr sz="1800" b="0">
                <a:solidFill>
                  <a:srgbClr val="0F172A"/>
                </a:solidFill>
                <a:latin typeface="Segoe UI"/>
              </a:rPr>
              <a:t>• Posterior collapse: cuando el decoder ignora z.</a:t>
            </a:r>
          </a:p>
        </p:txBody>
      </p:sp>
    </p:spTree>
  </p:cSld>
  <p:clrMapOvr>
    <a:masterClrMapping/>
  </p:clrMapOvr>
</p:sld>
</file>

<file path=ppt/slides/slide7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157 — Variational Autoencoders (VAE)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from tensorflow.keras import layers</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    tf.random.set_seed(42)</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print('tensorflow no instalado.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latent_dim = 2</a:t>
            </a:r>
          </a:p>
        </p:txBody>
      </p:sp>
    </p:spTree>
  </p:cSld>
  <p:clrMapOvr>
    <a:masterClrMapping/>
  </p:clrMapOvr>
</p:sld>
</file>

<file path=ppt/slides/slide7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157 — Variational Autoencoders (VAE)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VAE básico: encoder → (z_mean, z_log_var) → sample → decoder.</a:t>
            </a:r>
          </a:p>
          <a:p>
            <a:pPr>
              <a:spcAft>
                <a:spcPts val="800"/>
              </a:spcAft>
              <a:defRPr sz="1400" b="0">
                <a:solidFill>
                  <a:srgbClr val="0F172A"/>
                </a:solidFill>
                <a:latin typeface="Segoe UI"/>
              </a:defRPr>
            </a:pPr>
            <a:r>
              <a:rPr sz="1400" b="0">
                <a:solidFill>
                  <a:srgbClr val="0F172A"/>
                </a:solidFill>
                <a:latin typeface="Segoe UI"/>
              </a:rPr>
              <a:t>• Sampling: muestrear z ~ N(0,I) de tamaño (100, latent_dim).</a:t>
            </a:r>
          </a:p>
          <a:p>
            <a:pPr>
              <a:spcAft>
                <a:spcPts val="800"/>
              </a:spcAft>
              <a:defRPr sz="1400" b="0">
                <a:solidFill>
                  <a:srgbClr val="0F172A"/>
                </a:solidFill>
                <a:latin typeface="Segoe UI"/>
              </a:defRPr>
            </a:pPr>
            <a:r>
              <a:rPr sz="1400" b="0">
                <a:solidFill>
                  <a:srgbClr val="0F172A"/>
                </a:solidFill>
                <a:latin typeface="Segoe UI"/>
              </a:rPr>
              <a:t>• Interpolación: dos imágenes A y B → z_A, z_B.</a:t>
            </a:r>
          </a:p>
          <a:p>
            <a:pPr>
              <a:spcAft>
                <a:spcPts val="800"/>
              </a:spcAft>
              <a:defRPr sz="1400" b="0">
                <a:solidFill>
                  <a:srgbClr val="0F172A"/>
                </a:solidFill>
                <a:latin typeface="Segoe UI"/>
              </a:defRPr>
            </a:pPr>
            <a:r>
              <a:rPr sz="1400" b="0">
                <a:solidFill>
                  <a:srgbClr val="0F172A"/>
                </a:solidFill>
                <a:latin typeface="Segoe UI"/>
              </a:rPr>
              <a:t>• β-VAE: probar β=1, β=5, β=10.</a:t>
            </a:r>
          </a:p>
          <a:p>
            <a:pPr>
              <a:spcAft>
                <a:spcPts val="800"/>
              </a:spcAft>
              <a:defRPr sz="1400" b="0">
                <a:solidFill>
                  <a:srgbClr val="0F172A"/>
                </a:solidFill>
                <a:latin typeface="Segoe UI"/>
              </a:defRPr>
            </a:pPr>
            <a:r>
              <a:rPr sz="1400" b="0">
                <a:solidFill>
                  <a:srgbClr val="0F172A"/>
                </a:solidFill>
                <a:latin typeface="Segoe UI"/>
              </a:rPr>
              <a:t>• Posterior collapse: con LR alto, el encoder colapsa a μ=0, σ=1.</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Encoder convolucional, latent_dim=10.</a:t>
            </a:r>
          </a:p>
          <a:p>
            <a:pPr>
              <a:spcAft>
                <a:spcPts val="800"/>
              </a:spcAft>
              <a:defRPr sz="1400" b="0">
                <a:solidFill>
                  <a:srgbClr val="0F172A"/>
                </a:solidFill>
                <a:latin typeface="Segoe UI"/>
              </a:defRPr>
            </a:pPr>
            <a:r>
              <a:rPr sz="1400" b="0">
                <a:solidFill>
                  <a:srgbClr val="0F172A"/>
                </a:solidFill>
                <a:latin typeface="Segoe UI"/>
              </a:rPr>
              <a:t>• Decoder simétrico.</a:t>
            </a:r>
          </a:p>
          <a:p>
            <a:pPr>
              <a:spcAft>
                <a:spcPts val="800"/>
              </a:spcAft>
              <a:defRPr sz="1400" b="0">
                <a:solidFill>
                  <a:srgbClr val="0F172A"/>
                </a:solidFill>
                <a:latin typeface="Segoe UI"/>
              </a:defRPr>
            </a:pPr>
            <a:r>
              <a:rPr sz="1400" b="0">
                <a:solidFill>
                  <a:srgbClr val="0F172A"/>
                </a:solidFill>
                <a:latin typeface="Segoe UI"/>
              </a:rPr>
              <a:t>• Loss: BCE + KL.</a:t>
            </a:r>
          </a:p>
          <a:p>
            <a:pPr>
              <a:spcAft>
                <a:spcPts val="800"/>
              </a:spcAft>
              <a:defRPr sz="1400" b="0">
                <a:solidFill>
                  <a:srgbClr val="0F172A"/>
                </a:solidFill>
                <a:latin typeface="Segoe UI"/>
              </a:defRPr>
            </a:pPr>
            <a:r>
              <a:rPr sz="1400" b="0">
                <a:solidFill>
                  <a:srgbClr val="0F172A"/>
                </a:solidFill>
                <a:latin typeface="Segoe UI"/>
              </a:rPr>
              <a:t>• Entrenar 30 épocas; generar 64 muestras nuevas y visualizar grid.</a:t>
            </a:r>
          </a:p>
          <a:p>
            <a:pPr>
              <a:spcAft>
                <a:spcPts val="800"/>
              </a:spcAft>
              <a:defRPr sz="1400" b="0">
                <a:solidFill>
                  <a:srgbClr val="0F172A"/>
                </a:solidFill>
                <a:latin typeface="Segoe UI"/>
              </a:defRPr>
            </a:pPr>
            <a:r>
              <a:rPr sz="1400" b="0">
                <a:solidFill>
                  <a:srgbClr val="0F172A"/>
                </a:solidFill>
                <a:latin typeface="Segoe UI"/>
              </a:rPr>
              <a:t>• Interpolación entre 2 prendas distintas.</a:t>
            </a:r>
          </a:p>
        </p:txBody>
      </p:sp>
    </p:spTree>
  </p:cSld>
  <p:clrMapOvr>
    <a:masterClrMapping/>
  </p:clrMapOvr>
</p:sld>
</file>

<file path=ppt/slides/slide79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158 — GANs: DCGAN, Progressive GAN, StyleGAN</a:t>
            </a:r>
          </a:p>
        </p:txBody>
      </p:sp>
    </p:spTree>
  </p:cSld>
  <p:clrMapOvr>
    <a:masterClrMapping/>
  </p:clrMapOvr>
</p:sld>
</file>

<file path=ppt/slides/slide7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158 — GANs: DCGAN, Progressive GAN, StyleGAN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17 § Generative Adversarial Networks + Goodfellow (2014).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GAN (Generative Adversarial Network, Goodfellow 2014) — dos redes en juego adversarial: Generador crea muestras desde noise; Discriminador distingue real de falso. El equilibrio Nash de este juego = generador que genera muestras indistinguibles de la distribución real. Conocer las variantes principales: DCGAN, Progressive GAN, StyleGAN (caras hiperrealistas).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un DCGAN sencillo con Generator + Discriminator convolucionales sobre MNIST/Fashion.</a:t>
            </a:r>
          </a:p>
          <a:p>
            <a:pPr>
              <a:spcAft>
                <a:spcPts val="800"/>
              </a:spcAft>
              <a:defRPr sz="1400" b="0">
                <a:solidFill>
                  <a:srgbClr val="0F172A"/>
                </a:solidFill>
                <a:latin typeface="Segoe UI"/>
              </a:defRPr>
            </a:pPr>
            <a:r>
              <a:rPr sz="1400" b="0">
                <a:solidFill>
                  <a:srgbClr val="0F172A"/>
                </a:solidFill>
                <a:latin typeface="Segoe UI"/>
              </a:rPr>
              <a:t>• Escribir custom training loop alternando G y D updates.</a:t>
            </a:r>
          </a:p>
          <a:p>
            <a:pPr>
              <a:spcAft>
                <a:spcPts val="800"/>
              </a:spcAft>
              <a:defRPr sz="1400" b="0">
                <a:solidFill>
                  <a:srgbClr val="0F172A"/>
                </a:solidFill>
                <a:latin typeface="Segoe UI"/>
              </a:defRPr>
            </a:pPr>
            <a:r>
              <a:rPr sz="1400" b="0">
                <a:solidFill>
                  <a:srgbClr val="0F172A"/>
                </a:solidFill>
                <a:latin typeface="Segoe UI"/>
              </a:rPr>
              <a:t>• Diagnosticar 3 problemas clásicos: mode collapse (G produce 1 sola cosa), vanishing G gradient (D demasiado bueno), training inestable.</a:t>
            </a:r>
          </a:p>
          <a:p>
            <a:pPr>
              <a:spcAft>
                <a:spcPts val="800"/>
              </a:spcAft>
              <a:defRPr sz="1400" b="0">
                <a:solidFill>
                  <a:srgbClr val="0F172A"/>
                </a:solidFill>
                <a:latin typeface="Segoe UI"/>
              </a:defRPr>
            </a:pPr>
            <a:r>
              <a:rPr sz="1400" b="0">
                <a:solidFill>
                  <a:srgbClr val="0F172A"/>
                </a:solidFill>
                <a:latin typeface="Segoe UI"/>
              </a:rPr>
              <a:t>• Aplicar label smoothing (real labels = 0.9 en lugar de 1.0), noise en D inputs, y WGAN-GP (Wasserstein) para mejor estabilidad.</a:t>
            </a:r>
          </a:p>
          <a:p>
            <a:pPr>
              <a:spcAft>
                <a:spcPts val="800"/>
              </a:spcAft>
              <a:defRPr sz="1400" b="0">
                <a:solidFill>
                  <a:srgbClr val="0F172A"/>
                </a:solidFill>
                <a:latin typeface="Segoe UI"/>
              </a:defRPr>
            </a:pPr>
            <a:r>
              <a:rPr sz="1400" b="0">
                <a:solidFill>
                  <a:srgbClr val="0F172A"/>
                </a:solidFill>
                <a:latin typeface="Segoe UI"/>
              </a:rPr>
              <a:t>• Reconocer que GANs perdieron terreno frente a Diffusion (clase 133) en 2022+, pero StyleGAN sigue siendo competitivo para caras.</a:t>
            </a:r>
          </a:p>
        </p:txBody>
      </p:sp>
    </p:spTree>
  </p:cSld>
  <p:clrMapOvr>
    <a:masterClrMapping/>
  </p:clrMapOvr>
</p:sld>
</file>

<file path=ppt/slides/slide7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158 — GANs: DCGAN, Progressive GAN, StyleGAN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Loss original (min-max): min_G max_D E[log D(x)] + E[log(1 - D(G(z)))].</a:t>
            </a:r>
          </a:p>
          <a:p>
            <a:pPr>
              <a:spcAft>
                <a:spcPts val="1000"/>
              </a:spcAft>
              <a:defRPr sz="1600" b="0">
                <a:solidFill>
                  <a:srgbClr val="0F172A"/>
                </a:solidFill>
                <a:latin typeface="Segoe UI"/>
              </a:defRPr>
            </a:pPr>
            <a:r>
              <a:rPr sz="1600" b="0">
                <a:solidFill>
                  <a:srgbClr val="0F172A"/>
                </a:solidFill>
                <a:latin typeface="Segoe UI"/>
              </a:rPr>
              <a:t>• DCGAN: arquitecturas convolucionales (Radford et al. 2015).</a:t>
            </a:r>
          </a:p>
          <a:p>
            <a:pPr>
              <a:spcAft>
                <a:spcPts val="1000"/>
              </a:spcAft>
              <a:defRPr sz="1600" b="0">
                <a:solidFill>
                  <a:srgbClr val="0F172A"/>
                </a:solidFill>
                <a:latin typeface="Segoe UI"/>
              </a:defRPr>
            </a:pPr>
            <a:r>
              <a:rPr sz="1600" b="0">
                <a:solidFill>
                  <a:srgbClr val="0F172A"/>
                </a:solidFill>
                <a:latin typeface="Segoe UI"/>
              </a:rPr>
              <a:t>• Modos de fallo: mode collapse, D demasiado fuerte/débil.</a:t>
            </a:r>
          </a:p>
          <a:p>
            <a:pPr>
              <a:spcAft>
                <a:spcPts val="1000"/>
              </a:spcAft>
              <a:defRPr sz="1600" b="0">
                <a:solidFill>
                  <a:srgbClr val="0F172A"/>
                </a:solidFill>
                <a:latin typeface="Segoe UI"/>
              </a:defRPr>
            </a:pPr>
            <a:r>
              <a:rPr sz="1600" b="0">
                <a:solidFill>
                  <a:srgbClr val="0F172A"/>
                </a:solidFill>
                <a:latin typeface="Segoe UI"/>
              </a:rPr>
              <a:t>• WGAN, WGAN-GP, spectral norm.</a:t>
            </a:r>
          </a:p>
          <a:p>
            <a:pPr>
              <a:spcAft>
                <a:spcPts val="1000"/>
              </a:spcAft>
              <a:defRPr sz="1600" b="0">
                <a:solidFill>
                  <a:srgbClr val="0F172A"/>
                </a:solidFill>
                <a:latin typeface="Segoe UI"/>
              </a:defRPr>
            </a:pPr>
            <a:r>
              <a:rPr sz="1600" b="0">
                <a:solidFill>
                  <a:srgbClr val="0F172A"/>
                </a:solidFill>
                <a:latin typeface="Segoe UI"/>
              </a:rPr>
              <a:t>• Progressive GAN: empezar con 4×4, ir subiendo resolución.</a:t>
            </a:r>
          </a:p>
          <a:p>
            <a:pPr>
              <a:spcAft>
                <a:spcPts val="1000"/>
              </a:spcAft>
              <a:defRPr sz="1600" b="0">
                <a:solidFill>
                  <a:srgbClr val="0F172A"/>
                </a:solidFill>
                <a:latin typeface="Segoe UI"/>
              </a:defRPr>
            </a:pPr>
            <a:r>
              <a:rPr sz="1600" b="0">
                <a:solidFill>
                  <a:srgbClr val="0F172A"/>
                </a:solidFill>
                <a:latin typeface="Segoe UI"/>
              </a:rPr>
              <a:t>• StyleGAN: AdaIN, style mixing, latent W intermedio.</a:t>
            </a:r>
          </a:p>
          <a:p>
            <a:pPr>
              <a:spcAft>
                <a:spcPts val="1000"/>
              </a:spcAft>
              <a:defRPr sz="1600" b="0">
                <a:solidFill>
                  <a:srgbClr val="0F172A"/>
                </a:solidFill>
                <a:latin typeface="Segoe UI"/>
              </a:defRPr>
            </a:pPr>
            <a:r>
              <a:rPr sz="1600" b="0">
                <a:solidFill>
                  <a:srgbClr val="0F172A"/>
                </a:solidFill>
                <a:latin typeface="Segoe UI"/>
              </a:rPr>
              <a:t>• Métricas: FID (Fréchet Inception Distance), IS.</a:t>
            </a:r>
          </a:p>
        </p:txBody>
      </p:sp>
    </p:spTree>
  </p:cSld>
  <p:clrMapOvr>
    <a:masterClrMapping/>
  </p:clrMapOvr>
</p:sld>
</file>

<file path=ppt/slides/slide7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158 — GANs: DCGAN, Progressive GAN, StyleGAN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from tensorflow.keras import layers</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    tf.random.set_seed(42)</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print('tensorflow no instalado.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LATENT = 100</a:t>
            </a:r>
          </a:p>
        </p:txBody>
      </p:sp>
    </p:spTree>
  </p:cSld>
  <p:clrMapOvr>
    <a:masterClrMapping/>
  </p:clrMapOvr>
</p:sld>
</file>

<file path=ppt/slides/slide7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158 — GANs: DCGAN, Progressive GAN, StyleGAN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DCGAN básico: G y D convolucionales.</a:t>
            </a:r>
          </a:p>
          <a:p>
            <a:pPr>
              <a:spcAft>
                <a:spcPts val="800"/>
              </a:spcAft>
              <a:defRPr sz="1400" b="0">
                <a:solidFill>
                  <a:srgbClr val="0F172A"/>
                </a:solidFill>
                <a:latin typeface="Segoe UI"/>
              </a:defRPr>
            </a:pPr>
            <a:r>
              <a:rPr sz="1400" b="0">
                <a:solidFill>
                  <a:srgbClr val="0F172A"/>
                </a:solidFill>
                <a:latin typeface="Segoe UI"/>
              </a:rPr>
              <a:t>• Diagnóstico: graficar D_loss y G_loss por step.</a:t>
            </a:r>
          </a:p>
          <a:p>
            <a:pPr>
              <a:spcAft>
                <a:spcPts val="800"/>
              </a:spcAft>
              <a:defRPr sz="1400" b="0">
                <a:solidFill>
                  <a:srgbClr val="0F172A"/>
                </a:solidFill>
                <a:latin typeface="Segoe UI"/>
              </a:defRPr>
            </a:pPr>
            <a:r>
              <a:rPr sz="1400" b="0">
                <a:solidFill>
                  <a:srgbClr val="0F172A"/>
                </a:solidFill>
                <a:latin typeface="Segoe UI"/>
              </a:rPr>
              <a:t>• Mode collapse: tras N épocas, generar 64 samples.</a:t>
            </a:r>
          </a:p>
          <a:p>
            <a:pPr>
              <a:spcAft>
                <a:spcPts val="800"/>
              </a:spcAft>
              <a:defRPr sz="1400" b="0">
                <a:solidFill>
                  <a:srgbClr val="0F172A"/>
                </a:solidFill>
                <a:latin typeface="Segoe UI"/>
              </a:defRPr>
            </a:pPr>
            <a:r>
              <a:rPr sz="1400" b="0">
                <a:solidFill>
                  <a:srgbClr val="0F172A"/>
                </a:solidFill>
                <a:latin typeface="Segoe UI"/>
              </a:rPr>
              <a:t>• WGAN-GP: implementar gradient penalty en la D loss.</a:t>
            </a:r>
          </a:p>
          <a:p>
            <a:pPr>
              <a:spcAft>
                <a:spcPts val="800"/>
              </a:spcAft>
              <a:defRPr sz="1400" b="0">
                <a:solidFill>
                  <a:srgbClr val="0F172A"/>
                </a:solidFill>
                <a:latin typeface="Segoe UI"/>
              </a:defRPr>
            </a:pPr>
            <a:r>
              <a:rPr sz="1400" b="0">
                <a:solidFill>
                  <a:srgbClr val="0F172A"/>
                </a:solidFill>
                <a:latin typeface="Segoe UI"/>
              </a:rPr>
              <a:t>• FID: implementar (o usar tensorflow_gan.eval.fid) y reportar FID del modelo.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Generator: Dense(77128) → reshape → Conv2DTranspose × 3 hasta 28×28.</a:t>
            </a:r>
          </a:p>
          <a:p>
            <a:pPr>
              <a:spcAft>
                <a:spcPts val="800"/>
              </a:spcAft>
              <a:defRPr sz="1500" b="0">
                <a:solidFill>
                  <a:srgbClr val="0F172A"/>
                </a:solidFill>
                <a:latin typeface="Segoe UI"/>
              </a:defRPr>
            </a:pPr>
            <a:r>
              <a:rPr sz="1500" b="0">
                <a:solidFill>
                  <a:srgbClr val="0F172A"/>
                </a:solidFill>
                <a:latin typeface="Segoe UI"/>
              </a:rPr>
              <a:t>• Discriminator: Conv2D × 3 → Dense(1).</a:t>
            </a:r>
          </a:p>
          <a:p>
            <a:pPr>
              <a:spcAft>
                <a:spcPts val="800"/>
              </a:spcAft>
              <a:defRPr sz="1500" b="0">
                <a:solidFill>
                  <a:srgbClr val="0F172A"/>
                </a:solidFill>
                <a:latin typeface="Segoe UI"/>
              </a:defRPr>
            </a:pPr>
            <a:r>
              <a:rPr sz="1500" b="0">
                <a:solidFill>
                  <a:srgbClr val="0F172A"/>
                </a:solidFill>
                <a:latin typeface="Segoe UI"/>
              </a:rPr>
              <a:t>• Entrenar 50 épocas; generar grid 8×8.</a:t>
            </a:r>
          </a:p>
          <a:p>
            <a:pPr>
              <a:spcAft>
                <a:spcPts val="800"/>
              </a:spcAft>
              <a:defRPr sz="1500" b="0">
                <a:solidFill>
                  <a:srgbClr val="0F172A"/>
                </a:solidFill>
                <a:latin typeface="Segoe UI"/>
              </a:defRPr>
            </a:pPr>
            <a:r>
              <a:rPr sz="1500" b="0">
                <a:solidFill>
                  <a:srgbClr val="0F172A"/>
                </a:solidFill>
                <a:latin typeface="Segoe UI"/>
              </a:rPr>
              <a:t>• Reportar D_loss y G_loss finales; visual del grid.</a:t>
            </a:r>
          </a:p>
        </p:txBody>
      </p:sp>
    </p:spTree>
  </p:cSld>
  <p:clrMapOvr>
    <a:masterClrMapping/>
  </p:clrMapOvr>
</p:sld>
</file>

<file path=ppt/slides/slide79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159 — Modelos de difusión (+ Stable Diffusion XL, ControlNet, LCM)</a:t>
            </a:r>
          </a:p>
        </p:txBody>
      </p:sp>
    </p:spTree>
  </p:cSld>
  <p:clrMapOvr>
    <a:masterClrMapping/>
  </p:clrMapOvr>
</p:sld>
</file>

<file path=ppt/slides/slide7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159 — Modelos de difusión (+ Stable Diffusion XL, ControlNet, LCM)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17 § Diffusion Models + Ho et al. (2020) DDPM + papers SDXL, ControlNet, LCM.  Duración estimada: 105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modelos de difusión — la familia que destronó a GANs en 2022 (DALL-E 2, Stable Diffusion, Midjourney). Idea: forward process agrega ruido gaussiano gradualmente; reverse process (aprendido) lo elimina paso a paso. Conocer DDPM clásico, latent diffusion (Stable Diffusion), ControlNet para condicionamiento espacial, LCM (Latent Consistency Models) para inference rápida.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un DDPM sencillo: forward q(x_t | x_0), U-Net que predice el ruido ε_θ(x_t, t).</a:t>
            </a:r>
          </a:p>
          <a:p>
            <a:pPr>
              <a:spcAft>
                <a:spcPts val="800"/>
              </a:spcAft>
              <a:defRPr sz="1400" b="0">
                <a:solidFill>
                  <a:srgbClr val="0F172A"/>
                </a:solidFill>
                <a:latin typeface="Segoe UI"/>
              </a:defRPr>
            </a:pPr>
            <a:r>
              <a:rPr sz="1400" b="0">
                <a:solidFill>
                  <a:srgbClr val="0F172A"/>
                </a:solidFill>
                <a:latin typeface="Segoe UI"/>
              </a:rPr>
              <a:t>• Aplicar el sampling DDPM: 1000 steps de denoising desde x_T ~ N(0,I).</a:t>
            </a:r>
          </a:p>
          <a:p>
            <a:pPr>
              <a:spcAft>
                <a:spcPts val="800"/>
              </a:spcAft>
              <a:defRPr sz="1400" b="0">
                <a:solidFill>
                  <a:srgbClr val="0F172A"/>
                </a:solidFill>
                <a:latin typeface="Segoe UI"/>
              </a:defRPr>
            </a:pPr>
            <a:r>
              <a:rPr sz="1400" b="0">
                <a:solidFill>
                  <a:srgbClr val="0F172A"/>
                </a:solidFill>
                <a:latin typeface="Segoe UI"/>
              </a:rPr>
              <a:t>• Reconocer latent diffusion: aplicar difusión en el espacio comprimido de un VAE (1/64 del tamaño) → 8× más rápido.</a:t>
            </a:r>
          </a:p>
          <a:p>
            <a:pPr>
              <a:spcAft>
                <a:spcPts val="800"/>
              </a:spcAft>
              <a:defRPr sz="1400" b="0">
                <a:solidFill>
                  <a:srgbClr val="0F172A"/>
                </a:solidFill>
                <a:latin typeface="Segoe UI"/>
              </a:defRPr>
            </a:pPr>
            <a:r>
              <a:rPr sz="1400" b="0">
                <a:solidFill>
                  <a:srgbClr val="0F172A"/>
                </a:solidFill>
                <a:latin typeface="Segoe UI"/>
              </a:rPr>
              <a:t>• Usar Stable Diffusion XL con diffusers library: prompt → imagen en 3 líneas.</a:t>
            </a:r>
          </a:p>
          <a:p>
            <a:pPr>
              <a:spcAft>
                <a:spcPts val="800"/>
              </a:spcAft>
              <a:defRPr sz="1400" b="0">
                <a:solidFill>
                  <a:srgbClr val="0F172A"/>
                </a:solidFill>
                <a:latin typeface="Segoe UI"/>
              </a:defRPr>
            </a:pPr>
            <a:r>
              <a:rPr sz="1400" b="0">
                <a:solidFill>
                  <a:srgbClr val="0F172A"/>
                </a:solidFill>
                <a:latin typeface="Segoe UI"/>
              </a:rPr>
              <a:t>• Aplicar ControlNet para condicionar generación en pose, edge, depth, segmentation.</a:t>
            </a:r>
          </a:p>
        </p:txBody>
      </p:sp>
    </p:spTree>
  </p:cSld>
  <p:clrMapOvr>
    <a:masterClrMapping/>
  </p:clrMapOvr>
</p:sld>
</file>

<file path=ppt/slides/slide7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159 — Modelos de difusión (+ Stable Diffusion XL, ControlNet, LCM)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Forward process: q(x_t | x_{t-1}) = N(√(1-β_t) x_{t-1}, β_t I).</a:t>
            </a:r>
          </a:p>
          <a:p>
            <a:pPr>
              <a:spcAft>
                <a:spcPts val="1000"/>
              </a:spcAft>
              <a:defRPr sz="1600" b="0">
                <a:solidFill>
                  <a:srgbClr val="0F172A"/>
                </a:solidFill>
                <a:latin typeface="Segoe UI"/>
              </a:defRPr>
            </a:pPr>
            <a:r>
              <a:rPr sz="1600" b="0">
                <a:solidFill>
                  <a:srgbClr val="0F172A"/>
                </a:solidFill>
                <a:latin typeface="Segoe UI"/>
              </a:rPr>
              <a:t>• Closed form: q(x_t | x_0) = N(√α̅_t · x_0, (1-α̅_t) I).</a:t>
            </a:r>
          </a:p>
          <a:p>
            <a:pPr>
              <a:spcAft>
                <a:spcPts val="1000"/>
              </a:spcAft>
              <a:defRPr sz="1600" b="0">
                <a:solidFill>
                  <a:srgbClr val="0F172A"/>
                </a:solidFill>
                <a:latin typeface="Segoe UI"/>
              </a:defRPr>
            </a:pPr>
            <a:r>
              <a:rPr sz="1600" b="0">
                <a:solidFill>
                  <a:srgbClr val="0F172A"/>
                </a:solidFill>
                <a:latin typeface="Segoe UI"/>
              </a:rPr>
              <a:t>• Loss simple (Ho 2020): MSE(ε, ε_θ(x_t, t)) — predecir el ruido.</a:t>
            </a:r>
          </a:p>
          <a:p>
            <a:pPr>
              <a:spcAft>
                <a:spcPts val="1000"/>
              </a:spcAft>
              <a:defRPr sz="1600" b="0">
                <a:solidFill>
                  <a:srgbClr val="0F172A"/>
                </a:solidFill>
                <a:latin typeface="Segoe UI"/>
              </a:defRPr>
            </a:pPr>
            <a:r>
              <a:rPr sz="1600" b="0">
                <a:solidFill>
                  <a:srgbClr val="0F172A"/>
                </a:solidFill>
                <a:latin typeface="Segoe UI"/>
              </a:rPr>
              <a:t>• U-Net architecture (encoder-decoder con skip connections).</a:t>
            </a:r>
          </a:p>
          <a:p>
            <a:pPr>
              <a:spcAft>
                <a:spcPts val="1000"/>
              </a:spcAft>
              <a:defRPr sz="1600" b="0">
                <a:solidFill>
                  <a:srgbClr val="0F172A"/>
                </a:solidFill>
                <a:latin typeface="Segoe UI"/>
              </a:defRPr>
            </a:pPr>
            <a:r>
              <a:rPr sz="1600" b="0">
                <a:solidFill>
                  <a:srgbClr val="0F172A"/>
                </a:solidFill>
                <a:latin typeface="Segoe UI"/>
              </a:rPr>
              <a:t>• Sampling DDPM vs DDIM vs DPM-Solver: 1000 → 50 → 20 steps.</a:t>
            </a:r>
          </a:p>
          <a:p>
            <a:pPr>
              <a:spcAft>
                <a:spcPts val="1000"/>
              </a:spcAft>
              <a:defRPr sz="1600" b="0">
                <a:solidFill>
                  <a:srgbClr val="0F172A"/>
                </a:solidFill>
                <a:latin typeface="Segoe UI"/>
              </a:defRPr>
            </a:pPr>
            <a:r>
              <a:rPr sz="1600" b="0">
                <a:solidFill>
                  <a:srgbClr val="0F172A"/>
                </a:solidFill>
                <a:latin typeface="Segoe UI"/>
              </a:rPr>
              <a:t>• Complemento moderno: Stable Diffusion XL, ControlNet, LCM/Turbo.</a:t>
            </a:r>
          </a:p>
        </p:txBody>
      </p:sp>
    </p:spTree>
  </p:cSld>
  <p:clrMapOvr>
    <a:masterClrMapping/>
  </p:clrMapOvr>
</p:sld>
</file>

<file path=ppt/slides/slide7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159 — Modelos de difusión (+ Stable Diffusion XL, ControlNet, LCM)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from tensorflow.keras import layers</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x_0: una senal 1D limpia (haria las veces de imagen)</a:t>
            </a:r>
          </a:p>
          <a:p>
            <a:pPr>
              <a:defRPr sz="1200" b="0">
                <a:solidFill>
                  <a:srgbClr val="F8FAFC"/>
                </a:solidFill>
                <a:latin typeface="Courier New"/>
              </a:defRPr>
            </a:pPr>
            <a:r>
              <a:rPr sz="1200" b="0">
                <a:solidFill>
                  <a:srgbClr val="F8FAFC"/>
                </a:solidFill>
                <a:latin typeface="Courier New"/>
              </a:rPr>
              <a:t>x0 = np.sin(np.linspace(0, 4 * np.pi, 64)).astype('float32')</a:t>
            </a:r>
          </a:p>
          <a:p>
            <a:pPr>
              <a:defRPr sz="1200" b="0">
                <a:solidFill>
                  <a:srgbClr val="F8FAFC"/>
                </a:solidFill>
                <a:latin typeface="Courier New"/>
              </a:defRPr>
            </a:pPr>
            <a:r>
              <a:rPr sz="1200" b="0">
                <a:solidFill>
                  <a:srgbClr val="F8FAFC"/>
                </a:solidFill>
                <a:latin typeface="Courier New"/>
              </a:rPr>
              <a:t>print('x0 shape:', x0.shape)</a:t>
            </a:r>
          </a:p>
        </p:txBody>
      </p:sp>
    </p:spTree>
  </p:cSld>
  <p:clrMapOvr>
    <a:masterClrMapping/>
  </p:clrMapOvr>
</p:sld>
</file>

<file path=ppt/slides/slide8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159 — Modelos de difusión (+ Stable Diffusion XL, ControlNet, LCM)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DDPM en MNIST: U-Net chico + DDPM scheduler.</a:t>
            </a:r>
          </a:p>
          <a:p>
            <a:pPr>
              <a:spcAft>
                <a:spcPts val="800"/>
              </a:spcAft>
              <a:defRPr sz="1400" b="0">
                <a:solidFill>
                  <a:srgbClr val="0F172A"/>
                </a:solidFill>
                <a:latin typeface="Segoe UI"/>
              </a:defRPr>
            </a:pPr>
            <a:r>
              <a:rPr sz="1400" b="0">
                <a:solidFill>
                  <a:srgbClr val="0F172A"/>
                </a:solidFill>
                <a:latin typeface="Segoe UI"/>
              </a:rPr>
              <a:t>• SDXL inference: cargar SDXL y generar 4 imágenes desde prompts.</a:t>
            </a:r>
          </a:p>
          <a:p>
            <a:pPr>
              <a:spcAft>
                <a:spcPts val="800"/>
              </a:spcAft>
              <a:defRPr sz="1400" b="0">
                <a:solidFill>
                  <a:srgbClr val="0F172A"/>
                </a:solidFill>
                <a:latin typeface="Segoe UI"/>
              </a:defRPr>
            </a:pPr>
            <a:r>
              <a:rPr sz="1400" b="0">
                <a:solidFill>
                  <a:srgbClr val="0F172A"/>
                </a:solidFill>
                <a:latin typeface="Segoe UI"/>
              </a:rPr>
              <a:t>• CFG: variar guidance_scale ∈ {1, 5, 15}.</a:t>
            </a:r>
          </a:p>
          <a:p>
            <a:pPr>
              <a:spcAft>
                <a:spcPts val="800"/>
              </a:spcAft>
              <a:defRPr sz="1400" b="0">
                <a:solidFill>
                  <a:srgbClr val="0F172A"/>
                </a:solidFill>
                <a:latin typeface="Segoe UI"/>
              </a:defRPr>
            </a:pPr>
            <a:r>
              <a:rPr sz="1400" b="0">
                <a:solidFill>
                  <a:srgbClr val="0F172A"/>
                </a:solidFill>
                <a:latin typeface="Segoe UI"/>
              </a:rPr>
              <a:t>• ControlNet Canny: tomar una foto, extraer bordes con OpenCV, generar variantes condicionadas con SDXL+ControlNet.</a:t>
            </a:r>
          </a:p>
          <a:p>
            <a:pPr>
              <a:spcAft>
                <a:spcPts val="800"/>
              </a:spcAft>
              <a:defRPr sz="1400" b="0">
                <a:solidFill>
                  <a:srgbClr val="0F172A"/>
                </a:solidFill>
                <a:latin typeface="Segoe UI"/>
              </a:defRPr>
            </a:pPr>
            <a:r>
              <a:rPr sz="1400" b="0">
                <a:solidFill>
                  <a:srgbClr val="0F172A"/>
                </a:solidFill>
                <a:latin typeface="Segoe UI"/>
              </a:rPr>
              <a:t>• LCM: comparar SDXL base (30 steps) vs SDXL + LCM-LoRA (4 steps).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Imagen base (e.g., una foto de un edificio).</a:t>
            </a:r>
          </a:p>
          <a:p>
            <a:pPr>
              <a:spcAft>
                <a:spcPts val="800"/>
              </a:spcAft>
              <a:defRPr sz="1500" b="0">
                <a:solidFill>
                  <a:srgbClr val="0F172A"/>
                </a:solidFill>
                <a:latin typeface="Segoe UI"/>
              </a:defRPr>
            </a:pPr>
            <a:r>
              <a:rPr sz="1500" b="0">
                <a:solidFill>
                  <a:srgbClr val="0F172A"/>
                </a:solidFill>
                <a:latin typeface="Segoe UI"/>
              </a:rPr>
              <a:t>• Extraer Canny con OpenCV.</a:t>
            </a:r>
          </a:p>
          <a:p>
            <a:pPr>
              <a:spcAft>
                <a:spcPts val="800"/>
              </a:spcAft>
              <a:defRPr sz="1500" b="0">
                <a:solidFill>
                  <a:srgbClr val="0F172A"/>
                </a:solidFill>
                <a:latin typeface="Segoe UI"/>
              </a:defRPr>
            </a:pPr>
            <a:r>
              <a:rPr sz="1500" b="0">
                <a:solidFill>
                  <a:srgbClr val="0F172A"/>
                </a:solidFill>
                <a:latin typeface="Segoe UI"/>
              </a:rPr>
              <a:t>• Generar 3 variantes con SDXL+ControlNet con prompts distintos.</a:t>
            </a:r>
          </a:p>
          <a:p>
            <a:pPr>
              <a:spcAft>
                <a:spcPts val="800"/>
              </a:spcAft>
              <a:defRPr sz="1500" b="0">
                <a:solidFill>
                  <a:srgbClr val="0F172A"/>
                </a:solidFill>
                <a:latin typeface="Segoe UI"/>
              </a:defRPr>
            </a:pPr>
            <a:r>
              <a:rPr sz="1500" b="0">
                <a:solidFill>
                  <a:srgbClr val="0F172A"/>
                </a:solidFill>
                <a:latin typeface="Segoe UI"/>
              </a:rPr>
              <a:t>• Comparar tiempo SDXL vs SDXL+LCM.</a:t>
            </a:r>
          </a:p>
        </p:txBody>
      </p:sp>
    </p:spTree>
  </p:cSld>
  <p:clrMapOvr>
    <a:masterClrMapping/>
  </p:clrMapOvr>
</p:sld>
</file>

<file path=ppt/slides/slide80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160 — Stable Diffusion XL + ControlNet en profundidad</a:t>
            </a:r>
          </a:p>
        </p:txBody>
      </p:sp>
    </p:spTree>
  </p:cSld>
  <p:clrMapOvr>
    <a:masterClrMapping/>
  </p:clrMapOvr>
</p:sld>
</file>

<file path=ppt/slides/slide8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160 — Stable Diffusion XL + ControlNet en profundidad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Rombach et al. (2022) SD + Podell et al. (2023) SDXL + Zhang et al. (2023) ControlNet.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Stable Diffusion XL (Stability AI 2023) en producción: pipeline completo (text encoder dual, U-Net, VAE), schedulers modernos (DPM-Solver++, Euler ancestral, UniPC), CFG (Classifier-Free Guidance), prompt weighting. Combinar con ControlNet para condicionamiento espacial (Canny, depth, pose, segmentation, lineart). Conocer Flux (Black Forest Labs 2024) como sucesor open-source.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SDXL: StableDiffusionXLPipeline.from_pretrained('stabilityai/stable-diffusion-xl-base-1.0').</a:t>
            </a:r>
          </a:p>
          <a:p>
            <a:pPr>
              <a:spcAft>
                <a:spcPts val="800"/>
              </a:spcAft>
              <a:defRPr sz="1400" b="0">
                <a:solidFill>
                  <a:srgbClr val="0F172A"/>
                </a:solidFill>
                <a:latin typeface="Segoe UI"/>
              </a:defRPr>
            </a:pPr>
            <a:r>
              <a:rPr sz="1400" b="0">
                <a:solidFill>
                  <a:srgbClr val="0F172A"/>
                </a:solidFill>
                <a:latin typeface="Segoe UI"/>
              </a:rPr>
              <a:t>• Aplicar refiner opcional para detalle final.</a:t>
            </a:r>
          </a:p>
          <a:p>
            <a:pPr>
              <a:spcAft>
                <a:spcPts val="800"/>
              </a:spcAft>
              <a:defRPr sz="1400" b="0">
                <a:solidFill>
                  <a:srgbClr val="0F172A"/>
                </a:solidFill>
                <a:latin typeface="Segoe UI"/>
              </a:defRPr>
            </a:pPr>
            <a:r>
              <a:rPr sz="1400" b="0">
                <a:solidFill>
                  <a:srgbClr val="0F172A"/>
                </a:solidFill>
                <a:latin typeface="Segoe UI"/>
              </a:rPr>
              <a:t>• Usar schedulers distintos y entender trade-off speed/quality.</a:t>
            </a:r>
          </a:p>
          <a:p>
            <a:pPr>
              <a:spcAft>
                <a:spcPts val="800"/>
              </a:spcAft>
              <a:defRPr sz="1400" b="0">
                <a:solidFill>
                  <a:srgbClr val="0F172A"/>
                </a:solidFill>
                <a:latin typeface="Segoe UI"/>
              </a:defRPr>
            </a:pPr>
            <a:r>
              <a:rPr sz="1400" b="0">
                <a:solidFill>
                  <a:srgbClr val="0F172A"/>
                </a:solidFill>
                <a:latin typeface="Segoe UI"/>
              </a:rPr>
              <a:t>• Agregar ControlNet (canny, depth, openpose) sobre SDXL.</a:t>
            </a:r>
          </a:p>
          <a:p>
            <a:pPr>
              <a:spcAft>
                <a:spcPts val="800"/>
              </a:spcAft>
              <a:defRPr sz="1400" b="0">
                <a:solidFill>
                  <a:srgbClr val="0F172A"/>
                </a:solidFill>
                <a:latin typeface="Segoe UI"/>
              </a:defRPr>
            </a:pPr>
            <a:r>
              <a:rPr sz="1400" b="0">
                <a:solidFill>
                  <a:srgbClr val="0F172A"/>
                </a:solidFill>
                <a:latin typeface="Segoe UI"/>
              </a:rPr>
              <a:t>• Aplicar LoRA para estilo custom (pipe.load_lora_weights('path')).</a:t>
            </a:r>
          </a:p>
        </p:txBody>
      </p:sp>
    </p:spTree>
  </p:cSld>
  <p:clrMapOvr>
    <a:masterClrMapping/>
  </p:clrMapOvr>
</p:sld>
</file>

<file path=ppt/slides/slide8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160 — Stable Diffusion XL + ControlNet en profundidad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Pipeline SDXL: text_encoder_1 (CLIP-L), text_encoder_2 (CLIP-G), U-Net 2.6B params, VAE.</a:t>
            </a:r>
          </a:p>
          <a:p>
            <a:pPr>
              <a:spcAft>
                <a:spcPts val="1000"/>
              </a:spcAft>
              <a:defRPr sz="1600" b="0">
                <a:solidFill>
                  <a:srgbClr val="0F172A"/>
                </a:solidFill>
                <a:latin typeface="Segoe UI"/>
              </a:defRPr>
            </a:pPr>
            <a:r>
              <a:rPr sz="1600" b="0">
                <a:solidFill>
                  <a:srgbClr val="0F172A"/>
                </a:solidFill>
                <a:latin typeface="Segoe UI"/>
              </a:rPr>
              <a:t>• Schedulers: DDIM (50 steps), DPM-Solver++ (20 steps), Euler ancestral (creative), UniPC (10-20 steps).</a:t>
            </a:r>
          </a:p>
          <a:p>
            <a:pPr>
              <a:spcAft>
                <a:spcPts val="1000"/>
              </a:spcAft>
              <a:defRPr sz="1600" b="0">
                <a:solidFill>
                  <a:srgbClr val="0F172A"/>
                </a:solidFill>
                <a:latin typeface="Segoe UI"/>
              </a:defRPr>
            </a:pPr>
            <a:r>
              <a:rPr sz="1600" b="0">
                <a:solidFill>
                  <a:srgbClr val="0F172A"/>
                </a:solidFill>
                <a:latin typeface="Segoe UI"/>
              </a:rPr>
              <a:t>• CFG: guidance_scale=7.5 default; &gt; 12 over-fitting al prompt.</a:t>
            </a:r>
          </a:p>
          <a:p>
            <a:pPr>
              <a:spcAft>
                <a:spcPts val="1000"/>
              </a:spcAft>
              <a:defRPr sz="1600" b="0">
                <a:solidFill>
                  <a:srgbClr val="0F172A"/>
                </a:solidFill>
                <a:latin typeface="Segoe UI"/>
              </a:defRPr>
            </a:pPr>
            <a:r>
              <a:rPr sz="1600" b="0">
                <a:solidFill>
                  <a:srgbClr val="0F172A"/>
                </a:solidFill>
                <a:latin typeface="Segoe UI"/>
              </a:rPr>
              <a:t>• Negative prompts.</a:t>
            </a:r>
          </a:p>
          <a:p>
            <a:pPr>
              <a:spcAft>
                <a:spcPts val="1000"/>
              </a:spcAft>
              <a:defRPr sz="1600" b="0">
                <a:solidFill>
                  <a:srgbClr val="0F172A"/>
                </a:solidFill>
                <a:latin typeface="Segoe UI"/>
              </a:defRPr>
            </a:pPr>
            <a:r>
              <a:rPr sz="1600" b="0">
                <a:solidFill>
                  <a:srgbClr val="0F172A"/>
                </a:solidFill>
                <a:latin typeface="Segoe UI"/>
              </a:rPr>
              <a:t>• Refiner (paso opcional adicional).</a:t>
            </a:r>
          </a:p>
          <a:p>
            <a:pPr>
              <a:spcAft>
                <a:spcPts val="1000"/>
              </a:spcAft>
              <a:defRPr sz="1600" b="0">
                <a:solidFill>
                  <a:srgbClr val="0F172A"/>
                </a:solidFill>
                <a:latin typeface="Segoe UI"/>
              </a:defRPr>
            </a:pPr>
            <a:r>
              <a:rPr sz="1600" b="0">
                <a:solidFill>
                  <a:srgbClr val="0F172A"/>
                </a:solidFill>
                <a:latin typeface="Segoe UI"/>
              </a:rPr>
              <a:t>• ControlNet variantes: Canny, Depth, OpenPose, Scribble, Lineart, MLSD, Tile.</a:t>
            </a:r>
          </a:p>
        </p:txBody>
      </p:sp>
    </p:spTree>
  </p:cSld>
  <p:clrMapOvr>
    <a:masterClrMapping/>
  </p:clrMapOvr>
</p:sld>
</file>

<file path=ppt/slides/slide8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160 — Stable Diffusion XL + ControlNet en profundidad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Fallback CPU-friendly: implementamos forward diffusion sobre imagen 32×32 sintética, un denoiser MLP, y simulamos ControlNet con Canny edges.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DIFFUSERS_OK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diffusers  # noqa</a:t>
            </a:r>
          </a:p>
          <a:p>
            <a:pPr>
              <a:defRPr sz="1200" b="0">
                <a:solidFill>
                  <a:srgbClr val="F8FAFC"/>
                </a:solidFill>
                <a:latin typeface="Courier New"/>
              </a:defRPr>
            </a:pPr>
            <a:r>
              <a:rPr sz="1200" b="0">
                <a:solidFill>
                  <a:srgbClr val="F8FAFC"/>
                </a:solidFill>
                <a:latin typeface="Courier New"/>
              </a:rPr>
              <a:t>    DIFFUSERS_OK = True</a:t>
            </a:r>
          </a:p>
          <a:p>
            <a:pPr>
              <a:defRPr sz="1200" b="0">
                <a:solidFill>
                  <a:srgbClr val="F8FAFC"/>
                </a:solidFill>
                <a:latin typeface="Courier New"/>
              </a:defRPr>
            </a:pPr>
            <a:r>
              <a:rPr sz="1200" b="0">
                <a:solidFill>
                  <a:srgbClr val="F8FAFC"/>
                </a:solidFill>
                <a:latin typeface="Courier New"/>
              </a:rPr>
              <a:t>    print('diffusers disponible (pero requiere GPU para SDXL real)')</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print('diffusers no disponible → usando fallback DDPM toy')</a:t>
            </a:r>
          </a:p>
        </p:txBody>
      </p:sp>
    </p:spTree>
  </p:cSld>
  <p:clrMapOvr>
    <a:masterClrMapping/>
  </p:clrMapOvr>
</p:sld>
</file>

<file path=ppt/slides/slide8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160 — Stable Diffusion XL + ControlNet en profundidad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SDXL básico: prompt → imagen 1024².</a:t>
            </a:r>
          </a:p>
          <a:p>
            <a:pPr>
              <a:spcAft>
                <a:spcPts val="800"/>
              </a:spcAft>
              <a:defRPr sz="1400" b="0">
                <a:solidFill>
                  <a:srgbClr val="0F172A"/>
                </a:solidFill>
                <a:latin typeface="Segoe UI"/>
              </a:defRPr>
            </a:pPr>
            <a:r>
              <a:rPr sz="1400" b="0">
                <a:solidFill>
                  <a:srgbClr val="0F172A"/>
                </a:solidFill>
                <a:latin typeface="Segoe UI"/>
              </a:rPr>
              <a:t>• CFG sweep: guidance_scale ∈ {3, 7.5, 12, 18}.</a:t>
            </a:r>
          </a:p>
          <a:p>
            <a:pPr>
              <a:spcAft>
                <a:spcPts val="800"/>
              </a:spcAft>
              <a:defRPr sz="1400" b="0">
                <a:solidFill>
                  <a:srgbClr val="0F172A"/>
                </a:solidFill>
                <a:latin typeface="Segoe UI"/>
              </a:defRPr>
            </a:pPr>
            <a:r>
              <a:rPr sz="1400" b="0">
                <a:solidFill>
                  <a:srgbClr val="0F172A"/>
                </a:solidFill>
                <a:latin typeface="Segoe UI"/>
              </a:rPr>
              <a:t>• Negative prompt: agregar "blurry, watermark, low quality" y comparar.</a:t>
            </a:r>
          </a:p>
          <a:p>
            <a:pPr>
              <a:spcAft>
                <a:spcPts val="800"/>
              </a:spcAft>
              <a:defRPr sz="1400" b="0">
                <a:solidFill>
                  <a:srgbClr val="0F172A"/>
                </a:solidFill>
                <a:latin typeface="Segoe UI"/>
              </a:defRPr>
            </a:pPr>
            <a:r>
              <a:rPr sz="1400" b="0">
                <a:solidFill>
                  <a:srgbClr val="0F172A"/>
                </a:solidFill>
                <a:latin typeface="Segoe UI"/>
              </a:rPr>
              <a:t>• ControlNet Canny: extraer Canny de una foto, generar variante manteniendo estructura.</a:t>
            </a:r>
          </a:p>
          <a:p>
            <a:pPr>
              <a:spcAft>
                <a:spcPts val="800"/>
              </a:spcAft>
              <a:defRPr sz="1400" b="0">
                <a:solidFill>
                  <a:srgbClr val="0F172A"/>
                </a:solidFill>
                <a:latin typeface="Segoe UI"/>
              </a:defRPr>
            </a:pPr>
            <a:r>
              <a:rPr sz="1400" b="0">
                <a:solidFill>
                  <a:srgbClr val="0F172A"/>
                </a:solidFill>
                <a:latin typeface="Segoe UI"/>
              </a:rPr>
              <a:t>• LoRA estilo: cargar un LoRA de estilo (CivitAI), aplicar.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Foto base → Canny.</a:t>
            </a:r>
          </a:p>
          <a:p>
            <a:pPr>
              <a:spcAft>
                <a:spcPts val="800"/>
              </a:spcAft>
              <a:defRPr sz="1500" b="0">
                <a:solidFill>
                  <a:srgbClr val="0F172A"/>
                </a:solidFill>
                <a:latin typeface="Segoe UI"/>
              </a:defRPr>
            </a:pPr>
            <a:r>
              <a:rPr sz="1500" b="0">
                <a:solidFill>
                  <a:srgbClr val="0F172A"/>
                </a:solidFill>
                <a:latin typeface="Segoe UI"/>
              </a:rPr>
              <a:t>• SDXL + ControlNet, prompt + LoRA estilo.</a:t>
            </a:r>
          </a:p>
          <a:p>
            <a:pPr>
              <a:spcAft>
                <a:spcPts val="800"/>
              </a:spcAft>
              <a:defRPr sz="1500" b="0">
                <a:solidFill>
                  <a:srgbClr val="0F172A"/>
                </a:solidFill>
                <a:latin typeface="Segoe UI"/>
              </a:defRPr>
            </a:pPr>
            <a:r>
              <a:rPr sz="1500" b="0">
                <a:solidFill>
                  <a:srgbClr val="0F172A"/>
                </a:solidFill>
                <a:latin typeface="Segoe UI"/>
              </a:rPr>
              <a:t>• Generar 4 variantes; comparar.</a:t>
            </a:r>
          </a:p>
          <a:p>
            <a:pPr>
              <a:spcAft>
                <a:spcPts val="800"/>
              </a:spcAft>
              <a:defRPr sz="1500" b="0">
                <a:solidFill>
                  <a:srgbClr val="0F172A"/>
                </a:solidFill>
                <a:latin typeface="Segoe UI"/>
              </a:defRPr>
            </a:pPr>
            <a:r>
              <a:rPr sz="1500" b="0">
                <a:solidFill>
                  <a:srgbClr val="0F172A"/>
                </a:solidFill>
                <a:latin typeface="Segoe UI"/>
              </a:rPr>
              <a:t>• Reportar tiempo y memoria.</a:t>
            </a:r>
          </a:p>
        </p:txBody>
      </p:sp>
    </p:spTree>
  </p:cSld>
  <p:clrMapOvr>
    <a:masterClrMapping/>
  </p:clrMapOvr>
</p:sld>
</file>

<file path=ppt/slides/slide80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161 — RL: aprendizaje por recompensa, Gymnasium (Farama)</a:t>
            </a:r>
          </a:p>
        </p:txBody>
      </p:sp>
    </p:spTree>
  </p:cSld>
  <p:clrMapOvr>
    <a:masterClrMapping/>
  </p:clrMapOvr>
</p:sld>
</file>

<file path=ppt/slides/slide8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161 — RL: aprendizaje por recompensa, Gymnasium (Farama)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18 § Introduction to Reinforcement Learning + docs Gymnasium.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el paradigma de Reinforcement Learning — un agente interactúa con un environment, observa states, toma actions, recibe rewards, y aprende una policy que maximiza recompensa acumulada. Conocer Gymnasium (Farama Foundation, fork del antiguo OpenAI Gym que dejó de mantenerse en 2022) — la librería estándar de environments para benchmarks.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los 5 componentes RL: agent, environment, state, action, reward.</a:t>
            </a:r>
          </a:p>
          <a:p>
            <a:pPr>
              <a:spcAft>
                <a:spcPts val="800"/>
              </a:spcAft>
              <a:defRPr sz="1400" b="0">
                <a:solidFill>
                  <a:srgbClr val="0F172A"/>
                </a:solidFill>
                <a:latin typeface="Segoe UI"/>
              </a:defRPr>
            </a:pPr>
            <a:r>
              <a:rPr sz="1400" b="0">
                <a:solidFill>
                  <a:srgbClr val="0F172A"/>
                </a:solidFill>
                <a:latin typeface="Segoe UI"/>
              </a:rPr>
              <a:t>• Usar gymnasium: env = gym.make('CartPole-v1'); obs, _ = env.reset(); obs, reward, terminated, truncated, info = env.step(action).</a:t>
            </a:r>
          </a:p>
          <a:p>
            <a:pPr>
              <a:spcAft>
                <a:spcPts val="800"/>
              </a:spcAft>
              <a:defRPr sz="1400" b="0">
                <a:solidFill>
                  <a:srgbClr val="0F172A"/>
                </a:solidFill>
                <a:latin typeface="Segoe UI"/>
              </a:defRPr>
            </a:pPr>
            <a:r>
              <a:rPr sz="1400" b="0">
                <a:solidFill>
                  <a:srgbClr val="0F172A"/>
                </a:solidFill>
                <a:latin typeface="Segoe UI"/>
              </a:rPr>
              <a:t>• Implementar un policy random como baseline.</a:t>
            </a:r>
          </a:p>
          <a:p>
            <a:pPr>
              <a:spcAft>
                <a:spcPts val="800"/>
              </a:spcAft>
              <a:defRPr sz="1400" b="0">
                <a:solidFill>
                  <a:srgbClr val="0F172A"/>
                </a:solidFill>
                <a:latin typeface="Segoe UI"/>
              </a:defRPr>
            </a:pPr>
            <a:r>
              <a:rPr sz="1400" b="0">
                <a:solidFill>
                  <a:srgbClr val="0F172A"/>
                </a:solidFill>
                <a:latin typeface="Segoe UI"/>
              </a:rPr>
              <a:t>• Reconocer la diferencia entre on-policy (PPO, A2C) y off-policy (DQN, SAC).</a:t>
            </a:r>
          </a:p>
          <a:p>
            <a:pPr>
              <a:spcAft>
                <a:spcPts val="800"/>
              </a:spcAft>
              <a:defRPr sz="1400" b="0">
                <a:solidFill>
                  <a:srgbClr val="0F172A"/>
                </a:solidFill>
                <a:latin typeface="Segoe UI"/>
              </a:defRPr>
            </a:pPr>
            <a:r>
              <a:rPr sz="1400" b="0">
                <a:solidFill>
                  <a:srgbClr val="0F172A"/>
                </a:solidFill>
                <a:latin typeface="Segoe UI"/>
              </a:rPr>
              <a:t>• Saber dónde RL es apropiado (juegos, robótica, navegación) vs donde no (clasificación, regresión típicas).</a:t>
            </a:r>
          </a:p>
        </p:txBody>
      </p:sp>
    </p:spTree>
  </p:cSld>
  <p:clrMapOvr>
    <a:masterClrMapping/>
  </p:clrMapOvr>
</p:sld>
</file>

<file path=ppt/slides/slide8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161 — RL: aprendizaje por recompensa, Gymnasium (Farama)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Bloque básico: state → action → reward → next_state.</a:t>
            </a:r>
          </a:p>
          <a:p>
            <a:pPr>
              <a:spcAft>
                <a:spcPts val="1000"/>
              </a:spcAft>
              <a:defRPr sz="1600" b="0">
                <a:solidFill>
                  <a:srgbClr val="0F172A"/>
                </a:solidFill>
                <a:latin typeface="Segoe UI"/>
              </a:defRPr>
            </a:pPr>
            <a:r>
              <a:rPr sz="1600" b="0">
                <a:solidFill>
                  <a:srgbClr val="0F172A"/>
                </a:solidFill>
                <a:latin typeface="Segoe UI"/>
              </a:rPr>
              <a:t>• Episodic vs continuous tasks.</a:t>
            </a:r>
          </a:p>
          <a:p>
            <a:pPr>
              <a:spcAft>
                <a:spcPts val="1000"/>
              </a:spcAft>
              <a:defRPr sz="1600" b="0">
                <a:solidFill>
                  <a:srgbClr val="0F172A"/>
                </a:solidFill>
                <a:latin typeface="Segoe UI"/>
              </a:defRPr>
            </a:pPr>
            <a:r>
              <a:rPr sz="1600" b="0">
                <a:solidFill>
                  <a:srgbClr val="0F172A"/>
                </a:solidFill>
                <a:latin typeface="Segoe UI"/>
              </a:rPr>
              <a:t>• Discrete vs continuous action spaces.</a:t>
            </a:r>
          </a:p>
          <a:p>
            <a:pPr>
              <a:spcAft>
                <a:spcPts val="1000"/>
              </a:spcAft>
              <a:defRPr sz="1600" b="0">
                <a:solidFill>
                  <a:srgbClr val="0F172A"/>
                </a:solidFill>
                <a:latin typeface="Segoe UI"/>
              </a:defRPr>
            </a:pPr>
            <a:r>
              <a:rPr sz="1600" b="0">
                <a:solidFill>
                  <a:srgbClr val="0F172A"/>
                </a:solidFill>
                <a:latin typeface="Segoe UI"/>
              </a:rPr>
              <a:t>• Discount factor γ: balance entre recompensa inmediata y futura.</a:t>
            </a:r>
          </a:p>
          <a:p>
            <a:pPr>
              <a:spcAft>
                <a:spcPts val="1000"/>
              </a:spcAft>
              <a:defRPr sz="1600" b="0">
                <a:solidFill>
                  <a:srgbClr val="0F172A"/>
                </a:solidFill>
                <a:latin typeface="Segoe UI"/>
              </a:defRPr>
            </a:pPr>
            <a:r>
              <a:rPr sz="1600" b="0">
                <a:solidFill>
                  <a:srgbClr val="0F172A"/>
                </a:solidFill>
                <a:latin typeface="Segoe UI"/>
              </a:rPr>
              <a:t>• Gymnasium API estándar (reset, step).</a:t>
            </a:r>
          </a:p>
          <a:p>
            <a:pPr>
              <a:spcAft>
                <a:spcPts val="1000"/>
              </a:spcAft>
              <a:defRPr sz="1600" b="0">
                <a:solidFill>
                  <a:srgbClr val="0F172A"/>
                </a:solidFill>
                <a:latin typeface="Segoe UI"/>
              </a:defRPr>
            </a:pPr>
            <a:r>
              <a:rPr sz="1600" b="0">
                <a:solidFill>
                  <a:srgbClr val="0F172A"/>
                </a:solidFill>
                <a:latin typeface="Segoe UI"/>
              </a:rPr>
              <a:t>• Environments populares: CartPole, MountainCar, Atari, MuJoCo, BipedalWalker.</a:t>
            </a:r>
          </a:p>
        </p:txBody>
      </p:sp>
    </p:spTree>
  </p:cSld>
  <p:clrMapOvr>
    <a:masterClrMapping/>
  </p:clrMapOvr>
</p:sld>
</file>

<file path=ppt/slides/slide8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161 — RL: aprendizaje por recompensa, Gymnasium (Farama)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gymnasium as gym</a:t>
            </a:r>
          </a:p>
          <a:p>
            <a:pPr>
              <a:defRPr sz="1200" b="0">
                <a:solidFill>
                  <a:srgbClr val="F8FAFC"/>
                </a:solidFill>
                <a:latin typeface="Courier New"/>
              </a:defRPr>
            </a:pPr>
            <a:r>
              <a:rPr sz="1200" b="0">
                <a:solidFill>
                  <a:srgbClr val="F8FAFC"/>
                </a:solidFill>
                <a:latin typeface="Courier New"/>
              </a:rPr>
              <a:t>    GYM_OK = True</a:t>
            </a:r>
          </a:p>
          <a:p>
            <a:pPr>
              <a:defRPr sz="1200" b="0">
                <a:solidFill>
                  <a:srgbClr val="F8FAFC"/>
                </a:solidFill>
                <a:latin typeface="Courier New"/>
              </a:defRPr>
            </a:pPr>
            <a:r>
              <a:rPr sz="1200" b="0">
                <a:solidFill>
                  <a:srgbClr val="F8FAFC"/>
                </a:solidFill>
                <a:latin typeface="Courier New"/>
              </a:rPr>
              <a:t>    print("gymnasium", gym.__version__)</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GYM_OK = False</a:t>
            </a:r>
          </a:p>
          <a:p>
            <a:pPr>
              <a:defRPr sz="1200" b="0">
                <a:solidFill>
                  <a:srgbClr val="F8FAFC"/>
                </a:solidFill>
                <a:latin typeface="Courier New"/>
              </a:defRPr>
            </a:pPr>
            <a:r>
              <a:rPr sz="1200" b="0">
                <a:solidFill>
                  <a:srgbClr val="F8FAFC"/>
                </a:solidFill>
                <a:latin typeface="Courier New"/>
              </a:rPr>
              <a:t>    print("gymnasium no instalado -&gt; se muestra la API correcta (celdas de gym no se ejecutan)")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GYM_OK:</a:t>
            </a:r>
          </a:p>
          <a:p>
            <a:pPr>
              <a:defRPr sz="1200" b="0">
                <a:solidFill>
                  <a:srgbClr val="F8FAFC"/>
                </a:solidFill>
                <a:latin typeface="Courier New"/>
              </a:defRPr>
            </a:pPr>
            <a:r>
              <a:rPr sz="1200" b="0">
                <a:solidFill>
                  <a:srgbClr val="F8FAFC"/>
                </a:solidFill>
                <a:latin typeface="Courier New"/>
              </a:rPr>
              <a:t>    env = gym.make("CartPole-v1")</a:t>
            </a:r>
          </a:p>
          <a:p>
            <a:pPr>
              <a:defRPr sz="1200" b="0">
                <a:solidFill>
                  <a:srgbClr val="F8FAFC"/>
                </a:solidFill>
                <a:latin typeface="Courier New"/>
              </a:defRPr>
            </a:pPr>
            <a:r>
              <a:rPr sz="1200" b="0">
                <a:solidFill>
                  <a:srgbClr val="F8FAFC"/>
                </a:solidFill>
                <a:latin typeface="Courier New"/>
              </a:rPr>
              <a:t>    print("observation_space:", env.observation_space)   # Box(4,) float32</a:t>
            </a:r>
          </a:p>
          <a:p>
            <a:pPr>
              <a:defRPr sz="1200" b="0">
                <a:solidFill>
                  <a:srgbClr val="F8FAFC"/>
                </a:solidFill>
                <a:latin typeface="Courier New"/>
              </a:defRPr>
            </a:pPr>
            <a:r>
              <a:rPr sz="1200" b="0">
                <a:solidFill>
                  <a:srgbClr val="F8FAFC"/>
                </a:solidFill>
                <a:latin typeface="Courier New"/>
              </a:rPr>
              <a:t>    print("action_space:     ", env.action_space)        # Discrete(2): 0=izq, 1=der</a:t>
            </a:r>
          </a:p>
          <a:p>
            <a:pPr>
              <a:defRPr sz="1200" b="0">
                <a:solidFill>
                  <a:srgbClr val="F8FAFC"/>
                </a:solidFill>
                <a:latin typeface="Courier New"/>
              </a:defRPr>
            </a:pPr>
            <a:r>
              <a:rPr sz="1200" b="0">
                <a:solidFill>
                  <a:srgbClr val="F8FAFC"/>
                </a:solidFill>
                <a:latin typeface="Courier New"/>
              </a:rPr>
              <a:t>    env.close()</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print("API:  env = gym.make('CartPole-v1')")</a:t>
            </a:r>
          </a:p>
          <a:p>
            <a:pPr>
              <a:defRPr sz="1200" b="0">
                <a:solidFill>
                  <a:srgbClr val="F8FAFC"/>
                </a:solidFill>
                <a:latin typeface="Courier New"/>
              </a:defRPr>
            </a:pPr>
            <a:r>
              <a:rPr sz="1200" b="0">
                <a:solidFill>
                  <a:srgbClr val="F8FAFC"/>
                </a:solidFill>
                <a:latin typeface="Courier New"/>
              </a:rPr>
              <a:t>    print("      observation_space -&gt; Box([pos, vel, angulo, vel_ang], (4,), float32)")</a:t>
            </a:r>
          </a:p>
          <a:p>
            <a:pPr>
              <a:defRPr sz="1200" b="0">
                <a:solidFill>
                  <a:srgbClr val="F8FAFC"/>
                </a:solidFill>
                <a:latin typeface="Courier New"/>
              </a:defRPr>
            </a:pPr>
            <a:r>
              <a:rPr sz="1200" b="0">
                <a:solidFill>
                  <a:srgbClr val="F8FAFC"/>
                </a:solidFill>
                <a:latin typeface="Courier New"/>
              </a:rPr>
              <a:t>    print("      action_space      -&gt; Discrete(2)  # 0=empujar izquierda, 1=empujar derecha")</a:t>
            </a:r>
          </a:p>
        </p:txBody>
      </p:sp>
    </p:spTree>
  </p:cSld>
  <p:clrMapOvr>
    <a:masterClrMapping/>
  </p:clrMapOvr>
</p:sld>
</file>

<file path=ppt/slides/slide8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161 — RL: aprendizaje por recompensa, Gymnasium (Farama)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Entorno básico: env = gym.make('CartPole-v1', render_mode='human').</a:t>
            </a:r>
          </a:p>
          <a:p>
            <a:pPr>
              <a:spcAft>
                <a:spcPts val="800"/>
              </a:spcAft>
              <a:defRPr sz="1400" b="0">
                <a:solidFill>
                  <a:srgbClr val="0F172A"/>
                </a:solidFill>
                <a:latin typeface="Segoe UI"/>
              </a:defRPr>
            </a:pPr>
            <a:r>
              <a:rPr sz="1400" b="0">
                <a:solidFill>
                  <a:srgbClr val="0F172A"/>
                </a:solidFill>
                <a:latin typeface="Segoe UI"/>
              </a:rPr>
              <a:t>• Estructura del state: imprimir env.observation_space y env.action_space para CartPole, MountainCar, LunarLander.</a:t>
            </a:r>
          </a:p>
          <a:p>
            <a:pPr>
              <a:spcAft>
                <a:spcPts val="800"/>
              </a:spcAft>
              <a:defRPr sz="1400" b="0">
                <a:solidFill>
                  <a:srgbClr val="0F172A"/>
                </a:solidFill>
                <a:latin typeface="Segoe UI"/>
              </a:defRPr>
            </a:pPr>
            <a:r>
              <a:rPr sz="1400" b="0">
                <a:solidFill>
                  <a:srgbClr val="0F172A"/>
                </a:solidFill>
                <a:latin typeface="Segoe UI"/>
              </a:rPr>
              <a:t>• Policy heurística: para CartPole, action = 0 if pole_angle &lt; 0 else 1 (push opuesto al tilt).</a:t>
            </a:r>
          </a:p>
          <a:p>
            <a:pPr>
              <a:spcAft>
                <a:spcPts val="800"/>
              </a:spcAft>
              <a:defRPr sz="1400" b="0">
                <a:solidFill>
                  <a:srgbClr val="0F172A"/>
                </a:solidFill>
                <a:latin typeface="Segoe UI"/>
              </a:defRPr>
            </a:pPr>
            <a:r>
              <a:rPr sz="1400" b="0">
                <a:solidFill>
                  <a:srgbClr val="0F172A"/>
                </a:solidFill>
                <a:latin typeface="Segoe UI"/>
              </a:rPr>
              <a:t>• Return discounted: calcular G_t = Σ γ^k r_{t+k} con γ=0.99 sobre un episodio.</a:t>
            </a:r>
          </a:p>
          <a:p>
            <a:pPr>
              <a:spcAft>
                <a:spcPts val="800"/>
              </a:spcAft>
              <a:defRPr sz="1400" b="0">
                <a:solidFill>
                  <a:srgbClr val="0F172A"/>
                </a:solidFill>
                <a:latin typeface="Segoe UI"/>
              </a:defRPr>
            </a:pPr>
            <a:r>
              <a:rPr sz="1400" b="0">
                <a:solidFill>
                  <a:srgbClr val="0F172A"/>
                </a:solidFill>
                <a:latin typeface="Segoe UI"/>
              </a:rPr>
              <a:t>• Render: usar render_mode='rgb_array' y guardar frames para crear un gif.</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3 policies: random, heurística simple, "siempre derecha".</a:t>
            </a:r>
          </a:p>
          <a:p>
            <a:pPr>
              <a:spcAft>
                <a:spcPts val="800"/>
              </a:spcAft>
              <a:defRPr sz="1500" b="0">
                <a:solidFill>
                  <a:srgbClr val="0F172A"/>
                </a:solidFill>
                <a:latin typeface="Segoe UI"/>
              </a:defRPr>
            </a:pPr>
            <a:r>
              <a:rPr sz="1500" b="0">
                <a:solidFill>
                  <a:srgbClr val="0F172A"/>
                </a:solidFill>
                <a:latin typeface="Segoe UI"/>
              </a:rPr>
              <a:t>• Correr 100 episodios de cada; reportar return promedio y desviación.</a:t>
            </a:r>
          </a:p>
          <a:p>
            <a:pPr>
              <a:spcAft>
                <a:spcPts val="800"/>
              </a:spcAft>
              <a:defRPr sz="1500" b="0">
                <a:solidFill>
                  <a:srgbClr val="0F172A"/>
                </a:solidFill>
                <a:latin typeface="Segoe UI"/>
              </a:defRPr>
            </a:pPr>
            <a:r>
              <a:rPr sz="1500" b="0">
                <a:solidFill>
                  <a:srgbClr val="0F172A"/>
                </a:solidFill>
                <a:latin typeface="Segoe UI"/>
              </a:rPr>
              <a:t>• Verificar que heurística supera random.</a:t>
            </a:r>
          </a:p>
        </p:txBody>
      </p:sp>
    </p:spTree>
  </p:cSld>
  <p:clrMapOvr>
    <a:masterClrMapping/>
  </p:clrMapOvr>
</p:sld>
</file>

<file path=ppt/slides/slide8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162 — Policy gradients</a:t>
            </a:r>
          </a:p>
        </p:txBody>
      </p:sp>
    </p:spTree>
  </p:cSld>
  <p:clrMapOvr>
    <a:masterClrMapping/>
  </p:clrMapOvr>
</p:sld>
</file>

<file path=ppt/slides/slide8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162 — Policy gradients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18 § Policy Gradients + Sutton &amp; Barto, cap. 13.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policy gradient —REINFORCE (Williams 1992)—: parametrizar la policy con una red neuronal π_θ(a|s), optimizar directamente la expected return via gradiente. Es el método más simple de RL que usa redes y la base conceptual de PPO/A2C/A3C (clase 138).</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la policy como red state → softmax(actions).</a:t>
            </a:r>
          </a:p>
          <a:p>
            <a:pPr>
              <a:spcAft>
                <a:spcPts val="800"/>
              </a:spcAft>
              <a:defRPr sz="1400" b="0">
                <a:solidFill>
                  <a:srgbClr val="0F172A"/>
                </a:solidFill>
                <a:latin typeface="Segoe UI"/>
              </a:defRPr>
            </a:pPr>
            <a:r>
              <a:rPr sz="1400" b="0">
                <a:solidFill>
                  <a:srgbClr val="0F172A"/>
                </a:solidFill>
                <a:latin typeface="Segoe UI"/>
              </a:rPr>
              <a:t>• Calcular el gradiente REINFORCE: ∇θ J = E[∇θ log π_θ(a|s) · G_t].</a:t>
            </a:r>
          </a:p>
          <a:p>
            <a:pPr>
              <a:spcAft>
                <a:spcPts val="800"/>
              </a:spcAft>
              <a:defRPr sz="1400" b="0">
                <a:solidFill>
                  <a:srgbClr val="0F172A"/>
                </a:solidFill>
                <a:latin typeface="Segoe UI"/>
              </a:defRPr>
            </a:pPr>
            <a:r>
              <a:rPr sz="1400" b="0">
                <a:solidFill>
                  <a:srgbClr val="0F172A"/>
                </a:solidFill>
                <a:latin typeface="Segoe UI"/>
              </a:rPr>
              <a:t>• Implementar el training loop: rollout → calcular returns → gradient ascent.</a:t>
            </a:r>
          </a:p>
          <a:p>
            <a:pPr>
              <a:spcAft>
                <a:spcPts val="800"/>
              </a:spcAft>
              <a:defRPr sz="1400" b="0">
                <a:solidFill>
                  <a:srgbClr val="0F172A"/>
                </a:solidFill>
                <a:latin typeface="Segoe UI"/>
              </a:defRPr>
            </a:pPr>
            <a:r>
              <a:rPr sz="1400" b="0">
                <a:solidFill>
                  <a:srgbClr val="0F172A"/>
                </a:solidFill>
                <a:latin typeface="Segoe UI"/>
              </a:rPr>
              <a:t>• Aplicar baseline (substraer V(s) de G_t) para reducir varianza.</a:t>
            </a:r>
          </a:p>
          <a:p>
            <a:pPr>
              <a:spcAft>
                <a:spcPts val="800"/>
              </a:spcAft>
              <a:defRPr sz="1400" b="0">
                <a:solidFill>
                  <a:srgbClr val="0F172A"/>
                </a:solidFill>
                <a:latin typeface="Segoe UI"/>
              </a:defRPr>
            </a:pPr>
            <a:r>
              <a:rPr sz="1400" b="0">
                <a:solidFill>
                  <a:srgbClr val="0F172A"/>
                </a:solidFill>
                <a:latin typeface="Segoe UI"/>
              </a:rPr>
              <a:t>• Reconocer la limitación: alta varianza, lento (motiva A2C/PPO).</a:t>
            </a:r>
          </a:p>
        </p:txBody>
      </p:sp>
    </p:spTree>
  </p:cSld>
  <p:clrMapOvr>
    <a:masterClrMapping/>
  </p:clrMapOvr>
</p:sld>
</file>

<file path=ppt/slides/slide8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162 — Policy gradients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Expected return J(θ) = E_π[G].</a:t>
            </a:r>
          </a:p>
          <a:p>
            <a:pPr>
              <a:spcAft>
                <a:spcPts val="1000"/>
              </a:spcAft>
              <a:defRPr sz="1600" b="0">
                <a:solidFill>
                  <a:srgbClr val="0F172A"/>
                </a:solidFill>
                <a:latin typeface="Segoe UI"/>
              </a:defRPr>
            </a:pPr>
            <a:r>
              <a:rPr sz="1600" b="0">
                <a:solidFill>
                  <a:srgbClr val="0F172A"/>
                </a:solidFill>
                <a:latin typeface="Segoe UI"/>
              </a:rPr>
              <a:t>• Policy gradient theorem: ∇θ J = E[∇θ log π · Q].</a:t>
            </a:r>
          </a:p>
          <a:p>
            <a:pPr>
              <a:spcAft>
                <a:spcPts val="1000"/>
              </a:spcAft>
              <a:defRPr sz="1600" b="0">
                <a:solidFill>
                  <a:srgbClr val="0F172A"/>
                </a:solidFill>
                <a:latin typeface="Segoe UI"/>
              </a:defRPr>
            </a:pPr>
            <a:r>
              <a:rPr sz="1600" b="0">
                <a:solidFill>
                  <a:srgbClr val="0F172A"/>
                </a:solidFill>
                <a:latin typeface="Segoe UI"/>
              </a:rPr>
              <a:t>• REINFORCE algorithm: rollout completo + apply gradient.</a:t>
            </a:r>
          </a:p>
          <a:p>
            <a:pPr>
              <a:spcAft>
                <a:spcPts val="1000"/>
              </a:spcAft>
              <a:defRPr sz="1600" b="0">
                <a:solidFill>
                  <a:srgbClr val="0F172A"/>
                </a:solidFill>
                <a:latin typeface="Segoe UI"/>
              </a:defRPr>
            </a:pPr>
            <a:r>
              <a:rPr sz="1600" b="0">
                <a:solidFill>
                  <a:srgbClr val="0F172A"/>
                </a:solidFill>
                <a:latin typeface="Segoe UI"/>
              </a:rPr>
              <a:t>• Baseline para reducir varianza.</a:t>
            </a:r>
          </a:p>
          <a:p>
            <a:pPr>
              <a:spcAft>
                <a:spcPts val="1000"/>
              </a:spcAft>
              <a:defRPr sz="1600" b="0">
                <a:solidFill>
                  <a:srgbClr val="0F172A"/>
                </a:solidFill>
                <a:latin typeface="Segoe UI"/>
              </a:defRPr>
            </a:pPr>
            <a:r>
              <a:rPr sz="1600" b="0">
                <a:solidFill>
                  <a:srgbClr val="0F172A"/>
                </a:solidFill>
                <a:latin typeface="Segoe UI"/>
              </a:rPr>
              <a:t>• Discounted returns con γ.</a:t>
            </a:r>
          </a:p>
        </p:txBody>
      </p:sp>
    </p:spTree>
  </p:cSld>
  <p:clrMapOvr>
    <a:masterClrMapping/>
  </p:clrMapOvr>
</p:sld>
</file>

<file path=ppt/slides/slide8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162 — Policy gradients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tf.random.set_seed(42)</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de Keras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policy = keras.Sequential([</a:t>
            </a:r>
          </a:p>
          <a:p>
            <a:pPr>
              <a:defRPr sz="1200" b="0">
                <a:solidFill>
                  <a:srgbClr val="F8FAFC"/>
                </a:solidFill>
                <a:latin typeface="Courier New"/>
              </a:defRPr>
            </a:pPr>
            <a:r>
              <a:rPr sz="1200" b="0">
                <a:solidFill>
                  <a:srgbClr val="F8FAFC"/>
                </a:solidFill>
                <a:latin typeface="Courier New"/>
              </a:rPr>
              <a:t>        keras.Input(shape=(4,)),                       # state de CartPole</a:t>
            </a:r>
          </a:p>
          <a:p>
            <a:pPr>
              <a:defRPr sz="1200" b="0">
                <a:solidFill>
                  <a:srgbClr val="F8FAFC"/>
                </a:solidFill>
                <a:latin typeface="Courier New"/>
              </a:defRPr>
            </a:pPr>
            <a:r>
              <a:rPr sz="1200" b="0">
                <a:solidFill>
                  <a:srgbClr val="F8FAFC"/>
                </a:solidFill>
                <a:latin typeface="Courier New"/>
              </a:rPr>
              <a:t>        keras.layers.Dense(32, activation="relu"),</a:t>
            </a:r>
          </a:p>
          <a:p>
            <a:pPr>
              <a:defRPr sz="1200" b="0">
                <a:solidFill>
                  <a:srgbClr val="F8FAFC"/>
                </a:solidFill>
                <a:latin typeface="Courier New"/>
              </a:defRPr>
            </a:pPr>
            <a:r>
              <a:rPr sz="1200" b="0">
                <a:solidFill>
                  <a:srgbClr val="F8FAFC"/>
                </a:solidFill>
                <a:latin typeface="Courier New"/>
              </a:rPr>
              <a:t>        keras.layers.Dense(32, activation="relu"),</a:t>
            </a:r>
          </a:p>
          <a:p>
            <a:pPr>
              <a:defRPr sz="1200" b="0">
                <a:solidFill>
                  <a:srgbClr val="F8FAFC"/>
                </a:solidFill>
                <a:latin typeface="Courier New"/>
              </a:defRPr>
            </a:pPr>
            <a:r>
              <a:rPr sz="1200" b="0">
                <a:solidFill>
                  <a:srgbClr val="F8FAFC"/>
                </a:solidFill>
                <a:latin typeface="Courier New"/>
              </a:rPr>
              <a:t>        keras.layers.Dense(2, activation="softmax"),   # prob por accion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8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162 — Policy gradients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Policy network: Dense(32) → Dense(32) → Dense(2, softmax) para CartPole.</a:t>
            </a:r>
          </a:p>
          <a:p>
            <a:pPr>
              <a:spcAft>
                <a:spcPts val="800"/>
              </a:spcAft>
              <a:defRPr sz="1400" b="0">
                <a:solidFill>
                  <a:srgbClr val="0F172A"/>
                </a:solidFill>
                <a:latin typeface="Segoe UI"/>
              </a:defRPr>
            </a:pPr>
            <a:r>
              <a:rPr sz="1400" b="0">
                <a:solidFill>
                  <a:srgbClr val="0F172A"/>
                </a:solidFill>
                <a:latin typeface="Segoe UI"/>
              </a:rPr>
              <a:t>• Rollout: ejecutar 1 episodio, guardar (s, a, r) por timestep.</a:t>
            </a:r>
          </a:p>
          <a:p>
            <a:pPr>
              <a:spcAft>
                <a:spcPts val="800"/>
              </a:spcAft>
              <a:defRPr sz="1400" b="0">
                <a:solidFill>
                  <a:srgbClr val="0F172A"/>
                </a:solidFill>
                <a:latin typeface="Segoe UI"/>
              </a:defRPr>
            </a:pPr>
            <a:r>
              <a:rPr sz="1400" b="0">
                <a:solidFill>
                  <a:srgbClr val="0F172A"/>
                </a:solidFill>
                <a:latin typeface="Segoe UI"/>
              </a:rPr>
              <a:t>• Returns: calcular G_t para cada timestep con γ=0.99.</a:t>
            </a:r>
          </a:p>
          <a:p>
            <a:pPr>
              <a:spcAft>
                <a:spcPts val="800"/>
              </a:spcAft>
              <a:defRPr sz="1400" b="0">
                <a:solidFill>
                  <a:srgbClr val="0F172A"/>
                </a:solidFill>
                <a:latin typeface="Segoe UI"/>
              </a:defRPr>
            </a:pPr>
            <a:r>
              <a:rPr sz="1400" b="0">
                <a:solidFill>
                  <a:srgbClr val="0F172A"/>
                </a:solidFill>
                <a:latin typeface="Segoe UI"/>
              </a:rPr>
              <a:t>• Gradient step: loss = -Σ log π(a_t|s_t) · G_t; backward; apply.</a:t>
            </a:r>
          </a:p>
          <a:p>
            <a:pPr>
              <a:spcAft>
                <a:spcPts val="800"/>
              </a:spcAft>
              <a:defRPr sz="1400" b="0">
                <a:solidFill>
                  <a:srgbClr val="0F172A"/>
                </a:solidFill>
                <a:latin typeface="Segoe UI"/>
              </a:defRPr>
            </a:pPr>
            <a:r>
              <a:rPr sz="1400" b="0">
                <a:solidFill>
                  <a:srgbClr val="0F172A"/>
                </a:solidFill>
                <a:latin typeface="Segoe UI"/>
              </a:rPr>
              <a:t>• Con baseline: agregar V(s) head, restar de G antes del gradient.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Policy Dense(64) → Dense(64) → Dense(2, softmax).</a:t>
            </a:r>
          </a:p>
          <a:p>
            <a:pPr>
              <a:spcAft>
                <a:spcPts val="800"/>
              </a:spcAft>
              <a:defRPr sz="1500" b="0">
                <a:solidFill>
                  <a:srgbClr val="0F172A"/>
                </a:solidFill>
                <a:latin typeface="Segoe UI"/>
              </a:defRPr>
            </a:pPr>
            <a:r>
              <a:rPr sz="1500" b="0">
                <a:solidFill>
                  <a:srgbClr val="0F172A"/>
                </a:solidFill>
                <a:latin typeface="Segoe UI"/>
              </a:rPr>
              <a:t>• Train 500 episodios.</a:t>
            </a:r>
          </a:p>
          <a:p>
            <a:pPr>
              <a:spcAft>
                <a:spcPts val="800"/>
              </a:spcAft>
              <a:defRPr sz="1500" b="0">
                <a:solidFill>
                  <a:srgbClr val="0F172A"/>
                </a:solidFill>
                <a:latin typeface="Segoe UI"/>
              </a:defRPr>
            </a:pPr>
            <a:r>
              <a:rPr sz="1500" b="0">
                <a:solidFill>
                  <a:srgbClr val="0F172A"/>
                </a:solidFill>
                <a:latin typeface="Segoe UI"/>
              </a:rPr>
              <a:t>• Reportar return medio por época.</a:t>
            </a:r>
          </a:p>
          <a:p>
            <a:pPr>
              <a:spcAft>
                <a:spcPts val="800"/>
              </a:spcAft>
              <a:defRPr sz="1500" b="0">
                <a:solidFill>
                  <a:srgbClr val="0F172A"/>
                </a:solidFill>
                <a:latin typeface="Segoe UI"/>
              </a:defRPr>
            </a:pPr>
            <a:r>
              <a:rPr sz="1500" b="0">
                <a:solidFill>
                  <a:srgbClr val="0F172A"/>
                </a:solidFill>
                <a:latin typeface="Segoe UI"/>
              </a:rPr>
              <a:t>• Comparar con/sin baseline.</a:t>
            </a:r>
          </a:p>
        </p:txBody>
      </p:sp>
    </p:spTree>
  </p:cSld>
  <p:clrMapOvr>
    <a:masterClrMapping/>
  </p:clrMapOvr>
</p:sld>
</file>

<file path=ppt/slides/slide8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163 — Markov Decision Processes</a:t>
            </a:r>
          </a:p>
        </p:txBody>
      </p:sp>
    </p:spTree>
  </p:cSld>
  <p:clrMapOvr>
    <a:masterClrMapping/>
  </p:clrMapOvr>
</p:sld>
</file>

<file path=ppt/slides/slide8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163 — Markov Decision Processes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18 § Markov Decision Processes + Sutton &amp; Barto cap. 3.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Formalizar el marco teórico de RL: un Markov Decision Process (MDP) = tupla (S, A, P, R, γ). Conocer la Bellman equation que define V y Q óptimos, y los algoritmos clásicos Value Iteration y Policy Iteration que los resuelven (cuando el MDP es conocido).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un MDP: states, actions, transition prob, reward function, discount.</a:t>
            </a:r>
          </a:p>
          <a:p>
            <a:pPr>
              <a:spcAft>
                <a:spcPts val="800"/>
              </a:spcAft>
              <a:defRPr sz="1400" b="0">
                <a:solidFill>
                  <a:srgbClr val="0F172A"/>
                </a:solidFill>
                <a:latin typeface="Segoe UI"/>
              </a:defRPr>
            </a:pPr>
            <a:r>
              <a:rPr sz="1400" b="0">
                <a:solidFill>
                  <a:srgbClr val="0F172A"/>
                </a:solidFill>
                <a:latin typeface="Segoe UI"/>
              </a:rPr>
              <a:t>• Escribir la Bellman equation para V: V(s) = max_a Σ P(s'|s,a)[R + γ V*(s')].</a:t>
            </a:r>
          </a:p>
          <a:p>
            <a:pPr>
              <a:spcAft>
                <a:spcPts val="800"/>
              </a:spcAft>
              <a:defRPr sz="1400" b="0">
                <a:solidFill>
                  <a:srgbClr val="0F172A"/>
                </a:solidFill>
                <a:latin typeface="Segoe UI"/>
              </a:defRPr>
            </a:pPr>
            <a:r>
              <a:rPr sz="1400" b="0">
                <a:solidFill>
                  <a:srgbClr val="0F172A"/>
                </a:solidFill>
                <a:latin typeface="Segoe UI"/>
              </a:rPr>
              <a:t>• Implementar Value Iteration: actualizar iterativamente hasta convergencia.</a:t>
            </a:r>
          </a:p>
          <a:p>
            <a:pPr>
              <a:spcAft>
                <a:spcPts val="800"/>
              </a:spcAft>
              <a:defRPr sz="1400" b="0">
                <a:solidFill>
                  <a:srgbClr val="0F172A"/>
                </a:solidFill>
                <a:latin typeface="Segoe UI"/>
              </a:defRPr>
            </a:pPr>
            <a:r>
              <a:rPr sz="1400" b="0">
                <a:solidFill>
                  <a:srgbClr val="0F172A"/>
                </a:solidFill>
                <a:latin typeface="Segoe UI"/>
              </a:rPr>
              <a:t>• Implementar Policy Iteration: alternar policy evaluation + policy improvement.</a:t>
            </a:r>
          </a:p>
          <a:p>
            <a:pPr>
              <a:spcAft>
                <a:spcPts val="800"/>
              </a:spcAft>
              <a:defRPr sz="1400" b="0">
                <a:solidFill>
                  <a:srgbClr val="0F172A"/>
                </a:solidFill>
                <a:latin typeface="Segoe UI"/>
              </a:defRPr>
            </a:pPr>
            <a:r>
              <a:rPr sz="1400" b="0">
                <a:solidFill>
                  <a:srgbClr val="0F172A"/>
                </a:solidFill>
                <a:latin typeface="Segoe UI"/>
              </a:rPr>
              <a:t>• Reconocer la limitación: requiere conocer P y R (no aplicable a entornos reales) → motivó model-free (Q-learning, clase 137).</a:t>
            </a:r>
          </a:p>
        </p:txBody>
      </p:sp>
    </p:spTree>
  </p:cSld>
  <p:clrMapOvr>
    <a:masterClrMapping/>
  </p:clrMapOvr>
</p:sld>
</file>

<file path=ppt/slides/slide8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163 — Markov Decision Processes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Propiedad de Markov: P(s_{t+1} | s_t, a_t) = P(s_{t+1} | s_t, a_t, s_{t-1}, ...).</a:t>
            </a:r>
          </a:p>
          <a:p>
            <a:pPr>
              <a:spcAft>
                <a:spcPts val="1000"/>
              </a:spcAft>
              <a:defRPr sz="1600" b="0">
                <a:solidFill>
                  <a:srgbClr val="0F172A"/>
                </a:solidFill>
                <a:latin typeface="Segoe UI"/>
              </a:defRPr>
            </a:pPr>
            <a:r>
              <a:rPr sz="1600" b="0">
                <a:solidFill>
                  <a:srgbClr val="0F172A"/>
                </a:solidFill>
                <a:latin typeface="Segoe UI"/>
              </a:rPr>
              <a:t>• Componentes MDP.</a:t>
            </a:r>
          </a:p>
          <a:p>
            <a:pPr>
              <a:spcAft>
                <a:spcPts val="1000"/>
              </a:spcAft>
              <a:defRPr sz="1600" b="0">
                <a:solidFill>
                  <a:srgbClr val="0F172A"/>
                </a:solidFill>
                <a:latin typeface="Segoe UI"/>
              </a:defRPr>
            </a:pPr>
            <a:r>
              <a:rPr sz="1600" b="0">
                <a:solidFill>
                  <a:srgbClr val="0F172A"/>
                </a:solidFill>
                <a:latin typeface="Segoe UI"/>
              </a:rPr>
              <a:t>• Bellman optimality equation.</a:t>
            </a:r>
          </a:p>
          <a:p>
            <a:pPr>
              <a:spcAft>
                <a:spcPts val="1000"/>
              </a:spcAft>
              <a:defRPr sz="1600" b="0">
                <a:solidFill>
                  <a:srgbClr val="0F172A"/>
                </a:solidFill>
                <a:latin typeface="Segoe UI"/>
              </a:defRPr>
            </a:pPr>
            <a:r>
              <a:rPr sz="1600" b="0">
                <a:solidFill>
                  <a:srgbClr val="0F172A"/>
                </a:solidFill>
                <a:latin typeface="Segoe UI"/>
              </a:rPr>
              <a:t>• Value Iteration (synchronous update).</a:t>
            </a:r>
          </a:p>
          <a:p>
            <a:pPr>
              <a:spcAft>
                <a:spcPts val="1000"/>
              </a:spcAft>
              <a:defRPr sz="1600" b="0">
                <a:solidFill>
                  <a:srgbClr val="0F172A"/>
                </a:solidFill>
                <a:latin typeface="Segoe UI"/>
              </a:defRPr>
            </a:pPr>
            <a:r>
              <a:rPr sz="1600" b="0">
                <a:solidFill>
                  <a:srgbClr val="0F172A"/>
                </a:solidFill>
                <a:latin typeface="Segoe UI"/>
              </a:rPr>
              <a:t>• Policy Iteration (alternar eval + improve).</a:t>
            </a:r>
          </a:p>
          <a:p>
            <a:pPr>
              <a:spcAft>
                <a:spcPts val="1000"/>
              </a:spcAft>
              <a:defRPr sz="1600" b="0">
                <a:solidFill>
                  <a:srgbClr val="0F172A"/>
                </a:solidFill>
                <a:latin typeface="Segoe UI"/>
              </a:defRPr>
            </a:pPr>
            <a:r>
              <a:rPr sz="1600" b="0">
                <a:solidFill>
                  <a:srgbClr val="0F172A"/>
                </a:solidFill>
                <a:latin typeface="Segoe UI"/>
              </a:rPr>
              <a:t>• Convergencia garantizada (contractive operator).</a:t>
            </a:r>
          </a:p>
        </p:txBody>
      </p:sp>
    </p:spTree>
  </p:cSld>
  <p:clrMapOvr>
    <a:masterClrMapping/>
  </p:clrMapOvr>
</p:sld>
</file>

<file path=ppt/slides/slide8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163 — Markov Decision Processes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Grid (S=start, H=hole, G=goal): ` 0(S)  1     2     3</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nS, nA = 16, 4</a:t>
            </a:r>
          </a:p>
          <a:p>
            <a:pPr>
              <a:defRPr sz="1200" b="0">
                <a:solidFill>
                  <a:srgbClr val="F8FAFC"/>
                </a:solidFill>
                <a:latin typeface="Courier New"/>
              </a:defRPr>
            </a:pPr>
            <a:r>
              <a:rPr sz="1200" b="0">
                <a:solidFill>
                  <a:srgbClr val="F8FAFC"/>
                </a:solidFill>
                <a:latin typeface="Courier New"/>
              </a:rPr>
              <a:t>holes = {5, 7, 11, 12}</a:t>
            </a:r>
          </a:p>
          <a:p>
            <a:pPr>
              <a:defRPr sz="1200" b="0">
                <a:solidFill>
                  <a:srgbClr val="F8FAFC"/>
                </a:solidFill>
                <a:latin typeface="Courier New"/>
              </a:defRPr>
            </a:pPr>
            <a:r>
              <a:rPr sz="1200" b="0">
                <a:solidFill>
                  <a:srgbClr val="F8FAFC"/>
                </a:solidFill>
                <a:latin typeface="Courier New"/>
              </a:rPr>
              <a:t>goal = 15</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next_state(s, a):</a:t>
            </a:r>
          </a:p>
          <a:p>
            <a:pPr>
              <a:defRPr sz="1200" b="0">
                <a:solidFill>
                  <a:srgbClr val="F8FAFC"/>
                </a:solidFill>
                <a:latin typeface="Courier New"/>
              </a:defRPr>
            </a:pPr>
            <a:r>
              <a:rPr sz="1200" b="0">
                <a:solidFill>
                  <a:srgbClr val="F8FAFC"/>
                </a:solidFill>
                <a:latin typeface="Courier New"/>
              </a:rPr>
              <a:t>    row, col = divmod(s, 4)</a:t>
            </a:r>
          </a:p>
          <a:p>
            <a:pPr>
              <a:defRPr sz="1200" b="0">
                <a:solidFill>
                  <a:srgbClr val="F8FAFC"/>
                </a:solidFill>
                <a:latin typeface="Courier New"/>
              </a:defRPr>
            </a:pPr>
            <a:r>
              <a:rPr sz="1200" b="0">
                <a:solidFill>
                  <a:srgbClr val="F8FAFC"/>
                </a:solidFill>
                <a:latin typeface="Courier New"/>
              </a:rPr>
              <a:t>    if   a == 0: col = max(col - 1, 0)     # izquierda</a:t>
            </a:r>
          </a:p>
          <a:p>
            <a:pPr>
              <a:defRPr sz="1200" b="0">
                <a:solidFill>
                  <a:srgbClr val="F8FAFC"/>
                </a:solidFill>
                <a:latin typeface="Courier New"/>
              </a:defRPr>
            </a:pPr>
            <a:r>
              <a:rPr sz="1200" b="0">
                <a:solidFill>
                  <a:srgbClr val="F8FAFC"/>
                </a:solidFill>
                <a:latin typeface="Courier New"/>
              </a:rPr>
              <a:t>    elif a == 1: row = min(row + 1, 3)     # abajo</a:t>
            </a:r>
          </a:p>
          <a:p>
            <a:pPr>
              <a:defRPr sz="1200" b="0">
                <a:solidFill>
                  <a:srgbClr val="F8FAFC"/>
                </a:solidFill>
                <a:latin typeface="Courier New"/>
              </a:defRPr>
            </a:pPr>
            <a:r>
              <a:rPr sz="1200" b="0">
                <a:solidFill>
                  <a:srgbClr val="F8FAFC"/>
                </a:solidFill>
                <a:latin typeface="Courier New"/>
              </a:rPr>
              <a:t>    elif a == 2: col = min(col + 1, 3)     # derecha</a:t>
            </a:r>
          </a:p>
          <a:p>
            <a:pPr>
              <a:defRPr sz="1200" b="0">
                <a:solidFill>
                  <a:srgbClr val="F8FAFC"/>
                </a:solidFill>
                <a:latin typeface="Courier New"/>
              </a:defRPr>
            </a:pPr>
            <a:r>
              <a:rPr sz="1200" b="0">
                <a:solidFill>
                  <a:srgbClr val="F8FAFC"/>
                </a:solidFill>
                <a:latin typeface="Courier New"/>
              </a:rPr>
              <a:t>    elif a == 3: row = max(row - 1, 0)     # arriba</a:t>
            </a:r>
          </a:p>
          <a:p>
            <a:pPr>
              <a:defRPr sz="1200" b="0">
                <a:solidFill>
                  <a:srgbClr val="F8FAFC"/>
                </a:solidFill>
                <a:latin typeface="Courier New"/>
              </a:defRPr>
            </a:pPr>
            <a:r>
              <a:rPr sz="1200" b="0">
                <a:solidFill>
                  <a:srgbClr val="F8FAFC"/>
                </a:solidFill>
                <a:latin typeface="Courier New"/>
              </a:rPr>
              <a:t>    return row * 4 + col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acciones que ocurren al "resbalar": la intencion + las dos perpendiculares</a:t>
            </a:r>
          </a:p>
          <a:p>
            <a:pPr>
              <a:defRPr sz="1200" b="0">
                <a:solidFill>
                  <a:srgbClr val="F8FAFC"/>
                </a:solidFill>
                <a:latin typeface="Courier New"/>
              </a:defRPr>
            </a:pPr>
            <a:r>
              <a:rPr sz="1200" b="0">
                <a:solidFill>
                  <a:srgbClr val="F8FAFC"/>
                </a:solidFill>
                <a:latin typeface="Courier New"/>
              </a:rPr>
              <a:t>perp = {0: (0, 1, 3), 1: (1, 0, 2), 2: (2, 1, 3), 3: (3, 0, 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 = np.zeros((nS, nA, nS))                  # P[s, a, s']</a:t>
            </a:r>
          </a:p>
          <a:p>
            <a:pPr>
              <a:defRPr sz="1200" b="0">
                <a:solidFill>
                  <a:srgbClr val="F8FAFC"/>
                </a:solidFill>
                <a:latin typeface="Courier New"/>
              </a:defRPr>
            </a:pPr>
            <a:r>
              <a:rPr sz="1200" b="0">
                <a:solidFill>
                  <a:srgbClr val="F8FAFC"/>
                </a:solidFill>
                <a:latin typeface="Courier New"/>
              </a:rPr>
              <a:t>R = np.zeros((nS, nA, nS))                  # R[s, a, s']</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8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163 — Markov Decision Processes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MDP de juguete: definir un MDP de 4 estados con P, R manualmente.</a:t>
            </a:r>
          </a:p>
          <a:p>
            <a:pPr>
              <a:spcAft>
                <a:spcPts val="800"/>
              </a:spcAft>
              <a:defRPr sz="1400" b="0">
                <a:solidFill>
                  <a:srgbClr val="0F172A"/>
                </a:solidFill>
                <a:latin typeface="Segoe UI"/>
              </a:defRPr>
            </a:pPr>
            <a:r>
              <a:rPr sz="1400" b="0">
                <a:solidFill>
                  <a:srgbClr val="0F172A"/>
                </a:solidFill>
                <a:latin typeface="Segoe UI"/>
              </a:rPr>
              <a:t>• Value Iteration: implementar V[s] = max_a Σ P(s'|s,a)(R + γ V[s']) hasta max change &lt; 1e-6.</a:t>
            </a:r>
          </a:p>
          <a:p>
            <a:pPr>
              <a:spcAft>
                <a:spcPts val="800"/>
              </a:spcAft>
              <a:defRPr sz="1400" b="0">
                <a:solidFill>
                  <a:srgbClr val="0F172A"/>
                </a:solidFill>
                <a:latin typeface="Segoe UI"/>
              </a:defRPr>
            </a:pPr>
            <a:r>
              <a:rPr sz="1400" b="0">
                <a:solidFill>
                  <a:srgbClr val="0F172A"/>
                </a:solidFill>
                <a:latin typeface="Segoe UI"/>
              </a:rPr>
              <a:t>• Policy Iteration: alternar evaluación (V^π) con mejora (π' = greedy(V)) hasta estabilidad.</a:t>
            </a:r>
          </a:p>
          <a:p>
            <a:pPr>
              <a:spcAft>
                <a:spcPts val="800"/>
              </a:spcAft>
              <a:defRPr sz="1400" b="0">
                <a:solidFill>
                  <a:srgbClr val="0F172A"/>
                </a:solidFill>
                <a:latin typeface="Segoe UI"/>
              </a:defRPr>
            </a:pPr>
            <a:r>
              <a:rPr sz="1400" b="0">
                <a:solidFill>
                  <a:srgbClr val="0F172A"/>
                </a:solidFill>
                <a:latin typeface="Segoe UI"/>
              </a:rPr>
              <a:t>• FrozenLake: cargar gym.make('FrozenLake-v1'), extraer env.unwrapped.P (modelo del MDP), resolver con VI.</a:t>
            </a:r>
          </a:p>
          <a:p>
            <a:pPr>
              <a:spcAft>
                <a:spcPts val="800"/>
              </a:spcAft>
              <a:defRPr sz="1400" b="0">
                <a:solidFill>
                  <a:srgbClr val="0F172A"/>
                </a:solidFill>
                <a:latin typeface="Segoe UI"/>
              </a:defRPr>
            </a:pPr>
            <a:r>
              <a:rPr sz="1400" b="0">
                <a:solidFill>
                  <a:srgbClr val="0F172A"/>
                </a:solidFill>
                <a:latin typeface="Segoe UI"/>
              </a:rPr>
              <a:t>• Compare: # iteraciones VI vs PI para llegar a misma policy.</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Extraer modelo P y R desde env.unwrapped.P.</a:t>
            </a:r>
          </a:p>
          <a:p>
            <a:pPr>
              <a:spcAft>
                <a:spcPts val="800"/>
              </a:spcAft>
              <a:defRPr sz="1500" b="0">
                <a:solidFill>
                  <a:srgbClr val="0F172A"/>
                </a:solidFill>
                <a:latin typeface="Segoe UI"/>
              </a:defRPr>
            </a:pPr>
            <a:r>
              <a:rPr sz="1500" b="0">
                <a:solidFill>
                  <a:srgbClr val="0F172A"/>
                </a:solidFill>
                <a:latin typeface="Segoe UI"/>
              </a:rPr>
              <a:t>• Implementar Value Iteration; reportar V y π greedy.</a:t>
            </a:r>
          </a:p>
          <a:p>
            <a:pPr>
              <a:spcAft>
                <a:spcPts val="800"/>
              </a:spcAft>
              <a:defRPr sz="1500" b="0">
                <a:solidFill>
                  <a:srgbClr val="0F172A"/>
                </a:solidFill>
                <a:latin typeface="Segoe UI"/>
              </a:defRPr>
            </a:pPr>
            <a:r>
              <a:rPr sz="1500" b="0">
                <a:solidFill>
                  <a:srgbClr val="0F172A"/>
                </a:solidFill>
                <a:latin typeface="Segoe UI"/>
              </a:rPr>
              <a:t>• Evaluar la policy con 1000 episodios random; reportar success rate.</a:t>
            </a:r>
          </a:p>
        </p:txBody>
      </p:sp>
    </p:spTree>
  </p:cSld>
  <p:clrMapOvr>
    <a:masterClrMapping/>
  </p:clrMapOvr>
</p:sld>
</file>

<file path=ppt/slides/slide8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164 — TD Learning, Q-Learning, Deep Q-Networks</a:t>
            </a:r>
          </a:p>
        </p:txBody>
      </p:sp>
    </p:spTree>
  </p:cSld>
  <p:clrMapOvr>
    <a:masterClrMapping/>
  </p:clrMapOvr>
</p:sld>
</file>

<file path=ppt/slides/slide8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164 — TD Learning, Q-Learning, Deep Q-Networks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18 § Q-Learning y § Deep Q-Learning.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Q-Learning clásico (Watkins 1989) y su versión moderna DQN (Mnih et al. 2015, Nature paper que aprendió Atari desde pixels). Off-policy, model-free, bootstrap. Conocer los 2 trucos que hicieron a DQN funcionar: experience replay y target network.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update Q-learning: Q(s,a) ← Q(s,a) + α[r + γ max_a' Q(s',a') - Q(s,a)].</a:t>
            </a:r>
          </a:p>
          <a:p>
            <a:pPr>
              <a:spcAft>
                <a:spcPts val="800"/>
              </a:spcAft>
              <a:defRPr sz="1400" b="0">
                <a:solidFill>
                  <a:srgbClr val="0F172A"/>
                </a:solidFill>
                <a:latin typeface="Segoe UI"/>
              </a:defRPr>
            </a:pPr>
            <a:r>
              <a:rPr sz="1400" b="0">
                <a:solidFill>
                  <a:srgbClr val="0F172A"/>
                </a:solidFill>
                <a:latin typeface="Segoe UI"/>
              </a:rPr>
              <a:t>• Implementar Q-learning tabular en FrozenLake.</a:t>
            </a:r>
          </a:p>
          <a:p>
            <a:pPr>
              <a:spcAft>
                <a:spcPts val="800"/>
              </a:spcAft>
              <a:defRPr sz="1400" b="0">
                <a:solidFill>
                  <a:srgbClr val="0F172A"/>
                </a:solidFill>
                <a:latin typeface="Segoe UI"/>
              </a:defRPr>
            </a:pPr>
            <a:r>
              <a:rPr sz="1400" b="0">
                <a:solidFill>
                  <a:srgbClr val="0F172A"/>
                </a:solidFill>
                <a:latin typeface="Segoe UI"/>
              </a:rPr>
              <a:t>• Construir un DQN: red state → Q(a) para todas las actions, MSE entre Q predicted y r + γ max_a' Q'(s',a').</a:t>
            </a:r>
          </a:p>
          <a:p>
            <a:pPr>
              <a:spcAft>
                <a:spcPts val="800"/>
              </a:spcAft>
              <a:defRPr sz="1400" b="0">
                <a:solidFill>
                  <a:srgbClr val="0F172A"/>
                </a:solidFill>
                <a:latin typeface="Segoe UI"/>
              </a:defRPr>
            </a:pPr>
            <a:r>
              <a:rPr sz="1400" b="0">
                <a:solidFill>
                  <a:srgbClr val="0F172A"/>
                </a:solidFill>
                <a:latin typeface="Segoe UI"/>
              </a:rPr>
              <a:t>• Implementar replay buffer (almacenar transitions, samplear batch para training).</a:t>
            </a:r>
          </a:p>
          <a:p>
            <a:pPr>
              <a:spcAft>
                <a:spcPts val="800"/>
              </a:spcAft>
              <a:defRPr sz="1400" b="0">
                <a:solidFill>
                  <a:srgbClr val="0F172A"/>
                </a:solidFill>
                <a:latin typeface="Segoe UI"/>
              </a:defRPr>
            </a:pPr>
            <a:r>
              <a:rPr sz="1400" b="0">
                <a:solidFill>
                  <a:srgbClr val="0F172A"/>
                </a:solidFill>
                <a:latin typeface="Segoe UI"/>
              </a:rPr>
              <a:t>• Implementar target network (copia frozen actualizada cada N steps).</a:t>
            </a:r>
          </a:p>
        </p:txBody>
      </p:sp>
    </p:spTree>
  </p:cSld>
  <p:clrMapOvr>
    <a:masterClrMapping/>
  </p:clrMapOvr>
</p:sld>
</file>

<file path=ppt/slides/slide8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164 — TD Learning, Q-Learning, Deep Q-Networks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TD (Temporal Difference) error: δ = r + γ V(s') - V(s).</a:t>
            </a:r>
          </a:p>
          <a:p>
            <a:pPr>
              <a:spcAft>
                <a:spcPts val="1000"/>
              </a:spcAft>
              <a:defRPr sz="1600" b="0">
                <a:solidFill>
                  <a:srgbClr val="0F172A"/>
                </a:solidFill>
                <a:latin typeface="Segoe UI"/>
              </a:defRPr>
            </a:pPr>
            <a:r>
              <a:rPr sz="1600" b="0">
                <a:solidFill>
                  <a:srgbClr val="0F172A"/>
                </a:solidFill>
                <a:latin typeface="Segoe UI"/>
              </a:rPr>
              <a:t>• Q-learning: off-policy, sigue greedy de Q*.</a:t>
            </a:r>
          </a:p>
          <a:p>
            <a:pPr>
              <a:spcAft>
                <a:spcPts val="1000"/>
              </a:spcAft>
              <a:defRPr sz="1600" b="0">
                <a:solidFill>
                  <a:srgbClr val="0F172A"/>
                </a:solidFill>
                <a:latin typeface="Segoe UI"/>
              </a:defRPr>
            </a:pPr>
            <a:r>
              <a:rPr sz="1600" b="0">
                <a:solidFill>
                  <a:srgbClr val="0F172A"/>
                </a:solidFill>
                <a:latin typeface="Segoe UI"/>
              </a:rPr>
              <a:t>• ε-greedy exploration: con prob ε explora random, sino greedy.</a:t>
            </a:r>
          </a:p>
          <a:p>
            <a:pPr>
              <a:spcAft>
                <a:spcPts val="1000"/>
              </a:spcAft>
              <a:defRPr sz="1600" b="0">
                <a:solidFill>
                  <a:srgbClr val="0F172A"/>
                </a:solidFill>
                <a:latin typeface="Segoe UI"/>
              </a:defRPr>
            </a:pPr>
            <a:r>
              <a:rPr sz="1600" b="0">
                <a:solidFill>
                  <a:srgbClr val="0F172A"/>
                </a:solidFill>
                <a:latin typeface="Segoe UI"/>
              </a:rPr>
              <a:t>• Replay buffer: deque de (s, a, r, s', done).</a:t>
            </a:r>
          </a:p>
          <a:p>
            <a:pPr>
              <a:spcAft>
                <a:spcPts val="1000"/>
              </a:spcAft>
              <a:defRPr sz="1600" b="0">
                <a:solidFill>
                  <a:srgbClr val="0F172A"/>
                </a:solidFill>
                <a:latin typeface="Segoe UI"/>
              </a:defRPr>
            </a:pPr>
            <a:r>
              <a:rPr sz="1600" b="0">
                <a:solidFill>
                  <a:srgbClr val="0F172A"/>
                </a:solidFill>
                <a:latin typeface="Segoe UI"/>
              </a:rPr>
              <a:t>• Target network: estabilidad (sino, target se mueve mientras estimás).</a:t>
            </a:r>
          </a:p>
          <a:p>
            <a:pPr>
              <a:spcAft>
                <a:spcPts val="1000"/>
              </a:spcAft>
              <a:defRPr sz="1600" b="0">
                <a:solidFill>
                  <a:srgbClr val="0F172A"/>
                </a:solidFill>
                <a:latin typeface="Segoe UI"/>
              </a:defRPr>
            </a:pPr>
            <a:r>
              <a:rPr sz="1600" b="0">
                <a:solidFill>
                  <a:srgbClr val="0F172A"/>
                </a:solidFill>
                <a:latin typeface="Segoe UI"/>
              </a:rPr>
              <a:t>• DQN sobre CartPole y Atari.</a:t>
            </a:r>
          </a:p>
        </p:txBody>
      </p:sp>
    </p:spTree>
  </p:cSld>
  <p:clrMapOvr>
    <a:masterClrMapping/>
  </p:clrMapOvr>
</p:sld>
</file>

<file path=ppt/slides/slide8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164 — TD Learning, Q-Learning, Deep Q-Networks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 0(S)  1     2     3 4     5(H)  6     7(H)</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nS, nA = 16, 4</a:t>
            </a:r>
          </a:p>
          <a:p>
            <a:pPr>
              <a:defRPr sz="1200" b="0">
                <a:solidFill>
                  <a:srgbClr val="F8FAFC"/>
                </a:solidFill>
                <a:latin typeface="Courier New"/>
              </a:defRPr>
            </a:pPr>
            <a:r>
              <a:rPr sz="1200" b="0">
                <a:solidFill>
                  <a:srgbClr val="F8FAFC"/>
                </a:solidFill>
                <a:latin typeface="Courier New"/>
              </a:rPr>
              <a:t>holes = {5, 7, 11, 12}</a:t>
            </a:r>
          </a:p>
          <a:p>
            <a:pPr>
              <a:defRPr sz="1200" b="0">
                <a:solidFill>
                  <a:srgbClr val="F8FAFC"/>
                </a:solidFill>
                <a:latin typeface="Courier New"/>
              </a:defRPr>
            </a:pPr>
            <a:r>
              <a:rPr sz="1200" b="0">
                <a:solidFill>
                  <a:srgbClr val="F8FAFC"/>
                </a:solidFill>
                <a:latin typeface="Courier New"/>
              </a:rPr>
              <a:t>goal = 15</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next_state(s, a):</a:t>
            </a:r>
          </a:p>
          <a:p>
            <a:pPr>
              <a:defRPr sz="1200" b="0">
                <a:solidFill>
                  <a:srgbClr val="F8FAFC"/>
                </a:solidFill>
                <a:latin typeface="Courier New"/>
              </a:defRPr>
            </a:pPr>
            <a:r>
              <a:rPr sz="1200" b="0">
                <a:solidFill>
                  <a:srgbClr val="F8FAFC"/>
                </a:solidFill>
                <a:latin typeface="Courier New"/>
              </a:rPr>
              <a:t>    row, col = divmod(s, 4)</a:t>
            </a:r>
          </a:p>
          <a:p>
            <a:pPr>
              <a:defRPr sz="1200" b="0">
                <a:solidFill>
                  <a:srgbClr val="F8FAFC"/>
                </a:solidFill>
                <a:latin typeface="Courier New"/>
              </a:defRPr>
            </a:pPr>
            <a:r>
              <a:rPr sz="1200" b="0">
                <a:solidFill>
                  <a:srgbClr val="F8FAFC"/>
                </a:solidFill>
                <a:latin typeface="Courier New"/>
              </a:rPr>
              <a:t>    if   a == 0: col = max(col - 1, 0)</a:t>
            </a:r>
          </a:p>
          <a:p>
            <a:pPr>
              <a:defRPr sz="1200" b="0">
                <a:solidFill>
                  <a:srgbClr val="F8FAFC"/>
                </a:solidFill>
                <a:latin typeface="Courier New"/>
              </a:defRPr>
            </a:pPr>
            <a:r>
              <a:rPr sz="1200" b="0">
                <a:solidFill>
                  <a:srgbClr val="F8FAFC"/>
                </a:solidFill>
                <a:latin typeface="Courier New"/>
              </a:rPr>
              <a:t>    elif a == 1: row = min(row + 1, 3)</a:t>
            </a:r>
          </a:p>
          <a:p>
            <a:pPr>
              <a:defRPr sz="1200" b="0">
                <a:solidFill>
                  <a:srgbClr val="F8FAFC"/>
                </a:solidFill>
                <a:latin typeface="Courier New"/>
              </a:defRPr>
            </a:pPr>
            <a:r>
              <a:rPr sz="1200" b="0">
                <a:solidFill>
                  <a:srgbClr val="F8FAFC"/>
                </a:solidFill>
                <a:latin typeface="Courier New"/>
              </a:rPr>
              <a:t>    elif a == 2: col = min(col + 1, 3)</a:t>
            </a:r>
          </a:p>
          <a:p>
            <a:pPr>
              <a:defRPr sz="1200" b="0">
                <a:solidFill>
                  <a:srgbClr val="F8FAFC"/>
                </a:solidFill>
                <a:latin typeface="Courier New"/>
              </a:defRPr>
            </a:pPr>
            <a:r>
              <a:rPr sz="1200" b="0">
                <a:solidFill>
                  <a:srgbClr val="F8FAFC"/>
                </a:solidFill>
                <a:latin typeface="Courier New"/>
              </a:rPr>
              <a:t>    elif a == 3: row = max(row - 1, 0)</a:t>
            </a:r>
          </a:p>
          <a:p>
            <a:pPr>
              <a:defRPr sz="1200" b="0">
                <a:solidFill>
                  <a:srgbClr val="F8FAFC"/>
                </a:solidFill>
                <a:latin typeface="Courier New"/>
              </a:defRPr>
            </a:pPr>
            <a:r>
              <a:rPr sz="1200" b="0">
                <a:solidFill>
                  <a:srgbClr val="F8FAFC"/>
                </a:solidFill>
                <a:latin typeface="Courier New"/>
              </a:rPr>
              <a:t>    return row * 4 + col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class GridWorld:</a:t>
            </a:r>
          </a:p>
          <a:p>
            <a:pPr>
              <a:defRPr sz="1200" b="0">
                <a:solidFill>
                  <a:srgbClr val="F8FAFC"/>
                </a:solidFill>
                <a:latin typeface="Courier New"/>
              </a:defRPr>
            </a:pPr>
            <a:r>
              <a:rPr sz="1200" b="0">
                <a:solidFill>
                  <a:srgbClr val="F8FAFC"/>
                </a:solidFill>
                <a:latin typeface="Courier New"/>
              </a:rPr>
              <a:t>    def reset(self):</a:t>
            </a:r>
          </a:p>
          <a:p>
            <a:pPr>
              <a:defRPr sz="1200" b="0">
                <a:solidFill>
                  <a:srgbClr val="F8FAFC"/>
                </a:solidFill>
                <a:latin typeface="Courier New"/>
              </a:defRPr>
            </a:pPr>
            <a:r>
              <a:rPr sz="1200" b="0">
                <a:solidFill>
                  <a:srgbClr val="F8FAFC"/>
                </a:solidFill>
                <a:latin typeface="Courier New"/>
              </a:rPr>
              <a:t>        self.s = 0</a:t>
            </a:r>
          </a:p>
          <a:p>
            <a:pPr>
              <a:defRPr sz="1200" b="0">
                <a:solidFill>
                  <a:srgbClr val="F8FAFC"/>
                </a:solidFill>
                <a:latin typeface="Courier New"/>
              </a:defRPr>
            </a:pPr>
            <a:r>
              <a:rPr sz="1200" b="0">
                <a:solidFill>
                  <a:srgbClr val="F8FAFC"/>
                </a:solidFill>
                <a:latin typeface="Courier New"/>
              </a:rPr>
              <a:t>        return self.s</a:t>
            </a:r>
          </a:p>
          <a:p>
            <a:pPr>
              <a:defRPr sz="1200" b="0">
                <a:solidFill>
                  <a:srgbClr val="F8FAFC"/>
                </a:solidFill>
                <a:latin typeface="Courier New"/>
              </a:defRPr>
            </a:pPr>
            <a:r>
              <a:rPr sz="1200" b="0">
                <a:solidFill>
                  <a:srgbClr val="F8FAFC"/>
                </a:solidFill>
                <a:latin typeface="Courier New"/>
              </a:rPr>
              <a:t>    def step(self, a):</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8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164 — TD Learning, Q-Learning, Deep Q-Networks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Q-learning tabular: en FrozenLake, mantener Q[s, a] numpy array.</a:t>
            </a:r>
          </a:p>
          <a:p>
            <a:pPr>
              <a:spcAft>
                <a:spcPts val="800"/>
              </a:spcAft>
              <a:defRPr sz="1400" b="0">
                <a:solidFill>
                  <a:srgbClr val="0F172A"/>
                </a:solidFill>
                <a:latin typeface="Segoe UI"/>
              </a:defRPr>
            </a:pPr>
            <a:r>
              <a:rPr sz="1400" b="0">
                <a:solidFill>
                  <a:srgbClr val="0F172A"/>
                </a:solidFill>
                <a:latin typeface="Segoe UI"/>
              </a:rPr>
              <a:t>• DQN básico: red Dense(64) → Dense(64) → Dense(2) para CartPole.</a:t>
            </a:r>
          </a:p>
          <a:p>
            <a:pPr>
              <a:spcAft>
                <a:spcPts val="800"/>
              </a:spcAft>
              <a:defRPr sz="1400" b="0">
                <a:solidFill>
                  <a:srgbClr val="0F172A"/>
                </a:solidFill>
                <a:latin typeface="Segoe UI"/>
              </a:defRPr>
            </a:pPr>
            <a:r>
              <a:rPr sz="1400" b="0">
                <a:solidFill>
                  <a:srgbClr val="0F172A"/>
                </a:solidFill>
                <a:latin typeface="Segoe UI"/>
              </a:rPr>
              <a:t>• Replay buffer: from collections import deque; buffer = deque(maxlen=10_000).</a:t>
            </a:r>
          </a:p>
          <a:p>
            <a:pPr>
              <a:spcAft>
                <a:spcPts val="800"/>
              </a:spcAft>
              <a:defRPr sz="1400" b="0">
                <a:solidFill>
                  <a:srgbClr val="0F172A"/>
                </a:solidFill>
                <a:latin typeface="Segoe UI"/>
              </a:defRPr>
            </a:pPr>
            <a:r>
              <a:rPr sz="1400" b="0">
                <a:solidFill>
                  <a:srgbClr val="0F172A"/>
                </a:solidFill>
                <a:latin typeface="Segoe UI"/>
              </a:rPr>
              <a:t>• Target network: copiar Q.weights cada 100 steps a Q_target.</a:t>
            </a:r>
          </a:p>
          <a:p>
            <a:pPr>
              <a:spcAft>
                <a:spcPts val="800"/>
              </a:spcAft>
              <a:defRPr sz="1400" b="0">
                <a:solidFill>
                  <a:srgbClr val="0F172A"/>
                </a:solidFill>
                <a:latin typeface="Segoe UI"/>
              </a:defRPr>
            </a:pPr>
            <a:r>
              <a:rPr sz="1400" b="0">
                <a:solidFill>
                  <a:srgbClr val="0F172A"/>
                </a:solidFill>
                <a:latin typeface="Segoe UI"/>
              </a:rPr>
              <a:t>• ε decay: empezar ε=1.0, decaer linealmente a 0.01 en 10 000 steps.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Red Dense(64, relu) → Dense(64, relu) → Dense(2).</a:t>
            </a:r>
          </a:p>
          <a:p>
            <a:pPr>
              <a:spcAft>
                <a:spcPts val="800"/>
              </a:spcAft>
              <a:defRPr sz="1400" b="0">
                <a:solidFill>
                  <a:srgbClr val="0F172A"/>
                </a:solidFill>
                <a:latin typeface="Segoe UI"/>
              </a:defRPr>
            </a:pPr>
            <a:r>
              <a:rPr sz="1400" b="0">
                <a:solidFill>
                  <a:srgbClr val="0F172A"/>
                </a:solidFill>
                <a:latin typeface="Segoe UI"/>
              </a:rPr>
              <a:t>• Replay buffer 50 000, batch 64.</a:t>
            </a:r>
          </a:p>
          <a:p>
            <a:pPr>
              <a:spcAft>
                <a:spcPts val="800"/>
              </a:spcAft>
              <a:defRPr sz="1400" b="0">
                <a:solidFill>
                  <a:srgbClr val="0F172A"/>
                </a:solidFill>
                <a:latin typeface="Segoe UI"/>
              </a:defRPr>
            </a:pPr>
            <a:r>
              <a:rPr sz="1400" b="0">
                <a:solidFill>
                  <a:srgbClr val="0F172A"/>
                </a:solidFill>
                <a:latin typeface="Segoe UI"/>
              </a:rPr>
              <a:t>• Target network sync cada 100 steps.</a:t>
            </a:r>
          </a:p>
          <a:p>
            <a:pPr>
              <a:spcAft>
                <a:spcPts val="800"/>
              </a:spcAft>
              <a:defRPr sz="1400" b="0">
                <a:solidFill>
                  <a:srgbClr val="0F172A"/>
                </a:solidFill>
                <a:latin typeface="Segoe UI"/>
              </a:defRPr>
            </a:pPr>
            <a:r>
              <a:rPr sz="1400" b="0">
                <a:solidFill>
                  <a:srgbClr val="0F172A"/>
                </a:solidFill>
                <a:latin typeface="Segoe UI"/>
              </a:rPr>
              <a:t>• ε: linear decay 1.0 → 0.05 sobre 10 000 steps.</a:t>
            </a:r>
          </a:p>
          <a:p>
            <a:pPr>
              <a:spcAft>
                <a:spcPts val="800"/>
              </a:spcAft>
              <a:defRPr sz="1400" b="0">
                <a:solidFill>
                  <a:srgbClr val="0F172A"/>
                </a:solidFill>
                <a:latin typeface="Segoe UI"/>
              </a:defRPr>
            </a:pPr>
            <a:r>
              <a:rPr sz="1400" b="0">
                <a:solidFill>
                  <a:srgbClr val="0F172A"/>
                </a:solidFill>
                <a:latin typeface="Segoe UI"/>
              </a:rPr>
              <a:t>• Train hasta mean_reward(100 episodios) ≥ 195.</a:t>
            </a:r>
          </a:p>
        </p:txBody>
      </p:sp>
    </p:spTree>
  </p:cSld>
  <p:clrMapOvr>
    <a:masterClrMapping/>
  </p:clrMapOvr>
</p:sld>
</file>

<file path=ppt/slides/slide8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165 — RL moderno: A3C, PPO, SAC (vista general)</a:t>
            </a:r>
          </a:p>
        </p:txBody>
      </p:sp>
    </p:spTree>
  </p:cSld>
  <p:clrMapOvr>
    <a:masterClrMapping/>
  </p:clrMapOvr>
</p:sld>
</file>

<file path=ppt/slides/slide8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165 — RL moderno: A3C, PPO, SAC (vista general)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papers A3C (Mnih 2016), PPO (Schulman 2017), SAC (Haarnoja 2018) + docs Stable-Baselines3.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Vista general (sin implementación desde cero) de los 3 algoritmos modernos de RL: A3C (Asynchronous Advantage Actor-Critic), PPO (Proximal Policy Optimization — el default industrial), y SAC (Soft Actor-Critic — off-policy, continuous actions). Saber cuál elegir y cómo usarlos con Stable-Baselines3.</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on-policy (A3C, PPO) de off-policy (SAC, DQN).</a:t>
            </a:r>
          </a:p>
          <a:p>
            <a:pPr>
              <a:spcAft>
                <a:spcPts val="800"/>
              </a:spcAft>
              <a:defRPr sz="1400" b="0">
                <a:solidFill>
                  <a:srgbClr val="0F172A"/>
                </a:solidFill>
                <a:latin typeface="Segoe UI"/>
              </a:defRPr>
            </a:pPr>
            <a:r>
              <a:rPr sz="1400" b="0">
                <a:solidFill>
                  <a:srgbClr val="0F172A"/>
                </a:solidFill>
                <a:latin typeface="Segoe UI"/>
              </a:rPr>
              <a:t>• Reconocer la idea de Actor-Critic: dos redes — actor (policy) + critic (value).</a:t>
            </a:r>
          </a:p>
          <a:p>
            <a:pPr>
              <a:spcAft>
                <a:spcPts val="800"/>
              </a:spcAft>
              <a:defRPr sz="1400" b="0">
                <a:solidFill>
                  <a:srgbClr val="0F172A"/>
                </a:solidFill>
                <a:latin typeface="Segoe UI"/>
              </a:defRPr>
            </a:pPr>
            <a:r>
              <a:rPr sz="1400" b="0">
                <a:solidFill>
                  <a:srgbClr val="0F172A"/>
                </a:solidFill>
                <a:latin typeface="Segoe UI"/>
              </a:rPr>
              <a:t>• Entender el clipped objective de PPO: limita updates a [1-ε, 1+ε] veces el old policy → estabilidad.</a:t>
            </a:r>
          </a:p>
          <a:p>
            <a:pPr>
              <a:spcAft>
                <a:spcPts val="800"/>
              </a:spcAft>
              <a:defRPr sz="1400" b="0">
                <a:solidFill>
                  <a:srgbClr val="0F172A"/>
                </a:solidFill>
                <a:latin typeface="Segoe UI"/>
              </a:defRPr>
            </a:pPr>
            <a:r>
              <a:rPr sz="1400" b="0">
                <a:solidFill>
                  <a:srgbClr val="0F172A"/>
                </a:solidFill>
                <a:latin typeface="Segoe UI"/>
              </a:rPr>
              <a:t>• Usar Stable-Baselines3: PPO('MlpPolicy', env).learn(total_timesteps=100_000).</a:t>
            </a:r>
          </a:p>
          <a:p>
            <a:pPr>
              <a:spcAft>
                <a:spcPts val="800"/>
              </a:spcAft>
              <a:defRPr sz="1400" b="0">
                <a:solidFill>
                  <a:srgbClr val="0F172A"/>
                </a:solidFill>
                <a:latin typeface="Segoe UI"/>
              </a:defRPr>
            </a:pPr>
            <a:r>
              <a:rPr sz="1400" b="0">
                <a:solidFill>
                  <a:srgbClr val="0F172A"/>
                </a:solidFill>
                <a:latin typeface="Segoe UI"/>
              </a:rPr>
              <a:t>• Elegir: PPO para discreto/continuo, on-policy. SAC para continuo, off-policy, sample-efficient.</a:t>
            </a:r>
          </a:p>
        </p:txBody>
      </p:sp>
    </p:spTree>
  </p:cSld>
  <p:clrMapOvr>
    <a:masterClrMapping/>
  </p:clrMapOvr>
</p:sld>
</file>

<file path=ppt/slides/slide8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165 — RL moderno: A3C, PPO, SAC (vista general)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Actor-Critic: actor da policy, critic da V(s). Advantage = G - V(s).</a:t>
            </a:r>
          </a:p>
          <a:p>
            <a:pPr>
              <a:spcAft>
                <a:spcPts val="1000"/>
              </a:spcAft>
              <a:defRPr sz="1600" b="0">
                <a:solidFill>
                  <a:srgbClr val="0F172A"/>
                </a:solidFill>
                <a:latin typeface="Segoe UI"/>
              </a:defRPr>
            </a:pPr>
            <a:r>
              <a:rPr sz="1600" b="0">
                <a:solidFill>
                  <a:srgbClr val="0F172A"/>
                </a:solidFill>
                <a:latin typeface="Segoe UI"/>
              </a:rPr>
              <a:t>• A3C: async + advantage actor-critic. Paralelización con multiples workers.</a:t>
            </a:r>
          </a:p>
          <a:p>
            <a:pPr>
              <a:spcAft>
                <a:spcPts val="1000"/>
              </a:spcAft>
              <a:defRPr sz="1600" b="0">
                <a:solidFill>
                  <a:srgbClr val="0F172A"/>
                </a:solidFill>
                <a:latin typeface="Segoe UI"/>
              </a:defRPr>
            </a:pPr>
            <a:r>
              <a:rPr sz="1600" b="0">
                <a:solidFill>
                  <a:srgbClr val="0F172A"/>
                </a:solidFill>
                <a:latin typeface="Segoe UI"/>
              </a:rPr>
              <a:t>• A2C: variante sincrónica (más simple).</a:t>
            </a:r>
          </a:p>
          <a:p>
            <a:pPr>
              <a:spcAft>
                <a:spcPts val="1000"/>
              </a:spcAft>
              <a:defRPr sz="1600" b="0">
                <a:solidFill>
                  <a:srgbClr val="0F172A"/>
                </a:solidFill>
                <a:latin typeface="Segoe UI"/>
              </a:defRPr>
            </a:pPr>
            <a:r>
              <a:rPr sz="1600" b="0">
                <a:solidFill>
                  <a:srgbClr val="0F172A"/>
                </a:solidFill>
                <a:latin typeface="Segoe UI"/>
              </a:rPr>
              <a:t>• PPO: clipped surrogate objective.</a:t>
            </a:r>
          </a:p>
          <a:p>
            <a:pPr>
              <a:spcAft>
                <a:spcPts val="1000"/>
              </a:spcAft>
              <a:defRPr sz="1600" b="0">
                <a:solidFill>
                  <a:srgbClr val="0F172A"/>
                </a:solidFill>
                <a:latin typeface="Segoe UI"/>
              </a:defRPr>
            </a:pPr>
            <a:r>
              <a:rPr sz="1600" b="0">
                <a:solidFill>
                  <a:srgbClr val="0F172A"/>
                </a:solidFill>
                <a:latin typeface="Segoe UI"/>
              </a:rPr>
              <a:t>• SAC: actor-critic off-policy + entropy regularization.</a:t>
            </a:r>
          </a:p>
          <a:p>
            <a:pPr>
              <a:spcAft>
                <a:spcPts val="1000"/>
              </a:spcAft>
              <a:defRPr sz="1600" b="0">
                <a:solidFill>
                  <a:srgbClr val="0F172A"/>
                </a:solidFill>
                <a:latin typeface="Segoe UI"/>
              </a:defRPr>
            </a:pPr>
            <a:r>
              <a:rPr sz="1600" b="0">
                <a:solidFill>
                  <a:srgbClr val="0F172A"/>
                </a:solidFill>
                <a:latin typeface="Segoe UI"/>
              </a:rPr>
              <a:t>• Stable-Baselines3 como librería estándar.</a:t>
            </a:r>
          </a:p>
        </p:txBody>
      </p:sp>
    </p:spTree>
  </p:cSld>
  <p:clrMapOvr>
    <a:masterClrMapping/>
  </p:clrMapOvr>
</p:sld>
</file>

<file path=ppt/slides/slide8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165 — RL moderno: A3C, PPO, SAC (vista general)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 Actor π_θ(a|s): elige acciones. - Critic V_φ(s): estima el valor del estado. - Advantage A(s,a) = G − V(s): cuánto mejor fue la acción que el promedio.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Ejemplo de "critic" como funcion de valor estimada (aqui, un baseline aprendido simulado)</a:t>
            </a:r>
          </a:p>
          <a:p>
            <a:pPr>
              <a:defRPr sz="1200" b="0">
                <a:solidFill>
                  <a:srgbClr val="F8FAFC"/>
                </a:solidFill>
                <a:latin typeface="Courier New"/>
              </a:defRPr>
            </a:pPr>
            <a:r>
              <a:rPr sz="1200" b="0">
                <a:solidFill>
                  <a:srgbClr val="F8FAFC"/>
                </a:solidFill>
                <a:latin typeface="Courier New"/>
              </a:rPr>
              <a:t>rewards = np.array([1, 1, 1, 1, 10, 0, 0], dtype=float)</a:t>
            </a:r>
          </a:p>
          <a:p>
            <a:pPr>
              <a:defRPr sz="1200" b="0">
                <a:solidFill>
                  <a:srgbClr val="F8FAFC"/>
                </a:solidFill>
                <a:latin typeface="Courier New"/>
              </a:defRPr>
            </a:pPr>
            <a:r>
              <a:rPr sz="1200" b="0">
                <a:solidFill>
                  <a:srgbClr val="F8FAFC"/>
                </a:solidFill>
                <a:latin typeface="Courier New"/>
              </a:rPr>
              <a:t>values  = np.array([2, 3, 4, 6, 8, 1, 0, 0], dtype=float)   # V(s_0..s_T), largo T+1 (bootstrap)</a:t>
            </a:r>
          </a:p>
          <a:p>
            <a:pPr>
              <a:defRPr sz="1200" b="0">
                <a:solidFill>
                  <a:srgbClr val="F8FAFC"/>
                </a:solidFill>
                <a:latin typeface="Courier New"/>
              </a:defRPr>
            </a:pPr>
            <a:r>
              <a:rPr sz="1200" b="0">
                <a:solidFill>
                  <a:srgbClr val="F8FAFC"/>
                </a:solidFill>
                <a:latin typeface="Courier New"/>
              </a:rPr>
              <a:t>print("rewards:", rewards)</a:t>
            </a:r>
          </a:p>
          <a:p>
            <a:pPr>
              <a:defRPr sz="1200" b="0">
                <a:solidFill>
                  <a:srgbClr val="F8FAFC"/>
                </a:solidFill>
                <a:latin typeface="Courier New"/>
              </a:defRPr>
            </a:pPr>
            <a:r>
              <a:rPr sz="1200" b="0">
                <a:solidFill>
                  <a:srgbClr val="F8FAFC"/>
                </a:solidFill>
                <a:latin typeface="Courier New"/>
              </a:rPr>
              <a:t>print("values :", values)</a:t>
            </a:r>
          </a:p>
        </p:txBody>
      </p:sp>
    </p:spTree>
  </p:cSld>
  <p:clrMapOvr>
    <a:masterClrMapping/>
  </p:clrMapOvr>
</p:sld>
</file>

<file path=ppt/slides/slide8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165 — RL moderno: A3C, PPO, SAC (vista general)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PPO con SB3: from stable_baselines3 import PPO; model = PPO('MlpPolicy', 'CartPole-v1', verbose=1); model.learn(50_000).</a:t>
            </a:r>
          </a:p>
          <a:p>
            <a:pPr>
              <a:spcAft>
                <a:spcPts val="800"/>
              </a:spcAft>
              <a:defRPr sz="1400" b="0">
                <a:solidFill>
                  <a:srgbClr val="0F172A"/>
                </a:solidFill>
                <a:latin typeface="Segoe UI"/>
              </a:defRPr>
            </a:pPr>
            <a:r>
              <a:rPr sz="1400" b="0">
                <a:solidFill>
                  <a:srgbClr val="0F172A"/>
                </a:solidFill>
                <a:latin typeface="Segoe UI"/>
              </a:rPr>
              <a:t>• SAC en Pendulum: SAC('MlpPolicy', 'Pendulum-v1').learn(20_000).</a:t>
            </a:r>
          </a:p>
          <a:p>
            <a:pPr>
              <a:spcAft>
                <a:spcPts val="800"/>
              </a:spcAft>
              <a:defRPr sz="1400" b="0">
                <a:solidFill>
                  <a:srgbClr val="0F172A"/>
                </a:solidFill>
                <a:latin typeface="Segoe UI"/>
              </a:defRPr>
            </a:pPr>
            <a:r>
              <a:rPr sz="1400" b="0">
                <a:solidFill>
                  <a:srgbClr val="0F172A"/>
                </a:solidFill>
                <a:latin typeface="Segoe UI"/>
              </a:rPr>
              <a:t>• Comparar: PPO vs SAC en LunarLander; reportar return y sample efficiency.</a:t>
            </a:r>
          </a:p>
          <a:p>
            <a:pPr>
              <a:spcAft>
                <a:spcPts val="800"/>
              </a:spcAft>
              <a:defRPr sz="1400" b="0">
                <a:solidFill>
                  <a:srgbClr val="0F172A"/>
                </a:solidFill>
                <a:latin typeface="Segoe UI"/>
              </a:defRPr>
            </a:pPr>
            <a:r>
              <a:rPr sz="1400" b="0">
                <a:solidFill>
                  <a:srgbClr val="0F172A"/>
                </a:solidFill>
                <a:latin typeface="Segoe UI"/>
              </a:rPr>
              <a:t>• TensorBoard: PPO(..., tensorboard_log='./tb/') y ver curvas.</a:t>
            </a:r>
          </a:p>
          <a:p>
            <a:pPr>
              <a:spcAft>
                <a:spcPts val="800"/>
              </a:spcAft>
              <a:defRPr sz="1400" b="0">
                <a:solidFill>
                  <a:srgbClr val="0F172A"/>
                </a:solidFill>
                <a:latin typeface="Segoe UI"/>
              </a:defRPr>
            </a:pPr>
            <a:r>
              <a:rPr sz="1400" b="0">
                <a:solidFill>
                  <a:srgbClr val="0F172A"/>
                </a:solidFill>
                <a:latin typeface="Segoe UI"/>
              </a:rPr>
              <a:t>• Custom callback: EvalCallback para evaluar cada N steps y guardar mejor modelo.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PPO('MlpPolicy', 'LunarLander-v3', verbose=1, tensorboard_log='./tb/').</a:t>
            </a:r>
          </a:p>
          <a:p>
            <a:pPr>
              <a:spcAft>
                <a:spcPts val="800"/>
              </a:spcAft>
              <a:defRPr sz="1500" b="0">
                <a:solidFill>
                  <a:srgbClr val="0F172A"/>
                </a:solidFill>
                <a:latin typeface="Segoe UI"/>
              </a:defRPr>
            </a:pPr>
            <a:r>
              <a:rPr sz="1500" b="0">
                <a:solidFill>
                  <a:srgbClr val="0F172A"/>
                </a:solidFill>
                <a:latin typeface="Segoe UI"/>
              </a:rPr>
              <a:t>• model.learn(total_timesteps=500_000).</a:t>
            </a:r>
          </a:p>
          <a:p>
            <a:pPr>
              <a:spcAft>
                <a:spcPts val="800"/>
              </a:spcAft>
              <a:defRPr sz="1500" b="0">
                <a:solidFill>
                  <a:srgbClr val="0F172A"/>
                </a:solidFill>
                <a:latin typeface="Segoe UI"/>
              </a:defRPr>
            </a:pPr>
            <a:r>
              <a:rPr sz="1500" b="0">
                <a:solidFill>
                  <a:srgbClr val="0F172A"/>
                </a:solidFill>
                <a:latin typeface="Segoe UI"/>
              </a:rPr>
              <a:t>• Evaluar 100 episodios; reportar mean reward.</a:t>
            </a:r>
          </a:p>
        </p:txBody>
      </p:sp>
    </p:spTree>
  </p:cSld>
  <p:clrMapOvr>
    <a:masterClrMapping/>
  </p:clrMapOvr>
</p:sld>
</file>

<file path=ppt/slides/slide8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166 — TF Serving + gRPC (+ ONNX, TensorRT, vLLM/TGI)</a:t>
            </a:r>
          </a:p>
        </p:txBody>
      </p:sp>
    </p:spTree>
  </p:cSld>
  <p:clrMapOvr>
    <a:masterClrMapping/>
  </p:clrMapOvr>
</p:sld>
</file>

<file path=ppt/slides/slide8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166 — TF Serving + gRPC (+ ONNX, TensorRT, vLLM/TGI)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Deploying a Model to a Service + docs ONNX, TensorRT, vLLM, TGI.  Duración estimada: 100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Servir un modelo entrenado a producción. Aprender TF Serving (oficial de TensorFlow, gRPC/REST, batching) y las alternativas modernas multi-framework: ONNX + ONNX Runtime (portable a cualquier framework / runtime), TensorRT (NVIDIA, máxima velocidad en GPU NVIDIA), y para LLMs: vLLM y TGI (Text Generation Inference) — específicos del caso autoregresivo con continuous batching.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Exportar un modelo Keras a SavedModel: model.save('servable/1/', save_format='tf').</a:t>
            </a:r>
          </a:p>
          <a:p>
            <a:pPr>
              <a:spcAft>
                <a:spcPts val="800"/>
              </a:spcAft>
              <a:defRPr sz="1400" b="0">
                <a:solidFill>
                  <a:srgbClr val="0F172A"/>
                </a:solidFill>
                <a:latin typeface="Segoe UI"/>
              </a:defRPr>
            </a:pPr>
            <a:r>
              <a:rPr sz="1400" b="0">
                <a:solidFill>
                  <a:srgbClr val="0F172A"/>
                </a:solidFill>
                <a:latin typeface="Segoe UI"/>
              </a:rPr>
              <a:t>• Levantar TF Serving con Docker: docker run -p 8501:8501 -v $PWD/servable:/models/m tensorflow/serving --model_name=m.</a:t>
            </a:r>
          </a:p>
          <a:p>
            <a:pPr>
              <a:spcAft>
                <a:spcPts val="800"/>
              </a:spcAft>
              <a:defRPr sz="1400" b="0">
                <a:solidFill>
                  <a:srgbClr val="0F172A"/>
                </a:solidFill>
                <a:latin typeface="Segoe UI"/>
              </a:defRPr>
            </a:pPr>
            <a:r>
              <a:rPr sz="1400" b="0">
                <a:solidFill>
                  <a:srgbClr val="0F172A"/>
                </a:solidFill>
                <a:latin typeface="Segoe UI"/>
              </a:rPr>
              <a:t>• Hacer requests REST/gRPC.</a:t>
            </a:r>
          </a:p>
          <a:p>
            <a:pPr>
              <a:spcAft>
                <a:spcPts val="800"/>
              </a:spcAft>
              <a:defRPr sz="1400" b="0">
                <a:solidFill>
                  <a:srgbClr val="0F172A"/>
                </a:solidFill>
                <a:latin typeface="Segoe UI"/>
              </a:defRPr>
            </a:pPr>
            <a:r>
              <a:rPr sz="1400" b="0">
                <a:solidFill>
                  <a:srgbClr val="0F172A"/>
                </a:solidFill>
                <a:latin typeface="Segoe UI"/>
              </a:rPr>
              <a:t>• Exportar a ONNX con tf2onnx / torch.onnx.export, servir con ONNX Runtime.</a:t>
            </a:r>
          </a:p>
          <a:p>
            <a:pPr>
              <a:spcAft>
                <a:spcPts val="800"/>
              </a:spcAft>
              <a:defRPr sz="1400" b="0">
                <a:solidFill>
                  <a:srgbClr val="0F172A"/>
                </a:solidFill>
                <a:latin typeface="Segoe UI"/>
              </a:defRPr>
            </a:pPr>
            <a:r>
              <a:rPr sz="1400" b="0">
                <a:solidFill>
                  <a:srgbClr val="0F172A"/>
                </a:solidFill>
                <a:latin typeface="Segoe UI"/>
              </a:rPr>
              <a:t>• Conocer cuándo usar TensorRT (latencia mínima en GPU NVIDIA) o vLLM/TGI (LLMs).</a:t>
            </a:r>
          </a:p>
        </p:txBody>
      </p:sp>
    </p:spTree>
  </p:cSld>
  <p:clrMapOvr>
    <a:masterClrMapping/>
  </p:clrMapOvr>
</p:sld>
</file>

<file path=ppt/slides/slide8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166 — TF Serving + gRPC (+ ONNX, TensorRT, vLLM/TGI)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SavedModel format (TF nativo).</a:t>
            </a:r>
          </a:p>
          <a:p>
            <a:pPr>
              <a:spcAft>
                <a:spcPts val="1000"/>
              </a:spcAft>
              <a:defRPr sz="1800" b="0">
                <a:solidFill>
                  <a:srgbClr val="0F172A"/>
                </a:solidFill>
                <a:latin typeface="Segoe UI"/>
              </a:defRPr>
            </a:pPr>
            <a:r>
              <a:rPr sz="1800" b="0">
                <a:solidFill>
                  <a:srgbClr val="0F172A"/>
                </a:solidFill>
                <a:latin typeface="Segoe UI"/>
              </a:rPr>
              <a:t>• TF Serving: configuración, versioning, model warm-up, batching.</a:t>
            </a:r>
          </a:p>
          <a:p>
            <a:pPr>
              <a:spcAft>
                <a:spcPts val="1000"/>
              </a:spcAft>
              <a:defRPr sz="1800" b="0">
                <a:solidFill>
                  <a:srgbClr val="0F172A"/>
                </a:solidFill>
                <a:latin typeface="Segoe UI"/>
              </a:defRPr>
            </a:pPr>
            <a:r>
              <a:rPr sz="1800" b="0">
                <a:solidFill>
                  <a:srgbClr val="0F172A"/>
                </a:solidFill>
                <a:latin typeface="Segoe UI"/>
              </a:rPr>
              <a:t>• gRPC vs REST: gRPC más rápido (binary protobuf); REST más simple.</a:t>
            </a:r>
          </a:p>
          <a:p>
            <a:pPr>
              <a:spcAft>
                <a:spcPts val="1000"/>
              </a:spcAft>
              <a:defRPr sz="1800" b="0">
                <a:solidFill>
                  <a:srgbClr val="0F172A"/>
                </a:solidFill>
                <a:latin typeface="Segoe UI"/>
              </a:defRPr>
            </a:pPr>
            <a:r>
              <a:rPr sz="1800" b="0">
                <a:solidFill>
                  <a:srgbClr val="0F172A"/>
                </a:solidFill>
                <a:latin typeface="Segoe UI"/>
              </a:rPr>
              <a:t>• Complemento moderno: ONNX/ONNX Runtime, TensorRT, vLLM/TGI.</a:t>
            </a:r>
          </a:p>
        </p:txBody>
      </p:sp>
    </p:spTree>
  </p:cSld>
  <p:clrMapOvr>
    <a:masterClrMapping/>
  </p:clrMapOvr>
</p:sld>
</file>

<file path=ppt/slides/slide8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166 — TF Serving + gRPC (+ ONNX, TensorRT, vLLM/TGI)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TF Serving sirve el formato SavedModel (grafo + variables + signature). La carpeta de versión (1/) es obligatoria: TF Serving sirve por defecto la versión numérica más alta.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de export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model =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keras.layers.Dense(64, activation="relu"),</a:t>
            </a:r>
          </a:p>
          <a:p>
            <a:pPr>
              <a:defRPr sz="1200" b="0">
                <a:solidFill>
                  <a:srgbClr val="F8FAFC"/>
                </a:solidFill>
                <a:latin typeface="Courier New"/>
              </a:defRPr>
            </a:pPr>
            <a:r>
              <a:rPr sz="1200" b="0">
                <a:solidFill>
                  <a:srgbClr val="F8FAFC"/>
                </a:solidFill>
                <a:latin typeface="Courier New"/>
              </a:rPr>
              <a:t>        keras.layers.Dense(10,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model.export("servable/1/")                 # Keras 3: escribe un SavedModel servible</a:t>
            </a:r>
          </a:p>
          <a:p>
            <a:pPr>
              <a:defRPr sz="1200" b="0">
                <a:solidFill>
                  <a:srgbClr val="F8FAFC"/>
                </a:solidFill>
                <a:latin typeface="Courier New"/>
              </a:defRPr>
            </a:pPr>
            <a:r>
              <a:rPr sz="1200" b="0">
                <a:solidFill>
                  <a:srgbClr val="F8FAFC"/>
                </a:solidFill>
                <a:latin typeface="Courier New"/>
              </a:rPr>
              <a:t>    print("SavedModel exportado en servable/1/  (saved_model.pb, variables/, assets/)")</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8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166 — TF Serving + gRPC (+ ONNX, TensorRT, vLLM/TGI)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Export SavedModel: model.export('servable/1/') (Keras 3).</a:t>
            </a:r>
          </a:p>
          <a:p>
            <a:pPr>
              <a:spcAft>
                <a:spcPts val="800"/>
              </a:spcAft>
              <a:defRPr sz="1400" b="0">
                <a:solidFill>
                  <a:srgbClr val="0F172A"/>
                </a:solidFill>
                <a:latin typeface="Segoe UI"/>
              </a:defRPr>
            </a:pPr>
            <a:r>
              <a:rPr sz="1400" b="0">
                <a:solidFill>
                  <a:srgbClr val="0F172A"/>
                </a:solidFill>
                <a:latin typeface="Segoe UI"/>
              </a:rPr>
              <a:t>• TF Serving con Docker: levantar el container con el modelo montado, hacer una request REST a localhost:8501/v1/models/m:predict.</a:t>
            </a:r>
          </a:p>
          <a:p>
            <a:pPr>
              <a:spcAft>
                <a:spcPts val="800"/>
              </a:spcAft>
              <a:defRPr sz="1400" b="0">
                <a:solidFill>
                  <a:srgbClr val="0F172A"/>
                </a:solidFill>
                <a:latin typeface="Segoe UI"/>
              </a:defRPr>
            </a:pPr>
            <a:r>
              <a:rPr sz="1400" b="0">
                <a:solidFill>
                  <a:srgbClr val="0F172A"/>
                </a:solidFill>
                <a:latin typeface="Segoe UI"/>
              </a:rPr>
              <a:t>• ONNX export: convertir el TF model a ONNX con tf2onnx.</a:t>
            </a:r>
          </a:p>
          <a:p>
            <a:pPr>
              <a:spcAft>
                <a:spcPts val="800"/>
              </a:spcAft>
              <a:defRPr sz="1400" b="0">
                <a:solidFill>
                  <a:srgbClr val="0F172A"/>
                </a:solidFill>
                <a:latin typeface="Segoe UI"/>
              </a:defRPr>
            </a:pPr>
            <a:r>
              <a:rPr sz="1400" b="0">
                <a:solidFill>
                  <a:srgbClr val="0F172A"/>
                </a:solidFill>
                <a:latin typeface="Segoe UI"/>
              </a:rPr>
              <a:t>• vLLM: levantar vllm con mistralai/Mistral-7B-Instruct.</a:t>
            </a:r>
          </a:p>
          <a:p>
            <a:pPr>
              <a:spcAft>
                <a:spcPts val="800"/>
              </a:spcAft>
              <a:defRPr sz="1400" b="0">
                <a:solidFill>
                  <a:srgbClr val="0F172A"/>
                </a:solidFill>
                <a:latin typeface="Segoe UI"/>
              </a:defRPr>
            </a:pPr>
            <a:r>
              <a:rPr sz="1400" b="0">
                <a:solidFill>
                  <a:srgbClr val="0F172A"/>
                </a:solidFill>
                <a:latin typeface="Segoe UI"/>
              </a:rPr>
              <a:t>• Latencia comparada: TF Serving REST vs gRPC vs ONNX Runtime CPU vs TensorRT GPU sobre el mismo modelo.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model.export('servable/1/').</a:t>
            </a:r>
          </a:p>
          <a:p>
            <a:pPr>
              <a:spcAft>
                <a:spcPts val="800"/>
              </a:spcAft>
              <a:defRPr sz="1400" b="0">
                <a:solidFill>
                  <a:srgbClr val="0F172A"/>
                </a:solidFill>
                <a:latin typeface="Segoe UI"/>
              </a:defRPr>
            </a:pPr>
            <a:r>
              <a:rPr sz="1400" b="0">
                <a:solidFill>
                  <a:srgbClr val="0F172A"/>
                </a:solidFill>
                <a:latin typeface="Segoe UI"/>
              </a:rPr>
              <a:t>• Docker run TF Serving.</a:t>
            </a:r>
          </a:p>
          <a:p>
            <a:pPr>
              <a:spcAft>
                <a:spcPts val="800"/>
              </a:spcAft>
              <a:defRPr sz="1400" b="0">
                <a:solidFill>
                  <a:srgbClr val="0F172A"/>
                </a:solidFill>
                <a:latin typeface="Segoe UI"/>
              </a:defRPr>
            </a:pPr>
            <a:r>
              <a:rPr sz="1400" b="0">
                <a:solidFill>
                  <a:srgbClr val="0F172A"/>
                </a:solidFill>
                <a:latin typeface="Segoe UI"/>
              </a:rPr>
              <a:t>• Convert TF → ONNX.</a:t>
            </a:r>
          </a:p>
          <a:p>
            <a:pPr>
              <a:spcAft>
                <a:spcPts val="800"/>
              </a:spcAft>
              <a:defRPr sz="1400" b="0">
                <a:solidFill>
                  <a:srgbClr val="0F172A"/>
                </a:solidFill>
                <a:latin typeface="Segoe UI"/>
              </a:defRPr>
            </a:pPr>
            <a:r>
              <a:rPr sz="1400" b="0">
                <a:solidFill>
                  <a:srgbClr val="0F172A"/>
                </a:solidFill>
                <a:latin typeface="Segoe UI"/>
              </a:rPr>
              <a:t>• Inference con ambos sobre los mismos 100 inputs; verificar outputs idénticos (±1e-5).</a:t>
            </a:r>
          </a:p>
          <a:p>
            <a:pPr>
              <a:spcAft>
                <a:spcPts val="800"/>
              </a:spcAft>
              <a:defRPr sz="1400" b="0">
                <a:solidFill>
                  <a:srgbClr val="0F172A"/>
                </a:solidFill>
                <a:latin typeface="Segoe UI"/>
              </a:defRPr>
            </a:pPr>
            <a:r>
              <a:rPr sz="1400" b="0">
                <a:solidFill>
                  <a:srgbClr val="0F172A"/>
                </a:solidFill>
                <a:latin typeface="Segoe UI"/>
              </a:rPr>
              <a:t>• Comparar latencia.</a:t>
            </a:r>
          </a:p>
        </p:txBody>
      </p:sp>
    </p:spTree>
  </p:cSld>
  <p:clrMapOvr>
    <a:masterClrMapping/>
  </p:clrMapOvr>
</p:sld>
</file>

<file path=ppt/slides/slide83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167 — ONNX y ONNX Runtime: portabilidad e inference optimizada</a:t>
            </a:r>
          </a:p>
        </p:txBody>
      </p:sp>
    </p:spTree>
  </p:cSld>
  <p:clrMapOvr>
    <a:masterClrMapping/>
  </p:clrMapOvr>
</p:sld>
</file>

<file path=ppt/slides/slide8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167 — ONNX y ONNX Runtime: portabilidad e inference optimizada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ONNX docs + ONNX Runtime team blogs.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ONNX (formato intermedio) y ONNX Runtime (runtime cross-platform) — la solución portable para inference: entrenás en TF/PyTorch/JAX, exportás a ONNX, corrés en cualquier hardware (CPU, GPU NVIDIA, GPU AMD, mobile, browser, edge). Conocer TensorRT (NVIDIA-specific, mayor performance).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Exportar modelos: torch.onnx.export, tf2onnx.convert.</a:t>
            </a:r>
          </a:p>
          <a:p>
            <a:pPr>
              <a:spcAft>
                <a:spcPts val="800"/>
              </a:spcAft>
              <a:defRPr sz="1400" b="0">
                <a:solidFill>
                  <a:srgbClr val="0F172A"/>
                </a:solidFill>
                <a:latin typeface="Segoe UI"/>
              </a:defRPr>
            </a:pPr>
            <a:r>
              <a:rPr sz="1400" b="0">
                <a:solidFill>
                  <a:srgbClr val="0F172A"/>
                </a:solidFill>
                <a:latin typeface="Segoe UI"/>
              </a:rPr>
              <a:t>• Cargar e inferir con onnxruntime.InferenceSession.</a:t>
            </a:r>
          </a:p>
          <a:p>
            <a:pPr>
              <a:spcAft>
                <a:spcPts val="800"/>
              </a:spcAft>
              <a:defRPr sz="1400" b="0">
                <a:solidFill>
                  <a:srgbClr val="0F172A"/>
                </a:solidFill>
                <a:latin typeface="Segoe UI"/>
              </a:defRPr>
            </a:pPr>
            <a:r>
              <a:rPr sz="1400" b="0">
                <a:solidFill>
                  <a:srgbClr val="0F172A"/>
                </a:solidFill>
                <a:latin typeface="Segoe UI"/>
              </a:rPr>
              <a:t>• Elegir execution provider: CPU, CUDA, TensorRT, OpenVINO, DirectML, CoreML.</a:t>
            </a:r>
          </a:p>
          <a:p>
            <a:pPr>
              <a:spcAft>
                <a:spcPts val="800"/>
              </a:spcAft>
              <a:defRPr sz="1400" b="0">
                <a:solidFill>
                  <a:srgbClr val="0F172A"/>
                </a:solidFill>
                <a:latin typeface="Segoe UI"/>
              </a:defRPr>
            </a:pPr>
            <a:r>
              <a:rPr sz="1400" b="0">
                <a:solidFill>
                  <a:srgbClr val="0F172A"/>
                </a:solidFill>
                <a:latin typeface="Segoe UI"/>
              </a:rPr>
              <a:t>• Optimizar modelos: graph optimization, quantization int8/fp16.</a:t>
            </a:r>
          </a:p>
          <a:p>
            <a:pPr>
              <a:spcAft>
                <a:spcPts val="800"/>
              </a:spcAft>
              <a:defRPr sz="1400" b="0">
                <a:solidFill>
                  <a:srgbClr val="0F172A"/>
                </a:solidFill>
                <a:latin typeface="Segoe UI"/>
              </a:defRPr>
            </a:pPr>
            <a:r>
              <a:rPr sz="1400" b="0">
                <a:solidFill>
                  <a:srgbClr val="0F172A"/>
                </a:solidFill>
                <a:latin typeface="Segoe UI"/>
              </a:rPr>
              <a:t>• Reconocer cuándo ONNX vs TF Serving vs vLLM (LLMs).</a:t>
            </a:r>
          </a:p>
        </p:txBody>
      </p:sp>
    </p:spTree>
  </p:cSld>
  <p:clrMapOvr>
    <a:masterClrMapping/>
  </p:clrMapOvr>
</p:sld>
</file>

<file path=ppt/slides/slide8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167 — ONNX y ONNX Runtime: portabilidad e inference optimizada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ONNX como protocolo (protobuf): operator set + tensor types.</a:t>
            </a:r>
          </a:p>
          <a:p>
            <a:pPr>
              <a:spcAft>
                <a:spcPts val="1000"/>
              </a:spcAft>
              <a:defRPr sz="1600" b="0">
                <a:solidFill>
                  <a:srgbClr val="0F172A"/>
                </a:solidFill>
                <a:latin typeface="Segoe UI"/>
              </a:defRPr>
            </a:pPr>
            <a:r>
              <a:rPr sz="1600" b="0">
                <a:solidFill>
                  <a:srgbClr val="0F172A"/>
                </a:solidFill>
                <a:latin typeface="Segoe UI"/>
              </a:rPr>
              <a:t>• Conversión: cada framework tiene su exporter.</a:t>
            </a:r>
          </a:p>
          <a:p>
            <a:pPr>
              <a:spcAft>
                <a:spcPts val="1000"/>
              </a:spcAft>
              <a:defRPr sz="1600" b="0">
                <a:solidFill>
                  <a:srgbClr val="0F172A"/>
                </a:solidFill>
                <a:latin typeface="Segoe UI"/>
              </a:defRPr>
            </a:pPr>
            <a:r>
              <a:rPr sz="1600" b="0">
                <a:solidFill>
                  <a:srgbClr val="0F172A"/>
                </a:solidFill>
                <a:latin typeface="Segoe UI"/>
              </a:rPr>
              <a:t>• Verificación: outputs deben coincidir framework ↔ ONNX (±1e-5).</a:t>
            </a:r>
          </a:p>
          <a:p>
            <a:pPr>
              <a:spcAft>
                <a:spcPts val="1000"/>
              </a:spcAft>
              <a:defRPr sz="1600" b="0">
                <a:solidFill>
                  <a:srgbClr val="0F172A"/>
                </a:solidFill>
                <a:latin typeface="Segoe UI"/>
              </a:defRPr>
            </a:pPr>
            <a:r>
              <a:rPr sz="1600" b="0">
                <a:solidFill>
                  <a:srgbClr val="0F172A"/>
                </a:solidFill>
                <a:latin typeface="Segoe UI"/>
              </a:rPr>
              <a:t>• Optimization: graph simplification, layer fusion.</a:t>
            </a:r>
          </a:p>
          <a:p>
            <a:pPr>
              <a:spcAft>
                <a:spcPts val="1000"/>
              </a:spcAft>
              <a:defRPr sz="1600" b="0">
                <a:solidFill>
                  <a:srgbClr val="0F172A"/>
                </a:solidFill>
                <a:latin typeface="Segoe UI"/>
              </a:defRPr>
            </a:pPr>
            <a:r>
              <a:rPr sz="1600" b="0">
                <a:solidFill>
                  <a:srgbClr val="0F172A"/>
                </a:solidFill>
                <a:latin typeface="Segoe UI"/>
              </a:rPr>
              <a:t>• Quantization: dynamic, static (con calibration), QAT.</a:t>
            </a:r>
          </a:p>
          <a:p>
            <a:pPr>
              <a:spcAft>
                <a:spcPts val="1000"/>
              </a:spcAft>
              <a:defRPr sz="1600" b="0">
                <a:solidFill>
                  <a:srgbClr val="0F172A"/>
                </a:solidFill>
                <a:latin typeface="Segoe UI"/>
              </a:defRPr>
            </a:pPr>
            <a:r>
              <a:rPr sz="1600" b="0">
                <a:solidFill>
                  <a:srgbClr val="0F172A"/>
                </a:solidFill>
                <a:latin typeface="Segoe UI"/>
              </a:rPr>
              <a:t>• Execution providers: priority order.</a:t>
            </a:r>
          </a:p>
        </p:txBody>
      </p:sp>
    </p:spTree>
  </p:cSld>
  <p:clrMapOvr>
    <a:masterClrMapping/>
  </p:clrMapOvr>
</p:sld>
</file>

<file path=ppt/slides/slide8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167 — ONNX y ONNX Runtime: portabilidad e inference optimizada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Entrenamos sklearn LogReg, exportamos a ONNX (con fallback) y benchmarkeamos inferencia.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time, json, pickle</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make_classification(n_samples=2000, n_features=20, n_informative=10, random_state=42)</a:t>
            </a:r>
          </a:p>
          <a:p>
            <a:pPr>
              <a:defRPr sz="1200" b="0">
                <a:solidFill>
                  <a:srgbClr val="F8FAFC"/>
                </a:solidFill>
                <a:latin typeface="Courier New"/>
              </a:defRPr>
            </a:pPr>
            <a:r>
              <a:rPr sz="1200" b="0">
                <a:solidFill>
                  <a:srgbClr val="F8FAFC"/>
                </a:solidFill>
                <a:latin typeface="Courier New"/>
              </a:rPr>
              <a:t>X_train, X_test = X[:1500], X[1500:]</a:t>
            </a:r>
          </a:p>
          <a:p>
            <a:pPr>
              <a:defRPr sz="1200" b="0">
                <a:solidFill>
                  <a:srgbClr val="F8FAFC"/>
                </a:solidFill>
                <a:latin typeface="Courier New"/>
              </a:defRPr>
            </a:pPr>
            <a:r>
              <a:rPr sz="1200" b="0">
                <a:solidFill>
                  <a:srgbClr val="F8FAFC"/>
                </a:solidFill>
                <a:latin typeface="Courier New"/>
              </a:rPr>
              <a:t>y_train, y_test = y[:1500], y[1500:]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clf = LogisticRegression(max_iter=500).fit(X_train, y_train)</a:t>
            </a:r>
          </a:p>
          <a:p>
            <a:pPr>
              <a:defRPr sz="1200" b="0">
                <a:solidFill>
                  <a:srgbClr val="F8FAFC"/>
                </a:solidFill>
                <a:latin typeface="Courier New"/>
              </a:defRPr>
            </a:pPr>
            <a:r>
              <a:rPr sz="1200" b="0">
                <a:solidFill>
                  <a:srgbClr val="F8FAFC"/>
                </a:solidFill>
                <a:latin typeface="Courier New"/>
              </a:rPr>
              <a:t>print(f'sklearn acc test: {clf.score(X_test, y_test):.3f}')</a:t>
            </a:r>
          </a:p>
        </p:txBody>
      </p:sp>
    </p:spTree>
  </p:cSld>
  <p:clrMapOvr>
    <a:masterClrMapping/>
  </p:clrMapOvr>
</p:sld>
</file>

<file path=ppt/slides/slide8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167 — ONNX y ONNX Runtime: portabilidad e inference optimizada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PyTorch → ONNX: torch.onnx.export(model, dummy_input, 'model.onnx', opset_version=17, input_names=['input'], output_names=['output']).</a:t>
            </a:r>
          </a:p>
          <a:p>
            <a:pPr>
              <a:spcAft>
                <a:spcPts val="800"/>
              </a:spcAft>
              <a:defRPr sz="1400" b="0">
                <a:solidFill>
                  <a:srgbClr val="0F172A"/>
                </a:solidFill>
                <a:latin typeface="Segoe UI"/>
              </a:defRPr>
            </a:pPr>
            <a:r>
              <a:rPr sz="1400" b="0">
                <a:solidFill>
                  <a:srgbClr val="0F172A"/>
                </a:solidFill>
                <a:latin typeface="Segoe UI"/>
              </a:rPr>
              <a:t>• TF → ONNX: python -m tf2onnx.convert --saved-model dir/ --output model.onnx --opset 17.</a:t>
            </a:r>
          </a:p>
          <a:p>
            <a:pPr>
              <a:spcAft>
                <a:spcPts val="800"/>
              </a:spcAft>
              <a:defRPr sz="1400" b="0">
                <a:solidFill>
                  <a:srgbClr val="0F172A"/>
                </a:solidFill>
                <a:latin typeface="Segoe UI"/>
              </a:defRPr>
            </a:pPr>
            <a:r>
              <a:rPr sz="1400" b="0">
                <a:solidFill>
                  <a:srgbClr val="0F172A"/>
                </a:solidFill>
                <a:latin typeface="Segoe UI"/>
              </a:rPr>
              <a:t>• Inference: sess = ort.InferenceSession('model.onnx', providers=['CUDAExecutionProvider', 'CPUExecutionProvider']).</a:t>
            </a:r>
          </a:p>
          <a:p>
            <a:pPr>
              <a:spcAft>
                <a:spcPts val="800"/>
              </a:spcAft>
              <a:defRPr sz="1400" b="0">
                <a:solidFill>
                  <a:srgbClr val="0F172A"/>
                </a:solidFill>
                <a:latin typeface="Segoe UI"/>
              </a:defRPr>
            </a:pPr>
            <a:r>
              <a:rPr sz="1400" b="0">
                <a:solidFill>
                  <a:srgbClr val="0F172A"/>
                </a:solidFill>
                <a:latin typeface="Segoe UI"/>
              </a:rPr>
              <a:t>• Graph optimization: sess_options.graph_optimization_level = ort.GraphOptimizationLevel.ORT_ENABLE_ALL.</a:t>
            </a:r>
          </a:p>
          <a:p>
            <a:pPr>
              <a:spcAft>
                <a:spcPts val="800"/>
              </a:spcAft>
              <a:defRPr sz="1400" b="0">
                <a:solidFill>
                  <a:srgbClr val="0F172A"/>
                </a:solidFill>
                <a:latin typeface="Segoe UI"/>
              </a:defRPr>
            </a:pPr>
            <a:r>
              <a:rPr sz="1400" b="0">
                <a:solidFill>
                  <a:srgbClr val="0F172A"/>
                </a:solidFill>
                <a:latin typeface="Segoe UI"/>
              </a:rPr>
              <a:t>• Quantization: onnxruntime.quantization.quantize_dynamic('model.onnx', 'model_q.onnx', weight_type=QuantType.QUInt8).</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PyTorch ResNet50 preentrenado → ONNX.</a:t>
            </a:r>
          </a:p>
          <a:p>
            <a:pPr>
              <a:spcAft>
                <a:spcPts val="800"/>
              </a:spcAft>
              <a:defRPr sz="1500" b="0">
                <a:solidFill>
                  <a:srgbClr val="0F172A"/>
                </a:solidFill>
                <a:latin typeface="Segoe UI"/>
              </a:defRPr>
            </a:pPr>
            <a:r>
              <a:rPr sz="1500" b="0">
                <a:solidFill>
                  <a:srgbClr val="0F172A"/>
                </a:solidFill>
                <a:latin typeface="Segoe UI"/>
              </a:rPr>
              <a:t>• Quantization dynamic.</a:t>
            </a:r>
          </a:p>
          <a:p>
            <a:pPr>
              <a:spcAft>
                <a:spcPts val="800"/>
              </a:spcAft>
              <a:defRPr sz="1500" b="0">
                <a:solidFill>
                  <a:srgbClr val="0F172A"/>
                </a:solidFill>
                <a:latin typeface="Segoe UI"/>
              </a:defRPr>
            </a:pPr>
            <a:r>
              <a:rPr sz="1500" b="0">
                <a:solidFill>
                  <a:srgbClr val="0F172A"/>
                </a:solidFill>
                <a:latin typeface="Segoe UI"/>
              </a:rPr>
              <a:t>• Comparar latencia + accuracy: PyTorch CUDA vs ORT CUDA vs ORT CPU vs ORT CPU quantized.</a:t>
            </a:r>
          </a:p>
          <a:p>
            <a:pPr>
              <a:spcAft>
                <a:spcPts val="800"/>
              </a:spcAft>
              <a:defRPr sz="1500" b="0">
                <a:solidFill>
                  <a:srgbClr val="0F172A"/>
                </a:solidFill>
                <a:latin typeface="Segoe UI"/>
              </a:defRPr>
            </a:pPr>
            <a:r>
              <a:rPr sz="1500" b="0">
                <a:solidFill>
                  <a:srgbClr val="0F172A"/>
                </a:solidFill>
                <a:latin typeface="Segoe UI"/>
              </a:rPr>
              <a:t>• Verificar correctness (output diff &lt; 1e-4 vs PyTorch).</a:t>
            </a:r>
          </a:p>
        </p:txBody>
      </p:sp>
    </p:spTree>
  </p:cSld>
  <p:clrMapOvr>
    <a:masterClrMapping/>
  </p:clrMapOvr>
</p:sld>
</file>

<file path=ppt/slides/slide84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168 — Despliegue en Vertex AI</a:t>
            </a:r>
          </a:p>
        </p:txBody>
      </p:sp>
    </p:spTree>
  </p:cSld>
  <p:clrMapOvr>
    <a:masterClrMapping/>
  </p:clrMapOvr>
</p:sld>
</file>

<file path=ppt/slides/slide8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168 — Despliegue en Vertex AI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Deploying a Model to Vertex AI + docs Vertex AI.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Desplegar un modelo a Vertex AI (GCP) — el servicio managed de Google para servir modelos sin maintener infrastructure. Conocer alternativas: AWS SageMaker, Azure ML, Modal, Replicate, HuggingFace Inference Endpoints.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Subir un modelo a Vertex AI Model Registry.</a:t>
            </a:r>
          </a:p>
          <a:p>
            <a:pPr>
              <a:spcAft>
                <a:spcPts val="800"/>
              </a:spcAft>
              <a:defRPr sz="1400" b="0">
                <a:solidFill>
                  <a:srgbClr val="0F172A"/>
                </a:solidFill>
                <a:latin typeface="Segoe UI"/>
              </a:defRPr>
            </a:pPr>
            <a:r>
              <a:rPr sz="1400" b="0">
                <a:solidFill>
                  <a:srgbClr val="0F172A"/>
                </a:solidFill>
                <a:latin typeface="Segoe UI"/>
              </a:rPr>
              <a:t>• Crear un Endpoint y deployar el modelo.</a:t>
            </a:r>
          </a:p>
          <a:p>
            <a:pPr>
              <a:spcAft>
                <a:spcPts val="800"/>
              </a:spcAft>
              <a:defRPr sz="1400" b="0">
                <a:solidFill>
                  <a:srgbClr val="0F172A"/>
                </a:solidFill>
                <a:latin typeface="Segoe UI"/>
              </a:defRPr>
            </a:pPr>
            <a:r>
              <a:rPr sz="1400" b="0">
                <a:solidFill>
                  <a:srgbClr val="0F172A"/>
                </a:solidFill>
                <a:latin typeface="Segoe UI"/>
              </a:rPr>
              <a:t>• Hacer requests a un endpoint Vertex AI.</a:t>
            </a:r>
          </a:p>
          <a:p>
            <a:pPr>
              <a:spcAft>
                <a:spcPts val="800"/>
              </a:spcAft>
              <a:defRPr sz="1400" b="0">
                <a:solidFill>
                  <a:srgbClr val="0F172A"/>
                </a:solidFill>
                <a:latin typeface="Segoe UI"/>
              </a:defRPr>
            </a:pPr>
            <a:r>
              <a:rPr sz="1400" b="0">
                <a:solidFill>
                  <a:srgbClr val="0F172A"/>
                </a:solidFill>
                <a:latin typeface="Segoe UI"/>
              </a:rPr>
              <a:t>• Comparar managed (Vertex/SageMaker) vs self-hosted (TF Serving + GKE/EKS).</a:t>
            </a:r>
          </a:p>
          <a:p>
            <a:pPr>
              <a:spcAft>
                <a:spcPts val="800"/>
              </a:spcAft>
              <a:defRPr sz="1400" b="0">
                <a:solidFill>
                  <a:srgbClr val="0F172A"/>
                </a:solidFill>
                <a:latin typeface="Segoe UI"/>
              </a:defRPr>
            </a:pPr>
            <a:r>
              <a:rPr sz="1400" b="0">
                <a:solidFill>
                  <a:srgbClr val="0F172A"/>
                </a:solidFill>
                <a:latin typeface="Segoe UI"/>
              </a:rPr>
              <a:t>• Conocer alternativas modernas (Modal, Replicate) para deploy serverless.</a:t>
            </a:r>
          </a:p>
        </p:txBody>
      </p:sp>
    </p:spTree>
  </p:cSld>
  <p:clrMapOvr>
    <a:masterClrMapping/>
  </p:clrMapOvr>
</p:sld>
</file>

<file path=ppt/slides/slide8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168 — Despliegue en Vertex AI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Vertex AI Model Registry.</a:t>
            </a:r>
          </a:p>
          <a:p>
            <a:pPr>
              <a:spcAft>
                <a:spcPts val="1000"/>
              </a:spcAft>
              <a:defRPr sz="1600" b="0">
                <a:solidFill>
                  <a:srgbClr val="0F172A"/>
                </a:solidFill>
                <a:latin typeface="Segoe UI"/>
              </a:defRPr>
            </a:pPr>
            <a:r>
              <a:rPr sz="1600" b="0">
                <a:solidFill>
                  <a:srgbClr val="0F172A"/>
                </a:solidFill>
                <a:latin typeface="Segoe UI"/>
              </a:rPr>
              <a:t>• Endpoint creation + traffic split (A/B testing).</a:t>
            </a:r>
          </a:p>
          <a:p>
            <a:pPr>
              <a:spcAft>
                <a:spcPts val="1000"/>
              </a:spcAft>
              <a:defRPr sz="1600" b="0">
                <a:solidFill>
                  <a:srgbClr val="0F172A"/>
                </a:solidFill>
                <a:latin typeface="Segoe UI"/>
              </a:defRPr>
            </a:pPr>
            <a:r>
              <a:rPr sz="1600" b="0">
                <a:solidFill>
                  <a:srgbClr val="0F172A"/>
                </a:solidFill>
                <a:latin typeface="Segoe UI"/>
              </a:rPr>
              <a:t>• gcloud CLI: gcloud ai models upload, gcloud ai endpoints deploy-model.</a:t>
            </a:r>
          </a:p>
          <a:p>
            <a:pPr>
              <a:spcAft>
                <a:spcPts val="1000"/>
              </a:spcAft>
              <a:defRPr sz="1600" b="0">
                <a:solidFill>
                  <a:srgbClr val="0F172A"/>
                </a:solidFill>
                <a:latin typeface="Segoe UI"/>
              </a:defRPr>
            </a:pPr>
            <a:r>
              <a:rPr sz="1600" b="0">
                <a:solidFill>
                  <a:srgbClr val="0F172A"/>
                </a:solidFill>
                <a:latin typeface="Segoe UI"/>
              </a:rPr>
              <a:t>• Pricing: pay per CPU/GPU hour + requests.</a:t>
            </a:r>
          </a:p>
          <a:p>
            <a:pPr>
              <a:spcAft>
                <a:spcPts val="1000"/>
              </a:spcAft>
              <a:defRPr sz="1600" b="0">
                <a:solidFill>
                  <a:srgbClr val="0F172A"/>
                </a:solidFill>
                <a:latin typeface="Segoe UI"/>
              </a:defRPr>
            </a:pPr>
            <a:r>
              <a:rPr sz="1600" b="0">
                <a:solidFill>
                  <a:srgbClr val="0F172A"/>
                </a:solidFill>
                <a:latin typeface="Segoe UI"/>
              </a:rPr>
              <a:t>• Alternativas: SageMaker, Azure ML, Modal, Replicate.</a:t>
            </a:r>
          </a:p>
        </p:txBody>
      </p:sp>
    </p:spTree>
  </p:cSld>
  <p:clrMapOvr>
    <a:masterClrMapping/>
  </p:clrMapOvr>
</p:sld>
</file>

<file path=ppt/slides/slide8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168 — Despliegue en Vertex AI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google.cloud import aiplatform</a:t>
            </a:r>
          </a:p>
          <a:p>
            <a:pPr>
              <a:defRPr sz="1200" b="0">
                <a:solidFill>
                  <a:srgbClr val="F8FAFC"/>
                </a:solidFill>
                <a:latin typeface="Courier New"/>
              </a:defRPr>
            </a:pPr>
            <a:r>
              <a:rPr sz="1200" b="0">
                <a:solidFill>
                  <a:srgbClr val="F8FAFC"/>
                </a:solidFill>
                <a:latin typeface="Courier New"/>
              </a:rPr>
              <a:t>    GCP_OK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GCP_OK = False</a:t>
            </a:r>
          </a:p>
          <a:p>
            <a:pPr>
              <a:defRPr sz="1200" b="0">
                <a:solidFill>
                  <a:srgbClr val="F8FAFC"/>
                </a:solidFill>
                <a:latin typeface="Courier New"/>
              </a:defRPr>
            </a:pPr>
            <a:r>
              <a:rPr sz="1200" b="0">
                <a:solidFill>
                  <a:srgbClr val="F8FAFC"/>
                </a:solidFill>
                <a:latin typeface="Courier New"/>
              </a:rPr>
              <a:t>    print("google-cloud-aiplatform no instalado -&gt; se muestra la 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PROJECT, REGION, BUCKET = "mi-proyecto", "us-central1", "gs://mi-bucket/fashion"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GCP_OK:</a:t>
            </a:r>
          </a:p>
          <a:p>
            <a:pPr>
              <a:defRPr sz="1200" b="0">
                <a:solidFill>
                  <a:srgbClr val="F8FAFC"/>
                </a:solidFill>
                <a:latin typeface="Courier New"/>
              </a:defRPr>
            </a:pPr>
            <a:r>
              <a:rPr sz="1200" b="0">
                <a:solidFill>
                  <a:srgbClr val="F8FAFC"/>
                </a:solidFill>
                <a:latin typeface="Courier New"/>
              </a:rPr>
              <a:t>    aiplatform.init(project=PROJECT, location=REGION, staging_bucket=BUCKET)</a:t>
            </a:r>
          </a:p>
          <a:p>
            <a:pPr>
              <a:defRPr sz="1200" b="0">
                <a:solidFill>
                  <a:srgbClr val="F8FAFC"/>
                </a:solidFill>
                <a:latin typeface="Courier New"/>
              </a:defRPr>
            </a:pPr>
            <a:r>
              <a:rPr sz="1200" b="0">
                <a:solidFill>
                  <a:srgbClr val="F8FAFC"/>
                </a:solidFill>
                <a:latin typeface="Courier New"/>
              </a:rPr>
              <a:t>    model = aiplatform.Model.upload(</a:t>
            </a:r>
          </a:p>
          <a:p>
            <a:pPr>
              <a:defRPr sz="1200" b="0">
                <a:solidFill>
                  <a:srgbClr val="F8FAFC"/>
                </a:solidFill>
                <a:latin typeface="Courier New"/>
              </a:defRPr>
            </a:pPr>
            <a:r>
              <a:rPr sz="1200" b="0">
                <a:solidFill>
                  <a:srgbClr val="F8FAFC"/>
                </a:solidFill>
                <a:latin typeface="Courier New"/>
              </a:rPr>
              <a:t>        display_name="fashion-mnist",</a:t>
            </a:r>
          </a:p>
          <a:p>
            <a:pPr>
              <a:defRPr sz="1200" b="0">
                <a:solidFill>
                  <a:srgbClr val="F8FAFC"/>
                </a:solidFill>
                <a:latin typeface="Courier New"/>
              </a:defRPr>
            </a:pPr>
            <a:r>
              <a:rPr sz="1200" b="0">
                <a:solidFill>
                  <a:srgbClr val="F8FAFC"/>
                </a:solidFill>
                <a:latin typeface="Courier New"/>
              </a:rPr>
              <a:t>        artifact_uri=BUCKET,                                   # SavedModel en GCS</a:t>
            </a:r>
          </a:p>
          <a:p>
            <a:pPr>
              <a:defRPr sz="1200" b="0">
                <a:solidFill>
                  <a:srgbClr val="F8FAFC"/>
                </a:solidFill>
                <a:latin typeface="Courier New"/>
              </a:defRPr>
            </a:pPr>
            <a:r>
              <a:rPr sz="1200" b="0">
                <a:solidFill>
                  <a:srgbClr val="F8FAFC"/>
                </a:solidFill>
                <a:latin typeface="Courier New"/>
              </a:rPr>
              <a:t>        serving_container_image_uri=(</a:t>
            </a:r>
          </a:p>
          <a:p>
            <a:pPr>
              <a:defRPr sz="1200" b="0">
                <a:solidFill>
                  <a:srgbClr val="F8FAFC"/>
                </a:solidFill>
                <a:latin typeface="Courier New"/>
              </a:defRPr>
            </a:pPr>
            <a:r>
              <a:rPr sz="1200" b="0">
                <a:solidFill>
                  <a:srgbClr val="F8FAFC"/>
                </a:solidFill>
                <a:latin typeface="Courier New"/>
              </a:rPr>
              <a:t>            "us-docker.pkg.dev/vertex-ai/prediction/tf2-cpu.2-15:latest"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print("modelo subido:", model.resource_name)</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8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168 — Despliegue en Vertex AI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Setup: gcloud init, gcloud auth application-default login.</a:t>
            </a:r>
          </a:p>
          <a:p>
            <a:pPr>
              <a:spcAft>
                <a:spcPts val="800"/>
              </a:spcAft>
              <a:defRPr sz="1400" b="0">
                <a:solidFill>
                  <a:srgbClr val="0F172A"/>
                </a:solidFill>
                <a:latin typeface="Segoe UI"/>
              </a:defRPr>
            </a:pPr>
            <a:r>
              <a:rPr sz="1400" b="0">
                <a:solidFill>
                  <a:srgbClr val="0F172A"/>
                </a:solidFill>
                <a:latin typeface="Segoe UI"/>
              </a:rPr>
              <a:t>• Upload model: gcloud ai models upload --display-name=fashion --container-image-uri=....</a:t>
            </a:r>
          </a:p>
          <a:p>
            <a:pPr>
              <a:spcAft>
                <a:spcPts val="800"/>
              </a:spcAft>
              <a:defRPr sz="1400" b="0">
                <a:solidFill>
                  <a:srgbClr val="0F172A"/>
                </a:solidFill>
                <a:latin typeface="Segoe UI"/>
              </a:defRPr>
            </a:pPr>
            <a:r>
              <a:rPr sz="1400" b="0">
                <a:solidFill>
                  <a:srgbClr val="0F172A"/>
                </a:solidFill>
                <a:latin typeface="Segoe UI"/>
              </a:rPr>
              <a:t>• Deploy endpoint: con n1-standard-4.</a:t>
            </a:r>
          </a:p>
          <a:p>
            <a:pPr>
              <a:spcAft>
                <a:spcPts val="800"/>
              </a:spcAft>
              <a:defRPr sz="1400" b="0">
                <a:solidFill>
                  <a:srgbClr val="0F172A"/>
                </a:solidFill>
                <a:latin typeface="Segoe UI"/>
              </a:defRPr>
            </a:pPr>
            <a:r>
              <a:rPr sz="1400" b="0">
                <a:solidFill>
                  <a:srgbClr val="0F172A"/>
                </a:solidFill>
                <a:latin typeface="Segoe UI"/>
              </a:rPr>
              <a:t>• Predict request: from google.cloud import aiplatform; ep = aiplatform.Endpoint(...); ep.predict(...).</a:t>
            </a:r>
          </a:p>
          <a:p>
            <a:pPr>
              <a:spcAft>
                <a:spcPts val="800"/>
              </a:spcAft>
              <a:defRPr sz="1400" b="0">
                <a:solidFill>
                  <a:srgbClr val="0F172A"/>
                </a:solidFill>
                <a:latin typeface="Segoe UI"/>
              </a:defRPr>
            </a:pPr>
            <a:r>
              <a:rPr sz="1400" b="0">
                <a:solidFill>
                  <a:srgbClr val="0F172A"/>
                </a:solidFill>
                <a:latin typeface="Segoe UI"/>
              </a:rPr>
              <a:t>• A/B traffic: deploy v2 con 20 % traffic, observar logs.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Subir a GCS.</a:t>
            </a:r>
          </a:p>
          <a:p>
            <a:pPr>
              <a:spcAft>
                <a:spcPts val="800"/>
              </a:spcAft>
              <a:defRPr sz="1400" b="0">
                <a:solidFill>
                  <a:srgbClr val="0F172A"/>
                </a:solidFill>
                <a:latin typeface="Segoe UI"/>
              </a:defRPr>
            </a:pPr>
            <a:r>
              <a:rPr sz="1400" b="0">
                <a:solidFill>
                  <a:srgbClr val="0F172A"/>
                </a:solidFill>
                <a:latin typeface="Segoe UI"/>
              </a:rPr>
              <a:t>• Upload model en Vertex Model Registry.</a:t>
            </a:r>
          </a:p>
          <a:p>
            <a:pPr>
              <a:spcAft>
                <a:spcPts val="800"/>
              </a:spcAft>
              <a:defRPr sz="1400" b="0">
                <a:solidFill>
                  <a:srgbClr val="0F172A"/>
                </a:solidFill>
                <a:latin typeface="Segoe UI"/>
              </a:defRPr>
            </a:pPr>
            <a:r>
              <a:rPr sz="1400" b="0">
                <a:solidFill>
                  <a:srgbClr val="0F172A"/>
                </a:solidFill>
                <a:latin typeface="Segoe UI"/>
              </a:rPr>
              <a:t>• Crear endpoint y deploy.</a:t>
            </a:r>
          </a:p>
          <a:p>
            <a:pPr>
              <a:spcAft>
                <a:spcPts val="800"/>
              </a:spcAft>
              <a:defRPr sz="1400" b="0">
                <a:solidFill>
                  <a:srgbClr val="0F172A"/>
                </a:solidFill>
                <a:latin typeface="Segoe UI"/>
              </a:defRPr>
            </a:pPr>
            <a:r>
              <a:rPr sz="1400" b="0">
                <a:solidFill>
                  <a:srgbClr val="0F172A"/>
                </a:solidFill>
                <a:latin typeface="Segoe UI"/>
              </a:rPr>
              <a:t>• Hacer 10 predicciones desde notebook local.</a:t>
            </a:r>
          </a:p>
          <a:p>
            <a:pPr>
              <a:spcAft>
                <a:spcPts val="800"/>
              </a:spcAft>
              <a:defRPr sz="1400" b="0">
                <a:solidFill>
                  <a:srgbClr val="0F172A"/>
                </a:solidFill>
                <a:latin typeface="Segoe UI"/>
              </a:defRPr>
            </a:pPr>
            <a:r>
              <a:rPr sz="1400" b="0">
                <a:solidFill>
                  <a:srgbClr val="0F172A"/>
                </a:solidFill>
                <a:latin typeface="Segoe UI"/>
              </a:rPr>
              <a:t>• (Opcional) cleanup para no gastar.</a:t>
            </a:r>
          </a:p>
        </p:txBody>
      </p:sp>
    </p:spTree>
  </p:cSld>
  <p:clrMapOvr>
    <a:masterClrMapping/>
  </p:clrMapOvr>
</p:sld>
</file>

<file path=ppt/slides/slide84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169 — TF Lite (mobile/embedded)</a:t>
            </a:r>
          </a:p>
        </p:txBody>
      </p:sp>
    </p:spTree>
  </p:cSld>
  <p:clrMapOvr>
    <a:masterClrMapping/>
  </p:clrMapOvr>
</p:sld>
</file>

<file path=ppt/slides/slide8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169 — TF Lite (mobile/embedded)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Deploying a Model to a Mobile or Embedded Device.  Duración estimada: 55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Convertir y desplegar un modelo a TensorFlow Lite (LiteRT) — runtime optimizado para móviles (Android/iOS), IoT y embedded (Raspberry Pi, microcontroladores). Aplicar quantization (int8) para reducir tamaño 4× y acelerar 2-4× en CPU móvil.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SavedModel a .tflite: converter = tf.lite.TFLiteConverter.from_saved_model('servable/1/'); tflite_model = converter.convert().</a:t>
            </a:r>
          </a:p>
          <a:p>
            <a:pPr>
              <a:spcAft>
                <a:spcPts val="800"/>
              </a:spcAft>
              <a:defRPr sz="1400" b="0">
                <a:solidFill>
                  <a:srgbClr val="0F172A"/>
                </a:solidFill>
                <a:latin typeface="Segoe UI"/>
              </a:defRPr>
            </a:pPr>
            <a:r>
              <a:rPr sz="1400" b="0">
                <a:solidFill>
                  <a:srgbClr val="0F172A"/>
                </a:solidFill>
                <a:latin typeface="Segoe UI"/>
              </a:rPr>
              <a:t>• Aplicar quantization post-training (dynamic range, int8 full).</a:t>
            </a:r>
          </a:p>
          <a:p>
            <a:pPr>
              <a:spcAft>
                <a:spcPts val="800"/>
              </a:spcAft>
              <a:defRPr sz="1400" b="0">
                <a:solidFill>
                  <a:srgbClr val="0F172A"/>
                </a:solidFill>
                <a:latin typeface="Segoe UI"/>
              </a:defRPr>
            </a:pPr>
            <a:r>
              <a:rPr sz="1400" b="0">
                <a:solidFill>
                  <a:srgbClr val="0F172A"/>
                </a:solidFill>
                <a:latin typeface="Segoe UI"/>
              </a:rPr>
              <a:t>• Cargar y ejecutar inference con tf.lite.Interpreter.</a:t>
            </a:r>
          </a:p>
          <a:p>
            <a:pPr>
              <a:spcAft>
                <a:spcPts val="800"/>
              </a:spcAft>
              <a:defRPr sz="1400" b="0">
                <a:solidFill>
                  <a:srgbClr val="0F172A"/>
                </a:solidFill>
                <a:latin typeface="Segoe UI"/>
              </a:defRPr>
            </a:pPr>
            <a:r>
              <a:rPr sz="1400" b="0">
                <a:solidFill>
                  <a:srgbClr val="0F172A"/>
                </a:solidFill>
                <a:latin typeface="Segoe UI"/>
              </a:rPr>
              <a:t>• Conocer alternativas modernas: ONNX Runtime Mobile, CoreML (iOS), NNAPI (Android).</a:t>
            </a:r>
          </a:p>
          <a:p>
            <a:pPr>
              <a:spcAft>
                <a:spcPts val="800"/>
              </a:spcAft>
              <a:defRPr sz="1400" b="0">
                <a:solidFill>
                  <a:srgbClr val="0F172A"/>
                </a:solidFill>
                <a:latin typeface="Segoe UI"/>
              </a:defRPr>
            </a:pPr>
            <a:r>
              <a:rPr sz="1400" b="0">
                <a:solidFill>
                  <a:srgbClr val="0F172A"/>
                </a:solidFill>
                <a:latin typeface="Segoe UI"/>
              </a:rPr>
              <a:t>• Reconocer trade-off accuracy vs tamaño/velocidad.</a:t>
            </a:r>
          </a:p>
        </p:txBody>
      </p:sp>
    </p:spTree>
  </p:cSld>
  <p:clrMapOvr>
    <a:masterClrMapping/>
  </p:clrMapOvr>
</p:sld>
</file>

<file path=ppt/slides/slide8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169 — TF Lite (mobile/embedded)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TF Lite vs TF: subset de ops, runtime minimal.</a:t>
            </a:r>
          </a:p>
          <a:p>
            <a:pPr>
              <a:spcAft>
                <a:spcPts val="1000"/>
              </a:spcAft>
              <a:defRPr sz="1600" b="0">
                <a:solidFill>
                  <a:srgbClr val="0F172A"/>
                </a:solidFill>
                <a:latin typeface="Segoe UI"/>
              </a:defRPr>
            </a:pPr>
            <a:r>
              <a:rPr sz="1600" b="0">
                <a:solidFill>
                  <a:srgbClr val="0F172A"/>
                </a:solidFill>
                <a:latin typeface="Segoe UI"/>
              </a:rPr>
              <a:t>• Conversión SavedModel → tflite.</a:t>
            </a:r>
          </a:p>
          <a:p>
            <a:pPr>
              <a:spcAft>
                <a:spcPts val="1000"/>
              </a:spcAft>
              <a:defRPr sz="1600" b="0">
                <a:solidFill>
                  <a:srgbClr val="0F172A"/>
                </a:solidFill>
                <a:latin typeface="Segoe UI"/>
              </a:defRPr>
            </a:pPr>
            <a:r>
              <a:rPr sz="1600" b="0">
                <a:solidFill>
                  <a:srgbClr val="0F172A"/>
                </a:solidFill>
                <a:latin typeface="Segoe UI"/>
              </a:rPr>
              <a:t>• Quantization types: dynamic range (weights int8), int8 full (weights + activations), float16.</a:t>
            </a:r>
          </a:p>
          <a:p>
            <a:pPr>
              <a:spcAft>
                <a:spcPts val="1000"/>
              </a:spcAft>
              <a:defRPr sz="1600" b="0">
                <a:solidFill>
                  <a:srgbClr val="0F172A"/>
                </a:solidFill>
                <a:latin typeface="Segoe UI"/>
              </a:defRPr>
            </a:pPr>
            <a:r>
              <a:rPr sz="1600" b="0">
                <a:solidFill>
                  <a:srgbClr val="0F172A"/>
                </a:solidFill>
                <a:latin typeface="Segoe UI"/>
              </a:rPr>
              <a:t>• tf.lite.Interpreter API.</a:t>
            </a:r>
          </a:p>
          <a:p>
            <a:pPr>
              <a:spcAft>
                <a:spcPts val="1000"/>
              </a:spcAft>
              <a:defRPr sz="1600" b="0">
                <a:solidFill>
                  <a:srgbClr val="0F172A"/>
                </a:solidFill>
                <a:latin typeface="Segoe UI"/>
              </a:defRPr>
            </a:pPr>
            <a:r>
              <a:rPr sz="1600" b="0">
                <a:solidFill>
                  <a:srgbClr val="0F172A"/>
                </a:solidFill>
                <a:latin typeface="Segoe UI"/>
              </a:rPr>
              <a:t>• Mobile delegates: NNAPI, GPU, CoreML.</a:t>
            </a:r>
          </a:p>
        </p:txBody>
      </p:sp>
    </p:spTree>
  </p:cSld>
  <p:clrMapOvr>
    <a:masterClrMapping/>
  </p:clrMapOvr>
</p:sld>
</file>

<file path=ppt/slides/slide8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169 — TF Lite (mobile/embedded)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de conversion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converter = tf.lite.TFLiteConverter.from_saved_model("servable/1/")</a:t>
            </a:r>
          </a:p>
          <a:p>
            <a:pPr>
              <a:defRPr sz="1200" b="0">
                <a:solidFill>
                  <a:srgbClr val="F8FAFC"/>
                </a:solidFill>
                <a:latin typeface="Courier New"/>
              </a:defRPr>
            </a:pPr>
            <a:r>
              <a:rPr sz="1200" b="0">
                <a:solidFill>
                  <a:srgbClr val="F8FAFC"/>
                </a:solidFill>
                <a:latin typeface="Courier New"/>
              </a:rPr>
              <a:t>    tflite_model = converter.convert()</a:t>
            </a:r>
          </a:p>
          <a:p>
            <a:pPr>
              <a:defRPr sz="1200" b="0">
                <a:solidFill>
                  <a:srgbClr val="F8FAFC"/>
                </a:solidFill>
                <a:latin typeface="Courier New"/>
              </a:defRPr>
            </a:pPr>
            <a:r>
              <a:rPr sz="1200" b="0">
                <a:solidFill>
                  <a:srgbClr val="F8FAFC"/>
                </a:solidFill>
                <a:latin typeface="Courier New"/>
              </a:rPr>
              <a:t>    open("model.tflite", "wb").write(tflite_model)</a:t>
            </a:r>
          </a:p>
          <a:p>
            <a:pPr>
              <a:defRPr sz="1200" b="0">
                <a:solidFill>
                  <a:srgbClr val="F8FAFC"/>
                </a:solidFill>
                <a:latin typeface="Courier New"/>
              </a:defRPr>
            </a:pPr>
            <a:r>
              <a:rPr sz="1200" b="0">
                <a:solidFill>
                  <a:srgbClr val="F8FAFC"/>
                </a:solidFill>
                <a:latin typeface="Courier New"/>
              </a:rPr>
              <a:t>    print(f"model.tflite: {len(tflite_model)} bytes (float32)")</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print("converter = tf.lite.TFLiteConverter.from_saved_model('servable/1/')")</a:t>
            </a:r>
          </a:p>
          <a:p>
            <a:pPr>
              <a:defRPr sz="1200" b="0">
                <a:solidFill>
                  <a:srgbClr val="F8FAFC"/>
                </a:solidFill>
                <a:latin typeface="Courier New"/>
              </a:defRPr>
            </a:pPr>
            <a:r>
              <a:rPr sz="1200" b="0">
                <a:solidFill>
                  <a:srgbClr val="F8FAFC"/>
                </a:solidFill>
                <a:latin typeface="Courier New"/>
              </a:rPr>
              <a:t>    print("tflite_model = converter.convert()")</a:t>
            </a:r>
          </a:p>
        </p:txBody>
      </p:sp>
    </p:spTree>
  </p:cSld>
  <p:clrMapOvr>
    <a:masterClrMapping/>
  </p:clrMapOvr>
</p:sld>
</file>

<file path=ppt/slides/slide8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169 — TF Lite (mobile/embedded)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 TFLiteConverter.from_saved_model(...).convert() → guardar .tflite.</a:t>
            </a:r>
          </a:p>
          <a:p>
            <a:pPr>
              <a:spcAft>
                <a:spcPts val="800"/>
              </a:spcAft>
              <a:defRPr sz="1400" b="0">
                <a:solidFill>
                  <a:srgbClr val="0F172A"/>
                </a:solidFill>
                <a:latin typeface="Segoe UI"/>
              </a:defRPr>
            </a:pPr>
            <a:r>
              <a:rPr sz="1400" b="0">
                <a:solidFill>
                  <a:srgbClr val="0F172A"/>
                </a:solidFill>
                <a:latin typeface="Segoe UI"/>
              </a:rPr>
              <a:t>• Inference: cargar .tflite y hacer predict con Interpreter.</a:t>
            </a:r>
          </a:p>
          <a:p>
            <a:pPr>
              <a:spcAft>
                <a:spcPts val="800"/>
              </a:spcAft>
              <a:defRPr sz="1400" b="0">
                <a:solidFill>
                  <a:srgbClr val="0F172A"/>
                </a:solidFill>
                <a:latin typeface="Segoe UI"/>
              </a:defRPr>
            </a:pPr>
            <a:r>
              <a:rPr sz="1400" b="0">
                <a:solidFill>
                  <a:srgbClr val="0F172A"/>
                </a:solidFill>
                <a:latin typeface="Segoe UI"/>
              </a:rPr>
              <a:t>• Dynamic range quant: converter.optimizations = [tf.lite.Optimize.DEFAULT].</a:t>
            </a:r>
          </a:p>
          <a:p>
            <a:pPr>
              <a:spcAft>
                <a:spcPts val="800"/>
              </a:spcAft>
              <a:defRPr sz="1400" b="0">
                <a:solidFill>
                  <a:srgbClr val="0F172A"/>
                </a:solidFill>
                <a:latin typeface="Segoe UI"/>
              </a:defRPr>
            </a:pPr>
            <a:r>
              <a:rPr sz="1400" b="0">
                <a:solidFill>
                  <a:srgbClr val="0F172A"/>
                </a:solidFill>
                <a:latin typeface="Segoe UI"/>
              </a:rPr>
              <a:t>• Full int8: definir representative_dataset y converter.target_spec.supported_ops = [tf.lite.OpsSet.TFLITE_BUILTINS_INT8].</a:t>
            </a:r>
          </a:p>
          <a:p>
            <a:pPr>
              <a:spcAft>
                <a:spcPts val="800"/>
              </a:spcAft>
              <a:defRPr sz="1400" b="0">
                <a:solidFill>
                  <a:srgbClr val="0F172A"/>
                </a:solidFill>
                <a:latin typeface="Segoe UI"/>
              </a:defRPr>
            </a:pPr>
            <a:r>
              <a:rPr sz="1400" b="0">
                <a:solidFill>
                  <a:srgbClr val="0F172A"/>
                </a:solidFill>
                <a:latin typeface="Segoe UI"/>
              </a:rPr>
              <a:t>• Latencia: medir tiempo de inference en CPU laptop.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Convertir + 3 quantizations (none, dynamic, int8 full).</a:t>
            </a:r>
          </a:p>
          <a:p>
            <a:pPr>
              <a:spcAft>
                <a:spcPts val="800"/>
              </a:spcAft>
              <a:defRPr sz="1500" b="0">
                <a:solidFill>
                  <a:srgbClr val="0F172A"/>
                </a:solidFill>
                <a:latin typeface="Segoe UI"/>
              </a:defRPr>
            </a:pPr>
            <a:r>
              <a:rPr sz="1500" b="0">
                <a:solidFill>
                  <a:srgbClr val="0F172A"/>
                </a:solidFill>
                <a:latin typeface="Segoe UI"/>
              </a:rPr>
              <a:t>• Para cada uno: tamaño + accuracy en test + latencia.</a:t>
            </a:r>
          </a:p>
          <a:p>
            <a:pPr>
              <a:spcAft>
                <a:spcPts val="800"/>
              </a:spcAft>
              <a:defRPr sz="1500" b="0">
                <a:solidFill>
                  <a:srgbClr val="0F172A"/>
                </a:solidFill>
                <a:latin typeface="Segoe UI"/>
              </a:defRPr>
            </a:pPr>
            <a:r>
              <a:rPr sz="1500" b="0">
                <a:solidFill>
                  <a:srgbClr val="0F172A"/>
                </a:solidFill>
                <a:latin typeface="Segoe UI"/>
              </a:rPr>
              <a:t>• Reportar tabla comparativa.</a:t>
            </a:r>
          </a:p>
        </p:txBody>
      </p:sp>
    </p:spTree>
  </p:cSld>
  <p:clrMapOvr>
    <a:masterClrMapping/>
  </p:clrMapOvr>
</p:sld>
</file>

<file path=ppt/slides/slide85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170 — TensorFlow.js (navegador)</a:t>
            </a:r>
          </a:p>
        </p:txBody>
      </p:sp>
    </p:spTree>
  </p:cSld>
  <p:clrMapOvr>
    <a:masterClrMapping/>
  </p:clrMapOvr>
</p:sld>
</file>

<file path=ppt/slides/slide8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170 — TensorFlow.js (navegador)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Running a Model in a Web Page + TF.js docs.  Duración estimada: 55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Servir modelos directamente en el navegador con TensorFlow.js — corre client-side (privacidad, sin server cost, sin latency network). Alternativas modernas: ONNX Runtime Web, WebGPU-accelerated inference, transformers.js (Hugging Face) para LLMs en el browser.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un Keras model a TF.js format con tensorflowjs_converter.</a:t>
            </a:r>
          </a:p>
          <a:p>
            <a:pPr>
              <a:spcAft>
                <a:spcPts val="800"/>
              </a:spcAft>
              <a:defRPr sz="1400" b="0">
                <a:solidFill>
                  <a:srgbClr val="0F172A"/>
                </a:solidFill>
                <a:latin typeface="Segoe UI"/>
              </a:defRPr>
            </a:pPr>
            <a:r>
              <a:rPr sz="1400" b="0">
                <a:solidFill>
                  <a:srgbClr val="0F172A"/>
                </a:solidFill>
                <a:latin typeface="Segoe UI"/>
              </a:rPr>
              <a:t>• Cargar y hacer inference desde JavaScript en el browser.</a:t>
            </a:r>
          </a:p>
          <a:p>
            <a:pPr>
              <a:spcAft>
                <a:spcPts val="800"/>
              </a:spcAft>
              <a:defRPr sz="1400" b="0">
                <a:solidFill>
                  <a:srgbClr val="0F172A"/>
                </a:solidFill>
                <a:latin typeface="Segoe UI"/>
              </a:defRPr>
            </a:pPr>
            <a:r>
              <a:rPr sz="1400" b="0">
                <a:solidFill>
                  <a:srgbClr val="0F172A"/>
                </a:solidFill>
                <a:latin typeface="Segoe UI"/>
              </a:rPr>
              <a:t>• Conocer WebGL backend (default TF.js) y WebGPU (nuevo, más rápido).</a:t>
            </a:r>
          </a:p>
          <a:p>
            <a:pPr>
              <a:spcAft>
                <a:spcPts val="800"/>
              </a:spcAft>
              <a:defRPr sz="1400" b="0">
                <a:solidFill>
                  <a:srgbClr val="0F172A"/>
                </a:solidFill>
                <a:latin typeface="Segoe UI"/>
              </a:defRPr>
            </a:pPr>
            <a:r>
              <a:rPr sz="1400" b="0">
                <a:solidFill>
                  <a:srgbClr val="0F172A"/>
                </a:solidFill>
                <a:latin typeface="Segoe UI"/>
              </a:rPr>
              <a:t>• Usar transformers.js para correr modelos NLP/visión en browser.</a:t>
            </a:r>
          </a:p>
          <a:p>
            <a:pPr>
              <a:spcAft>
                <a:spcPts val="800"/>
              </a:spcAft>
              <a:defRPr sz="1400" b="0">
                <a:solidFill>
                  <a:srgbClr val="0F172A"/>
                </a:solidFill>
                <a:latin typeface="Segoe UI"/>
              </a:defRPr>
            </a:pPr>
            <a:r>
              <a:rPr sz="1400" b="0">
                <a:solidFill>
                  <a:srgbClr val="0F172A"/>
                </a:solidFill>
                <a:latin typeface="Segoe UI"/>
              </a:rPr>
              <a:t>• Reconocer cuándo conviene client-side vs server-side.</a:t>
            </a:r>
          </a:p>
        </p:txBody>
      </p:sp>
    </p:spTree>
  </p:cSld>
  <p:clrMapOvr>
    <a:masterClrMapping/>
  </p:clrMapOvr>
</p:sld>
</file>

<file path=ppt/slides/slide8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170 — TensorFlow.js (navegador)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Conversion: tensorflowjs_converter --input_format=keras model.keras tfjs_model/.</a:t>
            </a:r>
          </a:p>
          <a:p>
            <a:pPr>
              <a:spcAft>
                <a:spcPts val="1000"/>
              </a:spcAft>
              <a:defRPr sz="1600" b="0">
                <a:solidFill>
                  <a:srgbClr val="0F172A"/>
                </a:solidFill>
                <a:latin typeface="Segoe UI"/>
              </a:defRPr>
            </a:pPr>
            <a:r>
              <a:rPr sz="1600" b="0">
                <a:solidFill>
                  <a:srgbClr val="0F172A"/>
                </a:solidFill>
                <a:latin typeface="Segoe UI"/>
              </a:rPr>
              <a:t>• JS API: const model = await tf.loadLayersModel('tfjs_model/model.json').</a:t>
            </a:r>
          </a:p>
          <a:p>
            <a:pPr>
              <a:spcAft>
                <a:spcPts val="1000"/>
              </a:spcAft>
              <a:defRPr sz="1600" b="0">
                <a:solidFill>
                  <a:srgbClr val="0F172A"/>
                </a:solidFill>
                <a:latin typeface="Segoe UI"/>
              </a:defRPr>
            </a:pPr>
            <a:r>
              <a:rPr sz="1600" b="0">
                <a:solidFill>
                  <a:srgbClr val="0F172A"/>
                </a:solidFill>
                <a:latin typeface="Segoe UI"/>
              </a:rPr>
              <a:t>• Backends: WebGL (default), WASM, WebGPU.</a:t>
            </a:r>
          </a:p>
          <a:p>
            <a:pPr>
              <a:spcAft>
                <a:spcPts val="1000"/>
              </a:spcAft>
              <a:defRPr sz="1600" b="0">
                <a:solidFill>
                  <a:srgbClr val="0F172A"/>
                </a:solidFill>
                <a:latin typeface="Segoe UI"/>
              </a:defRPr>
            </a:pPr>
            <a:r>
              <a:rPr sz="1600" b="0">
                <a:solidFill>
                  <a:srgbClr val="0F172A"/>
                </a:solidFill>
                <a:latin typeface="Segoe UI"/>
              </a:rPr>
              <a:t>• transformers.js: ONNX en browser, soporta BERT, GPT-2, Whisper.</a:t>
            </a:r>
          </a:p>
          <a:p>
            <a:pPr>
              <a:spcAft>
                <a:spcPts val="1000"/>
              </a:spcAft>
              <a:defRPr sz="1600" b="0">
                <a:solidFill>
                  <a:srgbClr val="0F172A"/>
                </a:solidFill>
                <a:latin typeface="Segoe UI"/>
              </a:defRPr>
            </a:pPr>
            <a:r>
              <a:rPr sz="1600" b="0">
                <a:solidFill>
                  <a:srgbClr val="0F172A"/>
                </a:solidFill>
                <a:latin typeface="Segoe UI"/>
              </a:rPr>
              <a:t>• Edge cases: tamaño del modelo (~5-50 MB ideal), latencia primer load.</a:t>
            </a:r>
          </a:p>
        </p:txBody>
      </p:sp>
    </p:spTree>
  </p:cSld>
  <p:clrMapOvr>
    <a:masterClrMapping/>
  </p:clrMapOvr>
</p:sld>
</file>

<file path=ppt/slides/slide8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170 — TensorFlow.js (navegador)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 la CLI (más común): `bash tensorflowjs_converter --input_format=keras_saved_model servable/ tfjs_model/</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tensorflowjs as tfjs</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TFJS_OK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TFJS_OK = False</a:t>
            </a:r>
          </a:p>
          <a:p>
            <a:pPr>
              <a:defRPr sz="1200" b="0">
                <a:solidFill>
                  <a:srgbClr val="F8FAFC"/>
                </a:solidFill>
                <a:latin typeface="Courier New"/>
              </a:defRPr>
            </a:pPr>
            <a:r>
              <a:rPr sz="1200" b="0">
                <a:solidFill>
                  <a:srgbClr val="F8FAFC"/>
                </a:solidFill>
                <a:latin typeface="Courier New"/>
              </a:rPr>
              <a:t>    print("tensorflowjs no instalado -&gt; conversion via CLI/API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TFJS_OK:</a:t>
            </a:r>
          </a:p>
          <a:p>
            <a:pPr>
              <a:defRPr sz="1200" b="0">
                <a:solidFill>
                  <a:srgbClr val="F8FAFC"/>
                </a:solidFill>
                <a:latin typeface="Courier New"/>
              </a:defRPr>
            </a:pPr>
            <a:r>
              <a:rPr sz="1200" b="0">
                <a:solidFill>
                  <a:srgbClr val="F8FAFC"/>
                </a:solidFill>
                <a:latin typeface="Courier New"/>
              </a:rPr>
              <a:t>    model = keras.models.load_model("model.keras")</a:t>
            </a:r>
          </a:p>
          <a:p>
            <a:pPr>
              <a:defRPr sz="1200" b="0">
                <a:solidFill>
                  <a:srgbClr val="F8FAFC"/>
                </a:solidFill>
                <a:latin typeface="Courier New"/>
              </a:defRPr>
            </a:pPr>
            <a:r>
              <a:rPr sz="1200" b="0">
                <a:solidFill>
                  <a:srgbClr val="F8FAFC"/>
                </a:solidFill>
                <a:latin typeface="Courier New"/>
              </a:rPr>
              <a:t>    tfjs.converters.save_keras_model(model, "tfjs_model/")   # equivalente Python de la CLI</a:t>
            </a:r>
          </a:p>
          <a:p>
            <a:pPr>
              <a:defRPr sz="1200" b="0">
                <a:solidFill>
                  <a:srgbClr val="F8FAFC"/>
                </a:solidFill>
                <a:latin typeface="Courier New"/>
              </a:defRPr>
            </a:pPr>
            <a:r>
              <a:rPr sz="1200" b="0">
                <a:solidFill>
                  <a:srgbClr val="F8FAFC"/>
                </a:solidFill>
                <a:latin typeface="Courier New"/>
              </a:rPr>
              <a:t>    print("modelo convertido en tfjs_model/ (model.json + pesos .bin)")</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print("tfjs.converters.save_keras_model(model, 'tfjs_model/')")</a:t>
            </a:r>
          </a:p>
        </p:txBody>
      </p:sp>
    </p:spTree>
  </p:cSld>
  <p:clrMapOvr>
    <a:masterClrMapping/>
  </p:clrMapOvr>
</p:sld>
</file>

<file path=ppt/slides/slide8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170 — TensorFlow.js (navegador)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 tensorflowjs_converter --input_format=keras_saved_model servable/ tfjs_model/.</a:t>
            </a:r>
          </a:p>
          <a:p>
            <a:pPr>
              <a:spcAft>
                <a:spcPts val="800"/>
              </a:spcAft>
              <a:defRPr sz="1400" b="0">
                <a:solidFill>
                  <a:srgbClr val="0F172A"/>
                </a:solidFill>
                <a:latin typeface="Segoe UI"/>
              </a:defRPr>
            </a:pPr>
            <a:r>
              <a:rPr sz="1400" b="0">
                <a:solidFill>
                  <a:srgbClr val="0F172A"/>
                </a:solidFill>
                <a:latin typeface="Segoe UI"/>
              </a:rPr>
              <a:t>• HTML page: pagina simple que carga model.json, dibuja una imagen 28×28 en canvas, predice.</a:t>
            </a:r>
          </a:p>
          <a:p>
            <a:pPr>
              <a:spcAft>
                <a:spcPts val="800"/>
              </a:spcAft>
              <a:defRPr sz="1400" b="0">
                <a:solidFill>
                  <a:srgbClr val="0F172A"/>
                </a:solidFill>
                <a:latin typeface="Segoe UI"/>
              </a:defRPr>
            </a:pPr>
            <a:r>
              <a:rPr sz="1400" b="0">
                <a:solidFill>
                  <a:srgbClr val="0F172A"/>
                </a:solidFill>
                <a:latin typeface="Segoe UI"/>
              </a:rPr>
              <a:t>• WebGPU: await tf.setBackend('webgpu').</a:t>
            </a:r>
          </a:p>
          <a:p>
            <a:pPr>
              <a:spcAft>
                <a:spcPts val="800"/>
              </a:spcAft>
              <a:defRPr sz="1400" b="0">
                <a:solidFill>
                  <a:srgbClr val="0F172A"/>
                </a:solidFill>
                <a:latin typeface="Segoe UI"/>
              </a:defRPr>
            </a:pPr>
            <a:r>
              <a:rPr sz="1400" b="0">
                <a:solidFill>
                  <a:srgbClr val="0F172A"/>
                </a:solidFill>
                <a:latin typeface="Segoe UI"/>
              </a:rPr>
              <a:t>• transformers.js: import { pipeline } from '@xenova/transformers'.</a:t>
            </a:r>
          </a:p>
          <a:p>
            <a:pPr>
              <a:spcAft>
                <a:spcPts val="800"/>
              </a:spcAft>
              <a:defRPr sz="1400" b="0">
                <a:solidFill>
                  <a:srgbClr val="0F172A"/>
                </a:solidFill>
                <a:latin typeface="Segoe UI"/>
              </a:defRPr>
            </a:pPr>
            <a:r>
              <a:rPr sz="1400" b="0">
                <a:solidFill>
                  <a:srgbClr val="0F172A"/>
                </a:solidFill>
                <a:latin typeface="Segoe UI"/>
              </a:rPr>
              <a:t>• PWA: empaquetar como Progressive Web App con service worker para offline inference.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Convertir modelo a TF.js.</a:t>
            </a:r>
          </a:p>
          <a:p>
            <a:pPr>
              <a:spcAft>
                <a:spcPts val="800"/>
              </a:spcAft>
              <a:defRPr sz="1500" b="0">
                <a:solidFill>
                  <a:srgbClr val="0F172A"/>
                </a:solidFill>
                <a:latin typeface="Segoe UI"/>
              </a:defRPr>
            </a:pPr>
            <a:r>
              <a:rPr sz="1500" b="0">
                <a:solidFill>
                  <a:srgbClr val="0F172A"/>
                </a:solidFill>
                <a:latin typeface="Segoe UI"/>
              </a:rPr>
              <a:t>• Página HTML con canvas donde el usuario dibuja.</a:t>
            </a:r>
          </a:p>
          <a:p>
            <a:pPr>
              <a:spcAft>
                <a:spcPts val="800"/>
              </a:spcAft>
              <a:defRPr sz="1500" b="0">
                <a:solidFill>
                  <a:srgbClr val="0F172A"/>
                </a:solidFill>
                <a:latin typeface="Segoe UI"/>
              </a:defRPr>
            </a:pPr>
            <a:r>
              <a:rPr sz="1500" b="0">
                <a:solidFill>
                  <a:srgbClr val="0F172A"/>
                </a:solidFill>
                <a:latin typeface="Segoe UI"/>
              </a:rPr>
              <a:t>• Botón "Predict" → muestra clase + probabilidades.</a:t>
            </a:r>
          </a:p>
        </p:txBody>
      </p:sp>
    </p:spTree>
  </p:cSld>
  <p:clrMapOvr>
    <a:masterClrMapping/>
  </p:clrMapOvr>
</p:sld>
</file>

<file path=ppt/slides/slide85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171 — Aceleración con GPU</a:t>
            </a:r>
          </a:p>
        </p:txBody>
      </p:sp>
    </p:spTree>
  </p:cSld>
  <p:clrMapOvr>
    <a:masterClrMapping/>
  </p:clrMapOvr>
</p:sld>
</file>

<file path=ppt/slides/slide8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171 — Aceleración con GPU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Using GPUs to Speed Up Computations.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Configurar GPU para DL: drivers, CUDA, cuDNN, verificación. Conocer mixed precision (bfloat16/float16) que duplica throughput en GPUs modernas (Ampere/Hopper). Profilear con TensorBoard Profiler para identificar bottlenecks (data loading vs compute vs sync).</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Verificar GPU: tf.config.list_physical_devices('GPU'), torch.cuda.is_available().</a:t>
            </a:r>
          </a:p>
          <a:p>
            <a:pPr>
              <a:spcAft>
                <a:spcPts val="800"/>
              </a:spcAft>
              <a:defRPr sz="1400" b="0">
                <a:solidFill>
                  <a:srgbClr val="0F172A"/>
                </a:solidFill>
                <a:latin typeface="Segoe UI"/>
              </a:defRPr>
            </a:pPr>
            <a:r>
              <a:rPr sz="1400" b="0">
                <a:solidFill>
                  <a:srgbClr val="0F172A"/>
                </a:solidFill>
                <a:latin typeface="Segoe UI"/>
              </a:rPr>
              <a:t>• Activar mixed precision: keras.mixed_precision.set_global_policy('mixed_float16') (Volta+) o 'mixed_bfloat16' (Ampere+).</a:t>
            </a:r>
          </a:p>
          <a:p>
            <a:pPr>
              <a:spcAft>
                <a:spcPts val="800"/>
              </a:spcAft>
              <a:defRPr sz="1400" b="0">
                <a:solidFill>
                  <a:srgbClr val="0F172A"/>
                </a:solidFill>
                <a:latin typeface="Segoe UI"/>
              </a:defRPr>
            </a:pPr>
            <a:r>
              <a:rPr sz="1400" b="0">
                <a:solidFill>
                  <a:srgbClr val="0F172A"/>
                </a:solidFill>
                <a:latin typeface="Segoe UI"/>
              </a:rPr>
              <a:t>• Limitar memoria GPU: set_memory_growth(True) para no consumir toda al inicio.</a:t>
            </a:r>
          </a:p>
          <a:p>
            <a:pPr>
              <a:spcAft>
                <a:spcPts val="800"/>
              </a:spcAft>
              <a:defRPr sz="1400" b="0">
                <a:solidFill>
                  <a:srgbClr val="0F172A"/>
                </a:solidFill>
                <a:latin typeface="Segoe UI"/>
              </a:defRPr>
            </a:pPr>
            <a:r>
              <a:rPr sz="1400" b="0">
                <a:solidFill>
                  <a:srgbClr val="0F172A"/>
                </a:solidFill>
                <a:latin typeface="Segoe UI"/>
              </a:rPr>
              <a:t>• Multi-GPU básico con tf.distribute.MirroredStrategy (clase 144 profundiza).</a:t>
            </a:r>
          </a:p>
          <a:p>
            <a:pPr>
              <a:spcAft>
                <a:spcPts val="800"/>
              </a:spcAft>
              <a:defRPr sz="1400" b="0">
                <a:solidFill>
                  <a:srgbClr val="0F172A"/>
                </a:solidFill>
                <a:latin typeface="Segoe UI"/>
              </a:defRPr>
            </a:pPr>
            <a:r>
              <a:rPr sz="1400" b="0">
                <a:solidFill>
                  <a:srgbClr val="0F172A"/>
                </a:solidFill>
                <a:latin typeface="Segoe UI"/>
              </a:rPr>
              <a:t>• Profilear con TensorBoard Profiler.</a:t>
            </a:r>
          </a:p>
        </p:txBody>
      </p:sp>
    </p:spTree>
  </p:cSld>
  <p:clrMapOvr>
    <a:masterClrMapping/>
  </p:clrMapOvr>
</p:sld>
</file>

<file path=ppt/slides/slide8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171 — Aceleración con GPU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CUDA toolkit + cuDNN versions matching.</a:t>
            </a:r>
          </a:p>
          <a:p>
            <a:pPr>
              <a:spcAft>
                <a:spcPts val="1000"/>
              </a:spcAft>
              <a:defRPr sz="1600" b="0">
                <a:solidFill>
                  <a:srgbClr val="0F172A"/>
                </a:solidFill>
                <a:latin typeface="Segoe UI"/>
              </a:defRPr>
            </a:pPr>
            <a:r>
              <a:rPr sz="1600" b="0">
                <a:solidFill>
                  <a:srgbClr val="0F172A"/>
                </a:solidFill>
                <a:latin typeface="Segoe UI"/>
              </a:rPr>
              <a:t>• nvidia-smi para monitor.</a:t>
            </a:r>
          </a:p>
          <a:p>
            <a:pPr>
              <a:spcAft>
                <a:spcPts val="1000"/>
              </a:spcAft>
              <a:defRPr sz="1600" b="0">
                <a:solidFill>
                  <a:srgbClr val="0F172A"/>
                </a:solidFill>
                <a:latin typeface="Segoe UI"/>
              </a:defRPr>
            </a:pPr>
            <a:r>
              <a:rPr sz="1600" b="0">
                <a:solidFill>
                  <a:srgbClr val="0F172A"/>
                </a:solidFill>
                <a:latin typeface="Segoe UI"/>
              </a:rPr>
              <a:t>• Mixed precision: float16 (Volta+, 16 GB max) vs bfloat16 (Ampere+, mismo exponente que float32, más estable).</a:t>
            </a:r>
          </a:p>
          <a:p>
            <a:pPr>
              <a:spcAft>
                <a:spcPts val="1000"/>
              </a:spcAft>
              <a:defRPr sz="1600" b="0">
                <a:solidFill>
                  <a:srgbClr val="0F172A"/>
                </a:solidFill>
                <a:latin typeface="Segoe UI"/>
              </a:defRPr>
            </a:pPr>
            <a:r>
              <a:rPr sz="1600" b="0">
                <a:solidFill>
                  <a:srgbClr val="0F172A"/>
                </a:solidFill>
                <a:latin typeface="Segoe UI"/>
              </a:rPr>
              <a:t>• Memory growth vs allocated all.</a:t>
            </a:r>
          </a:p>
          <a:p>
            <a:pPr>
              <a:spcAft>
                <a:spcPts val="1000"/>
              </a:spcAft>
              <a:defRPr sz="1600" b="0">
                <a:solidFill>
                  <a:srgbClr val="0F172A"/>
                </a:solidFill>
                <a:latin typeface="Segoe UI"/>
              </a:defRPr>
            </a:pPr>
            <a:r>
              <a:rPr sz="1600" b="0">
                <a:solidFill>
                  <a:srgbClr val="0F172A"/>
                </a:solidFill>
                <a:latin typeface="Segoe UI"/>
              </a:rPr>
              <a:t>• Profiling con TensorBoard.</a:t>
            </a:r>
          </a:p>
          <a:p>
            <a:pPr>
              <a:spcAft>
                <a:spcPts val="1000"/>
              </a:spcAft>
              <a:defRPr sz="1600" b="0">
                <a:solidFill>
                  <a:srgbClr val="0F172A"/>
                </a:solidFill>
                <a:latin typeface="Segoe UI"/>
              </a:defRPr>
            </a:pPr>
            <a:r>
              <a:rPr sz="1600" b="0">
                <a:solidFill>
                  <a:srgbClr val="0F172A"/>
                </a:solidFill>
                <a:latin typeface="Segoe UI"/>
              </a:rPr>
              <a:t>• GPUs típicos en 2026: H100, H200 (server); RTX 5090 (consumer).</a:t>
            </a:r>
          </a:p>
        </p:txBody>
      </p:sp>
    </p:spTree>
  </p:cSld>
  <p:clrMapOvr>
    <a:masterClrMapping/>
  </p:clrMapOvr>
</p:sld>
</file>

<file path=ppt/slides/slide8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171 — Aceleración con GPU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gpus = tf.config.list_physical_devices("GPU")</a:t>
            </a:r>
          </a:p>
          <a:p>
            <a:pPr>
              <a:defRPr sz="1200" b="0">
                <a:solidFill>
                  <a:srgbClr val="F8FAFC"/>
                </a:solidFill>
                <a:latin typeface="Courier New"/>
              </a:defRPr>
            </a:pPr>
            <a:r>
              <a:rPr sz="1200" b="0">
                <a:solidFill>
                  <a:srgbClr val="F8FAFC"/>
                </a:solidFill>
                <a:latin typeface="Courier New"/>
              </a:rPr>
              <a:t>    print("GPUs fisicas:", gpus)</a:t>
            </a:r>
          </a:p>
          <a:p>
            <a:pPr>
              <a:defRPr sz="1200" b="0">
                <a:solidFill>
                  <a:srgbClr val="F8FAFC"/>
                </a:solidFill>
                <a:latin typeface="Courier New"/>
              </a:defRPr>
            </a:pPr>
            <a:r>
              <a:rPr sz="1200" b="0">
                <a:solidFill>
                  <a:srgbClr val="F8FAFC"/>
                </a:solidFill>
                <a:latin typeface="Courier New"/>
              </a:rPr>
              <a:t>    print("GPUs logicas:", tf.config.list_logical_devices("GPU"))</a:t>
            </a:r>
          </a:p>
          <a:p>
            <a:pPr>
              <a:defRPr sz="1200" b="0">
                <a:solidFill>
                  <a:srgbClr val="F8FAFC"/>
                </a:solidFill>
                <a:latin typeface="Courier New"/>
              </a:defRPr>
            </a:pPr>
            <a:r>
              <a:rPr sz="1200" b="0">
                <a:solidFill>
                  <a:srgbClr val="F8FAFC"/>
                </a:solidFill>
                <a:latin typeface="Courier New"/>
              </a:rPr>
              <a:t>    if not gpus:</a:t>
            </a:r>
          </a:p>
          <a:p>
            <a:pPr>
              <a:defRPr sz="1200" b="0">
                <a:solidFill>
                  <a:srgbClr val="F8FAFC"/>
                </a:solidFill>
                <a:latin typeface="Courier New"/>
              </a:defRPr>
            </a:pPr>
            <a:r>
              <a:rPr sz="1200" b="0">
                <a:solidFill>
                  <a:srgbClr val="F8FAFC"/>
                </a:solidFill>
                <a:latin typeface="Courier New"/>
              </a:rPr>
              <a:t>        print("(sin GPU: TF corre en CPU; el codigo de abajo es la configuracion correcta)")</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print("tf.config.list_physical_devices('GPU')  /  torch.cuda.is_available()")</a:t>
            </a:r>
          </a:p>
        </p:txBody>
      </p:sp>
    </p:spTree>
  </p:cSld>
  <p:clrMapOvr>
    <a:masterClrMapping/>
  </p:clrMapOvr>
</p:sld>
</file>

<file path=ppt/slides/slide8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171 — Aceleración con GPU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GPU check: imprimir tf.config.list_physical_devices('GPU'), tf.config.list_logical_devices('GPU'), nvidia-smi.</a:t>
            </a:r>
          </a:p>
          <a:p>
            <a:pPr>
              <a:spcAft>
                <a:spcPts val="800"/>
              </a:spcAft>
              <a:defRPr sz="1400" b="0">
                <a:solidFill>
                  <a:srgbClr val="0F172A"/>
                </a:solidFill>
                <a:latin typeface="Segoe UI"/>
              </a:defRPr>
            </a:pPr>
            <a:r>
              <a:rPr sz="1400" b="0">
                <a:solidFill>
                  <a:srgbClr val="0F172A"/>
                </a:solidFill>
                <a:latin typeface="Segoe UI"/>
              </a:rPr>
              <a:t>• Memory growth: tf.config.experimental.set_memory_growth(gpu, True) para evitar reservar 100 % al inicio.</a:t>
            </a:r>
          </a:p>
          <a:p>
            <a:pPr>
              <a:spcAft>
                <a:spcPts val="800"/>
              </a:spcAft>
              <a:defRPr sz="1400" b="0">
                <a:solidFill>
                  <a:srgbClr val="0F172A"/>
                </a:solidFill>
                <a:latin typeface="Segoe UI"/>
              </a:defRPr>
            </a:pPr>
            <a:r>
              <a:rPr sz="1400" b="0">
                <a:solidFill>
                  <a:srgbClr val="0F172A"/>
                </a:solidFill>
                <a:latin typeface="Segoe UI"/>
              </a:rPr>
              <a:t>• Mixed precision: keras.mixed_precision.set_global_policy('mixed_float16').</a:t>
            </a:r>
          </a:p>
          <a:p>
            <a:pPr>
              <a:spcAft>
                <a:spcPts val="800"/>
              </a:spcAft>
              <a:defRPr sz="1400" b="0">
                <a:solidFill>
                  <a:srgbClr val="0F172A"/>
                </a:solidFill>
                <a:latin typeface="Segoe UI"/>
              </a:defRPr>
            </a:pPr>
            <a:r>
              <a:rPr sz="1400" b="0">
                <a:solidFill>
                  <a:srgbClr val="0F172A"/>
                </a:solidFill>
                <a:latin typeface="Segoe UI"/>
              </a:rPr>
              <a:t>• Profile: keras.callbacks.TensorBoard(log_dir=..., profile_batch=(5, 10)).</a:t>
            </a:r>
          </a:p>
          <a:p>
            <a:pPr>
              <a:spcAft>
                <a:spcPts val="800"/>
              </a:spcAft>
              <a:defRPr sz="1400" b="0">
                <a:solidFill>
                  <a:srgbClr val="0F172A"/>
                </a:solidFill>
                <a:latin typeface="Segoe UI"/>
              </a:defRPr>
            </a:pPr>
            <a:r>
              <a:rPr sz="1400" b="0">
                <a:solidFill>
                  <a:srgbClr val="0F172A"/>
                </a:solidFill>
                <a:latin typeface="Segoe UI"/>
              </a:rPr>
              <a:t>• Bottleneck: si la GPU está al 30 %, el bottleneck es data loading.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Baseline con default config.</a:t>
            </a:r>
          </a:p>
          <a:p>
            <a:pPr>
              <a:spcAft>
                <a:spcPts val="800"/>
              </a:spcAft>
              <a:defRPr sz="1400" b="0">
                <a:solidFill>
                  <a:srgbClr val="0F172A"/>
                </a:solidFill>
                <a:latin typeface="Segoe UI"/>
              </a:defRPr>
            </a:pPr>
            <a:r>
              <a:rPr sz="1400" b="0">
                <a:solidFill>
                  <a:srgbClr val="0F172A"/>
                </a:solidFill>
                <a:latin typeface="Segoe UI"/>
              </a:rPr>
              <a:t>• Activar mixed precision + memory_growth.</a:t>
            </a:r>
          </a:p>
          <a:p>
            <a:pPr>
              <a:spcAft>
                <a:spcPts val="800"/>
              </a:spcAft>
              <a:defRPr sz="1400" b="0">
                <a:solidFill>
                  <a:srgbClr val="0F172A"/>
                </a:solidFill>
                <a:latin typeface="Segoe UI"/>
              </a:defRPr>
            </a:pPr>
            <a:r>
              <a:rPr sz="1400" b="0">
                <a:solidFill>
                  <a:srgbClr val="0F172A"/>
                </a:solidFill>
                <a:latin typeface="Segoe UI"/>
              </a:rPr>
              <a:t>• Profile y identificar bottleneck.</a:t>
            </a:r>
          </a:p>
          <a:p>
            <a:pPr>
              <a:spcAft>
                <a:spcPts val="800"/>
              </a:spcAft>
              <a:defRPr sz="1400" b="0">
                <a:solidFill>
                  <a:srgbClr val="0F172A"/>
                </a:solidFill>
                <a:latin typeface="Segoe UI"/>
              </a:defRPr>
            </a:pPr>
            <a:r>
              <a:rPr sz="1400" b="0">
                <a:solidFill>
                  <a:srgbClr val="0F172A"/>
                </a:solidFill>
                <a:latin typeface="Segoe UI"/>
              </a:rPr>
              <a:t>• Aplicar fix (más prefetch, batch más grande, etc.).</a:t>
            </a:r>
          </a:p>
          <a:p>
            <a:pPr>
              <a:spcAft>
                <a:spcPts val="800"/>
              </a:spcAft>
              <a:defRPr sz="1400" b="0">
                <a:solidFill>
                  <a:srgbClr val="0F172A"/>
                </a:solidFill>
                <a:latin typeface="Segoe UI"/>
              </a:defRPr>
            </a:pPr>
            <a:r>
              <a:rPr sz="1400" b="0">
                <a:solidFill>
                  <a:srgbClr val="0F172A"/>
                </a:solidFill>
                <a:latin typeface="Segoe UI"/>
              </a:rPr>
              <a:t>• Reportar speedup wall-clock.</a:t>
            </a:r>
          </a:p>
        </p:txBody>
      </p:sp>
    </p:spTree>
  </p:cSld>
  <p:clrMapOvr>
    <a:masterClrMapping/>
  </p:clrMapOvr>
</p:sld>
</file>

<file path=ppt/slides/slide86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172 — Entrenamiento multi-dispositivo, tf.distribute</a:t>
            </a:r>
          </a:p>
        </p:txBody>
      </p:sp>
    </p:spTree>
  </p:cSld>
  <p:clrMapOvr>
    <a:masterClrMapping/>
  </p:clrMapOvr>
</p:sld>
</file>

<file path=ppt/slides/slide8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172 — Entrenamiento multi-dispositivo, tf.distribute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Training Models Across Multiple Devices.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Escalar el training a múltiples GPUs (y multi-nodos). Conocer las 3 estrategias TF: MirroredStrategy (1 nodo, varias GPUs), MultiWorkerMirroredStrategy (varios nodos), TPUStrategy. Conocer equivalentes PyTorch (DDP, FSDP) que son estándar para LLMs grandes.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MirroredStrategy en un único nodo con N GPUs.</a:t>
            </a:r>
          </a:p>
          <a:p>
            <a:pPr>
              <a:spcAft>
                <a:spcPts val="800"/>
              </a:spcAft>
              <a:defRPr sz="1400" b="0">
                <a:solidFill>
                  <a:srgbClr val="0F172A"/>
                </a:solidFill>
                <a:latin typeface="Segoe UI"/>
              </a:defRPr>
            </a:pPr>
            <a:r>
              <a:rPr sz="1400" b="0">
                <a:solidFill>
                  <a:srgbClr val="0F172A"/>
                </a:solidFill>
                <a:latin typeface="Segoe UI"/>
              </a:rPr>
              <a:t>• Entender data parallelism: cada GPU procesa su mini-batch, gradients se promedian (all-reduce).</a:t>
            </a:r>
          </a:p>
          <a:p>
            <a:pPr>
              <a:spcAft>
                <a:spcPts val="800"/>
              </a:spcAft>
              <a:defRPr sz="1400" b="0">
                <a:solidFill>
                  <a:srgbClr val="0F172A"/>
                </a:solidFill>
                <a:latin typeface="Segoe UI"/>
              </a:defRPr>
            </a:pPr>
            <a:r>
              <a:rPr sz="1400" b="0">
                <a:solidFill>
                  <a:srgbClr val="0F172A"/>
                </a:solidFill>
                <a:latin typeface="Segoe UI"/>
              </a:rPr>
              <a:t>• Diferenciar de model parallelism (modelo dividido entre GPUs) y pipeline parallelism.</a:t>
            </a:r>
          </a:p>
          <a:p>
            <a:pPr>
              <a:spcAft>
                <a:spcPts val="800"/>
              </a:spcAft>
              <a:defRPr sz="1400" b="0">
                <a:solidFill>
                  <a:srgbClr val="0F172A"/>
                </a:solidFill>
                <a:latin typeface="Segoe UI"/>
              </a:defRPr>
            </a:pPr>
            <a:r>
              <a:rPr sz="1400" b="0">
                <a:solidFill>
                  <a:srgbClr val="0F172A"/>
                </a:solidFill>
                <a:latin typeface="Segoe UI"/>
              </a:rPr>
              <a:t>• Conocer FSDP (Fully Sharded Data Parallel) para modelos demasiado grandes para 1 GPU (LLMs).</a:t>
            </a:r>
          </a:p>
          <a:p>
            <a:pPr>
              <a:spcAft>
                <a:spcPts val="800"/>
              </a:spcAft>
              <a:defRPr sz="1400" b="0">
                <a:solidFill>
                  <a:srgbClr val="0F172A"/>
                </a:solidFill>
                <a:latin typeface="Segoe UI"/>
              </a:defRPr>
            </a:pPr>
            <a:r>
              <a:rPr sz="1400" b="0">
                <a:solidFill>
                  <a:srgbClr val="0F172A"/>
                </a:solidFill>
                <a:latin typeface="Segoe UI"/>
              </a:rPr>
              <a:t>• Saber que PyTorch Lightning abstrae todo esto cambiando un kwarg.</a:t>
            </a:r>
          </a:p>
        </p:txBody>
      </p:sp>
    </p:spTree>
  </p:cSld>
  <p:clrMapOvr>
    <a:masterClrMapping/>
  </p:clrMapOvr>
</p:sld>
</file>

<file path=ppt/slides/slide8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172 — Entrenamiento multi-dispositivo, tf.distribute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Data parallelism: misma red replicada, distinto batch por GPU.</a:t>
            </a:r>
          </a:p>
          <a:p>
            <a:pPr>
              <a:spcAft>
                <a:spcPts val="1000"/>
              </a:spcAft>
              <a:defRPr sz="1600" b="0">
                <a:solidFill>
                  <a:srgbClr val="0F172A"/>
                </a:solidFill>
                <a:latin typeface="Segoe UI"/>
              </a:defRPr>
            </a:pPr>
            <a:r>
              <a:rPr sz="1600" b="0">
                <a:solidFill>
                  <a:srgbClr val="0F172A"/>
                </a:solidFill>
                <a:latin typeface="Segoe UI"/>
              </a:rPr>
              <a:t>• Model parallelism: red dividida (tensor parallel, pipeline parallel).</a:t>
            </a:r>
          </a:p>
          <a:p>
            <a:pPr>
              <a:spcAft>
                <a:spcPts val="1000"/>
              </a:spcAft>
              <a:defRPr sz="1600" b="0">
                <a:solidFill>
                  <a:srgbClr val="0F172A"/>
                </a:solidFill>
                <a:latin typeface="Segoe UI"/>
              </a:defRPr>
            </a:pPr>
            <a:r>
              <a:rPr sz="1600" b="0">
                <a:solidFill>
                  <a:srgbClr val="0F172A"/>
                </a:solidFill>
                <a:latin typeface="Segoe UI"/>
              </a:rPr>
              <a:t>• FSDP / DeepSpeed ZeRO: shard de parámetros, gradientes, optimizer states.</a:t>
            </a:r>
          </a:p>
          <a:p>
            <a:pPr>
              <a:spcAft>
                <a:spcPts val="1000"/>
              </a:spcAft>
              <a:defRPr sz="1600" b="0">
                <a:solidFill>
                  <a:srgbClr val="0F172A"/>
                </a:solidFill>
                <a:latin typeface="Segoe UI"/>
              </a:defRPr>
            </a:pPr>
            <a:r>
              <a:rPr sz="1600" b="0">
                <a:solidFill>
                  <a:srgbClr val="0F172A"/>
                </a:solidFill>
                <a:latin typeface="Segoe UI"/>
              </a:rPr>
              <a:t>• TF: MirroredStrategy, MultiWorkerMirroredStrategy, TPUStrategy.</a:t>
            </a:r>
          </a:p>
          <a:p>
            <a:pPr>
              <a:spcAft>
                <a:spcPts val="1000"/>
              </a:spcAft>
              <a:defRPr sz="1600" b="0">
                <a:solidFill>
                  <a:srgbClr val="0F172A"/>
                </a:solidFill>
                <a:latin typeface="Segoe UI"/>
              </a:defRPr>
            </a:pPr>
            <a:r>
              <a:rPr sz="1600" b="0">
                <a:solidFill>
                  <a:srgbClr val="0F172A"/>
                </a:solidFill>
                <a:latin typeface="Segoe UI"/>
              </a:rPr>
              <a:t>• PyTorch: DistributedDataParallel, FullyShardedDataParallel, DeepSpeed.</a:t>
            </a:r>
          </a:p>
          <a:p>
            <a:pPr>
              <a:spcAft>
                <a:spcPts val="1000"/>
              </a:spcAft>
              <a:defRPr sz="1600" b="0">
                <a:solidFill>
                  <a:srgbClr val="0F172A"/>
                </a:solidFill>
                <a:latin typeface="Segoe UI"/>
              </a:defRPr>
            </a:pPr>
            <a:r>
              <a:rPr sz="1600" b="0">
                <a:solidFill>
                  <a:srgbClr val="0F172A"/>
                </a:solidFill>
                <a:latin typeface="Segoe UI"/>
              </a:rPr>
              <a:t>• Lightning / Accelerate: abstracciones de alto nivel.</a:t>
            </a:r>
          </a:p>
        </p:txBody>
      </p:sp>
    </p:spTree>
  </p:cSld>
  <p:clrMapOvr>
    <a:masterClrMapping/>
  </p:clrMapOvr>
</p:sld>
</file>

<file path=ppt/slides/slide8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172 — Entrenamiento multi-dispositivo, tf.distribute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Cada GPU tiene una réplica del modelo, procesa un mini-batch distinto, y los gradientes se promedian con all-reduce. Todo se construye dentro de strategy.scope().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strategy = tf.distribute.MirroredStrategy()</a:t>
            </a:r>
          </a:p>
          <a:p>
            <a:pPr>
              <a:defRPr sz="1200" b="0">
                <a:solidFill>
                  <a:srgbClr val="F8FAFC"/>
                </a:solidFill>
                <a:latin typeface="Courier New"/>
              </a:defRPr>
            </a:pPr>
            <a:r>
              <a:rPr sz="1200" b="0">
                <a:solidFill>
                  <a:srgbClr val="F8FAFC"/>
                </a:solidFill>
                <a:latin typeface="Courier New"/>
              </a:rPr>
              <a:t>    print("replicas en sync:", strategy.num_replicas_in_sync)</a:t>
            </a:r>
          </a:p>
          <a:p>
            <a:pPr>
              <a:defRPr sz="1200" b="0">
                <a:solidFill>
                  <a:srgbClr val="F8FAFC"/>
                </a:solidFill>
                <a:latin typeface="Courier New"/>
              </a:defRPr>
            </a:pPr>
            <a:r>
              <a:rPr sz="1200" b="0">
                <a:solidFill>
                  <a:srgbClr val="F8FAFC"/>
                </a:solidFill>
                <a:latin typeface="Courier New"/>
              </a:rPr>
              <a:t>    with strategy.scope():</a:t>
            </a:r>
          </a:p>
          <a:p>
            <a:pPr>
              <a:defRPr sz="1200" b="0">
                <a:solidFill>
                  <a:srgbClr val="F8FAFC"/>
                </a:solidFill>
                <a:latin typeface="Courier New"/>
              </a:defRPr>
            </a:pPr>
            <a:r>
              <a:rPr sz="1200" b="0">
                <a:solidFill>
                  <a:srgbClr val="F8FAFC"/>
                </a:solidFill>
                <a:latin typeface="Courier New"/>
              </a:rPr>
              <a:t>        model =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keras.layers.Dense(256, activation="relu"),</a:t>
            </a:r>
          </a:p>
          <a:p>
            <a:pPr>
              <a:defRPr sz="1200" b="0">
                <a:solidFill>
                  <a:srgbClr val="F8FAFC"/>
                </a:solidFill>
                <a:latin typeface="Courier New"/>
              </a:defRPr>
            </a:pPr>
            <a:r>
              <a:rPr sz="1200" b="0">
                <a:solidFill>
                  <a:srgbClr val="F8FAFC"/>
                </a:solidFill>
                <a:latin typeface="Courier New"/>
              </a:rPr>
              <a:t>            keras.layers.Dense(10,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model.compile(optimizer="adam", loss="sparse_categorical_crossentropy",</a:t>
            </a:r>
          </a:p>
          <a:p>
            <a:pPr>
              <a:defRPr sz="1200" b="0">
                <a:solidFill>
                  <a:srgbClr val="F8FAFC"/>
                </a:solidFill>
                <a:latin typeface="Courier New"/>
              </a:defRPr>
            </a:pPr>
            <a:r>
              <a:rPr sz="1200" b="0">
                <a:solidFill>
                  <a:srgbClr val="F8FAFC"/>
                </a:solidFill>
                <a:latin typeface="Courier New"/>
              </a:rPr>
              <a:t>                      metrics=["accuracy"])</a:t>
            </a:r>
          </a:p>
          <a:p>
            <a:pPr>
              <a:defRPr sz="1200" b="0">
                <a:solidFill>
                  <a:srgbClr val="F8FAFC"/>
                </a:solidFill>
                <a:latin typeface="Courier New"/>
              </a:defRPr>
            </a:pPr>
            <a:r>
              <a:rPr sz="1200" b="0">
                <a:solidFill>
                  <a:srgbClr val="F8FAFC"/>
                </a:solidFill>
                <a:latin typeface="Courier New"/>
              </a:rPr>
              <a:t>    print("modelo replicado en todas las GPUs del nodo")</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8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172 — Entrenamiento multi-dispositivo, tf.distribute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MirroredStrategy: strategy = tf.distribute.MirroredStrategy().</a:t>
            </a:r>
          </a:p>
          <a:p>
            <a:pPr>
              <a:spcAft>
                <a:spcPts val="800"/>
              </a:spcAft>
              <a:defRPr sz="1400" b="0">
                <a:solidFill>
                  <a:srgbClr val="0F172A"/>
                </a:solidFill>
                <a:latin typeface="Segoe UI"/>
              </a:defRPr>
            </a:pPr>
            <a:r>
              <a:rPr sz="1400" b="0">
                <a:solidFill>
                  <a:srgbClr val="0F172A"/>
                </a:solidFill>
                <a:latin typeface="Segoe UI"/>
              </a:rPr>
              <a:t>• Batch effective: si tenés 4 GPUs y batch_size=32, el batch global es 128.</a:t>
            </a:r>
          </a:p>
          <a:p>
            <a:pPr>
              <a:spcAft>
                <a:spcPts val="800"/>
              </a:spcAft>
              <a:defRPr sz="1400" b="0">
                <a:solidFill>
                  <a:srgbClr val="0F172A"/>
                </a:solidFill>
                <a:latin typeface="Segoe UI"/>
              </a:defRPr>
            </a:pPr>
            <a:r>
              <a:rPr sz="1400" b="0">
                <a:solidFill>
                  <a:srgbClr val="0F172A"/>
                </a:solidFill>
                <a:latin typeface="Segoe UI"/>
              </a:rPr>
              <a:t>• Gradient accumulation: simular batch=512 acumulando 4 mini-batches de 128.</a:t>
            </a:r>
          </a:p>
          <a:p>
            <a:pPr>
              <a:spcAft>
                <a:spcPts val="800"/>
              </a:spcAft>
              <a:defRPr sz="1400" b="0">
                <a:solidFill>
                  <a:srgbClr val="0F172A"/>
                </a:solidFill>
                <a:latin typeface="Segoe UI"/>
              </a:defRPr>
            </a:pPr>
            <a:r>
              <a:rPr sz="1400" b="0">
                <a:solidFill>
                  <a:srgbClr val="0F172A"/>
                </a:solidFill>
                <a:latin typeface="Segoe UI"/>
              </a:rPr>
              <a:t>• PyTorch DDP: comando torchrun --nproc_per_node=4 train.py con DistributedDataParallel(model).</a:t>
            </a:r>
          </a:p>
          <a:p>
            <a:pPr>
              <a:spcAft>
                <a:spcPts val="800"/>
              </a:spcAft>
              <a:defRPr sz="1400" b="0">
                <a:solidFill>
                  <a:srgbClr val="0F172A"/>
                </a:solidFill>
                <a:latin typeface="Segoe UI"/>
              </a:defRPr>
            </a:pPr>
            <a:r>
              <a:rPr sz="1400" b="0">
                <a:solidFill>
                  <a:srgbClr val="0F172A"/>
                </a:solidFill>
                <a:latin typeface="Segoe UI"/>
              </a:rPr>
              <a:t>• PyTorch Lightning: trainer = L.Trainer(strategy='ddp', devices=4).</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Mismo modelo en single-GPU vs MirroredStrategy(2 GPUs).</a:t>
            </a:r>
          </a:p>
          <a:p>
            <a:pPr>
              <a:spcAft>
                <a:spcPts val="800"/>
              </a:spcAft>
              <a:defRPr sz="1500" b="0">
                <a:solidFill>
                  <a:srgbClr val="0F172A"/>
                </a:solidFill>
                <a:latin typeface="Segoe UI"/>
              </a:defRPr>
            </a:pPr>
            <a:r>
              <a:rPr sz="1500" b="0">
                <a:solidFill>
                  <a:srgbClr val="0F172A"/>
                </a:solidFill>
                <a:latin typeface="Segoe UI"/>
              </a:rPr>
              <a:t>• Reportar wall-time por epoch.</a:t>
            </a:r>
          </a:p>
          <a:p>
            <a:pPr>
              <a:spcAft>
                <a:spcPts val="800"/>
              </a:spcAft>
              <a:defRPr sz="1500" b="0">
                <a:solidFill>
                  <a:srgbClr val="0F172A"/>
                </a:solidFill>
                <a:latin typeface="Segoe UI"/>
              </a:defRPr>
            </a:pPr>
            <a:r>
              <a:rPr sz="1500" b="0">
                <a:solidFill>
                  <a:srgbClr val="0F172A"/>
                </a:solidFill>
                <a:latin typeface="Segoe UI"/>
              </a:rPr>
              <a:t>• Verificar que la accuracy final es similar.</a:t>
            </a:r>
          </a:p>
        </p:txBody>
      </p:sp>
    </p:spTree>
  </p:cSld>
  <p:clrMapOvr>
    <a:masterClrMapping/>
  </p:clrMapOvr>
</p:sld>
</file>

<file path=ppt/slides/slide86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173 — JAX y Flax: el stack moderno de Google para DL</a:t>
            </a:r>
          </a:p>
        </p:txBody>
      </p:sp>
    </p:spTree>
  </p:cSld>
  <p:clrMapOvr>
    <a:masterClrMapping/>
  </p:clrMapOvr>
</p:sld>
</file>

<file path=ppt/slides/slide8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173 — JAX y Flax: el stack moderno de Google para DL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JAX docs + Flax NNX docs.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JAX (Google 2018) y Flax (NN library on top of JAX) — el stack que sostiene AlphaFold, Gemini, MaxText, AlphaCode y muchos modelos modernos. Cubrir jit, vmap, pmap, grad, transformaciones funcionales, y Flax NNX (la nueva API 2024, similar a PyTorch).</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JAX (NumPy + autodiff + XLA) de NumPy plano.</a:t>
            </a:r>
          </a:p>
          <a:p>
            <a:pPr>
              <a:spcAft>
                <a:spcPts val="800"/>
              </a:spcAft>
              <a:defRPr sz="1400" b="0">
                <a:solidFill>
                  <a:srgbClr val="0F172A"/>
                </a:solidFill>
                <a:latin typeface="Segoe UI"/>
              </a:defRPr>
            </a:pPr>
            <a:r>
              <a:rPr sz="1400" b="0">
                <a:solidFill>
                  <a:srgbClr val="0F172A"/>
                </a:solidFill>
                <a:latin typeface="Segoe UI"/>
              </a:rPr>
              <a:t>• Usar jax.jit para compilación XLA (2-10× speedup automático).</a:t>
            </a:r>
          </a:p>
          <a:p>
            <a:pPr>
              <a:spcAft>
                <a:spcPts val="800"/>
              </a:spcAft>
              <a:defRPr sz="1400" b="0">
                <a:solidFill>
                  <a:srgbClr val="0F172A"/>
                </a:solidFill>
                <a:latin typeface="Segoe UI"/>
              </a:defRPr>
            </a:pPr>
            <a:r>
              <a:rPr sz="1400" b="0">
                <a:solidFill>
                  <a:srgbClr val="0F172A"/>
                </a:solidFill>
                <a:latin typeface="Segoe UI"/>
              </a:rPr>
              <a:t>• Aplicar jax.vmap (vectorización automática) y jax.grad (autodiff funcional).</a:t>
            </a:r>
          </a:p>
          <a:p>
            <a:pPr>
              <a:spcAft>
                <a:spcPts val="800"/>
              </a:spcAft>
              <a:defRPr sz="1400" b="0">
                <a:solidFill>
                  <a:srgbClr val="0F172A"/>
                </a:solidFill>
                <a:latin typeface="Segoe UI"/>
              </a:defRPr>
            </a:pPr>
            <a:r>
              <a:rPr sz="1400" b="0">
                <a:solidFill>
                  <a:srgbClr val="0F172A"/>
                </a:solidFill>
                <a:latin typeface="Segoe UI"/>
              </a:rPr>
              <a:t>• Construir modelos con Flax NNX (API moderna similar a PyTorch).</a:t>
            </a:r>
          </a:p>
          <a:p>
            <a:pPr>
              <a:spcAft>
                <a:spcPts val="800"/>
              </a:spcAft>
              <a:defRPr sz="1400" b="0">
                <a:solidFill>
                  <a:srgbClr val="0F172A"/>
                </a:solidFill>
                <a:latin typeface="Segoe UI"/>
              </a:defRPr>
            </a:pPr>
            <a:r>
              <a:rPr sz="1400" b="0">
                <a:solidFill>
                  <a:srgbClr val="0F172A"/>
                </a:solidFill>
                <a:latin typeface="Segoe UI"/>
              </a:rPr>
              <a:t>• Reconocer cuándo elegir JAX sobre PyTorch (TPU, escala extrema, research).</a:t>
            </a:r>
          </a:p>
        </p:txBody>
      </p:sp>
    </p:spTree>
  </p:cSld>
  <p:clrMapOvr>
    <a:masterClrMapping/>
  </p:clrMapOvr>
</p:sld>
</file>

<file path=ppt/slides/slide8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173 — JAX y Flax: el stack moderno de Google para DL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Functional programming: funciones puras, no mutación.</a:t>
            </a:r>
          </a:p>
          <a:p>
            <a:pPr>
              <a:spcAft>
                <a:spcPts val="1000"/>
              </a:spcAft>
              <a:defRPr sz="1600" b="0">
                <a:solidFill>
                  <a:srgbClr val="0F172A"/>
                </a:solidFill>
                <a:latin typeface="Segoe UI"/>
              </a:defRPr>
            </a:pPr>
            <a:r>
              <a:rPr sz="1600" b="0">
                <a:solidFill>
                  <a:srgbClr val="0F172A"/>
                </a:solidFill>
                <a:latin typeface="Segoe UI"/>
              </a:rPr>
              <a:t>• jit, grad, vmap, pmap como transformaciones.</a:t>
            </a:r>
          </a:p>
          <a:p>
            <a:pPr>
              <a:spcAft>
                <a:spcPts val="1000"/>
              </a:spcAft>
              <a:defRPr sz="1600" b="0">
                <a:solidFill>
                  <a:srgbClr val="0F172A"/>
                </a:solidFill>
                <a:latin typeface="Segoe UI"/>
              </a:defRPr>
            </a:pPr>
            <a:r>
              <a:rPr sz="1600" b="0">
                <a:solidFill>
                  <a:srgbClr val="0F172A"/>
                </a:solidFill>
                <a:latin typeface="Segoe UI"/>
              </a:rPr>
              <a:t>• XLA: compilación a hardware específico (CPU, GPU, TPU).</a:t>
            </a:r>
          </a:p>
          <a:p>
            <a:pPr>
              <a:spcAft>
                <a:spcPts val="1000"/>
              </a:spcAft>
              <a:defRPr sz="1600" b="0">
                <a:solidFill>
                  <a:srgbClr val="0F172A"/>
                </a:solidFill>
                <a:latin typeface="Segoe UI"/>
              </a:defRPr>
            </a:pPr>
            <a:r>
              <a:rPr sz="1600" b="0">
                <a:solidFill>
                  <a:srgbClr val="0F172A"/>
                </a:solidFill>
                <a:latin typeface="Segoe UI"/>
              </a:rPr>
              <a:t>• PRNG explícito (jax.random.PRNGKey).</a:t>
            </a:r>
          </a:p>
          <a:p>
            <a:pPr>
              <a:spcAft>
                <a:spcPts val="1000"/>
              </a:spcAft>
              <a:defRPr sz="1600" b="0">
                <a:solidFill>
                  <a:srgbClr val="0F172A"/>
                </a:solidFill>
                <a:latin typeface="Segoe UI"/>
              </a:defRPr>
            </a:pPr>
            <a:r>
              <a:rPr sz="1600" b="0">
                <a:solidFill>
                  <a:srgbClr val="0F172A"/>
                </a:solidFill>
                <a:latin typeface="Segoe UI"/>
              </a:rPr>
              <a:t>• Flax: NN library. Antes Linen (functional), ahora NNX (stateful, más parecido a PyTorch).</a:t>
            </a:r>
          </a:p>
          <a:p>
            <a:pPr>
              <a:spcAft>
                <a:spcPts val="1000"/>
              </a:spcAft>
              <a:defRPr sz="1600" b="0">
                <a:solidFill>
                  <a:srgbClr val="0F172A"/>
                </a:solidFill>
                <a:latin typeface="Segoe UI"/>
              </a:defRPr>
            </a:pPr>
            <a:r>
              <a:rPr sz="1600" b="0">
                <a:solidFill>
                  <a:srgbClr val="0F172A"/>
                </a:solidFill>
                <a:latin typeface="Segoe UI"/>
              </a:rPr>
              <a:t>• Optax: optimizadores.</a:t>
            </a:r>
          </a:p>
        </p:txBody>
      </p:sp>
    </p:spTree>
  </p:cSld>
  <p:clrMapOvr>
    <a:masterClrMapping/>
  </p:clrMapOvr>
</p:sld>
</file>

<file path=ppt/slides/slide8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173 — JAX y Flax: el stack moderno de Google para DL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Cubrimos jit, grad, vmap y un MLP con Flax. Fallback en numpy con autograd manual si JAX no está disponible.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time</a:t>
            </a:r>
          </a:p>
          <a:p>
            <a:pPr>
              <a:defRPr sz="1200" b="0">
                <a:solidFill>
                  <a:srgbClr val="F8FAFC"/>
                </a:solidFill>
                <a:latin typeface="Courier New"/>
              </a:defRPr>
            </a:pPr>
            <a:r>
              <a:rPr sz="1200" b="0">
                <a:solidFill>
                  <a:srgbClr val="F8FAFC"/>
                </a:solidFill>
                <a:latin typeface="Courier New"/>
              </a:rPr>
              <a:t>JAX_OK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jax, jax.numpy as jnp</a:t>
            </a:r>
          </a:p>
          <a:p>
            <a:pPr>
              <a:defRPr sz="1200" b="0">
                <a:solidFill>
                  <a:srgbClr val="F8FAFC"/>
                </a:solidFill>
                <a:latin typeface="Courier New"/>
              </a:defRPr>
            </a:pPr>
            <a:r>
              <a:rPr sz="1200" b="0">
                <a:solidFill>
                  <a:srgbClr val="F8FAFC"/>
                </a:solidFill>
                <a:latin typeface="Courier New"/>
              </a:rPr>
              <a:t>    JAX_OK = True</a:t>
            </a:r>
          </a:p>
          <a:p>
            <a:pPr>
              <a:defRPr sz="1200" b="0">
                <a:solidFill>
                  <a:srgbClr val="F8FAFC"/>
                </a:solidFill>
                <a:latin typeface="Courier New"/>
              </a:defRPr>
            </a:pPr>
            <a:r>
              <a:rPr sz="1200" b="0">
                <a:solidFill>
                  <a:srgbClr val="F8FAFC"/>
                </a:solidFill>
                <a:latin typeface="Courier New"/>
              </a:rPr>
              <a:t>    print(f'JAX {jax.__version__} | devices: {jax.devices()}')</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print('JAX no disponible → fallback con numpy + grad manual')</a:t>
            </a:r>
          </a:p>
        </p:txBody>
      </p:sp>
    </p:spTree>
  </p:cSld>
  <p:clrMapOvr>
    <a:masterClrMapping/>
  </p:clrMapOvr>
</p:sld>
</file>

<file path=ppt/slides/slide8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173 — JAX y Flax: el stack moderno de Google para DL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JAX basic: import jax.numpy as jnp; x = jnp.array([1.,2.,3.]); jnp.sum(x**2).</a:t>
            </a:r>
          </a:p>
          <a:p>
            <a:pPr>
              <a:spcAft>
                <a:spcPts val="800"/>
              </a:spcAft>
              <a:defRPr sz="1400" b="0">
                <a:solidFill>
                  <a:srgbClr val="0F172A"/>
                </a:solidFill>
                <a:latin typeface="Segoe UI"/>
              </a:defRPr>
            </a:pPr>
            <a:r>
              <a:rPr sz="1400" b="0">
                <a:solidFill>
                  <a:srgbClr val="0F172A"/>
                </a:solidFill>
                <a:latin typeface="Segoe UI"/>
              </a:rPr>
              <a:t>• grad: grad_f = jax.grad(lambda x: x**3); grad_f(2.) → 12.</a:t>
            </a:r>
          </a:p>
          <a:p>
            <a:pPr>
              <a:spcAft>
                <a:spcPts val="800"/>
              </a:spcAft>
              <a:defRPr sz="1400" b="0">
                <a:solidFill>
                  <a:srgbClr val="0F172A"/>
                </a:solidFill>
                <a:latin typeface="Segoe UI"/>
              </a:defRPr>
            </a:pPr>
            <a:r>
              <a:rPr sz="1400" b="0">
                <a:solidFill>
                  <a:srgbClr val="0F172A"/>
                </a:solidFill>
                <a:latin typeface="Segoe UI"/>
              </a:rPr>
              <a:t>• jit speedup: definir función numérica, medir tiempo con y sin @jax.jit.</a:t>
            </a:r>
          </a:p>
          <a:p>
            <a:pPr>
              <a:spcAft>
                <a:spcPts val="800"/>
              </a:spcAft>
              <a:defRPr sz="1400" b="0">
                <a:solidFill>
                  <a:srgbClr val="0F172A"/>
                </a:solidFill>
                <a:latin typeface="Segoe UI"/>
              </a:defRPr>
            </a:pPr>
            <a:r>
              <a:rPr sz="1400" b="0">
                <a:solidFill>
                  <a:srgbClr val="0F172A"/>
                </a:solidFill>
                <a:latin typeface="Segoe UI"/>
              </a:rPr>
              <a:t>• vmap: función para una muestra → vmap para procesar batch.</a:t>
            </a:r>
          </a:p>
          <a:p>
            <a:pPr>
              <a:spcAft>
                <a:spcPts val="800"/>
              </a:spcAft>
              <a:defRPr sz="1400" b="0">
                <a:solidFill>
                  <a:srgbClr val="0F172A"/>
                </a:solidFill>
                <a:latin typeface="Segoe UI"/>
              </a:defRPr>
            </a:pPr>
            <a:r>
              <a:rPr sz="1400" b="0">
                <a:solidFill>
                  <a:srgbClr val="0F172A"/>
                </a:solidFill>
                <a:latin typeface="Segoe UI"/>
              </a:rPr>
              <a:t>• Flax NNX MLP: definir modelo, training step, entrenar Fashion-MNIST.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Modelo Flax NNX con 2 capas Dense.</a:t>
            </a:r>
          </a:p>
          <a:p>
            <a:pPr>
              <a:spcAft>
                <a:spcPts val="800"/>
              </a:spcAft>
              <a:defRPr sz="1500" b="0">
                <a:solidFill>
                  <a:srgbClr val="0F172A"/>
                </a:solidFill>
                <a:latin typeface="Segoe UI"/>
              </a:defRPr>
            </a:pPr>
            <a:r>
              <a:rPr sz="1500" b="0">
                <a:solidFill>
                  <a:srgbClr val="0F172A"/>
                </a:solidFill>
                <a:latin typeface="Segoe UI"/>
              </a:rPr>
              <a:t>• Optax adam(1e-3).</a:t>
            </a:r>
          </a:p>
          <a:p>
            <a:pPr>
              <a:spcAft>
                <a:spcPts val="800"/>
              </a:spcAft>
              <a:defRPr sz="1500" b="0">
                <a:solidFill>
                  <a:srgbClr val="0F172A"/>
                </a:solidFill>
                <a:latin typeface="Segoe UI"/>
              </a:defRPr>
            </a:pPr>
            <a:r>
              <a:rPr sz="1500" b="0">
                <a:solidFill>
                  <a:srgbClr val="0F172A"/>
                </a:solidFill>
                <a:latin typeface="Segoe UI"/>
              </a:rPr>
              <a:t>• Training loop con jit.</a:t>
            </a:r>
          </a:p>
          <a:p>
            <a:pPr>
              <a:spcAft>
                <a:spcPts val="800"/>
              </a:spcAft>
              <a:defRPr sz="1500" b="0">
                <a:solidFill>
                  <a:srgbClr val="0F172A"/>
                </a:solidFill>
                <a:latin typeface="Segoe UI"/>
              </a:defRPr>
            </a:pPr>
            <a:r>
              <a:rPr sz="1500" b="0">
                <a:solidFill>
                  <a:srgbClr val="0F172A"/>
                </a:solidFill>
                <a:latin typeface="Segoe UI"/>
              </a:rPr>
              <a:t>• Reportar accuracy + tiempo vs equivalente PyTorch.</a:t>
            </a:r>
          </a:p>
        </p:txBody>
      </p:sp>
    </p:spTree>
  </p:cSld>
  <p:clrMapOvr>
    <a:masterClrMapping/>
  </p:clrMapOvr>
</p:sld>
</file>

<file path=ppt/slides/slide87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174 — Entrenamiento a escala con Vertex AI</a:t>
            </a:r>
          </a:p>
        </p:txBody>
      </p:sp>
    </p:spTree>
  </p:cSld>
  <p:clrMapOvr>
    <a:masterClrMapping/>
  </p:clrMapOvr>
</p:sld>
</file>

<file path=ppt/slides/slide8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174 — Entrenamiento a escala con Vertex AI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Running Large Training Jobs on Vertex AI + docs Vertex AI Training.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Cierre del bloque de despliegue: lanzar training jobs a escala en Vertex AI (GCP managed) — cluster automático, GPUs/TPUs on-demand, hyperparameter tuning distribuido. Conocer alternativas: AWS SageMaker Training, Azure ML Jobs, y plataformas dedicadas a LLMs (Modal, Together AI).</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Empaquetar un training script como Docker container.</a:t>
            </a:r>
          </a:p>
          <a:p>
            <a:pPr>
              <a:spcAft>
                <a:spcPts val="800"/>
              </a:spcAft>
              <a:defRPr sz="1400" b="0">
                <a:solidFill>
                  <a:srgbClr val="0F172A"/>
                </a:solidFill>
                <a:latin typeface="Segoe UI"/>
              </a:defRPr>
            </a:pPr>
            <a:r>
              <a:rPr sz="1400" b="0">
                <a:solidFill>
                  <a:srgbClr val="0F172A"/>
                </a:solidFill>
                <a:latin typeface="Segoe UI"/>
              </a:rPr>
              <a:t>• Lanzar un Custom Training Job en Vertex AI con gcloud ai custom-jobs create.</a:t>
            </a:r>
          </a:p>
          <a:p>
            <a:pPr>
              <a:spcAft>
                <a:spcPts val="800"/>
              </a:spcAft>
              <a:defRPr sz="1400" b="0">
                <a:solidFill>
                  <a:srgbClr val="0F172A"/>
                </a:solidFill>
                <a:latin typeface="Segoe UI"/>
              </a:defRPr>
            </a:pPr>
            <a:r>
              <a:rPr sz="1400" b="0">
                <a:solidFill>
                  <a:srgbClr val="0F172A"/>
                </a:solidFill>
                <a:latin typeface="Segoe UI"/>
              </a:rPr>
              <a:t>• Configurar HP tuning con Vertex AI Vizier.</a:t>
            </a:r>
          </a:p>
          <a:p>
            <a:pPr>
              <a:spcAft>
                <a:spcPts val="800"/>
              </a:spcAft>
              <a:defRPr sz="1400" b="0">
                <a:solidFill>
                  <a:srgbClr val="0F172A"/>
                </a:solidFill>
                <a:latin typeface="Segoe UI"/>
              </a:defRPr>
            </a:pPr>
            <a:r>
              <a:rPr sz="1400" b="0">
                <a:solidFill>
                  <a:srgbClr val="0F172A"/>
                </a:solidFill>
                <a:latin typeface="Segoe UI"/>
              </a:rPr>
              <a:t>• Usar TPU Pods para training distribuido extremo.</a:t>
            </a:r>
          </a:p>
          <a:p>
            <a:pPr>
              <a:spcAft>
                <a:spcPts val="800"/>
              </a:spcAft>
              <a:defRPr sz="1400" b="0">
                <a:solidFill>
                  <a:srgbClr val="0F172A"/>
                </a:solidFill>
                <a:latin typeface="Segoe UI"/>
              </a:defRPr>
            </a:pPr>
            <a:r>
              <a:rPr sz="1400" b="0">
                <a:solidFill>
                  <a:srgbClr val="0F172A"/>
                </a:solidFill>
                <a:latin typeface="Segoe UI"/>
              </a:rPr>
              <a:t>• Conocer alternativas cloud-agnostic (Modal, Together, RunPod).</a:t>
            </a:r>
          </a:p>
        </p:txBody>
      </p:sp>
    </p:spTree>
  </p:cSld>
  <p:clrMapOvr>
    <a:masterClrMapping/>
  </p:clrMapOvr>
</p:sld>
</file>

<file path=ppt/slides/slide8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174 — Entrenamiento a escala con Vertex AI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Custom container vs prebuilt container en Vertex.</a:t>
            </a:r>
          </a:p>
          <a:p>
            <a:pPr>
              <a:spcAft>
                <a:spcPts val="1000"/>
              </a:spcAft>
              <a:defRPr sz="1600" b="0">
                <a:solidFill>
                  <a:srgbClr val="0F172A"/>
                </a:solidFill>
                <a:latin typeface="Segoe UI"/>
              </a:defRPr>
            </a:pPr>
            <a:r>
              <a:rPr sz="1600" b="0">
                <a:solidFill>
                  <a:srgbClr val="0F172A"/>
                </a:solidFill>
                <a:latin typeface="Segoe UI"/>
              </a:rPr>
              <a:t>• WorkerPoolSpec: master + workers + parameter servers.</a:t>
            </a:r>
          </a:p>
          <a:p>
            <a:pPr>
              <a:spcAft>
                <a:spcPts val="1000"/>
              </a:spcAft>
              <a:defRPr sz="1600" b="0">
                <a:solidFill>
                  <a:srgbClr val="0F172A"/>
                </a:solidFill>
                <a:latin typeface="Segoe UI"/>
              </a:defRPr>
            </a:pPr>
            <a:r>
              <a:rPr sz="1600" b="0">
                <a:solidFill>
                  <a:srgbClr val="0F172A"/>
                </a:solidFill>
                <a:latin typeface="Segoe UI"/>
              </a:rPr>
              <a:t>• TPU pods para training a escala.</a:t>
            </a:r>
          </a:p>
          <a:p>
            <a:pPr>
              <a:spcAft>
                <a:spcPts val="1000"/>
              </a:spcAft>
              <a:defRPr sz="1600" b="0">
                <a:solidFill>
                  <a:srgbClr val="0F172A"/>
                </a:solidFill>
                <a:latin typeface="Segoe UI"/>
              </a:defRPr>
            </a:pPr>
            <a:r>
              <a:rPr sz="1600" b="0">
                <a:solidFill>
                  <a:srgbClr val="0F172A"/>
                </a:solidFill>
                <a:latin typeface="Segoe UI"/>
              </a:rPr>
              <a:t>• Hyperparameter tuning con Vizier (Bayesian search).</a:t>
            </a:r>
          </a:p>
          <a:p>
            <a:pPr>
              <a:spcAft>
                <a:spcPts val="1000"/>
              </a:spcAft>
              <a:defRPr sz="1600" b="0">
                <a:solidFill>
                  <a:srgbClr val="0F172A"/>
                </a:solidFill>
                <a:latin typeface="Segoe UI"/>
              </a:defRPr>
            </a:pPr>
            <a:r>
              <a:rPr sz="1600" b="0">
                <a:solidFill>
                  <a:srgbClr val="0F172A"/>
                </a:solidFill>
                <a:latin typeface="Segoe UI"/>
              </a:rPr>
              <a:t>• Costos: GPU/TPU hours.</a:t>
            </a:r>
          </a:p>
          <a:p>
            <a:pPr>
              <a:spcAft>
                <a:spcPts val="1000"/>
              </a:spcAft>
              <a:defRPr sz="1600" b="0">
                <a:solidFill>
                  <a:srgbClr val="0F172A"/>
                </a:solidFill>
                <a:latin typeface="Segoe UI"/>
              </a:defRPr>
            </a:pPr>
            <a:r>
              <a:rPr sz="1600" b="0">
                <a:solidFill>
                  <a:srgbClr val="0F172A"/>
                </a:solidFill>
                <a:latin typeface="Segoe UI"/>
              </a:rPr>
              <a:t>• Alternativas: SageMaker, Modal, Together, RunPod, Lambda Labs.</a:t>
            </a:r>
          </a:p>
        </p:txBody>
      </p:sp>
    </p:spTree>
  </p:cSld>
  <p:clrMapOvr>
    <a:masterClrMapping/>
  </p:clrMapOvr>
</p:sld>
</file>

<file path=ppt/slides/slide8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174 — Entrenamiento a escala con Vertex AI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google.cloud import aiplatform</a:t>
            </a:r>
          </a:p>
          <a:p>
            <a:pPr>
              <a:defRPr sz="1200" b="0">
                <a:solidFill>
                  <a:srgbClr val="F8FAFC"/>
                </a:solidFill>
                <a:latin typeface="Courier New"/>
              </a:defRPr>
            </a:pPr>
            <a:r>
              <a:rPr sz="1200" b="0">
                <a:solidFill>
                  <a:srgbClr val="F8FAFC"/>
                </a:solidFill>
                <a:latin typeface="Courier New"/>
              </a:rPr>
              <a:t>    GCP_OK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GCP_OK = False</a:t>
            </a:r>
          </a:p>
          <a:p>
            <a:pPr>
              <a:defRPr sz="1200" b="0">
                <a:solidFill>
                  <a:srgbClr val="F8FAFC"/>
                </a:solidFill>
                <a:latin typeface="Courier New"/>
              </a:defRPr>
            </a:pPr>
            <a:r>
              <a:rPr sz="1200" b="0">
                <a:solidFill>
                  <a:srgbClr val="F8FAFC"/>
                </a:solidFill>
                <a:latin typeface="Courier New"/>
              </a:rPr>
              <a:t>    print("google-cloud-aiplatform no instalado -&gt; se muestra la 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IMAGE = "us-central1-docker.pkg.dev/PROY/repo/train:v1"</a:t>
            </a:r>
          </a:p>
          <a:p>
            <a:pPr>
              <a:defRPr sz="1200" b="0">
                <a:solidFill>
                  <a:srgbClr val="F8FAFC"/>
                </a:solidFill>
                <a:latin typeface="Courier New"/>
              </a:defRPr>
            </a:pPr>
            <a:r>
              <a:rPr sz="1200" b="0">
                <a:solidFill>
                  <a:srgbClr val="F8FAFC"/>
                </a:solidFill>
                <a:latin typeface="Courier New"/>
              </a:rPr>
              <a:t>worker_pool_specs = [{</a:t>
            </a:r>
          </a:p>
          <a:p>
            <a:pPr>
              <a:defRPr sz="1200" b="0">
                <a:solidFill>
                  <a:srgbClr val="F8FAFC"/>
                </a:solidFill>
                <a:latin typeface="Courier New"/>
              </a:defRPr>
            </a:pPr>
            <a:r>
              <a:rPr sz="1200" b="0">
                <a:solidFill>
                  <a:srgbClr val="F8FAFC"/>
                </a:solidFill>
                <a:latin typeface="Courier New"/>
              </a:rPr>
              <a:t>    "machine_spec": {"machine_type": "n1-standard-8",</a:t>
            </a:r>
          </a:p>
          <a:p>
            <a:pPr>
              <a:defRPr sz="1200" b="0">
                <a:solidFill>
                  <a:srgbClr val="F8FAFC"/>
                </a:solidFill>
                <a:latin typeface="Courier New"/>
              </a:defRPr>
            </a:pPr>
            <a:r>
              <a:rPr sz="1200" b="0">
                <a:solidFill>
                  <a:srgbClr val="F8FAFC"/>
                </a:solidFill>
                <a:latin typeface="Courier New"/>
              </a:rPr>
              <a:t>                     "accelerator_type": "NVIDIA_TESLA_T4",</a:t>
            </a:r>
          </a:p>
          <a:p>
            <a:pPr>
              <a:defRPr sz="1200" b="0">
                <a:solidFill>
                  <a:srgbClr val="F8FAFC"/>
                </a:solidFill>
                <a:latin typeface="Courier New"/>
              </a:defRPr>
            </a:pPr>
            <a:r>
              <a:rPr sz="1200" b="0">
                <a:solidFill>
                  <a:srgbClr val="F8FAFC"/>
                </a:solidFill>
                <a:latin typeface="Courier New"/>
              </a:rPr>
              <a:t>                     "accelerator_count": 1},</a:t>
            </a:r>
          </a:p>
          <a:p>
            <a:pPr>
              <a:defRPr sz="1200" b="0">
                <a:solidFill>
                  <a:srgbClr val="F8FAFC"/>
                </a:solidFill>
                <a:latin typeface="Courier New"/>
              </a:defRPr>
            </a:pPr>
            <a:r>
              <a:rPr sz="1200" b="0">
                <a:solidFill>
                  <a:srgbClr val="F8FAFC"/>
                </a:solidFill>
                <a:latin typeface="Courier New"/>
              </a:rPr>
              <a:t>    "replica_count": 1,</a:t>
            </a:r>
          </a:p>
          <a:p>
            <a:pPr>
              <a:defRPr sz="1200" b="0">
                <a:solidFill>
                  <a:srgbClr val="F8FAFC"/>
                </a:solidFill>
                <a:latin typeface="Courier New"/>
              </a:defRPr>
            </a:pPr>
            <a:r>
              <a:rPr sz="1200" b="0">
                <a:solidFill>
                  <a:srgbClr val="F8FAFC"/>
                </a:solidFill>
                <a:latin typeface="Courier New"/>
              </a:rPr>
              <a:t>    "container_spec": {"image_uri": IMAGE},</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GCP_OK:</a:t>
            </a:r>
          </a:p>
          <a:p>
            <a:pPr>
              <a:defRPr sz="1200" b="0">
                <a:solidFill>
                  <a:srgbClr val="F8FAFC"/>
                </a:solidFill>
                <a:latin typeface="Courier New"/>
              </a:defRPr>
            </a:pPr>
            <a:r>
              <a:rPr sz="1200" b="0">
                <a:solidFill>
                  <a:srgbClr val="F8FAFC"/>
                </a:solidFill>
                <a:latin typeface="Courier New"/>
              </a:rPr>
              <a:t>    aiplatform.init(project="mi-proyecto", location="us-central1")</a:t>
            </a:r>
          </a:p>
          <a:p>
            <a:pPr>
              <a:defRPr sz="1200" b="0">
                <a:solidFill>
                  <a:srgbClr val="F8FAFC"/>
                </a:solidFill>
                <a:latin typeface="Courier New"/>
              </a:defRPr>
            </a:pPr>
            <a:r>
              <a:rPr sz="1200" b="0">
                <a:solidFill>
                  <a:srgbClr val="F8FAFC"/>
                </a:solidFill>
                <a:latin typeface="Courier New"/>
              </a:rPr>
              <a:t>    job = aiplatform.CustomJob(display_name="fashion-exp1",</a:t>
            </a:r>
          </a:p>
          <a:p>
            <a:pPr>
              <a:defRPr sz="1200" b="0">
                <a:solidFill>
                  <a:srgbClr val="F8FAFC"/>
                </a:solidFill>
                <a:latin typeface="Courier New"/>
              </a:defRPr>
            </a:pPr>
            <a:r>
              <a:rPr sz="1200" b="0">
                <a:solidFill>
                  <a:srgbClr val="F8FAFC"/>
                </a:solidFill>
                <a:latin typeface="Courier New"/>
              </a:rPr>
              <a:t>                               worker_pool_specs=worker_pool_specs)</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8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174 — Entrenamiento a escala con Vertex AI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Dockerize: escribir Dockerfile con TF + tu training script.</a:t>
            </a:r>
          </a:p>
          <a:p>
            <a:pPr>
              <a:spcAft>
                <a:spcPts val="800"/>
              </a:spcAft>
              <a:defRPr sz="1400" b="0">
                <a:solidFill>
                  <a:srgbClr val="0F172A"/>
                </a:solidFill>
                <a:latin typeface="Segoe UI"/>
              </a:defRPr>
            </a:pPr>
            <a:r>
              <a:rPr sz="1400" b="0">
                <a:solidFill>
                  <a:srgbClr val="0F172A"/>
                </a:solidFill>
                <a:latin typeface="Segoe UI"/>
              </a:rPr>
              <a:t>• Lanzar job: aiplatform.CustomJob(display_name='exp1', worker_pool_specs=[...]).run().</a:t>
            </a:r>
          </a:p>
          <a:p>
            <a:pPr>
              <a:spcAft>
                <a:spcPts val="800"/>
              </a:spcAft>
              <a:defRPr sz="1400" b="0">
                <a:solidFill>
                  <a:srgbClr val="0F172A"/>
                </a:solidFill>
                <a:latin typeface="Segoe UI"/>
              </a:defRPr>
            </a:pPr>
            <a:r>
              <a:rPr sz="1400" b="0">
                <a:solidFill>
                  <a:srgbClr val="0F172A"/>
                </a:solidFill>
                <a:latin typeface="Segoe UI"/>
              </a:rPr>
              <a:t>• HP tuning: HyperparameterTuningJob con Vizier; 20 trials.</a:t>
            </a:r>
          </a:p>
          <a:p>
            <a:pPr>
              <a:spcAft>
                <a:spcPts val="800"/>
              </a:spcAft>
              <a:defRPr sz="1400" b="0">
                <a:solidFill>
                  <a:srgbClr val="0F172A"/>
                </a:solidFill>
                <a:latin typeface="Segoe UI"/>
              </a:defRPr>
            </a:pPr>
            <a:r>
              <a:rPr sz="1400" b="0">
                <a:solidFill>
                  <a:srgbClr val="0F172A"/>
                </a:solidFill>
                <a:latin typeface="Segoe UI"/>
              </a:rPr>
              <a:t>• Multi-GPU spec: machine_type='a2-highgpu-4g' (4× A100).</a:t>
            </a:r>
          </a:p>
          <a:p>
            <a:pPr>
              <a:spcAft>
                <a:spcPts val="800"/>
              </a:spcAft>
              <a:defRPr sz="1400" b="0">
                <a:solidFill>
                  <a:srgbClr val="0F172A"/>
                </a:solidFill>
                <a:latin typeface="Segoe UI"/>
              </a:defRPr>
            </a:pPr>
            <a:r>
              <a:rPr sz="1400" b="0">
                <a:solidFill>
                  <a:srgbClr val="0F172A"/>
                </a:solidFill>
                <a:latin typeface="Segoe UI"/>
              </a:rPr>
              <a:t>• TensorBoard integration: Vertex TB para monitor.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Containerizar.</a:t>
            </a:r>
          </a:p>
          <a:p>
            <a:pPr>
              <a:spcAft>
                <a:spcPts val="800"/>
              </a:spcAft>
              <a:defRPr sz="1500" b="0">
                <a:solidFill>
                  <a:srgbClr val="0F172A"/>
                </a:solidFill>
                <a:latin typeface="Segoe UI"/>
              </a:defRPr>
            </a:pPr>
            <a:r>
              <a:rPr sz="1500" b="0">
                <a:solidFill>
                  <a:srgbClr val="0F172A"/>
                </a:solidFill>
                <a:latin typeface="Segoe UI"/>
              </a:rPr>
              <a:t>• Job de 1 GPU (n1-standard-4 + T4).</a:t>
            </a:r>
          </a:p>
          <a:p>
            <a:pPr>
              <a:spcAft>
                <a:spcPts val="800"/>
              </a:spcAft>
              <a:defRPr sz="1500" b="0">
                <a:solidFill>
                  <a:srgbClr val="0F172A"/>
                </a:solidFill>
                <a:latin typeface="Segoe UI"/>
              </a:defRPr>
            </a:pPr>
            <a:r>
              <a:rPr sz="1500" b="0">
                <a:solidFill>
                  <a:srgbClr val="0F172A"/>
                </a:solidFill>
                <a:latin typeface="Segoe UI"/>
              </a:rPr>
              <a:t>• Logs y output a GCS.</a:t>
            </a:r>
          </a:p>
          <a:p>
            <a:pPr>
              <a:spcAft>
                <a:spcPts val="800"/>
              </a:spcAft>
              <a:defRPr sz="1500" b="0">
                <a:solidFill>
                  <a:srgbClr val="0F172A"/>
                </a:solidFill>
                <a:latin typeface="Segoe UI"/>
              </a:defRPr>
            </a:pPr>
            <a:r>
              <a:rPr sz="1500" b="0">
                <a:solidFill>
                  <a:srgbClr val="0F172A"/>
                </a:solidFill>
                <a:latin typeface="Segoe UI"/>
              </a:rPr>
              <a:t>• Verificar accuracy similar a entrenamiento local.</a:t>
            </a:r>
          </a:p>
        </p:txBody>
      </p:sp>
    </p:spTree>
  </p:cSld>
  <p:clrMapOvr>
    <a:masterClrMapping/>
  </p:clrMapOvr>
</p:sld>
</file>

<file path=ppt/slides/slide87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3 — Estadística Inferencial y Causal · 19 clases</a:t>
            </a:r>
          </a:p>
        </p:txBody>
      </p:sp>
    </p:spTree>
  </p:cSld>
  <p:clrMapOvr>
    <a:masterClrMapping/>
  </p:clrMapOvr>
</p:sld>
</file>

<file path=ppt/slides/slide87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175 — Distribuciones: normal, binomial, Poisson, exponencial</a:t>
            </a:r>
          </a:p>
        </p:txBody>
      </p:sp>
    </p:spTree>
  </p:cSld>
  <p:clrMapOvr>
    <a:masterClrMapping/>
  </p:clrMapOvr>
</p:sld>
</file>

<file path=ppt/slides/slide8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175 — Distribuciones: normal, binomial, Poisson, exponencial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ISLP, cap. 2 + Bruce &amp; Bruce, cap. 2 Data and Sampling Distributions.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Reconocer las cuatro distribuciones de probabilidad que aparecen en el 90 % de los problemas reales de data science —normal, binomial, Poisson, exponencial— sabiendo qué fenómeno modela cada una, cuáles son sus parámetros, cómo simularlas con scipy.stats / numpy.random, y cómo verificar empíricamente si los datos realmente siguen esa distribución antes de aplicar un test que la asuma.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la distribución apropiada para un fenómeno descrito en lenguaje natural (conteos raros → Poisson, éxitos/fracasos → binomial, tiempos entre eventos → exponencial, sumas/promedios → normal por TCL).</a:t>
            </a:r>
          </a:p>
          <a:p>
            <a:pPr>
              <a:spcAft>
                <a:spcPts val="800"/>
              </a:spcAft>
              <a:defRPr sz="1400" b="0">
                <a:solidFill>
                  <a:srgbClr val="0F172A"/>
                </a:solidFill>
                <a:latin typeface="Segoe UI"/>
              </a:defRPr>
            </a:pPr>
            <a:r>
              <a:rPr sz="1400" b="0">
                <a:solidFill>
                  <a:srgbClr val="0F172A"/>
                </a:solidFill>
                <a:latin typeface="Segoe UI"/>
              </a:rPr>
              <a:t>• Calcular media, varianza y cuantiles teóricos con scipy.stats.{norm, binom, poisson, expon} (.mean(), .var(), .ppf(), .pdf()/.pmf()).</a:t>
            </a:r>
          </a:p>
          <a:p>
            <a:pPr>
              <a:spcAft>
                <a:spcPts val="800"/>
              </a:spcAft>
              <a:defRPr sz="1400" b="0">
                <a:solidFill>
                  <a:srgbClr val="0F172A"/>
                </a:solidFill>
                <a:latin typeface="Segoe UI"/>
              </a:defRPr>
            </a:pPr>
            <a:r>
              <a:rPr sz="1400" b="0">
                <a:solidFill>
                  <a:srgbClr val="0F172A"/>
                </a:solidFill>
                <a:latin typeface="Segoe UI"/>
              </a:rPr>
              <a:t>• Simular muestras con rng = np.random.default_rng(seed) y comparar histograma vs PDF/PMF teórica.</a:t>
            </a:r>
          </a:p>
          <a:p>
            <a:pPr>
              <a:spcAft>
                <a:spcPts val="800"/>
              </a:spcAft>
              <a:defRPr sz="1400" b="0">
                <a:solidFill>
                  <a:srgbClr val="0F172A"/>
                </a:solidFill>
                <a:latin typeface="Segoe UI"/>
              </a:defRPr>
            </a:pPr>
            <a:r>
              <a:rPr sz="1400" b="0">
                <a:solidFill>
                  <a:srgbClr val="0F172A"/>
                </a:solidFill>
                <a:latin typeface="Segoe UI"/>
              </a:rPr>
              <a:t>• Aplicar un Q-Q plot (scipy.stats.probplot) y un Kolmogorov-Smirnov (scipy.stats.kstest) para validar normalidad.</a:t>
            </a:r>
          </a:p>
          <a:p>
            <a:pPr>
              <a:spcAft>
                <a:spcPts val="800"/>
              </a:spcAft>
              <a:defRPr sz="1400" b="0">
                <a:solidFill>
                  <a:srgbClr val="0F172A"/>
                </a:solidFill>
                <a:latin typeface="Segoe UI"/>
              </a:defRPr>
            </a:pPr>
            <a:r>
              <a:rPr sz="1400" b="0">
                <a:solidFill>
                  <a:srgbClr val="0F172A"/>
                </a:solidFill>
                <a:latin typeface="Segoe UI"/>
              </a:rPr>
              <a:t>• Reconocer cuándo el Teorema Central del Límite justifica usar normal aunque los datos crudos no lo sean.</a:t>
            </a:r>
          </a:p>
        </p:txBody>
      </p:sp>
    </p:spTree>
  </p:cSld>
  <p:clrMapOvr>
    <a:masterClrMapping/>
  </p:clrMapOvr>
</p:sld>
</file>

<file path=ppt/slides/slide8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175 — Distribuciones: normal, binomial, Poisson, exponencial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Distribución normal N(μ, σ²)</a:t>
            </a:r>
          </a:p>
          <a:p>
            <a:pPr>
              <a:spcAft>
                <a:spcPts val="1000"/>
              </a:spcAft>
              <a:defRPr sz="1600" b="0">
                <a:solidFill>
                  <a:srgbClr val="0F172A"/>
                </a:solidFill>
                <a:latin typeface="Segoe UI"/>
              </a:defRPr>
            </a:pPr>
            <a:r>
              <a:rPr sz="1600" b="0">
                <a:solidFill>
                  <a:srgbClr val="0F172A"/>
                </a:solidFill>
                <a:latin typeface="Segoe UI"/>
              </a:rPr>
              <a:t>• Distribución binomial Bin(n, p)</a:t>
            </a:r>
          </a:p>
          <a:p>
            <a:pPr>
              <a:spcAft>
                <a:spcPts val="1000"/>
              </a:spcAft>
              <a:defRPr sz="1600" b="0">
                <a:solidFill>
                  <a:srgbClr val="0F172A"/>
                </a:solidFill>
                <a:latin typeface="Segoe UI"/>
              </a:defRPr>
            </a:pPr>
            <a:r>
              <a:rPr sz="1600" b="0">
                <a:solidFill>
                  <a:srgbClr val="0F172A"/>
                </a:solidFill>
                <a:latin typeface="Segoe UI"/>
              </a:rPr>
              <a:t>• Distribución de Poisson Poi(λ)</a:t>
            </a:r>
          </a:p>
          <a:p>
            <a:pPr>
              <a:spcAft>
                <a:spcPts val="1000"/>
              </a:spcAft>
              <a:defRPr sz="1600" b="0">
                <a:solidFill>
                  <a:srgbClr val="0F172A"/>
                </a:solidFill>
                <a:latin typeface="Segoe UI"/>
              </a:defRPr>
            </a:pPr>
            <a:r>
              <a:rPr sz="1600" b="0">
                <a:solidFill>
                  <a:srgbClr val="0F172A"/>
                </a:solidFill>
                <a:latin typeface="Segoe UI"/>
              </a:rPr>
              <a:t>• Distribución exponencial Exp(λ)</a:t>
            </a:r>
          </a:p>
          <a:p>
            <a:pPr>
              <a:spcAft>
                <a:spcPts val="1000"/>
              </a:spcAft>
              <a:defRPr sz="1600" b="0">
                <a:solidFill>
                  <a:srgbClr val="0F172A"/>
                </a:solidFill>
                <a:latin typeface="Segoe UI"/>
              </a:defRPr>
            </a:pPr>
            <a:r>
              <a:rPr sz="1600" b="0">
                <a:solidFill>
                  <a:srgbClr val="0F172A"/>
                </a:solidFill>
                <a:latin typeface="Segoe UI"/>
              </a:rPr>
              <a:t>• Teorema Central del Límite (TCL)</a:t>
            </a:r>
          </a:p>
          <a:p>
            <a:pPr>
              <a:spcAft>
                <a:spcPts val="1000"/>
              </a:spcAft>
              <a:defRPr sz="1600" b="0">
                <a:solidFill>
                  <a:srgbClr val="0F172A"/>
                </a:solidFill>
                <a:latin typeface="Segoe UI"/>
              </a:defRPr>
            </a:pPr>
            <a:r>
              <a:rPr sz="1600" b="0">
                <a:solidFill>
                  <a:srgbClr val="0F172A"/>
                </a:solidFill>
                <a:latin typeface="Segoe UI"/>
              </a:rPr>
              <a:t>• Verificación empírica: Q-Q plot + KS test</a:t>
            </a:r>
          </a:p>
        </p:txBody>
      </p:sp>
    </p:spTree>
  </p:cSld>
  <p:clrMapOvr>
    <a:masterClrMapping/>
  </p:clrMapOvr>
</p:sld>
</file>

<file path=ppt/slides/slide8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175 — Distribuciones: normal, binomial, Poisson, exponencial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Simétrica, soporte en toda la recta. Base de t-test, ANOVA e intervalos de confianza. Verificamos la regla 68-95-99.7.</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mu, sigma = 100.0, 15.0</a:t>
            </a:r>
          </a:p>
          <a:p>
            <a:pPr>
              <a:defRPr sz="1200" b="0">
                <a:solidFill>
                  <a:srgbClr val="F8FAFC"/>
                </a:solidFill>
                <a:latin typeface="Courier New"/>
              </a:defRPr>
            </a:pPr>
            <a:r>
              <a:rPr sz="1200" b="0">
                <a:solidFill>
                  <a:srgbClr val="F8FAFC"/>
                </a:solidFill>
                <a:latin typeface="Courier New"/>
              </a:rPr>
              <a:t>x = rng.normal(mu, sigma, 10_000)</a:t>
            </a:r>
          </a:p>
          <a:p>
            <a:pPr>
              <a:defRPr sz="1200" b="0">
                <a:solidFill>
                  <a:srgbClr val="F8FAFC"/>
                </a:solidFill>
                <a:latin typeface="Courier New"/>
              </a:defRPr>
            </a:pPr>
            <a:r>
              <a:rPr sz="1200" b="0">
                <a:solidFill>
                  <a:srgbClr val="F8FAFC"/>
                </a:solidFill>
                <a:latin typeface="Courier New"/>
              </a:rPr>
              <a:t>print(f"Normal N(100, 15^2): media={x.mean():.2f}  sd={x.std(ddof=1):.2f}")</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for k in (1, 2, 3):</a:t>
            </a:r>
          </a:p>
          <a:p>
            <a:pPr>
              <a:defRPr sz="1200" b="0">
                <a:solidFill>
                  <a:srgbClr val="F8FAFC"/>
                </a:solidFill>
                <a:latin typeface="Courier New"/>
              </a:defRPr>
            </a:pPr>
            <a:r>
              <a:rPr sz="1200" b="0">
                <a:solidFill>
                  <a:srgbClr val="F8FAFC"/>
                </a:solidFill>
                <a:latin typeface="Courier New"/>
              </a:rPr>
              <a:t>    frac = np.mean(np.abs(x - mu) &lt; k * sigma)</a:t>
            </a:r>
          </a:p>
          <a:p>
            <a:pPr>
              <a:defRPr sz="1200" b="0">
                <a:solidFill>
                  <a:srgbClr val="F8FAFC"/>
                </a:solidFill>
                <a:latin typeface="Courier New"/>
              </a:defRPr>
            </a:pPr>
            <a:r>
              <a:rPr sz="1200" b="0">
                <a:solidFill>
                  <a:srgbClr val="F8FAFC"/>
                </a:solidFill>
                <a:latin typeface="Courier New"/>
              </a:rPr>
              <a:t>    print(f"  dentro de {k} sigma: {frac:.3f}")</a:t>
            </a:r>
          </a:p>
          <a:p>
            <a:pPr>
              <a:defRPr sz="1200" b="0">
                <a:solidFill>
                  <a:srgbClr val="F8FAFC"/>
                </a:solidFill>
                <a:latin typeface="Courier New"/>
              </a:defRPr>
            </a:pPr>
            <a:r>
              <a:rPr sz="1200" b="0">
                <a:solidFill>
                  <a:srgbClr val="F8FAFC"/>
                </a:solidFill>
                <a:latin typeface="Courier New"/>
              </a:rPr>
              <a:t>frac1 = np.mean(np.abs(x - mu) &lt; sigma)</a:t>
            </a:r>
          </a:p>
          <a:p>
            <a:pPr>
              <a:defRPr sz="1200" b="0">
                <a:solidFill>
                  <a:srgbClr val="F8FAFC"/>
                </a:solidFill>
                <a:latin typeface="Courier New"/>
              </a:defRPr>
            </a:pPr>
            <a:r>
              <a:rPr sz="1200" b="0">
                <a:solidFill>
                  <a:srgbClr val="F8FAFC"/>
                </a:solidFill>
                <a:latin typeface="Courier New"/>
              </a:rPr>
              <a:t>assert abs(frac1 - 0.683) &lt; 0.02, "la regla 68-95-99.7 debe cumplirse"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grid = np.linspace(mu - 4*sigma, mu + 4*sigma, 200)</a:t>
            </a:r>
          </a:p>
          <a:p>
            <a:pPr>
              <a:defRPr sz="1200" b="0">
                <a:solidFill>
                  <a:srgbClr val="F8FAFC"/>
                </a:solidFill>
                <a:latin typeface="Courier New"/>
              </a:defRPr>
            </a:pPr>
            <a:r>
              <a:rPr sz="1200" b="0">
                <a:solidFill>
                  <a:srgbClr val="F8FAFC"/>
                </a:solidFill>
                <a:latin typeface="Courier New"/>
              </a:rPr>
              <a:t>plt.figure(figsize=(7, 4))</a:t>
            </a:r>
          </a:p>
          <a:p>
            <a:pPr>
              <a:defRPr sz="1200" b="0">
                <a:solidFill>
                  <a:srgbClr val="F8FAFC"/>
                </a:solidFill>
                <a:latin typeface="Courier New"/>
              </a:defRPr>
            </a:pPr>
            <a:r>
              <a:rPr sz="1200" b="0">
                <a:solidFill>
                  <a:srgbClr val="F8FAFC"/>
                </a:solidFill>
                <a:latin typeface="Courier New"/>
              </a:rPr>
              <a:t>plt.hist(x, bins=50, density=True, alpha=0.5, label="muestra")</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8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175 — Distribuciones: normal, binomial, Poisson, exponencial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Simulación y PDF/PMF: con rng = np.random.default_rng(42), generá 10 000 muestras de cada una de las 4 distribuciones con parámetros razonables.</a:t>
            </a:r>
          </a:p>
          <a:p>
            <a:pPr>
              <a:spcAft>
                <a:spcPts val="800"/>
              </a:spcAft>
              <a:defRPr sz="1400" b="0">
                <a:solidFill>
                  <a:srgbClr val="0F172A"/>
                </a:solidFill>
                <a:latin typeface="Segoe UI"/>
              </a:defRPr>
            </a:pPr>
            <a:r>
              <a:rPr sz="1400" b="0">
                <a:solidFill>
                  <a:srgbClr val="0F172A"/>
                </a:solidFill>
                <a:latin typeface="Segoe UI"/>
              </a:rPr>
              <a:t>• Cuantiles: calculá scipy.stats.norm(loc=100, scale=15).ppf([0.025, 0.5, 0.975]) (IQ test → IC 95 % poblacional) y verificá que el 2.5 % y 97.5 % muestrales de una simulación con n=100_000 se acerquen.</a:t>
            </a:r>
          </a:p>
          <a:p>
            <a:pPr>
              <a:spcAft>
                <a:spcPts val="800"/>
              </a:spcAft>
              <a:defRPr sz="1400" b="0">
                <a:solidFill>
                  <a:srgbClr val="0F172A"/>
                </a:solidFill>
                <a:latin typeface="Segoe UI"/>
              </a:defRPr>
            </a:pPr>
            <a:r>
              <a:rPr sz="1400" b="0">
                <a:solidFill>
                  <a:srgbClr val="0F172A"/>
                </a:solidFill>
                <a:latin typeface="Segoe UI"/>
              </a:rPr>
              <a:t>• TCL en acción: tomá Exp(λ=1) (claramente no normal).</a:t>
            </a:r>
          </a:p>
          <a:p>
            <a:pPr>
              <a:spcAft>
                <a:spcPts val="800"/>
              </a:spcAft>
              <a:defRPr sz="1400" b="0">
                <a:solidFill>
                  <a:srgbClr val="0F172A"/>
                </a:solidFill>
                <a:latin typeface="Segoe UI"/>
              </a:defRPr>
            </a:pPr>
            <a:r>
              <a:rPr sz="1400" b="0">
                <a:solidFill>
                  <a:srgbClr val="0F172A"/>
                </a:solidFill>
                <a:latin typeface="Segoe UI"/>
              </a:rPr>
              <a:t>• Q-Q plot: scipy.stats.probplot(tips.total_bill, dist='norm', plot=plt).</a:t>
            </a:r>
          </a:p>
          <a:p>
            <a:pPr>
              <a:spcAft>
                <a:spcPts val="800"/>
              </a:spcAft>
              <a:defRPr sz="1400" b="0">
                <a:solidFill>
                  <a:srgbClr val="0F172A"/>
                </a:solidFill>
                <a:latin typeface="Segoe UI"/>
              </a:defRPr>
            </a:pPr>
            <a:r>
              <a:rPr sz="1400" b="0">
                <a:solidFill>
                  <a:srgbClr val="0F172A"/>
                </a:solidFill>
                <a:latin typeface="Segoe UI"/>
              </a:rPr>
              <a:t>• ¿Poisson o no?: con los conteos por hora del dataset sintético, calculá mean() y var().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Carga tips.total_bill de seaborn.</a:t>
            </a:r>
          </a:p>
          <a:p>
            <a:pPr>
              <a:spcAft>
                <a:spcPts val="800"/>
              </a:spcAft>
              <a:defRPr sz="1500" b="0">
                <a:solidFill>
                  <a:srgbClr val="0F172A"/>
                </a:solidFill>
                <a:latin typeface="Segoe UI"/>
              </a:defRPr>
            </a:pPr>
            <a:r>
              <a:rPr sz="1500" b="0">
                <a:solidFill>
                  <a:srgbClr val="0F172A"/>
                </a:solidFill>
                <a:latin typeface="Segoe UI"/>
              </a:rPr>
              <a:t>• Genera un Q-Q plot contra 'norm' y otro contra 'lognorm'.</a:t>
            </a:r>
          </a:p>
          <a:p>
            <a:pPr>
              <a:spcAft>
                <a:spcPts val="800"/>
              </a:spcAft>
              <a:defRPr sz="1500" b="0">
                <a:solidFill>
                  <a:srgbClr val="0F172A"/>
                </a:solidFill>
                <a:latin typeface="Segoe UI"/>
              </a:defRPr>
            </a:pPr>
            <a:r>
              <a:rPr sz="1500" b="0">
                <a:solidFill>
                  <a:srgbClr val="0F172A"/>
                </a:solidFill>
                <a:latin typeface="Segoe UI"/>
              </a:rPr>
              <a:t>• Aplica scipy.stats.kstest contra ambas (estandarizando los datos).</a:t>
            </a:r>
          </a:p>
          <a:p>
            <a:pPr>
              <a:spcAft>
                <a:spcPts val="800"/>
              </a:spcAft>
              <a:defRPr sz="1500" b="0">
                <a:solidFill>
                  <a:srgbClr val="0F172A"/>
                </a:solidFill>
                <a:latin typeface="Segoe UI"/>
              </a:defRPr>
            </a:pPr>
            <a:r>
              <a:rPr sz="1500" b="0">
                <a:solidFill>
                  <a:srgbClr val="0F172A"/>
                </a:solidFill>
                <a:latin typeface="Segoe UI"/>
              </a:rPr>
              <a:t>• Concluye por escrito qué distribución modela mejor total_bill y por qué (≤ 3 líneas).</a:t>
            </a:r>
          </a:p>
        </p:txBody>
      </p:sp>
    </p:spTree>
  </p:cSld>
  <p:clrMapOvr>
    <a:masterClrMapping/>
  </p:clrMapOvr>
</p:sld>
</file>

<file path=ppt/slides/slide88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176 — Test t (una muestra, dos muestras, pareado)</a:t>
            </a:r>
          </a:p>
        </p:txBody>
      </p:sp>
    </p:spTree>
  </p:cSld>
  <p:clrMapOvr>
    <a:masterClrMapping/>
  </p:clrMapOvr>
</p:sld>
</file>

<file path=ppt/slides/slide8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176 — Test t (una muestra, dos muestras, pareado)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ISLP, cap. 13 + Bruce &amp; Bruce, cap. 3 Statistical Experiments and Significance Testing.  Duración estimada: 80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aplique correctamente las tres variantes del test t —una muestra, dos muestras independientes (Welch por default), pareado—, distinga hipótesis nula y alternativa, lea p-value e intervalo de confianza de la salida de scipy.stats y pingouin, y aprenda a reportar effect size (Cohen's d, Hedges' g) junto con el p-value para no caer en la trampa de "significativo pero irrelevante".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Formular H₀ y H₁ (bilateral / unilateral) para un problema concreto y elegir la variante correcta del test t.</a:t>
            </a:r>
          </a:p>
          <a:p>
            <a:pPr>
              <a:spcAft>
                <a:spcPts val="800"/>
              </a:spcAft>
              <a:defRPr sz="1400" b="0">
                <a:solidFill>
                  <a:srgbClr val="0F172A"/>
                </a:solidFill>
                <a:latin typeface="Segoe UI"/>
              </a:defRPr>
            </a:pPr>
            <a:r>
              <a:rPr sz="1400" b="0">
                <a:solidFill>
                  <a:srgbClr val="0F172A"/>
                </a:solidFill>
                <a:latin typeface="Segoe UI"/>
              </a:rPr>
              <a:t>• Ejecutar scipy.stats.ttest_1samp, ttest_ind(equal_var=False) y ttest_rel, interpretando el statistic, pvalue y el atributo .confidence_interval() (scipy ≥ 1.10).</a:t>
            </a:r>
          </a:p>
          <a:p>
            <a:pPr>
              <a:spcAft>
                <a:spcPts val="800"/>
              </a:spcAft>
              <a:defRPr sz="1400" b="0">
                <a:solidFill>
                  <a:srgbClr val="0F172A"/>
                </a:solidFill>
                <a:latin typeface="Segoe UI"/>
              </a:defRPr>
            </a:pPr>
            <a:r>
              <a:rPr sz="1400" b="0">
                <a:solidFill>
                  <a:srgbClr val="0F172A"/>
                </a:solidFill>
                <a:latin typeface="Segoe UI"/>
              </a:rPr>
              <a:t>• Verificar supuestos: normalidad por grupo (Shapiro / Q-Q plot) o invocar TCL si n ≥ 30.</a:t>
            </a:r>
          </a:p>
          <a:p>
            <a:pPr>
              <a:spcAft>
                <a:spcPts val="800"/>
              </a:spcAft>
              <a:defRPr sz="1400" b="0">
                <a:solidFill>
                  <a:srgbClr val="0F172A"/>
                </a:solidFill>
                <a:latin typeface="Segoe UI"/>
              </a:defRPr>
            </a:pPr>
            <a:r>
              <a:rPr sz="1400" b="0">
                <a:solidFill>
                  <a:srgbClr val="0F172A"/>
                </a:solidFill>
                <a:latin typeface="Segoe UI"/>
              </a:rPr>
              <a:t>• Decidir entre test bilateral vs unilateral sin caer en p-hacking (la dirección debe estar fijada antes de mirar los datos).</a:t>
            </a:r>
          </a:p>
          <a:p>
            <a:pPr>
              <a:spcAft>
                <a:spcPts val="800"/>
              </a:spcAft>
              <a:defRPr sz="1400" b="0">
                <a:solidFill>
                  <a:srgbClr val="0F172A"/>
                </a:solidFill>
                <a:latin typeface="Segoe UI"/>
              </a:defRPr>
            </a:pPr>
            <a:r>
              <a:rPr sz="1400" b="0">
                <a:solidFill>
                  <a:srgbClr val="0F172A"/>
                </a:solidFill>
                <a:latin typeface="Segoe UI"/>
              </a:rPr>
              <a:t>• Reportar effect size: Cohen's d, Hedges' g corregido para muestras chicas, y su interpretación cualitativa (small/medium/large).</a:t>
            </a:r>
          </a:p>
        </p:txBody>
      </p:sp>
    </p:spTree>
  </p:cSld>
  <p:clrMapOvr>
    <a:masterClrMapping/>
  </p:clrMapOvr>
</p:sld>
</file>

<file path=ppt/slides/slide8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176 — Test t (una muestra, dos muestras, pareado)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H₀ / H₁, errores tipo I (α) y tipo II (β).</a:t>
            </a:r>
          </a:p>
          <a:p>
            <a:pPr>
              <a:spcAft>
                <a:spcPts val="1000"/>
              </a:spcAft>
              <a:defRPr sz="1600" b="0">
                <a:solidFill>
                  <a:srgbClr val="0F172A"/>
                </a:solidFill>
                <a:latin typeface="Segoe UI"/>
              </a:defRPr>
            </a:pPr>
            <a:r>
              <a:rPr sz="1600" b="0">
                <a:solidFill>
                  <a:srgbClr val="0F172A"/>
                </a:solidFill>
                <a:latin typeface="Segoe UI"/>
              </a:rPr>
              <a:t>• Test t de una muestra: t = (x̄ - μ₀) / (s/√n), gl = n - 1.</a:t>
            </a:r>
          </a:p>
          <a:p>
            <a:pPr>
              <a:spcAft>
                <a:spcPts val="1000"/>
              </a:spcAft>
              <a:defRPr sz="1600" b="0">
                <a:solidFill>
                  <a:srgbClr val="0F172A"/>
                </a:solidFill>
                <a:latin typeface="Segoe UI"/>
              </a:defRPr>
            </a:pPr>
            <a:r>
              <a:rPr sz="1600" b="0">
                <a:solidFill>
                  <a:srgbClr val="0F172A"/>
                </a:solidFill>
                <a:latin typeface="Segoe UI"/>
              </a:rPr>
              <a:t>• Test t de dos muestras independientes: Welch (varianzas distintas, default moderno) vs Student (varianzas iguales — supuesto fuerte, casi nunca correcto).</a:t>
            </a:r>
          </a:p>
          <a:p>
            <a:pPr>
              <a:spcAft>
                <a:spcPts val="1000"/>
              </a:spcAft>
              <a:defRPr sz="1600" b="0">
                <a:solidFill>
                  <a:srgbClr val="0F172A"/>
                </a:solidFill>
                <a:latin typeface="Segoe UI"/>
              </a:defRPr>
            </a:pPr>
            <a:r>
              <a:rPr sz="1600" b="0">
                <a:solidFill>
                  <a:srgbClr val="0F172A"/>
                </a:solidFill>
                <a:latin typeface="Segoe UI"/>
              </a:rPr>
              <a:t>• Test t pareado (mismo sujeto antes/después).</a:t>
            </a:r>
          </a:p>
          <a:p>
            <a:pPr>
              <a:spcAft>
                <a:spcPts val="1000"/>
              </a:spcAft>
              <a:defRPr sz="1600" b="0">
                <a:solidFill>
                  <a:srgbClr val="0F172A"/>
                </a:solidFill>
                <a:latin typeface="Segoe UI"/>
              </a:defRPr>
            </a:pPr>
            <a:r>
              <a:rPr sz="1600" b="0">
                <a:solidFill>
                  <a:srgbClr val="0F172A"/>
                </a:solidFill>
                <a:latin typeface="Segoe UI"/>
              </a:rPr>
              <a:t>• p-value: probabilidad bajo H₀ de observar algo al menos tan extremo. NO es P(H₀ | datos).</a:t>
            </a:r>
          </a:p>
          <a:p>
            <a:pPr>
              <a:spcAft>
                <a:spcPts val="1000"/>
              </a:spcAft>
              <a:defRPr sz="1600" b="0">
                <a:solidFill>
                  <a:srgbClr val="0F172A"/>
                </a:solidFill>
                <a:latin typeface="Segoe UI"/>
              </a:defRPr>
            </a:pPr>
            <a:r>
              <a:rPr sz="1600" b="0">
                <a:solidFill>
                  <a:srgbClr val="0F172A"/>
                </a:solidFill>
                <a:latin typeface="Segoe UI"/>
              </a:rPr>
              <a:t>• Intervalo de confianza al 95 % como complemento del p-value.</a:t>
            </a:r>
          </a:p>
          <a:p>
            <a:pPr>
              <a:spcAft>
                <a:spcPts val="1000"/>
              </a:spcAft>
              <a:defRPr sz="1600" b="0">
                <a:solidFill>
                  <a:srgbClr val="0F172A"/>
                </a:solidFill>
                <a:latin typeface="Segoe UI"/>
              </a:defRPr>
            </a:pPr>
            <a:r>
              <a:rPr sz="1600" b="0">
                <a:solidFill>
                  <a:srgbClr val="0F172A"/>
                </a:solidFill>
                <a:latin typeface="Segoe UI"/>
              </a:rPr>
              <a:t>• Complemento moderno: effect size (Cohen's d, Hedges' g, Cliff's δ) — la pregunta "¿es relevante?" que el p-value no responde.</a:t>
            </a:r>
          </a:p>
        </p:txBody>
      </p:sp>
    </p:spTree>
  </p:cSld>
  <p:clrMapOvr>
    <a:masterClrMapping/>
  </p:clrMapOvr>
</p:sld>
</file>

<file path=ppt/slides/slide8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176 — Test t (una muestra, dos muestras, pareado)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H₀: μ = 20 vs H₁: μ ≠ 20. El IC95 % y el p-value son la misma información: si el IC excluye 20, se rechaza H₀.</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total_bill = rng.normal(21.5, 8, 200)</a:t>
            </a:r>
          </a:p>
          <a:p>
            <a:pPr>
              <a:defRPr sz="1200" b="0">
                <a:solidFill>
                  <a:srgbClr val="F8FAFC"/>
                </a:solidFill>
                <a:latin typeface="Courier New"/>
              </a:defRPr>
            </a:pPr>
            <a:r>
              <a:rPr sz="1200" b="0">
                <a:solidFill>
                  <a:srgbClr val="F8FAFC"/>
                </a:solidFill>
                <a:latin typeface="Courier New"/>
              </a:rPr>
              <a:t>res = stats.ttest_1samp(total_bill, popmean=20)</a:t>
            </a:r>
          </a:p>
          <a:p>
            <a:pPr>
              <a:defRPr sz="1200" b="0">
                <a:solidFill>
                  <a:srgbClr val="F8FAFC"/>
                </a:solidFill>
                <a:latin typeface="Courier New"/>
              </a:defRPr>
            </a:pPr>
            <a:r>
              <a:rPr sz="1200" b="0">
                <a:solidFill>
                  <a:srgbClr val="F8FAFC"/>
                </a:solidFill>
                <a:latin typeface="Courier New"/>
              </a:rPr>
              <a:t>ci = res.confidence_interval(0.95)</a:t>
            </a:r>
          </a:p>
          <a:p>
            <a:pPr>
              <a:defRPr sz="1200" b="0">
                <a:solidFill>
                  <a:srgbClr val="F8FAFC"/>
                </a:solidFill>
                <a:latin typeface="Courier New"/>
              </a:defRPr>
            </a:pPr>
            <a:r>
              <a:rPr sz="1200" b="0">
                <a:solidFill>
                  <a:srgbClr val="F8FAFC"/>
                </a:solidFill>
                <a:latin typeface="Courier New"/>
              </a:rPr>
              <a:t>print("H0: μ=20  vs  H1: μ≠20")</a:t>
            </a:r>
          </a:p>
          <a:p>
            <a:pPr>
              <a:defRPr sz="1200" b="0">
                <a:solidFill>
                  <a:srgbClr val="F8FAFC"/>
                </a:solidFill>
                <a:latin typeface="Courier New"/>
              </a:defRPr>
            </a:pPr>
            <a:r>
              <a:rPr sz="1200" b="0">
                <a:solidFill>
                  <a:srgbClr val="F8FAFC"/>
                </a:solidFill>
                <a:latin typeface="Courier New"/>
              </a:rPr>
              <a:t>print(f"t={res.statistic:.3f}  p={res.pvalue:.4f}  IC95%=({ci.low:.2f}, {ci.high:.2f})")</a:t>
            </a:r>
          </a:p>
          <a:p>
            <a:pPr>
              <a:defRPr sz="1200" b="0">
                <a:solidFill>
                  <a:srgbClr val="F8FAFC"/>
                </a:solidFill>
                <a:latin typeface="Courier New"/>
              </a:defRPr>
            </a:pPr>
            <a:r>
              <a:rPr sz="1200" b="0">
                <a:solidFill>
                  <a:srgbClr val="F8FAFC"/>
                </a:solidFill>
                <a:latin typeface="Courier New"/>
              </a:rPr>
              <a:t>print("Rechazo H0" if res.pvalue &lt; 0.05 else "No rechazo H0")</a:t>
            </a:r>
          </a:p>
          <a:p>
            <a:pPr>
              <a:defRPr sz="1200" b="0">
                <a:solidFill>
                  <a:srgbClr val="F8FAFC"/>
                </a:solidFill>
                <a:latin typeface="Courier New"/>
              </a:defRPr>
            </a:pPr>
            <a:r>
              <a:rPr sz="1200" b="0">
                <a:solidFill>
                  <a:srgbClr val="F8FAFC"/>
                </a:solidFill>
                <a:latin typeface="Courier New"/>
              </a:rPr>
              <a:t>excluye_20 = ci.low &gt; 20 or ci.high &lt; 20</a:t>
            </a:r>
          </a:p>
          <a:p>
            <a:pPr>
              <a:defRPr sz="1200" b="0">
                <a:solidFill>
                  <a:srgbClr val="F8FAFC"/>
                </a:solidFill>
                <a:latin typeface="Courier New"/>
              </a:defRPr>
            </a:pPr>
            <a:r>
              <a:rPr sz="1200" b="0">
                <a:solidFill>
                  <a:srgbClr val="F8FAFC"/>
                </a:solidFill>
                <a:latin typeface="Courier New"/>
              </a:rPr>
              <a:t>assert (res.pvalue &lt; 0.05) == excluye_20, "p-value e IC deben concordar"</a:t>
            </a:r>
          </a:p>
        </p:txBody>
      </p:sp>
    </p:spTree>
  </p:cSld>
  <p:clrMapOvr>
    <a:masterClrMapping/>
  </p:clrMapOvr>
</p:sld>
</file>

<file path=ppt/slides/slide8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176 — Test t (una muestra, dos muestras, pareado)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Una muestra: con tips.total_bill, testá H₀: μ = 20 vs H₁: μ ≠ 20 con scipy.stats.ttest_1samp(tips.total_bill, popmean=20).</a:t>
            </a:r>
          </a:p>
          <a:p>
            <a:pPr>
              <a:spcAft>
                <a:spcPts val="800"/>
              </a:spcAft>
              <a:defRPr sz="1400" b="0">
                <a:solidFill>
                  <a:srgbClr val="0F172A"/>
                </a:solidFill>
                <a:latin typeface="Segoe UI"/>
              </a:defRPr>
            </a:pPr>
            <a:r>
              <a:rPr sz="1400" b="0">
                <a:solidFill>
                  <a:srgbClr val="0F172A"/>
                </a:solidFill>
                <a:latin typeface="Segoe UI"/>
              </a:rPr>
              <a:t>• Dos muestras (Welch): testá si tip difiere entre sex='Male' y sex='Female' con ttest_ind(equal_var=False).</a:t>
            </a:r>
          </a:p>
          <a:p>
            <a:pPr>
              <a:spcAft>
                <a:spcPts val="800"/>
              </a:spcAft>
              <a:defRPr sz="1400" b="0">
                <a:solidFill>
                  <a:srgbClr val="0F172A"/>
                </a:solidFill>
                <a:latin typeface="Segoe UI"/>
              </a:defRPr>
            </a:pPr>
            <a:r>
              <a:rPr sz="1400" b="0">
                <a:solidFill>
                  <a:srgbClr val="0F172A"/>
                </a:solidFill>
                <a:latin typeface="Segoe UI"/>
              </a:rPr>
              <a:t>• Pareado: simulá presión arterial antes/después de un fármaco con rng = np.random.default_rng(0): antes = rng.normal(140, 12, 30), despues = antes - rng.normal(5, 3, 30).</a:t>
            </a:r>
          </a:p>
          <a:p>
            <a:pPr>
              <a:spcAft>
                <a:spcPts val="800"/>
              </a:spcAft>
              <a:defRPr sz="1400" b="0">
                <a:solidFill>
                  <a:srgbClr val="0F172A"/>
                </a:solidFill>
                <a:latin typeface="Segoe UI"/>
              </a:defRPr>
            </a:pPr>
            <a:r>
              <a:rPr sz="1400" b="0">
                <a:solidFill>
                  <a:srgbClr val="0F172A"/>
                </a:solidFill>
                <a:latin typeface="Segoe UI"/>
              </a:rPr>
              <a:t>• Bilateral vs unilateral: para el ejercicio 2, repetí con alternative='greater' y 'less'.</a:t>
            </a:r>
          </a:p>
          <a:p>
            <a:pPr>
              <a:spcAft>
                <a:spcPts val="800"/>
              </a:spcAft>
              <a:defRPr sz="1400" b="0">
                <a:solidFill>
                  <a:srgbClr val="0F172A"/>
                </a:solidFill>
                <a:latin typeface="Segoe UI"/>
              </a:defRPr>
            </a:pPr>
            <a:r>
              <a:rPr sz="1400" b="0">
                <a:solidFill>
                  <a:srgbClr val="0F172A"/>
                </a:solidFill>
                <a:latin typeface="Segoe UI"/>
              </a:rPr>
              <a:t>• Significativo vs relevante: generá grupo_a = rng.normal(100, 15, 10_000) y grupo_b = rng.normal(100.5, 15, 10_000).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Hipótesis: la propina promedio es distinta para time='Lunch' y time='Dinner'.</a:t>
            </a:r>
          </a:p>
          <a:p>
            <a:pPr>
              <a:spcAft>
                <a:spcPts val="800"/>
              </a:spcAft>
              <a:defRPr sz="1500" b="0">
                <a:solidFill>
                  <a:srgbClr val="0F172A"/>
                </a:solidFill>
                <a:latin typeface="Segoe UI"/>
              </a:defRPr>
            </a:pPr>
            <a:r>
              <a:rPr sz="1500" b="0">
                <a:solidFill>
                  <a:srgbClr val="0F172A"/>
                </a:solidFill>
                <a:latin typeface="Segoe UI"/>
              </a:rPr>
              <a:t>• Verificar normalidad de cada grupo con pingouin.normality (Shapiro).</a:t>
            </a:r>
          </a:p>
          <a:p>
            <a:pPr>
              <a:spcAft>
                <a:spcPts val="800"/>
              </a:spcAft>
              <a:defRPr sz="1500" b="0">
                <a:solidFill>
                  <a:srgbClr val="0F172A"/>
                </a:solidFill>
                <a:latin typeface="Segoe UI"/>
              </a:defRPr>
            </a:pPr>
            <a:r>
              <a:rPr sz="1500" b="0">
                <a:solidFill>
                  <a:srgbClr val="0F172A"/>
                </a:solidFill>
                <a:latin typeface="Segoe UI"/>
              </a:rPr>
              <a:t>• Ejecutar pingouin.ttest y reportar: T, gl, p-value, IC95 %, Cohen's d, power.</a:t>
            </a:r>
          </a:p>
          <a:p>
            <a:pPr>
              <a:spcAft>
                <a:spcPts val="800"/>
              </a:spcAft>
              <a:defRPr sz="1500" b="0">
                <a:solidFill>
                  <a:srgbClr val="0F172A"/>
                </a:solidFill>
                <a:latin typeface="Segoe UI"/>
              </a:defRPr>
            </a:pPr>
            <a:r>
              <a:rPr sz="1500" b="0">
                <a:solidFill>
                  <a:srgbClr val="0F172A"/>
                </a:solidFill>
                <a:latin typeface="Segoe UI"/>
              </a:rPr>
              <a:t>• Una conclusión de 3 líneas que mencione (a) si rechazás H₀, (b) la magnitud del efecto en palabras (small/medium/large), (c) si recomendarías ese hallazgo a un dueño de restaurante.</a:t>
            </a:r>
          </a:p>
        </p:txBody>
      </p:sp>
    </p:spTree>
  </p:cSld>
  <p:clrMapOvr>
    <a:masterClrMapping/>
  </p:clrMapOvr>
</p:sld>
</file>

<file path=ppt/slides/slide88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177 — Effect size dedicado: Cohen's d, Hedges' g, Cliff's δ con pingouin</a:t>
            </a:r>
          </a:p>
        </p:txBody>
      </p:sp>
    </p:spTree>
  </p:cSld>
  <p:clrMapOvr>
    <a:masterClrMapping/>
  </p:clrMapOvr>
</p:sld>
</file>

<file path=ppt/slides/slide8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177 — Effect size dedicado: Cohen's d, Hedges' g, Cliff's δ con pingouin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Cohen (1988) + Lakens (2013) + Vallat (2018) pingouin.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effect size —la métrica que el p-value no responde: "cuán grande es la diferencia"—. Cubrir 6 medidas: Cohen's d (means, varianzas similares), Hedges' g (bias-corrected para n chico), Glass's Δ (varianza del control como denominador), Cliff's δ (no paramétrico), r de correlación, odds ratio. Aplicar con pingouin en una sola llamada. Reportar correctamente: APA 7 lo exige.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Calcular Cohen's d a mano y con pingouin.compute_effsize.</a:t>
            </a:r>
          </a:p>
          <a:p>
            <a:pPr>
              <a:spcAft>
                <a:spcPts val="800"/>
              </a:spcAft>
              <a:defRPr sz="1400" b="0">
                <a:solidFill>
                  <a:srgbClr val="0F172A"/>
                </a:solidFill>
                <a:latin typeface="Segoe UI"/>
              </a:defRPr>
            </a:pPr>
            <a:r>
              <a:rPr sz="1400" b="0">
                <a:solidFill>
                  <a:srgbClr val="0F172A"/>
                </a:solidFill>
                <a:latin typeface="Segoe UI"/>
              </a:rPr>
              <a:t>• Aplicar la corrección de Hedges (recomendada cuando n &lt; 50/grupo).</a:t>
            </a:r>
          </a:p>
          <a:p>
            <a:pPr>
              <a:spcAft>
                <a:spcPts val="800"/>
              </a:spcAft>
              <a:defRPr sz="1400" b="0">
                <a:solidFill>
                  <a:srgbClr val="0F172A"/>
                </a:solidFill>
                <a:latin typeface="Segoe UI"/>
              </a:defRPr>
            </a:pPr>
            <a:r>
              <a:rPr sz="1400" b="0">
                <a:solidFill>
                  <a:srgbClr val="0F172A"/>
                </a:solidFill>
                <a:latin typeface="Segoe UI"/>
              </a:rPr>
              <a:t>• Interpretar magnitudes (Cohen 1988): 0.2 / 0.5 / 0.8 = small / medium / large.</a:t>
            </a:r>
          </a:p>
          <a:p>
            <a:pPr>
              <a:spcAft>
                <a:spcPts val="800"/>
              </a:spcAft>
              <a:defRPr sz="1400" b="0">
                <a:solidFill>
                  <a:srgbClr val="0F172A"/>
                </a:solidFill>
                <a:latin typeface="Segoe UI"/>
              </a:defRPr>
            </a:pPr>
            <a:r>
              <a:rPr sz="1400" b="0">
                <a:solidFill>
                  <a:srgbClr val="0F172A"/>
                </a:solidFill>
                <a:latin typeface="Segoe UI"/>
              </a:rPr>
              <a:t>• Calcular Cliff's δ para datos ordinales / muy asimétricos.</a:t>
            </a:r>
          </a:p>
          <a:p>
            <a:pPr>
              <a:spcAft>
                <a:spcPts val="800"/>
              </a:spcAft>
              <a:defRPr sz="1400" b="0">
                <a:solidFill>
                  <a:srgbClr val="0F172A"/>
                </a:solidFill>
                <a:latin typeface="Segoe UI"/>
              </a:defRPr>
            </a:pPr>
            <a:r>
              <a:rPr sz="1400" b="0">
                <a:solidFill>
                  <a:srgbClr val="0F172A"/>
                </a:solidFill>
                <a:latin typeface="Segoe UI"/>
              </a:rPr>
              <a:t>• Reportar effect size con IC95 % bootstrap.</a:t>
            </a:r>
          </a:p>
        </p:txBody>
      </p:sp>
    </p:spTree>
  </p:cSld>
  <p:clrMapOvr>
    <a:masterClrMapping/>
  </p:clrMapOvr>
</p:sld>
</file>

<file path=ppt/slides/slide8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177 — Effect size dedicado: Cohen's d, Hedges' g, Cliff's δ con pingouin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Cohen's d: (x̄₁ - x̄₂) / s_pooled.</a:t>
            </a:r>
          </a:p>
          <a:p>
            <a:pPr>
              <a:spcAft>
                <a:spcPts val="1000"/>
              </a:spcAft>
              <a:defRPr sz="1600" b="0">
                <a:solidFill>
                  <a:srgbClr val="0F172A"/>
                </a:solidFill>
                <a:latin typeface="Segoe UI"/>
              </a:defRPr>
            </a:pPr>
            <a:r>
              <a:rPr sz="1600" b="0">
                <a:solidFill>
                  <a:srgbClr val="0F172A"/>
                </a:solidFill>
                <a:latin typeface="Segoe UI"/>
              </a:rPr>
              <a:t>• Hedges' g: d · (1 - 3/(4·gl - 1)).</a:t>
            </a:r>
          </a:p>
          <a:p>
            <a:pPr>
              <a:spcAft>
                <a:spcPts val="1000"/>
              </a:spcAft>
              <a:defRPr sz="1600" b="0">
                <a:solidFill>
                  <a:srgbClr val="0F172A"/>
                </a:solidFill>
                <a:latin typeface="Segoe UI"/>
              </a:defRPr>
            </a:pPr>
            <a:r>
              <a:rPr sz="1600" b="0">
                <a:solidFill>
                  <a:srgbClr val="0F172A"/>
                </a:solidFill>
                <a:latin typeface="Segoe UI"/>
              </a:rPr>
              <a:t>• Glass's Δ: usar s_control como denominator. Útil cuando control y treatment tienen varianza distinta.</a:t>
            </a:r>
          </a:p>
          <a:p>
            <a:pPr>
              <a:spcAft>
                <a:spcPts val="1000"/>
              </a:spcAft>
              <a:defRPr sz="1600" b="0">
                <a:solidFill>
                  <a:srgbClr val="0F172A"/>
                </a:solidFill>
                <a:latin typeface="Segoe UI"/>
              </a:defRPr>
            </a:pPr>
            <a:r>
              <a:rPr sz="1600" b="0">
                <a:solidFill>
                  <a:srgbClr val="0F172A"/>
                </a:solidFill>
                <a:latin typeface="Segoe UI"/>
              </a:rPr>
              <a:t>• Cliff's δ: probabilistic dominance.</a:t>
            </a:r>
          </a:p>
          <a:p>
            <a:pPr>
              <a:spcAft>
                <a:spcPts val="1000"/>
              </a:spcAft>
              <a:defRPr sz="1600" b="0">
                <a:solidFill>
                  <a:srgbClr val="0F172A"/>
                </a:solidFill>
                <a:latin typeface="Segoe UI"/>
              </a:defRPr>
            </a:pPr>
            <a:r>
              <a:rPr sz="1600" b="0">
                <a:solidFill>
                  <a:srgbClr val="0F172A"/>
                </a:solidFill>
                <a:latin typeface="Segoe UI"/>
              </a:rPr>
              <a:t>• Effect size para correlación: r (= Pearson) o R².</a:t>
            </a:r>
          </a:p>
          <a:p>
            <a:pPr>
              <a:spcAft>
                <a:spcPts val="1000"/>
              </a:spcAft>
              <a:defRPr sz="1600" b="0">
                <a:solidFill>
                  <a:srgbClr val="0F172A"/>
                </a:solidFill>
                <a:latin typeface="Segoe UI"/>
              </a:defRPr>
            </a:pPr>
            <a:r>
              <a:rPr sz="1600" b="0">
                <a:solidFill>
                  <a:srgbClr val="0F172A"/>
                </a:solidFill>
                <a:latin typeface="Segoe UI"/>
              </a:rPr>
              <a:t>• Effect size para chi-cuadrado: Cramér's V, phi.</a:t>
            </a:r>
          </a:p>
          <a:p>
            <a:pPr>
              <a:spcAft>
                <a:spcPts val="1000"/>
              </a:spcAft>
              <a:defRPr sz="1600" b="0">
                <a:solidFill>
                  <a:srgbClr val="0F172A"/>
                </a:solidFill>
                <a:latin typeface="Segoe UI"/>
              </a:defRPr>
            </a:pPr>
            <a:r>
              <a:rPr sz="1600" b="0">
                <a:solidFill>
                  <a:srgbClr val="0F172A"/>
                </a:solidFill>
                <a:latin typeface="Segoe UI"/>
              </a:rPr>
              <a:t>• IC95 % de effect size: bootstrap o fórmulas paramétricas.</a:t>
            </a:r>
          </a:p>
        </p:txBody>
      </p:sp>
    </p:spTree>
  </p:cSld>
  <p:clrMapOvr>
    <a:masterClrMapping/>
  </p:clrMapOvr>
</p:sld>
</file>

<file path=ppt/slides/slide8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177 — Effect size dedicado: Cohen's d, Hedges' g, Cliff's δ con pingouin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&lt;!--SOL175184--&gt; No basta con que la diferencia sea significativa: ¿es grande? Un p-value chico solo dice "probablemente no es cero"; con muestras enormes hasta un efecto ridiculo cruza p&lt;0.05. El tamaño del efecto (Cohen's d, Hedges' g, Cliff's δ) mide cuánto difieren los grupos en unidades interpretables — el verdadero titular del resultado.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Dos grupos con diferencia de medias controlada</a:t>
            </a:r>
          </a:p>
          <a:p>
            <a:pPr>
              <a:defRPr sz="1200" b="0">
                <a:solidFill>
                  <a:srgbClr val="F8FAFC"/>
                </a:solidFill>
                <a:latin typeface="Courier New"/>
              </a:defRPr>
            </a:pPr>
            <a:r>
              <a:rPr sz="1200" b="0">
                <a:solidFill>
                  <a:srgbClr val="F8FAFC"/>
                </a:solidFill>
                <a:latin typeface="Courier New"/>
              </a:rPr>
              <a:t>n1, n2 = 60, 60</a:t>
            </a:r>
          </a:p>
          <a:p>
            <a:pPr>
              <a:defRPr sz="1200" b="0">
                <a:solidFill>
                  <a:srgbClr val="F8FAFC"/>
                </a:solidFill>
                <a:latin typeface="Courier New"/>
              </a:defRPr>
            </a:pPr>
            <a:r>
              <a:rPr sz="1200" b="0">
                <a:solidFill>
                  <a:srgbClr val="F8FAFC"/>
                </a:solidFill>
                <a:latin typeface="Courier New"/>
              </a:rPr>
              <a:t>x1 = rng.normal(loc=100, scale=15, size=n1)</a:t>
            </a:r>
          </a:p>
          <a:p>
            <a:pPr>
              <a:defRPr sz="1200" b="0">
                <a:solidFill>
                  <a:srgbClr val="F8FAFC"/>
                </a:solidFill>
                <a:latin typeface="Courier New"/>
              </a:defRPr>
            </a:pPr>
            <a:r>
              <a:rPr sz="1200" b="0">
                <a:solidFill>
                  <a:srgbClr val="F8FAFC"/>
                </a:solidFill>
                <a:latin typeface="Courier New"/>
              </a:rPr>
              <a:t>x2 = rng.normal(loc=108, scale=15, size=n2)  # diff = 8, sd = 15 -&gt; d ~ 0.53</a:t>
            </a:r>
          </a:p>
          <a:p>
            <a:pPr>
              <a:defRPr sz="1200" b="0">
                <a:solidFill>
                  <a:srgbClr val="F8FAFC"/>
                </a:solidFill>
                <a:latin typeface="Courier New"/>
              </a:defRPr>
            </a:pPr>
            <a:r>
              <a:rPr sz="1200" b="0">
                <a:solidFill>
                  <a:srgbClr val="F8FAFC"/>
                </a:solidFill>
                <a:latin typeface="Courier New"/>
              </a:rPr>
              <a:t>print(f'mean1={x1.mean():.2f}  mean2={x2.mean():.2f}  diff={x2.mean()-x1.mean():.2f}')</a:t>
            </a:r>
          </a:p>
        </p:txBody>
      </p:sp>
    </p:spTree>
  </p:cSld>
  <p:clrMapOvr>
    <a:masterClrMapping/>
  </p:clrMapOvr>
</p:sld>
</file>

<file path=ppt/slides/slide8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177 — Effect size dedicado: Cohen's d, Hedges' g, Cliff's δ con pingouin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Cohen's d a mano: para tip por sex, calcular manualmente con s_pooled.</a:t>
            </a:r>
          </a:p>
          <a:p>
            <a:pPr>
              <a:spcAft>
                <a:spcPts val="800"/>
              </a:spcAft>
              <a:defRPr sz="1400" b="0">
                <a:solidFill>
                  <a:srgbClr val="0F172A"/>
                </a:solidFill>
                <a:latin typeface="Segoe UI"/>
              </a:defRPr>
            </a:pPr>
            <a:r>
              <a:rPr sz="1400" b="0">
                <a:solidFill>
                  <a:srgbClr val="0F172A"/>
                </a:solidFill>
                <a:latin typeface="Segoe UI"/>
              </a:rPr>
              <a:t>• pingouin.compute_effsize: verificar contra cálculo manual.</a:t>
            </a:r>
          </a:p>
          <a:p>
            <a:pPr>
              <a:spcAft>
                <a:spcPts val="800"/>
              </a:spcAft>
              <a:defRPr sz="1400" b="0">
                <a:solidFill>
                  <a:srgbClr val="0F172A"/>
                </a:solidFill>
                <a:latin typeface="Segoe UI"/>
              </a:defRPr>
            </a:pPr>
            <a:r>
              <a:rPr sz="1400" b="0">
                <a:solidFill>
                  <a:srgbClr val="0F172A"/>
                </a:solidFill>
                <a:latin typeface="Segoe UI"/>
              </a:rPr>
              <a:t>• Hedges' g: con n=10 por grupo, ver diferencia entre d y g (Hedges &lt; d).</a:t>
            </a:r>
          </a:p>
          <a:p>
            <a:pPr>
              <a:spcAft>
                <a:spcPts val="800"/>
              </a:spcAft>
              <a:defRPr sz="1400" b="0">
                <a:solidFill>
                  <a:srgbClr val="0F172A"/>
                </a:solidFill>
                <a:latin typeface="Segoe UI"/>
              </a:defRPr>
            </a:pPr>
            <a:r>
              <a:rPr sz="1400" b="0">
                <a:solidFill>
                  <a:srgbClr val="0F172A"/>
                </a:solidFill>
                <a:latin typeface="Segoe UI"/>
              </a:rPr>
              <a:t>• Cliff's δ: para datos Likert ordinales o muy asimétricos, calcular y interpretar.</a:t>
            </a:r>
          </a:p>
          <a:p>
            <a:pPr>
              <a:spcAft>
                <a:spcPts val="800"/>
              </a:spcAft>
              <a:defRPr sz="1400" b="0">
                <a:solidFill>
                  <a:srgbClr val="0F172A"/>
                </a:solidFill>
                <a:latin typeface="Segoe UI"/>
              </a:defRPr>
            </a:pPr>
            <a:r>
              <a:rPr sz="1400" b="0">
                <a:solidFill>
                  <a:srgbClr val="0F172A"/>
                </a:solidFill>
                <a:latin typeface="Segoe UI"/>
              </a:rPr>
              <a:t>• Effect size + IC: bootstrap del Cohen's d → IC95 %.</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Comparar tip por time (Lunch/Dinner) y por day.</a:t>
            </a:r>
          </a:p>
          <a:p>
            <a:pPr>
              <a:spcAft>
                <a:spcPts val="800"/>
              </a:spcAft>
              <a:defRPr sz="1500" b="0">
                <a:solidFill>
                  <a:srgbClr val="0F172A"/>
                </a:solidFill>
                <a:latin typeface="Segoe UI"/>
              </a:defRPr>
            </a:pPr>
            <a:r>
              <a:rPr sz="1500" b="0">
                <a:solidFill>
                  <a:srgbClr val="0F172A"/>
                </a:solidFill>
                <a:latin typeface="Segoe UI"/>
              </a:rPr>
              <a:t>• Reportar Cohen's d (o Hedges' g si n &lt; 30) con IC95 % bootstrap.</a:t>
            </a:r>
          </a:p>
          <a:p>
            <a:pPr>
              <a:spcAft>
                <a:spcPts val="800"/>
              </a:spcAft>
              <a:defRPr sz="1500" b="0">
                <a:solidFill>
                  <a:srgbClr val="0F172A"/>
                </a:solidFill>
                <a:latin typeface="Segoe UI"/>
              </a:defRPr>
            </a:pPr>
            <a:r>
              <a:rPr sz="1500" b="0">
                <a:solidFill>
                  <a:srgbClr val="0F172A"/>
                </a:solidFill>
                <a:latin typeface="Segoe UI"/>
              </a:rPr>
              <a:t>• Para day (4 niveles), reportar partial η² del ANOVA.</a:t>
            </a:r>
          </a:p>
          <a:p>
            <a:pPr>
              <a:spcAft>
                <a:spcPts val="800"/>
              </a:spcAft>
              <a:defRPr sz="1500" b="0">
                <a:solidFill>
                  <a:srgbClr val="0F172A"/>
                </a:solidFill>
                <a:latin typeface="Segoe UI"/>
              </a:defRPr>
            </a:pPr>
            <a:r>
              <a:rPr sz="1500" b="0">
                <a:solidFill>
                  <a:srgbClr val="0F172A"/>
                </a:solidFill>
                <a:latin typeface="Segoe UI"/>
              </a:rPr>
              <a:t>• Conclusión APA-7 estilo: "M ± SD, t(df) = X, p = Y, d [95% CI]".</a:t>
            </a:r>
          </a:p>
        </p:txBody>
      </p:sp>
    </p:spTree>
  </p:cSld>
  <p:clrMapOvr>
    <a:masterClrMapping/>
  </p:clrMapOvr>
</p:sld>
</file>

<file path=ppt/slides/slide89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178 — Test chi-cuadrado de independencia y bondad de ajuste</a:t>
            </a:r>
          </a:p>
        </p:txBody>
      </p:sp>
    </p:spTree>
  </p:cSld>
  <p:clrMapOvr>
    <a:masterClrMapping/>
  </p:clrMapOvr>
</p:sld>
</file>

<file path=ppt/slides/slide8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178 — Test chi-cuadrado de independencia y bondad de ajuste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ISLP, cap. 4 + Bruce &amp; Bruce, cap. 3 Chi-Square Test.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el test chi-cuadrado de Pearson en sus dos formas: (a) independencia en una tabla de contingencia de dos variables categóricas, y (b) bondad de ajuste entre una distribución observada y una teórica. Reconocer cuándo el test es válido (frecuencias esperadas ≥ 5 por celda) y cuándo hay que recurrir a Fisher exact o a la simulación de Monte Carlo.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una tabla de contingencia con pd.crosstab y aplicar scipy.stats.chi2_contingency interpretando chi2, dof, pvalue y expected.</a:t>
            </a:r>
          </a:p>
          <a:p>
            <a:pPr>
              <a:spcAft>
                <a:spcPts val="800"/>
              </a:spcAft>
              <a:defRPr sz="1400" b="0">
                <a:solidFill>
                  <a:srgbClr val="0F172A"/>
                </a:solidFill>
                <a:latin typeface="Segoe UI"/>
              </a:defRPr>
            </a:pPr>
            <a:r>
              <a:rPr sz="1400" b="0">
                <a:solidFill>
                  <a:srgbClr val="0F172A"/>
                </a:solidFill>
                <a:latin typeface="Segoe UI"/>
              </a:rPr>
              <a:t>• Verificar el supuesto de frecuencias esperadas mínimas (regla de Cochran: ≥ 5 en ≥ 80 % de celdas).</a:t>
            </a:r>
          </a:p>
          <a:p>
            <a:pPr>
              <a:spcAft>
                <a:spcPts val="800"/>
              </a:spcAft>
              <a:defRPr sz="1400" b="0">
                <a:solidFill>
                  <a:srgbClr val="0F172A"/>
                </a:solidFill>
                <a:latin typeface="Segoe UI"/>
              </a:defRPr>
            </a:pPr>
            <a:r>
              <a:rPr sz="1400" b="0">
                <a:solidFill>
                  <a:srgbClr val="0F172A"/>
                </a:solidFill>
                <a:latin typeface="Segoe UI"/>
              </a:rPr>
              <a:t>• Decidir entre chi-cuadrado, Fisher exact (scipy.stats.fisher_exact, tablas 2×2 con conteos chicos) y chi-cuadrado con simulación (lambda_='log-likelihood' o montecarlo).</a:t>
            </a:r>
          </a:p>
          <a:p>
            <a:pPr>
              <a:spcAft>
                <a:spcPts val="800"/>
              </a:spcAft>
              <a:defRPr sz="1400" b="0">
                <a:solidFill>
                  <a:srgbClr val="0F172A"/>
                </a:solidFill>
                <a:latin typeface="Segoe UI"/>
              </a:defRPr>
            </a:pPr>
            <a:r>
              <a:rPr sz="1400" b="0">
                <a:solidFill>
                  <a:srgbClr val="0F172A"/>
                </a:solidFill>
                <a:latin typeface="Segoe UI"/>
              </a:rPr>
              <a:t>• Calcular Cramér's V como effect size para tablas r×c (análogo al Cohen's d categórico).</a:t>
            </a:r>
          </a:p>
          <a:p>
            <a:pPr>
              <a:spcAft>
                <a:spcPts val="800"/>
              </a:spcAft>
              <a:defRPr sz="1400" b="0">
                <a:solidFill>
                  <a:srgbClr val="0F172A"/>
                </a:solidFill>
                <a:latin typeface="Segoe UI"/>
              </a:defRPr>
            </a:pPr>
            <a:r>
              <a:rPr sz="1400" b="0">
                <a:solidFill>
                  <a:srgbClr val="0F172A"/>
                </a:solidFill>
                <a:latin typeface="Segoe UI"/>
              </a:rPr>
              <a:t>• Aplicar bondad de ajuste con scipy.stats.chisquare para validar dados, ruedas de roulette o conteos en bins.</a:t>
            </a:r>
          </a:p>
        </p:txBody>
      </p:sp>
    </p:spTree>
  </p:cSld>
  <p:clrMapOvr>
    <a:masterClrMapping/>
  </p:clrMapOvr>
</p:sld>
</file>

<file path=ppt/slides/slide8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178 — Test chi-cuadrado de independencia y bondad de ajuste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Tablas de contingencia</a:t>
            </a:r>
          </a:p>
          <a:p>
            <a:pPr>
              <a:spcAft>
                <a:spcPts val="1000"/>
              </a:spcAft>
              <a:defRPr sz="1600" b="0">
                <a:solidFill>
                  <a:srgbClr val="0F172A"/>
                </a:solidFill>
                <a:latin typeface="Segoe UI"/>
              </a:defRPr>
            </a:pPr>
            <a:r>
              <a:rPr sz="1600" b="0">
                <a:solidFill>
                  <a:srgbClr val="0F172A"/>
                </a:solidFill>
                <a:latin typeface="Segoe UI"/>
              </a:rPr>
              <a:t>• Estadístico χ² = Σ (O - E)² / E</a:t>
            </a:r>
          </a:p>
          <a:p>
            <a:pPr>
              <a:spcAft>
                <a:spcPts val="1000"/>
              </a:spcAft>
              <a:defRPr sz="1600" b="0">
                <a:solidFill>
                  <a:srgbClr val="0F172A"/>
                </a:solidFill>
                <a:latin typeface="Segoe UI"/>
              </a:defRPr>
            </a:pPr>
            <a:r>
              <a:rPr sz="1600" b="0">
                <a:solidFill>
                  <a:srgbClr val="0F172A"/>
                </a:solidFill>
                <a:latin typeface="Segoe UI"/>
              </a:rPr>
              <a:t>• Grados de libertad (r-1)·(c-1)</a:t>
            </a:r>
          </a:p>
          <a:p>
            <a:pPr>
              <a:spcAft>
                <a:spcPts val="1000"/>
              </a:spcAft>
              <a:defRPr sz="1600" b="0">
                <a:solidFill>
                  <a:srgbClr val="0F172A"/>
                </a:solidFill>
                <a:latin typeface="Segoe UI"/>
              </a:defRPr>
            </a:pPr>
            <a:r>
              <a:rPr sz="1600" b="0">
                <a:solidFill>
                  <a:srgbClr val="0F172A"/>
                </a:solidFill>
                <a:latin typeface="Segoe UI"/>
              </a:rPr>
              <a:t>• Supuesto de E ≥ 5 (Cochran)</a:t>
            </a:r>
          </a:p>
          <a:p>
            <a:pPr>
              <a:spcAft>
                <a:spcPts val="1000"/>
              </a:spcAft>
              <a:defRPr sz="1600" b="0">
                <a:solidFill>
                  <a:srgbClr val="0F172A"/>
                </a:solidFill>
                <a:latin typeface="Segoe UI"/>
              </a:defRPr>
            </a:pPr>
            <a:r>
              <a:rPr sz="1600" b="0">
                <a:solidFill>
                  <a:srgbClr val="0F172A"/>
                </a:solidFill>
                <a:latin typeface="Segoe UI"/>
              </a:rPr>
              <a:t>• Fisher exact para 2×2 con n chico</a:t>
            </a:r>
          </a:p>
          <a:p>
            <a:pPr>
              <a:spcAft>
                <a:spcPts val="1000"/>
              </a:spcAft>
              <a:defRPr sz="1600" b="0">
                <a:solidFill>
                  <a:srgbClr val="0F172A"/>
                </a:solidFill>
                <a:latin typeface="Segoe UI"/>
              </a:defRPr>
            </a:pPr>
            <a:r>
              <a:rPr sz="1600" b="0">
                <a:solidFill>
                  <a:srgbClr val="0F172A"/>
                </a:solidFill>
                <a:latin typeface="Segoe UI"/>
              </a:rPr>
              <a:t>• Cramér's V</a:t>
            </a:r>
          </a:p>
          <a:p>
            <a:pPr>
              <a:spcAft>
                <a:spcPts val="1000"/>
              </a:spcAft>
              <a:defRPr sz="1600" b="0">
                <a:solidFill>
                  <a:srgbClr val="0F172A"/>
                </a:solidFill>
                <a:latin typeface="Segoe UI"/>
              </a:defRPr>
            </a:pPr>
            <a:r>
              <a:rPr sz="1600" b="0">
                <a:solidFill>
                  <a:srgbClr val="0F172A"/>
                </a:solidFill>
                <a:latin typeface="Segoe UI"/>
              </a:rPr>
              <a:t>• Bondad de ajuste vs independencia</a:t>
            </a:r>
          </a:p>
        </p:txBody>
      </p:sp>
    </p:spTree>
  </p:cSld>
  <p:clrMapOvr>
    <a:masterClrMapping/>
  </p:clrMapOvr>
</p:sld>
</file>

<file path=ppt/slides/slide8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178 — Test chi-cuadrado de independencia y bondad de ajuste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H₀: las variables son independientes. Simulamos supervivencia dependiente de la clase (estilo Titanic).</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 1200</a:t>
            </a:r>
          </a:p>
          <a:p>
            <a:pPr>
              <a:defRPr sz="1200" b="0">
                <a:solidFill>
                  <a:srgbClr val="F8FAFC"/>
                </a:solidFill>
                <a:latin typeface="Courier New"/>
              </a:defRPr>
            </a:pPr>
            <a:r>
              <a:rPr sz="1200" b="0">
                <a:solidFill>
                  <a:srgbClr val="F8FAFC"/>
                </a:solidFill>
                <a:latin typeface="Courier New"/>
              </a:rPr>
              <a:t>clase = rng.choice(["1a", "2a", "3a"], size=n, p=[0.25, 0.20, 0.55])</a:t>
            </a:r>
          </a:p>
          <a:p>
            <a:pPr>
              <a:defRPr sz="1200" b="0">
                <a:solidFill>
                  <a:srgbClr val="F8FAFC"/>
                </a:solidFill>
                <a:latin typeface="Courier New"/>
              </a:defRPr>
            </a:pPr>
            <a:r>
              <a:rPr sz="1200" b="0">
                <a:solidFill>
                  <a:srgbClr val="F8FAFC"/>
                </a:solidFill>
                <a:latin typeface="Courier New"/>
              </a:rPr>
              <a:t>p_surv = {"1a": 0.62, "2a": 0.43, "3a": 0.24}</a:t>
            </a:r>
          </a:p>
          <a:p>
            <a:pPr>
              <a:defRPr sz="1200" b="0">
                <a:solidFill>
                  <a:srgbClr val="F8FAFC"/>
                </a:solidFill>
                <a:latin typeface="Courier New"/>
              </a:defRPr>
            </a:pPr>
            <a:r>
              <a:rPr sz="1200" b="0">
                <a:solidFill>
                  <a:srgbClr val="F8FAFC"/>
                </a:solidFill>
                <a:latin typeface="Courier New"/>
              </a:rPr>
              <a:t>survived = np.array([rng.random() &lt; p_surv[c] for c in clase]).astype(int)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tabla = pd.crosstab(pd.Series(survived, name="survived"), pd.Series(clase, name="clase"))</a:t>
            </a:r>
          </a:p>
          <a:p>
            <a:pPr>
              <a:defRPr sz="1200" b="0">
                <a:solidFill>
                  <a:srgbClr val="F8FAFC"/>
                </a:solidFill>
                <a:latin typeface="Courier New"/>
              </a:defRPr>
            </a:pPr>
            <a:r>
              <a:rPr sz="1200" b="0">
                <a:solidFill>
                  <a:srgbClr val="F8FAFC"/>
                </a:solidFill>
                <a:latin typeface="Courier New"/>
              </a:rPr>
              <a:t>print(tabla)</a:t>
            </a:r>
          </a:p>
          <a:p>
            <a:pPr>
              <a:defRPr sz="1200" b="0">
                <a:solidFill>
                  <a:srgbClr val="F8FAFC"/>
                </a:solidFill>
                <a:latin typeface="Courier New"/>
              </a:defRPr>
            </a:pPr>
            <a:r>
              <a:rPr sz="1200" b="0">
                <a:solidFill>
                  <a:srgbClr val="F8FAFC"/>
                </a:solidFill>
                <a:latin typeface="Courier New"/>
              </a:rPr>
              <a:t>chi2, p, dof, expected = stats.chi2_contingency(tabla)</a:t>
            </a:r>
          </a:p>
          <a:p>
            <a:pPr>
              <a:defRPr sz="1200" b="0">
                <a:solidFill>
                  <a:srgbClr val="F8FAFC"/>
                </a:solidFill>
                <a:latin typeface="Courier New"/>
              </a:defRPr>
            </a:pPr>
            <a:r>
              <a:rPr sz="1200" b="0">
                <a:solidFill>
                  <a:srgbClr val="F8FAFC"/>
                </a:solidFill>
                <a:latin typeface="Courier New"/>
              </a:rPr>
              <a:t>print(f"\nχ²={chi2:.2f}  dof={dof}  p={p:.2e}")</a:t>
            </a:r>
          </a:p>
          <a:p>
            <a:pPr>
              <a:defRPr sz="1200" b="0">
                <a:solidFill>
                  <a:srgbClr val="F8FAFC"/>
                </a:solidFill>
                <a:latin typeface="Courier New"/>
              </a:defRPr>
            </a:pPr>
            <a:r>
              <a:rPr sz="1200" b="0">
                <a:solidFill>
                  <a:srgbClr val="F8FAFC"/>
                </a:solidFill>
                <a:latin typeface="Courier New"/>
              </a:rPr>
              <a:t>assert p &lt; 0.001</a:t>
            </a:r>
          </a:p>
        </p:txBody>
      </p:sp>
    </p:spTree>
  </p:cSld>
  <p:clrMapOvr>
    <a:masterClrMapping/>
  </p:clrMapOvr>
</p:sld>
</file>

<file path=ppt/slides/slide8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178 — Test chi-cuadrado de independencia y bondad de ajuste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Tabla cruzada: pd.crosstab(titanic.survived, titanic['class']).</a:t>
            </a:r>
          </a:p>
          <a:p>
            <a:pPr>
              <a:spcAft>
                <a:spcPts val="800"/>
              </a:spcAft>
              <a:defRPr sz="1400" b="0">
                <a:solidFill>
                  <a:srgbClr val="0F172A"/>
                </a:solidFill>
                <a:latin typeface="Segoe UI"/>
              </a:defRPr>
            </a:pPr>
            <a:r>
              <a:rPr sz="1400" b="0">
                <a:solidFill>
                  <a:srgbClr val="0F172A"/>
                </a:solidFill>
                <a:latin typeface="Segoe UI"/>
              </a:rPr>
              <a:t>• Effect size: calculá Cramér's V manualmente: V = sqrt(chi2 / (n * min(r-1, c-1))).</a:t>
            </a:r>
          </a:p>
          <a:p>
            <a:pPr>
              <a:spcAft>
                <a:spcPts val="800"/>
              </a:spcAft>
              <a:defRPr sz="1400" b="0">
                <a:solidFill>
                  <a:srgbClr val="0F172A"/>
                </a:solidFill>
                <a:latin typeface="Segoe UI"/>
              </a:defRPr>
            </a:pPr>
            <a:r>
              <a:rPr sz="1400" b="0">
                <a:solidFill>
                  <a:srgbClr val="0F172A"/>
                </a:solidFill>
                <a:latin typeface="Segoe UI"/>
              </a:rPr>
              <a:t>• Cochran check: imprimí la matriz expected y contá cuántas celdas tienen E &lt; 5.</a:t>
            </a:r>
          </a:p>
          <a:p>
            <a:pPr>
              <a:spcAft>
                <a:spcPts val="800"/>
              </a:spcAft>
              <a:defRPr sz="1400" b="0">
                <a:solidFill>
                  <a:srgbClr val="0F172A"/>
                </a:solidFill>
                <a:latin typeface="Segoe UI"/>
              </a:defRPr>
            </a:pPr>
            <a:r>
              <a:rPr sz="1400" b="0">
                <a:solidFill>
                  <a:srgbClr val="0F172A"/>
                </a:solidFill>
                <a:latin typeface="Segoe UI"/>
              </a:rPr>
              <a:t>• Fisher exact (2×2): tomá la subtabla survived × sex y aplicá scipy.stats.fisher_exact(tabla_2x2).</a:t>
            </a:r>
          </a:p>
          <a:p>
            <a:pPr>
              <a:spcAft>
                <a:spcPts val="800"/>
              </a:spcAft>
              <a:defRPr sz="1400" b="0">
                <a:solidFill>
                  <a:srgbClr val="0F172A"/>
                </a:solidFill>
                <a:latin typeface="Segoe UI"/>
              </a:defRPr>
            </a:pPr>
            <a:r>
              <a:rPr sz="1400" b="0">
                <a:solidFill>
                  <a:srgbClr val="0F172A"/>
                </a:solidFill>
                <a:latin typeface="Segoe UI"/>
              </a:rPr>
              <a:t>• Bondad de ajuste: simulá rng = np.random.default_rng(7); tiros = rng.choice([1,2,3,4,5,6], size=600, p=[0.18, 0.16, 0.17, 0.17, 0.16, 0.16]).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Cruza survived × class y survived × sex por separado.</a:t>
            </a:r>
          </a:p>
          <a:p>
            <a:pPr>
              <a:spcAft>
                <a:spcPts val="800"/>
              </a:spcAft>
              <a:defRPr sz="1500" b="0">
                <a:solidFill>
                  <a:srgbClr val="0F172A"/>
                </a:solidFill>
                <a:latin typeface="Segoe UI"/>
              </a:defRPr>
            </a:pPr>
            <a:r>
              <a:rPr sz="1500" b="0">
                <a:solidFill>
                  <a:srgbClr val="0F172A"/>
                </a:solidFill>
                <a:latin typeface="Segoe UI"/>
              </a:rPr>
              <a:t>• Para cada cruce: chi², gl, p-value, Cramér's V.</a:t>
            </a:r>
          </a:p>
          <a:p>
            <a:pPr>
              <a:spcAft>
                <a:spcPts val="800"/>
              </a:spcAft>
              <a:defRPr sz="1500" b="0">
                <a:solidFill>
                  <a:srgbClr val="0F172A"/>
                </a:solidFill>
                <a:latin typeface="Segoe UI"/>
              </a:defRPr>
            </a:pPr>
            <a:r>
              <a:rPr sz="1500" b="0">
                <a:solidFill>
                  <a:srgbClr val="0F172A"/>
                </a:solidFill>
                <a:latin typeface="Segoe UI"/>
              </a:rPr>
              <a:t>• Identifica cuál de los dos tiene asociación más fuerte (mayor V) y cuál tiene evidencia estadística más fuerte (menor p).</a:t>
            </a:r>
          </a:p>
          <a:p>
            <a:pPr>
              <a:spcAft>
                <a:spcPts val="800"/>
              </a:spcAft>
              <a:defRPr sz="1500" b="0">
                <a:solidFill>
                  <a:srgbClr val="0F172A"/>
                </a:solidFill>
                <a:latin typeface="Segoe UI"/>
              </a:defRPr>
            </a:pPr>
            <a:r>
              <a:rPr sz="1500" b="0">
                <a:solidFill>
                  <a:srgbClr val="0F172A"/>
                </a:solidFill>
                <a:latin typeface="Segoe UI"/>
              </a:rPr>
              <a:t>• En 3 líneas, explica por qué p y V pueden ordenar distinto cuando n cambia entre comparaciones.</a:t>
            </a:r>
          </a:p>
        </p:txBody>
      </p:sp>
    </p:spTree>
  </p:cSld>
  <p:clrMapOvr>
    <a:masterClrMapping/>
  </p:clrMapOvr>
</p:sld>
</file>

<file path=ppt/slides/slide89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179 — ANOVA (one-way, two-way)</a:t>
            </a:r>
          </a:p>
        </p:txBody>
      </p:sp>
    </p:spTree>
  </p:cSld>
  <p:clrMapOvr>
    <a:masterClrMapping/>
  </p:clrMapOvr>
</p:sld>
</file>

<file path=ppt/slides/slide8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179 — ANOVA (one-way, two-way)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ISLP, cap. 13 + Bruce &amp; Bruce, cap. 3 ANOVA.  Duración estimada: 80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aplique ANOVA de una vía (≥ 3 grupos, una variable categórica) y ANOVA de dos vías (dos factores categóricos + interacción), entienda por qué no se hacen "t-tests todos contra todos" (inflación de α) y sepa hacer post-hoc con Tukey HSD. Reconocer los supuestos (independencia, normalidad por grupo, homogeneidad de varianzas) y cuándo usar la alternativa robusta Welch ANOVA o el no paramétrico Kruskal-Wallis (Clase 150).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Plantear H₀: μ₁ = μ₂ = ... = μ_k vs H₁: al menos uno difiere y aplicar scipy.stats.f_oneway o pingouin.anova.</a:t>
            </a:r>
          </a:p>
          <a:p>
            <a:pPr>
              <a:spcAft>
                <a:spcPts val="800"/>
              </a:spcAft>
              <a:defRPr sz="1400" b="0">
                <a:solidFill>
                  <a:srgbClr val="0F172A"/>
                </a:solidFill>
                <a:latin typeface="Segoe UI"/>
              </a:defRPr>
            </a:pPr>
            <a:r>
              <a:rPr sz="1400" b="0">
                <a:solidFill>
                  <a:srgbClr val="0F172A"/>
                </a:solidFill>
                <a:latin typeface="Segoe UI"/>
              </a:rPr>
              <a:t>• Interpretar F = MS_between / MS_within y su relación con la F-distribution (F(k-1, n-k)).</a:t>
            </a:r>
          </a:p>
          <a:p>
            <a:pPr>
              <a:spcAft>
                <a:spcPts val="800"/>
              </a:spcAft>
              <a:defRPr sz="1400" b="0">
                <a:solidFill>
                  <a:srgbClr val="0F172A"/>
                </a:solidFill>
                <a:latin typeface="Segoe UI"/>
              </a:defRPr>
            </a:pPr>
            <a:r>
              <a:rPr sz="1400" b="0">
                <a:solidFill>
                  <a:srgbClr val="0F172A"/>
                </a:solidFill>
                <a:latin typeface="Segoe UI"/>
              </a:rPr>
              <a:t>• Aplicar Welch's ANOVA (pingouin.welch_anova) cuando se viola la homogeneidad de varianzas (Levene rechaza).</a:t>
            </a:r>
          </a:p>
          <a:p>
            <a:pPr>
              <a:spcAft>
                <a:spcPts val="800"/>
              </a:spcAft>
              <a:defRPr sz="1400" b="0">
                <a:solidFill>
                  <a:srgbClr val="0F172A"/>
                </a:solidFill>
                <a:latin typeface="Segoe UI"/>
              </a:defRPr>
            </a:pPr>
            <a:r>
              <a:rPr sz="1400" b="0">
                <a:solidFill>
                  <a:srgbClr val="0F172A"/>
                </a:solidFill>
                <a:latin typeface="Segoe UI"/>
              </a:rPr>
              <a:t>• Hacer Tukey HSD post-hoc con pingouin.pairwise_tukey y leer los IC ajustados.</a:t>
            </a:r>
          </a:p>
          <a:p>
            <a:pPr>
              <a:spcAft>
                <a:spcPts val="800"/>
              </a:spcAft>
              <a:defRPr sz="1400" b="0">
                <a:solidFill>
                  <a:srgbClr val="0F172A"/>
                </a:solidFill>
                <a:latin typeface="Segoe UI"/>
              </a:defRPr>
            </a:pPr>
            <a:r>
              <a:rPr sz="1400" b="0">
                <a:solidFill>
                  <a:srgbClr val="0F172A"/>
                </a:solidFill>
                <a:latin typeface="Segoe UI"/>
              </a:rPr>
              <a:t>• Distinguir efectos principales de interacción en ANOVA two-way y graficar interaction plots con seaborn.pointplot.</a:t>
            </a:r>
          </a:p>
        </p:txBody>
      </p:sp>
    </p:spTree>
  </p:cSld>
  <p:clrMapOvr>
    <a:masterClrMapping/>
  </p:clrMapOvr>
</p:sld>
</file>

<file path=ppt/slides/slide8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179 — ANOVA (one-way, two-way)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no t-tests múltiples? Si hacés 10 t-tests al α=0.05, la probabilidad de al menos un falso positivo es ≈ 40 %.</a:t>
            </a:r>
          </a:p>
          <a:p>
            <a:pPr>
              <a:spcAft>
                <a:spcPts val="1000"/>
              </a:spcAft>
              <a:defRPr sz="1600" b="0">
                <a:solidFill>
                  <a:srgbClr val="0F172A"/>
                </a:solidFill>
                <a:latin typeface="Segoe UI"/>
              </a:defRPr>
            </a:pPr>
            <a:r>
              <a:rPr sz="1600" b="0">
                <a:solidFill>
                  <a:srgbClr val="0F172A"/>
                </a:solidFill>
                <a:latin typeface="Segoe UI"/>
              </a:rPr>
              <a:t>• Descomposición de varianza: SS_total = SS_between + SS_within.</a:t>
            </a:r>
          </a:p>
          <a:p>
            <a:pPr>
              <a:spcAft>
                <a:spcPts val="1000"/>
              </a:spcAft>
              <a:defRPr sz="1600" b="0">
                <a:solidFill>
                  <a:srgbClr val="0F172A"/>
                </a:solidFill>
                <a:latin typeface="Segoe UI"/>
              </a:defRPr>
            </a:pPr>
            <a:r>
              <a:rPr sz="1600" b="0">
                <a:solidFill>
                  <a:srgbClr val="0F172A"/>
                </a:solidFill>
                <a:latin typeface="Segoe UI"/>
              </a:rPr>
              <a:t>• F-statistic: razón entre varianza explicada por los grupos y varianza residual.</a:t>
            </a:r>
          </a:p>
          <a:p>
            <a:pPr>
              <a:spcAft>
                <a:spcPts val="1000"/>
              </a:spcAft>
              <a:defRPr sz="1600" b="0">
                <a:solidFill>
                  <a:srgbClr val="0F172A"/>
                </a:solidFill>
                <a:latin typeface="Segoe UI"/>
              </a:defRPr>
            </a:pPr>
            <a:r>
              <a:rPr sz="1600" b="0">
                <a:solidFill>
                  <a:srgbClr val="0F172A"/>
                </a:solidFill>
                <a:latin typeface="Segoe UI"/>
              </a:rPr>
              <a:t>• Supuestos: independencia, normalidad (Shapiro por grupo o residuos), homocedasticidad (Levene/Bartlett).</a:t>
            </a:r>
          </a:p>
          <a:p>
            <a:pPr>
              <a:spcAft>
                <a:spcPts val="1000"/>
              </a:spcAft>
              <a:defRPr sz="1600" b="0">
                <a:solidFill>
                  <a:srgbClr val="0F172A"/>
                </a:solidFill>
                <a:latin typeface="Segoe UI"/>
              </a:defRPr>
            </a:pPr>
            <a:r>
              <a:rPr sz="1600" b="0">
                <a:solidFill>
                  <a:srgbClr val="0F172A"/>
                </a:solidFill>
                <a:latin typeface="Segoe UI"/>
              </a:rPr>
              <a:t>• Welch ANOVA — análogo a Welch's t-test para ≥ 3 grupos.</a:t>
            </a:r>
          </a:p>
          <a:p>
            <a:pPr>
              <a:spcAft>
                <a:spcPts val="1000"/>
              </a:spcAft>
              <a:defRPr sz="1600" b="0">
                <a:solidFill>
                  <a:srgbClr val="0F172A"/>
                </a:solidFill>
                <a:latin typeface="Segoe UI"/>
              </a:defRPr>
            </a:pPr>
            <a:r>
              <a:rPr sz="1600" b="0">
                <a:solidFill>
                  <a:srgbClr val="0F172A"/>
                </a:solidFill>
                <a:latin typeface="Segoe UI"/>
              </a:rPr>
              <a:t>• Post-hoc: Tukey HSD (controla family-wise error rate), Bonferroni, Holm.</a:t>
            </a:r>
          </a:p>
          <a:p>
            <a:pPr>
              <a:spcAft>
                <a:spcPts val="1000"/>
              </a:spcAft>
              <a:defRPr sz="1600" b="0">
                <a:solidFill>
                  <a:srgbClr val="0F172A"/>
                </a:solidFill>
                <a:latin typeface="Segoe UI"/>
              </a:defRPr>
            </a:pPr>
            <a:r>
              <a:rPr sz="1600" b="0">
                <a:solidFill>
                  <a:srgbClr val="0F172A"/>
                </a:solidFill>
                <a:latin typeface="Segoe UI"/>
              </a:rPr>
              <a:t>• Two-way ANOVA: efectos principales A, B, e interacción A×B.</a:t>
            </a:r>
          </a:p>
        </p:txBody>
      </p:sp>
    </p:spTree>
  </p:cSld>
  <p:clrMapOvr>
    <a:masterClrMapping/>
  </p:clrMapOvr>
</p:sld>
</file>

<file path=ppt/slides/slide9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179 — ANOVA (one-way, two-way)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H₀: μ₁ = μ₂ = μ₃. Simulamos la masa corporal de 3 especies de pingüinos. F = MS_between / MS_within.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import statsmodels.formula.api as smf</a:t>
            </a:r>
          </a:p>
          <a:p>
            <a:pPr>
              <a:defRPr sz="1200" b="0">
                <a:solidFill>
                  <a:srgbClr val="F8FAFC"/>
                </a:solidFill>
                <a:latin typeface="Courier New"/>
              </a:defRPr>
            </a:pPr>
            <a:r>
              <a:rPr sz="1200" b="0">
                <a:solidFill>
                  <a:srgbClr val="F8FAFC"/>
                </a:solidFill>
                <a:latin typeface="Courier New"/>
              </a:rPr>
              <a:t>from statsmodels.stats.anova import anova_lm</a:t>
            </a:r>
          </a:p>
          <a:p>
            <a:pPr>
              <a:defRPr sz="1200" b="0">
                <a:solidFill>
                  <a:srgbClr val="F8FAFC"/>
                </a:solidFill>
                <a:latin typeface="Courier New"/>
              </a:defRPr>
            </a:pPr>
            <a:r>
              <a:rPr sz="1200" b="0">
                <a:solidFill>
                  <a:srgbClr val="F8FAFC"/>
                </a:solidFill>
                <a:latin typeface="Courier New"/>
              </a:rPr>
              <a:t>from statsmodels.stats.multicomp import pairwise_tukeyhsd</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adelie    = rng.normal(3700, 460, 150)</a:t>
            </a:r>
          </a:p>
          <a:p>
            <a:pPr>
              <a:defRPr sz="1200" b="0">
                <a:solidFill>
                  <a:srgbClr val="F8FAFC"/>
                </a:solidFill>
                <a:latin typeface="Courier New"/>
              </a:defRPr>
            </a:pPr>
            <a:r>
              <a:rPr sz="1200" b="0">
                <a:solidFill>
                  <a:srgbClr val="F8FAFC"/>
                </a:solidFill>
                <a:latin typeface="Courier New"/>
              </a:rPr>
              <a:t>gentoo    = rng.normal(5080, 500, 120)</a:t>
            </a:r>
          </a:p>
          <a:p>
            <a:pPr>
              <a:defRPr sz="1200" b="0">
                <a:solidFill>
                  <a:srgbClr val="F8FAFC"/>
                </a:solidFill>
                <a:latin typeface="Courier New"/>
              </a:defRPr>
            </a:pPr>
            <a:r>
              <a:rPr sz="1200" b="0">
                <a:solidFill>
                  <a:srgbClr val="F8FAFC"/>
                </a:solidFill>
                <a:latin typeface="Courier New"/>
              </a:rPr>
              <a:t>chinstrap = rng.normal(3730, 380, 68)</a:t>
            </a:r>
          </a:p>
          <a:p>
            <a:pPr>
              <a:defRPr sz="1200" b="0">
                <a:solidFill>
                  <a:srgbClr val="F8FAFC"/>
                </a:solidFill>
                <a:latin typeface="Courier New"/>
              </a:defRPr>
            </a:pPr>
            <a:r>
              <a:rPr sz="1200" b="0">
                <a:solidFill>
                  <a:srgbClr val="F8FAFC"/>
                </a:solidFill>
                <a:latin typeface="Courier New"/>
              </a:rPr>
              <a:t>F, p = stats.f_oneway(adelie, gentoo, chinstrap)</a:t>
            </a:r>
          </a:p>
          <a:p>
            <a:pPr>
              <a:defRPr sz="1200" b="0">
                <a:solidFill>
                  <a:srgbClr val="F8FAFC"/>
                </a:solidFill>
                <a:latin typeface="Courier New"/>
              </a:defRPr>
            </a:pPr>
            <a:r>
              <a:rPr sz="1200" b="0">
                <a:solidFill>
                  <a:srgbClr val="F8FAFC"/>
                </a:solidFill>
                <a:latin typeface="Courier New"/>
              </a:rPr>
              <a:t>k = 3</a:t>
            </a:r>
          </a:p>
          <a:p>
            <a:pPr>
              <a:defRPr sz="1200" b="0">
                <a:solidFill>
                  <a:srgbClr val="F8FAFC"/>
                </a:solidFill>
                <a:latin typeface="Courier New"/>
              </a:defRPr>
            </a:pPr>
            <a:r>
              <a:rPr sz="1200" b="0">
                <a:solidFill>
                  <a:srgbClr val="F8FAFC"/>
                </a:solidFill>
                <a:latin typeface="Courier New"/>
              </a:rPr>
              <a:t>N = len(adelie) + len(gentoo) + len(chinstrap)</a:t>
            </a:r>
          </a:p>
          <a:p>
            <a:pPr>
              <a:defRPr sz="1200" b="0">
                <a:solidFill>
                  <a:srgbClr val="F8FAFC"/>
                </a:solidFill>
                <a:latin typeface="Courier New"/>
              </a:defRPr>
            </a:pPr>
            <a:r>
              <a:rPr sz="1200" b="0">
                <a:solidFill>
                  <a:srgbClr val="F8FAFC"/>
                </a:solidFill>
                <a:latin typeface="Courier New"/>
              </a:rPr>
              <a:t>print(f"One-way ANOVA: F={F:.2f}  p={p:.2e}")</a:t>
            </a:r>
          </a:p>
          <a:p>
            <a:pPr>
              <a:defRPr sz="1200" b="0">
                <a:solidFill>
                  <a:srgbClr val="F8FAFC"/>
                </a:solidFill>
                <a:latin typeface="Courier New"/>
              </a:defRPr>
            </a:pPr>
            <a:r>
              <a:rPr sz="1200" b="0">
                <a:solidFill>
                  <a:srgbClr val="F8FAFC"/>
                </a:solidFill>
                <a:latin typeface="Courier New"/>
              </a:rPr>
              <a:t>print(f"gl_between={k-1}  gl_within={N-k}")</a:t>
            </a:r>
          </a:p>
          <a:p>
            <a:pPr>
              <a:defRPr sz="1200" b="0">
                <a:solidFill>
                  <a:srgbClr val="F8FAFC"/>
                </a:solidFill>
                <a:latin typeface="Courier New"/>
              </a:defRPr>
            </a:pPr>
            <a:r>
              <a:rPr sz="1200" b="0">
                <a:solidFill>
                  <a:srgbClr val="F8FAFC"/>
                </a:solidFill>
                <a:latin typeface="Courier New"/>
              </a:rPr>
              <a:t>assert p &lt; 0.001</a:t>
            </a:r>
          </a:p>
        </p:txBody>
      </p:sp>
    </p:spTree>
  </p:cSld>
  <p:clrMapOvr>
    <a:masterClrMapping/>
  </p:clrMapOvr>
</p:sld>
</file>

<file path=ppt/slides/slide9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179 — ANOVA (one-way, two-way)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One-way: aplicá scipy.stats.f_oneway(*[grupo for grupo in penguins.groupby('species').body_mass_g]).</a:t>
            </a:r>
          </a:p>
          <a:p>
            <a:pPr>
              <a:spcAft>
                <a:spcPts val="800"/>
              </a:spcAft>
              <a:defRPr sz="1400" b="0">
                <a:solidFill>
                  <a:srgbClr val="0F172A"/>
                </a:solidFill>
                <a:latin typeface="Segoe UI"/>
              </a:defRPr>
            </a:pPr>
            <a:r>
              <a:rPr sz="1400" b="0">
                <a:solidFill>
                  <a:srgbClr val="0F172A"/>
                </a:solidFill>
                <a:latin typeface="Segoe UI"/>
              </a:rPr>
              <a:t>• Supuestos: testá normalidad por grupo (pingouin.normality(penguins, dv='body_mass_g', group='species')) y homocedasticidad (pingouin.homoscedasticity).</a:t>
            </a:r>
          </a:p>
          <a:p>
            <a:pPr>
              <a:spcAft>
                <a:spcPts val="800"/>
              </a:spcAft>
              <a:defRPr sz="1400" b="0">
                <a:solidFill>
                  <a:srgbClr val="0F172A"/>
                </a:solidFill>
                <a:latin typeface="Segoe UI"/>
              </a:defRPr>
            </a:pPr>
            <a:r>
              <a:rPr sz="1400" b="0">
                <a:solidFill>
                  <a:srgbClr val="0F172A"/>
                </a:solidFill>
                <a:latin typeface="Segoe UI"/>
              </a:rPr>
              <a:t>• Post-hoc Tukey: pingouin.pairwise_tukey(data=penguins, dv='body_mass_g', between='species').</a:t>
            </a:r>
          </a:p>
          <a:p>
            <a:pPr>
              <a:spcAft>
                <a:spcPts val="800"/>
              </a:spcAft>
              <a:defRPr sz="1400" b="0">
                <a:solidFill>
                  <a:srgbClr val="0F172A"/>
                </a:solidFill>
                <a:latin typeface="Segoe UI"/>
              </a:defRPr>
            </a:pPr>
            <a:r>
              <a:rPr sz="1400" b="0">
                <a:solidFill>
                  <a:srgbClr val="0F172A"/>
                </a:solidFill>
                <a:latin typeface="Segoe UI"/>
              </a:rPr>
              <a:t>• Two-way con interacción: pingouin.anova(data=tips, dv='total_bill', between=['day', 'time']).</a:t>
            </a:r>
          </a:p>
          <a:p>
            <a:pPr>
              <a:spcAft>
                <a:spcPts val="800"/>
              </a:spcAft>
              <a:defRPr sz="1400" b="0">
                <a:solidFill>
                  <a:srgbClr val="0F172A"/>
                </a:solidFill>
                <a:latin typeface="Segoe UI"/>
              </a:defRPr>
            </a:pPr>
            <a:r>
              <a:rPr sz="1400" b="0">
                <a:solidFill>
                  <a:srgbClr val="0F172A"/>
                </a:solidFill>
                <a:latin typeface="Segoe UI"/>
              </a:rPr>
              <a:t>• Interaction plot: sns.pointplot(data=tips, x='day', y='total_bill', hue='time').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ANOVA one-way de flipper_length_mm por species.</a:t>
            </a:r>
          </a:p>
          <a:p>
            <a:pPr>
              <a:spcAft>
                <a:spcPts val="800"/>
              </a:spcAft>
              <a:defRPr sz="1400" b="0">
                <a:solidFill>
                  <a:srgbClr val="0F172A"/>
                </a:solidFill>
                <a:latin typeface="Segoe UI"/>
              </a:defRPr>
            </a:pPr>
            <a:r>
              <a:rPr sz="1400" b="0">
                <a:solidFill>
                  <a:srgbClr val="0F172A"/>
                </a:solidFill>
                <a:latin typeface="Segoe UI"/>
              </a:rPr>
              <a:t>• Chequear Levene y Shapiro; decidir entre ANOVA clásico y Welch ANOVA, justificando.</a:t>
            </a:r>
          </a:p>
          <a:p>
            <a:pPr>
              <a:spcAft>
                <a:spcPts val="800"/>
              </a:spcAft>
              <a:defRPr sz="1400" b="0">
                <a:solidFill>
                  <a:srgbClr val="0F172A"/>
                </a:solidFill>
                <a:latin typeface="Segoe UI"/>
              </a:defRPr>
            </a:pPr>
            <a:r>
              <a:rPr sz="1400" b="0">
                <a:solidFill>
                  <a:srgbClr val="0F172A"/>
                </a:solidFill>
                <a:latin typeface="Segoe UI"/>
              </a:rPr>
              <a:t>• Tukey HSD post-hoc.</a:t>
            </a:r>
          </a:p>
          <a:p>
            <a:pPr>
              <a:spcAft>
                <a:spcPts val="800"/>
              </a:spcAft>
              <a:defRPr sz="1400" b="0">
                <a:solidFill>
                  <a:srgbClr val="0F172A"/>
                </a:solidFill>
                <a:latin typeface="Segoe UI"/>
              </a:defRPr>
            </a:pPr>
            <a:r>
              <a:rPr sz="1400" b="0">
                <a:solidFill>
                  <a:srgbClr val="0F172A"/>
                </a:solidFill>
                <a:latin typeface="Segoe UI"/>
              </a:rPr>
              <a:t>• Reportar ω² (pingouin.anova(... effsize='n2', y calcular ω² manualmente).</a:t>
            </a:r>
          </a:p>
          <a:p>
            <a:pPr>
              <a:spcAft>
                <a:spcPts val="800"/>
              </a:spcAft>
              <a:defRPr sz="1400" b="0">
                <a:solidFill>
                  <a:srgbClr val="0F172A"/>
                </a:solidFill>
                <a:latin typeface="Segoe UI"/>
              </a:defRPr>
            </a:pPr>
            <a:r>
              <a:rPr sz="1400" b="0">
                <a:solidFill>
                  <a:srgbClr val="0F172A"/>
                </a:solidFill>
                <a:latin typeface="Segoe UI"/>
              </a:rPr>
              <a:t>• Conclusión en 3 líneas: qué pares difieren, magnitud del efecto general (η²/ω²), si hay alguna comparación dudosa.</a:t>
            </a:r>
          </a:p>
        </p:txBody>
      </p:sp>
    </p:spTree>
  </p:cSld>
  <p:clrMapOvr>
    <a:masterClrMapping/>
  </p:clrMapOvr>
</p:sld>
</file>

<file path=ppt/slides/slide90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180 — Tests no paramétricos: Mann-Whitney, Wilcoxon, Kruskal-Wallis</a:t>
            </a:r>
          </a:p>
        </p:txBody>
      </p:sp>
    </p:spTree>
  </p:cSld>
  <p:clrMapOvr>
    <a:masterClrMapping/>
  </p:clrMapOvr>
</p:sld>
</file>

<file path=ppt/slides/slide9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180 — Tests no paramétricos: Mann-Whitney, Wilcoxon, Kruskal-Wallis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Bruce &amp; Bruce, cap. 3 Resampling and Non-parametric Tests + Conover, Practical Nonparametric Statistics.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las tres alternativas no paramétricas más usadas: Mann-Whitney U (= dos muestras independientes, análogo a Welch's t), Wilcoxon signed-rank (= pareado, análogo a ttest_rel) y Kruskal-Wallis (= ≥ 3 grupos, análogo a ANOVA one-way). Saber cuándo elegirlos sobre los paramétricos: muestras chicas con datos visiblemente asimétricos, datos ordinales (Likert, ranks), o presencia de outliers extremos.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Reconocer las 3 situaciones en que un test no paramétrico es preferible al paramétrico (n chico + asimetría, ordinal, outliers).</a:t>
            </a:r>
          </a:p>
          <a:p>
            <a:pPr>
              <a:spcAft>
                <a:spcPts val="800"/>
              </a:spcAft>
              <a:defRPr sz="1400" b="0">
                <a:solidFill>
                  <a:srgbClr val="0F172A"/>
                </a:solidFill>
                <a:latin typeface="Segoe UI"/>
              </a:defRPr>
            </a:pPr>
            <a:r>
              <a:rPr sz="1400" b="0">
                <a:solidFill>
                  <a:srgbClr val="0F172A"/>
                </a:solidFill>
                <a:latin typeface="Segoe UI"/>
              </a:rPr>
              <a:t>• Aplicar scipy.stats.mannwhitneyu, wilcoxon, kruskal con los argumentos correctos (alternative, method='exact' vs 'asymptotic').</a:t>
            </a:r>
          </a:p>
          <a:p>
            <a:pPr>
              <a:spcAft>
                <a:spcPts val="800"/>
              </a:spcAft>
              <a:defRPr sz="1400" b="0">
                <a:solidFill>
                  <a:srgbClr val="0F172A"/>
                </a:solidFill>
                <a:latin typeface="Segoe UI"/>
              </a:defRPr>
            </a:pPr>
            <a:r>
              <a:rPr sz="1400" b="0">
                <a:solidFill>
                  <a:srgbClr val="0F172A"/>
                </a:solidFill>
                <a:latin typeface="Segoe UI"/>
              </a:rPr>
              <a:t>• Interpretar que los no paramétricos testean distribuciones (estocásticamente iguales) o medianas, no medias.</a:t>
            </a:r>
          </a:p>
          <a:p>
            <a:pPr>
              <a:spcAft>
                <a:spcPts val="800"/>
              </a:spcAft>
              <a:defRPr sz="1400" b="0">
                <a:solidFill>
                  <a:srgbClr val="0F172A"/>
                </a:solidFill>
                <a:latin typeface="Segoe UI"/>
              </a:defRPr>
            </a:pPr>
            <a:r>
              <a:rPr sz="1400" b="0">
                <a:solidFill>
                  <a:srgbClr val="0F172A"/>
                </a:solidFill>
                <a:latin typeface="Segoe UI"/>
              </a:rPr>
              <a:t>• Reportar effect size no paramétrico: rank-biserial correlation (Mann-Whitney) o ε² / η²_H (Kruskal-Wallis).</a:t>
            </a:r>
          </a:p>
          <a:p>
            <a:pPr>
              <a:spcAft>
                <a:spcPts val="800"/>
              </a:spcAft>
              <a:defRPr sz="1400" b="0">
                <a:solidFill>
                  <a:srgbClr val="0F172A"/>
                </a:solidFill>
                <a:latin typeface="Segoe UI"/>
              </a:defRPr>
            </a:pPr>
            <a:r>
              <a:rPr sz="1400" b="0">
                <a:solidFill>
                  <a:srgbClr val="0F172A"/>
                </a:solidFill>
                <a:latin typeface="Segoe UI"/>
              </a:rPr>
              <a:t>• Hacer post-hoc no paramétrico tras Kruskal con Dunn's test (scikit-posthocs) y corrección por múltiples comparaciones.</a:t>
            </a:r>
          </a:p>
        </p:txBody>
      </p:sp>
    </p:spTree>
  </p:cSld>
  <p:clrMapOvr>
    <a:masterClrMapping/>
  </p:clrMapOvr>
</p:sld>
</file>

<file path=ppt/slides/slide9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180 — Tests no paramétricos: Mann-Whitney, Wilcoxon, Kruskal-Wallis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Mann-Whitney U (Wilcoxon rank-sum)</a:t>
            </a:r>
          </a:p>
          <a:p>
            <a:pPr>
              <a:spcAft>
                <a:spcPts val="1000"/>
              </a:spcAft>
              <a:defRPr sz="1600" b="0">
                <a:solidFill>
                  <a:srgbClr val="0F172A"/>
                </a:solidFill>
                <a:latin typeface="Segoe UI"/>
              </a:defRPr>
            </a:pPr>
            <a:r>
              <a:rPr sz="1600" b="0">
                <a:solidFill>
                  <a:srgbClr val="0F172A"/>
                </a:solidFill>
                <a:latin typeface="Segoe UI"/>
              </a:rPr>
              <a:t>• Wilcoxon signed-rank</a:t>
            </a:r>
          </a:p>
          <a:p>
            <a:pPr>
              <a:spcAft>
                <a:spcPts val="1000"/>
              </a:spcAft>
              <a:defRPr sz="1600" b="0">
                <a:solidFill>
                  <a:srgbClr val="0F172A"/>
                </a:solidFill>
                <a:latin typeface="Segoe UI"/>
              </a:defRPr>
            </a:pPr>
            <a:r>
              <a:rPr sz="1600" b="0">
                <a:solidFill>
                  <a:srgbClr val="0F172A"/>
                </a:solidFill>
                <a:latin typeface="Segoe UI"/>
              </a:rPr>
              <a:t>• Kruskal-Wallis H</a:t>
            </a:r>
          </a:p>
          <a:p>
            <a:pPr>
              <a:spcAft>
                <a:spcPts val="1000"/>
              </a:spcAft>
              <a:defRPr sz="1600" b="0">
                <a:solidFill>
                  <a:srgbClr val="0F172A"/>
                </a:solidFill>
                <a:latin typeface="Segoe UI"/>
              </a:defRPr>
            </a:pPr>
            <a:r>
              <a:rPr sz="1600" b="0">
                <a:solidFill>
                  <a:srgbClr val="0F172A"/>
                </a:solidFill>
                <a:latin typeface="Segoe UI"/>
              </a:rPr>
              <a:t>• Dunn's test (post-hoc)</a:t>
            </a:r>
          </a:p>
          <a:p>
            <a:pPr>
              <a:spcAft>
                <a:spcPts val="1000"/>
              </a:spcAft>
              <a:defRPr sz="1600" b="0">
                <a:solidFill>
                  <a:srgbClr val="0F172A"/>
                </a:solidFill>
                <a:latin typeface="Segoe UI"/>
              </a:defRPr>
            </a:pPr>
            <a:r>
              <a:rPr sz="1600" b="0">
                <a:solidFill>
                  <a:srgbClr val="0F172A"/>
                </a:solidFill>
                <a:latin typeface="Segoe UI"/>
              </a:rPr>
              <a:t>• Cliff's δ / rank-biserial r</a:t>
            </a:r>
          </a:p>
        </p:txBody>
      </p:sp>
    </p:spTree>
  </p:cSld>
  <p:clrMapOvr>
    <a:masterClrMapping/>
  </p:clrMapOvr>
</p:sld>
</file>

<file path=ppt/slides/slide9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180 — Tests no paramétricos: Mann-Whitney, Wilcoxon, Kruskal-Wallis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H₀: P(X &gt; Y) = 0.5. Trabaja sobre rangos, no sobre medias. El effect size es la rank-biserial r = 1 - 2U/(n₁·n₂).</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from statsmodels.stats.multitest import multipletests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a = rng.lognormal(1.0, 0.5, 80)     # asimétricos: el t-test es dudoso</a:t>
            </a:r>
          </a:p>
          <a:p>
            <a:pPr>
              <a:defRPr sz="1200" b="0">
                <a:solidFill>
                  <a:srgbClr val="F8FAFC"/>
                </a:solidFill>
                <a:latin typeface="Courier New"/>
              </a:defRPr>
            </a:pPr>
            <a:r>
              <a:rPr sz="1200" b="0">
                <a:solidFill>
                  <a:srgbClr val="F8FAFC"/>
                </a:solidFill>
                <a:latin typeface="Courier New"/>
              </a:rPr>
              <a:t>b = rng.lognormal(1.25, 0.5, 90)</a:t>
            </a:r>
          </a:p>
          <a:p>
            <a:pPr>
              <a:defRPr sz="1200" b="0">
                <a:solidFill>
                  <a:srgbClr val="F8FAFC"/>
                </a:solidFill>
                <a:latin typeface="Courier New"/>
              </a:defRPr>
            </a:pPr>
            <a:r>
              <a:rPr sz="1200" b="0">
                <a:solidFill>
                  <a:srgbClr val="F8FAFC"/>
                </a:solidFill>
                <a:latin typeface="Courier New"/>
              </a:rPr>
              <a:t>U, p = stats.mannwhitneyu(a, b, alternative="two-sided")</a:t>
            </a:r>
          </a:p>
          <a:p>
            <a:pPr>
              <a:defRPr sz="1200" b="0">
                <a:solidFill>
                  <a:srgbClr val="F8FAFC"/>
                </a:solidFill>
                <a:latin typeface="Courier New"/>
              </a:defRPr>
            </a:pPr>
            <a:r>
              <a:rPr sz="1200" b="0">
                <a:solidFill>
                  <a:srgbClr val="F8FAFC"/>
                </a:solidFill>
                <a:latin typeface="Courier New"/>
              </a:rPr>
              <a:t>r_rb = 1 - 2 * U / (len(a) * len(b))</a:t>
            </a:r>
          </a:p>
          <a:p>
            <a:pPr>
              <a:defRPr sz="1200" b="0">
                <a:solidFill>
                  <a:srgbClr val="F8FAFC"/>
                </a:solidFill>
                <a:latin typeface="Courier New"/>
              </a:defRPr>
            </a:pPr>
            <a:r>
              <a:rPr sz="1200" b="0">
                <a:solidFill>
                  <a:srgbClr val="F8FAFC"/>
                </a:solidFill>
                <a:latin typeface="Courier New"/>
              </a:rPr>
              <a:t>print(f"Mann-Whitney U={U:.0f}  p={p:.4f}")</a:t>
            </a:r>
          </a:p>
          <a:p>
            <a:pPr>
              <a:defRPr sz="1200" b="0">
                <a:solidFill>
                  <a:srgbClr val="F8FAFC"/>
                </a:solidFill>
                <a:latin typeface="Courier New"/>
              </a:defRPr>
            </a:pPr>
            <a:r>
              <a:rPr sz="1200" b="0">
                <a:solidFill>
                  <a:srgbClr val="F8FAFC"/>
                </a:solidFill>
                <a:latin typeface="Courier New"/>
              </a:rPr>
              <a:t>print(f"rank-biserial r = {r_rb:.3f}")</a:t>
            </a:r>
          </a:p>
          <a:p>
            <a:pPr>
              <a:defRPr sz="1200" b="0">
                <a:solidFill>
                  <a:srgbClr val="F8FAFC"/>
                </a:solidFill>
                <a:latin typeface="Courier New"/>
              </a:defRPr>
            </a:pPr>
            <a:r>
              <a:rPr sz="1200" b="0">
                <a:solidFill>
                  <a:srgbClr val="F8FAFC"/>
                </a:solidFill>
                <a:latin typeface="Courier New"/>
              </a:rPr>
              <a:t>print(f"medianas: a={np.median(a):.2f}  b={np.median(b):.2f}")</a:t>
            </a:r>
          </a:p>
          <a:p>
            <a:pPr>
              <a:defRPr sz="1200" b="0">
                <a:solidFill>
                  <a:srgbClr val="F8FAFC"/>
                </a:solidFill>
                <a:latin typeface="Courier New"/>
              </a:defRPr>
            </a:pPr>
            <a:r>
              <a:rPr sz="1200" b="0">
                <a:solidFill>
                  <a:srgbClr val="F8FAFC"/>
                </a:solidFill>
                <a:latin typeface="Courier New"/>
              </a:rPr>
              <a:t>assert p &lt; 0.05</a:t>
            </a:r>
          </a:p>
        </p:txBody>
      </p:sp>
    </p:spTree>
  </p:cSld>
  <p:clrMapOvr>
    <a:masterClrMapping/>
  </p:clrMapOvr>
</p:sld>
</file>

<file path=ppt/slides/slide9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180 — Tests no paramétricos: Mann-Whitney, Wilcoxon, Kruskal-Wallis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Mann-Whitney: comparar tip entre sex con scipy.stats.mannwhitneyu(a, b, alternative='two-sided').</a:t>
            </a:r>
          </a:p>
          <a:p>
            <a:pPr>
              <a:spcAft>
                <a:spcPts val="800"/>
              </a:spcAft>
              <a:defRPr sz="1400" b="0">
                <a:solidFill>
                  <a:srgbClr val="0F172A"/>
                </a:solidFill>
                <a:latin typeface="Segoe UI"/>
              </a:defRPr>
            </a:pPr>
            <a:r>
              <a:rPr sz="1400" b="0">
                <a:solidFill>
                  <a:srgbClr val="0F172A"/>
                </a:solidFill>
                <a:latin typeface="Segoe UI"/>
              </a:rPr>
              <a:t>• Wilcoxon signed-rank: con el dataset simulado de presión arterial antes/después de la Clase 147, aplicá scipy.stats.wilcoxon(antes, despues).</a:t>
            </a:r>
          </a:p>
          <a:p>
            <a:pPr>
              <a:spcAft>
                <a:spcPts val="800"/>
              </a:spcAft>
              <a:defRPr sz="1400" b="0">
                <a:solidFill>
                  <a:srgbClr val="0F172A"/>
                </a:solidFill>
                <a:latin typeface="Segoe UI"/>
              </a:defRPr>
            </a:pPr>
            <a:r>
              <a:rPr sz="1400" b="0">
                <a:solidFill>
                  <a:srgbClr val="0F172A"/>
                </a:solidFill>
                <a:latin typeface="Segoe UI"/>
              </a:rPr>
              <a:t>• Outliers: a un dataset normal rng.normal(50, 5, 100) agregale 3 outliers de valor 200.</a:t>
            </a:r>
          </a:p>
          <a:p>
            <a:pPr>
              <a:spcAft>
                <a:spcPts val="800"/>
              </a:spcAft>
              <a:defRPr sz="1400" b="0">
                <a:solidFill>
                  <a:srgbClr val="0F172A"/>
                </a:solidFill>
                <a:latin typeface="Segoe UI"/>
              </a:defRPr>
            </a:pPr>
            <a:r>
              <a:rPr sz="1400" b="0">
                <a:solidFill>
                  <a:srgbClr val="0F172A"/>
                </a:solidFill>
                <a:latin typeface="Segoe UI"/>
              </a:rPr>
              <a:t>• Kruskal-Wallis: aplicalo a body_mass_g por species en penguins.</a:t>
            </a:r>
          </a:p>
          <a:p>
            <a:pPr>
              <a:spcAft>
                <a:spcPts val="800"/>
              </a:spcAft>
              <a:defRPr sz="1400" b="0">
                <a:solidFill>
                  <a:srgbClr val="0F172A"/>
                </a:solidFill>
                <a:latin typeface="Segoe UI"/>
              </a:defRPr>
            </a:pPr>
            <a:r>
              <a:rPr sz="1400" b="0">
                <a:solidFill>
                  <a:srgbClr val="0F172A"/>
                </a:solidFill>
                <a:latin typeface="Segoe UI"/>
              </a:rPr>
              <a:t>• Post-hoc Dunn: con scikit_posthocs.posthoc_dunn(penguins, val_col='body_mass_g', group_col='species', p_adjust='holm') identificá qué pares difieren.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Verificar normalidad por grupo (Shapiro o KS). Mostrar que se rechaza.</a:t>
            </a:r>
          </a:p>
          <a:p>
            <a:pPr>
              <a:spcAft>
                <a:spcPts val="800"/>
              </a:spcAft>
              <a:defRPr sz="1400" b="0">
                <a:solidFill>
                  <a:srgbClr val="0F172A"/>
                </a:solidFill>
                <a:latin typeface="Segoe UI"/>
              </a:defRPr>
            </a:pPr>
            <a:r>
              <a:rPr sz="1400" b="0">
                <a:solidFill>
                  <a:srgbClr val="0F172A"/>
                </a:solidFill>
                <a:latin typeface="Segoe UI"/>
              </a:rPr>
              <a:t>• Comparar precio entre 4 vecindarios con Kruskal-Wallis.</a:t>
            </a:r>
          </a:p>
          <a:p>
            <a:pPr>
              <a:spcAft>
                <a:spcPts val="800"/>
              </a:spcAft>
              <a:defRPr sz="1400" b="0">
                <a:solidFill>
                  <a:srgbClr val="0F172A"/>
                </a:solidFill>
                <a:latin typeface="Segoe UI"/>
              </a:defRPr>
            </a:pPr>
            <a:r>
              <a:rPr sz="1400" b="0">
                <a:solidFill>
                  <a:srgbClr val="0F172A"/>
                </a:solidFill>
                <a:latin typeface="Segoe UI"/>
              </a:rPr>
              <a:t>• Post-hoc Dunn con corrección Holm.</a:t>
            </a:r>
          </a:p>
          <a:p>
            <a:pPr>
              <a:spcAft>
                <a:spcPts val="800"/>
              </a:spcAft>
              <a:defRPr sz="1400" b="0">
                <a:solidFill>
                  <a:srgbClr val="0F172A"/>
                </a:solidFill>
                <a:latin typeface="Segoe UI"/>
              </a:defRPr>
            </a:pPr>
            <a:r>
              <a:rPr sz="1400" b="0">
                <a:solidFill>
                  <a:srgbClr val="0F172A"/>
                </a:solidFill>
                <a:latin typeface="Segoe UI"/>
              </a:rPr>
              <a:t>• Reportar mediana ± IQR por grupo (no mean ± SD, que es engañoso con asimetría).</a:t>
            </a:r>
          </a:p>
          <a:p>
            <a:pPr>
              <a:spcAft>
                <a:spcPts val="800"/>
              </a:spcAft>
              <a:defRPr sz="1400" b="0">
                <a:solidFill>
                  <a:srgbClr val="0F172A"/>
                </a:solidFill>
                <a:latin typeface="Segoe UI"/>
              </a:defRPr>
            </a:pPr>
            <a:r>
              <a:rPr sz="1400" b="0">
                <a:solidFill>
                  <a:srgbClr val="0F172A"/>
                </a:solidFill>
                <a:latin typeface="Segoe UI"/>
              </a:rPr>
              <a:t>• Comparar conclusiones con las que daría un ANOVA clásico ingenuo.</a:t>
            </a:r>
          </a:p>
        </p:txBody>
      </p:sp>
    </p:spTree>
  </p:cSld>
  <p:clrMapOvr>
    <a:masterClrMapping/>
  </p:clrMapOvr>
</p:sld>
</file>

<file path=ppt/slides/slide90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181 — Corrección de comparaciones múltiples (Bonferroni, FDR)</a:t>
            </a:r>
          </a:p>
        </p:txBody>
      </p:sp>
    </p:spTree>
  </p:cSld>
  <p:clrMapOvr>
    <a:masterClrMapping/>
  </p:clrMapOvr>
</p:sld>
</file>

<file path=ppt/slides/slide9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181 — Corrección de comparaciones múltiples (Bonferroni, FDR)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ISLP, cap. 13 Multiple Testing + Benjamini &amp; Hochberg (1995).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por qué hacer 100 tests al α=0.05 produce ≈ 5 falsos positivos esperados aunque todas las H₀ sean verdaderas, y aplicar las dos familias de corrección: family-wise error rate (FWER) con Bonferroni y Holm, y false discovery rate (FDR) con Benjamini-Hochberg (BH). Saber elegir entre ambas según el contexto (medicina/seguridad → FWER; screening exploratorio → FDR).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Cuantificar la inflación de α al hacer k tests independientes: 1 - (1-α)^k.</a:t>
            </a:r>
          </a:p>
          <a:p>
            <a:pPr>
              <a:spcAft>
                <a:spcPts val="800"/>
              </a:spcAft>
              <a:defRPr sz="1400" b="0">
                <a:solidFill>
                  <a:srgbClr val="0F172A"/>
                </a:solidFill>
                <a:latin typeface="Segoe UI"/>
              </a:defRPr>
            </a:pPr>
            <a:r>
              <a:rPr sz="1400" b="0">
                <a:solidFill>
                  <a:srgbClr val="0F172A"/>
                </a:solidFill>
                <a:latin typeface="Segoe UI"/>
              </a:rPr>
              <a:t>• Aplicar Bonferroni: α_corregido = α / m. Conservador pero simple.</a:t>
            </a:r>
          </a:p>
          <a:p>
            <a:pPr>
              <a:spcAft>
                <a:spcPts val="800"/>
              </a:spcAft>
              <a:defRPr sz="1400" b="0">
                <a:solidFill>
                  <a:srgbClr val="0F172A"/>
                </a:solidFill>
                <a:latin typeface="Segoe UI"/>
              </a:defRPr>
            </a:pPr>
            <a:r>
              <a:rPr sz="1400" b="0">
                <a:solidFill>
                  <a:srgbClr val="0F172A"/>
                </a:solidFill>
                <a:latin typeface="Segoe UI"/>
              </a:rPr>
              <a:t>• Aplicar Holm-Bonferroni (statsmodels.stats.multitest.multipletests(..., method='holm')) — uniformemente más poderoso que Bonferroni.</a:t>
            </a:r>
          </a:p>
          <a:p>
            <a:pPr>
              <a:spcAft>
                <a:spcPts val="800"/>
              </a:spcAft>
              <a:defRPr sz="1400" b="0">
                <a:solidFill>
                  <a:srgbClr val="0F172A"/>
                </a:solidFill>
                <a:latin typeface="Segoe UI"/>
              </a:defRPr>
            </a:pPr>
            <a:r>
              <a:rPr sz="1400" b="0">
                <a:solidFill>
                  <a:srgbClr val="0F172A"/>
                </a:solidFill>
                <a:latin typeface="Segoe UI"/>
              </a:rPr>
              <a:t>• Aplicar Benjamini-Hochberg (BH/FDR) y entender que controla la proporción esperada de falsos positivos entre los rechazos, no el FWER.</a:t>
            </a:r>
          </a:p>
          <a:p>
            <a:pPr>
              <a:spcAft>
                <a:spcPts val="800"/>
              </a:spcAft>
              <a:defRPr sz="1400" b="0">
                <a:solidFill>
                  <a:srgbClr val="0F172A"/>
                </a:solidFill>
                <a:latin typeface="Segoe UI"/>
              </a:defRPr>
            </a:pPr>
            <a:r>
              <a:rPr sz="1400" b="0">
                <a:solidFill>
                  <a:srgbClr val="0F172A"/>
                </a:solidFill>
                <a:latin typeface="Segoe UI"/>
              </a:rPr>
              <a:t>• Distinguir FWER (P[al menos 1 falso positivo] ≤ α) de FDR (E[V/R] ≤ q, donde V son falsos positivos y R rechazos totales).</a:t>
            </a:r>
          </a:p>
        </p:txBody>
      </p:sp>
    </p:spTree>
  </p:cSld>
  <p:clrMapOvr>
    <a:masterClrMapping/>
  </p:clrMapOvr>
</p:sld>
</file>

<file path=ppt/slides/slide9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181 — Corrección de comparaciones múltiples (Bonferroni, FDR)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El problema: si m=20 tests independientes con H₀ verdadera y α=0.05, P(al menos uno rechaza) = 1 - 0.95²⁰ ≈ 64 %.</a:t>
            </a:r>
          </a:p>
          <a:p>
            <a:pPr>
              <a:spcAft>
                <a:spcPts val="1000"/>
              </a:spcAft>
              <a:defRPr sz="1600" b="0">
                <a:solidFill>
                  <a:srgbClr val="0F172A"/>
                </a:solidFill>
                <a:latin typeface="Segoe UI"/>
              </a:defRPr>
            </a:pPr>
            <a:r>
              <a:rPr sz="1600" b="0">
                <a:solidFill>
                  <a:srgbClr val="0F172A"/>
                </a:solidFill>
                <a:latin typeface="Segoe UI"/>
              </a:rPr>
              <a:t>• FWER: probabilidad de al menos 1 falso positivo en toda la familia.</a:t>
            </a:r>
          </a:p>
          <a:p>
            <a:pPr>
              <a:spcAft>
                <a:spcPts val="1000"/>
              </a:spcAft>
              <a:defRPr sz="1600" b="0">
                <a:solidFill>
                  <a:srgbClr val="0F172A"/>
                </a:solidFill>
                <a:latin typeface="Segoe UI"/>
              </a:defRPr>
            </a:pPr>
            <a:r>
              <a:rPr sz="1600" b="0">
                <a:solidFill>
                  <a:srgbClr val="0F172A"/>
                </a:solidFill>
                <a:latin typeface="Segoe UI"/>
              </a:rPr>
              <a:t>• FDR: proporción esperada de falsos positivos entre los rechazos (no entre todos los tests).</a:t>
            </a:r>
          </a:p>
          <a:p>
            <a:pPr>
              <a:spcAft>
                <a:spcPts val="1000"/>
              </a:spcAft>
              <a:defRPr sz="1600" b="0">
                <a:solidFill>
                  <a:srgbClr val="0F172A"/>
                </a:solidFill>
                <a:latin typeface="Segoe UI"/>
              </a:defRPr>
            </a:pPr>
            <a:r>
              <a:rPr sz="1600" b="0">
                <a:solidFill>
                  <a:srgbClr val="0F172A"/>
                </a:solidFill>
                <a:latin typeface="Segoe UI"/>
              </a:rPr>
              <a:t>• Bonferroni: rechazar si p_i ≤ α/m. Controla FWER exactamente.</a:t>
            </a:r>
          </a:p>
          <a:p>
            <a:pPr>
              <a:spcAft>
                <a:spcPts val="1000"/>
              </a:spcAft>
              <a:defRPr sz="1600" b="0">
                <a:solidFill>
                  <a:srgbClr val="0F172A"/>
                </a:solidFill>
                <a:latin typeface="Segoe UI"/>
              </a:defRPr>
            </a:pPr>
            <a:r>
              <a:rPr sz="1600" b="0">
                <a:solidFill>
                  <a:srgbClr val="0F172A"/>
                </a:solidFill>
                <a:latin typeface="Segoe UI"/>
              </a:rPr>
              <a:t>• Holm: ordenar p-values y comparar p_(i) ≤ α/(m-i+1). Uniformemente más poderoso que Bonferroni.</a:t>
            </a:r>
          </a:p>
          <a:p>
            <a:pPr>
              <a:spcAft>
                <a:spcPts val="1000"/>
              </a:spcAft>
              <a:defRPr sz="1600" b="0">
                <a:solidFill>
                  <a:srgbClr val="0F172A"/>
                </a:solidFill>
                <a:latin typeface="Segoe UI"/>
              </a:defRPr>
            </a:pPr>
            <a:r>
              <a:rPr sz="1600" b="0">
                <a:solidFill>
                  <a:srgbClr val="0F172A"/>
                </a:solidFill>
                <a:latin typeface="Segoe UI"/>
              </a:rPr>
              <a:t>• Benjamini-Hochberg (BH): ordenar p_(1) ≤ ... ≤ p_(m); rechazar todos los p_(i) tales que p_(i) ≤ (i/m)·q. Controla FDR a nivel q.</a:t>
            </a:r>
          </a:p>
          <a:p>
            <a:pPr>
              <a:spcAft>
                <a:spcPts val="1000"/>
              </a:spcAft>
              <a:defRPr sz="1600" b="0">
                <a:solidFill>
                  <a:srgbClr val="0F172A"/>
                </a:solidFill>
                <a:latin typeface="Segoe UI"/>
              </a:defRPr>
            </a:pPr>
            <a:r>
              <a:rPr sz="1600" b="0">
                <a:solidFill>
                  <a:srgbClr val="0F172A"/>
                </a:solidFill>
                <a:latin typeface="Segoe UI"/>
              </a:rPr>
              <a:t>• Cuándo usar cada uno: FWER si un falso positivo es catastrófico (drug approval, security). FDR si esperás muchos descubrimientos verdaderos y querés tolerar algunos falsos (genómica, A/B testing masivo).</a:t>
            </a:r>
          </a:p>
        </p:txBody>
      </p:sp>
    </p:spTree>
  </p:cSld>
  <p:clrMapOvr>
    <a:masterClrMapping/>
  </p:clrMapOvr>
</p:sld>
</file>

<file path=ppt/slides/slide9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181 — Corrección de comparaciones múltiples (Bonferroni, FDR)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 m tests independientes y H₀ verdadera, P(≥1 falso positivo) = 1 - (1-α)^m. Lo verificamos por simulación.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from statsmodels.stats.multitest import multipletests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 = 20</a:t>
            </a:r>
          </a:p>
          <a:p>
            <a:pPr>
              <a:defRPr sz="1200" b="0">
                <a:solidFill>
                  <a:srgbClr val="F8FAFC"/>
                </a:solidFill>
                <a:latin typeface="Courier New"/>
              </a:defRPr>
            </a:pPr>
            <a:r>
              <a:rPr sz="1200" b="0">
                <a:solidFill>
                  <a:srgbClr val="F8FAFC"/>
                </a:solidFill>
                <a:latin typeface="Courier New"/>
              </a:rPr>
              <a:t>n_exp = 2000</a:t>
            </a:r>
          </a:p>
          <a:p>
            <a:pPr>
              <a:defRPr sz="1200" b="0">
                <a:solidFill>
                  <a:srgbClr val="F8FAFC"/>
                </a:solidFill>
                <a:latin typeface="Courier New"/>
              </a:defRPr>
            </a:pPr>
            <a:r>
              <a:rPr sz="1200" b="0">
                <a:solidFill>
                  <a:srgbClr val="F8FAFC"/>
                </a:solidFill>
                <a:latin typeface="Courier New"/>
              </a:rPr>
              <a:t>any_sig = 0</a:t>
            </a:r>
          </a:p>
          <a:p>
            <a:pPr>
              <a:defRPr sz="1200" b="0">
                <a:solidFill>
                  <a:srgbClr val="F8FAFC"/>
                </a:solidFill>
                <a:latin typeface="Courier New"/>
              </a:defRPr>
            </a:pPr>
            <a:r>
              <a:rPr sz="1200" b="0">
                <a:solidFill>
                  <a:srgbClr val="F8FAFC"/>
                </a:solidFill>
                <a:latin typeface="Courier New"/>
              </a:rPr>
              <a:t>for _ in range(n_exp):</a:t>
            </a:r>
          </a:p>
          <a:p>
            <a:pPr>
              <a:defRPr sz="1200" b="0">
                <a:solidFill>
                  <a:srgbClr val="F8FAFC"/>
                </a:solidFill>
                <a:latin typeface="Courier New"/>
              </a:defRPr>
            </a:pPr>
            <a:r>
              <a:rPr sz="1200" b="0">
                <a:solidFill>
                  <a:srgbClr val="F8FAFC"/>
                </a:solidFill>
                <a:latin typeface="Courier New"/>
              </a:rPr>
              <a:t>    pvals = [stats.ttest_ind(rng.normal(0, 1, 30), rng.normal(0, 1, 30)).pvalue for _ in range(m)]</a:t>
            </a:r>
          </a:p>
          <a:p>
            <a:pPr>
              <a:defRPr sz="1200" b="0">
                <a:solidFill>
                  <a:srgbClr val="F8FAFC"/>
                </a:solidFill>
                <a:latin typeface="Courier New"/>
              </a:defRPr>
            </a:pPr>
            <a:r>
              <a:rPr sz="1200" b="0">
                <a:solidFill>
                  <a:srgbClr val="F8FAFC"/>
                </a:solidFill>
                <a:latin typeface="Courier New"/>
              </a:rPr>
              <a:t>    any_sig += (min(pvals) &lt; 0.05)</a:t>
            </a:r>
          </a:p>
          <a:p>
            <a:pPr>
              <a:defRPr sz="1200" b="0">
                <a:solidFill>
                  <a:srgbClr val="F8FAFC"/>
                </a:solidFill>
                <a:latin typeface="Courier New"/>
              </a:defRPr>
            </a:pPr>
            <a:r>
              <a:rPr sz="1200" b="0">
                <a:solidFill>
                  <a:srgbClr val="F8FAFC"/>
                </a:solidFill>
                <a:latin typeface="Courier New"/>
              </a:rPr>
              <a:t>emp = any_sig / n_exp</a:t>
            </a:r>
          </a:p>
          <a:p>
            <a:pPr>
              <a:defRPr sz="1200" b="0">
                <a:solidFill>
                  <a:srgbClr val="F8FAFC"/>
                </a:solidFill>
                <a:latin typeface="Courier New"/>
              </a:defRPr>
            </a:pPr>
            <a:r>
              <a:rPr sz="1200" b="0">
                <a:solidFill>
                  <a:srgbClr val="F8FAFC"/>
                </a:solidFill>
                <a:latin typeface="Courier New"/>
              </a:rPr>
              <a:t>theo = 1 - 0.95 ** m</a:t>
            </a:r>
          </a:p>
          <a:p>
            <a:pPr>
              <a:defRPr sz="1200" b="0">
                <a:solidFill>
                  <a:srgbClr val="F8FAFC"/>
                </a:solidFill>
                <a:latin typeface="Courier New"/>
              </a:defRPr>
            </a:pPr>
            <a:r>
              <a:rPr sz="1200" b="0">
                <a:solidFill>
                  <a:srgbClr val="F8FAFC"/>
                </a:solidFill>
                <a:latin typeface="Courier New"/>
              </a:rPr>
              <a:t>print(f"P(≥1 falso positivo): empírico={emp:.3f}  teórico={theo:.3f}")</a:t>
            </a:r>
          </a:p>
          <a:p>
            <a:pPr>
              <a:defRPr sz="1200" b="0">
                <a:solidFill>
                  <a:srgbClr val="F8FAFC"/>
                </a:solidFill>
                <a:latin typeface="Courier New"/>
              </a:defRPr>
            </a:pPr>
            <a:r>
              <a:rPr sz="1200" b="0">
                <a:solidFill>
                  <a:srgbClr val="F8FAFC"/>
                </a:solidFill>
                <a:latin typeface="Courier New"/>
              </a:rPr>
              <a:t>assert abs(emp - theo) &lt; 0.05</a:t>
            </a:r>
          </a:p>
        </p:txBody>
      </p:sp>
    </p:spTree>
  </p:cSld>
  <p:clrMapOvr>
    <a:masterClrMapping/>
  </p:clrMapOvr>
</p:sld>
</file>

<file path=ppt/slides/slide9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181 — Corrección de comparaciones múltiples (Bonferroni, FDR)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Inflación de α: simulá 10 000 experimentos.</a:t>
            </a:r>
          </a:p>
          <a:p>
            <a:pPr>
              <a:spcAft>
                <a:spcPts val="800"/>
              </a:spcAft>
              <a:defRPr sz="1400" b="0">
                <a:solidFill>
                  <a:srgbClr val="0F172A"/>
                </a:solidFill>
                <a:latin typeface="Segoe UI"/>
              </a:defRPr>
            </a:pPr>
            <a:r>
              <a:rPr sz="1400" b="0">
                <a:solidFill>
                  <a:srgbClr val="0F172A"/>
                </a:solidFill>
                <a:latin typeface="Segoe UI"/>
              </a:rPr>
              <a:t>• Bonferroni: con un vector pvals de 20 p-values, calculá pvals_adj = np.minimum(pvals * 20, 1) y compará contra multipletests(pvals, method='bonferroni').</a:t>
            </a:r>
          </a:p>
          <a:p>
            <a:pPr>
              <a:spcAft>
                <a:spcPts val="800"/>
              </a:spcAft>
              <a:defRPr sz="1400" b="0">
                <a:solidFill>
                  <a:srgbClr val="0F172A"/>
                </a:solidFill>
                <a:latin typeface="Segoe UI"/>
              </a:defRPr>
            </a:pPr>
            <a:r>
              <a:rPr sz="1400" b="0">
                <a:solidFill>
                  <a:srgbClr val="0F172A"/>
                </a:solidFill>
                <a:latin typeface="Segoe UI"/>
              </a:rPr>
              <a:t>• Holm: multipletests(pvals, alpha=0.05, method='holm').</a:t>
            </a:r>
          </a:p>
          <a:p>
            <a:pPr>
              <a:spcAft>
                <a:spcPts val="800"/>
              </a:spcAft>
              <a:defRPr sz="1400" b="0">
                <a:solidFill>
                  <a:srgbClr val="0F172A"/>
                </a:solidFill>
                <a:latin typeface="Segoe UI"/>
              </a:defRPr>
            </a:pPr>
            <a:r>
              <a:rPr sz="1400" b="0">
                <a:solidFill>
                  <a:srgbClr val="0F172A"/>
                </a:solidFill>
                <a:latin typeface="Segoe UI"/>
              </a:rPr>
              <a:t>• BH/FDR: genera 1000 p-values, 950 de Uniform(0,1) y 50 de Beta(0.5, 5) (concentrados cerca de 0 — alternativos).</a:t>
            </a:r>
          </a:p>
          <a:p>
            <a:pPr>
              <a:spcAft>
                <a:spcPts val="800"/>
              </a:spcAft>
              <a:defRPr sz="1400" b="0">
                <a:solidFill>
                  <a:srgbClr val="0F172A"/>
                </a:solidFill>
                <a:latin typeface="Segoe UI"/>
              </a:defRPr>
            </a:pPr>
            <a:r>
              <a:rPr sz="1400" b="0">
                <a:solidFill>
                  <a:srgbClr val="0F172A"/>
                </a:solidFill>
                <a:latin typeface="Segoe UI"/>
              </a:rPr>
              <a:t>• Comparación: mismo vector del ej.</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Para cada feature, t-test entre la clase 0 y la clase 1.</a:t>
            </a:r>
          </a:p>
          <a:p>
            <a:pPr>
              <a:spcAft>
                <a:spcPts val="800"/>
              </a:spcAft>
              <a:defRPr sz="1500" b="0">
                <a:solidFill>
                  <a:srgbClr val="0F172A"/>
                </a:solidFill>
                <a:latin typeface="Segoe UI"/>
              </a:defRPr>
            </a:pPr>
            <a:r>
              <a:rPr sz="1500" b="0">
                <a:solidFill>
                  <a:srgbClr val="0F172A"/>
                </a:solidFill>
                <a:latin typeface="Segoe UI"/>
              </a:rPr>
              <a:t>• Aplicar tres correcciones: Bonferroni, Holm, BH (q=0.05).</a:t>
            </a:r>
          </a:p>
          <a:p>
            <a:pPr>
              <a:spcAft>
                <a:spcPts val="800"/>
              </a:spcAft>
              <a:defRPr sz="1500" b="0">
                <a:solidFill>
                  <a:srgbClr val="0F172A"/>
                </a:solidFill>
                <a:latin typeface="Segoe UI"/>
              </a:defRPr>
            </a:pPr>
            <a:r>
              <a:rPr sz="1500" b="0">
                <a:solidFill>
                  <a:srgbClr val="0F172A"/>
                </a:solidFill>
                <a:latin typeface="Segoe UI"/>
              </a:rPr>
              <a:t>• Tabla comparativa: # features significativas según cada método.</a:t>
            </a:r>
          </a:p>
          <a:p>
            <a:pPr>
              <a:spcAft>
                <a:spcPts val="800"/>
              </a:spcAft>
              <a:defRPr sz="1500" b="0">
                <a:solidFill>
                  <a:srgbClr val="0F172A"/>
                </a:solidFill>
                <a:latin typeface="Segoe UI"/>
              </a:defRPr>
            </a:pPr>
            <a:r>
              <a:rPr sz="1500" b="0">
                <a:solidFill>
                  <a:srgbClr val="0F172A"/>
                </a:solidFill>
                <a:latin typeface="Segoe UI"/>
              </a:rPr>
              <a:t>• Justificar en 3 líneas qué método elegirías si: (a) vas a publicar los hallazgos en un paper médico, (b) usás esto como screening para una etapa siguiente.</a:t>
            </a:r>
          </a:p>
        </p:txBody>
      </p:sp>
    </p:spTree>
  </p:cSld>
  <p:clrMapOvr>
    <a:masterClrMapping/>
  </p:clrMapOvr>
</p:sld>
</file>

<file path=ppt/slides/slide9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182 — Intervalos de confianza</a:t>
            </a:r>
          </a:p>
        </p:txBody>
      </p:sp>
    </p:spTree>
  </p:cSld>
  <p:clrMapOvr>
    <a:masterClrMapping/>
  </p:clrMapOvr>
</p:sld>
</file>

<file path=ppt/slides/slide9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182 — Intervalos de confianza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ISLP, cap. 5 + Bruce &amp; Bruce, cap. 2 Confidence Intervals.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e interpretar correctamente intervalos de confianza para media (t-based, z-based, bootstrap) y proporción (Wald, Wilson, Clopper-Pearson), entendiendo que un IC95 % NO significa "95 % de probabilidad de que el parámetro caiga en el intervalo" sino "si repitiéramos el experimento muchas veces, el 95 % de los intervalos construidos contendrían el parámetro". Saber elegir el método según n y la métrica.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IC para la media usando la distribución t: x̄ ± t_{α/2, n-1} · (s/√n) con scipy.stats.t.interval.</a:t>
            </a:r>
          </a:p>
          <a:p>
            <a:pPr>
              <a:spcAft>
                <a:spcPts val="800"/>
              </a:spcAft>
              <a:defRPr sz="1400" b="0">
                <a:solidFill>
                  <a:srgbClr val="0F172A"/>
                </a:solidFill>
                <a:latin typeface="Segoe UI"/>
              </a:defRPr>
            </a:pPr>
            <a:r>
              <a:rPr sz="1400" b="0">
                <a:solidFill>
                  <a:srgbClr val="0F172A"/>
                </a:solidFill>
                <a:latin typeface="Segoe UI"/>
              </a:rPr>
              <a:t>• Construir un IC para la proporción con tres métodos y entender cuándo cada uno falla (Wald falla con p cerca de 0/1; Wilson y Clopper-Pearson son robustos).</a:t>
            </a:r>
          </a:p>
          <a:p>
            <a:pPr>
              <a:spcAft>
                <a:spcPts val="800"/>
              </a:spcAft>
              <a:defRPr sz="1400" b="0">
                <a:solidFill>
                  <a:srgbClr val="0F172A"/>
                </a:solidFill>
                <a:latin typeface="Segoe UI"/>
              </a:defRPr>
            </a:pPr>
            <a:r>
              <a:rPr sz="1400" b="0">
                <a:solidFill>
                  <a:srgbClr val="0F172A"/>
                </a:solidFill>
                <a:latin typeface="Segoe UI"/>
              </a:rPr>
              <a:t>• Usar scipy.stats.bootstrap (≥ 1.7) para IC sin supuestos paramétricos (anticipa Clase 153).</a:t>
            </a:r>
          </a:p>
          <a:p>
            <a:pPr>
              <a:spcAft>
                <a:spcPts val="800"/>
              </a:spcAft>
              <a:defRPr sz="1400" b="0">
                <a:solidFill>
                  <a:srgbClr val="0F172A"/>
                </a:solidFill>
                <a:latin typeface="Segoe UI"/>
              </a:defRPr>
            </a:pPr>
            <a:r>
              <a:rPr sz="1400" b="0">
                <a:solidFill>
                  <a:srgbClr val="0F172A"/>
                </a:solidFill>
                <a:latin typeface="Segoe UI"/>
              </a:rPr>
              <a:t>• Interpretar correctamente la frase "intervalo de confianza al 95 %" (es una propiedad del procedimiento, no del intervalo específico).</a:t>
            </a:r>
          </a:p>
          <a:p>
            <a:pPr>
              <a:spcAft>
                <a:spcPts val="800"/>
              </a:spcAft>
              <a:defRPr sz="1400" b="0">
                <a:solidFill>
                  <a:srgbClr val="0F172A"/>
                </a:solidFill>
                <a:latin typeface="Segoe UI"/>
              </a:defRPr>
            </a:pPr>
            <a:r>
              <a:rPr sz="1400" b="0">
                <a:solidFill>
                  <a:srgbClr val="0F172A"/>
                </a:solidFill>
                <a:latin typeface="Segoe UI"/>
              </a:rPr>
              <a:t>• Relacionar IC y test de hipótesis: si el IC95 % de la diferencia no incluye 0, el test bilateral al α=5 % rechaza H₀.</a:t>
            </a:r>
          </a:p>
        </p:txBody>
      </p:sp>
    </p:spTree>
  </p:cSld>
  <p:clrMapOvr>
    <a:masterClrMapping/>
  </p:clrMapOvr>
</p:sld>
</file>

<file path=ppt/slides/slide9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182 — Intervalos de confianza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IC para la media (varianza desconocida): t de Student con n-1 gl.</a:t>
            </a:r>
          </a:p>
          <a:p>
            <a:pPr>
              <a:spcAft>
                <a:spcPts val="1000"/>
              </a:spcAft>
              <a:defRPr sz="1600" b="0">
                <a:solidFill>
                  <a:srgbClr val="0F172A"/>
                </a:solidFill>
                <a:latin typeface="Segoe UI"/>
              </a:defRPr>
            </a:pPr>
            <a:r>
              <a:rPr sz="1600" b="0">
                <a:solidFill>
                  <a:srgbClr val="0F172A"/>
                </a:solidFill>
                <a:latin typeface="Segoe UI"/>
              </a:rPr>
              <a:t>• IC para la media (varianza conocida o n grande): z.</a:t>
            </a:r>
          </a:p>
          <a:p>
            <a:pPr>
              <a:spcAft>
                <a:spcPts val="1000"/>
              </a:spcAft>
              <a:defRPr sz="1600" b="0">
                <a:solidFill>
                  <a:srgbClr val="0F172A"/>
                </a:solidFill>
                <a:latin typeface="Segoe UI"/>
              </a:defRPr>
            </a:pPr>
            <a:r>
              <a:rPr sz="1600" b="0">
                <a:solidFill>
                  <a:srgbClr val="0F172A"/>
                </a:solidFill>
                <a:latin typeface="Segoe UI"/>
              </a:rPr>
              <a:t>• IC para proporción: Wald (p̂ ± z·√(p̂(1-p̂)/n)) vs Wilson score (recomendado por Agresti &amp; Coull 1998) vs Clopper-Pearson (exacto, conservador).</a:t>
            </a:r>
          </a:p>
          <a:p>
            <a:pPr>
              <a:spcAft>
                <a:spcPts val="1000"/>
              </a:spcAft>
              <a:defRPr sz="1600" b="0">
                <a:solidFill>
                  <a:srgbClr val="0F172A"/>
                </a:solidFill>
                <a:latin typeface="Segoe UI"/>
              </a:defRPr>
            </a:pPr>
            <a:r>
              <a:rPr sz="1600" b="0">
                <a:solidFill>
                  <a:srgbClr val="0F172A"/>
                </a:solidFill>
                <a:latin typeface="Segoe UI"/>
              </a:rPr>
              <a:t>• IC bootstrap percentil (anticipa Clase 153).</a:t>
            </a:r>
          </a:p>
          <a:p>
            <a:pPr>
              <a:spcAft>
                <a:spcPts val="1000"/>
              </a:spcAft>
              <a:defRPr sz="1600" b="0">
                <a:solidFill>
                  <a:srgbClr val="0F172A"/>
                </a:solidFill>
                <a:latin typeface="Segoe UI"/>
              </a:defRPr>
            </a:pPr>
            <a:r>
              <a:rPr sz="1600" b="0">
                <a:solidFill>
                  <a:srgbClr val="0F172A"/>
                </a:solidFill>
                <a:latin typeface="Segoe UI"/>
              </a:rPr>
              <a:t>• IC del odds ratio, riesgo relativo (medicina/epidemiología).</a:t>
            </a:r>
          </a:p>
          <a:p>
            <a:pPr>
              <a:spcAft>
                <a:spcPts val="1000"/>
              </a:spcAft>
              <a:defRPr sz="1600" b="0">
                <a:solidFill>
                  <a:srgbClr val="0F172A"/>
                </a:solidFill>
                <a:latin typeface="Segoe UI"/>
              </a:defRPr>
            </a:pPr>
            <a:r>
              <a:rPr sz="1600" b="0">
                <a:solidFill>
                  <a:srgbClr val="0F172A"/>
                </a:solidFill>
                <a:latin typeface="Segoe UI"/>
              </a:rPr>
              <a:t>• Margen de error (ME = z·SE) y cómo determina n.</a:t>
            </a:r>
          </a:p>
        </p:txBody>
      </p:sp>
    </p:spTree>
  </p:cSld>
  <p:clrMapOvr>
    <a:masterClrMapping/>
  </p:clrMapOvr>
</p:sld>
</file>

<file path=ppt/slides/slide9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182 — Intervalos de confianza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x̄ ± t_{α/2, n-1}·(s/√n). La t tiene colas más anchas que la normal, lo que ensancha correctamente el IC con n chico.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from statsmodels.stats.proportion import proportion_confint</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rng.normal(20, 8, 200)</a:t>
            </a:r>
          </a:p>
          <a:p>
            <a:pPr>
              <a:defRPr sz="1200" b="0">
                <a:solidFill>
                  <a:srgbClr val="F8FAFC"/>
                </a:solidFill>
                <a:latin typeface="Courier New"/>
              </a:defRPr>
            </a:pPr>
            <a:r>
              <a:rPr sz="1200" b="0">
                <a:solidFill>
                  <a:srgbClr val="F8FAFC"/>
                </a:solidFill>
                <a:latin typeface="Courier New"/>
              </a:rPr>
              <a:t>n = len(x)</a:t>
            </a:r>
          </a:p>
          <a:p>
            <a:pPr>
              <a:defRPr sz="1200" b="0">
                <a:solidFill>
                  <a:srgbClr val="F8FAFC"/>
                </a:solidFill>
                <a:latin typeface="Courier New"/>
              </a:defRPr>
            </a:pPr>
            <a:r>
              <a:rPr sz="1200" b="0">
                <a:solidFill>
                  <a:srgbClr val="F8FAFC"/>
                </a:solidFill>
                <a:latin typeface="Courier New"/>
              </a:rPr>
              <a:t>mean, sem = x.mean(), stats.sem(x)</a:t>
            </a:r>
          </a:p>
          <a:p>
            <a:pPr>
              <a:defRPr sz="1200" b="0">
                <a:solidFill>
                  <a:srgbClr val="F8FAFC"/>
                </a:solidFill>
                <a:latin typeface="Courier New"/>
              </a:defRPr>
            </a:pPr>
            <a:r>
              <a:rPr sz="1200" b="0">
                <a:solidFill>
                  <a:srgbClr val="F8FAFC"/>
                </a:solidFill>
                <a:latin typeface="Courier New"/>
              </a:rPr>
              <a:t>lo, hi = stats.t.interval(0.95, n - 1, loc=mean, scale=sem)</a:t>
            </a:r>
          </a:p>
          <a:p>
            <a:pPr>
              <a:defRPr sz="1200" b="0">
                <a:solidFill>
                  <a:srgbClr val="F8FAFC"/>
                </a:solidFill>
                <a:latin typeface="Courier New"/>
              </a:defRPr>
            </a:pPr>
            <a:r>
              <a:rPr sz="1200" b="0">
                <a:solidFill>
                  <a:srgbClr val="F8FAFC"/>
                </a:solidFill>
                <a:latin typeface="Courier New"/>
              </a:rPr>
              <a:t>print(f"media={mean:.2f}  IC95% t = ({lo:.2f}, {hi:.2f})")</a:t>
            </a:r>
          </a:p>
          <a:p>
            <a:pPr>
              <a:defRPr sz="1200" b="0">
                <a:solidFill>
                  <a:srgbClr val="F8FAFC"/>
                </a:solidFill>
                <a:latin typeface="Courier New"/>
              </a:defRPr>
            </a:pPr>
            <a:r>
              <a:rPr sz="1200" b="0">
                <a:solidFill>
                  <a:srgbClr val="F8FAFC"/>
                </a:solidFill>
                <a:latin typeface="Courier New"/>
              </a:rPr>
              <a:t>assert lo &lt; mean &lt; hi</a:t>
            </a:r>
          </a:p>
        </p:txBody>
      </p:sp>
    </p:spTree>
  </p:cSld>
  <p:clrMapOvr>
    <a:masterClrMapping/>
  </p:clrMapOvr>
</p:sld>
</file>

<file path=ppt/slides/slide9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182 — Intervalos de confianza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IC t para la media: con tips.total_bill, calculá el IC95 % con scipy.stats.t.interval(0.95, n-1, loc=mean, scale=sem).</a:t>
            </a:r>
          </a:p>
          <a:p>
            <a:pPr>
              <a:spcAft>
                <a:spcPts val="800"/>
              </a:spcAft>
              <a:defRPr sz="1400" b="0">
                <a:solidFill>
                  <a:srgbClr val="0F172A"/>
                </a:solidFill>
                <a:latin typeface="Segoe UI"/>
              </a:defRPr>
            </a:pPr>
            <a:r>
              <a:rPr sz="1400" b="0">
                <a:solidFill>
                  <a:srgbClr val="0F172A"/>
                </a:solidFill>
                <a:latin typeface="Segoe UI"/>
              </a:rPr>
              <a:t>• IC para proporción extrema: con rng.binomial(1, 0.03, 100) (proporción de eventos raros), calculá IC con statsmodels.stats.proportion.proportion_confint(count, n, method='normal') (Wald), 'wilson' y 'beta' (Clopper-Pearson).</a:t>
            </a:r>
          </a:p>
          <a:p>
            <a:pPr>
              <a:spcAft>
                <a:spcPts val="800"/>
              </a:spcAft>
              <a:defRPr sz="1400" b="0">
                <a:solidFill>
                  <a:srgbClr val="0F172A"/>
                </a:solidFill>
                <a:latin typeface="Segoe UI"/>
              </a:defRPr>
            </a:pPr>
            <a:r>
              <a:rPr sz="1400" b="0">
                <a:solidFill>
                  <a:srgbClr val="0F172A"/>
                </a:solidFill>
                <a:latin typeface="Segoe UI"/>
              </a:rPr>
              <a:t>• Cobertura empírica: simulá 5 000 muestras de tamaño 30 de N(50, 10).</a:t>
            </a:r>
          </a:p>
          <a:p>
            <a:pPr>
              <a:spcAft>
                <a:spcPts val="800"/>
              </a:spcAft>
              <a:defRPr sz="1400" b="0">
                <a:solidFill>
                  <a:srgbClr val="0F172A"/>
                </a:solidFill>
                <a:latin typeface="Segoe UI"/>
              </a:defRPr>
            </a:pPr>
            <a:r>
              <a:rPr sz="1400" b="0">
                <a:solidFill>
                  <a:srgbClr val="0F172A"/>
                </a:solidFill>
                <a:latin typeface="Segoe UI"/>
              </a:rPr>
              <a:t>• Bootstrap IC: con tips.total_bill, aplicá scipy.stats.bootstrap((tips.total_bill,), statistic=np.mean, n_resamples=10_000, method='percentile').</a:t>
            </a:r>
          </a:p>
          <a:p>
            <a:pPr>
              <a:spcAft>
                <a:spcPts val="800"/>
              </a:spcAft>
              <a:defRPr sz="1400" b="0">
                <a:solidFill>
                  <a:srgbClr val="0F172A"/>
                </a:solidFill>
                <a:latin typeface="Segoe UI"/>
              </a:defRPr>
            </a:pPr>
            <a:r>
              <a:rPr sz="1400" b="0">
                <a:solidFill>
                  <a:srgbClr val="0F172A"/>
                </a:solidFill>
                <a:latin typeface="Segoe UI"/>
              </a:rPr>
              <a:t>• Sample size: querés estimar una proporción con margen de error de ±2 %, asumiendo p̂ ≈ 0.5 (peor caso).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Determinar n requerido para margen de error ±3 % con 95 % de confianza asumiendo p̂ ≈ 0.5.</a:t>
            </a:r>
          </a:p>
          <a:p>
            <a:pPr>
              <a:spcAft>
                <a:spcPts val="800"/>
              </a:spcAft>
              <a:defRPr sz="1500" b="0">
                <a:solidFill>
                  <a:srgbClr val="0F172A"/>
                </a:solidFill>
                <a:latin typeface="Segoe UI"/>
              </a:defRPr>
            </a:pPr>
            <a:r>
              <a:rPr sz="1500" b="0">
                <a:solidFill>
                  <a:srgbClr val="0F172A"/>
                </a:solidFill>
                <a:latin typeface="Segoe UI"/>
              </a:rPr>
              <a:t>• Simular el experimento con esa n y p_verdadera=0.78.</a:t>
            </a:r>
          </a:p>
          <a:p>
            <a:pPr>
              <a:spcAft>
                <a:spcPts val="800"/>
              </a:spcAft>
              <a:defRPr sz="1500" b="0">
                <a:solidFill>
                  <a:srgbClr val="0F172A"/>
                </a:solidFill>
                <a:latin typeface="Segoe UI"/>
              </a:defRPr>
            </a:pPr>
            <a:r>
              <a:rPr sz="1500" b="0">
                <a:solidFill>
                  <a:srgbClr val="0F172A"/>
                </a:solidFill>
                <a:latin typeface="Segoe UI"/>
              </a:rPr>
              <a:t>• Construir los 3 IC (Wald, Wilson, Clopper-Pearson) y comparar anchos.</a:t>
            </a:r>
          </a:p>
          <a:p>
            <a:pPr>
              <a:spcAft>
                <a:spcPts val="800"/>
              </a:spcAft>
              <a:defRPr sz="1500" b="0">
                <a:solidFill>
                  <a:srgbClr val="0F172A"/>
                </a:solidFill>
                <a:latin typeface="Segoe UI"/>
              </a:defRPr>
            </a:pPr>
            <a:r>
              <a:rPr sz="1500" b="0">
                <a:solidFill>
                  <a:srgbClr val="0F172A"/>
                </a:solidFill>
                <a:latin typeface="Segoe UI"/>
              </a:rPr>
              <a:t>• En 3 líneas: justificar cuál reportarías y por qué.</a:t>
            </a:r>
          </a:p>
        </p:txBody>
      </p:sp>
    </p:spTree>
  </p:cSld>
  <p:clrMapOvr>
    <a:masterClrMapping/>
  </p:clrMapOvr>
</p:sld>
</file>

<file path=ppt/slides/slide9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183 — Bootstrap y permutation tests</a:t>
            </a:r>
          </a:p>
        </p:txBody>
      </p:sp>
    </p:spTree>
  </p:cSld>
  <p:clrMapOvr>
    <a:masterClrMapping/>
  </p:clrMapOvr>
</p:sld>
</file>

<file path=ppt/slides/slide9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183 — Bootstrap y permutation tests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ISLP, cap. 5 Resampling Methods + Efron &amp; Tibshirani, An Introduction to the Bootstrap.  Duración estimada: 85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Sustituir los supuestos paramétricos (normalidad, homocedasticidad, fórmulas cerradas) por resampling: el bootstrap estima la distribución muestral de cualquier estadístico re-muestreando con reemplazo, y los permutation tests calculan un p-value re-mezclando etiquetas de tratamiento. Aprender a usar las APIs modernas de scipy (bootstrap, permutation_test, ≥ 1.9) y a interpretar las tres variantes de IC bootstrap (percentil, basic, BCa).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bootstrap a mano: B resamples con reemplazo del mismo tamaño que la muestra original, calcular el estadístico en cada uno, sacar cuantiles α/2 y 1-α/2.</a:t>
            </a:r>
          </a:p>
          <a:p>
            <a:pPr>
              <a:spcAft>
                <a:spcPts val="800"/>
              </a:spcAft>
              <a:defRPr sz="1400" b="0">
                <a:solidFill>
                  <a:srgbClr val="0F172A"/>
                </a:solidFill>
                <a:latin typeface="Segoe UI"/>
              </a:defRPr>
            </a:pPr>
            <a:r>
              <a:rPr sz="1400" b="0">
                <a:solidFill>
                  <a:srgbClr val="0F172A"/>
                </a:solidFill>
                <a:latin typeface="Segoe UI"/>
              </a:rPr>
              <a:t>• Usar scipy.stats.bootstrap(data, statistic, n_resamples=9_999, method='BCa') y entender por qué BCa corrige sesgo y asimetría.</a:t>
            </a:r>
          </a:p>
          <a:p>
            <a:pPr>
              <a:spcAft>
                <a:spcPts val="800"/>
              </a:spcAft>
              <a:defRPr sz="1400" b="0">
                <a:solidFill>
                  <a:srgbClr val="0F172A"/>
                </a:solidFill>
                <a:latin typeface="Segoe UI"/>
              </a:defRPr>
            </a:pPr>
            <a:r>
              <a:rPr sz="1400" b="0">
                <a:solidFill>
                  <a:srgbClr val="0F172A"/>
                </a:solidFill>
                <a:latin typeface="Segoe UI"/>
              </a:rPr>
              <a:t>• Diseñar un permutation test bilateral con scipy.stats.permutation_test((a, b), statistic, n_resamples=10_000, alternative='two-sided').</a:t>
            </a:r>
          </a:p>
          <a:p>
            <a:pPr>
              <a:spcAft>
                <a:spcPts val="800"/>
              </a:spcAft>
              <a:defRPr sz="1400" b="0">
                <a:solidFill>
                  <a:srgbClr val="0F172A"/>
                </a:solidFill>
                <a:latin typeface="Segoe UI"/>
              </a:defRPr>
            </a:pPr>
            <a:r>
              <a:rPr sz="1400" b="0">
                <a:solidFill>
                  <a:srgbClr val="0F172A"/>
                </a:solidFill>
                <a:latin typeface="Segoe UI"/>
              </a:rPr>
              <a:t>• Saber cuándo usar bootstrap (IC de estadísticos no estándar: mediana, R², AUC) vs permutación (p-value de comparación entre grupos sin supuestos).</a:t>
            </a:r>
          </a:p>
          <a:p>
            <a:pPr>
              <a:spcAft>
                <a:spcPts val="800"/>
              </a:spcAft>
              <a:defRPr sz="1400" b="0">
                <a:solidFill>
                  <a:srgbClr val="0F172A"/>
                </a:solidFill>
                <a:latin typeface="Segoe UI"/>
              </a:defRPr>
            </a:pPr>
            <a:r>
              <a:rPr sz="1400" b="0">
                <a:solidFill>
                  <a:srgbClr val="0F172A"/>
                </a:solidFill>
                <a:latin typeface="Segoe UI"/>
              </a:rPr>
              <a:t>• Reconocer las limitaciones del bootstrap (muestra muy chica n&lt;20, dependencia temporal — usar block bootstrap).</a:t>
            </a:r>
          </a:p>
        </p:txBody>
      </p:sp>
    </p:spTree>
  </p:cSld>
  <p:clrMapOvr>
    <a:masterClrMapping/>
  </p:clrMapOvr>
</p:sld>
</file>

<file path=ppt/slides/slide9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183 — Bootstrap y permutation tests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Intuición del bootstrap: "tratá la muestra como si fuera la población y resampleá".</a:t>
            </a:r>
          </a:p>
          <a:p>
            <a:pPr>
              <a:spcAft>
                <a:spcPts val="1000"/>
              </a:spcAft>
              <a:defRPr sz="1600" b="0">
                <a:solidFill>
                  <a:srgbClr val="0F172A"/>
                </a:solidFill>
                <a:latin typeface="Segoe UI"/>
              </a:defRPr>
            </a:pPr>
            <a:r>
              <a:rPr sz="1600" b="0">
                <a:solidFill>
                  <a:srgbClr val="0F172A"/>
                </a:solidFill>
                <a:latin typeface="Segoe UI"/>
              </a:rPr>
              <a:t>• Tres intervalos bootstrap: percentile, basic (reflejado), BCa (bias-corrected + accelerated).</a:t>
            </a:r>
          </a:p>
          <a:p>
            <a:pPr>
              <a:spcAft>
                <a:spcPts val="1000"/>
              </a:spcAft>
              <a:defRPr sz="1600" b="0">
                <a:solidFill>
                  <a:srgbClr val="0F172A"/>
                </a:solidFill>
                <a:latin typeface="Segoe UI"/>
              </a:defRPr>
            </a:pPr>
            <a:r>
              <a:rPr sz="1600" b="0">
                <a:solidFill>
                  <a:srgbClr val="0F172A"/>
                </a:solidFill>
                <a:latin typeface="Segoe UI"/>
              </a:rPr>
              <a:t>• ¿Cuántos resamples? B = 10_000 para IC95 % (los percentiles 2.5 y 97.5 se estabilizan).</a:t>
            </a:r>
          </a:p>
          <a:p>
            <a:pPr>
              <a:spcAft>
                <a:spcPts val="1000"/>
              </a:spcAft>
              <a:defRPr sz="1600" b="0">
                <a:solidFill>
                  <a:srgbClr val="0F172A"/>
                </a:solidFill>
                <a:latin typeface="Segoe UI"/>
              </a:defRPr>
            </a:pPr>
            <a:r>
              <a:rPr sz="1600" b="0">
                <a:solidFill>
                  <a:srgbClr val="0F172A"/>
                </a:solidFill>
                <a:latin typeface="Segoe UI"/>
              </a:rPr>
              <a:t>• Permutation test: intercambiar etiquetas de tratamiento bajo H₀ de "no diferencia".</a:t>
            </a:r>
          </a:p>
          <a:p>
            <a:pPr>
              <a:spcAft>
                <a:spcPts val="1000"/>
              </a:spcAft>
              <a:defRPr sz="1600" b="0">
                <a:solidFill>
                  <a:srgbClr val="0F172A"/>
                </a:solidFill>
                <a:latin typeface="Segoe UI"/>
              </a:defRPr>
            </a:pPr>
            <a:r>
              <a:rPr sz="1600" b="0">
                <a:solidFill>
                  <a:srgbClr val="0F172A"/>
                </a:solidFill>
                <a:latin typeface="Segoe UI"/>
              </a:rPr>
              <a:t>• Diferencia conceptual: bootstrap estima variabilidad del estadístico; permutación produce un p-value exacto condicional a los datos.</a:t>
            </a:r>
          </a:p>
          <a:p>
            <a:pPr>
              <a:spcAft>
                <a:spcPts val="1000"/>
              </a:spcAft>
              <a:defRPr sz="1600" b="0">
                <a:solidFill>
                  <a:srgbClr val="0F172A"/>
                </a:solidFill>
                <a:latin typeface="Segoe UI"/>
              </a:defRPr>
            </a:pPr>
            <a:r>
              <a:rPr sz="1600" b="0">
                <a:solidFill>
                  <a:srgbClr val="0F172A"/>
                </a:solidFill>
                <a:latin typeface="Segoe UI"/>
              </a:rPr>
              <a:t>• Block bootstrap para series temporales (preserva autocorrelación).</a:t>
            </a:r>
          </a:p>
          <a:p>
            <a:pPr>
              <a:spcAft>
                <a:spcPts val="1000"/>
              </a:spcAft>
              <a:defRPr sz="1600" b="0">
                <a:solidFill>
                  <a:srgbClr val="0F172A"/>
                </a:solidFill>
                <a:latin typeface="Segoe UI"/>
              </a:defRPr>
            </a:pPr>
            <a:r>
              <a:rPr sz="1600" b="0">
                <a:solidFill>
                  <a:srgbClr val="0F172A"/>
                </a:solidFill>
                <a:latin typeface="Segoe UI"/>
              </a:rPr>
              <a:t>• Complemento moderno: APIs scipy.stats.bootstrap y permutation_test desde scipy 1.9, vectorizadas y con BCa por default.</a:t>
            </a:r>
          </a:p>
        </p:txBody>
      </p:sp>
    </p:spTree>
  </p:cSld>
  <p:clrMapOvr>
    <a:masterClrMapping/>
  </p:clrMapOvr>
</p:sld>
</file>

<file path=ppt/slides/slide9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183 — Bootstrap y permutation tests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 resamples con reemplazo del mismo tamaño; se toman los cuantiles 2.5 % y 97.5 %.</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tip = rng.gamma(shape=2.0, scale=1.5, size=200)   # asimétrico positivo</a:t>
            </a:r>
          </a:p>
          <a:p>
            <a:pPr>
              <a:defRPr sz="1200" b="0">
                <a:solidFill>
                  <a:srgbClr val="F8FAFC"/>
                </a:solidFill>
                <a:latin typeface="Courier New"/>
              </a:defRPr>
            </a:pPr>
            <a:r>
              <a:rPr sz="1200" b="0">
                <a:solidFill>
                  <a:srgbClr val="F8FAFC"/>
                </a:solidFill>
                <a:latin typeface="Courier New"/>
              </a:rPr>
              <a:t>B = 10_000</a:t>
            </a:r>
          </a:p>
          <a:p>
            <a:pPr>
              <a:defRPr sz="1200" b="0">
                <a:solidFill>
                  <a:srgbClr val="F8FAFC"/>
                </a:solidFill>
                <a:latin typeface="Courier New"/>
              </a:defRPr>
            </a:pPr>
            <a:r>
              <a:rPr sz="1200" b="0">
                <a:solidFill>
                  <a:srgbClr val="F8FAFC"/>
                </a:solidFill>
                <a:latin typeface="Courier New"/>
              </a:rPr>
              <a:t>boot_means = np.array([rng.choice(tip, size=len(tip), replace=True).mean() for _ in range(B)])</a:t>
            </a:r>
          </a:p>
          <a:p>
            <a:pPr>
              <a:defRPr sz="1200" b="0">
                <a:solidFill>
                  <a:srgbClr val="F8FAFC"/>
                </a:solidFill>
                <a:latin typeface="Courier New"/>
              </a:defRPr>
            </a:pPr>
            <a:r>
              <a:rPr sz="1200" b="0">
                <a:solidFill>
                  <a:srgbClr val="F8FAFC"/>
                </a:solidFill>
                <a:latin typeface="Courier New"/>
              </a:rPr>
              <a:t>lo, hi = np.percentile(boot_means, [2.5, 97.5])</a:t>
            </a:r>
          </a:p>
          <a:p>
            <a:pPr>
              <a:defRPr sz="1200" b="0">
                <a:solidFill>
                  <a:srgbClr val="F8FAFC"/>
                </a:solidFill>
                <a:latin typeface="Courier New"/>
              </a:defRPr>
            </a:pPr>
            <a:r>
              <a:rPr sz="1200" b="0">
                <a:solidFill>
                  <a:srgbClr val="F8FAFC"/>
                </a:solidFill>
                <a:latin typeface="Courier New"/>
              </a:rPr>
              <a:t>sp = stats.bootstrap((tip,), np.mean, n_resamples=B, method="percentile", random_state=rng)</a:t>
            </a:r>
          </a:p>
          <a:p>
            <a:pPr>
              <a:defRPr sz="1200" b="0">
                <a:solidFill>
                  <a:srgbClr val="F8FAFC"/>
                </a:solidFill>
                <a:latin typeface="Courier New"/>
              </a:defRPr>
            </a:pPr>
            <a:r>
              <a:rPr sz="1200" b="0">
                <a:solidFill>
                  <a:srgbClr val="F8FAFC"/>
                </a:solidFill>
                <a:latin typeface="Courier New"/>
              </a:rPr>
              <a:t>print(f"manual  IC95% = ({lo:.3f}, {hi:.3f})")</a:t>
            </a:r>
          </a:p>
          <a:p>
            <a:pPr>
              <a:defRPr sz="1200" b="0">
                <a:solidFill>
                  <a:srgbClr val="F8FAFC"/>
                </a:solidFill>
                <a:latin typeface="Courier New"/>
              </a:defRPr>
            </a:pPr>
            <a:r>
              <a:rPr sz="1200" b="0">
                <a:solidFill>
                  <a:srgbClr val="F8FAFC"/>
                </a:solidFill>
                <a:latin typeface="Courier New"/>
              </a:rPr>
              <a:t>print(f"scipy   IC95% = ({sp.confidence_interval.low:.3f}, {sp.confidence_interval.high:.3f})")</a:t>
            </a:r>
          </a:p>
          <a:p>
            <a:pPr>
              <a:defRPr sz="1200" b="0">
                <a:solidFill>
                  <a:srgbClr val="F8FAFC"/>
                </a:solidFill>
                <a:latin typeface="Courier New"/>
              </a:defRPr>
            </a:pPr>
            <a:r>
              <a:rPr sz="1200" b="0">
                <a:solidFill>
                  <a:srgbClr val="F8FAFC"/>
                </a:solidFill>
                <a:latin typeface="Courier New"/>
              </a:rPr>
              <a:t>assert abs(lo - sp.confidence_interval.low) &lt; 0.1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plt.figure(figsize=(6, 4))</a:t>
            </a:r>
          </a:p>
          <a:p>
            <a:pPr>
              <a:defRPr sz="1200" b="0">
                <a:solidFill>
                  <a:srgbClr val="F8FAFC"/>
                </a:solidFill>
                <a:latin typeface="Courier New"/>
              </a:defRPr>
            </a:pPr>
            <a:r>
              <a:rPr sz="1200" b="0">
                <a:solidFill>
                  <a:srgbClr val="F8FAFC"/>
                </a:solidFill>
                <a:latin typeface="Courier New"/>
              </a:rPr>
              <a:t>plt.hist(boot_means, bins=50, color="darkorange", alpha=0.7)</a:t>
            </a:r>
          </a:p>
          <a:p>
            <a:pPr>
              <a:defRPr sz="1200" b="0">
                <a:solidFill>
                  <a:srgbClr val="F8FAFC"/>
                </a:solidFill>
                <a:latin typeface="Courier New"/>
              </a:defRPr>
            </a:pPr>
            <a:r>
              <a:rPr sz="1200" b="0">
                <a:solidFill>
                  <a:srgbClr val="F8FAFC"/>
                </a:solidFill>
                <a:latin typeface="Courier New"/>
              </a:rPr>
              <a:t>plt.axvline(lo, color="k", ls="--"); plt.axvline(hi, color="k", ls="--")</a:t>
            </a:r>
          </a:p>
          <a:p>
            <a:pPr>
              <a:defRPr sz="1200" b="0">
                <a:solidFill>
                  <a:srgbClr val="F8FAFC"/>
                </a:solidFill>
                <a:latin typeface="Courier New"/>
              </a:defRPr>
            </a:pPr>
            <a:r>
              <a:rPr sz="1200" b="0">
                <a:solidFill>
                  <a:srgbClr val="F8FAFC"/>
                </a:solidFill>
                <a:latin typeface="Courier New"/>
              </a:rPr>
              <a:t>plt.title("Distribución bootstrap de la media (IC95% percentil)")</a:t>
            </a:r>
          </a:p>
          <a:p>
            <a:pPr>
              <a:defRPr sz="1200" b="0">
                <a:solidFill>
                  <a:srgbClr val="F8FAFC"/>
                </a:solidFill>
                <a:latin typeface="Courier New"/>
              </a:defRPr>
            </a:pPr>
            <a:r>
              <a:rPr sz="1200" b="0">
                <a:solidFill>
                  <a:srgbClr val="F8FAFC"/>
                </a:solidFill>
                <a:latin typeface="Courier New"/>
              </a:rPr>
              <a:t>plt.tight_layout(); plt.show()</a:t>
            </a:r>
          </a:p>
        </p:txBody>
      </p:sp>
    </p:spTree>
  </p:cSld>
  <p:clrMapOvr>
    <a:masterClrMapping/>
  </p:clrMapOvr>
</p:sld>
</file>

<file path=ppt/slides/slide9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183 — Bootstrap y permutation tests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Bootstrap a mano: para tips.tip, hacé B=10_000 resamples con rng.choice(x, size=len(x), replace=True), calculá la media, sacá los cuantiles 2.5 y 97.5.</a:t>
            </a:r>
          </a:p>
          <a:p>
            <a:pPr>
              <a:spcAft>
                <a:spcPts val="800"/>
              </a:spcAft>
              <a:defRPr sz="1400" b="0">
                <a:solidFill>
                  <a:srgbClr val="0F172A"/>
                </a:solidFill>
                <a:latin typeface="Segoe UI"/>
              </a:defRPr>
            </a:pPr>
            <a:r>
              <a:rPr sz="1400" b="0">
                <a:solidFill>
                  <a:srgbClr val="0F172A"/>
                </a:solidFill>
                <a:latin typeface="Segoe UI"/>
              </a:rPr>
              <a:t>• BCa vs percentile: con datos lognormales rng.lognormal(0, 1, 50), calculá IC de la mediana con method='percentile' y con method='BCa'.</a:t>
            </a:r>
          </a:p>
          <a:p>
            <a:pPr>
              <a:spcAft>
                <a:spcPts val="800"/>
              </a:spcAft>
              <a:defRPr sz="1400" b="0">
                <a:solidFill>
                  <a:srgbClr val="0F172A"/>
                </a:solidFill>
                <a:latin typeface="Segoe UI"/>
              </a:defRPr>
            </a:pPr>
            <a:r>
              <a:rPr sz="1400" b="0">
                <a:solidFill>
                  <a:srgbClr val="0F172A"/>
                </a:solidFill>
                <a:latin typeface="Segoe UI"/>
              </a:rPr>
              <a:t>• IC para AUC: entrenar un LogisticRegression en breast cancer, calcular AUC en test.</a:t>
            </a:r>
          </a:p>
          <a:p>
            <a:pPr>
              <a:spcAft>
                <a:spcPts val="800"/>
              </a:spcAft>
              <a:defRPr sz="1400" b="0">
                <a:solidFill>
                  <a:srgbClr val="0F172A"/>
                </a:solidFill>
                <a:latin typeface="Segoe UI"/>
              </a:defRPr>
            </a:pPr>
            <a:r>
              <a:rPr sz="1400" b="0">
                <a:solidFill>
                  <a:srgbClr val="0F172A"/>
                </a:solidFill>
                <a:latin typeface="Segoe UI"/>
              </a:rPr>
              <a:t>• Permutation test bilateral: con tips.tip por sex, ejecutá scipy.stats.permutation_test y comparalo con el mannwhitneyu de la Clase 150.</a:t>
            </a:r>
          </a:p>
          <a:p>
            <a:pPr>
              <a:spcAft>
                <a:spcPts val="800"/>
              </a:spcAft>
              <a:defRPr sz="1400" b="0">
                <a:solidFill>
                  <a:srgbClr val="0F172A"/>
                </a:solidFill>
                <a:latin typeface="Segoe UI"/>
              </a:defRPr>
            </a:pPr>
            <a:r>
              <a:rPr sz="1400" b="0">
                <a:solidFill>
                  <a:srgbClr val="0F172A"/>
                </a:solidFill>
                <a:latin typeface="Segoe UI"/>
              </a:rPr>
              <a:t>• Cobertura: simulá 1 000 datasets de Exp(1) con n=25.</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Bootstrap BCa (B=10 000) para la mediana de price global.</a:t>
            </a:r>
          </a:p>
          <a:p>
            <a:pPr>
              <a:spcAft>
                <a:spcPts val="800"/>
              </a:spcAft>
              <a:defRPr sz="1400" b="0">
                <a:solidFill>
                  <a:srgbClr val="0F172A"/>
                </a:solidFill>
                <a:latin typeface="Segoe UI"/>
              </a:defRPr>
            </a:pPr>
            <a:r>
              <a:rPr sz="1400" b="0">
                <a:solidFill>
                  <a:srgbClr val="0F172A"/>
                </a:solidFill>
                <a:latin typeface="Segoe UI"/>
              </a:rPr>
              <a:t>• Bootstrap BCa para la diferencia de medianas entre cut='Ideal' y cut='Fair'.</a:t>
            </a:r>
          </a:p>
          <a:p>
            <a:pPr>
              <a:spcAft>
                <a:spcPts val="800"/>
              </a:spcAft>
              <a:defRPr sz="1400" b="0">
                <a:solidFill>
                  <a:srgbClr val="0F172A"/>
                </a:solidFill>
                <a:latin typeface="Segoe UI"/>
              </a:defRPr>
            </a:pPr>
            <a:r>
              <a:rPr sz="1400" b="0">
                <a:solidFill>
                  <a:srgbClr val="0F172A"/>
                </a:solidFill>
                <a:latin typeface="Segoe UI"/>
              </a:rPr>
              <a:t>• Permutation test sobre la misma diferencia, p-value.</a:t>
            </a:r>
          </a:p>
          <a:p>
            <a:pPr>
              <a:spcAft>
                <a:spcPts val="800"/>
              </a:spcAft>
              <a:defRPr sz="1400" b="0">
                <a:solidFill>
                  <a:srgbClr val="0F172A"/>
                </a:solidFill>
                <a:latin typeface="Segoe UI"/>
              </a:defRPr>
            </a:pPr>
            <a:r>
              <a:rPr sz="1400" b="0">
                <a:solidFill>
                  <a:srgbClr val="0F172A"/>
                </a:solidFill>
                <a:latin typeface="Segoe UI"/>
              </a:rPr>
              <a:t>• Reportar mediana ± IC95 % BCa por categoría de cut (un gráfico con 5 puntos + bigotes).</a:t>
            </a:r>
          </a:p>
          <a:p>
            <a:pPr>
              <a:spcAft>
                <a:spcPts val="800"/>
              </a:spcAft>
              <a:defRPr sz="1400" b="0">
                <a:solidFill>
                  <a:srgbClr val="0F172A"/>
                </a:solidFill>
                <a:latin typeface="Segoe UI"/>
              </a:defRPr>
            </a:pPr>
            <a:r>
              <a:rPr sz="1400" b="0">
                <a:solidFill>
                  <a:srgbClr val="0F172A"/>
                </a:solidFill>
                <a:latin typeface="Segoe UI"/>
              </a:rPr>
              <a:t>• Conclusión en 4 líneas: relacionar el p-value de permutación con el hecho de que el IC de la diferencia no incluye 0.</a:t>
            </a:r>
          </a:p>
        </p:txBody>
      </p:sp>
    </p:spTree>
  </p:cSld>
  <p:clrMapOvr>
    <a:masterClrMapping/>
  </p:clrMapOvr>
</p:sld>
</file>

<file path=ppt/slides/slide92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184 — BCa bootstrap y APIs modernas de scipy</a:t>
            </a:r>
          </a:p>
        </p:txBody>
      </p:sp>
    </p:spTree>
  </p:cSld>
  <p:clrMapOvr>
    <a:masterClrMapping/>
  </p:clrMapOvr>
</p:sld>
</file>

<file path=ppt/slides/slide9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184 — BCa bootstrap y APIs modernas de scipy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Efron (1987) BCa + DiCiccio &amp; Efron (1996) + scipy.stats.bootstrap docs.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Profundizar el BCa (Bias-Corrected and accelerated) bootstrap —el default moderno (Efron 1987)— y las APIs modernas de scipy (scipy.stats.bootstrap ≥ 1.9, scipy.stats.permutation_test ≥ 1.8). Cubrir las correcciones que BCa hace sobre percentile clásico: bias correction (z₀) y acceleration (a) vía jackknife.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bootstrap percentile vs basic vs BCa.</a:t>
            </a:r>
          </a:p>
          <a:p>
            <a:pPr>
              <a:spcAft>
                <a:spcPts val="800"/>
              </a:spcAft>
              <a:defRPr sz="1400" b="0">
                <a:solidFill>
                  <a:srgbClr val="0F172A"/>
                </a:solidFill>
                <a:latin typeface="Segoe UI"/>
              </a:defRPr>
            </a:pPr>
            <a:r>
              <a:rPr sz="1400" b="0">
                <a:solidFill>
                  <a:srgbClr val="0F172A"/>
                </a:solidFill>
                <a:latin typeface="Segoe UI"/>
              </a:rPr>
              <a:t>• Calcular z₀ (bias correction) y a (acceleration) manualmente.</a:t>
            </a:r>
          </a:p>
          <a:p>
            <a:pPr>
              <a:spcAft>
                <a:spcPts val="800"/>
              </a:spcAft>
              <a:defRPr sz="1400" b="0">
                <a:solidFill>
                  <a:srgbClr val="0F172A"/>
                </a:solidFill>
                <a:latin typeface="Segoe UI"/>
              </a:defRPr>
            </a:pPr>
            <a:r>
              <a:rPr sz="1400" b="0">
                <a:solidFill>
                  <a:srgbClr val="0F172A"/>
                </a:solidFill>
                <a:latin typeface="Segoe UI"/>
              </a:rPr>
              <a:t>• Aplicar scipy.stats.bootstrap((data,), statistic, method='BCa', n_resamples=10_000).</a:t>
            </a:r>
          </a:p>
          <a:p>
            <a:pPr>
              <a:spcAft>
                <a:spcPts val="800"/>
              </a:spcAft>
              <a:defRPr sz="1400" b="0">
                <a:solidFill>
                  <a:srgbClr val="0F172A"/>
                </a:solidFill>
                <a:latin typeface="Segoe UI"/>
              </a:defRPr>
            </a:pPr>
            <a:r>
              <a:rPr sz="1400" b="0">
                <a:solidFill>
                  <a:srgbClr val="0F172A"/>
                </a:solidFill>
                <a:latin typeface="Segoe UI"/>
              </a:rPr>
              <a:t>• Aplicar permutation_test para p-value de comparación de 2 grupos sin paramétrica.</a:t>
            </a:r>
          </a:p>
          <a:p>
            <a:pPr>
              <a:spcAft>
                <a:spcPts val="800"/>
              </a:spcAft>
              <a:defRPr sz="1400" b="0">
                <a:solidFill>
                  <a:srgbClr val="0F172A"/>
                </a:solidFill>
                <a:latin typeface="Segoe UI"/>
              </a:defRPr>
            </a:pPr>
            <a:r>
              <a:rPr sz="1400" b="0">
                <a:solidFill>
                  <a:srgbClr val="0F172A"/>
                </a:solidFill>
                <a:latin typeface="Segoe UI"/>
              </a:rPr>
              <a:t>• Reconocer cuándo BCa importa: estadísticos no lineales, distribuciones asimétricas.</a:t>
            </a:r>
          </a:p>
        </p:txBody>
      </p:sp>
    </p:spTree>
  </p:cSld>
  <p:clrMapOvr>
    <a:masterClrMapping/>
  </p:clrMapOvr>
</p:sld>
</file>

<file path=ppt/slides/slide9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184 — BCa bootstrap y APIs modernas de scipy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Percentile bootstrap: cuantiles directos. Sub-cubre con asimetría.</a:t>
            </a:r>
          </a:p>
          <a:p>
            <a:pPr>
              <a:spcAft>
                <a:spcPts val="1000"/>
              </a:spcAft>
              <a:defRPr sz="1600" b="0">
                <a:solidFill>
                  <a:srgbClr val="0F172A"/>
                </a:solidFill>
                <a:latin typeface="Segoe UI"/>
              </a:defRPr>
            </a:pPr>
            <a:r>
              <a:rPr sz="1600" b="0">
                <a:solidFill>
                  <a:srgbClr val="0F172A"/>
                </a:solidFill>
                <a:latin typeface="Segoe UI"/>
              </a:rPr>
              <a:t>• Basic bootstrap: reflexión 2θ̂ - q_{1-α/2}.</a:t>
            </a:r>
          </a:p>
          <a:p>
            <a:pPr>
              <a:spcAft>
                <a:spcPts val="1000"/>
              </a:spcAft>
              <a:defRPr sz="1600" b="0">
                <a:solidFill>
                  <a:srgbClr val="0F172A"/>
                </a:solidFill>
                <a:latin typeface="Segoe UI"/>
              </a:defRPr>
            </a:pPr>
            <a:r>
              <a:rPr sz="1600" b="0">
                <a:solidFill>
                  <a:srgbClr val="0F172A"/>
                </a:solidFill>
                <a:latin typeface="Segoe UI"/>
              </a:rPr>
              <a:t>• BCa: corrige bias (z₀) y aceleración (a vía jackknife).</a:t>
            </a:r>
          </a:p>
          <a:p>
            <a:pPr>
              <a:spcAft>
                <a:spcPts val="1000"/>
              </a:spcAft>
              <a:defRPr sz="1600" b="0">
                <a:solidFill>
                  <a:srgbClr val="0F172A"/>
                </a:solidFill>
                <a:latin typeface="Segoe UI"/>
              </a:defRPr>
            </a:pPr>
            <a:r>
              <a:rPr sz="1600" b="0">
                <a:solidFill>
                  <a:srgbClr val="0F172A"/>
                </a:solidFill>
                <a:latin typeface="Segoe UI"/>
              </a:rPr>
              <a:t>• Studentized bootstrap: estandariza con SE bootstrap del SE.</a:t>
            </a:r>
          </a:p>
          <a:p>
            <a:pPr>
              <a:spcAft>
                <a:spcPts val="1000"/>
              </a:spcAft>
              <a:defRPr sz="1600" b="0">
                <a:solidFill>
                  <a:srgbClr val="0F172A"/>
                </a:solidFill>
                <a:latin typeface="Segoe UI"/>
              </a:defRPr>
            </a:pPr>
            <a:r>
              <a:rPr sz="1600" b="0">
                <a:solidFill>
                  <a:srgbClr val="0F172A"/>
                </a:solidFill>
                <a:latin typeface="Segoe UI"/>
              </a:rPr>
              <a:t>• Scipy.stats.bootstrap API.</a:t>
            </a:r>
          </a:p>
          <a:p>
            <a:pPr>
              <a:spcAft>
                <a:spcPts val="1000"/>
              </a:spcAft>
              <a:defRPr sz="1600" b="0">
                <a:solidFill>
                  <a:srgbClr val="0F172A"/>
                </a:solidFill>
                <a:latin typeface="Segoe UI"/>
              </a:defRPr>
            </a:pPr>
            <a:r>
              <a:rPr sz="1600" b="0">
                <a:solidFill>
                  <a:srgbClr val="0F172A"/>
                </a:solidFill>
                <a:latin typeface="Segoe UI"/>
              </a:rPr>
              <a:t>• Permutation test exacto.</a:t>
            </a:r>
          </a:p>
        </p:txBody>
      </p:sp>
    </p:spTree>
  </p:cSld>
  <p:clrMapOvr>
    <a:masterClrMapping/>
  </p:clrMapOvr>
</p:sld>
</file>

<file path=ppt/slides/slide9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184 — BCa bootstrap y APIs modernas de scipy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BCa (bias-corrected accelerated) corrige sesgo y asimetría del bootstrap percentil. Permutation test = inferencia exacta sin asumir distribución. Requiere: pip install numpy scipy.</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Distribución sesgada (lognormal) — donde percentil bootstrap subperforma</a:t>
            </a:r>
          </a:p>
          <a:p>
            <a:pPr>
              <a:defRPr sz="1200" b="0">
                <a:solidFill>
                  <a:srgbClr val="F8FAFC"/>
                </a:solidFill>
                <a:latin typeface="Courier New"/>
              </a:defRPr>
            </a:pPr>
            <a:r>
              <a:rPr sz="1200" b="0">
                <a:solidFill>
                  <a:srgbClr val="F8FAFC"/>
                </a:solidFill>
                <a:latin typeface="Courier New"/>
              </a:rPr>
              <a:t>data = rng.lognormal(mean=1.0, sigma=0.6, size=80)</a:t>
            </a:r>
          </a:p>
          <a:p>
            <a:pPr>
              <a:defRPr sz="1200" b="0">
                <a:solidFill>
                  <a:srgbClr val="F8FAFC"/>
                </a:solidFill>
                <a:latin typeface="Courier New"/>
              </a:defRPr>
            </a:pPr>
            <a:r>
              <a:rPr sz="1200" b="0">
                <a:solidFill>
                  <a:srgbClr val="F8FAFC"/>
                </a:solidFill>
                <a:latin typeface="Courier New"/>
              </a:rPr>
              <a:t>true_mean = np.exp(1.0 + 0.6**2/2)  # E[lognormal]</a:t>
            </a:r>
          </a:p>
          <a:p>
            <a:pPr>
              <a:defRPr sz="1200" b="0">
                <a:solidFill>
                  <a:srgbClr val="F8FAFC"/>
                </a:solidFill>
                <a:latin typeface="Courier New"/>
              </a:defRPr>
            </a:pPr>
            <a:r>
              <a:rPr sz="1200" b="0">
                <a:solidFill>
                  <a:srgbClr val="F8FAFC"/>
                </a:solidFill>
                <a:latin typeface="Courier New"/>
              </a:rPr>
              <a:t>print(f'sample mean = {data.mean():.3f}  |  true mean = {true_mean:.3f}')</a:t>
            </a:r>
          </a:p>
        </p:txBody>
      </p:sp>
    </p:spTree>
  </p:cSld>
  <p:clrMapOvr>
    <a:masterClrMapping/>
  </p:clrMapOvr>
</p:sld>
</file>

<file path=ppt/slides/slide9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184 — BCa bootstrap y APIs modernas de scipy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Tres ICs: para mediana de x = rng.lognormal(0, 1, 100), calcular IC con percentile, basic, BCa.</a:t>
            </a:r>
          </a:p>
          <a:p>
            <a:pPr>
              <a:spcAft>
                <a:spcPts val="800"/>
              </a:spcAft>
              <a:defRPr sz="1400" b="0">
                <a:solidFill>
                  <a:srgbClr val="0F172A"/>
                </a:solidFill>
                <a:latin typeface="Segoe UI"/>
              </a:defRPr>
            </a:pPr>
            <a:r>
              <a:rPr sz="1400" b="0">
                <a:solidFill>
                  <a:srgbClr val="0F172A"/>
                </a:solidFill>
                <a:latin typeface="Segoe UI"/>
              </a:rPr>
              <a:t>• z₀ a mano: implementar z₀ = ppf((B_below_θ̂) / B).</a:t>
            </a:r>
          </a:p>
          <a:p>
            <a:pPr>
              <a:spcAft>
                <a:spcPts val="800"/>
              </a:spcAft>
              <a:defRPr sz="1400" b="0">
                <a:solidFill>
                  <a:srgbClr val="0F172A"/>
                </a:solidFill>
                <a:latin typeface="Segoe UI"/>
              </a:defRPr>
            </a:pPr>
            <a:r>
              <a:rPr sz="1400" b="0">
                <a:solidFill>
                  <a:srgbClr val="0F172A"/>
                </a:solidFill>
                <a:latin typeface="Segoe UI"/>
              </a:rPr>
              <a:t>• a con jackknife: implementar leave-one-out para cada θ̂_(i).</a:t>
            </a:r>
          </a:p>
          <a:p>
            <a:pPr>
              <a:spcAft>
                <a:spcPts val="800"/>
              </a:spcAft>
              <a:defRPr sz="1400" b="0">
                <a:solidFill>
                  <a:srgbClr val="0F172A"/>
                </a:solidFill>
                <a:latin typeface="Segoe UI"/>
              </a:defRPr>
            </a:pPr>
            <a:r>
              <a:rPr sz="1400" b="0">
                <a:solidFill>
                  <a:srgbClr val="0F172A"/>
                </a:solidFill>
                <a:latin typeface="Segoe UI"/>
              </a:rPr>
              <a:t>• Cobertura empírica: 1000 datasets Exp(1), n=25; cobertura percentile vs BCa.</a:t>
            </a:r>
          </a:p>
          <a:p>
            <a:pPr>
              <a:spcAft>
                <a:spcPts val="800"/>
              </a:spcAft>
              <a:defRPr sz="1400" b="0">
                <a:solidFill>
                  <a:srgbClr val="0F172A"/>
                </a:solidFill>
                <a:latin typeface="Segoe UI"/>
              </a:defRPr>
            </a:pPr>
            <a:r>
              <a:rPr sz="1400" b="0">
                <a:solidFill>
                  <a:srgbClr val="0F172A"/>
                </a:solidFill>
                <a:latin typeface="Segoe UI"/>
              </a:rPr>
              <a:t>• Permutation_test: comparar dos lognormales con tamaño efecto chico.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LogisticRegression en breast cancer. AUC en test.</a:t>
            </a:r>
          </a:p>
          <a:p>
            <a:pPr>
              <a:spcAft>
                <a:spcPts val="800"/>
              </a:spcAft>
              <a:defRPr sz="1500" b="0">
                <a:solidFill>
                  <a:srgbClr val="0F172A"/>
                </a:solidFill>
                <a:latin typeface="Segoe UI"/>
              </a:defRPr>
            </a:pPr>
            <a:r>
              <a:rPr sz="1500" b="0">
                <a:solidFill>
                  <a:srgbClr val="0F172A"/>
                </a:solidFill>
                <a:latin typeface="Segoe UI"/>
              </a:rPr>
              <a:t>• Bootstrap BCa de (y_test, y_proba): 5000 resamples.</a:t>
            </a:r>
          </a:p>
          <a:p>
            <a:pPr>
              <a:spcAft>
                <a:spcPts val="800"/>
              </a:spcAft>
              <a:defRPr sz="1500" b="0">
                <a:solidFill>
                  <a:srgbClr val="0F172A"/>
                </a:solidFill>
                <a:latin typeface="Segoe UI"/>
              </a:defRPr>
            </a:pPr>
            <a:r>
              <a:rPr sz="1500" b="0">
                <a:solidFill>
                  <a:srgbClr val="0F172A"/>
                </a:solidFill>
                <a:latin typeface="Segoe UI"/>
              </a:rPr>
              <a:t>• Reportar AUC [BCa 95% CI].</a:t>
            </a:r>
          </a:p>
          <a:p>
            <a:pPr>
              <a:spcAft>
                <a:spcPts val="800"/>
              </a:spcAft>
              <a:defRPr sz="1500" b="0">
                <a:solidFill>
                  <a:srgbClr val="0F172A"/>
                </a:solidFill>
                <a:latin typeface="Segoe UI"/>
              </a:defRPr>
            </a:pPr>
            <a:r>
              <a:rPr sz="1500" b="0">
                <a:solidFill>
                  <a:srgbClr val="0F172A"/>
                </a:solidFill>
                <a:latin typeface="Segoe UI"/>
              </a:rPr>
              <a:t>• Comparar con percentile bootstrap (más estrecho, sub-cubre).</a:t>
            </a:r>
          </a:p>
        </p:txBody>
      </p:sp>
    </p:spTree>
  </p:cSld>
  <p:clrMapOvr>
    <a:masterClrMapping/>
  </p:clrMapOvr>
</p:sld>
</file>

<file path=ppt/slides/slide92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185 — A/B testing: tamaño de muestra, poder estadístico</a:t>
            </a:r>
          </a:p>
        </p:txBody>
      </p:sp>
    </p:spTree>
  </p:cSld>
  <p:clrMapOvr>
    <a:masterClrMapping/>
  </p:clrMapOvr>
</p:sld>
</file>

<file path=ppt/slides/slide9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185 — A/B testing: tamaño de muestra, poder estadístico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Bruce &amp; Bruce, cap. 3 A/B Testing + Kohavi, Tang &amp; Xu, Trustworthy Online Controlled Experiments (2020).  Duración estimada: 90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Diseñar y analizar un A/B test end-to-end: definir hipótesis y métrica primaria, calcular tamaño de muestra con el poder estadístico deseado, randomizar correctamente, analizar resultados sin peeking y reportar con effect size + IC. Conocer tres herramientas modernas que reducen muestra requerida o eliminan el problema de peeking: CUPED, sequential testing (always-valid p-values) y A/B bayesiano.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Calcular n requerido con statsmodels.stats.power.TTestIndPower o NormalIndPower para una MDE (minimum detectable effect) dada, α y poder.</a:t>
            </a:r>
          </a:p>
          <a:p>
            <a:pPr>
              <a:spcAft>
                <a:spcPts val="800"/>
              </a:spcAft>
              <a:defRPr sz="1400" b="0">
                <a:solidFill>
                  <a:srgbClr val="0F172A"/>
                </a:solidFill>
                <a:latin typeface="Segoe UI"/>
              </a:defRPr>
            </a:pPr>
            <a:r>
              <a:rPr sz="1400" b="0">
                <a:solidFill>
                  <a:srgbClr val="0F172A"/>
                </a:solidFill>
                <a:latin typeface="Segoe UI"/>
              </a:rPr>
              <a:t>• Implementar el análisis: t-test (continua) o z-test de proporciones (binaria), con effect size + IC95 %.</a:t>
            </a:r>
          </a:p>
          <a:p>
            <a:pPr>
              <a:spcAft>
                <a:spcPts val="800"/>
              </a:spcAft>
              <a:defRPr sz="1400" b="0">
                <a:solidFill>
                  <a:srgbClr val="0F172A"/>
                </a:solidFill>
                <a:latin typeface="Segoe UI"/>
              </a:defRPr>
            </a:pPr>
            <a:r>
              <a:rPr sz="1400" b="0">
                <a:solidFill>
                  <a:srgbClr val="0F172A"/>
                </a:solidFill>
                <a:latin typeface="Segoe UI"/>
              </a:rPr>
              <a:t>• Identificar y evitar 5 errores clásicos: peeking, p-hacking, no estratificación, SRM (sample ratio mismatch), Simpson's paradox.</a:t>
            </a:r>
          </a:p>
          <a:p>
            <a:pPr>
              <a:spcAft>
                <a:spcPts val="800"/>
              </a:spcAft>
              <a:defRPr sz="1400" b="0">
                <a:solidFill>
                  <a:srgbClr val="0F172A"/>
                </a:solidFill>
                <a:latin typeface="Segoe UI"/>
              </a:defRPr>
            </a:pPr>
            <a:r>
              <a:rPr sz="1400" b="0">
                <a:solidFill>
                  <a:srgbClr val="0F172A"/>
                </a:solidFill>
                <a:latin typeface="Segoe UI"/>
              </a:rPr>
              <a:t>• Aplicar CUPED para reducir varianza usando una covariable pre-experimento.</a:t>
            </a:r>
          </a:p>
          <a:p>
            <a:pPr>
              <a:spcAft>
                <a:spcPts val="800"/>
              </a:spcAft>
              <a:defRPr sz="1400" b="0">
                <a:solidFill>
                  <a:srgbClr val="0F172A"/>
                </a:solidFill>
                <a:latin typeface="Segoe UI"/>
              </a:defRPr>
            </a:pPr>
            <a:r>
              <a:rPr sz="1400" b="0">
                <a:solidFill>
                  <a:srgbClr val="0F172A"/>
                </a:solidFill>
                <a:latin typeface="Segoe UI"/>
              </a:rPr>
              <a:t>• Diseñar un test secuencial con always-valid p-values (Howard et al. 2021) o GST (group sequential testing) que permita parar antes sin inflar α.</a:t>
            </a:r>
          </a:p>
        </p:txBody>
      </p:sp>
    </p:spTree>
  </p:cSld>
  <p:clrMapOvr>
    <a:masterClrMapping/>
  </p:clrMapOvr>
</p:sld>
</file>

<file path=ppt/slides/slide9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185 — A/B testing: tamaño de muestra, poder estadístico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Hipótesis nula vs alternativa en A/B; métrica primaria, guardrails (no degradar latencia, error rate).</a:t>
            </a:r>
          </a:p>
          <a:p>
            <a:pPr>
              <a:spcAft>
                <a:spcPts val="1000"/>
              </a:spcAft>
              <a:defRPr sz="1600" b="0">
                <a:solidFill>
                  <a:srgbClr val="0F172A"/>
                </a:solidFill>
                <a:latin typeface="Segoe UI"/>
              </a:defRPr>
            </a:pPr>
            <a:r>
              <a:rPr sz="1600" b="0">
                <a:solidFill>
                  <a:srgbClr val="0F172A"/>
                </a:solidFill>
                <a:latin typeface="Segoe UI"/>
              </a:rPr>
              <a:t>• Poder estadístico: P(rechazar H₀ | H₁ verdadera). Convención: 80 %.</a:t>
            </a:r>
          </a:p>
          <a:p>
            <a:pPr>
              <a:spcAft>
                <a:spcPts val="1000"/>
              </a:spcAft>
              <a:defRPr sz="1600" b="0">
                <a:solidFill>
                  <a:srgbClr val="0F172A"/>
                </a:solidFill>
                <a:latin typeface="Segoe UI"/>
              </a:defRPr>
            </a:pPr>
            <a:r>
              <a:rPr sz="1600" b="0">
                <a:solidFill>
                  <a:srgbClr val="0F172A"/>
                </a:solidFill>
                <a:latin typeface="Segoe UI"/>
              </a:rPr>
              <a:t>• Sample size: depende de α (0.05), poder (0.8), σ y MDE.</a:t>
            </a:r>
          </a:p>
          <a:p>
            <a:pPr>
              <a:spcAft>
                <a:spcPts val="1000"/>
              </a:spcAft>
              <a:defRPr sz="1600" b="0">
                <a:solidFill>
                  <a:srgbClr val="0F172A"/>
                </a:solidFill>
                <a:latin typeface="Segoe UI"/>
              </a:defRPr>
            </a:pPr>
            <a:r>
              <a:rPr sz="1600" b="0">
                <a:solidFill>
                  <a:srgbClr val="0F172A"/>
                </a:solidFill>
                <a:latin typeface="Segoe UI"/>
              </a:rPr>
              <a:t>• Aleatorización a nivel correcto (usuario vs sesión vs request).</a:t>
            </a:r>
          </a:p>
          <a:p>
            <a:pPr>
              <a:spcAft>
                <a:spcPts val="1000"/>
              </a:spcAft>
              <a:defRPr sz="1600" b="0">
                <a:solidFill>
                  <a:srgbClr val="0F172A"/>
                </a:solidFill>
                <a:latin typeface="Segoe UI"/>
              </a:defRPr>
            </a:pPr>
            <a:r>
              <a:rPr sz="1600" b="0">
                <a:solidFill>
                  <a:srgbClr val="0F172A"/>
                </a:solidFill>
                <a:latin typeface="Segoe UI"/>
              </a:rPr>
              <a:t>• Peeking problem: mirar el resultado intermedio e inflar α.</a:t>
            </a:r>
          </a:p>
          <a:p>
            <a:pPr>
              <a:spcAft>
                <a:spcPts val="1000"/>
              </a:spcAft>
              <a:defRPr sz="1600" b="0">
                <a:solidFill>
                  <a:srgbClr val="0F172A"/>
                </a:solidFill>
                <a:latin typeface="Segoe UI"/>
              </a:defRPr>
            </a:pPr>
            <a:r>
              <a:rPr sz="1600" b="0">
                <a:solidFill>
                  <a:srgbClr val="0F172A"/>
                </a:solidFill>
                <a:latin typeface="Segoe UI"/>
              </a:rPr>
              <a:t>• SRM (Sample Ratio Mismatch): si el ratio observado A/B se aleja del esperado 50/50, hay bug de asignación.</a:t>
            </a:r>
          </a:p>
          <a:p>
            <a:pPr>
              <a:spcAft>
                <a:spcPts val="1000"/>
              </a:spcAft>
              <a:defRPr sz="1600" b="0">
                <a:solidFill>
                  <a:srgbClr val="0F172A"/>
                </a:solidFill>
                <a:latin typeface="Segoe UI"/>
              </a:defRPr>
            </a:pPr>
            <a:r>
              <a:rPr sz="1600" b="0">
                <a:solidFill>
                  <a:srgbClr val="0F172A"/>
                </a:solidFill>
                <a:latin typeface="Segoe UI"/>
              </a:rPr>
              <a:t>• Simpson's paradox: la tendencia global se invierte al estratificar.</a:t>
            </a:r>
          </a:p>
        </p:txBody>
      </p:sp>
    </p:spTree>
  </p:cSld>
  <p:clrMapOvr>
    <a:masterClrMapping/>
  </p:clrMapOvr>
</p:sld>
</file>

<file path=ppt/slides/slide9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185 — A/B testing: tamaño de muestra, poder estadístico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n depende de α, poder (1-β) y del effect size. Para proporciones usamos Cohen's h y NormalIndPower.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from statsmodels.stats.power import NormalIndPower</a:t>
            </a:r>
          </a:p>
          <a:p>
            <a:pPr>
              <a:defRPr sz="1200" b="0">
                <a:solidFill>
                  <a:srgbClr val="F8FAFC"/>
                </a:solidFill>
                <a:latin typeface="Courier New"/>
              </a:defRPr>
            </a:pPr>
            <a:r>
              <a:rPr sz="1200" b="0">
                <a:solidFill>
                  <a:srgbClr val="F8FAFC"/>
                </a:solidFill>
                <a:latin typeface="Courier New"/>
              </a:rPr>
              <a:t>from statsmodels.stats.proportion import proportion_effectsize, proportions_ztest, confint_proportions_2indep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p0, p1 = 0.10, 0.11</a:t>
            </a:r>
          </a:p>
          <a:p>
            <a:pPr>
              <a:defRPr sz="1200" b="0">
                <a:solidFill>
                  <a:srgbClr val="F8FAFC"/>
                </a:solidFill>
                <a:latin typeface="Courier New"/>
              </a:defRPr>
            </a:pPr>
            <a:r>
              <a:rPr sz="1200" b="0">
                <a:solidFill>
                  <a:srgbClr val="F8FAFC"/>
                </a:solidFill>
                <a:latin typeface="Courier New"/>
              </a:rPr>
              <a:t>h = proportion_effectsize(p1, p0)   # Cohen's h</a:t>
            </a:r>
          </a:p>
          <a:p>
            <a:pPr>
              <a:defRPr sz="1200" b="0">
                <a:solidFill>
                  <a:srgbClr val="F8FAFC"/>
                </a:solidFill>
                <a:latin typeface="Courier New"/>
              </a:defRPr>
            </a:pPr>
            <a:r>
              <a:rPr sz="1200" b="0">
                <a:solidFill>
                  <a:srgbClr val="F8FAFC"/>
                </a:solidFill>
                <a:latin typeface="Courier New"/>
              </a:rPr>
              <a:t>n_req = NormalIndPower().solve_power(effect_size=h, alpha=0.05, power=0.8, alternative="two-sided")</a:t>
            </a:r>
          </a:p>
          <a:p>
            <a:pPr>
              <a:defRPr sz="1200" b="0">
                <a:solidFill>
                  <a:srgbClr val="F8FAFC"/>
                </a:solidFill>
                <a:latin typeface="Courier New"/>
              </a:defRPr>
            </a:pPr>
            <a:r>
              <a:rPr sz="1200" b="0">
                <a:solidFill>
                  <a:srgbClr val="F8FAFC"/>
                </a:solidFill>
                <a:latin typeface="Courier New"/>
              </a:rPr>
              <a:t>print(f"Cohen's h = {h:.4f}")</a:t>
            </a:r>
          </a:p>
          <a:p>
            <a:pPr>
              <a:defRPr sz="1200" b="0">
                <a:solidFill>
                  <a:srgbClr val="F8FAFC"/>
                </a:solidFill>
                <a:latin typeface="Courier New"/>
              </a:defRPr>
            </a:pPr>
            <a:r>
              <a:rPr sz="1200" b="0">
                <a:solidFill>
                  <a:srgbClr val="F8FAFC"/>
                </a:solidFill>
                <a:latin typeface="Courier New"/>
              </a:rPr>
              <a:t>print(f"n por grupo para detectar 10%→11% (poder 0.8, α=0.05) = {np.ceil(n_req):.0f}")</a:t>
            </a:r>
          </a:p>
          <a:p>
            <a:pPr>
              <a:defRPr sz="1200" b="0">
                <a:solidFill>
                  <a:srgbClr val="F8FAFC"/>
                </a:solidFill>
                <a:latin typeface="Courier New"/>
              </a:defRPr>
            </a:pPr>
            <a:r>
              <a:rPr sz="1200" b="0">
                <a:solidFill>
                  <a:srgbClr val="F8FAFC"/>
                </a:solidFill>
                <a:latin typeface="Courier New"/>
              </a:rPr>
              <a:t>assert n_req &gt; 5000</a:t>
            </a:r>
          </a:p>
        </p:txBody>
      </p:sp>
    </p:spTree>
  </p:cSld>
  <p:clrMapOvr>
    <a:masterClrMapping/>
  </p:clrMapOvr>
</p:sld>
</file>

<file path=ppt/slides/slide9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185 — A/B testing: tamaño de muestra, poder estadístico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Sample size: querés detectar un uplift de tasa de conversión de 10 % → 11 % con poder 0.8 y α=0.05.</a:t>
            </a:r>
          </a:p>
          <a:p>
            <a:pPr>
              <a:spcAft>
                <a:spcPts val="800"/>
              </a:spcAft>
              <a:defRPr sz="1400" b="0">
                <a:solidFill>
                  <a:srgbClr val="0F172A"/>
                </a:solidFill>
                <a:latin typeface="Segoe UI"/>
              </a:defRPr>
            </a:pPr>
            <a:r>
              <a:rPr sz="1400" b="0">
                <a:solidFill>
                  <a:srgbClr val="0F172A"/>
                </a:solidFill>
                <a:latin typeface="Segoe UI"/>
              </a:rPr>
              <a:t>• Análisis clásico: simulá el experimento (n=8 000 por grupo, p_A=0.10, p_B=0.108), aplicá z-test de proporciones, reportá p, IC95 % de la diferencia y poder post-hoc.</a:t>
            </a:r>
          </a:p>
          <a:p>
            <a:pPr>
              <a:spcAft>
                <a:spcPts val="800"/>
              </a:spcAft>
              <a:defRPr sz="1400" b="0">
                <a:solidFill>
                  <a:srgbClr val="0F172A"/>
                </a:solidFill>
                <a:latin typeface="Segoe UI"/>
              </a:defRPr>
            </a:pPr>
            <a:r>
              <a:rPr sz="1400" b="0">
                <a:solidFill>
                  <a:srgbClr val="0F172A"/>
                </a:solidFill>
                <a:latin typeface="Segoe UI"/>
              </a:rPr>
              <a:t>• CUPED: simulá X = rng.normal(50, 10, 2000) y Y = X + ε + 2·tratamiento con ε ~ N(0,5).</a:t>
            </a:r>
          </a:p>
          <a:p>
            <a:pPr>
              <a:spcAft>
                <a:spcPts val="800"/>
              </a:spcAft>
              <a:defRPr sz="1400" b="0">
                <a:solidFill>
                  <a:srgbClr val="0F172A"/>
                </a:solidFill>
                <a:latin typeface="Segoe UI"/>
              </a:defRPr>
            </a:pPr>
            <a:r>
              <a:rPr sz="1400" b="0">
                <a:solidFill>
                  <a:srgbClr val="0F172A"/>
                </a:solidFill>
                <a:latin typeface="Segoe UI"/>
              </a:rPr>
              <a:t>• Peeking simulado: bajo H₀ verdadera, simulá 1 000 experimentos donde "parás temprano" si p &lt; 0.05 mirando cada 100 obs hasta 5 000.</a:t>
            </a:r>
          </a:p>
          <a:p>
            <a:pPr>
              <a:spcAft>
                <a:spcPts val="800"/>
              </a:spcAft>
              <a:defRPr sz="1400" b="0">
                <a:solidFill>
                  <a:srgbClr val="0F172A"/>
                </a:solidFill>
                <a:latin typeface="Segoe UI"/>
              </a:defRPr>
            </a:pPr>
            <a:r>
              <a:rPr sz="1400" b="0">
                <a:solidFill>
                  <a:srgbClr val="0F172A"/>
                </a:solidFill>
                <a:latin typeface="Segoe UI"/>
              </a:rPr>
              <a:t>• A/B bayesiano: con A=(1000, 80), B=(1000, 100), calculá P(p_B &gt; p_A) con priors Beta(1,1).</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Calcular n por grupo para MDE=1 pp absoluto, baseline 10 %, α=0.05, poder=0.8.</a:t>
            </a:r>
          </a:p>
          <a:p>
            <a:pPr>
              <a:spcAft>
                <a:spcPts val="800"/>
              </a:spcAft>
              <a:defRPr sz="1400" b="0">
                <a:solidFill>
                  <a:srgbClr val="0F172A"/>
                </a:solidFill>
                <a:latin typeface="Segoe UI"/>
              </a:defRPr>
            </a:pPr>
            <a:r>
              <a:rPr sz="1400" b="0">
                <a:solidFill>
                  <a:srgbClr val="0F172A"/>
                </a:solidFill>
                <a:latin typeface="Segoe UI"/>
              </a:rPr>
              <a:t>• Simular el experimento con n calculado y true uplift de 1.2 pp.</a:t>
            </a:r>
          </a:p>
          <a:p>
            <a:pPr>
              <a:spcAft>
                <a:spcPts val="800"/>
              </a:spcAft>
              <a:defRPr sz="1400" b="0">
                <a:solidFill>
                  <a:srgbClr val="0F172A"/>
                </a:solidFill>
                <a:latin typeface="Segoe UI"/>
              </a:defRPr>
            </a:pPr>
            <a:r>
              <a:rPr sz="1400" b="0">
                <a:solidFill>
                  <a:srgbClr val="0F172A"/>
                </a:solidFill>
                <a:latin typeface="Segoe UI"/>
              </a:rPr>
              <a:t>• Reportar: z-test (p, IC), Cohen's h (effect size para proporciones), análisis bayesiano (P(B &gt; A), expected uplift).</a:t>
            </a:r>
          </a:p>
          <a:p>
            <a:pPr>
              <a:spcAft>
                <a:spcPts val="800"/>
              </a:spcAft>
              <a:defRPr sz="1400" b="0">
                <a:solidFill>
                  <a:srgbClr val="0F172A"/>
                </a:solidFill>
                <a:latin typeface="Segoe UI"/>
              </a:defRPr>
            </a:pPr>
            <a:r>
              <a:rPr sz="1400" b="0">
                <a:solidFill>
                  <a:srgbClr val="0F172A"/>
                </a:solidFill>
                <a:latin typeface="Segoe UI"/>
              </a:rPr>
              <a:t>• Repetir simulando peeking cada 1 000 obs sin corrección → mostrar inflación de α.</a:t>
            </a:r>
          </a:p>
          <a:p>
            <a:pPr>
              <a:spcAft>
                <a:spcPts val="800"/>
              </a:spcAft>
              <a:defRPr sz="1400" b="0">
                <a:solidFill>
                  <a:srgbClr val="0F172A"/>
                </a:solidFill>
                <a:latin typeface="Segoe UI"/>
              </a:defRPr>
            </a:pPr>
            <a:r>
              <a:rPr sz="1400" b="0">
                <a:solidFill>
                  <a:srgbClr val="0F172A"/>
                </a:solidFill>
                <a:latin typeface="Segoe UI"/>
              </a:rPr>
              <a:t>• Concluir en 4 líneas: recomendación para producción (frecuentista clásico vs bayesiano vs always-valid).</a:t>
            </a:r>
          </a:p>
        </p:txBody>
      </p:sp>
    </p:spTree>
  </p:cSld>
  <p:clrMapOvr>
    <a:masterClrMapping/>
  </p:clrMapOvr>
</p:sld>
</file>

<file path=ppt/slides/slide9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186 — CUPED, sequential testing, always-valid p-values</a:t>
            </a:r>
          </a:p>
        </p:txBody>
      </p:sp>
    </p:spTree>
  </p:cSld>
  <p:clrMapOvr>
    <a:masterClrMapping/>
  </p:clrMapOvr>
</p:sld>
</file>

<file path=ppt/slides/slide9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186 — CUPED, sequential testing, always-valid p-values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Deng et al. (2013) CUPED + Howard et al. (2021) always-valid + Kohavi et al. (2020).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las 3 técnicas modernas que la industria (Microsoft, Netflix, Booking, Spotify) usa para hacer A/B testing más eficientemente: CUPED (variance reduction con covariable pre-experiment), Sequential Testing (mirar el resultado durante el experimento sin inflar α), y always-valid p-values / confidence sequences (Howard et al. 2021, decisión correcta en cualquier momento).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CUPED: ajustar Y_cuped = Y - θ·(X - E[X]) con θ = Cov(Y,X)/Var(X).</a:t>
            </a:r>
          </a:p>
          <a:p>
            <a:pPr>
              <a:spcAft>
                <a:spcPts val="800"/>
              </a:spcAft>
              <a:defRPr sz="1400" b="0">
                <a:solidFill>
                  <a:srgbClr val="0F172A"/>
                </a:solidFill>
                <a:latin typeface="Segoe UI"/>
              </a:defRPr>
            </a:pPr>
            <a:r>
              <a:rPr sz="1400" b="0">
                <a:solidFill>
                  <a:srgbClr val="0F172A"/>
                </a:solidFill>
                <a:latin typeface="Segoe UI"/>
              </a:rPr>
              <a:t>• Calcular la reducción de varianza esperada: 1 - ρ².</a:t>
            </a:r>
          </a:p>
          <a:p>
            <a:pPr>
              <a:spcAft>
                <a:spcPts val="800"/>
              </a:spcAft>
              <a:defRPr sz="1400" b="0">
                <a:solidFill>
                  <a:srgbClr val="0F172A"/>
                </a:solidFill>
                <a:latin typeface="Segoe UI"/>
              </a:defRPr>
            </a:pPr>
            <a:r>
              <a:rPr sz="1400" b="0">
                <a:solidFill>
                  <a:srgbClr val="0F172A"/>
                </a:solidFill>
                <a:latin typeface="Segoe UI"/>
              </a:rPr>
              <a:t>• Configurar Group Sequential Testing con O'Brien-Fleming boundaries.</a:t>
            </a:r>
          </a:p>
          <a:p>
            <a:pPr>
              <a:spcAft>
                <a:spcPts val="800"/>
              </a:spcAft>
              <a:defRPr sz="1400" b="0">
                <a:solidFill>
                  <a:srgbClr val="0F172A"/>
                </a:solidFill>
                <a:latin typeface="Segoe UI"/>
              </a:defRPr>
            </a:pPr>
            <a:r>
              <a:rPr sz="1400" b="0">
                <a:solidFill>
                  <a:srgbClr val="0F172A"/>
                </a:solidFill>
                <a:latin typeface="Segoe UI"/>
              </a:rPr>
              <a:t>• Aplicar always-valid CIs con la librería confseq.</a:t>
            </a:r>
          </a:p>
          <a:p>
            <a:pPr>
              <a:spcAft>
                <a:spcPts val="800"/>
              </a:spcAft>
              <a:defRPr sz="1400" b="0">
                <a:solidFill>
                  <a:srgbClr val="0F172A"/>
                </a:solidFill>
                <a:latin typeface="Segoe UI"/>
              </a:defRPr>
            </a:pPr>
            <a:r>
              <a:rPr sz="1400" b="0">
                <a:solidFill>
                  <a:srgbClr val="0F172A"/>
                </a:solidFill>
                <a:latin typeface="Segoe UI"/>
              </a:rPr>
              <a:t>• Decidir entre frequentist clásico, GST, y mSPRT según contexto.</a:t>
            </a:r>
          </a:p>
        </p:txBody>
      </p:sp>
    </p:spTree>
  </p:cSld>
  <p:clrMapOvr>
    <a:masterClrMapping/>
  </p:clrMapOvr>
</p:sld>
</file>

<file path=ppt/slides/slide9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186 — CUPED, sequential testing, always-valid p-values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CUPED math: θ óptimo minimiza varianza.</a:t>
            </a:r>
          </a:p>
          <a:p>
            <a:pPr>
              <a:spcAft>
                <a:spcPts val="1000"/>
              </a:spcAft>
              <a:defRPr sz="1600" b="0">
                <a:solidFill>
                  <a:srgbClr val="0F172A"/>
                </a:solidFill>
                <a:latin typeface="Segoe UI"/>
              </a:defRPr>
            </a:pPr>
            <a:r>
              <a:rPr sz="1600" b="0">
                <a:solidFill>
                  <a:srgbClr val="0F172A"/>
                </a:solidFill>
                <a:latin typeface="Segoe UI"/>
              </a:rPr>
              <a:t>• Implementación: con Y_pre (mismo usuario en período previo) o X (covariable).</a:t>
            </a:r>
          </a:p>
          <a:p>
            <a:pPr>
              <a:spcAft>
                <a:spcPts val="1000"/>
              </a:spcAft>
              <a:defRPr sz="1600" b="0">
                <a:solidFill>
                  <a:srgbClr val="0F172A"/>
                </a:solidFill>
                <a:latin typeface="Segoe UI"/>
              </a:defRPr>
            </a:pPr>
            <a:r>
              <a:rPr sz="1600" b="0">
                <a:solidFill>
                  <a:srgbClr val="0F172A"/>
                </a:solidFill>
                <a:latin typeface="Segoe UI"/>
              </a:rPr>
              <a:t>• GST: K looks, boundaries pre-definidas.</a:t>
            </a:r>
          </a:p>
          <a:p>
            <a:pPr>
              <a:spcAft>
                <a:spcPts val="1000"/>
              </a:spcAft>
              <a:defRPr sz="1600" b="0">
                <a:solidFill>
                  <a:srgbClr val="0F172A"/>
                </a:solidFill>
                <a:latin typeface="Segoe UI"/>
              </a:defRPr>
            </a:pPr>
            <a:r>
              <a:rPr sz="1600" b="0">
                <a:solidFill>
                  <a:srgbClr val="0F172A"/>
                </a:solidFill>
                <a:latin typeface="Segoe UI"/>
              </a:rPr>
              <a:t>• O'Brien-Fleming (gasta poco α al principio) vs Pocock (constante).</a:t>
            </a:r>
          </a:p>
          <a:p>
            <a:pPr>
              <a:spcAft>
                <a:spcPts val="1000"/>
              </a:spcAft>
              <a:defRPr sz="1600" b="0">
                <a:solidFill>
                  <a:srgbClr val="0F172A"/>
                </a:solidFill>
                <a:latin typeface="Segoe UI"/>
              </a:defRPr>
            </a:pPr>
            <a:r>
              <a:rPr sz="1600" b="0">
                <a:solidFill>
                  <a:srgbClr val="0F172A"/>
                </a:solidFill>
                <a:latin typeface="Segoe UI"/>
              </a:rPr>
              <a:t>• mSPRT: ratio test que provee p-value válido siempre.</a:t>
            </a:r>
          </a:p>
          <a:p>
            <a:pPr>
              <a:spcAft>
                <a:spcPts val="1000"/>
              </a:spcAft>
              <a:defRPr sz="1600" b="0">
                <a:solidFill>
                  <a:srgbClr val="0F172A"/>
                </a:solidFill>
                <a:latin typeface="Segoe UI"/>
              </a:defRPr>
            </a:pPr>
            <a:r>
              <a:rPr sz="1600" b="0">
                <a:solidFill>
                  <a:srgbClr val="0F172A"/>
                </a:solidFill>
                <a:latin typeface="Segoe UI"/>
              </a:rPr>
              <a:t>• Confidence sequences: IC válido en cualquier t.</a:t>
            </a:r>
          </a:p>
        </p:txBody>
      </p:sp>
    </p:spTree>
  </p:cSld>
  <p:clrMapOvr>
    <a:masterClrMapping/>
  </p:clrMapOvr>
</p:sld>
</file>

<file path=ppt/slides/slide9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186 — CUPED, sequential testing, always-valid p-values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CUPED en una frase: usar una covariable pre-experimento (algo que ya sabías de cada usuario antes de tratarlo) para reducir la varianza de la métrica y así detectar efectos más chicos con menos muestra. Si esa covariable correlaciona ρ con la métrica, la varianza cae a (1-ρ²) — con ρ=0.7 ya recortás ~la mitad del ruido, y sin sesgar el efecto (la covariable es previa; el tratamiento no la afecta).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 10_000</a:t>
            </a:r>
          </a:p>
          <a:p>
            <a:pPr>
              <a:defRPr sz="1200" b="0">
                <a:solidFill>
                  <a:srgbClr val="F8FAFC"/>
                </a:solidFill>
                <a:latin typeface="Courier New"/>
              </a:defRPr>
            </a:pPr>
            <a:r>
              <a:rPr sz="1200" b="0">
                <a:solidFill>
                  <a:srgbClr val="F8FAFC"/>
                </a:solidFill>
                <a:latin typeface="Courier New"/>
              </a:rPr>
              <a:t># Pre-experiment covariate (X), correlación ~0.7 con outcome</a:t>
            </a:r>
          </a:p>
          <a:p>
            <a:pPr>
              <a:defRPr sz="1200" b="0">
                <a:solidFill>
                  <a:srgbClr val="F8FAFC"/>
                </a:solidFill>
                <a:latin typeface="Courier New"/>
              </a:defRPr>
            </a:pPr>
            <a:r>
              <a:rPr sz="1200" b="0">
                <a:solidFill>
                  <a:srgbClr val="F8FAFC"/>
                </a:solidFill>
                <a:latin typeface="Courier New"/>
              </a:rPr>
              <a:t>X_ctrl = rng.normal(10, 3, n)</a:t>
            </a:r>
          </a:p>
          <a:p>
            <a:pPr>
              <a:defRPr sz="1200" b="0">
                <a:solidFill>
                  <a:srgbClr val="F8FAFC"/>
                </a:solidFill>
                <a:latin typeface="Courier New"/>
              </a:defRPr>
            </a:pPr>
            <a:r>
              <a:rPr sz="1200" b="0">
                <a:solidFill>
                  <a:srgbClr val="F8FAFC"/>
                </a:solidFill>
                <a:latin typeface="Courier New"/>
              </a:rPr>
              <a:t>X_trt  = rng.normal(10, 3, n)</a:t>
            </a:r>
          </a:p>
          <a:p>
            <a:pPr>
              <a:defRPr sz="1200" b="0">
                <a:solidFill>
                  <a:srgbClr val="F8FAFC"/>
                </a:solidFill>
                <a:latin typeface="Courier New"/>
              </a:defRPr>
            </a:pPr>
            <a:r>
              <a:rPr sz="1200" b="0">
                <a:solidFill>
                  <a:srgbClr val="F8FAFC"/>
                </a:solidFill>
                <a:latin typeface="Courier New"/>
              </a:rPr>
              <a:t>noise  = lambda k: rng.normal(0, 2.1, k)  # ruido idiosincratico</a:t>
            </a:r>
          </a:p>
          <a:p>
            <a:pPr>
              <a:defRPr sz="1200" b="0">
                <a:solidFill>
                  <a:srgbClr val="F8FAFC"/>
                </a:solidFill>
                <a:latin typeface="Courier New"/>
              </a:defRPr>
            </a:pPr>
            <a:r>
              <a:rPr sz="1200" b="0">
                <a:solidFill>
                  <a:srgbClr val="F8FAFC"/>
                </a:solidFill>
                <a:latin typeface="Courier New"/>
              </a:rPr>
              <a:t>Y_ctrl = X_ctrl + noise(n)             # mean ~ 10</a:t>
            </a:r>
          </a:p>
          <a:p>
            <a:pPr>
              <a:defRPr sz="1200" b="0">
                <a:solidFill>
                  <a:srgbClr val="F8FAFC"/>
                </a:solidFill>
                <a:latin typeface="Courier New"/>
              </a:defRPr>
            </a:pPr>
            <a:r>
              <a:rPr sz="1200" b="0">
                <a:solidFill>
                  <a:srgbClr val="F8FAFC"/>
                </a:solidFill>
                <a:latin typeface="Courier New"/>
              </a:rPr>
              <a:t>Y_trt  = X_trt + noise(n) + 0.5        # treatment effect = 0.5</a:t>
            </a:r>
          </a:p>
          <a:p>
            <a:pPr>
              <a:defRPr sz="1200" b="0">
                <a:solidFill>
                  <a:srgbClr val="F8FAFC"/>
                </a:solidFill>
                <a:latin typeface="Courier New"/>
              </a:defRPr>
            </a:pPr>
            <a:r>
              <a:rPr sz="1200" b="0">
                <a:solidFill>
                  <a:srgbClr val="F8FAFC"/>
                </a:solidFill>
                <a:latin typeface="Courier New"/>
              </a:rPr>
              <a:t>print(f'mean ctrl = {Y_ctrl.mean():.3f}  mean trt = {Y_trt.mean():.3f}  diff = {Y_trt.mean()-Y_ctrl.mean():.3f}')</a:t>
            </a:r>
          </a:p>
        </p:txBody>
      </p:sp>
    </p:spTree>
  </p:cSld>
  <p:clrMapOvr>
    <a:masterClrMapping/>
  </p:clrMapOvr>
</p:sld>
</file>

<file path=ppt/slides/slide9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186 — CUPED, sequential testing, always-valid p-values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CUPED implementation: simular X_pre, Y_post = α·X_pre + tratamiento + ε.</a:t>
            </a:r>
          </a:p>
          <a:p>
            <a:pPr>
              <a:spcAft>
                <a:spcPts val="800"/>
              </a:spcAft>
              <a:defRPr sz="1400" b="0">
                <a:solidFill>
                  <a:srgbClr val="0F172A"/>
                </a:solidFill>
                <a:latin typeface="Segoe UI"/>
              </a:defRPr>
            </a:pPr>
            <a:r>
              <a:rPr sz="1400" b="0">
                <a:solidFill>
                  <a:srgbClr val="0F172A"/>
                </a:solidFill>
                <a:latin typeface="Segoe UI"/>
              </a:rPr>
              <a:t>• Variance reduction: con ρ=0.7, calcular reducción esperada (= 51 %); verificar con simulación.</a:t>
            </a:r>
          </a:p>
          <a:p>
            <a:pPr>
              <a:spcAft>
                <a:spcPts val="800"/>
              </a:spcAft>
              <a:defRPr sz="1400" b="0">
                <a:solidFill>
                  <a:srgbClr val="0F172A"/>
                </a:solidFill>
                <a:latin typeface="Segoe UI"/>
              </a:defRPr>
            </a:pPr>
            <a:r>
              <a:rPr sz="1400" b="0">
                <a:solidFill>
                  <a:srgbClr val="0F172A"/>
                </a:solidFill>
                <a:latin typeface="Segoe UI"/>
              </a:rPr>
              <a:t>• Peeking inflado: bajo H₀, simular 1000 experimentos con 5 looks naïve, contar % de rejects.</a:t>
            </a:r>
          </a:p>
          <a:p>
            <a:pPr>
              <a:spcAft>
                <a:spcPts val="800"/>
              </a:spcAft>
              <a:defRPr sz="1400" b="0">
                <a:solidFill>
                  <a:srgbClr val="0F172A"/>
                </a:solidFill>
                <a:latin typeface="Segoe UI"/>
              </a:defRPr>
            </a:pPr>
            <a:r>
              <a:rPr sz="1400" b="0">
                <a:solidFill>
                  <a:srgbClr val="0F172A"/>
                </a:solidFill>
                <a:latin typeface="Segoe UI"/>
              </a:rPr>
              <a:t>• O'Brien-Fleming: implementar boundaries con rpy2 + gsDesign (o aproximación).</a:t>
            </a:r>
          </a:p>
          <a:p>
            <a:pPr>
              <a:spcAft>
                <a:spcPts val="800"/>
              </a:spcAft>
              <a:defRPr sz="1400" b="0">
                <a:solidFill>
                  <a:srgbClr val="0F172A"/>
                </a:solidFill>
                <a:latin typeface="Segoe UI"/>
              </a:defRPr>
            </a:pPr>
            <a:r>
              <a:rPr sz="1400" b="0">
                <a:solidFill>
                  <a:srgbClr val="0F172A"/>
                </a:solidFill>
                <a:latin typeface="Segoe UI"/>
              </a:rPr>
              <a:t>• Always-valid CI: confseq.bounds.normal_log_mixture_bound sobre stream simulado.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Frequentist clásico (fixed N).</a:t>
            </a:r>
          </a:p>
          <a:p>
            <a:pPr>
              <a:spcAft>
                <a:spcPts val="800"/>
              </a:spcAft>
              <a:defRPr sz="1500" b="0">
                <a:solidFill>
                  <a:srgbClr val="0F172A"/>
                </a:solidFill>
                <a:latin typeface="Segoe UI"/>
              </a:defRPr>
            </a:pPr>
            <a:r>
              <a:rPr sz="1500" b="0">
                <a:solidFill>
                  <a:srgbClr val="0F172A"/>
                </a:solidFill>
                <a:latin typeface="Segoe UI"/>
              </a:rPr>
              <a:t>• CUPED + frequentist.</a:t>
            </a:r>
          </a:p>
          <a:p>
            <a:pPr>
              <a:spcAft>
                <a:spcPts val="800"/>
              </a:spcAft>
              <a:defRPr sz="1500" b="0">
                <a:solidFill>
                  <a:srgbClr val="0F172A"/>
                </a:solidFill>
                <a:latin typeface="Segoe UI"/>
              </a:defRPr>
            </a:pPr>
            <a:r>
              <a:rPr sz="1500" b="0">
                <a:solidFill>
                  <a:srgbClr val="0F172A"/>
                </a:solidFill>
                <a:latin typeface="Segoe UI"/>
              </a:rPr>
              <a:t>• Naïve peeking cada 1k samples (α inflated).</a:t>
            </a:r>
          </a:p>
          <a:p>
            <a:pPr>
              <a:spcAft>
                <a:spcPts val="800"/>
              </a:spcAft>
              <a:defRPr sz="1500" b="0">
                <a:solidFill>
                  <a:srgbClr val="0F172A"/>
                </a:solidFill>
                <a:latin typeface="Segoe UI"/>
              </a:defRPr>
            </a:pPr>
            <a:r>
              <a:rPr sz="1500" b="0">
                <a:solidFill>
                  <a:srgbClr val="0F172A"/>
                </a:solidFill>
                <a:latin typeface="Segoe UI"/>
              </a:rPr>
              <a:t>• Always-valid (confseq).</a:t>
            </a:r>
          </a:p>
        </p:txBody>
      </p:sp>
    </p:spTree>
  </p:cSld>
  <p:clrMapOvr>
    <a:masterClrMapping/>
  </p:clrMapOvr>
</p:sld>
</file>

<file path=ppt/slides/slide93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187 — Diseño experimental</a:t>
            </a:r>
          </a:p>
        </p:txBody>
      </p:sp>
    </p:spTree>
  </p:cSld>
  <p:clrMapOvr>
    <a:masterClrMapping/>
  </p:clrMapOvr>
</p:sld>
</file>

<file path=ppt/slides/slide9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187 — Diseño experimental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Montgomery, Design and Analysis of Experiments (8ª ed.) + Kohavi, Tang &amp; Xu (cap. 4-5).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Pasar del A/B simple a diseños más ricos: bloques aleatorizados, factorial completo / fraccional, diseños cruzados (cross-over), switchback para experimentos con interferencia, y cluster randomization cuando la unidad de análisis no coincide con la unidad de tratamiento. Saber qué problema resuelve cada diseño y leer las consideraciones de SUTVA (Stable Unit Treatment Value Assumption).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diseño completamente aleatorizado (CRD), bloques aleatorizados (RBD), factorial y fraccional 2^(k-p).</a:t>
            </a:r>
          </a:p>
          <a:p>
            <a:pPr>
              <a:spcAft>
                <a:spcPts val="800"/>
              </a:spcAft>
              <a:defRPr sz="1400" b="0">
                <a:solidFill>
                  <a:srgbClr val="0F172A"/>
                </a:solidFill>
                <a:latin typeface="Segoe UI"/>
              </a:defRPr>
            </a:pPr>
            <a:r>
              <a:rPr sz="1400" b="0">
                <a:solidFill>
                  <a:srgbClr val="0F172A"/>
                </a:solidFill>
                <a:latin typeface="Segoe UI"/>
              </a:rPr>
              <a:t>• Detectar cuándo SUTVA se viola (efectos de red, interferencia entre usuarios, fila/competencia) y aplicar el diseño correcto: cluster randomization, switchback, marketplace experiments.</a:t>
            </a:r>
          </a:p>
          <a:p>
            <a:pPr>
              <a:spcAft>
                <a:spcPts val="800"/>
              </a:spcAft>
              <a:defRPr sz="1400" b="0">
                <a:solidFill>
                  <a:srgbClr val="0F172A"/>
                </a:solidFill>
                <a:latin typeface="Segoe UI"/>
              </a:defRPr>
            </a:pPr>
            <a:r>
              <a:rPr sz="1400" b="0">
                <a:solidFill>
                  <a:srgbClr val="0F172A"/>
                </a:solidFill>
                <a:latin typeface="Segoe UI"/>
              </a:rPr>
              <a:t>• Diseñar un factorial 2² o 2³ con pyDOE2 / statsmodels y descomponer efectos principales + interacciones.</a:t>
            </a:r>
          </a:p>
          <a:p>
            <a:pPr>
              <a:spcAft>
                <a:spcPts val="800"/>
              </a:spcAft>
              <a:defRPr sz="1400" b="0">
                <a:solidFill>
                  <a:srgbClr val="0F172A"/>
                </a:solidFill>
                <a:latin typeface="Segoe UI"/>
              </a:defRPr>
            </a:pPr>
            <a:r>
              <a:rPr sz="1400" b="0">
                <a:solidFill>
                  <a:srgbClr val="0F172A"/>
                </a:solidFill>
                <a:latin typeface="Segoe UI"/>
              </a:rPr>
              <a:t>• Saber cuándo usar fraccional (2^(k-p)) para reducir corridas y qué se sacrifica (confounding de interacciones de alto orden).</a:t>
            </a:r>
          </a:p>
          <a:p>
            <a:pPr>
              <a:spcAft>
                <a:spcPts val="800"/>
              </a:spcAft>
              <a:defRPr sz="1400" b="0">
                <a:solidFill>
                  <a:srgbClr val="0F172A"/>
                </a:solidFill>
                <a:latin typeface="Segoe UI"/>
              </a:defRPr>
            </a:pPr>
            <a:r>
              <a:rPr sz="1400" b="0">
                <a:solidFill>
                  <a:srgbClr val="0F172A"/>
                </a:solidFill>
                <a:latin typeface="Segoe UI"/>
              </a:rPr>
              <a:t>• Aplicar cross-over para experimentos pareados dentro de sujeto, con análisis vía test pareado o modelo mixto.</a:t>
            </a:r>
          </a:p>
        </p:txBody>
      </p:sp>
    </p:spTree>
  </p:cSld>
  <p:clrMapOvr>
    <a:masterClrMapping/>
  </p:clrMapOvr>
</p:sld>
</file>

<file path=ppt/slides/slide9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187 — Diseño experimental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CRD: el A/B clásico. Asume SUTVA (no interferencia entre unidades).</a:t>
            </a:r>
          </a:p>
          <a:p>
            <a:pPr>
              <a:spcAft>
                <a:spcPts val="1000"/>
              </a:spcAft>
              <a:defRPr sz="1600" b="0">
                <a:solidFill>
                  <a:srgbClr val="0F172A"/>
                </a:solidFill>
                <a:latin typeface="Segoe UI"/>
              </a:defRPr>
            </a:pPr>
            <a:r>
              <a:rPr sz="1600" b="0">
                <a:solidFill>
                  <a:srgbClr val="0F172A"/>
                </a:solidFill>
                <a:latin typeface="Segoe UI"/>
              </a:rPr>
              <a:t>• RBD (bloques): bloquear por variable nuisance (ej.: día de semana, país) para reducir varianza dentro del bloque.</a:t>
            </a:r>
          </a:p>
          <a:p>
            <a:pPr>
              <a:spcAft>
                <a:spcPts val="1000"/>
              </a:spcAft>
              <a:defRPr sz="1600" b="0">
                <a:solidFill>
                  <a:srgbClr val="0F172A"/>
                </a:solidFill>
                <a:latin typeface="Segoe UI"/>
              </a:defRPr>
            </a:pPr>
            <a:r>
              <a:rPr sz="1600" b="0">
                <a:solidFill>
                  <a:srgbClr val="0F172A"/>
                </a:solidFill>
                <a:latin typeface="Segoe UI"/>
              </a:rPr>
              <a:t>• Factorial 2^k: testear k factores simultáneamente. Captura interacciones; mucho más eficiente que A/B por factor.</a:t>
            </a:r>
          </a:p>
          <a:p>
            <a:pPr>
              <a:spcAft>
                <a:spcPts val="1000"/>
              </a:spcAft>
              <a:defRPr sz="1600" b="0">
                <a:solidFill>
                  <a:srgbClr val="0F172A"/>
                </a:solidFill>
                <a:latin typeface="Segoe UI"/>
              </a:defRPr>
            </a:pPr>
            <a:r>
              <a:rPr sz="1600" b="0">
                <a:solidFill>
                  <a:srgbClr val="0F172A"/>
                </a:solidFill>
                <a:latin typeface="Segoe UI"/>
              </a:rPr>
              <a:t>• Fraccional 2^(k-p): corridas reducidas. Se confunden ("aliasing") efectos de alto orden con principales.</a:t>
            </a:r>
          </a:p>
          <a:p>
            <a:pPr>
              <a:spcAft>
                <a:spcPts val="1000"/>
              </a:spcAft>
              <a:defRPr sz="1600" b="0">
                <a:solidFill>
                  <a:srgbClr val="0F172A"/>
                </a:solidFill>
                <a:latin typeface="Segoe UI"/>
              </a:defRPr>
            </a:pPr>
            <a:r>
              <a:rPr sz="1600" b="0">
                <a:solidFill>
                  <a:srgbClr val="0F172A"/>
                </a:solidFill>
                <a:latin typeface="Segoe UI"/>
              </a:rPr>
              <a:t>• Cross-over: cada sujeto recibe ambos tratamientos en períodos distintos. Análisis pareado, controla variabilidad inter-sujeto. Riesgo: carry-over effect.</a:t>
            </a:r>
          </a:p>
          <a:p>
            <a:pPr>
              <a:spcAft>
                <a:spcPts val="1000"/>
              </a:spcAft>
              <a:defRPr sz="1600" b="0">
                <a:solidFill>
                  <a:srgbClr val="0F172A"/>
                </a:solidFill>
                <a:latin typeface="Segoe UI"/>
              </a:defRPr>
            </a:pPr>
            <a:r>
              <a:rPr sz="1600" b="0">
                <a:solidFill>
                  <a:srgbClr val="0F172A"/>
                </a:solidFill>
                <a:latin typeface="Segoe UI"/>
              </a:rPr>
              <a:t>• Cluster randomization: aleatorizar grupos (clases, ciudades) en lugar de individuos cuando hay contaminación social.</a:t>
            </a:r>
          </a:p>
          <a:p>
            <a:pPr>
              <a:spcAft>
                <a:spcPts val="1000"/>
              </a:spcAft>
              <a:defRPr sz="1600" b="0">
                <a:solidFill>
                  <a:srgbClr val="0F172A"/>
                </a:solidFill>
                <a:latin typeface="Segoe UI"/>
              </a:defRPr>
            </a:pPr>
            <a:r>
              <a:rPr sz="1600" b="0">
                <a:solidFill>
                  <a:srgbClr val="0F172A"/>
                </a:solidFill>
                <a:latin typeface="Segoe UI"/>
              </a:rPr>
              <a:t>• Switchback: alternar tratamiento global en bloques de tiempo (típico de marketplaces de dos lados — Uber, DoorDash).</a:t>
            </a:r>
          </a:p>
        </p:txBody>
      </p:sp>
    </p:spTree>
  </p:cSld>
  <p:clrMapOvr>
    <a:masterClrMapping/>
  </p:clrMapOvr>
</p:sld>
</file>

<file path=ppt/slides/slide9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187 — Diseño experimental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Testeamos dos factores a la vez y recuperamos efectos principales + interacción con un OLS y ~ A*B.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itertools</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import statsmodels.formula.api as smf</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nper = 1000</a:t>
            </a:r>
          </a:p>
          <a:p>
            <a:pPr>
              <a:defRPr sz="1200" b="0">
                <a:solidFill>
                  <a:srgbClr val="F8FAFC"/>
                </a:solidFill>
                <a:latin typeface="Courier New"/>
              </a:defRPr>
            </a:pPr>
            <a:r>
              <a:rPr sz="1200" b="0">
                <a:solidFill>
                  <a:srgbClr val="F8FAFC"/>
                </a:solidFill>
                <a:latin typeface="Courier New"/>
              </a:rPr>
              <a:t>rows = []</a:t>
            </a:r>
          </a:p>
          <a:p>
            <a:pPr>
              <a:defRPr sz="1200" b="0">
                <a:solidFill>
                  <a:srgbClr val="F8FAFC"/>
                </a:solidFill>
                <a:latin typeface="Courier New"/>
              </a:defRPr>
            </a:pPr>
            <a:r>
              <a:rPr sz="1200" b="0">
                <a:solidFill>
                  <a:srgbClr val="F8FAFC"/>
                </a:solidFill>
                <a:latin typeface="Courier New"/>
              </a:rPr>
              <a:t>for A in (0, 1):</a:t>
            </a:r>
          </a:p>
          <a:p>
            <a:pPr>
              <a:defRPr sz="1200" b="0">
                <a:solidFill>
                  <a:srgbClr val="F8FAFC"/>
                </a:solidFill>
                <a:latin typeface="Courier New"/>
              </a:defRPr>
            </a:pPr>
            <a:r>
              <a:rPr sz="1200" b="0">
                <a:solidFill>
                  <a:srgbClr val="F8FAFC"/>
                </a:solidFill>
                <a:latin typeface="Courier New"/>
              </a:rPr>
              <a:t>    for Bf in (0, 1):</a:t>
            </a:r>
          </a:p>
          <a:p>
            <a:pPr>
              <a:defRPr sz="1200" b="0">
                <a:solidFill>
                  <a:srgbClr val="F8FAFC"/>
                </a:solidFill>
                <a:latin typeface="Courier New"/>
              </a:defRPr>
            </a:pPr>
            <a:r>
              <a:rPr sz="1200" b="0">
                <a:solidFill>
                  <a:srgbClr val="F8FAFC"/>
                </a:solidFill>
                <a:latin typeface="Courier New"/>
              </a:rPr>
              <a:t>        ctr = 0.10 + 0.02*A + 0.015*Bf + 0.02*A*Bf + rng.normal(0, 0.05, nper)</a:t>
            </a:r>
          </a:p>
          <a:p>
            <a:pPr>
              <a:defRPr sz="1200" b="0">
                <a:solidFill>
                  <a:srgbClr val="F8FAFC"/>
                </a:solidFill>
                <a:latin typeface="Courier New"/>
              </a:defRPr>
            </a:pPr>
            <a:r>
              <a:rPr sz="1200" b="0">
                <a:solidFill>
                  <a:srgbClr val="F8FAFC"/>
                </a:solidFill>
                <a:latin typeface="Courier New"/>
              </a:rPr>
              <a:t>        for v in ctr:</a:t>
            </a:r>
          </a:p>
          <a:p>
            <a:pPr>
              <a:defRPr sz="1200" b="0">
                <a:solidFill>
                  <a:srgbClr val="F8FAFC"/>
                </a:solidFill>
                <a:latin typeface="Courier New"/>
              </a:defRPr>
            </a:pPr>
            <a:r>
              <a:rPr sz="1200" b="0">
                <a:solidFill>
                  <a:srgbClr val="F8FAFC"/>
                </a:solidFill>
                <a:latin typeface="Courier New"/>
              </a:rPr>
              <a:t>            rows.append((A, Bf, v))</a:t>
            </a:r>
          </a:p>
          <a:p>
            <a:pPr>
              <a:defRPr sz="1200" b="0">
                <a:solidFill>
                  <a:srgbClr val="F8FAFC"/>
                </a:solidFill>
                <a:latin typeface="Courier New"/>
              </a:defRPr>
            </a:pPr>
            <a:r>
              <a:rPr sz="1200" b="0">
                <a:solidFill>
                  <a:srgbClr val="F8FAFC"/>
                </a:solidFill>
                <a:latin typeface="Courier New"/>
              </a:rPr>
              <a:t>df = pd.DataFrame(rows, columns=["A", "B", "ctr"])</a:t>
            </a:r>
          </a:p>
          <a:p>
            <a:pPr>
              <a:defRPr sz="1200" b="0">
                <a:solidFill>
                  <a:srgbClr val="F8FAFC"/>
                </a:solidFill>
                <a:latin typeface="Courier New"/>
              </a:defRPr>
            </a:pPr>
            <a:r>
              <a:rPr sz="1200" b="0">
                <a:solidFill>
                  <a:srgbClr val="F8FAFC"/>
                </a:solidFill>
                <a:latin typeface="Courier New"/>
              </a:rPr>
              <a:t>m = smf.ols("ctr ~ A * B", data=df).fit()</a:t>
            </a:r>
          </a:p>
          <a:p>
            <a:pPr>
              <a:defRPr sz="1200" b="0">
                <a:solidFill>
                  <a:srgbClr val="F8FAFC"/>
                </a:solidFill>
                <a:latin typeface="Courier New"/>
              </a:defRPr>
            </a:pPr>
            <a:r>
              <a:rPr sz="1200" b="0">
                <a:solidFill>
                  <a:srgbClr val="F8FAFC"/>
                </a:solidFill>
                <a:latin typeface="Courier New"/>
              </a:rPr>
              <a:t>print(m.params.round(4))</a:t>
            </a:r>
          </a:p>
          <a:p>
            <a:pPr>
              <a:defRPr sz="1200" b="0">
                <a:solidFill>
                  <a:srgbClr val="F8FAFC"/>
                </a:solidFill>
                <a:latin typeface="Courier New"/>
              </a:defRPr>
            </a:pPr>
            <a:r>
              <a:rPr sz="1200" b="0">
                <a:solidFill>
                  <a:srgbClr val="F8FAFC"/>
                </a:solidFill>
                <a:latin typeface="Courier New"/>
              </a:rPr>
              <a:t>print("\nverdaderos: Intercept=0.10, A=0.02, B=0.015, A:B=0.02")</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9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187 — Diseño experimental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Factorial 2²: simulá CTR con ctr = 0.10 + 0.02·A + 0.015·B + 0.005·A·B + ε.</a:t>
            </a:r>
          </a:p>
          <a:p>
            <a:pPr>
              <a:spcAft>
                <a:spcPts val="800"/>
              </a:spcAft>
              <a:defRPr sz="1400" b="0">
                <a:solidFill>
                  <a:srgbClr val="0F172A"/>
                </a:solidFill>
                <a:latin typeface="Segoe UI"/>
              </a:defRPr>
            </a:pPr>
            <a:r>
              <a:rPr sz="1400" b="0">
                <a:solidFill>
                  <a:srgbClr val="0F172A"/>
                </a:solidFill>
                <a:latin typeface="Segoe UI"/>
              </a:rPr>
              <a:t>• Bloqueo: simulá un experimento de uplift en tasa de retención por país con paises = ['AR','BR','MX'] con baselines distintos (p0 ∈ {0.5, 0.3, 0.4}).</a:t>
            </a:r>
          </a:p>
          <a:p>
            <a:pPr>
              <a:spcAft>
                <a:spcPts val="800"/>
              </a:spcAft>
              <a:defRPr sz="1400" b="0">
                <a:solidFill>
                  <a:srgbClr val="0F172A"/>
                </a:solidFill>
                <a:latin typeface="Segoe UI"/>
              </a:defRPr>
            </a:pPr>
            <a:r>
              <a:rPr sz="1400" b="0">
                <a:solidFill>
                  <a:srgbClr val="0F172A"/>
                </a:solidFill>
                <a:latin typeface="Segoe UI"/>
              </a:rPr>
              <a:t>• Fraccional 2^(4-1): usá pyDOE2.fracfact('a b c d') y discutí qué interacciones quedan aliased.</a:t>
            </a:r>
          </a:p>
          <a:p>
            <a:pPr>
              <a:spcAft>
                <a:spcPts val="800"/>
              </a:spcAft>
              <a:defRPr sz="1400" b="0">
                <a:solidFill>
                  <a:srgbClr val="0F172A"/>
                </a:solidFill>
                <a:latin typeface="Segoe UI"/>
              </a:defRPr>
            </a:pPr>
            <a:r>
              <a:rPr sz="1400" b="0">
                <a:solidFill>
                  <a:srgbClr val="0F172A"/>
                </a:solidFill>
                <a:latin typeface="Segoe UI"/>
              </a:rPr>
              <a:t>• Cluster randomization: simulá 50 escuelas con 30 alumnos c/u, ICC=0.10, efecto verdadero 0.3.</a:t>
            </a:r>
          </a:p>
          <a:p>
            <a:pPr>
              <a:spcAft>
                <a:spcPts val="800"/>
              </a:spcAft>
              <a:defRPr sz="1400" b="0">
                <a:solidFill>
                  <a:srgbClr val="0F172A"/>
                </a:solidFill>
                <a:latin typeface="Segoe UI"/>
              </a:defRPr>
            </a:pPr>
            <a:r>
              <a:rPr sz="1400" b="0">
                <a:solidFill>
                  <a:srgbClr val="0F172A"/>
                </a:solidFill>
                <a:latin typeface="Segoe UI"/>
              </a:rPr>
              <a:t>• Switchback: simulá precio dinámico en una ciudad con bloques de 1 h alternando A y B durante 7 días.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datos con efectos principales no nulos y una interacción A:B.</a:t>
            </a:r>
          </a:p>
          <a:p>
            <a:pPr>
              <a:spcAft>
                <a:spcPts val="800"/>
              </a:spcAft>
              <a:defRPr sz="1400" b="0">
                <a:solidFill>
                  <a:srgbClr val="0F172A"/>
                </a:solidFill>
                <a:latin typeface="Segoe UI"/>
              </a:defRPr>
            </a:pPr>
            <a:r>
              <a:rPr sz="1400" b="0">
                <a:solidFill>
                  <a:srgbClr val="0F172A"/>
                </a:solidFill>
                <a:latin typeface="Segoe UI"/>
              </a:rPr>
              <a:t>• Ajustar OLS con todos los términos hasta triple.</a:t>
            </a:r>
          </a:p>
          <a:p>
            <a:pPr>
              <a:spcAft>
                <a:spcPts val="800"/>
              </a:spcAft>
              <a:defRPr sz="1400" b="0">
                <a:solidFill>
                  <a:srgbClr val="0F172A"/>
                </a:solidFill>
                <a:latin typeface="Segoe UI"/>
              </a:defRPr>
            </a:pPr>
            <a:r>
              <a:rPr sz="1400" b="0">
                <a:solidFill>
                  <a:srgbClr val="0F172A"/>
                </a:solidFill>
                <a:latin typeface="Segoe UI"/>
              </a:rPr>
              <a:t>• Reportar la tabla ANOVA y identificar los términos significativos.</a:t>
            </a:r>
          </a:p>
          <a:p>
            <a:pPr>
              <a:spcAft>
                <a:spcPts val="800"/>
              </a:spcAft>
              <a:defRPr sz="1400" b="0">
                <a:solidFill>
                  <a:srgbClr val="0F172A"/>
                </a:solidFill>
                <a:latin typeface="Segoe UI"/>
              </a:defRPr>
            </a:pPr>
            <a:r>
              <a:rPr sz="1400" b="0">
                <a:solidFill>
                  <a:srgbClr val="0F172A"/>
                </a:solidFill>
                <a:latin typeface="Segoe UI"/>
              </a:rPr>
              <a:t>• Verificar gráficamente la interacción A:B con sns.pointplot(x='A', y='conv', hue='B').</a:t>
            </a:r>
          </a:p>
          <a:p>
            <a:pPr>
              <a:spcAft>
                <a:spcPts val="800"/>
              </a:spcAft>
              <a:defRPr sz="1400" b="0">
                <a:solidFill>
                  <a:srgbClr val="0F172A"/>
                </a:solidFill>
                <a:latin typeface="Segoe UI"/>
              </a:defRPr>
            </a:pPr>
            <a:r>
              <a:rPr sz="1400" b="0">
                <a:solidFill>
                  <a:srgbClr val="0F172A"/>
                </a:solidFill>
                <a:latin typeface="Segoe UI"/>
              </a:rPr>
              <a:t>• Discutir en 3 líneas qué pasaría si hubieras hecho 3 A/B tests separados en vez del factorial.</a:t>
            </a:r>
          </a:p>
        </p:txBody>
      </p:sp>
    </p:spTree>
  </p:cSld>
  <p:clrMapOvr>
    <a:masterClrMapping/>
  </p:clrMapOvr>
</p:sld>
</file>

<file path=ppt/slides/slide94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188 — Inferencia causal: DAGs, confounders, instrumentos</a:t>
            </a:r>
          </a:p>
        </p:txBody>
      </p:sp>
    </p:spTree>
  </p:cSld>
  <p:clrMapOvr>
    <a:masterClrMapping/>
  </p:clrMapOvr>
</p:sld>
</file>

<file path=ppt/slides/slide9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188 — Inferencia causal: DAGs, confounders, instrumentos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Pearl, The Book of Why + Hernán &amp; Robins, Causal Inference: What If (libro gratuito, 2024) + Imbens &amp; Rubin.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Distinguir correlación de causalidad con rigor: dibujar DAGs (Directed Acyclic Graphs), identificar confounders, colliders y mediators, aplicar el backdoor criterion para decidir qué variables controlar, y usar variables instrumentales (IV) cuando la randomización no es posible. Conocer la herramienta moderna Double Machine Learning (DoubleML / EconML) para estimar ATE/CATE con ML como nuisance estimator.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Dibujar un DAG para un problema de negocio e identificar los tres tipos de estructura: chain (X → M → Y), fork (X ← Z → Y, confounder), collider (X → C ← Y).</a:t>
            </a:r>
          </a:p>
          <a:p>
            <a:pPr>
              <a:spcAft>
                <a:spcPts val="800"/>
              </a:spcAft>
              <a:defRPr sz="1400" b="0">
                <a:solidFill>
                  <a:srgbClr val="0F172A"/>
                </a:solidFill>
                <a:latin typeface="Segoe UI"/>
              </a:defRPr>
            </a:pPr>
            <a:r>
              <a:rPr sz="1400" b="0">
                <a:solidFill>
                  <a:srgbClr val="0F172A"/>
                </a:solidFill>
                <a:latin typeface="Segoe UI"/>
              </a:rPr>
              <a:t>• Aplicar el backdoor criterion de Pearl: encontrar el conjunto mínimo de variables a controlar para identificar el efecto causal.</a:t>
            </a:r>
          </a:p>
          <a:p>
            <a:pPr>
              <a:spcAft>
                <a:spcPts val="800"/>
              </a:spcAft>
              <a:defRPr sz="1400" b="0">
                <a:solidFill>
                  <a:srgbClr val="0F172A"/>
                </a:solidFill>
                <a:latin typeface="Segoe UI"/>
              </a:defRPr>
            </a:pPr>
            <a:r>
              <a:rPr sz="1400" b="0">
                <a:solidFill>
                  <a:srgbClr val="0F172A"/>
                </a:solidFill>
                <a:latin typeface="Segoe UI"/>
              </a:rPr>
              <a:t>• Reconocer que controlar por un collider o un mediator introduce sesgo, NO lo elimina.</a:t>
            </a:r>
          </a:p>
          <a:p>
            <a:pPr>
              <a:spcAft>
                <a:spcPts val="800"/>
              </a:spcAft>
              <a:defRPr sz="1400" b="0">
                <a:solidFill>
                  <a:srgbClr val="0F172A"/>
                </a:solidFill>
                <a:latin typeface="Segoe UI"/>
              </a:defRPr>
            </a:pPr>
            <a:r>
              <a:rPr sz="1400" b="0">
                <a:solidFill>
                  <a:srgbClr val="0F172A"/>
                </a:solidFill>
                <a:latin typeface="Segoe UI"/>
              </a:rPr>
              <a:t>• Estimar ATE (Average Treatment Effect) con regresión + controles, IPW (Inverse Probability Weighting) y matching.</a:t>
            </a:r>
          </a:p>
          <a:p>
            <a:pPr>
              <a:spcAft>
                <a:spcPts val="800"/>
              </a:spcAft>
              <a:defRPr sz="1400" b="0">
                <a:solidFill>
                  <a:srgbClr val="0F172A"/>
                </a:solidFill>
                <a:latin typeface="Segoe UI"/>
              </a:defRPr>
            </a:pPr>
            <a:r>
              <a:rPr sz="1400" b="0">
                <a:solidFill>
                  <a:srgbClr val="0F172A"/>
                </a:solidFill>
                <a:latin typeface="Segoe UI"/>
              </a:rPr>
              <a:t>• Usar 2SLS (Two-Stage Least Squares) con linearmodels.iv cuando hay un instrumento válido.</a:t>
            </a:r>
          </a:p>
        </p:txBody>
      </p:sp>
    </p:spTree>
  </p:cSld>
  <p:clrMapOvr>
    <a:masterClrMapping/>
  </p:clrMapOvr>
</p:sld>
</file>

<file path=ppt/slides/slide9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188 — Inferencia causal: DAGs, confounders, instrumentos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Correlación ≠ causalidad: el clásico ejemplo "helado y ahogamientos" — confounder: temperatura.</a:t>
            </a:r>
          </a:p>
          <a:p>
            <a:pPr>
              <a:spcAft>
                <a:spcPts val="1000"/>
              </a:spcAft>
              <a:defRPr sz="1600" b="0">
                <a:solidFill>
                  <a:srgbClr val="0F172A"/>
                </a:solidFill>
                <a:latin typeface="Segoe UI"/>
              </a:defRPr>
            </a:pPr>
            <a:r>
              <a:rPr sz="1600" b="0">
                <a:solidFill>
                  <a:srgbClr val="0F172A"/>
                </a:solidFill>
                <a:latin typeface="Segoe UI"/>
              </a:rPr>
              <a:t>• DAGs: nodos = variables, flechas = relación causal.</a:t>
            </a:r>
          </a:p>
          <a:p>
            <a:pPr>
              <a:spcAft>
                <a:spcPts val="1000"/>
              </a:spcAft>
              <a:defRPr sz="1600" b="0">
                <a:solidFill>
                  <a:srgbClr val="0F172A"/>
                </a:solidFill>
                <a:latin typeface="Segoe UI"/>
              </a:defRPr>
            </a:pPr>
            <a:r>
              <a:rPr sz="1600" b="0">
                <a:solidFill>
                  <a:srgbClr val="0F172A"/>
                </a:solidFill>
                <a:latin typeface="Segoe UI"/>
              </a:rPr>
              <a:t>• 3 estructuras canónicas: chain, fork, collider.</a:t>
            </a:r>
          </a:p>
          <a:p>
            <a:pPr>
              <a:spcAft>
                <a:spcPts val="1000"/>
              </a:spcAft>
              <a:defRPr sz="1600" b="0">
                <a:solidFill>
                  <a:srgbClr val="0F172A"/>
                </a:solidFill>
                <a:latin typeface="Segoe UI"/>
              </a:defRPr>
            </a:pPr>
            <a:r>
              <a:rPr sz="1600" b="0">
                <a:solidFill>
                  <a:srgbClr val="0F172A"/>
                </a:solidFill>
                <a:latin typeface="Segoe UI"/>
              </a:rPr>
              <a:t>• Backdoor criterion: bloquear todos los caminos no causales de X a Y; no abrir colliders.</a:t>
            </a:r>
          </a:p>
          <a:p>
            <a:pPr>
              <a:spcAft>
                <a:spcPts val="1000"/>
              </a:spcAft>
              <a:defRPr sz="1600" b="0">
                <a:solidFill>
                  <a:srgbClr val="0F172A"/>
                </a:solidFill>
                <a:latin typeface="Segoe UI"/>
              </a:defRPr>
            </a:pPr>
            <a:r>
              <a:rPr sz="1600" b="0">
                <a:solidFill>
                  <a:srgbClr val="0F172A"/>
                </a:solidFill>
                <a:latin typeface="Segoe UI"/>
              </a:rPr>
              <a:t>• ATE = E[Y | do(T=1)] - E[Y | do(T=0)]. El "do" indica intervención, no observación.</a:t>
            </a:r>
          </a:p>
          <a:p>
            <a:pPr>
              <a:spcAft>
                <a:spcPts val="1000"/>
              </a:spcAft>
              <a:defRPr sz="1600" b="0">
                <a:solidFill>
                  <a:srgbClr val="0F172A"/>
                </a:solidFill>
                <a:latin typeface="Segoe UI"/>
              </a:defRPr>
            </a:pPr>
            <a:r>
              <a:rPr sz="1600" b="0">
                <a:solidFill>
                  <a:srgbClr val="0F172A"/>
                </a:solidFill>
                <a:latin typeface="Segoe UI"/>
              </a:rPr>
              <a:t>• Identificación: ¿se puede expresar E[Y | do(T)] con datos observacionales? Si sí → estimar.</a:t>
            </a:r>
          </a:p>
          <a:p>
            <a:pPr>
              <a:spcAft>
                <a:spcPts val="1000"/>
              </a:spcAft>
              <a:defRPr sz="1600" b="0">
                <a:solidFill>
                  <a:srgbClr val="0F172A"/>
                </a:solidFill>
                <a:latin typeface="Segoe UI"/>
              </a:defRPr>
            </a:pPr>
            <a:r>
              <a:rPr sz="1600" b="0">
                <a:solidFill>
                  <a:srgbClr val="0F172A"/>
                </a:solidFill>
                <a:latin typeface="Segoe UI"/>
              </a:rPr>
              <a:t>• IV: variable Z que afecta T pero NO a Y excepto vía T. Permite identificar el efecto cuando hay confounders no observados.</a:t>
            </a:r>
          </a:p>
        </p:txBody>
      </p:sp>
    </p:spTree>
  </p:cSld>
  <p:clrMapOvr>
    <a:masterClrMapping/>
  </p:clrMapOvr>
</p:sld>
</file>

<file path=ppt/slides/slide9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188 — Inferencia causal: DAGs, confounders, instrumentos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 ← Z → Y. Z causa tanto T como Y. El OLS ingenuo Y~T está sesgado; ajustar por Z recupera el efecto causal (backdoor criterion).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statsmodels.api as sm</a:t>
            </a:r>
          </a:p>
          <a:p>
            <a:pPr>
              <a:defRPr sz="1200" b="0">
                <a:solidFill>
                  <a:srgbClr val="F8FAFC"/>
                </a:solidFill>
                <a:latin typeface="Courier New"/>
              </a:defRPr>
            </a:pPr>
            <a:r>
              <a:rPr sz="1200" b="0">
                <a:solidFill>
                  <a:srgbClr val="F8FAFC"/>
                </a:solidFill>
                <a:latin typeface="Courier New"/>
              </a:rPr>
              <a:t>import statsmodels.formula.api as smf</a:t>
            </a:r>
          </a:p>
          <a:p>
            <a:pPr>
              <a:defRPr sz="1200" b="0">
                <a:solidFill>
                  <a:srgbClr val="F8FAFC"/>
                </a:solidFill>
                <a:latin typeface="Courier New"/>
              </a:defRPr>
            </a:pPr>
            <a:r>
              <a:rPr sz="1200" b="0">
                <a:solidFill>
                  <a:srgbClr val="F8FAFC"/>
                </a:solidFill>
                <a:latin typeface="Courier New"/>
              </a:rPr>
              <a:t>from statsmodels.sandbox.regression.gmm import IV2SLS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 5000</a:t>
            </a:r>
          </a:p>
          <a:p>
            <a:pPr>
              <a:defRPr sz="1200" b="0">
                <a:solidFill>
                  <a:srgbClr val="F8FAFC"/>
                </a:solidFill>
                <a:latin typeface="Courier New"/>
              </a:defRPr>
            </a:pPr>
            <a:r>
              <a:rPr sz="1200" b="0">
                <a:solidFill>
                  <a:srgbClr val="F8FAFC"/>
                </a:solidFill>
                <a:latin typeface="Courier New"/>
              </a:rPr>
              <a:t>Z = rng.normal(0, 1, n)                     # confounder</a:t>
            </a:r>
          </a:p>
          <a:p>
            <a:pPr>
              <a:defRPr sz="1200" b="0">
                <a:solidFill>
                  <a:srgbClr val="F8FAFC"/>
                </a:solidFill>
                <a:latin typeface="Courier New"/>
              </a:defRPr>
            </a:pPr>
            <a:r>
              <a:rPr sz="1200" b="0">
                <a:solidFill>
                  <a:srgbClr val="F8FAFC"/>
                </a:solidFill>
                <a:latin typeface="Courier New"/>
              </a:rPr>
              <a:t>T = 0.8 * Z + rng.normal(0, 1, n)           # tratamiento depende de Z</a:t>
            </a:r>
          </a:p>
          <a:p>
            <a:pPr>
              <a:defRPr sz="1200" b="0">
                <a:solidFill>
                  <a:srgbClr val="F8FAFC"/>
                </a:solidFill>
                <a:latin typeface="Courier New"/>
              </a:defRPr>
            </a:pPr>
            <a:r>
              <a:rPr sz="1200" b="0">
                <a:solidFill>
                  <a:srgbClr val="F8FAFC"/>
                </a:solidFill>
                <a:latin typeface="Courier New"/>
              </a:rPr>
              <a:t>Y = 2.0 * T + 3.0 * Z + rng.normal(0, 1, n) # efecto causal verdadero de T = 2.0</a:t>
            </a:r>
          </a:p>
          <a:p>
            <a:pPr>
              <a:defRPr sz="1200" b="0">
                <a:solidFill>
                  <a:srgbClr val="F8FAFC"/>
                </a:solidFill>
                <a:latin typeface="Courier New"/>
              </a:defRPr>
            </a:pPr>
            <a:r>
              <a:rPr sz="1200" b="0">
                <a:solidFill>
                  <a:srgbClr val="F8FAFC"/>
                </a:solidFill>
                <a:latin typeface="Courier New"/>
              </a:rPr>
              <a:t>df = pd.DataFrame({"Y": Y, "T": T, "Z": Z})</a:t>
            </a:r>
          </a:p>
          <a:p>
            <a:pPr>
              <a:defRPr sz="1200" b="0">
                <a:solidFill>
                  <a:srgbClr val="F8FAFC"/>
                </a:solidFill>
                <a:latin typeface="Courier New"/>
              </a:defRPr>
            </a:pPr>
            <a:r>
              <a:rPr sz="1200" b="0">
                <a:solidFill>
                  <a:srgbClr val="F8FAFC"/>
                </a:solidFill>
                <a:latin typeface="Courier New"/>
              </a:rPr>
              <a:t>naive = smf.ols("Y ~ T", data=df).fit().params["T"]</a:t>
            </a:r>
          </a:p>
          <a:p>
            <a:pPr>
              <a:defRPr sz="1200" b="0">
                <a:solidFill>
                  <a:srgbClr val="F8FAFC"/>
                </a:solidFill>
                <a:latin typeface="Courier New"/>
              </a:defRPr>
            </a:pPr>
            <a:r>
              <a:rPr sz="1200" b="0">
                <a:solidFill>
                  <a:srgbClr val="F8FAFC"/>
                </a:solidFill>
                <a:latin typeface="Courier New"/>
              </a:rPr>
              <a:t>adj   = smf.ols("Y ~ T + Z", data=df).fit().params["T"]</a:t>
            </a:r>
          </a:p>
          <a:p>
            <a:pPr>
              <a:defRPr sz="1200" b="0">
                <a:solidFill>
                  <a:srgbClr val="F8FAFC"/>
                </a:solidFill>
                <a:latin typeface="Courier New"/>
              </a:defRPr>
            </a:pPr>
            <a:r>
              <a:rPr sz="1200" b="0">
                <a:solidFill>
                  <a:srgbClr val="F8FAFC"/>
                </a:solidFill>
                <a:latin typeface="Courier New"/>
              </a:rPr>
              <a:t>print("efecto verdadero = 2.00")</a:t>
            </a:r>
          </a:p>
          <a:p>
            <a:pPr>
              <a:defRPr sz="1200" b="0">
                <a:solidFill>
                  <a:srgbClr val="F8FAFC"/>
                </a:solidFill>
                <a:latin typeface="Courier New"/>
              </a:defRPr>
            </a:pPr>
            <a:r>
              <a:rPr sz="1200" b="0">
                <a:solidFill>
                  <a:srgbClr val="F8FAFC"/>
                </a:solidFill>
                <a:latin typeface="Courier New"/>
              </a:rPr>
              <a:t>print(f"OLS ingenuo   Y~T   = {naive:.3f}  (sesgado por Z)")</a:t>
            </a:r>
          </a:p>
          <a:p>
            <a:pPr>
              <a:defRPr sz="1200" b="0">
                <a:solidFill>
                  <a:srgbClr val="F8FAFC"/>
                </a:solidFill>
                <a:latin typeface="Courier New"/>
              </a:defRPr>
            </a:pPr>
            <a:r>
              <a:rPr sz="1200" b="0">
                <a:solidFill>
                  <a:srgbClr val="F8FAFC"/>
                </a:solidFill>
                <a:latin typeface="Courier New"/>
              </a:rPr>
              <a:t>print(f"OLS ajustado  Y~T+Z = {adj:.3f}  (recupera el efecto)")</a:t>
            </a:r>
          </a:p>
          <a:p>
            <a:pPr>
              <a:defRPr sz="1200" b="0">
                <a:solidFill>
                  <a:srgbClr val="F8FAFC"/>
                </a:solidFill>
                <a:latin typeface="Courier New"/>
              </a:defRPr>
            </a:pPr>
            <a:r>
              <a:rPr sz="1200" b="0">
                <a:solidFill>
                  <a:srgbClr val="F8FAFC"/>
                </a:solidFill>
                <a:latin typeface="Courier New"/>
              </a:rPr>
              <a:t>assert abs(adj - 2.0) &lt; 0.15 and abs(naive - 2.0) &gt; 0.3</a:t>
            </a:r>
          </a:p>
        </p:txBody>
      </p:sp>
    </p:spTree>
  </p:cSld>
  <p:clrMapOvr>
    <a:masterClrMapping/>
  </p:clrMapOvr>
</p:sld>
</file>

<file path=ppt/slides/slide9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188 — Inferencia causal: DAGs, confounders, instrumentos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DAG en código: con pgmpy (o networkx), definí un DAG con T, Y, Z (confounder), C (collider).</a:t>
            </a:r>
          </a:p>
          <a:p>
            <a:pPr>
              <a:spcAft>
                <a:spcPts val="800"/>
              </a:spcAft>
              <a:defRPr sz="1400" b="0">
                <a:solidFill>
                  <a:srgbClr val="0F172A"/>
                </a:solidFill>
                <a:latin typeface="Segoe UI"/>
              </a:defRPr>
            </a:pPr>
            <a:r>
              <a:rPr sz="1400" b="0">
                <a:solidFill>
                  <a:srgbClr val="0F172A"/>
                </a:solidFill>
                <a:latin typeface="Segoe UI"/>
              </a:rPr>
              <a:t>• Sesgo del collider: simulá T ~ N(0,1), Y ~ N(T, 1), C = T + Y + ε.</a:t>
            </a:r>
          </a:p>
          <a:p>
            <a:pPr>
              <a:spcAft>
                <a:spcPts val="800"/>
              </a:spcAft>
              <a:defRPr sz="1400" b="0">
                <a:solidFill>
                  <a:srgbClr val="0F172A"/>
                </a:solidFill>
                <a:latin typeface="Segoe UI"/>
              </a:defRPr>
            </a:pPr>
            <a:r>
              <a:rPr sz="1400" b="0">
                <a:solidFill>
                  <a:srgbClr val="0F172A"/>
                </a:solidFill>
                <a:latin typeface="Segoe UI"/>
              </a:rPr>
              <a:t>• Backdoor ajustando confounder: simulá Z, T = f(Z) + ε, Y = 2T + 3Z + δ.</a:t>
            </a:r>
          </a:p>
          <a:p>
            <a:pPr>
              <a:spcAft>
                <a:spcPts val="800"/>
              </a:spcAft>
              <a:defRPr sz="1400" b="0">
                <a:solidFill>
                  <a:srgbClr val="0F172A"/>
                </a:solidFill>
                <a:latin typeface="Segoe UI"/>
              </a:defRPr>
            </a:pPr>
            <a:r>
              <a:rPr sz="1400" b="0">
                <a:solidFill>
                  <a:srgbClr val="0F172A"/>
                </a:solidFill>
                <a:latin typeface="Segoe UI"/>
              </a:rPr>
              <a:t>• 2SLS: simular un IV Z → T → Y con confounder no observado entre T y Y.</a:t>
            </a:r>
          </a:p>
          <a:p>
            <a:pPr>
              <a:spcAft>
                <a:spcPts val="800"/>
              </a:spcAft>
              <a:defRPr sz="1400" b="0">
                <a:solidFill>
                  <a:srgbClr val="0F172A"/>
                </a:solidFill>
                <a:latin typeface="Segoe UI"/>
              </a:defRPr>
            </a:pPr>
            <a:r>
              <a:rPr sz="1400" b="0">
                <a:solidFill>
                  <a:srgbClr val="0F172A"/>
                </a:solidFill>
                <a:latin typeface="Segoe UI"/>
              </a:rPr>
              <a:t>• DML con random forest: dataset sintético con confounders no lineales.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X (edad, educación, experiencia) como confounders. Generar T (participa) con P(T|X) no trivial. Generar Y con efecto causal θ_true = 2_000.</a:t>
            </a:r>
          </a:p>
          <a:p>
            <a:pPr>
              <a:spcAft>
                <a:spcPts val="800"/>
              </a:spcAft>
              <a:defRPr sz="1400" b="0">
                <a:solidFill>
                  <a:srgbClr val="0F172A"/>
                </a:solidFill>
                <a:latin typeface="Segoe UI"/>
              </a:defRPr>
            </a:pPr>
            <a:r>
              <a:rPr sz="1400" b="0">
                <a:solidFill>
                  <a:srgbClr val="0F172A"/>
                </a:solidFill>
                <a:latin typeface="Segoe UI"/>
              </a:rPr>
              <a:t>• Estimar el efecto con: (a) diferencia ingenua de medias, (b) OLS con controles lineales, (c) DoubleML con RF.</a:t>
            </a:r>
          </a:p>
          <a:p>
            <a:pPr>
              <a:spcAft>
                <a:spcPts val="800"/>
              </a:spcAft>
              <a:defRPr sz="1400" b="0">
                <a:solidFill>
                  <a:srgbClr val="0F172A"/>
                </a:solidFill>
                <a:latin typeface="Segoe UI"/>
              </a:defRPr>
            </a:pPr>
            <a:r>
              <a:rPr sz="1400" b="0">
                <a:solidFill>
                  <a:srgbClr val="0F172A"/>
                </a:solidFill>
                <a:latin typeface="Segoe UI"/>
              </a:rPr>
              <a:t>• Comparar contra θ_true. Reportar bias y IC95 %.</a:t>
            </a:r>
          </a:p>
          <a:p>
            <a:pPr>
              <a:spcAft>
                <a:spcPts val="800"/>
              </a:spcAft>
              <a:defRPr sz="1400" b="0">
                <a:solidFill>
                  <a:srgbClr val="0F172A"/>
                </a:solidFill>
                <a:latin typeface="Segoe UI"/>
              </a:defRPr>
            </a:pPr>
            <a:r>
              <a:rPr sz="1400" b="0">
                <a:solidFill>
                  <a:srgbClr val="0F172A"/>
                </a:solidFill>
                <a:latin typeface="Segoe UI"/>
              </a:rPr>
              <a:t>• Dibujar el DAG (puede ser un comentario con notación o un grafo simple).</a:t>
            </a:r>
          </a:p>
          <a:p>
            <a:pPr>
              <a:spcAft>
                <a:spcPts val="800"/>
              </a:spcAft>
              <a:defRPr sz="1400" b="0">
                <a:solidFill>
                  <a:srgbClr val="0F172A"/>
                </a:solidFill>
                <a:latin typeface="Segoe UI"/>
              </a:defRPr>
            </a:pPr>
            <a:r>
              <a:rPr sz="1400" b="0">
                <a:solidFill>
                  <a:srgbClr val="0F172A"/>
                </a:solidFill>
                <a:latin typeface="Segoe UI"/>
              </a:rPr>
              <a:t>• Discutir en 3 líneas qué pasaría si hubieras controlado por un mediator (ej.: "horas trabajadas").</a:t>
            </a:r>
          </a:p>
        </p:txBody>
      </p:sp>
    </p:spTree>
  </p:cSld>
  <p:clrMapOvr>
    <a:masterClrMapping/>
  </p:clrMapOvr>
</p:sld>
</file>

<file path=ppt/slides/slide94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189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189 — DoubleML / EconML: Machine Learning para causalidad</a:t>
            </a:r>
          </a:p>
        </p:txBody>
      </p:sp>
    </p:spTree>
  </p:cSld>
  <p:clrMapOvr>
    <a:masterClrMapping/>
  </p:clrMapOvr>
</p:sld>
</file>

<file path=ppt/slides/slide9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189 — DoubleML / EconML: Machine Learning para causalidad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Chernozhukov et al. (2018) DML + docs DoubleML + EconML.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Double Machine Learning (Chernozhukov 2018) y EconML (Microsoft Research) para estimar ATE y CATE (Conditional ATE — heterogeneidad del efecto) usando cualquier ML como nuisance estimator (Random Forest, XGBoost, neural net). Inference válida (CI, p-value) sin asumir linearidad de los confounders.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Neyman-orthogonal score y por qué DML es doubly robust.</a:t>
            </a:r>
          </a:p>
          <a:p>
            <a:pPr>
              <a:spcAft>
                <a:spcPts val="800"/>
              </a:spcAft>
              <a:defRPr sz="1400" b="0">
                <a:solidFill>
                  <a:srgbClr val="0F172A"/>
                </a:solidFill>
                <a:latin typeface="Segoe UI"/>
              </a:defRPr>
            </a:pPr>
            <a:r>
              <a:rPr sz="1400" b="0">
                <a:solidFill>
                  <a:srgbClr val="0F172A"/>
                </a:solidFill>
                <a:latin typeface="Segoe UI"/>
              </a:rPr>
              <a:t>• Aplicar DoubleMLPLR para ATE con ML nuisance.</a:t>
            </a:r>
          </a:p>
          <a:p>
            <a:pPr>
              <a:spcAft>
                <a:spcPts val="800"/>
              </a:spcAft>
              <a:defRPr sz="1400" b="0">
                <a:solidFill>
                  <a:srgbClr val="0F172A"/>
                </a:solidFill>
                <a:latin typeface="Segoe UI"/>
              </a:defRPr>
            </a:pPr>
            <a:r>
              <a:rPr sz="1400" b="0">
                <a:solidFill>
                  <a:srgbClr val="0F172A"/>
                </a:solidFill>
                <a:latin typeface="Segoe UI"/>
              </a:rPr>
              <a:t>• Usar CausalForestDML de EconML para CATE personalizado.</a:t>
            </a:r>
          </a:p>
          <a:p>
            <a:pPr>
              <a:spcAft>
                <a:spcPts val="800"/>
              </a:spcAft>
              <a:defRPr sz="1400" b="0">
                <a:solidFill>
                  <a:srgbClr val="0F172A"/>
                </a:solidFill>
                <a:latin typeface="Segoe UI"/>
              </a:defRPr>
            </a:pPr>
            <a:r>
              <a:rPr sz="1400" b="0">
                <a:solidFill>
                  <a:srgbClr val="0F172A"/>
                </a:solidFill>
                <a:latin typeface="Segoe UI"/>
              </a:rPr>
              <a:t>• Cross-fitting: K-fold para evitar overfitting del nuisance.</a:t>
            </a:r>
          </a:p>
          <a:p>
            <a:pPr>
              <a:spcAft>
                <a:spcPts val="800"/>
              </a:spcAft>
              <a:defRPr sz="1400" b="0">
                <a:solidFill>
                  <a:srgbClr val="0F172A"/>
                </a:solidFill>
                <a:latin typeface="Segoe UI"/>
              </a:defRPr>
            </a:pPr>
            <a:r>
              <a:rPr sz="1400" b="0">
                <a:solidFill>
                  <a:srgbClr val="0F172A"/>
                </a:solidFill>
                <a:latin typeface="Segoe UI"/>
              </a:rPr>
              <a:t>• Inspeccionar policy óptimo: policy_tree para árbol de decisión de tratamiento.</a:t>
            </a:r>
          </a:p>
        </p:txBody>
      </p:sp>
    </p:spTree>
  </p:cSld>
  <p:clrMapOvr>
    <a:masterClrMapping/>
  </p:clrMapOvr>
</p:sld>
</file>

<file path=ppt/slides/slide9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189 — DoubleML / EconML: Machine Learning para causalidad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Marco PLR (Partially Linear Regression): Y = θT + g(X) + ε, T = m(X) + v.</a:t>
            </a:r>
          </a:p>
          <a:p>
            <a:pPr>
              <a:spcAft>
                <a:spcPts val="1000"/>
              </a:spcAft>
              <a:defRPr sz="1600" b="0">
                <a:solidFill>
                  <a:srgbClr val="0F172A"/>
                </a:solidFill>
                <a:latin typeface="Segoe UI"/>
              </a:defRPr>
            </a:pPr>
            <a:r>
              <a:rPr sz="1600" b="0">
                <a:solidFill>
                  <a:srgbClr val="0F172A"/>
                </a:solidFill>
                <a:latin typeface="Segoe UI"/>
              </a:rPr>
              <a:t>• Score orthogonal: derivada respecto a nuisances = 0 en expectation.</a:t>
            </a:r>
          </a:p>
          <a:p>
            <a:pPr>
              <a:spcAft>
                <a:spcPts val="1000"/>
              </a:spcAft>
              <a:defRPr sz="1600" b="0">
                <a:solidFill>
                  <a:srgbClr val="0F172A"/>
                </a:solidFill>
                <a:latin typeface="Segoe UI"/>
              </a:defRPr>
            </a:pPr>
            <a:r>
              <a:rPr sz="1600" b="0">
                <a:solidFill>
                  <a:srgbClr val="0F172A"/>
                </a:solidFill>
                <a:latin typeface="Segoe UI"/>
              </a:rPr>
              <a:t>• Cross-fitting: estimar nuisances en fold A, evaluar en B.</a:t>
            </a:r>
          </a:p>
          <a:p>
            <a:pPr>
              <a:spcAft>
                <a:spcPts val="1000"/>
              </a:spcAft>
              <a:defRPr sz="1600" b="0">
                <a:solidFill>
                  <a:srgbClr val="0F172A"/>
                </a:solidFill>
                <a:latin typeface="Segoe UI"/>
              </a:defRPr>
            </a:pPr>
            <a:r>
              <a:rPr sz="1600" b="0">
                <a:solidFill>
                  <a:srgbClr val="0F172A"/>
                </a:solidFill>
                <a:latin typeface="Segoe UI"/>
              </a:rPr>
              <a:t>• CATE: efecto por subgroup.</a:t>
            </a:r>
          </a:p>
          <a:p>
            <a:pPr>
              <a:spcAft>
                <a:spcPts val="1000"/>
              </a:spcAft>
              <a:defRPr sz="1600" b="0">
                <a:solidFill>
                  <a:srgbClr val="0F172A"/>
                </a:solidFill>
                <a:latin typeface="Segoe UI"/>
              </a:defRPr>
            </a:pPr>
            <a:r>
              <a:rPr sz="1600" b="0">
                <a:solidFill>
                  <a:srgbClr val="0F172A"/>
                </a:solidFill>
                <a:latin typeface="Segoe UI"/>
              </a:rPr>
              <a:t>• Heterogeneity tests.</a:t>
            </a:r>
          </a:p>
          <a:p>
            <a:pPr>
              <a:spcAft>
                <a:spcPts val="1000"/>
              </a:spcAft>
              <a:defRPr sz="1600" b="0">
                <a:solidFill>
                  <a:srgbClr val="0F172A"/>
                </a:solidFill>
                <a:latin typeface="Segoe UI"/>
              </a:defRPr>
            </a:pPr>
            <a:r>
              <a:rPr sz="1600" b="0">
                <a:solidFill>
                  <a:srgbClr val="0F172A"/>
                </a:solidFill>
                <a:latin typeface="Segoe UI"/>
              </a:rPr>
              <a:t>• Policy learning: decidir a quién tratar.</a:t>
            </a:r>
          </a:p>
        </p:txBody>
      </p:sp>
    </p:spTree>
  </p:cSld>
  <p:clrMapOvr>
    <a:masterClrMapping/>
  </p:clrMapOvr>
</p:sld>
</file>

<file path=ppt/slides/slide9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189 — DoubleML / EconML: Machine Learning para causalidad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El problema: con confounding observado high-dim, regresión naive sesga. Double/Debiased ML (Chernozhukov 2018) usa ML para residualizar Y y T, y aplica Frisch-Waugh-Lovell sobre los residuos → estimador eficiente con CI válido. Requiere: pip install numpy scikit-learn (opcional doubleml).</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sklearn.linear_model import Ridge, LogisticRegression</a:t>
            </a:r>
          </a:p>
          <a:p>
            <a:pPr>
              <a:defRPr sz="1200" b="0">
                <a:solidFill>
                  <a:srgbClr val="F8FAFC"/>
                </a:solidFill>
                <a:latin typeface="Courier New"/>
              </a:defRPr>
            </a:pPr>
            <a:r>
              <a:rPr sz="1200" b="0">
                <a:solidFill>
                  <a:srgbClr val="F8FAFC"/>
                </a:solidFill>
                <a:latin typeface="Courier New"/>
              </a:rPr>
              <a:t>from sklearn.model_selection import KFold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p = 2000, 20</a:t>
            </a:r>
          </a:p>
          <a:p>
            <a:pPr>
              <a:defRPr sz="1200" b="0">
                <a:solidFill>
                  <a:srgbClr val="F8FAFC"/>
                </a:solidFill>
                <a:latin typeface="Courier New"/>
              </a:defRPr>
            </a:pPr>
            <a:r>
              <a:rPr sz="1200" b="0">
                <a:solidFill>
                  <a:srgbClr val="F8FAFC"/>
                </a:solidFill>
                <a:latin typeface="Courier New"/>
              </a:rPr>
              <a:t>X = rng.normal(0, 1, (n, p))</a:t>
            </a:r>
          </a:p>
          <a:p>
            <a:pPr>
              <a:defRPr sz="1200" b="0">
                <a:solidFill>
                  <a:srgbClr val="F8FAFC"/>
                </a:solidFill>
                <a:latin typeface="Courier New"/>
              </a:defRPr>
            </a:pPr>
            <a:r>
              <a:rPr sz="1200" b="0">
                <a:solidFill>
                  <a:srgbClr val="F8FAFC"/>
                </a:solidFill>
                <a:latin typeface="Courier New"/>
              </a:rPr>
              <a:t>beta = rng.normal(0, 1, p)</a:t>
            </a:r>
          </a:p>
          <a:p>
            <a:pPr>
              <a:defRPr sz="1200" b="0">
                <a:solidFill>
                  <a:srgbClr val="F8FAFC"/>
                </a:solidFill>
                <a:latin typeface="Courier New"/>
              </a:defRPr>
            </a:pPr>
            <a:r>
              <a:rPr sz="1200" b="0">
                <a:solidFill>
                  <a:srgbClr val="F8FAFC"/>
                </a:solidFill>
                <a:latin typeface="Courier New"/>
              </a:rPr>
              <a:t># Tratamiento depende de X (confounding)</a:t>
            </a:r>
          </a:p>
          <a:p>
            <a:pPr>
              <a:defRPr sz="1200" b="0">
                <a:solidFill>
                  <a:srgbClr val="F8FAFC"/>
                </a:solidFill>
                <a:latin typeface="Courier New"/>
              </a:defRPr>
            </a:pPr>
            <a:r>
              <a:rPr sz="1200" b="0">
                <a:solidFill>
                  <a:srgbClr val="F8FAFC"/>
                </a:solidFill>
                <a:latin typeface="Courier New"/>
              </a:rPr>
              <a:t>logit = X @ beta * 0.3</a:t>
            </a:r>
          </a:p>
          <a:p>
            <a:pPr>
              <a:defRPr sz="1200" b="0">
                <a:solidFill>
                  <a:srgbClr val="F8FAFC"/>
                </a:solidFill>
                <a:latin typeface="Courier New"/>
              </a:defRPr>
            </a:pPr>
            <a:r>
              <a:rPr sz="1200" b="0">
                <a:solidFill>
                  <a:srgbClr val="F8FAFC"/>
                </a:solidFill>
                <a:latin typeface="Courier New"/>
              </a:rPr>
              <a:t>T = (rng.uniform(0, 1, n) &lt; 1/(1+np.exp(-logit))).astype(float)</a:t>
            </a:r>
          </a:p>
          <a:p>
            <a:pPr>
              <a:defRPr sz="1200" b="0">
                <a:solidFill>
                  <a:srgbClr val="F8FAFC"/>
                </a:solidFill>
                <a:latin typeface="Courier New"/>
              </a:defRPr>
            </a:pPr>
            <a:r>
              <a:rPr sz="1200" b="0">
                <a:solidFill>
                  <a:srgbClr val="F8FAFC"/>
                </a:solidFill>
                <a:latin typeface="Courier New"/>
              </a:rPr>
              <a:t># Outcome depende de X y T; ATE verdadero = 2.0</a:t>
            </a:r>
          </a:p>
          <a:p>
            <a:pPr>
              <a:defRPr sz="1200" b="0">
                <a:solidFill>
                  <a:srgbClr val="F8FAFC"/>
                </a:solidFill>
                <a:latin typeface="Courier New"/>
              </a:defRPr>
            </a:pPr>
            <a:r>
              <a:rPr sz="1200" b="0">
                <a:solidFill>
                  <a:srgbClr val="F8FAFC"/>
                </a:solidFill>
                <a:latin typeface="Courier New"/>
              </a:rPr>
              <a:t>TRUE_ATE = 2.0</a:t>
            </a:r>
          </a:p>
          <a:p>
            <a:pPr>
              <a:defRPr sz="1200" b="0">
                <a:solidFill>
                  <a:srgbClr val="F8FAFC"/>
                </a:solidFill>
                <a:latin typeface="Courier New"/>
              </a:defRPr>
            </a:pPr>
            <a:r>
              <a:rPr sz="1200" b="0">
                <a:solidFill>
                  <a:srgbClr val="F8FAFC"/>
                </a:solidFill>
                <a:latin typeface="Courier New"/>
              </a:rPr>
              <a:t>Y = X @ beta + TRUE_ATE * T + rng.normal(0, 1, n)</a:t>
            </a:r>
          </a:p>
          <a:p>
            <a:pPr>
              <a:defRPr sz="1200" b="0">
                <a:solidFill>
                  <a:srgbClr val="F8FAFC"/>
                </a:solidFill>
                <a:latin typeface="Courier New"/>
              </a:defRPr>
            </a:pPr>
            <a:r>
              <a:rPr sz="1200" b="0">
                <a:solidFill>
                  <a:srgbClr val="F8FAFC"/>
                </a:solidFill>
                <a:latin typeface="Courier New"/>
              </a:rPr>
              <a:t>print(f'n={n}  p={p}  P(T=1)={T.mean():.3f}  TRUE ATE = {TRUE_ATE}')</a:t>
            </a:r>
          </a:p>
        </p:txBody>
      </p:sp>
    </p:spTree>
  </p:cSld>
  <p:clrMapOvr>
    <a:masterClrMapping/>
  </p:clrMapOvr>
</p:sld>
</file>

<file path=ppt/slides/slide9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189 — DoubleML / EconML: Machine Learning para causalidad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Sintético: simular Y = 2·T + 3·X1 + X2² + ε, T = P(...|X).</a:t>
            </a:r>
          </a:p>
          <a:p>
            <a:pPr>
              <a:spcAft>
                <a:spcPts val="800"/>
              </a:spcAft>
              <a:defRPr sz="1400" b="0">
                <a:solidFill>
                  <a:srgbClr val="0F172A"/>
                </a:solidFill>
                <a:latin typeface="Segoe UI"/>
              </a:defRPr>
            </a:pPr>
            <a:r>
              <a:rPr sz="1400" b="0">
                <a:solidFill>
                  <a:srgbClr val="0F172A"/>
                </a:solidFill>
                <a:latin typeface="Segoe UI"/>
              </a:rPr>
              <a:t>• DML básico: DoubleMLPLR(data, ml_g=RF, ml_m=RF, n_folds=5).</a:t>
            </a:r>
          </a:p>
          <a:p>
            <a:pPr>
              <a:spcAft>
                <a:spcPts val="800"/>
              </a:spcAft>
              <a:defRPr sz="1400" b="0">
                <a:solidFill>
                  <a:srgbClr val="0F172A"/>
                </a:solidFill>
                <a:latin typeface="Segoe UI"/>
              </a:defRPr>
            </a:pPr>
            <a:r>
              <a:rPr sz="1400" b="0">
                <a:solidFill>
                  <a:srgbClr val="0F172A"/>
                </a:solidFill>
                <a:latin typeface="Segoe UI"/>
              </a:rPr>
              <a:t>• Comparar OLS vs DML: OLS lineal con Y ~ T + X1 + X2 sesgado por X2 no lineal.</a:t>
            </a:r>
          </a:p>
          <a:p>
            <a:pPr>
              <a:spcAft>
                <a:spcPts val="800"/>
              </a:spcAft>
              <a:defRPr sz="1400" b="0">
                <a:solidFill>
                  <a:srgbClr val="0F172A"/>
                </a:solidFill>
                <a:latin typeface="Segoe UI"/>
              </a:defRPr>
            </a:pPr>
            <a:r>
              <a:rPr sz="1400" b="0">
                <a:solidFill>
                  <a:srgbClr val="0F172A"/>
                </a:solidFill>
                <a:latin typeface="Segoe UI"/>
              </a:rPr>
              <a:t>• CausalForestDML: con dataset heterogéneo, estimar CATE.</a:t>
            </a:r>
          </a:p>
          <a:p>
            <a:pPr>
              <a:spcAft>
                <a:spcPts val="800"/>
              </a:spcAft>
              <a:defRPr sz="1400" b="0">
                <a:solidFill>
                  <a:srgbClr val="0F172A"/>
                </a:solidFill>
                <a:latin typeface="Segoe UI"/>
              </a:defRPr>
            </a:pPr>
            <a:r>
              <a:rPr sz="1400" b="0">
                <a:solidFill>
                  <a:srgbClr val="0F172A"/>
                </a:solidFill>
                <a:latin typeface="Segoe UI"/>
              </a:rPr>
              <a:t>• Policy tree: econml.policy.PolicyTree para decidir a quién tratar.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Generar dataset sintético (econml.dgps.ihdp_surface_B o custom).</a:t>
            </a:r>
          </a:p>
          <a:p>
            <a:pPr>
              <a:spcAft>
                <a:spcPts val="800"/>
              </a:spcAft>
              <a:defRPr sz="1500" b="0">
                <a:solidFill>
                  <a:srgbClr val="0F172A"/>
                </a:solidFill>
                <a:latin typeface="Segoe UI"/>
              </a:defRPr>
            </a:pPr>
            <a:r>
              <a:rPr sz="1500" b="0">
                <a:solidFill>
                  <a:srgbClr val="0F172A"/>
                </a:solidFill>
                <a:latin typeface="Segoe UI"/>
              </a:rPr>
              <a:t>• Estimar ATE con: (a) diferencia ingenua, (b) OLS lineal, (c) DML RF, (d) DML XGBoost.</a:t>
            </a:r>
          </a:p>
          <a:p>
            <a:pPr>
              <a:spcAft>
                <a:spcPts val="800"/>
              </a:spcAft>
              <a:defRPr sz="1500" b="0">
                <a:solidFill>
                  <a:srgbClr val="0F172A"/>
                </a:solidFill>
                <a:latin typeface="Segoe UI"/>
              </a:defRPr>
            </a:pPr>
            <a:r>
              <a:rPr sz="1500" b="0">
                <a:solidFill>
                  <a:srgbClr val="0F172A"/>
                </a:solidFill>
                <a:latin typeface="Segoe UI"/>
              </a:rPr>
              <a:t>• Reportar bias contra ground truth.</a:t>
            </a:r>
          </a:p>
          <a:p>
            <a:pPr>
              <a:spcAft>
                <a:spcPts val="800"/>
              </a:spcAft>
              <a:defRPr sz="1500" b="0">
                <a:solidFill>
                  <a:srgbClr val="0F172A"/>
                </a:solidFill>
                <a:latin typeface="Segoe UI"/>
              </a:defRPr>
            </a:pPr>
            <a:r>
              <a:rPr sz="1500" b="0">
                <a:solidFill>
                  <a:srgbClr val="0F172A"/>
                </a:solidFill>
                <a:latin typeface="Segoe UI"/>
              </a:rPr>
              <a:t>• CATE con CausalForestDML; visualizar heterogeneidad.</a:t>
            </a:r>
          </a:p>
        </p:txBody>
      </p:sp>
    </p:spTree>
  </p:cSld>
  <p:clrMapOvr>
    <a:masterClrMapping/>
  </p:clrMapOvr>
</p:sld>
</file>

<file path=ppt/slides/slide95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190 — Uplift modeling, DiD (difference-in-differences)</a:t>
            </a:r>
          </a:p>
        </p:txBody>
      </p:sp>
    </p:spTree>
  </p:cSld>
  <p:clrMapOvr>
    <a:masterClrMapping/>
  </p:clrMapOvr>
</p:sld>
</file>

<file path=ppt/slides/slide9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190 — Uplift modeling, DiD (difference-in-differences)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Gutierrez &amp; Gerardy (2017), Causal Inference and Uplift Modeling + Abadie, Diamond &amp; Hainmueller (2010), Synthetic Control Methods.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las dos técnicas causales más usadas en industria cuando hay datos panel/observacionales: DiD (Difference-in-Differences) —comparar la evolución antes/después en grupo tratado vs control— y uplift modeling —predecir a quién conviene tratar (heterogeneidad del efecto causal a nivel individuo). Conocer el complemento moderno Synthetic Control Method para cuando no hay grupo de control natural y solo se trata una unidad (una ciudad, un país).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DiD clásico con OLS: Y = β₀ + β₁·tratado + β₂·post + β₃·(tratado×post) + ε. El coeficiente β₃ es el efecto causal bajo parallel trends.</a:t>
            </a:r>
          </a:p>
          <a:p>
            <a:pPr>
              <a:spcAft>
                <a:spcPts val="800"/>
              </a:spcAft>
              <a:defRPr sz="1400" b="0">
                <a:solidFill>
                  <a:srgbClr val="0F172A"/>
                </a:solidFill>
                <a:latin typeface="Segoe UI"/>
              </a:defRPr>
            </a:pPr>
            <a:r>
              <a:rPr sz="1400" b="0">
                <a:solidFill>
                  <a:srgbClr val="0F172A"/>
                </a:solidFill>
                <a:latin typeface="Segoe UI"/>
              </a:rPr>
              <a:t>• Diagnosticar la asunción de parallel trends con un gráfico antes/después y un placebo test.</a:t>
            </a:r>
          </a:p>
          <a:p>
            <a:pPr>
              <a:spcAft>
                <a:spcPts val="800"/>
              </a:spcAft>
              <a:defRPr sz="1400" b="0">
                <a:solidFill>
                  <a:srgbClr val="0F172A"/>
                </a:solidFill>
                <a:latin typeface="Segoe UI"/>
              </a:defRPr>
            </a:pPr>
            <a:r>
              <a:rPr sz="1400" b="0">
                <a:solidFill>
                  <a:srgbClr val="0F172A"/>
                </a:solidFill>
                <a:latin typeface="Segoe UI"/>
              </a:rPr>
              <a:t>• Construir modelos de uplift: T-learner, S-learner, X-learner (Künzel et al. 2019), Causal Forest (econml).</a:t>
            </a:r>
          </a:p>
          <a:p>
            <a:pPr>
              <a:spcAft>
                <a:spcPts val="800"/>
              </a:spcAft>
              <a:defRPr sz="1400" b="0">
                <a:solidFill>
                  <a:srgbClr val="0F172A"/>
                </a:solidFill>
                <a:latin typeface="Segoe UI"/>
              </a:defRPr>
            </a:pPr>
            <a:r>
              <a:rPr sz="1400" b="0">
                <a:solidFill>
                  <a:srgbClr val="0F172A"/>
                </a:solidFill>
                <a:latin typeface="Segoe UI"/>
              </a:rPr>
              <a:t>• Evaluar uplift con Qini curve y uplift@k (no con AUC clásico — uplift es individual, no global).</a:t>
            </a:r>
          </a:p>
          <a:p>
            <a:pPr>
              <a:spcAft>
                <a:spcPts val="800"/>
              </a:spcAft>
              <a:defRPr sz="1400" b="0">
                <a:solidFill>
                  <a:srgbClr val="0F172A"/>
                </a:solidFill>
                <a:latin typeface="Segoe UI"/>
              </a:defRPr>
            </a:pPr>
            <a:r>
              <a:rPr sz="1400" b="0">
                <a:solidFill>
                  <a:srgbClr val="0F172A"/>
                </a:solidFill>
                <a:latin typeface="Segoe UI"/>
              </a:rPr>
              <a:t>• Aplicar Synthetic Control con pysyncon o SparseSC cuando una sola unidad recibe tratamiento (estudio de caso).</a:t>
            </a:r>
          </a:p>
        </p:txBody>
      </p:sp>
    </p:spTree>
  </p:cSld>
  <p:clrMapOvr>
    <a:masterClrMapping/>
  </p:clrMapOvr>
</p:sld>
</file>

<file path=ppt/slides/slide9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190 — Uplift modeling, DiD (difference-in-differences)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DiD: comparación dos-por-dos en panel (2 grupos × 2 tiempos).</a:t>
            </a:r>
          </a:p>
          <a:p>
            <a:pPr>
              <a:spcAft>
                <a:spcPts val="1000"/>
              </a:spcAft>
              <a:defRPr sz="1600" b="0">
                <a:solidFill>
                  <a:srgbClr val="0F172A"/>
                </a:solidFill>
                <a:latin typeface="Segoe UI"/>
              </a:defRPr>
            </a:pPr>
            <a:r>
              <a:rPr sz="1600" b="0">
                <a:solidFill>
                  <a:srgbClr val="0F172A"/>
                </a:solidFill>
                <a:latin typeface="Segoe UI"/>
              </a:rPr>
              <a:t>• Asunción crítica: parallel trends — sin tratamiento, ambos grupos hubieran evolucionado paralelos.</a:t>
            </a:r>
          </a:p>
          <a:p>
            <a:pPr>
              <a:spcAft>
                <a:spcPts val="1000"/>
              </a:spcAft>
              <a:defRPr sz="1600" b="0">
                <a:solidFill>
                  <a:srgbClr val="0F172A"/>
                </a:solidFill>
                <a:latin typeface="Segoe UI"/>
              </a:defRPr>
            </a:pPr>
            <a:r>
              <a:rPr sz="1600" b="0">
                <a:solidFill>
                  <a:srgbClr val="0F172A"/>
                </a:solidFill>
                <a:latin typeface="Segoe UI"/>
              </a:rPr>
              <a:t>• Generalización: DiD con muchos tiempos, two-way fixed effects (TWFE), event study designs.</a:t>
            </a:r>
          </a:p>
          <a:p>
            <a:pPr>
              <a:spcAft>
                <a:spcPts val="1000"/>
              </a:spcAft>
              <a:defRPr sz="1600" b="0">
                <a:solidFill>
                  <a:srgbClr val="0F172A"/>
                </a:solidFill>
                <a:latin typeface="Segoe UI"/>
              </a:defRPr>
            </a:pPr>
            <a:r>
              <a:rPr sz="1600" b="0">
                <a:solidFill>
                  <a:srgbClr val="0F172A"/>
                </a:solidFill>
                <a:latin typeface="Segoe UI"/>
              </a:rPr>
              <a:t>• Uplift = CATE individual = E[Y(1) - Y(0) | X=x].</a:t>
            </a:r>
          </a:p>
          <a:p>
            <a:pPr>
              <a:spcAft>
                <a:spcPts val="1000"/>
              </a:spcAft>
              <a:defRPr sz="1600" b="0">
                <a:solidFill>
                  <a:srgbClr val="0F172A"/>
                </a:solidFill>
                <a:latin typeface="Segoe UI"/>
              </a:defRPr>
            </a:pPr>
            <a:r>
              <a:rPr sz="1600" b="0">
                <a:solidFill>
                  <a:srgbClr val="0F172A"/>
                </a:solidFill>
                <a:latin typeface="Segoe UI"/>
              </a:rPr>
              <a:t>• 4 cuadrantes de uplift: persuadables, sure things, lost causes, do-not-disturb (no tocarlos).</a:t>
            </a:r>
          </a:p>
          <a:p>
            <a:pPr>
              <a:spcAft>
                <a:spcPts val="1000"/>
              </a:spcAft>
              <a:defRPr sz="1600" b="0">
                <a:solidFill>
                  <a:srgbClr val="0F172A"/>
                </a:solidFill>
                <a:latin typeface="Segoe UI"/>
              </a:defRPr>
            </a:pPr>
            <a:r>
              <a:rPr sz="1600" b="0">
                <a:solidFill>
                  <a:srgbClr val="0F172A"/>
                </a:solidFill>
                <a:latin typeface="Segoe UI"/>
              </a:rPr>
              <a:t>• Métricas: Qini, uplift@k, AUUC (area under uplift curve).</a:t>
            </a:r>
          </a:p>
          <a:p>
            <a:pPr>
              <a:spcAft>
                <a:spcPts val="1000"/>
              </a:spcAft>
              <a:defRPr sz="1600" b="0">
                <a:solidFill>
                  <a:srgbClr val="0F172A"/>
                </a:solidFill>
                <a:latin typeface="Segoe UI"/>
              </a:defRPr>
            </a:pPr>
            <a:r>
              <a:rPr sz="1600" b="0">
                <a:solidFill>
                  <a:srgbClr val="0F172A"/>
                </a:solidFill>
                <a:latin typeface="Segoe UI"/>
              </a:rPr>
              <a:t>• Complemento moderno: Synthetic Control Method (Abadie et al.) — construye un "país sintético" como combinación convexa de unidades no tratadas que replica la trayectoria pre-tratamiento.</a:t>
            </a:r>
          </a:p>
        </p:txBody>
      </p:sp>
    </p:spTree>
  </p:cSld>
  <p:clrMapOvr>
    <a:masterClrMapping/>
  </p:clrMapOvr>
</p:sld>
</file>

<file path=ppt/slides/slide9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190 — Uplift modeling, DiD (difference-in-differences)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Y = β₀ + β₁·tratado + β₂·post + β₃·(tratado×post) + ε. El coeficiente β₃ es el efecto causal bajo parallel trends.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statsmodels.formula.api as smf</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 2000</a:t>
            </a:r>
          </a:p>
          <a:p>
            <a:pPr>
              <a:defRPr sz="1200" b="0">
                <a:solidFill>
                  <a:srgbClr val="F8FAFC"/>
                </a:solidFill>
                <a:latin typeface="Courier New"/>
              </a:defRPr>
            </a:pPr>
            <a:r>
              <a:rPr sz="1200" b="0">
                <a:solidFill>
                  <a:srgbClr val="F8FAFC"/>
                </a:solidFill>
                <a:latin typeface="Courier New"/>
              </a:rPr>
              <a:t>treated = rng.integers(0, 2, n)</a:t>
            </a:r>
          </a:p>
          <a:p>
            <a:pPr>
              <a:defRPr sz="1200" b="0">
                <a:solidFill>
                  <a:srgbClr val="F8FAFC"/>
                </a:solidFill>
                <a:latin typeface="Courier New"/>
              </a:defRPr>
            </a:pPr>
            <a:r>
              <a:rPr sz="1200" b="0">
                <a:solidFill>
                  <a:srgbClr val="F8FAFC"/>
                </a:solidFill>
                <a:latin typeface="Courier New"/>
              </a:rPr>
              <a:t>post = rng.integers(0, 2, n)</a:t>
            </a:r>
          </a:p>
          <a:p>
            <a:pPr>
              <a:defRPr sz="1200" b="0">
                <a:solidFill>
                  <a:srgbClr val="F8FAFC"/>
                </a:solidFill>
                <a:latin typeface="Courier New"/>
              </a:defRPr>
            </a:pPr>
            <a:r>
              <a:rPr sz="1200" b="0">
                <a:solidFill>
                  <a:srgbClr val="F8FAFC"/>
                </a:solidFill>
                <a:latin typeface="Courier New"/>
              </a:rPr>
              <a:t>true_effect = 2.5</a:t>
            </a:r>
          </a:p>
          <a:p>
            <a:pPr>
              <a:defRPr sz="1200" b="0">
                <a:solidFill>
                  <a:srgbClr val="F8FAFC"/>
                </a:solidFill>
                <a:latin typeface="Courier New"/>
              </a:defRPr>
            </a:pPr>
            <a:r>
              <a:rPr sz="1200" b="0">
                <a:solidFill>
                  <a:srgbClr val="F8FAFC"/>
                </a:solidFill>
                <a:latin typeface="Courier New"/>
              </a:rPr>
              <a:t>Y = 10 + 1.5*treated + 3.0*post + true_effect*(treated*post) + rng.normal(0, 2, n)</a:t>
            </a:r>
          </a:p>
          <a:p>
            <a:pPr>
              <a:defRPr sz="1200" b="0">
                <a:solidFill>
                  <a:srgbClr val="F8FAFC"/>
                </a:solidFill>
                <a:latin typeface="Courier New"/>
              </a:defRPr>
            </a:pPr>
            <a:r>
              <a:rPr sz="1200" b="0">
                <a:solidFill>
                  <a:srgbClr val="F8FAFC"/>
                </a:solidFill>
                <a:latin typeface="Courier New"/>
              </a:rPr>
              <a:t>df = pd.DataFrame({"Y": Y, "treated": treated, "post": post})</a:t>
            </a:r>
          </a:p>
          <a:p>
            <a:pPr>
              <a:defRPr sz="1200" b="0">
                <a:solidFill>
                  <a:srgbClr val="F8FAFC"/>
                </a:solidFill>
                <a:latin typeface="Courier New"/>
              </a:defRPr>
            </a:pPr>
            <a:r>
              <a:rPr sz="1200" b="0">
                <a:solidFill>
                  <a:srgbClr val="F8FAFC"/>
                </a:solidFill>
                <a:latin typeface="Courier New"/>
              </a:rPr>
              <a:t>m = smf.ols("Y ~ treated * post", data=df).fit()</a:t>
            </a:r>
          </a:p>
          <a:p>
            <a:pPr>
              <a:defRPr sz="1200" b="0">
                <a:solidFill>
                  <a:srgbClr val="F8FAFC"/>
                </a:solidFill>
                <a:latin typeface="Courier New"/>
              </a:defRPr>
            </a:pPr>
            <a:r>
              <a:rPr sz="1200" b="0">
                <a:solidFill>
                  <a:srgbClr val="F8FAFC"/>
                </a:solidFill>
                <a:latin typeface="Courier New"/>
              </a:rPr>
              <a:t>beta3 = m.params["treated:post"]</a:t>
            </a:r>
          </a:p>
          <a:p>
            <a:pPr>
              <a:defRPr sz="1200" b="0">
                <a:solidFill>
                  <a:srgbClr val="F8FAFC"/>
                </a:solidFill>
                <a:latin typeface="Courier New"/>
              </a:defRPr>
            </a:pPr>
            <a:r>
              <a:rPr sz="1200" b="0">
                <a:solidFill>
                  <a:srgbClr val="F8FAFC"/>
                </a:solidFill>
                <a:latin typeface="Courier New"/>
              </a:rPr>
              <a:t>ci = m.conf_int().loc["treated:post"]</a:t>
            </a:r>
          </a:p>
          <a:p>
            <a:pPr>
              <a:defRPr sz="1200" b="0">
                <a:solidFill>
                  <a:srgbClr val="F8FAFC"/>
                </a:solidFill>
                <a:latin typeface="Courier New"/>
              </a:defRPr>
            </a:pPr>
            <a:r>
              <a:rPr sz="1200" b="0">
                <a:solidFill>
                  <a:srgbClr val="F8FAFC"/>
                </a:solidFill>
                <a:latin typeface="Courier New"/>
              </a:rPr>
              <a:t>print(f"DiD β3 = {beta3:.3f}  IC95%=({ci[0]:.3f}, {ci[1]:.3f})  verdadero={true_effect}")</a:t>
            </a:r>
          </a:p>
          <a:p>
            <a:pPr>
              <a:defRPr sz="1200" b="0">
                <a:solidFill>
                  <a:srgbClr val="F8FAFC"/>
                </a:solidFill>
                <a:latin typeface="Courier New"/>
              </a:defRPr>
            </a:pPr>
            <a:r>
              <a:rPr sz="1200" b="0">
                <a:solidFill>
                  <a:srgbClr val="F8FAFC"/>
                </a:solidFill>
                <a:latin typeface="Courier New"/>
              </a:rPr>
              <a:t>assert abs(beta3 - true_effect) &lt; 0.5</a:t>
            </a:r>
          </a:p>
        </p:txBody>
      </p:sp>
    </p:spTree>
  </p:cSld>
  <p:clrMapOvr>
    <a:masterClrMapping/>
  </p:clrMapOvr>
</p:sld>
</file>

<file path=ppt/slides/slide9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190 — Uplift modeling, DiD (difference-in-differences)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DiD ingenuo: simulá panel con 2 grupos y 2 períodos.</a:t>
            </a:r>
          </a:p>
          <a:p>
            <a:pPr>
              <a:spcAft>
                <a:spcPts val="800"/>
              </a:spcAft>
              <a:defRPr sz="1400" b="0">
                <a:solidFill>
                  <a:srgbClr val="0F172A"/>
                </a:solidFill>
                <a:latin typeface="Segoe UI"/>
              </a:defRPr>
            </a:pPr>
            <a:r>
              <a:rPr sz="1400" b="0">
                <a:solidFill>
                  <a:srgbClr val="0F172A"/>
                </a:solidFill>
                <a:latin typeface="Segoe UI"/>
              </a:rPr>
              <a:t>• Event study: con panel 10 períodos (5 pre, 5 post), graficá coeficientes por período.</a:t>
            </a:r>
          </a:p>
          <a:p>
            <a:pPr>
              <a:spcAft>
                <a:spcPts val="800"/>
              </a:spcAft>
              <a:defRPr sz="1400" b="0">
                <a:solidFill>
                  <a:srgbClr val="0F172A"/>
                </a:solidFill>
                <a:latin typeface="Segoe UI"/>
              </a:defRPr>
            </a:pPr>
            <a:r>
              <a:rPr sz="1400" b="0">
                <a:solidFill>
                  <a:srgbClr val="0F172A"/>
                </a:solidFill>
                <a:latin typeface="Segoe UI"/>
              </a:rPr>
              <a:t>• T-learner: en Hillstrom (binario tratamiento email), entrená dos RandomForestClassifier y predecí uplift = p₁(x) - p₀(x).</a:t>
            </a:r>
          </a:p>
          <a:p>
            <a:pPr>
              <a:spcAft>
                <a:spcPts val="800"/>
              </a:spcAft>
              <a:defRPr sz="1400" b="0">
                <a:solidFill>
                  <a:srgbClr val="0F172A"/>
                </a:solidFill>
                <a:latin typeface="Segoe UI"/>
              </a:defRPr>
            </a:pPr>
            <a:r>
              <a:rPr sz="1400" b="0">
                <a:solidFill>
                  <a:srgbClr val="0F172A"/>
                </a:solidFill>
                <a:latin typeface="Segoe UI"/>
              </a:rPr>
              <a:t>• Qini curve: con las predicciones del ej.</a:t>
            </a:r>
          </a:p>
          <a:p>
            <a:pPr>
              <a:spcAft>
                <a:spcPts val="800"/>
              </a:spcAft>
              <a:defRPr sz="1400" b="0">
                <a:solidFill>
                  <a:srgbClr val="0F172A"/>
                </a:solidFill>
                <a:latin typeface="Segoe UI"/>
              </a:defRPr>
            </a:pPr>
            <a:r>
              <a:rPr sz="1400" b="0">
                <a:solidFill>
                  <a:srgbClr val="0F172A"/>
                </a:solidFill>
                <a:latin typeface="Segoe UI"/>
              </a:rPr>
              <a:t>• Synthetic Control: con un dataset panel simulado (10 estados × 20 años, tratamiento en California año 11), ajustá pesos con pysyncon y graficá path_plot + gaps_plot.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Cargar datos, calcular promedio de empleo por estado en pre (Feb 1992) y post (Nov 1992).</a:t>
            </a:r>
          </a:p>
          <a:p>
            <a:pPr>
              <a:spcAft>
                <a:spcPts val="800"/>
              </a:spcAft>
              <a:defRPr sz="1500" b="0">
                <a:solidFill>
                  <a:srgbClr val="0F172A"/>
                </a:solidFill>
                <a:latin typeface="Segoe UI"/>
              </a:defRPr>
            </a:pPr>
            <a:r>
              <a:rPr sz="1500" b="0">
                <a:solidFill>
                  <a:srgbClr val="0F172A"/>
                </a:solidFill>
                <a:latin typeface="Segoe UI"/>
              </a:rPr>
              <a:t>• Aplicar DiD con OLS y reportar β₃ con IC95 %.</a:t>
            </a:r>
          </a:p>
          <a:p>
            <a:pPr>
              <a:spcAft>
                <a:spcPts val="800"/>
              </a:spcAft>
              <a:defRPr sz="1500" b="0">
                <a:solidFill>
                  <a:srgbClr val="0F172A"/>
                </a:solidFill>
                <a:latin typeface="Segoe UI"/>
              </a:defRPr>
            </a:pPr>
            <a:r>
              <a:rPr sz="1500" b="0">
                <a:solidFill>
                  <a:srgbClr val="0F172A"/>
                </a:solidFill>
                <a:latin typeface="Segoe UI"/>
              </a:rPr>
              <a:t>• Hacer un event study si hay más de 2 períodos disponibles, o el gráfico 2×2 si no.</a:t>
            </a:r>
          </a:p>
          <a:p>
            <a:pPr>
              <a:spcAft>
                <a:spcPts val="800"/>
              </a:spcAft>
              <a:defRPr sz="1500" b="0">
                <a:solidFill>
                  <a:srgbClr val="0F172A"/>
                </a:solidFill>
                <a:latin typeface="Segoe UI"/>
              </a:defRPr>
            </a:pPr>
            <a:r>
              <a:rPr sz="1500" b="0">
                <a:solidFill>
                  <a:srgbClr val="0F172A"/>
                </a:solidFill>
                <a:latin typeface="Segoe UI"/>
              </a:rPr>
              <a:t>• Discutir en 4 líneas: ¿se cumple parallel trends? ¿Cómo se relaciona el β₃ con el debate clásico (Card vs Neumark)?</a:t>
            </a:r>
          </a:p>
        </p:txBody>
      </p:sp>
    </p:spTree>
  </p:cSld>
  <p:clrMapOvr>
    <a:masterClrMapping/>
  </p:clrMapOvr>
</p:sld>
</file>

<file path=ppt/slides/slide95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191 — Synthetic Control Method dedicado (pysyncon, SparseSC)</a:t>
            </a:r>
          </a:p>
        </p:txBody>
      </p:sp>
    </p:spTree>
  </p:cSld>
  <p:clrMapOvr>
    <a:masterClrMapping/>
  </p:clrMapOvr>
</p:sld>
</file>

<file path=ppt/slides/slide9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191 — Synthetic Control Method dedicado (pysyncon, SparseSC)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Abadie, Diamond &amp; Hainmueller (2010) + Doudchenko &amp; Imbens (2016) + Arkhangelsky et al. (2021) Synthetic DiD.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Synthetic Control Method (Abadie et al. 2010) — el estándar para evaluar políticas o intervenciones aplicadas a una única unidad (un país, un estado, una ciudad) sin grupo control natural. Construir un "control sintético" como combinación ponderada de donors. Conocer variantes modernas: Synthetic DiD (Arkhangelsky 2021), Generalized SC (Xu 2017), SparseSC (Microsoft Research).</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Synthetic Control con pysyncon: tratado, donors, predictors, períodos pre/post.</a:t>
            </a:r>
          </a:p>
          <a:p>
            <a:pPr>
              <a:spcAft>
                <a:spcPts val="800"/>
              </a:spcAft>
              <a:defRPr sz="1400" b="0">
                <a:solidFill>
                  <a:srgbClr val="0F172A"/>
                </a:solidFill>
                <a:latin typeface="Segoe UI"/>
              </a:defRPr>
            </a:pPr>
            <a:r>
              <a:rPr sz="1400" b="0">
                <a:solidFill>
                  <a:srgbClr val="0F172A"/>
                </a:solidFill>
                <a:latin typeface="Segoe UI"/>
              </a:rPr>
              <a:t>• Interpretar pesos W (combinación convexa) y path plot.</a:t>
            </a:r>
          </a:p>
          <a:p>
            <a:pPr>
              <a:spcAft>
                <a:spcPts val="800"/>
              </a:spcAft>
              <a:defRPr sz="1400" b="0">
                <a:solidFill>
                  <a:srgbClr val="0F172A"/>
                </a:solidFill>
                <a:latin typeface="Segoe UI"/>
              </a:defRPr>
            </a:pPr>
            <a:r>
              <a:rPr sz="1400" b="0">
                <a:solidFill>
                  <a:srgbClr val="0F172A"/>
                </a:solidFill>
                <a:latin typeface="Segoe UI"/>
              </a:rPr>
              <a:t>• Aplicar placebo test (in-time y in-space) como inference informal.</a:t>
            </a:r>
          </a:p>
          <a:p>
            <a:pPr>
              <a:spcAft>
                <a:spcPts val="800"/>
              </a:spcAft>
              <a:defRPr sz="1400" b="0">
                <a:solidFill>
                  <a:srgbClr val="0F172A"/>
                </a:solidFill>
                <a:latin typeface="Segoe UI"/>
              </a:defRPr>
            </a:pPr>
            <a:r>
              <a:rPr sz="1400" b="0">
                <a:solidFill>
                  <a:srgbClr val="0F172A"/>
                </a:solidFill>
                <a:latin typeface="Segoe UI"/>
              </a:rPr>
              <a:t>• Conocer Synthetic DiD que combina lo mejor de DiD y SCM.</a:t>
            </a:r>
          </a:p>
          <a:p>
            <a:pPr>
              <a:spcAft>
                <a:spcPts val="800"/>
              </a:spcAft>
              <a:defRPr sz="1400" b="0">
                <a:solidFill>
                  <a:srgbClr val="0F172A"/>
                </a:solidFill>
                <a:latin typeface="Segoe UI"/>
              </a:defRPr>
            </a:pPr>
            <a:r>
              <a:rPr sz="1400" b="0">
                <a:solidFill>
                  <a:srgbClr val="0F172A"/>
                </a:solidFill>
                <a:latin typeface="Segoe UI"/>
              </a:rPr>
              <a:t>• Reconocer cuándo SCM no aplica (pocos donors, fit pre malo).</a:t>
            </a:r>
          </a:p>
        </p:txBody>
      </p:sp>
    </p:spTree>
  </p:cSld>
  <p:clrMapOvr>
    <a:masterClrMapping/>
  </p:clrMapOvr>
</p:sld>
</file>

<file path=ppt/slides/slide9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191 — Synthetic Control Method dedicado (pysyncon, SparseSC)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Setup: 1 tratado + N donors + features predictoras + período pre/post.</a:t>
            </a:r>
          </a:p>
          <a:p>
            <a:pPr>
              <a:spcAft>
                <a:spcPts val="1000"/>
              </a:spcAft>
              <a:defRPr sz="1600" b="0">
                <a:solidFill>
                  <a:srgbClr val="0F172A"/>
                </a:solidFill>
                <a:latin typeface="Segoe UI"/>
              </a:defRPr>
            </a:pPr>
            <a:r>
              <a:rPr sz="1600" b="0">
                <a:solidFill>
                  <a:srgbClr val="0F172A"/>
                </a:solidFill>
                <a:latin typeface="Segoe UI"/>
              </a:rPr>
              <a:t>• Optimización: pesos minimizan ||Y_treat_pre - W·Y_donors_pre||².</a:t>
            </a:r>
          </a:p>
          <a:p>
            <a:pPr>
              <a:spcAft>
                <a:spcPts val="1000"/>
              </a:spcAft>
              <a:defRPr sz="1600" b="0">
                <a:solidFill>
                  <a:srgbClr val="0F172A"/>
                </a:solidFill>
                <a:latin typeface="Segoe UI"/>
              </a:defRPr>
            </a:pPr>
            <a:r>
              <a:rPr sz="1600" b="0">
                <a:solidFill>
                  <a:srgbClr val="0F172A"/>
                </a:solidFill>
                <a:latin typeface="Segoe UI"/>
              </a:rPr>
              <a:t>• Constraint: w_i ≥ 0, Σ w_i = 1 (combinación convexa) — clásico.</a:t>
            </a:r>
          </a:p>
          <a:p>
            <a:pPr>
              <a:spcAft>
                <a:spcPts val="1000"/>
              </a:spcAft>
              <a:defRPr sz="1600" b="0">
                <a:solidFill>
                  <a:srgbClr val="0F172A"/>
                </a:solidFill>
                <a:latin typeface="Segoe UI"/>
              </a:defRPr>
            </a:pPr>
            <a:r>
              <a:rPr sz="1600" b="0">
                <a:solidFill>
                  <a:srgbClr val="0F172A"/>
                </a:solidFill>
                <a:latin typeface="Segoe UI"/>
              </a:rPr>
              <a:t>• Placebo test in-space: aplicar SCM a cada donor; comparar effect real vs distribución de placebos.</a:t>
            </a:r>
          </a:p>
          <a:p>
            <a:pPr>
              <a:spcAft>
                <a:spcPts val="1000"/>
              </a:spcAft>
              <a:defRPr sz="1600" b="0">
                <a:solidFill>
                  <a:srgbClr val="0F172A"/>
                </a:solidFill>
                <a:latin typeface="Segoe UI"/>
              </a:defRPr>
            </a:pPr>
            <a:r>
              <a:rPr sz="1600" b="0">
                <a:solidFill>
                  <a:srgbClr val="0F172A"/>
                </a:solidFill>
                <a:latin typeface="Segoe UI"/>
              </a:rPr>
              <a:t>• Placebo in-time: aplicar antes del tratamiento real → debería dar 0.</a:t>
            </a:r>
          </a:p>
          <a:p>
            <a:pPr>
              <a:spcAft>
                <a:spcPts val="1000"/>
              </a:spcAft>
              <a:defRPr sz="1600" b="0">
                <a:solidFill>
                  <a:srgbClr val="0F172A"/>
                </a:solidFill>
                <a:latin typeface="Segoe UI"/>
              </a:defRPr>
            </a:pPr>
            <a:r>
              <a:rPr sz="1600" b="0">
                <a:solidFill>
                  <a:srgbClr val="0F172A"/>
                </a:solidFill>
                <a:latin typeface="Segoe UI"/>
              </a:rPr>
              <a:t>• Synthetic DiD: relax constraints + agregar pesos temporales.</a:t>
            </a:r>
          </a:p>
        </p:txBody>
      </p:sp>
    </p:spTree>
  </p:cSld>
  <p:clrMapOvr>
    <a:masterClrMapping/>
  </p:clrMapOvr>
</p:sld>
</file>

<file path=ppt/slides/slide9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191 — Synthetic Control Method dedicado (pysyncon, SparseSC)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Abadie et al.: para una unidad tratada (ej: California aprobó Prop99, ¿efecto en consumo de tabaco?), construir un control sintético como combinación convexa de unidades no tratadas que matchea el pre-tratamiento. El gap post = efecto causal. Requiere: pip install numpy scipy matplotlib (opcional pysyncon).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scipy.optimize import minimize</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N_control = 20</a:t>
            </a:r>
          </a:p>
          <a:p>
            <a:pPr>
              <a:defRPr sz="1200" b="0">
                <a:solidFill>
                  <a:srgbClr val="F8FAFC"/>
                </a:solidFill>
                <a:latin typeface="Courier New"/>
              </a:defRPr>
            </a:pPr>
            <a:r>
              <a:rPr sz="1200" b="0">
                <a:solidFill>
                  <a:srgbClr val="F8FAFC"/>
                </a:solidFill>
                <a:latin typeface="Courier New"/>
              </a:rPr>
              <a:t>T_pre, T_post = 10, 10</a:t>
            </a:r>
          </a:p>
          <a:p>
            <a:pPr>
              <a:defRPr sz="1200" b="0">
                <a:solidFill>
                  <a:srgbClr val="F8FAFC"/>
                </a:solidFill>
                <a:latin typeface="Courier New"/>
              </a:defRPr>
            </a:pPr>
            <a:r>
              <a:rPr sz="1200" b="0">
                <a:solidFill>
                  <a:srgbClr val="F8FAFC"/>
                </a:solidFill>
                <a:latin typeface="Courier New"/>
              </a:rPr>
              <a:t>T = T_pre + T_post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Generamos N_control trayectorias con tendencia común + ruido</a:t>
            </a:r>
          </a:p>
          <a:p>
            <a:pPr>
              <a:defRPr sz="1200" b="0">
                <a:solidFill>
                  <a:srgbClr val="F8FAFC"/>
                </a:solidFill>
                <a:latin typeface="Courier New"/>
              </a:defRPr>
            </a:pPr>
            <a:r>
              <a:rPr sz="1200" b="0">
                <a:solidFill>
                  <a:srgbClr val="F8FAFC"/>
                </a:solidFill>
                <a:latin typeface="Courier New"/>
              </a:rPr>
              <a:t>trend = np.linspace(50, 60, T)</a:t>
            </a:r>
          </a:p>
          <a:p>
            <a:pPr>
              <a:defRPr sz="1200" b="0">
                <a:solidFill>
                  <a:srgbClr val="F8FAFC"/>
                </a:solidFill>
                <a:latin typeface="Courier New"/>
              </a:defRPr>
            </a:pPr>
            <a:r>
              <a:rPr sz="1200" b="0">
                <a:solidFill>
                  <a:srgbClr val="F8FAFC"/>
                </a:solidFill>
                <a:latin typeface="Courier New"/>
              </a:rPr>
              <a:t>controls = trend[None, :] + rng.normal(0, 1, (N_control, 1)) * np.arange(T)[None, :] * 0.1 \</a:t>
            </a:r>
          </a:p>
          <a:p>
            <a:pPr>
              <a:defRPr sz="1200" b="0">
                <a:solidFill>
                  <a:srgbClr val="F8FAFC"/>
                </a:solidFill>
                <a:latin typeface="Courier New"/>
              </a:defRPr>
            </a:pPr>
            <a:r>
              <a:rPr sz="1200" b="0">
                <a:solidFill>
                  <a:srgbClr val="F8FAFC"/>
                </a:solidFill>
                <a:latin typeface="Courier New"/>
              </a:rPr>
              <a:t>           + rng.normal(0, 2, (N_control, T))</a:t>
            </a:r>
          </a:p>
          <a:p>
            <a:pPr>
              <a:defRPr sz="1200" b="0">
                <a:solidFill>
                  <a:srgbClr val="F8FAFC"/>
                </a:solidFill>
                <a:latin typeface="Courier New"/>
              </a:defRPr>
            </a:pPr>
            <a:r>
              <a:rPr sz="1200" b="0">
                <a:solidFill>
                  <a:srgbClr val="F8FAFC"/>
                </a:solidFill>
                <a:latin typeface="Courier New"/>
              </a:rPr>
              <a:t># Unidad tratada: combinación de 3 controles + ruido en pre, + efecto en post</a:t>
            </a:r>
          </a:p>
          <a:p>
            <a:pPr>
              <a:defRPr sz="1200" b="0">
                <a:solidFill>
                  <a:srgbClr val="F8FAFC"/>
                </a:solidFill>
                <a:latin typeface="Courier New"/>
              </a:defRPr>
            </a:pPr>
            <a:r>
              <a:rPr sz="1200" b="0">
                <a:solidFill>
                  <a:srgbClr val="F8FAFC"/>
                </a:solidFill>
                <a:latin typeface="Courier New"/>
              </a:rPr>
              <a:t>true_weights = np.zeros(N_control); true_weights[[2, 7, 13]] = [0.4, 0.35, 0.25]</a:t>
            </a:r>
          </a:p>
          <a:p>
            <a:pPr>
              <a:defRPr sz="1200" b="0">
                <a:solidFill>
                  <a:srgbClr val="F8FAFC"/>
                </a:solidFill>
                <a:latin typeface="Courier New"/>
              </a:defRPr>
            </a:pPr>
            <a:r>
              <a:rPr sz="1200" b="0">
                <a:solidFill>
                  <a:srgbClr val="F8FAFC"/>
                </a:solidFill>
                <a:latin typeface="Courier New"/>
              </a:rPr>
              <a:t>treated_pre  = controls[:, :T_pre].T @ true_weights + rng.normal(0, 0.5, T_pre)</a:t>
            </a:r>
          </a:p>
          <a:p>
            <a:pPr>
              <a:defRPr sz="1200" b="0">
                <a:solidFill>
                  <a:srgbClr val="F8FAFC"/>
                </a:solidFill>
                <a:latin typeface="Courier New"/>
              </a:defRPr>
            </a:pPr>
            <a:r>
              <a:rPr sz="1200" b="0">
                <a:solidFill>
                  <a:srgbClr val="F8FAFC"/>
                </a:solidFill>
                <a:latin typeface="Courier New"/>
              </a:rPr>
              <a:t>treated_post = controls[:, T_pre:].T @ true_weights + rng.normal(0, 0.5, T_post)</a:t>
            </a:r>
          </a:p>
          <a:p>
            <a:pPr>
              <a:defRPr sz="1200" b="0">
                <a:solidFill>
                  <a:srgbClr val="F8FAFC"/>
                </a:solidFill>
                <a:latin typeface="Courier New"/>
              </a:defRPr>
            </a:pPr>
            <a:r>
              <a:rPr sz="1200" b="0">
                <a:solidFill>
                  <a:srgbClr val="F8FAFC"/>
                </a:solidFill>
                <a:latin typeface="Courier New"/>
              </a:rPr>
              <a:t>TRUE_EFFECT = 5.0</a:t>
            </a:r>
          </a:p>
          <a:p>
            <a:pPr>
              <a:defRPr sz="1200" b="0">
                <a:solidFill>
                  <a:srgbClr val="F8FAFC"/>
                </a:solidFill>
                <a:latin typeface="Courier New"/>
              </a:defRPr>
            </a:pPr>
            <a:r>
              <a:rPr sz="1200" b="0">
                <a:solidFill>
                  <a:srgbClr val="F8FAFC"/>
                </a:solidFill>
                <a:latin typeface="Courier New"/>
              </a:rPr>
              <a:t>treated_post += TRUE_EFFECT  # efecto aditivo desde t=T_pre</a:t>
            </a:r>
          </a:p>
          <a:p>
            <a:pPr>
              <a:defRPr sz="1200" b="0">
                <a:solidFill>
                  <a:srgbClr val="F8FAFC"/>
                </a:solidFill>
                <a:latin typeface="Courier New"/>
              </a:defRPr>
            </a:pPr>
            <a:r>
              <a:rPr sz="1200" b="0">
                <a:solidFill>
                  <a:srgbClr val="F8FAFC"/>
                </a:solidFill>
                <a:latin typeface="Courier New"/>
              </a:rPr>
              <a:t>treated = np.concatenate([treated_pre, treated_post])</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9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191 — Synthetic Control Method dedicado (pysyncon, SparseSC)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California Prop 99: cargar dataset, definir tratado California, donors otros estados, pre 1970-1988, post 1989-2000.</a:t>
            </a:r>
          </a:p>
          <a:p>
            <a:pPr>
              <a:spcAft>
                <a:spcPts val="800"/>
              </a:spcAft>
              <a:defRPr sz="1400" b="0">
                <a:solidFill>
                  <a:srgbClr val="0F172A"/>
                </a:solidFill>
                <a:latin typeface="Segoe UI"/>
              </a:defRPr>
            </a:pPr>
            <a:r>
              <a:rPr sz="1400" b="0">
                <a:solidFill>
                  <a:srgbClr val="0F172A"/>
                </a:solidFill>
                <a:latin typeface="Segoe UI"/>
              </a:rPr>
              <a:t>• Path plot: synth.path_plot() — California real vs sintética.</a:t>
            </a:r>
          </a:p>
          <a:p>
            <a:pPr>
              <a:spcAft>
                <a:spcPts val="800"/>
              </a:spcAft>
              <a:defRPr sz="1400" b="0">
                <a:solidFill>
                  <a:srgbClr val="0F172A"/>
                </a:solidFill>
                <a:latin typeface="Segoe UI"/>
              </a:defRPr>
            </a:pPr>
            <a:r>
              <a:rPr sz="1400" b="0">
                <a:solidFill>
                  <a:srgbClr val="0F172A"/>
                </a:solidFill>
                <a:latin typeface="Segoe UI"/>
              </a:rPr>
              <a:t>• Pesos: imprimir synth.weights.</a:t>
            </a:r>
          </a:p>
          <a:p>
            <a:pPr>
              <a:spcAft>
                <a:spcPts val="800"/>
              </a:spcAft>
              <a:defRPr sz="1400" b="0">
                <a:solidFill>
                  <a:srgbClr val="0F172A"/>
                </a:solidFill>
                <a:latin typeface="Segoe UI"/>
              </a:defRPr>
            </a:pPr>
            <a:r>
              <a:rPr sz="1400" b="0">
                <a:solidFill>
                  <a:srgbClr val="0F172A"/>
                </a:solidFill>
                <a:latin typeface="Segoe UI"/>
              </a:rPr>
              <a:t>• Placebo in-space: aplicar a cada otro estado; plot de gaps.</a:t>
            </a:r>
          </a:p>
          <a:p>
            <a:pPr>
              <a:spcAft>
                <a:spcPts val="800"/>
              </a:spcAft>
              <a:defRPr sz="1400" b="0">
                <a:solidFill>
                  <a:srgbClr val="0F172A"/>
                </a:solidFill>
                <a:latin typeface="Segoe UI"/>
              </a:defRPr>
            </a:pPr>
            <a:r>
              <a:rPr sz="1400" b="0">
                <a:solidFill>
                  <a:srgbClr val="0F172A"/>
                </a:solidFill>
                <a:latin typeface="Segoe UI"/>
              </a:rPr>
              <a:t>• Placebo in-time: tratamiento artificial en 1980 (5 años antes del real).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Dataset panel, 10+ donors, ≥ 5 años pre.</a:t>
            </a:r>
          </a:p>
          <a:p>
            <a:pPr>
              <a:spcAft>
                <a:spcPts val="800"/>
              </a:spcAft>
              <a:defRPr sz="1400" b="0">
                <a:solidFill>
                  <a:srgbClr val="0F172A"/>
                </a:solidFill>
                <a:latin typeface="Segoe UI"/>
              </a:defRPr>
            </a:pPr>
            <a:r>
              <a:rPr sz="1400" b="0">
                <a:solidFill>
                  <a:srgbClr val="0F172A"/>
                </a:solidFill>
                <a:latin typeface="Segoe UI"/>
              </a:rPr>
              <a:t>• SCM con pysyncon.</a:t>
            </a:r>
          </a:p>
          <a:p>
            <a:pPr>
              <a:spcAft>
                <a:spcPts val="800"/>
              </a:spcAft>
              <a:defRPr sz="1400" b="0">
                <a:solidFill>
                  <a:srgbClr val="0F172A"/>
                </a:solidFill>
                <a:latin typeface="Segoe UI"/>
              </a:defRPr>
            </a:pPr>
            <a:r>
              <a:rPr sz="1400" b="0">
                <a:solidFill>
                  <a:srgbClr val="0F172A"/>
                </a:solidFill>
                <a:latin typeface="Segoe UI"/>
              </a:rPr>
              <a:t>• Path + gap plots.</a:t>
            </a:r>
          </a:p>
          <a:p>
            <a:pPr>
              <a:spcAft>
                <a:spcPts val="800"/>
              </a:spcAft>
              <a:defRPr sz="1400" b="0">
                <a:solidFill>
                  <a:srgbClr val="0F172A"/>
                </a:solidFill>
                <a:latin typeface="Segoe UI"/>
              </a:defRPr>
            </a:pPr>
            <a:r>
              <a:rPr sz="1400" b="0">
                <a:solidFill>
                  <a:srgbClr val="0F172A"/>
                </a:solidFill>
                <a:latin typeface="Segoe UI"/>
              </a:rPr>
              <a:t>• Placebo in-space.</a:t>
            </a:r>
          </a:p>
          <a:p>
            <a:pPr>
              <a:spcAft>
                <a:spcPts val="800"/>
              </a:spcAft>
              <a:defRPr sz="1400" b="0">
                <a:solidFill>
                  <a:srgbClr val="0F172A"/>
                </a:solidFill>
                <a:latin typeface="Segoe UI"/>
              </a:defRPr>
            </a:pPr>
            <a:r>
              <a:rPr sz="1400" b="0">
                <a:solidFill>
                  <a:srgbClr val="0F172A"/>
                </a:solidFill>
                <a:latin typeface="Segoe UI"/>
              </a:rPr>
              <a:t>• Interpretación: ¿el efecto observado está en el extremo de la distribución placebo?</a:t>
            </a:r>
          </a:p>
        </p:txBody>
      </p:sp>
    </p:spTree>
  </p:cSld>
  <p:clrMapOvr>
    <a:masterClrMapping/>
  </p:clrMapOvr>
</p:sld>
</file>

<file path=ppt/slides/slide96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192 — Bayes intro: priors, posterior, MCMC con PyMC</a:t>
            </a:r>
          </a:p>
        </p:txBody>
      </p:sp>
    </p:spTree>
  </p:cSld>
  <p:clrMapOvr>
    <a:masterClrMapping/>
  </p:clrMapOvr>
</p:sld>
</file>

<file path=ppt/slides/slide9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192 — Bayes intro: priors, posterior, MCMC con PyMC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McElreath, Statistical Rethinking (2ª ed.) + Gelman et al., Bayesian Data Analysis (3ª ed.) + Martin, Bayesian Modeling and Computation in Python.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la lógica bayesiana —prior + likelihood → posterior vía teorema de Bayes— y construir un modelo simple end-to-end con PyMC v5 (regresión bayesiana sobre datos reales), interpretar el posterior con ArviZ (trace plots, posterior intervals, posterior predictive checks), y conocer el stack moderno: PyMC v5 (post-Theano, sobre PyTensor), NumPyro (sobre JAX, GPU-friendly) y ArviZ (visualización + diagnóstico backend-agnóstico).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posterior ∝ likelihood × prior y aplicarlo a un caso conjugado (Beta-Binomial para una tasa de conversión).</a:t>
            </a:r>
          </a:p>
          <a:p>
            <a:pPr>
              <a:spcAft>
                <a:spcPts val="800"/>
              </a:spcAft>
              <a:defRPr sz="1400" b="0">
                <a:solidFill>
                  <a:srgbClr val="0F172A"/>
                </a:solidFill>
                <a:latin typeface="Segoe UI"/>
              </a:defRPr>
            </a:pPr>
            <a:r>
              <a:rPr sz="1400" b="0">
                <a:solidFill>
                  <a:srgbClr val="0F172A"/>
                </a:solidFill>
                <a:latin typeface="Segoe UI"/>
              </a:rPr>
              <a:t>• Construir un modelo lineal bayesiano con pymc.Model() as m: ... y muestrearlo con pm.sample() (NUTS).</a:t>
            </a:r>
          </a:p>
          <a:p>
            <a:pPr>
              <a:spcAft>
                <a:spcPts val="800"/>
              </a:spcAft>
              <a:defRPr sz="1400" b="0">
                <a:solidFill>
                  <a:srgbClr val="0F172A"/>
                </a:solidFill>
                <a:latin typeface="Segoe UI"/>
              </a:defRPr>
            </a:pPr>
            <a:r>
              <a:rPr sz="1400" b="0">
                <a:solidFill>
                  <a:srgbClr val="0F172A"/>
                </a:solidFill>
                <a:latin typeface="Segoe UI"/>
              </a:rPr>
              <a:t>• Inspeccionar trace con arviz.plot_trace, diagnosticar convergencia (r_hat ≤ 1.01, ess_bulk ≥ 400).</a:t>
            </a:r>
          </a:p>
          <a:p>
            <a:pPr>
              <a:spcAft>
                <a:spcPts val="800"/>
              </a:spcAft>
              <a:defRPr sz="1400" b="0">
                <a:solidFill>
                  <a:srgbClr val="0F172A"/>
                </a:solidFill>
                <a:latin typeface="Segoe UI"/>
              </a:defRPr>
            </a:pPr>
            <a:r>
              <a:rPr sz="1400" b="0">
                <a:solidFill>
                  <a:srgbClr val="0F172A"/>
                </a:solidFill>
                <a:latin typeface="Segoe UI"/>
              </a:rPr>
              <a:t>• Interpretar HDI (Highest Density Interval) como reemplazo del IC clásico — con interpretación directa de probabilidad.</a:t>
            </a:r>
          </a:p>
          <a:p>
            <a:pPr>
              <a:spcAft>
                <a:spcPts val="800"/>
              </a:spcAft>
              <a:defRPr sz="1400" b="0">
                <a:solidFill>
                  <a:srgbClr val="0F172A"/>
                </a:solidFill>
                <a:latin typeface="Segoe UI"/>
              </a:defRPr>
            </a:pPr>
            <a:r>
              <a:rPr sz="1400" b="0">
                <a:solidFill>
                  <a:srgbClr val="0F172A"/>
                </a:solidFill>
                <a:latin typeface="Segoe UI"/>
              </a:rPr>
              <a:t>• Hacer posterior predictive check (pm.sample_posterior_predictive) y entender por qué es la validación bayesiana fundamental.</a:t>
            </a:r>
          </a:p>
        </p:txBody>
      </p:sp>
    </p:spTree>
  </p:cSld>
  <p:clrMapOvr>
    <a:masterClrMapping/>
  </p:clrMapOvr>
</p:sld>
</file>

<file path=ppt/slides/slide9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192 — Bayes intro: priors, posterior, MCMC con PyMC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Teorema de Bayes: P(θ|D) = P(D|θ)·P(θ) / P(D).</a:t>
            </a:r>
          </a:p>
          <a:p>
            <a:pPr>
              <a:spcAft>
                <a:spcPts val="1000"/>
              </a:spcAft>
              <a:defRPr sz="1600" b="0">
                <a:solidFill>
                  <a:srgbClr val="0F172A"/>
                </a:solidFill>
                <a:latin typeface="Segoe UI"/>
              </a:defRPr>
            </a:pPr>
            <a:r>
              <a:rPr sz="1600" b="0">
                <a:solidFill>
                  <a:srgbClr val="0F172A"/>
                </a:solidFill>
                <a:latin typeface="Segoe UI"/>
              </a:rPr>
              <a:t>• Conjugados: Beta–Binomial, Gamma–Poisson, Normal–Normal (intuición sin MCMC).</a:t>
            </a:r>
          </a:p>
          <a:p>
            <a:pPr>
              <a:spcAft>
                <a:spcPts val="1000"/>
              </a:spcAft>
              <a:defRPr sz="1600" b="0">
                <a:solidFill>
                  <a:srgbClr val="0F172A"/>
                </a:solidFill>
                <a:latin typeface="Segoe UI"/>
              </a:defRPr>
            </a:pPr>
            <a:r>
              <a:rPr sz="1600" b="0">
                <a:solidFill>
                  <a:srgbClr val="0F172A"/>
                </a:solidFill>
                <a:latin typeface="Segoe UI"/>
              </a:rPr>
              <a:t>• MCMC: idea — muestrear de una distribución sin computarla analíticamente. NUTS (No U-Turn Sampler).</a:t>
            </a:r>
          </a:p>
          <a:p>
            <a:pPr>
              <a:spcAft>
                <a:spcPts val="1000"/>
              </a:spcAft>
              <a:defRPr sz="1600" b="0">
                <a:solidFill>
                  <a:srgbClr val="0F172A"/>
                </a:solidFill>
                <a:latin typeface="Segoe UI"/>
              </a:defRPr>
            </a:pPr>
            <a:r>
              <a:rPr sz="1600" b="0">
                <a:solidFill>
                  <a:srgbClr val="0F172A"/>
                </a:solidFill>
                <a:latin typeface="Segoe UI"/>
              </a:rPr>
              <a:t>• HDI vs IC frecuentista: el HDI es interpretado directamente como P(θ ∈ HDI | datos) = 0.94.</a:t>
            </a:r>
          </a:p>
          <a:p>
            <a:pPr>
              <a:spcAft>
                <a:spcPts val="1000"/>
              </a:spcAft>
              <a:defRPr sz="1600" b="0">
                <a:solidFill>
                  <a:srgbClr val="0F172A"/>
                </a:solidFill>
                <a:latin typeface="Segoe UI"/>
              </a:defRPr>
            </a:pPr>
            <a:r>
              <a:rPr sz="1600" b="0">
                <a:solidFill>
                  <a:srgbClr val="0F172A"/>
                </a:solidFill>
                <a:latin typeface="Segoe UI"/>
              </a:rPr>
              <a:t>• Posterior predictive: la distribución de datos futuros simulados desde el posterior. Test de modelo.</a:t>
            </a:r>
          </a:p>
          <a:p>
            <a:pPr>
              <a:spcAft>
                <a:spcPts val="1000"/>
              </a:spcAft>
              <a:defRPr sz="1600" b="0">
                <a:solidFill>
                  <a:srgbClr val="0F172A"/>
                </a:solidFill>
                <a:latin typeface="Segoe UI"/>
              </a:defRPr>
            </a:pPr>
            <a:r>
              <a:rPr sz="1600" b="0">
                <a:solidFill>
                  <a:srgbClr val="0F172A"/>
                </a:solidFill>
                <a:latin typeface="Segoe UI"/>
              </a:rPr>
              <a:t>• Priors: no informativos (Uniform, HalfNormal con scale grande), débilmente informativos (recomendado), informativos (cuando hay expertise).</a:t>
            </a:r>
          </a:p>
          <a:p>
            <a:pPr>
              <a:spcAft>
                <a:spcPts val="1000"/>
              </a:spcAft>
              <a:defRPr sz="1600" b="0">
                <a:solidFill>
                  <a:srgbClr val="0F172A"/>
                </a:solidFill>
                <a:latin typeface="Segoe UI"/>
              </a:defRPr>
            </a:pPr>
            <a:r>
              <a:rPr sz="1600" b="0">
                <a:solidFill>
                  <a:srgbClr val="0F172A"/>
                </a:solidFill>
                <a:latin typeface="Segoe UI"/>
              </a:rPr>
              <a:t>• Complemento moderno: PyMC v5 (PyTensor backend, ya estable post-Theano), NumPyro (JAX, GPU), ArviZ (diagnóstico estándar).</a:t>
            </a:r>
          </a:p>
        </p:txBody>
      </p:sp>
    </p:spTree>
  </p:cSld>
  <p:clrMapOvr>
    <a:masterClrMapping/>
  </p:clrMapOvr>
</p:sld>
</file>

<file path=ppt/slides/slide9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192 — Bayes intro: priors, posterior, MCMC con PyMC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 prior Beta(1,1) (uniforme) y datos binomiales, el posterior es Beta(a+éxitos, b+fracasos) — sin necesidad de MCMC. Calculamos el intervalo del 94 % con scipy.</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100 visitas, 8 conversiones. Prior Beta(1,1)</a:t>
            </a:r>
          </a:p>
          <a:p>
            <a:pPr>
              <a:defRPr sz="1200" b="0">
                <a:solidFill>
                  <a:srgbClr val="F8FAFC"/>
                </a:solidFill>
                <a:latin typeface="Courier New"/>
              </a:defRPr>
            </a:pPr>
            <a:r>
              <a:rPr sz="1200" b="0">
                <a:solidFill>
                  <a:srgbClr val="F8FAFC"/>
                </a:solidFill>
                <a:latin typeface="Courier New"/>
              </a:rPr>
              <a:t>visitas, conversiones = 100, 8</a:t>
            </a:r>
          </a:p>
          <a:p>
            <a:pPr>
              <a:defRPr sz="1200" b="0">
                <a:solidFill>
                  <a:srgbClr val="F8FAFC"/>
                </a:solidFill>
                <a:latin typeface="Courier New"/>
              </a:defRPr>
            </a:pPr>
            <a:r>
              <a:rPr sz="1200" b="0">
                <a:solidFill>
                  <a:srgbClr val="F8FAFC"/>
                </a:solidFill>
                <a:latin typeface="Courier New"/>
              </a:rPr>
              <a:t>a0, b0 = 1, 1</a:t>
            </a:r>
          </a:p>
          <a:p>
            <a:pPr>
              <a:defRPr sz="1200" b="0">
                <a:solidFill>
                  <a:srgbClr val="F8FAFC"/>
                </a:solidFill>
                <a:latin typeface="Courier New"/>
              </a:defRPr>
            </a:pPr>
            <a:r>
              <a:rPr sz="1200" b="0">
                <a:solidFill>
                  <a:srgbClr val="F8FAFC"/>
                </a:solidFill>
                <a:latin typeface="Courier New"/>
              </a:rPr>
              <a:t>a_post, b_post = a0 + conversiones, b0 + (visitas - conversiones)   # Beta(9, 93)</a:t>
            </a:r>
          </a:p>
          <a:p>
            <a:pPr>
              <a:defRPr sz="1200" b="0">
                <a:solidFill>
                  <a:srgbClr val="F8FAFC"/>
                </a:solidFill>
                <a:latin typeface="Courier New"/>
              </a:defRPr>
            </a:pPr>
            <a:r>
              <a:rPr sz="1200" b="0">
                <a:solidFill>
                  <a:srgbClr val="F8FAFC"/>
                </a:solidFill>
                <a:latin typeface="Courier New"/>
              </a:rPr>
              <a:t>post = stats.beta(a_post, b_post)</a:t>
            </a:r>
          </a:p>
          <a:p>
            <a:pPr>
              <a:defRPr sz="1200" b="0">
                <a:solidFill>
                  <a:srgbClr val="F8FAFC"/>
                </a:solidFill>
                <a:latin typeface="Courier New"/>
              </a:defRPr>
            </a:pPr>
            <a:r>
              <a:rPr sz="1200" b="0">
                <a:solidFill>
                  <a:srgbClr val="F8FAFC"/>
                </a:solidFill>
                <a:latin typeface="Courier New"/>
              </a:rPr>
              <a:t>lo, hi = post.ppf(0.03), post.ppf(0.97)    # intervalo central del 94%</a:t>
            </a:r>
          </a:p>
          <a:p>
            <a:pPr>
              <a:defRPr sz="1200" b="0">
                <a:solidFill>
                  <a:srgbClr val="F8FAFC"/>
                </a:solidFill>
                <a:latin typeface="Courier New"/>
              </a:defRPr>
            </a:pPr>
            <a:r>
              <a:rPr sz="1200" b="0">
                <a:solidFill>
                  <a:srgbClr val="F8FAFC"/>
                </a:solidFill>
                <a:latin typeface="Courier New"/>
              </a:rPr>
              <a:t>print(f"Posterior = Beta({a_post}, {b_post})")</a:t>
            </a:r>
          </a:p>
          <a:p>
            <a:pPr>
              <a:defRPr sz="1200" b="0">
                <a:solidFill>
                  <a:srgbClr val="F8FAFC"/>
                </a:solidFill>
                <a:latin typeface="Courier New"/>
              </a:defRPr>
            </a:pPr>
            <a:r>
              <a:rPr sz="1200" b="0">
                <a:solidFill>
                  <a:srgbClr val="F8FAFC"/>
                </a:solidFill>
                <a:latin typeface="Courier New"/>
              </a:rPr>
              <a:t>print(f"media posterior = {post.mean():.3f}")</a:t>
            </a:r>
          </a:p>
          <a:p>
            <a:pPr>
              <a:defRPr sz="1200" b="0">
                <a:solidFill>
                  <a:srgbClr val="F8FAFC"/>
                </a:solidFill>
                <a:latin typeface="Courier New"/>
              </a:defRPr>
            </a:pPr>
            <a:r>
              <a:rPr sz="1200" b="0">
                <a:solidFill>
                  <a:srgbClr val="F8FAFC"/>
                </a:solidFill>
                <a:latin typeface="Courier New"/>
              </a:rPr>
              <a:t>print(f"intervalo 94% = ({lo:.3f}, {hi:.3f})")</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grid = np.linspace(0, 0.25, 300)</a:t>
            </a:r>
          </a:p>
          <a:p>
            <a:pPr>
              <a:defRPr sz="1200" b="0">
                <a:solidFill>
                  <a:srgbClr val="F8FAFC"/>
                </a:solidFill>
                <a:latin typeface="Courier New"/>
              </a:defRPr>
            </a:pPr>
            <a:r>
              <a:rPr sz="1200" b="0">
                <a:solidFill>
                  <a:srgbClr val="F8FAFC"/>
                </a:solidFill>
                <a:latin typeface="Courier New"/>
              </a:rPr>
              <a:t>plt.figure(figsize=(7, 4))</a:t>
            </a:r>
          </a:p>
          <a:p>
            <a:pPr>
              <a:defRPr sz="1200" b="0">
                <a:solidFill>
                  <a:srgbClr val="F8FAFC"/>
                </a:solidFill>
                <a:latin typeface="Courier New"/>
              </a:defRPr>
            </a:pPr>
            <a:r>
              <a:rPr sz="1200" b="0">
                <a:solidFill>
                  <a:srgbClr val="F8FAFC"/>
                </a:solidFill>
                <a:latin typeface="Courier New"/>
              </a:rPr>
              <a:t>plt.plot(grid, stats.beta(a0, b0).pdf(grid), label="prior Beta(1,1)")</a:t>
            </a:r>
          </a:p>
          <a:p>
            <a:pPr>
              <a:defRPr sz="1200" b="0">
                <a:solidFill>
                  <a:srgbClr val="F8FAFC"/>
                </a:solidFill>
                <a:latin typeface="Courier New"/>
              </a:defRPr>
            </a:pPr>
            <a:r>
              <a:rPr sz="1200" b="0">
                <a:solidFill>
                  <a:srgbClr val="F8FAFC"/>
                </a:solidFill>
                <a:latin typeface="Courier New"/>
              </a:rPr>
              <a:t>plt.plot(grid, post.pdf(grid), label=f"posterior Beta({a_post},{b_post})")</a:t>
            </a:r>
          </a:p>
          <a:p>
            <a:pPr>
              <a:defRPr sz="1200" b="0">
                <a:solidFill>
                  <a:srgbClr val="F8FAFC"/>
                </a:solidFill>
                <a:latin typeface="Courier New"/>
              </a:defRPr>
            </a:pPr>
            <a:r>
              <a:rPr sz="1200" b="0">
                <a:solidFill>
                  <a:srgbClr val="F8FAFC"/>
                </a:solidFill>
                <a:latin typeface="Courier New"/>
              </a:rPr>
              <a:t>plt.title("Actualización bayesiana: prior -&gt; posterior"); plt.legend()</a:t>
            </a:r>
          </a:p>
          <a:p>
            <a:pPr>
              <a:defRPr sz="1200" b="0">
                <a:solidFill>
                  <a:srgbClr val="F8FAFC"/>
                </a:solidFill>
                <a:latin typeface="Courier New"/>
              </a:defRPr>
            </a:pPr>
            <a:r>
              <a:rPr sz="1200" b="0">
                <a:solidFill>
                  <a:srgbClr val="F8FAFC"/>
                </a:solidFill>
                <a:latin typeface="Courier New"/>
              </a:rPr>
              <a:t>plt.tight_layout(); plt.show()</a:t>
            </a:r>
          </a:p>
        </p:txBody>
      </p:sp>
    </p:spTree>
  </p:cSld>
  <p:clrMapOvr>
    <a:masterClrMapping/>
  </p:clrMapOvr>
</p:sld>
</file>

<file path=ppt/slides/slide9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192 — Bayes intro: priors, posterior, MCMC con PyMC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Conjugado a mano: 100 visitas, 8 conversiones.</a:t>
            </a:r>
          </a:p>
          <a:p>
            <a:pPr>
              <a:spcAft>
                <a:spcPts val="800"/>
              </a:spcAft>
              <a:defRPr sz="1400" b="0">
                <a:solidFill>
                  <a:srgbClr val="0F172A"/>
                </a:solidFill>
                <a:latin typeface="Segoe UI"/>
              </a:defRPr>
            </a:pPr>
            <a:r>
              <a:rPr sz="1400" b="0">
                <a:solidFill>
                  <a:srgbClr val="0F172A"/>
                </a:solidFill>
                <a:latin typeface="Segoe UI"/>
              </a:rPr>
              <a:t>• Regresión bayesiana: ajustá el modelo PyMC del ejemplo sobre tips.</a:t>
            </a:r>
          </a:p>
          <a:p>
            <a:pPr>
              <a:spcAft>
                <a:spcPts val="800"/>
              </a:spcAft>
              <a:defRPr sz="1400" b="0">
                <a:solidFill>
                  <a:srgbClr val="0F172A"/>
                </a:solidFill>
                <a:latin typeface="Segoe UI"/>
              </a:defRPr>
            </a:pPr>
            <a:r>
              <a:rPr sz="1400" b="0">
                <a:solidFill>
                  <a:srgbClr val="0F172A"/>
                </a:solidFill>
                <a:latin typeface="Segoe UI"/>
              </a:rPr>
              <a:t>• Comparación: compará los coeficientes bayesianos (mean del posterior) con OLS de statsmodels sobre el mismo dataset.</a:t>
            </a:r>
          </a:p>
          <a:p>
            <a:pPr>
              <a:spcAft>
                <a:spcPts val="800"/>
              </a:spcAft>
              <a:defRPr sz="1400" b="0">
                <a:solidFill>
                  <a:srgbClr val="0F172A"/>
                </a:solidFill>
                <a:latin typeface="Segoe UI"/>
              </a:defRPr>
            </a:pPr>
            <a:r>
              <a:rPr sz="1400" b="0">
                <a:solidFill>
                  <a:srgbClr val="0F172A"/>
                </a:solidFill>
                <a:latin typeface="Segoe UI"/>
              </a:rPr>
              <a:t>• Posterior predictive check: ejecutá sample_posterior_predictive y az.plot_ppc.</a:t>
            </a:r>
          </a:p>
          <a:p>
            <a:pPr>
              <a:spcAft>
                <a:spcPts val="800"/>
              </a:spcAft>
              <a:defRPr sz="1400" b="0">
                <a:solidFill>
                  <a:srgbClr val="0F172A"/>
                </a:solidFill>
                <a:latin typeface="Segoe UI"/>
              </a:defRPr>
            </a:pPr>
            <a:r>
              <a:rPr sz="1400" b="0">
                <a:solidFill>
                  <a:srgbClr val="0F172A"/>
                </a:solidFill>
                <a:latin typeface="Segoe UI"/>
              </a:rPr>
              <a:t>• NumPyro: traducí el modelo a NumPyro, ajustá, convertí con az.from_numpyro y verificá que los resultados son equivalentes.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Modelar la propina como tip ~ Normal(α_día + β·total_bill, σ) donde α_día varía por día (efecto aleatorio jerárquico): α_día ~ Normal(μ_α, σ_α).</a:t>
            </a:r>
          </a:p>
          <a:p>
            <a:pPr>
              <a:spcAft>
                <a:spcPts val="800"/>
              </a:spcAft>
              <a:defRPr sz="1400" b="0">
                <a:solidFill>
                  <a:srgbClr val="0F172A"/>
                </a:solidFill>
                <a:latin typeface="Segoe UI"/>
              </a:defRPr>
            </a:pPr>
            <a:r>
              <a:rPr sz="1400" b="0">
                <a:solidFill>
                  <a:srgbClr val="0F172A"/>
                </a:solidFill>
                <a:latin typeface="Segoe UI"/>
              </a:rPr>
              <a:t>• Ajustar con PyMC v5, 4 cadenas, 2 000 muestras.</a:t>
            </a:r>
          </a:p>
          <a:p>
            <a:pPr>
              <a:spcAft>
                <a:spcPts val="800"/>
              </a:spcAft>
              <a:defRPr sz="1400" b="0">
                <a:solidFill>
                  <a:srgbClr val="0F172A"/>
                </a:solidFill>
                <a:latin typeface="Segoe UI"/>
              </a:defRPr>
            </a:pPr>
            <a:r>
              <a:rPr sz="1400" b="0">
                <a:solidFill>
                  <a:srgbClr val="0F172A"/>
                </a:solidFill>
                <a:latin typeface="Segoe UI"/>
              </a:rPr>
              <a:t>• Diagnosticar: r_hat, ess_bulk, trace plots, divergencias.</a:t>
            </a:r>
          </a:p>
          <a:p>
            <a:pPr>
              <a:spcAft>
                <a:spcPts val="800"/>
              </a:spcAft>
              <a:defRPr sz="1400" b="0">
                <a:solidFill>
                  <a:srgbClr val="0F172A"/>
                </a:solidFill>
                <a:latin typeface="Segoe UI"/>
              </a:defRPr>
            </a:pPr>
            <a:r>
              <a:rPr sz="1400" b="0">
                <a:solidFill>
                  <a:srgbClr val="0F172A"/>
                </a:solidFill>
                <a:latin typeface="Segoe UI"/>
              </a:rPr>
              <a:t>• Reportar HDI 94 % de β (efecto del bill sobre tip) y de los 4 α_día.</a:t>
            </a:r>
          </a:p>
          <a:p>
            <a:pPr>
              <a:spcAft>
                <a:spcPts val="800"/>
              </a:spcAft>
              <a:defRPr sz="1400" b="0">
                <a:solidFill>
                  <a:srgbClr val="0F172A"/>
                </a:solidFill>
                <a:latin typeface="Segoe UI"/>
              </a:defRPr>
            </a:pPr>
            <a:r>
              <a:rPr sz="1400" b="0">
                <a:solidFill>
                  <a:srgbClr val="0F172A"/>
                </a:solidFill>
                <a:latin typeface="Segoe UI"/>
              </a:rPr>
              <a:t>• Conclusión en 4 líneas: ¿qué día tiene mayor intercepto? ¿Cuán incierto es β?</a:t>
            </a:r>
          </a:p>
        </p:txBody>
      </p:sp>
    </p:spTree>
  </p:cSld>
  <p:clrMapOvr>
    <a:masterClrMapping/>
  </p:clrMapOvr>
</p:sld>
</file>

<file path=ppt/slides/slide96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193 — Stack bayesiano moderno: PyMC v5, NumPyro, ArviZ</a:t>
            </a:r>
          </a:p>
        </p:txBody>
      </p:sp>
    </p:spTree>
  </p:cSld>
  <p:clrMapOvr>
    <a:masterClrMapping/>
  </p:clrMapOvr>
</p:sld>
</file>

<file path=ppt/slides/slide9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193 — Stack bayesiano moderno: PyMC v5, NumPyro, ArviZ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3 — Estadística Inferencial y Causal · Fuente: PyMC v5 docs + NumPyro docs + ArviZ docs.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el stack bayesiano moderno post-Theano —PyMC v5 (PyTensor), NumPyro (JAX), ArviZ (visualización backend-agnóstica)— a nivel de poder construir modelos jerárquicos serios, diagnosticar convergencia (r_hat, ess_bulk, divergences), comparar modelos con LOO-CV y WAIC, y elegir backend según escala.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modelo jerárquico no-centered en PyMC v5.</a:t>
            </a:r>
          </a:p>
          <a:p>
            <a:pPr>
              <a:spcAft>
                <a:spcPts val="800"/>
              </a:spcAft>
              <a:defRPr sz="1400" b="0">
                <a:solidFill>
                  <a:srgbClr val="0F172A"/>
                </a:solidFill>
                <a:latin typeface="Segoe UI"/>
              </a:defRPr>
            </a:pPr>
            <a:r>
              <a:rPr sz="1400" b="0">
                <a:solidFill>
                  <a:srgbClr val="0F172A"/>
                </a:solidFill>
                <a:latin typeface="Segoe UI"/>
              </a:rPr>
              <a:t>• Diagnosticar: r_hat ≤ 1.01, ess_bulk ≥ 400, divergences = 0.</a:t>
            </a:r>
          </a:p>
          <a:p>
            <a:pPr>
              <a:spcAft>
                <a:spcPts val="800"/>
              </a:spcAft>
              <a:defRPr sz="1400" b="0">
                <a:solidFill>
                  <a:srgbClr val="0F172A"/>
                </a:solidFill>
                <a:latin typeface="Segoe UI"/>
              </a:defRPr>
            </a:pPr>
            <a:r>
              <a:rPr sz="1400" b="0">
                <a:solidFill>
                  <a:srgbClr val="0F172A"/>
                </a:solidFill>
                <a:latin typeface="Segoe UI"/>
              </a:rPr>
              <a:t>• Aplicar non-centered parameterization para evitar funnel posteriors.</a:t>
            </a:r>
          </a:p>
          <a:p>
            <a:pPr>
              <a:spcAft>
                <a:spcPts val="800"/>
              </a:spcAft>
              <a:defRPr sz="1400" b="0">
                <a:solidFill>
                  <a:srgbClr val="0F172A"/>
                </a:solidFill>
                <a:latin typeface="Segoe UI"/>
              </a:defRPr>
            </a:pPr>
            <a:r>
              <a:rPr sz="1400" b="0">
                <a:solidFill>
                  <a:srgbClr val="0F172A"/>
                </a:solidFill>
                <a:latin typeface="Segoe UI"/>
              </a:rPr>
              <a:t>• Comparar modelos con az.compare([m1, m2], ic='loo').</a:t>
            </a:r>
          </a:p>
          <a:p>
            <a:pPr>
              <a:spcAft>
                <a:spcPts val="800"/>
              </a:spcAft>
              <a:defRPr sz="1400" b="0">
                <a:solidFill>
                  <a:srgbClr val="0F172A"/>
                </a:solidFill>
                <a:latin typeface="Segoe UI"/>
              </a:defRPr>
            </a:pPr>
            <a:r>
              <a:rPr sz="1400" b="0">
                <a:solidFill>
                  <a:srgbClr val="0F172A"/>
                </a:solidFill>
                <a:latin typeface="Segoe UI"/>
              </a:rPr>
              <a:t>• Migrar modelo de PyMC a NumPyro para 10-50× speedup en CPU.</a:t>
            </a:r>
          </a:p>
        </p:txBody>
      </p:sp>
    </p:spTree>
  </p:cSld>
  <p:clrMapOvr>
    <a:masterClrMapping/>
  </p:clrMapOvr>
</p:sld>
</file>

<file path=ppt/slides/slide9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193 — Stack bayesiano moderno: PyMC v5, NumPyro, ArviZ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PyMC v5: PyTensor backend, sintaxis estable.</a:t>
            </a:r>
          </a:p>
          <a:p>
            <a:pPr>
              <a:spcAft>
                <a:spcPts val="1000"/>
              </a:spcAft>
              <a:defRPr sz="1600" b="0">
                <a:solidFill>
                  <a:srgbClr val="0F172A"/>
                </a:solidFill>
                <a:latin typeface="Segoe UI"/>
              </a:defRPr>
            </a:pPr>
            <a:r>
              <a:rPr sz="1600" b="0">
                <a:solidFill>
                  <a:srgbClr val="0F172A"/>
                </a:solidFill>
                <a:latin typeface="Segoe UI"/>
              </a:rPr>
              <a:t>• NumPyro: JAX backend, JIT + autograd + GPU/TPU.</a:t>
            </a:r>
          </a:p>
          <a:p>
            <a:pPr>
              <a:spcAft>
                <a:spcPts val="1000"/>
              </a:spcAft>
              <a:defRPr sz="1600" b="0">
                <a:solidFill>
                  <a:srgbClr val="0F172A"/>
                </a:solidFill>
                <a:latin typeface="Segoe UI"/>
              </a:defRPr>
            </a:pPr>
            <a:r>
              <a:rPr sz="1600" b="0">
                <a:solidFill>
                  <a:srgbClr val="0F172A"/>
                </a:solidFill>
                <a:latin typeface="Segoe UI"/>
              </a:rPr>
              <a:t>• Centered vs non-centered parametrization.</a:t>
            </a:r>
          </a:p>
          <a:p>
            <a:pPr>
              <a:spcAft>
                <a:spcPts val="1000"/>
              </a:spcAft>
              <a:defRPr sz="1600" b="0">
                <a:solidFill>
                  <a:srgbClr val="0F172A"/>
                </a:solidFill>
                <a:latin typeface="Segoe UI"/>
              </a:defRPr>
            </a:pPr>
            <a:r>
              <a:rPr sz="1600" b="0">
                <a:solidFill>
                  <a:srgbClr val="0F172A"/>
                </a:solidFill>
                <a:latin typeface="Segoe UI"/>
              </a:rPr>
              <a:t>• Posterior predictive check con ArviZ.</a:t>
            </a:r>
          </a:p>
          <a:p>
            <a:pPr>
              <a:spcAft>
                <a:spcPts val="1000"/>
              </a:spcAft>
              <a:defRPr sz="1600" b="0">
                <a:solidFill>
                  <a:srgbClr val="0F172A"/>
                </a:solidFill>
                <a:latin typeface="Segoe UI"/>
              </a:defRPr>
            </a:pPr>
            <a:r>
              <a:rPr sz="1600" b="0">
                <a:solidFill>
                  <a:srgbClr val="0F172A"/>
                </a:solidFill>
                <a:latin typeface="Segoe UI"/>
              </a:rPr>
              <a:t>• LOO-CV y WAIC para comparación.</a:t>
            </a:r>
          </a:p>
          <a:p>
            <a:pPr>
              <a:spcAft>
                <a:spcPts val="1000"/>
              </a:spcAft>
              <a:defRPr sz="1600" b="0">
                <a:solidFill>
                  <a:srgbClr val="0F172A"/>
                </a:solidFill>
                <a:latin typeface="Segoe UI"/>
              </a:defRPr>
            </a:pPr>
            <a:r>
              <a:rPr sz="1600" b="0">
                <a:solidFill>
                  <a:srgbClr val="0F172A"/>
                </a:solidFill>
                <a:latin typeface="Segoe UI"/>
              </a:rPr>
              <a:t>• SVI con AutoNormal / AutoMultivariateNormal.</a:t>
            </a:r>
          </a:p>
        </p:txBody>
      </p:sp>
    </p:spTree>
  </p:cSld>
  <p:clrMapOvr>
    <a:masterClrMapping/>
  </p:clrMapOvr>
</p:sld>
</file>

<file path=ppt/slides/slide9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193 — Stack bayesiano moderno: PyMC v5, NumPyro, ArviZ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PyMC v5 (PyTensor backend), NumPyro (JAX, NUTS rápido), ArviZ (diagnósticos y comparación de modelos). Requiere: pip install numpy scipy arviz (opcional pymc, numpyro).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 200</a:t>
            </a:r>
          </a:p>
          <a:p>
            <a:pPr>
              <a:defRPr sz="1200" b="0">
                <a:solidFill>
                  <a:srgbClr val="F8FAFC"/>
                </a:solidFill>
                <a:latin typeface="Courier New"/>
              </a:defRPr>
            </a:pPr>
            <a:r>
              <a:rPr sz="1200" b="0">
                <a:solidFill>
                  <a:srgbClr val="F8FAFC"/>
                </a:solidFill>
                <a:latin typeface="Courier New"/>
              </a:rPr>
              <a:t>TRUE_A, TRUE_B, TRUE_SIGMA = 1.5, 2.3, 1.0</a:t>
            </a:r>
          </a:p>
          <a:p>
            <a:pPr>
              <a:defRPr sz="1200" b="0">
                <a:solidFill>
                  <a:srgbClr val="F8FAFC"/>
                </a:solidFill>
                <a:latin typeface="Courier New"/>
              </a:defRPr>
            </a:pPr>
            <a:r>
              <a:rPr sz="1200" b="0">
                <a:solidFill>
                  <a:srgbClr val="F8FAFC"/>
                </a:solidFill>
                <a:latin typeface="Courier New"/>
              </a:rPr>
              <a:t>x = rng.normal(0, 1, n)</a:t>
            </a:r>
          </a:p>
          <a:p>
            <a:pPr>
              <a:defRPr sz="1200" b="0">
                <a:solidFill>
                  <a:srgbClr val="F8FAFC"/>
                </a:solidFill>
                <a:latin typeface="Courier New"/>
              </a:defRPr>
            </a:pPr>
            <a:r>
              <a:rPr sz="1200" b="0">
                <a:solidFill>
                  <a:srgbClr val="F8FAFC"/>
                </a:solidFill>
                <a:latin typeface="Courier New"/>
              </a:rPr>
              <a:t>y = TRUE_A + TRUE_B * x + rng.normal(0, TRUE_SIGMA, n)</a:t>
            </a:r>
          </a:p>
          <a:p>
            <a:pPr>
              <a:defRPr sz="1200" b="0">
                <a:solidFill>
                  <a:srgbClr val="F8FAFC"/>
                </a:solidFill>
                <a:latin typeface="Courier New"/>
              </a:defRPr>
            </a:pPr>
            <a:r>
              <a:rPr sz="1200" b="0">
                <a:solidFill>
                  <a:srgbClr val="F8FAFC"/>
                </a:solidFill>
                <a:latin typeface="Courier New"/>
              </a:rPr>
              <a:t>print(f'n={n}  truth: a={TRUE_A}  b={TRUE_B}  sigma={TRUE_SIGMA}')</a:t>
            </a:r>
          </a:p>
        </p:txBody>
      </p:sp>
    </p:spTree>
  </p:cSld>
  <p:clrMapOvr>
    <a:masterClrMapping/>
  </p:clrMapOvr>
</p:sld>
</file>

<file path=ppt/slides/slide9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193 — Stack bayesiano moderno: PyMC v5, NumPyro, ArviZ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PyMC v5 hierarchical: tip ~ Normal(α_day + β·bill, σ); α_day ~ Normal(μα, σα).</a:t>
            </a:r>
          </a:p>
          <a:p>
            <a:pPr>
              <a:spcAft>
                <a:spcPts val="800"/>
              </a:spcAft>
              <a:defRPr sz="1400" b="0">
                <a:solidFill>
                  <a:srgbClr val="0F172A"/>
                </a:solidFill>
                <a:latin typeface="Segoe UI"/>
              </a:defRPr>
            </a:pPr>
            <a:r>
              <a:rPr sz="1400" b="0">
                <a:solidFill>
                  <a:srgbClr val="0F172A"/>
                </a:solidFill>
                <a:latin typeface="Segoe UI"/>
              </a:rPr>
              <a:t>• Non-centered: re-parametrizar el modelo con α_day = μα + σα · z_day, z_day ~ N(0,1).</a:t>
            </a:r>
          </a:p>
          <a:p>
            <a:pPr>
              <a:spcAft>
                <a:spcPts val="800"/>
              </a:spcAft>
              <a:defRPr sz="1400" b="0">
                <a:solidFill>
                  <a:srgbClr val="0F172A"/>
                </a:solidFill>
                <a:latin typeface="Segoe UI"/>
              </a:defRPr>
            </a:pPr>
            <a:r>
              <a:rPr sz="1400" b="0">
                <a:solidFill>
                  <a:srgbClr val="0F172A"/>
                </a:solidFill>
                <a:latin typeface="Segoe UI"/>
              </a:rPr>
              <a:t>• PPC: pm.sample_posterior_predictive + az.plot_ppc.</a:t>
            </a:r>
          </a:p>
          <a:p>
            <a:pPr>
              <a:spcAft>
                <a:spcPts val="800"/>
              </a:spcAft>
              <a:defRPr sz="1400" b="0">
                <a:solidFill>
                  <a:srgbClr val="0F172A"/>
                </a:solidFill>
                <a:latin typeface="Segoe UI"/>
              </a:defRPr>
            </a:pPr>
            <a:r>
              <a:rPr sz="1400" b="0">
                <a:solidFill>
                  <a:srgbClr val="0F172A"/>
                </a:solidFill>
                <a:latin typeface="Segoe UI"/>
              </a:rPr>
              <a:t>• NumPyro version: traducir, comparar tiempo.</a:t>
            </a:r>
          </a:p>
          <a:p>
            <a:pPr>
              <a:spcAft>
                <a:spcPts val="800"/>
              </a:spcAft>
              <a:defRPr sz="1400" b="0">
                <a:solidFill>
                  <a:srgbClr val="0F172A"/>
                </a:solidFill>
                <a:latin typeface="Segoe UI"/>
              </a:defRPr>
            </a:pPr>
            <a:r>
              <a:rPr sz="1400" b="0">
                <a:solidFill>
                  <a:srgbClr val="0F172A"/>
                </a:solidFill>
                <a:latin typeface="Segoe UI"/>
              </a:rPr>
              <a:t>• LOO compare: 3 modelos (intercepto solo, + slope, + jerárquico).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PyMC v5 jerárquico con day como nivel.</a:t>
            </a:r>
          </a:p>
          <a:p>
            <a:pPr>
              <a:spcAft>
                <a:spcPts val="800"/>
              </a:spcAft>
              <a:defRPr sz="1400" b="0">
                <a:solidFill>
                  <a:srgbClr val="0F172A"/>
                </a:solidFill>
                <a:latin typeface="Segoe UI"/>
              </a:defRPr>
            </a:pPr>
            <a:r>
              <a:rPr sz="1400" b="0">
                <a:solidFill>
                  <a:srgbClr val="0F172A"/>
                </a:solidFill>
                <a:latin typeface="Segoe UI"/>
              </a:rPr>
              <a:t>• NumPyro mismo modelo.</a:t>
            </a:r>
          </a:p>
          <a:p>
            <a:pPr>
              <a:spcAft>
                <a:spcPts val="800"/>
              </a:spcAft>
              <a:defRPr sz="1400" b="0">
                <a:solidFill>
                  <a:srgbClr val="0F172A"/>
                </a:solidFill>
                <a:latin typeface="Segoe UI"/>
              </a:defRPr>
            </a:pPr>
            <a:r>
              <a:rPr sz="1400" b="0">
                <a:solidFill>
                  <a:srgbClr val="0F172A"/>
                </a:solidFill>
                <a:latin typeface="Segoe UI"/>
              </a:rPr>
              <a:t>• SVI en NumPyro como alternativa rápida.</a:t>
            </a:r>
          </a:p>
          <a:p>
            <a:pPr>
              <a:spcAft>
                <a:spcPts val="800"/>
              </a:spcAft>
              <a:defRPr sz="1400" b="0">
                <a:solidFill>
                  <a:srgbClr val="0F172A"/>
                </a:solidFill>
                <a:latin typeface="Segoe UI"/>
              </a:defRPr>
            </a:pPr>
            <a:r>
              <a:rPr sz="1400" b="0">
                <a:solidFill>
                  <a:srgbClr val="0F172A"/>
                </a:solidFill>
                <a:latin typeface="Segoe UI"/>
              </a:rPr>
              <a:t>• Comparar 3 enfoques: MCMC PyMC, MCMC NumPyro, SVI NumPyro.</a:t>
            </a:r>
          </a:p>
          <a:p>
            <a:pPr>
              <a:spcAft>
                <a:spcPts val="800"/>
              </a:spcAft>
              <a:defRPr sz="1400" b="0">
                <a:solidFill>
                  <a:srgbClr val="0F172A"/>
                </a:solidFill>
                <a:latin typeface="Segoe UI"/>
              </a:defRPr>
            </a:pPr>
            <a:r>
              <a:rPr sz="1400" b="0">
                <a:solidFill>
                  <a:srgbClr val="0F172A"/>
                </a:solidFill>
                <a:latin typeface="Segoe UI"/>
              </a:rPr>
              <a:t>• az.plot_trace, az.summary, az.compare para 2 variantes del modelo.</a:t>
            </a:r>
          </a:p>
        </p:txBody>
      </p:sp>
    </p:spTree>
  </p:cSld>
  <p:clrMapOvr>
    <a:masterClrMapping/>
  </p:clrMapOvr>
</p:sld>
</file>

<file path=ppt/slides/slide97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4 — MLOps — Modelos en Producción · 14 clases</a:t>
            </a:r>
          </a:p>
        </p:txBody>
      </p:sp>
    </p:spTree>
  </p:cSld>
  <p:clrMapOvr>
    <a:masterClrMapping/>
  </p:clrMapOvr>
</p:sld>
</file>

<file path=ppt/slides/slide97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194 — Versionado de datos con DVC</a:t>
            </a:r>
          </a:p>
        </p:txBody>
      </p:sp>
    </p:spTree>
  </p:cSld>
  <p:clrMapOvr>
    <a:masterClrMapping/>
  </p:clrMapOvr>
</p:sld>
</file>

<file path=ppt/slides/slide9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194 — Versionado de datos con DVC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Designing Machine Learning Systems cap. 6 + docs oficiales DVC 3.x.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Versionar datasets pesados (&gt;100 MB, que git rechaza) con DVC 3.x, separando qué dato se usó (puntero en git, ~200 bytes) de dónde vive el blob real (S3, GCS, Azure, disco local). Reproducir un entrenamiento de hace 3 meses con git checkout &lt;sha&gt; &amp;&amp; dvc pull y entender por qué dvc.lock es a los datos lo que package-lock.json es a npm.</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Inicializar un repo con dvc init y rastrear un dataset con dvc add data/raw.csv (entiende que git solo guarda el .dvc pointer).</a:t>
            </a:r>
          </a:p>
          <a:p>
            <a:pPr>
              <a:spcAft>
                <a:spcPts val="800"/>
              </a:spcAft>
              <a:defRPr sz="1400" b="0">
                <a:solidFill>
                  <a:srgbClr val="0F172A"/>
                </a:solidFill>
                <a:latin typeface="Segoe UI"/>
              </a:defRPr>
            </a:pPr>
            <a:r>
              <a:rPr sz="1400" b="0">
                <a:solidFill>
                  <a:srgbClr val="0F172A"/>
                </a:solidFill>
                <a:latin typeface="Segoe UI"/>
              </a:rPr>
              <a:t>• Configurar un remote (dvc remote add -d origin s3://bucket/path) y sincronizar con dvc push / dvc pull.</a:t>
            </a:r>
          </a:p>
          <a:p>
            <a:pPr>
              <a:spcAft>
                <a:spcPts val="800"/>
              </a:spcAft>
              <a:defRPr sz="1400" b="0">
                <a:solidFill>
                  <a:srgbClr val="0F172A"/>
                </a:solidFill>
                <a:latin typeface="Segoe UI"/>
              </a:defRPr>
            </a:pPr>
            <a:r>
              <a:rPr sz="1400" b="0">
                <a:solidFill>
                  <a:srgbClr val="0F172A"/>
                </a:solidFill>
                <a:latin typeface="Segoe UI"/>
              </a:rPr>
              <a:t>• Construir un pipeline reproducible declarando stages en dvc.yaml (deps, outs, params, metrics) y ejecutarlo con dvc repro.</a:t>
            </a:r>
          </a:p>
          <a:p>
            <a:pPr>
              <a:spcAft>
                <a:spcPts val="800"/>
              </a:spcAft>
              <a:defRPr sz="1400" b="0">
                <a:solidFill>
                  <a:srgbClr val="0F172A"/>
                </a:solidFill>
                <a:latin typeface="Segoe UI"/>
              </a:defRPr>
            </a:pPr>
            <a:r>
              <a:rPr sz="1400" b="0">
                <a:solidFill>
                  <a:srgbClr val="0F172A"/>
                </a:solidFill>
                <a:latin typeface="Segoe UI"/>
              </a:rPr>
              <a:t>• Comparar experimentos con dvc exp run, dvc exp show, dvc exp diff — alternativa ligera a MLflow para casos simples.</a:t>
            </a:r>
          </a:p>
          <a:p>
            <a:pPr>
              <a:spcAft>
                <a:spcPts val="800"/>
              </a:spcAft>
              <a:defRPr sz="1400" b="0">
                <a:solidFill>
                  <a:srgbClr val="0F172A"/>
                </a:solidFill>
                <a:latin typeface="Segoe UI"/>
              </a:defRPr>
            </a:pPr>
            <a:r>
              <a:rPr sz="1400" b="0">
                <a:solidFill>
                  <a:srgbClr val="0F172A"/>
                </a:solidFill>
                <a:latin typeface="Segoe UI"/>
              </a:rPr>
              <a:t>• Diagnosticar ERROR: output 'X' is already tracked by SCM y otros choques DVC ↔ git.</a:t>
            </a:r>
          </a:p>
        </p:txBody>
      </p:sp>
    </p:spTree>
  </p:cSld>
  <p:clrMapOvr>
    <a:masterClrMapping/>
  </p:clrMapOvr>
</p:sld>
</file>

<file path=ppt/slides/slide9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194 — Versionado de datos con DVC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El problema: git LFS no escala a TB</a:t>
            </a:r>
          </a:p>
          <a:p>
            <a:pPr>
              <a:spcAft>
                <a:spcPts val="1000"/>
              </a:spcAft>
              <a:defRPr sz="1600" b="0">
                <a:solidFill>
                  <a:srgbClr val="0F172A"/>
                </a:solidFill>
                <a:latin typeface="Segoe UI"/>
              </a:defRPr>
            </a:pPr>
            <a:r>
              <a:rPr sz="1600" b="0">
                <a:solidFill>
                  <a:srgbClr val="0F172A"/>
                </a:solidFill>
                <a:latin typeface="Segoe UI"/>
              </a:rPr>
              <a:t>• Modelo mental DVC: pointer en git + blob en remote</a:t>
            </a:r>
          </a:p>
          <a:p>
            <a:pPr>
              <a:spcAft>
                <a:spcPts val="1000"/>
              </a:spcAft>
              <a:defRPr sz="1600" b="0">
                <a:solidFill>
                  <a:srgbClr val="0F172A"/>
                </a:solidFill>
                <a:latin typeface="Segoe UI"/>
              </a:defRPr>
            </a:pPr>
            <a:r>
              <a:rPr sz="1600" b="0">
                <a:solidFill>
                  <a:srgbClr val="0F172A"/>
                </a:solidFill>
                <a:latin typeface="Segoe UI"/>
              </a:rPr>
              <a:t>• dvc add vs dvc.yaml stages</a:t>
            </a:r>
          </a:p>
          <a:p>
            <a:pPr>
              <a:spcAft>
                <a:spcPts val="1000"/>
              </a:spcAft>
              <a:defRPr sz="1600" b="0">
                <a:solidFill>
                  <a:srgbClr val="0F172A"/>
                </a:solidFill>
                <a:latin typeface="Segoe UI"/>
              </a:defRPr>
            </a:pPr>
            <a:r>
              <a:rPr sz="1600" b="0">
                <a:solidFill>
                  <a:srgbClr val="0F172A"/>
                </a:solidFill>
                <a:latin typeface="Segoe UI"/>
              </a:rPr>
              <a:t>• Remotes (S3, GCS, Azure, SSH, local)</a:t>
            </a:r>
          </a:p>
          <a:p>
            <a:pPr>
              <a:spcAft>
                <a:spcPts val="1000"/>
              </a:spcAft>
              <a:defRPr sz="1600" b="0">
                <a:solidFill>
                  <a:srgbClr val="0F172A"/>
                </a:solidFill>
                <a:latin typeface="Segoe UI"/>
              </a:defRPr>
            </a:pPr>
            <a:r>
              <a:rPr sz="1600" b="0">
                <a:solidFill>
                  <a:srgbClr val="0F172A"/>
                </a:solidFill>
                <a:latin typeface="Segoe UI"/>
              </a:rPr>
              <a:t>• dvc.lock — el "lockfile" de tu pipeline</a:t>
            </a:r>
          </a:p>
          <a:p>
            <a:pPr>
              <a:spcAft>
                <a:spcPts val="1000"/>
              </a:spcAft>
              <a:defRPr sz="1600" b="0">
                <a:solidFill>
                  <a:srgbClr val="0F172A"/>
                </a:solidFill>
                <a:latin typeface="Segoe UI"/>
              </a:defRPr>
            </a:pPr>
            <a:r>
              <a:rPr sz="1600" b="0">
                <a:solidFill>
                  <a:srgbClr val="0F172A"/>
                </a:solidFill>
                <a:latin typeface="Segoe UI"/>
              </a:rPr>
              <a:t>• dvc exp — branching-less experiments</a:t>
            </a:r>
          </a:p>
        </p:txBody>
      </p:sp>
    </p:spTree>
  </p:cSld>
  <p:clrMapOvr>
    <a:masterClrMapping/>
  </p:clrMapOvr>
</p:sld>
</file>

<file path=ppt/slides/slide9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194 — Versionado de datos con DVC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subprocess, tempfile, json</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seaborn as sns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'dvc_demo'</a:t>
            </a:r>
          </a:p>
          <a:p>
            <a:pPr>
              <a:defRPr sz="1200" b="0">
                <a:solidFill>
                  <a:srgbClr val="F8FAFC"/>
                </a:solidFill>
                <a:latin typeface="Courier New"/>
              </a:defRPr>
            </a:pPr>
            <a:r>
              <a:rPr sz="1200" b="0">
                <a:solidFill>
                  <a:srgbClr val="F8FAFC"/>
                </a:solidFill>
                <a:latin typeface="Courier New"/>
              </a:rPr>
              <a:t>REMOTE = Path(tempfile.gettempdir()) / 'dvc_remote_demo'</a:t>
            </a:r>
          </a:p>
          <a:p>
            <a:pPr>
              <a:defRPr sz="1200" b="0">
                <a:solidFill>
                  <a:srgbClr val="F8FAFC"/>
                </a:solidFill>
                <a:latin typeface="Courier New"/>
              </a:defRPr>
            </a:pPr>
            <a:r>
              <a:rPr sz="1200" b="0">
                <a:solidFill>
                  <a:srgbClr val="F8FAFC"/>
                </a:solidFill>
                <a:latin typeface="Courier New"/>
              </a:rPr>
              <a:t>for p in (WORK, REMOTE):</a:t>
            </a:r>
          </a:p>
          <a:p>
            <a:pPr>
              <a:defRPr sz="1200" b="0">
                <a:solidFill>
                  <a:srgbClr val="F8FAFC"/>
                </a:solidFill>
                <a:latin typeface="Courier New"/>
              </a:defRPr>
            </a:pPr>
            <a:r>
              <a:rPr sz="1200" b="0">
                <a:solidFill>
                  <a:srgbClr val="F8FAFC"/>
                </a:solidFill>
                <a:latin typeface="Courier New"/>
              </a:rPr>
              <a:t>    if p.exists(): shutil.rmtree(p)</a:t>
            </a:r>
          </a:p>
          <a:p>
            <a:pPr>
              <a:defRPr sz="1200" b="0">
                <a:solidFill>
                  <a:srgbClr val="F8FAFC"/>
                </a:solidFill>
                <a:latin typeface="Courier New"/>
              </a:defRPr>
            </a:pPr>
            <a:r>
              <a:rPr sz="1200" b="0">
                <a:solidFill>
                  <a:srgbClr val="F8FAFC"/>
                </a:solidFill>
                <a:latin typeface="Courier New"/>
              </a:rPr>
              <a:t>    p.mkdir(parents=True)</a:t>
            </a:r>
          </a:p>
          <a:p>
            <a:pPr>
              <a:defRPr sz="1200" b="0">
                <a:solidFill>
                  <a:srgbClr val="F8FAFC"/>
                </a:solidFill>
                <a:latin typeface="Courier New"/>
              </a:defRPr>
            </a:pPr>
            <a:r>
              <a:rPr sz="1200" b="0">
                <a:solidFill>
                  <a:srgbClr val="F8FAFC"/>
                </a:solidFill>
                <a:latin typeface="Courier New"/>
              </a:rPr>
              <a:t>os.chdir(WORK)</a:t>
            </a:r>
          </a:p>
          <a:p>
            <a:pPr>
              <a:defRPr sz="1200" b="0">
                <a:solidFill>
                  <a:srgbClr val="F8FAFC"/>
                </a:solidFill>
                <a:latin typeface="Courier New"/>
              </a:defRPr>
            </a:pPr>
            <a:r>
              <a:rPr sz="1200" b="0">
                <a:solidFill>
                  <a:srgbClr val="F8FAFC"/>
                </a:solidFill>
                <a:latin typeface="Courier New"/>
              </a:rPr>
              <a:t>print('cwd:', Path.cwd())</a:t>
            </a:r>
          </a:p>
        </p:txBody>
      </p:sp>
    </p:spTree>
  </p:cSld>
  <p:clrMapOvr>
    <a:masterClrMapping/>
  </p:clrMapOvr>
</p:sld>
</file>

<file path=ppt/slides/slide9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194 — Versionado de datos con DVC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Setup mínimo: inicializá un repo git + DVC (git init &amp;&amp; dvc init).</a:t>
            </a:r>
          </a:p>
          <a:p>
            <a:pPr>
              <a:spcAft>
                <a:spcPts val="800"/>
              </a:spcAft>
              <a:defRPr sz="1400" b="0">
                <a:solidFill>
                  <a:srgbClr val="0F172A"/>
                </a:solidFill>
                <a:latin typeface="Segoe UI"/>
              </a:defRPr>
            </a:pPr>
            <a:r>
              <a:rPr sz="1400" b="0">
                <a:solidFill>
                  <a:srgbClr val="0F172A"/>
                </a:solidFill>
                <a:latin typeface="Segoe UI"/>
              </a:rPr>
              <a:t>• Remote local: configurá un remote en /tmp/dvc-remote-demo con dvc remote add -d local /tmp/dvc-remote-demo.</a:t>
            </a:r>
          </a:p>
          <a:p>
            <a:pPr>
              <a:spcAft>
                <a:spcPts val="800"/>
              </a:spcAft>
              <a:defRPr sz="1400" b="0">
                <a:solidFill>
                  <a:srgbClr val="0F172A"/>
                </a:solidFill>
                <a:latin typeface="Segoe UI"/>
              </a:defRPr>
            </a:pPr>
            <a:r>
              <a:rPr sz="1400" b="0">
                <a:solidFill>
                  <a:srgbClr val="0F172A"/>
                </a:solidFill>
                <a:latin typeface="Segoe UI"/>
              </a:rPr>
              <a:t>• Pipeline declarativo: creá dvc.yaml con dos stages — prepare (lee raw/titanic.csv, elimina nulos, escribe data/processed/clean.csv) y train (entrena un LogisticRegression, escribe model.pkl y metrics.json).</a:t>
            </a:r>
          </a:p>
          <a:p>
            <a:pPr>
              <a:spcAft>
                <a:spcPts val="800"/>
              </a:spcAft>
              <a:defRPr sz="1400" b="0">
                <a:solidFill>
                  <a:srgbClr val="0F172A"/>
                </a:solidFill>
                <a:latin typeface="Segoe UI"/>
              </a:defRPr>
            </a:pPr>
            <a:r>
              <a:rPr sz="1400" b="0">
                <a:solidFill>
                  <a:srgbClr val="0F172A"/>
                </a:solidFill>
                <a:latin typeface="Segoe UI"/>
              </a:rPr>
              <a:t>• Reproducción: tocá un parámetro en params.yaml (test_size: 0.2 → 0.3).</a:t>
            </a:r>
          </a:p>
          <a:p>
            <a:pPr>
              <a:spcAft>
                <a:spcPts val="800"/>
              </a:spcAft>
              <a:defRPr sz="1400" b="0">
                <a:solidFill>
                  <a:srgbClr val="0F172A"/>
                </a:solidFill>
                <a:latin typeface="Segoe UI"/>
              </a:defRPr>
            </a:pPr>
            <a:r>
              <a:rPr sz="1400" b="0">
                <a:solidFill>
                  <a:srgbClr val="0F172A"/>
                </a:solidFill>
                <a:latin typeface="Segoe UI"/>
              </a:rPr>
              <a:t>• Experimentos sin branching: dvc exp run -S 'train.C=0.1' tres veces con valores distintos de C.</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dvc.yaml con stages prepare → train → evaluate.</a:t>
            </a:r>
          </a:p>
          <a:p>
            <a:pPr>
              <a:spcAft>
                <a:spcPts val="800"/>
              </a:spcAft>
              <a:defRPr sz="1400" b="0">
                <a:solidFill>
                  <a:srgbClr val="0F172A"/>
                </a:solidFill>
                <a:latin typeface="Segoe UI"/>
              </a:defRPr>
            </a:pPr>
            <a:r>
              <a:rPr sz="1400" b="0">
                <a:solidFill>
                  <a:srgbClr val="0F172A"/>
                </a:solidFill>
                <a:latin typeface="Segoe UI"/>
              </a:rPr>
              <a:t>• params.yaml con al menos test_size, random_state, model.C.</a:t>
            </a:r>
          </a:p>
          <a:p>
            <a:pPr>
              <a:spcAft>
                <a:spcPts val="800"/>
              </a:spcAft>
              <a:defRPr sz="1400" b="0">
                <a:solidFill>
                  <a:srgbClr val="0F172A"/>
                </a:solidFill>
                <a:latin typeface="Segoe UI"/>
              </a:defRPr>
            </a:pPr>
            <a:r>
              <a:rPr sz="1400" b="0">
                <a:solidFill>
                  <a:srgbClr val="0F172A"/>
                </a:solidFill>
                <a:latin typeface="Segoe UI"/>
              </a:rPr>
              <a:t>• metrics.json con accuracy y f1 que se reporten con dvc metrics show.</a:t>
            </a:r>
          </a:p>
          <a:p>
            <a:pPr>
              <a:spcAft>
                <a:spcPts val="800"/>
              </a:spcAft>
              <a:defRPr sz="1400" b="0">
                <a:solidFill>
                  <a:srgbClr val="0F172A"/>
                </a:solidFill>
                <a:latin typeface="Segoe UI"/>
              </a:defRPr>
            </a:pPr>
            <a:r>
              <a:rPr sz="1400" b="0">
                <a:solidFill>
                  <a:srgbClr val="0F172A"/>
                </a:solidFill>
                <a:latin typeface="Segoe UI"/>
              </a:rPr>
              <a:t>• Tres corridas dvc exp run variando model.C ∈ {0.01, 1, 100}.</a:t>
            </a:r>
          </a:p>
          <a:p>
            <a:pPr>
              <a:spcAft>
                <a:spcPts val="800"/>
              </a:spcAft>
              <a:defRPr sz="1400" b="0">
                <a:solidFill>
                  <a:srgbClr val="0F172A"/>
                </a:solidFill>
                <a:latin typeface="Segoe UI"/>
              </a:defRPr>
            </a:pPr>
            <a:r>
              <a:rPr sz="1400" b="0">
                <a:solidFill>
                  <a:srgbClr val="0F172A"/>
                </a:solidFill>
                <a:latin typeface="Segoe UI"/>
              </a:rPr>
              <a:t>• Output de dvc exp show --no-pager adjunto como experiments.txt.</a:t>
            </a:r>
          </a:p>
        </p:txBody>
      </p:sp>
    </p:spTree>
  </p:cSld>
  <p:clrMapOvr>
    <a:masterClrMapping/>
  </p:clrMapOvr>
</p:sld>
</file>

<file path=ppt/slides/slide97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195 — Versionado de modelos y experimentos con MLflow</a:t>
            </a:r>
          </a:p>
        </p:txBody>
      </p:sp>
    </p:spTree>
  </p:cSld>
  <p:clrMapOvr>
    <a:masterClrMapping/>
  </p:clrMapOvr>
</p:sld>
</file>

<file path=ppt/slides/slide9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195 — Versionado de modelos y experimentos con MLflow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Designing Machine Learning Systems cap. 6 + 11 + docs MLflow 2.x.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Trackear experimentos de ML (parámetros, métricas, artefactos, código) con MLflow Tracking, registrar modelos en el Model Registry con stages (None → Staging → Production → Archived), y entender la diferencia conceptual con DVC: DVC versiona el pipeline; MLflow versiona los runs.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Levantar un servidor MLflow local (mlflow ui o mlflow server) y logear runs con mlflow.start_run() + log_param/log_metric/log_artifact.</a:t>
            </a:r>
          </a:p>
          <a:p>
            <a:pPr>
              <a:spcAft>
                <a:spcPts val="800"/>
              </a:spcAft>
              <a:defRPr sz="1400" b="0">
                <a:solidFill>
                  <a:srgbClr val="0F172A"/>
                </a:solidFill>
                <a:latin typeface="Segoe UI"/>
              </a:defRPr>
            </a:pPr>
            <a:r>
              <a:rPr sz="1400" b="0">
                <a:solidFill>
                  <a:srgbClr val="0F172A"/>
                </a:solidFill>
                <a:latin typeface="Segoe UI"/>
              </a:rPr>
              <a:t>• Usar autolog (mlflow.sklearn.autolog()) para que params/metrics se capturen sin código boilerplate.</a:t>
            </a:r>
          </a:p>
          <a:p>
            <a:pPr>
              <a:spcAft>
                <a:spcPts val="800"/>
              </a:spcAft>
              <a:defRPr sz="1400" b="0">
                <a:solidFill>
                  <a:srgbClr val="0F172A"/>
                </a:solidFill>
                <a:latin typeface="Segoe UI"/>
              </a:defRPr>
            </a:pPr>
            <a:r>
              <a:rPr sz="1400" b="0">
                <a:solidFill>
                  <a:srgbClr val="0F172A"/>
                </a:solidFill>
                <a:latin typeface="Segoe UI"/>
              </a:rPr>
              <a:t>• Registrar un modelo en el Model Registry (mlflow.register_model) y transicionarlo de Staging a Production con la API o la UI.</a:t>
            </a:r>
          </a:p>
          <a:p>
            <a:pPr>
              <a:spcAft>
                <a:spcPts val="800"/>
              </a:spcAft>
              <a:defRPr sz="1400" b="0">
                <a:solidFill>
                  <a:srgbClr val="0F172A"/>
                </a:solidFill>
                <a:latin typeface="Segoe UI"/>
              </a:defRPr>
            </a:pPr>
            <a:r>
              <a:rPr sz="1400" b="0">
                <a:solidFill>
                  <a:srgbClr val="0F172A"/>
                </a:solidFill>
                <a:latin typeface="Segoe UI"/>
              </a:rPr>
              <a:t>• Cargar un modelo registrado en producción con mlflow.pyfunc.load_model("models:/MiModelo/Production").</a:t>
            </a:r>
          </a:p>
          <a:p>
            <a:pPr>
              <a:spcAft>
                <a:spcPts val="800"/>
              </a:spcAft>
              <a:defRPr sz="1400" b="0">
                <a:solidFill>
                  <a:srgbClr val="0F172A"/>
                </a:solidFill>
                <a:latin typeface="Segoe UI"/>
              </a:defRPr>
            </a:pPr>
            <a:r>
              <a:rPr sz="1400" b="0">
                <a:solidFill>
                  <a:srgbClr val="0F172A"/>
                </a:solidFill>
                <a:latin typeface="Segoe UI"/>
              </a:rPr>
              <a:t>• Configurar un backend store (PostgreSQL) y un artifact store (S3) para uso en equipo.</a:t>
            </a:r>
          </a:p>
        </p:txBody>
      </p:sp>
    </p:spTree>
  </p:cSld>
  <p:clrMapOvr>
    <a:masterClrMapping/>
  </p:clrMapOvr>
</p:sld>
</file>

<file path=ppt/slides/slide9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195 — Versionado de modelos y experimentos con MLflow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Tracking server: backend store + artifact store</a:t>
            </a:r>
          </a:p>
          <a:p>
            <a:pPr>
              <a:spcAft>
                <a:spcPts val="1000"/>
              </a:spcAft>
              <a:defRPr sz="1600" b="0">
                <a:solidFill>
                  <a:srgbClr val="0F172A"/>
                </a:solidFill>
                <a:latin typeface="Segoe UI"/>
              </a:defRPr>
            </a:pPr>
            <a:r>
              <a:rPr sz="1600" b="0">
                <a:solidFill>
                  <a:srgbClr val="0F172A"/>
                </a:solidFill>
                <a:latin typeface="Segoe UI"/>
              </a:rPr>
              <a:t>• Runs, experiments, tags</a:t>
            </a:r>
          </a:p>
          <a:p>
            <a:pPr>
              <a:spcAft>
                <a:spcPts val="1000"/>
              </a:spcAft>
              <a:defRPr sz="1600" b="0">
                <a:solidFill>
                  <a:srgbClr val="0F172A"/>
                </a:solidFill>
                <a:latin typeface="Segoe UI"/>
              </a:defRPr>
            </a:pPr>
            <a:r>
              <a:rPr sz="1600" b="0">
                <a:solidFill>
                  <a:srgbClr val="0F172A"/>
                </a:solidFill>
                <a:latin typeface="Segoe UI"/>
              </a:rPr>
              <a:t>• log_param, log_metric, log_artifact, log_model</a:t>
            </a:r>
          </a:p>
          <a:p>
            <a:pPr>
              <a:spcAft>
                <a:spcPts val="1000"/>
              </a:spcAft>
              <a:defRPr sz="1600" b="0">
                <a:solidFill>
                  <a:srgbClr val="0F172A"/>
                </a:solidFill>
                <a:latin typeface="Segoe UI"/>
              </a:defRPr>
            </a:pPr>
            <a:r>
              <a:rPr sz="1600" b="0">
                <a:solidFill>
                  <a:srgbClr val="0F172A"/>
                </a:solidFill>
                <a:latin typeface="Segoe UI"/>
              </a:rPr>
              <a:t>• Autolog por framework (sklearn, PyTorch, XGBoost, LightGBM)</a:t>
            </a:r>
          </a:p>
          <a:p>
            <a:pPr>
              <a:spcAft>
                <a:spcPts val="1000"/>
              </a:spcAft>
              <a:defRPr sz="1600" b="0">
                <a:solidFill>
                  <a:srgbClr val="0F172A"/>
                </a:solidFill>
                <a:latin typeface="Segoe UI"/>
              </a:defRPr>
            </a:pPr>
            <a:r>
              <a:rPr sz="1600" b="0">
                <a:solidFill>
                  <a:srgbClr val="0F172A"/>
                </a:solidFill>
                <a:latin typeface="Segoe UI"/>
              </a:rPr>
              <a:t>• Model Registry + stages</a:t>
            </a:r>
          </a:p>
          <a:p>
            <a:pPr>
              <a:spcAft>
                <a:spcPts val="1000"/>
              </a:spcAft>
              <a:defRPr sz="1600" b="0">
                <a:solidFill>
                  <a:srgbClr val="0F172A"/>
                </a:solidFill>
                <a:latin typeface="Segoe UI"/>
              </a:defRPr>
            </a:pPr>
            <a:r>
              <a:rPr sz="1600" b="0">
                <a:solidFill>
                  <a:srgbClr val="0F172A"/>
                </a:solidFill>
                <a:latin typeface="Segoe UI"/>
              </a:rPr>
              <a:t>• MLflow Models flavor (pyfunc, sklearn, pytorch, ...)</a:t>
            </a:r>
          </a:p>
        </p:txBody>
      </p:sp>
    </p:spTree>
  </p:cSld>
  <p:clrMapOvr>
    <a:masterClrMapping/>
  </p:clrMapOvr>
</p:sld>
</file>

<file path=ppt/slides/slide9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195 — Versionado de modelos y experimentos con MLflow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'mlflow_demo'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mlflow</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sklearn.ensemble import RandomForestRegressor</a:t>
            </a:r>
          </a:p>
          <a:p>
            <a:pPr>
              <a:defRPr sz="1200" b="0">
                <a:solidFill>
                  <a:srgbClr val="F8FAFC"/>
                </a:solidFill>
                <a:latin typeface="Courier New"/>
              </a:defRPr>
            </a:pPr>
            <a:r>
              <a:rPr sz="1200" b="0">
                <a:solidFill>
                  <a:srgbClr val="F8FAFC"/>
                </a:solidFill>
                <a:latin typeface="Courier New"/>
              </a:rPr>
              <a:t>from sklearn.linear_model import LinearRegression</a:t>
            </a:r>
          </a:p>
          <a:p>
            <a:pPr>
              <a:defRPr sz="1200" b="0">
                <a:solidFill>
                  <a:srgbClr val="F8FAFC"/>
                </a:solidFill>
                <a:latin typeface="Courier New"/>
              </a:defRPr>
            </a:pPr>
            <a:r>
              <a:rPr sz="1200" b="0">
                <a:solidFill>
                  <a:srgbClr val="F8FAFC"/>
                </a:solidFill>
                <a:latin typeface="Courier New"/>
              </a:rPr>
              <a:t>from sklearn.metrics import mean_squared_error, r2_score</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mlflow.set_tracking_uri(f'file:{WORK}/mlruns')</a:t>
            </a:r>
          </a:p>
          <a:p>
            <a:pPr>
              <a:defRPr sz="1200" b="0">
                <a:solidFill>
                  <a:srgbClr val="F8FAFC"/>
                </a:solidFill>
                <a:latin typeface="Courier New"/>
              </a:defRPr>
            </a:pPr>
            <a:r>
              <a:rPr sz="1200" b="0">
                <a:solidFill>
                  <a:srgbClr val="F8FAFC"/>
                </a:solidFill>
                <a:latin typeface="Courier New"/>
              </a:rPr>
              <a:t>mlflow.set_experiment('housing-demo')</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fetch_california_housing(return_X_y=True, as_frame=True)</a:t>
            </a:r>
          </a:p>
          <a:p>
            <a:pPr>
              <a:defRPr sz="1200" b="0">
                <a:solidFill>
                  <a:srgbClr val="F8FAFC"/>
                </a:solidFill>
                <a:latin typeface="Courier New"/>
              </a:defRPr>
            </a:pPr>
            <a:r>
              <a:rPr sz="1200" b="0">
                <a:solidFill>
                  <a:srgbClr val="F8FAFC"/>
                </a:solidFill>
                <a:latin typeface="Courier New"/>
              </a:rPr>
              <a:t>Xtr, Xte, ytr, yte = train_test_split(X, y, test_size=0.2, random_state=42)</a:t>
            </a:r>
          </a:p>
          <a:p>
            <a:pPr>
              <a:defRPr sz="1200" b="0">
                <a:solidFill>
                  <a:srgbClr val="F8FAFC"/>
                </a:solidFill>
                <a:latin typeface="Courier New"/>
              </a:defRPr>
            </a:pPr>
            <a:r>
              <a:rPr sz="1200" b="0">
                <a:solidFill>
                  <a:srgbClr val="F8FAFC"/>
                </a:solidFill>
                <a:latin typeface="Courier New"/>
              </a:rPr>
              <a:t>print('train:', Xtr.shape, 'test:', Xte.shape)</a:t>
            </a:r>
          </a:p>
        </p:txBody>
      </p:sp>
    </p:spTree>
  </p:cSld>
  <p:clrMapOvr>
    <a:masterClrMapping/>
  </p:clrMapOvr>
</p:sld>
</file>

<file path=ppt/slides/slide9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195 — Versionado de modelos y experimentos con MLflow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Tracking manual: entrená un LinearRegression y un RandomForestRegressor sobre California Housing.</a:t>
            </a:r>
          </a:p>
          <a:p>
            <a:pPr>
              <a:spcAft>
                <a:spcPts val="800"/>
              </a:spcAft>
              <a:defRPr sz="1400" b="0">
                <a:solidFill>
                  <a:srgbClr val="0F172A"/>
                </a:solidFill>
                <a:latin typeface="Segoe UI"/>
              </a:defRPr>
            </a:pPr>
            <a:r>
              <a:rPr sz="1400" b="0">
                <a:solidFill>
                  <a:srgbClr val="0F172A"/>
                </a:solidFill>
                <a:latin typeface="Segoe UI"/>
              </a:rPr>
              <a:t>• Autolog: repetí el ejercicio anterior con mlflow.sklearn.autolog() y verificá que params + metrics + el modelo entero quedaron registrados sin código extra.</a:t>
            </a:r>
          </a:p>
          <a:p>
            <a:pPr>
              <a:spcAft>
                <a:spcPts val="800"/>
              </a:spcAft>
              <a:defRPr sz="1400" b="0">
                <a:solidFill>
                  <a:srgbClr val="0F172A"/>
                </a:solidFill>
                <a:latin typeface="Segoe UI"/>
              </a:defRPr>
            </a:pPr>
            <a:r>
              <a:rPr sz="1400" b="0">
                <a:solidFill>
                  <a:srgbClr val="0F172A"/>
                </a:solidFill>
                <a:latin typeface="Segoe UI"/>
              </a:rPr>
              <a:t>• Sweep de hiperparámetros: corré 10 runs variando max_depth ∈ {3, 5, 10, 15, 20} y n_estimators ∈ {50, 200}.</a:t>
            </a:r>
          </a:p>
          <a:p>
            <a:pPr>
              <a:spcAft>
                <a:spcPts val="800"/>
              </a:spcAft>
              <a:defRPr sz="1400" b="0">
                <a:solidFill>
                  <a:srgbClr val="0F172A"/>
                </a:solidFill>
                <a:latin typeface="Segoe UI"/>
              </a:defRPr>
            </a:pPr>
            <a:r>
              <a:rPr sz="1400" b="0">
                <a:solidFill>
                  <a:srgbClr val="0F172A"/>
                </a:solidFill>
                <a:latin typeface="Segoe UI"/>
              </a:rPr>
              <a:t>• Registry: registrá el mejor modelo (mlflow.register_model(model_uri, "housing-rf")).</a:t>
            </a:r>
          </a:p>
          <a:p>
            <a:pPr>
              <a:spcAft>
                <a:spcPts val="800"/>
              </a:spcAft>
              <a:defRPr sz="1400" b="0">
                <a:solidFill>
                  <a:srgbClr val="0F172A"/>
                </a:solidFill>
                <a:latin typeface="Segoe UI"/>
              </a:defRPr>
            </a:pPr>
            <a:r>
              <a:rPr sz="1400" b="0">
                <a:solidFill>
                  <a:srgbClr val="0F172A"/>
                </a:solidFill>
                <a:latin typeface="Segoe UI"/>
              </a:rPr>
              <a:t>• Carga en "producción": en una celda nueva, simulá un servicio que carga el modelo Production y predice una fila: model = mlflow.pyfunc.load_model("models:/housing-rf/Production"); model.predict(X_one).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 10 runs en un experimento llamado homework-195.</a:t>
            </a:r>
          </a:p>
          <a:p>
            <a:pPr>
              <a:spcAft>
                <a:spcPts val="800"/>
              </a:spcAft>
              <a:defRPr sz="1500" b="0">
                <a:solidFill>
                  <a:srgbClr val="0F172A"/>
                </a:solidFill>
                <a:latin typeface="Segoe UI"/>
              </a:defRPr>
            </a:pPr>
            <a:r>
              <a:rPr sz="1500" b="0">
                <a:solidFill>
                  <a:srgbClr val="0F172A"/>
                </a:solidFill>
                <a:latin typeface="Segoe UI"/>
              </a:rPr>
              <a:t>• Cada run con al menos model_type, rmse_test, r2_test, y el modelo logueado (mlflow.sklearn.log_model).</a:t>
            </a:r>
          </a:p>
          <a:p>
            <a:pPr>
              <a:spcAft>
                <a:spcPts val="800"/>
              </a:spcAft>
              <a:defRPr sz="1500" b="0">
                <a:solidFill>
                  <a:srgbClr val="0F172A"/>
                </a:solidFill>
                <a:latin typeface="Segoe UI"/>
              </a:defRPr>
            </a:pPr>
            <a:r>
              <a:rPr sz="1500" b="0">
                <a:solidFill>
                  <a:srgbClr val="0F172A"/>
                </a:solidFill>
                <a:latin typeface="Segoe UI"/>
              </a:rPr>
              <a:t>• Un modelo registrado como housing-best con al menos una versión en stage Production.</a:t>
            </a:r>
          </a:p>
          <a:p>
            <a:pPr>
              <a:spcAft>
                <a:spcPts val="800"/>
              </a:spcAft>
              <a:defRPr sz="1500" b="0">
                <a:solidFill>
                  <a:srgbClr val="0F172A"/>
                </a:solidFill>
                <a:latin typeface="Segoe UI"/>
              </a:defRPr>
            </a:pPr>
            <a:r>
              <a:rPr sz="1500" b="0">
                <a:solidFill>
                  <a:srgbClr val="0F172A"/>
                </a:solidFill>
                <a:latin typeface="Segoe UI"/>
              </a:rPr>
              <a:t>• Una celda final que carga models:/housing-best/Production y predice sobre 5 filas de test.</a:t>
            </a:r>
          </a:p>
        </p:txBody>
      </p:sp>
    </p:spTree>
  </p:cSld>
  <p:clrMapOvr>
    <a:masterClrMapping/>
  </p:clrMapOvr>
</p:sld>
</file>

<file path=ppt/slides/slide98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196 — Feature stores (Feast)</a:t>
            </a:r>
          </a:p>
        </p:txBody>
      </p:sp>
    </p:spTree>
  </p:cSld>
  <p:clrMapOvr>
    <a:masterClrMapping/>
  </p:clrMapOvr>
</p:sld>
</file>

<file path=ppt/slides/slide9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196 — Feature stores (Feast)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6 + Feast docs 0.40+.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Resolver el problema más caro de ML en producción —training/serving skew: que las features que ve el modelo en producción sean distintas a las que vio en training— centralizando definiciones de features en un feature store. Usar Feast para definir entidades + feature views, materializar al online store (Redis/SQLite), y servir features con get_online_features en &lt;10 ms.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diferencia entre offline store (parquet/BigQuery, para training) y online store (Redis/DynamoDB, para serving low-latency).</a:t>
            </a:r>
          </a:p>
          <a:p>
            <a:pPr>
              <a:spcAft>
                <a:spcPts val="800"/>
              </a:spcAft>
              <a:defRPr sz="1400" b="0">
                <a:solidFill>
                  <a:srgbClr val="0F172A"/>
                </a:solidFill>
                <a:latin typeface="Segoe UI"/>
              </a:defRPr>
            </a:pPr>
            <a:r>
              <a:rPr sz="1400" b="0">
                <a:solidFill>
                  <a:srgbClr val="0F172A"/>
                </a:solidFill>
                <a:latin typeface="Segoe UI"/>
              </a:rPr>
              <a:t>• Definir Entity, FeatureView, FileSource y registrar el repo con feast apply.</a:t>
            </a:r>
          </a:p>
          <a:p>
            <a:pPr>
              <a:spcAft>
                <a:spcPts val="800"/>
              </a:spcAft>
              <a:defRPr sz="1400" b="0">
                <a:solidFill>
                  <a:srgbClr val="0F172A"/>
                </a:solidFill>
                <a:latin typeface="Segoe UI"/>
              </a:defRPr>
            </a:pPr>
            <a:r>
              <a:rPr sz="1400" b="0">
                <a:solidFill>
                  <a:srgbClr val="0F172A"/>
                </a:solidFill>
                <a:latin typeface="Segoe UI"/>
              </a:rPr>
              <a:t>• Generar un training dataset point-in-time correct con get_historical_features (evita data leakage temporal).</a:t>
            </a:r>
          </a:p>
          <a:p>
            <a:pPr>
              <a:spcAft>
                <a:spcPts val="800"/>
              </a:spcAft>
              <a:defRPr sz="1400" b="0">
                <a:solidFill>
                  <a:srgbClr val="0F172A"/>
                </a:solidFill>
                <a:latin typeface="Segoe UI"/>
              </a:defRPr>
            </a:pPr>
            <a:r>
              <a:rPr sz="1400" b="0">
                <a:solidFill>
                  <a:srgbClr val="0F172A"/>
                </a:solidFill>
                <a:latin typeface="Segoe UI"/>
              </a:rPr>
              <a:t>• Materializar features (feast materialize-incremental) y consumirlas en serving con get_online_features.</a:t>
            </a:r>
          </a:p>
          <a:p>
            <a:pPr>
              <a:spcAft>
                <a:spcPts val="800"/>
              </a:spcAft>
              <a:defRPr sz="1400" b="0">
                <a:solidFill>
                  <a:srgbClr val="0F172A"/>
                </a:solidFill>
                <a:latin typeface="Segoe UI"/>
              </a:defRPr>
            </a:pPr>
            <a:r>
              <a:rPr sz="1400" b="0">
                <a:solidFill>
                  <a:srgbClr val="0F172A"/>
                </a:solidFill>
                <a:latin typeface="Segoe UI"/>
              </a:rPr>
              <a:t>• Reconocer cuándo NO usar feature store (ML con &lt;5 features estables, equipo de 1, datos batch puro).</a:t>
            </a:r>
          </a:p>
        </p:txBody>
      </p:sp>
    </p:spTree>
  </p:cSld>
  <p:clrMapOvr>
    <a:masterClrMapping/>
  </p:clrMapOvr>
</p:sld>
</file>

<file path=ppt/slides/slide9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196 — Feature stores (Feast)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Training/serving skew — el bug más caro de MLOps</a:t>
            </a:r>
          </a:p>
          <a:p>
            <a:pPr>
              <a:spcAft>
                <a:spcPts val="1000"/>
              </a:spcAft>
              <a:defRPr sz="1600" b="0">
                <a:solidFill>
                  <a:srgbClr val="0F172A"/>
                </a:solidFill>
                <a:latin typeface="Segoe UI"/>
              </a:defRPr>
            </a:pPr>
            <a:r>
              <a:rPr sz="1600" b="0">
                <a:solidFill>
                  <a:srgbClr val="0F172A"/>
                </a:solidFill>
                <a:latin typeface="Segoe UI"/>
              </a:rPr>
              <a:t>• Offline vs online store</a:t>
            </a:r>
          </a:p>
          <a:p>
            <a:pPr>
              <a:spcAft>
                <a:spcPts val="1000"/>
              </a:spcAft>
              <a:defRPr sz="1600" b="0">
                <a:solidFill>
                  <a:srgbClr val="0F172A"/>
                </a:solidFill>
                <a:latin typeface="Segoe UI"/>
              </a:defRPr>
            </a:pPr>
            <a:r>
              <a:rPr sz="1600" b="0">
                <a:solidFill>
                  <a:srgbClr val="0F172A"/>
                </a:solidFill>
                <a:latin typeface="Segoe UI"/>
              </a:rPr>
              <a:t>• Entity + FeatureView + FileSource</a:t>
            </a:r>
          </a:p>
          <a:p>
            <a:pPr>
              <a:spcAft>
                <a:spcPts val="1000"/>
              </a:spcAft>
              <a:defRPr sz="1600" b="0">
                <a:solidFill>
                  <a:srgbClr val="0F172A"/>
                </a:solidFill>
                <a:latin typeface="Segoe UI"/>
              </a:defRPr>
            </a:pPr>
            <a:r>
              <a:rPr sz="1600" b="0">
                <a:solidFill>
                  <a:srgbClr val="0F172A"/>
                </a:solidFill>
                <a:latin typeface="Segoe UI"/>
              </a:rPr>
              <a:t>• Point-in-time joins</a:t>
            </a:r>
          </a:p>
          <a:p>
            <a:pPr>
              <a:spcAft>
                <a:spcPts val="1000"/>
              </a:spcAft>
              <a:defRPr sz="1600" b="0">
                <a:solidFill>
                  <a:srgbClr val="0F172A"/>
                </a:solidFill>
                <a:latin typeface="Segoe UI"/>
              </a:defRPr>
            </a:pPr>
            <a:r>
              <a:rPr sz="1600" b="0">
                <a:solidFill>
                  <a:srgbClr val="0F172A"/>
                </a:solidFill>
                <a:latin typeface="Segoe UI"/>
              </a:rPr>
              <a:t>• materialize / materialize-incremental</a:t>
            </a:r>
          </a:p>
          <a:p>
            <a:pPr>
              <a:spcAft>
                <a:spcPts val="1000"/>
              </a:spcAft>
              <a:defRPr sz="1600" b="0">
                <a:solidFill>
                  <a:srgbClr val="0F172A"/>
                </a:solidFill>
                <a:latin typeface="Segoe UI"/>
              </a:defRPr>
            </a:pPr>
            <a:r>
              <a:rPr sz="1600" b="0">
                <a:solidFill>
                  <a:srgbClr val="0F172A"/>
                </a:solidFill>
                <a:latin typeface="Segoe UI"/>
              </a:rPr>
              <a:t>• Feast vs construir uno propio</a:t>
            </a:r>
          </a:p>
        </p:txBody>
      </p:sp>
    </p:spTree>
  </p:cSld>
  <p:clrMapOvr>
    <a:masterClrMapping/>
  </p:clrMapOvr>
</p:sld>
</file>

<file path=ppt/slides/slide9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196 — Feature stores (Feast)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from datetime import datetime, timedelta</a:t>
            </a:r>
          </a:p>
          <a:p>
            <a:pPr>
              <a:defRPr sz="1200" b="0">
                <a:solidFill>
                  <a:srgbClr val="F8FAFC"/>
                </a:solidFill>
                <a:latin typeface="Courier New"/>
              </a:defRPr>
            </a:pPr>
            <a:r>
              <a:rPr sz="1200" b="0">
                <a:solidFill>
                  <a:srgbClr val="F8FAFC"/>
                </a:solidFill>
                <a:latin typeface="Courier New"/>
              </a:rPr>
              <a:t>import pandas as pd, numpy as np</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'feast_demo'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REPO = WORK / 'feature_repo'</a:t>
            </a:r>
          </a:p>
          <a:p>
            <a:pPr>
              <a:defRPr sz="1200" b="0">
                <a:solidFill>
                  <a:srgbClr val="F8FAFC"/>
                </a:solidFill>
                <a:latin typeface="Courier New"/>
              </a:defRPr>
            </a:pPr>
            <a:r>
              <a:rPr sz="1200" b="0">
                <a:solidFill>
                  <a:srgbClr val="F8FAFC"/>
                </a:solidFill>
                <a:latin typeface="Courier New"/>
              </a:rPr>
              <a:t>(REPO / 'data').mkdir(parents=True)</a:t>
            </a:r>
          </a:p>
          <a:p>
            <a:pPr>
              <a:defRPr sz="1200" b="0">
                <a:solidFill>
                  <a:srgbClr val="F8FAFC"/>
                </a:solidFill>
                <a:latin typeface="Courier New"/>
              </a:defRPr>
            </a:pPr>
            <a:r>
              <a:rPr sz="1200" b="0">
                <a:solidFill>
                  <a:srgbClr val="F8FAFC"/>
                </a:solidFill>
                <a:latin typeface="Courier New"/>
              </a:rPr>
              <a:t>os.chdir(WORK)</a:t>
            </a:r>
          </a:p>
          <a:p>
            <a:pPr>
              <a:defRPr sz="1200" b="0">
                <a:solidFill>
                  <a:srgbClr val="F8FAFC"/>
                </a:solidFill>
                <a:latin typeface="Courier New"/>
              </a:defRPr>
            </a:pPr>
            <a:r>
              <a:rPr sz="1200" b="0">
                <a:solidFill>
                  <a:srgbClr val="F8FAFC"/>
                </a:solidFill>
                <a:latin typeface="Courier New"/>
              </a:rPr>
              <a:t>print('cwd:', Path.cwd())</a:t>
            </a:r>
          </a:p>
        </p:txBody>
      </p:sp>
    </p:spTree>
  </p:cSld>
  <p:clrMapOvr>
    <a:masterClrMapping/>
  </p:clrMapOvr>
</p:sld>
</file>

<file path=ppt/slides/slide9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196 — Feature stores (Feast)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Setup mínimo: feast init driver_repo.</a:t>
            </a:r>
          </a:p>
          <a:p>
            <a:pPr>
              <a:spcAft>
                <a:spcPts val="800"/>
              </a:spcAft>
              <a:defRPr sz="1400" b="0">
                <a:solidFill>
                  <a:srgbClr val="0F172A"/>
                </a:solidFill>
                <a:latin typeface="Segoe UI"/>
              </a:defRPr>
            </a:pPr>
            <a:r>
              <a:rPr sz="1400" b="0">
                <a:solidFill>
                  <a:srgbClr val="0F172A"/>
                </a:solidFill>
                <a:latin typeface="Segoe UI"/>
              </a:rPr>
              <a:t>• Training dataset histórico: armá un entity_df con driver_id y event_timestamp para 5 momentos distintos del día.</a:t>
            </a:r>
          </a:p>
          <a:p>
            <a:pPr>
              <a:spcAft>
                <a:spcPts val="800"/>
              </a:spcAft>
              <a:defRPr sz="1400" b="0">
                <a:solidFill>
                  <a:srgbClr val="0F172A"/>
                </a:solidFill>
                <a:latin typeface="Segoe UI"/>
              </a:defRPr>
            </a:pPr>
            <a:r>
              <a:rPr sz="1400" b="0">
                <a:solidFill>
                  <a:srgbClr val="0F172A"/>
                </a:solidFill>
                <a:latin typeface="Segoe UI"/>
              </a:rPr>
              <a:t>• Materialización + serving: feast materialize-incremental $(date +%Y-%m-%d).</a:t>
            </a:r>
          </a:p>
          <a:p>
            <a:pPr>
              <a:spcAft>
                <a:spcPts val="800"/>
              </a:spcAft>
              <a:defRPr sz="1400" b="0">
                <a:solidFill>
                  <a:srgbClr val="0F172A"/>
                </a:solidFill>
                <a:latin typeface="Segoe UI"/>
              </a:defRPr>
            </a:pPr>
            <a:r>
              <a:rPr sz="1400" b="0">
                <a:solidFill>
                  <a:srgbClr val="0F172A"/>
                </a:solidFill>
                <a:latin typeface="Segoe UI"/>
              </a:rPr>
              <a:t>• TTL en acción: configurá ttl=timedelta(days=1).</a:t>
            </a:r>
          </a:p>
          <a:p>
            <a:pPr>
              <a:spcAft>
                <a:spcPts val="800"/>
              </a:spcAft>
              <a:defRPr sz="1400" b="0">
                <a:solidFill>
                  <a:srgbClr val="0F172A"/>
                </a:solidFill>
                <a:latin typeface="Segoe UI"/>
              </a:defRPr>
            </a:pPr>
            <a:r>
              <a:rPr sz="1400" b="0">
                <a:solidFill>
                  <a:srgbClr val="0F172A"/>
                </a:solidFill>
                <a:latin typeface="Segoe UI"/>
              </a:rPr>
              <a:t>• Skew check: comparé el feature offline (parquet) y el online (SQLite) para el mismo driver_id.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Una Entity customer_id y una segunda merchant_id.</a:t>
            </a:r>
          </a:p>
          <a:p>
            <a:pPr>
              <a:spcAft>
                <a:spcPts val="800"/>
              </a:spcAft>
              <a:defRPr sz="1400" b="0">
                <a:solidFill>
                  <a:srgbClr val="0F172A"/>
                </a:solidFill>
                <a:latin typeface="Segoe UI"/>
              </a:defRPr>
            </a:pPr>
            <a:r>
              <a:rPr sz="1400" b="0">
                <a:solidFill>
                  <a:srgbClr val="0F172A"/>
                </a:solidFill>
                <a:latin typeface="Segoe UI"/>
              </a:rPr>
              <a:t>• Tres FeatureView: customer_stats (avg_purchase, n_purchases_7d), merchant_stats (avg_rating, n_disputes_30d), transaction_features (amount, hour_of_day).</a:t>
            </a:r>
          </a:p>
          <a:p>
            <a:pPr>
              <a:spcAft>
                <a:spcPts val="800"/>
              </a:spcAft>
              <a:defRPr sz="1400" b="0">
                <a:solidFill>
                  <a:srgbClr val="0F172A"/>
                </a:solidFill>
                <a:latin typeface="Segoe UI"/>
              </a:defRPr>
            </a:pPr>
            <a:r>
              <a:rPr sz="1400" b="0">
                <a:solidFill>
                  <a:srgbClr val="0F172A"/>
                </a:solidFill>
                <a:latin typeface="Segoe UI"/>
              </a:rPr>
              <a:t>• Un script build_training.py que arma el training set point-in-time correct para una tarea de fraud detection.</a:t>
            </a:r>
          </a:p>
          <a:p>
            <a:pPr>
              <a:spcAft>
                <a:spcPts val="800"/>
              </a:spcAft>
              <a:defRPr sz="1400" b="0">
                <a:solidFill>
                  <a:srgbClr val="0F172A"/>
                </a:solidFill>
                <a:latin typeface="Segoe UI"/>
              </a:defRPr>
            </a:pPr>
            <a:r>
              <a:rPr sz="1400" b="0">
                <a:solidFill>
                  <a:srgbClr val="0F172A"/>
                </a:solidFill>
                <a:latin typeface="Segoe UI"/>
              </a:rPr>
              <a:t>• Un script serve.py que, dado un (customer_id, merchant_id), devuelve el vector de features listo para el modelo.</a:t>
            </a:r>
          </a:p>
          <a:p>
            <a:pPr>
              <a:spcAft>
                <a:spcPts val="800"/>
              </a:spcAft>
              <a:defRPr sz="1400" b="0">
                <a:solidFill>
                  <a:srgbClr val="0F172A"/>
                </a:solidFill>
                <a:latin typeface="Segoe UI"/>
              </a:defRPr>
            </a:pPr>
            <a:r>
              <a:rPr sz="1400" b="0">
                <a:solidFill>
                  <a:srgbClr val="0F172A"/>
                </a:solidFill>
                <a:latin typeface="Segoe UI"/>
              </a:rPr>
              <a:t>• README del repo Feast con instrucciones para feast apply + materialize + serve.</a:t>
            </a:r>
          </a:p>
        </p:txBody>
      </p:sp>
    </p:spTree>
  </p:cSld>
  <p:clrMapOvr>
    <a:masterClrMapping/>
  </p:clrMapOvr>
</p:sld>
</file>

<file path=ppt/slides/slide98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197 — CI/CD para ML con GitHub Actions</a:t>
            </a:r>
          </a:p>
        </p:txBody>
      </p:sp>
    </p:spTree>
  </p:cSld>
  <p:clrMapOvr>
    <a:masterClrMapping/>
  </p:clrMapOvr>
</p:sld>
</file>

<file path=ppt/slides/slide9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197 — CI/CD para ML con GitHub Actions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10 + docs GitHub Actions + CML.dev.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Automatizar el ciclo lint → test → entrenar → evaluar → comparar → desplegar con GitHub Actions. Cada PR dispara entrenamiento sobre el slice actual de datos, postea métricas como comentario, y bloquea merge si la métrica empeoró &gt;X%. Sin CI/CD, "el modelo nuevo es mejor" es opinión; con CI/CD, es un workflow check  o .</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workflow .github/workflows/ml.yml con jobs lint, test, train, evaluate.</a:t>
            </a:r>
          </a:p>
          <a:p>
            <a:pPr>
              <a:spcAft>
                <a:spcPts val="800"/>
              </a:spcAft>
              <a:defRPr sz="1400" b="0">
                <a:solidFill>
                  <a:srgbClr val="0F172A"/>
                </a:solidFill>
                <a:latin typeface="Segoe UI"/>
              </a:defRPr>
            </a:pPr>
            <a:r>
              <a:rPr sz="1400" b="0">
                <a:solidFill>
                  <a:srgbClr val="0F172A"/>
                </a:solidFill>
                <a:latin typeface="Segoe UI"/>
              </a:rPr>
              <a:t>• Usar CML (Continuous Machine Learning) para postear plots/metrics en el comentario del PR.</a:t>
            </a:r>
          </a:p>
          <a:p>
            <a:pPr>
              <a:spcAft>
                <a:spcPts val="800"/>
              </a:spcAft>
              <a:defRPr sz="1400" b="0">
                <a:solidFill>
                  <a:srgbClr val="0F172A"/>
                </a:solidFill>
                <a:latin typeface="Segoe UI"/>
              </a:defRPr>
            </a:pPr>
            <a:r>
              <a:rPr sz="1400" b="0">
                <a:solidFill>
                  <a:srgbClr val="0F172A"/>
                </a:solidFill>
                <a:latin typeface="Segoe UI"/>
              </a:rPr>
              <a:t>• Cachear dependencias (actions/setup-python con cache: pip) y pesos de modelos (actions/cache) para que el CI no tarde 20 min.</a:t>
            </a:r>
          </a:p>
          <a:p>
            <a:pPr>
              <a:spcAft>
                <a:spcPts val="800"/>
              </a:spcAft>
              <a:defRPr sz="1400" b="0">
                <a:solidFill>
                  <a:srgbClr val="0F172A"/>
                </a:solidFill>
                <a:latin typeface="Segoe UI"/>
              </a:defRPr>
            </a:pPr>
            <a:r>
              <a:rPr sz="1400" b="0">
                <a:solidFill>
                  <a:srgbClr val="0F172A"/>
                </a:solidFill>
                <a:latin typeface="Segoe UI"/>
              </a:rPr>
              <a:t>• Usar secrets y OIDC para deploy seguro a AWS/GCP sin claves long-lived.</a:t>
            </a:r>
          </a:p>
          <a:p>
            <a:pPr>
              <a:spcAft>
                <a:spcPts val="800"/>
              </a:spcAft>
              <a:defRPr sz="1400" b="0">
                <a:solidFill>
                  <a:srgbClr val="0F172A"/>
                </a:solidFill>
                <a:latin typeface="Segoe UI"/>
              </a:defRPr>
            </a:pPr>
            <a:r>
              <a:rPr sz="1400" b="0">
                <a:solidFill>
                  <a:srgbClr val="0F172A"/>
                </a:solidFill>
                <a:latin typeface="Segoe UI"/>
              </a:rPr>
              <a:t>• Configurar branch protection + required checks que bloqueen merge si las métricas degradan.</a:t>
            </a:r>
          </a:p>
        </p:txBody>
      </p:sp>
    </p:spTree>
  </p:cSld>
  <p:clrMapOvr>
    <a:masterClrMapping/>
  </p:clrMapOvr>
</p:sld>
</file>

<file path=ppt/slides/slide9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197 — CI/CD para ML con GitHub Actions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Anatomía de un workflow: triggers, jobs, steps, runners</a:t>
            </a:r>
          </a:p>
          <a:p>
            <a:pPr>
              <a:spcAft>
                <a:spcPts val="1000"/>
              </a:spcAft>
              <a:defRPr sz="1600" b="0">
                <a:solidFill>
                  <a:srgbClr val="0F172A"/>
                </a:solidFill>
                <a:latin typeface="Segoe UI"/>
              </a:defRPr>
            </a:pPr>
            <a:r>
              <a:rPr sz="1600" b="0">
                <a:solidFill>
                  <a:srgbClr val="0F172A"/>
                </a:solidFill>
                <a:latin typeface="Segoe UI"/>
              </a:rPr>
              <a:t>• Matrix builds (strategy.matrix)</a:t>
            </a:r>
          </a:p>
          <a:p>
            <a:pPr>
              <a:spcAft>
                <a:spcPts val="1000"/>
              </a:spcAft>
              <a:defRPr sz="1600" b="0">
                <a:solidFill>
                  <a:srgbClr val="0F172A"/>
                </a:solidFill>
                <a:latin typeface="Segoe UI"/>
              </a:defRPr>
            </a:pPr>
            <a:r>
              <a:rPr sz="1600" b="0">
                <a:solidFill>
                  <a:srgbClr val="0F172A"/>
                </a:solidFill>
                <a:latin typeface="Segoe UI"/>
              </a:rPr>
              <a:t>• Caché de pip + datasets pesados</a:t>
            </a:r>
          </a:p>
          <a:p>
            <a:pPr>
              <a:spcAft>
                <a:spcPts val="1000"/>
              </a:spcAft>
              <a:defRPr sz="1600" b="0">
                <a:solidFill>
                  <a:srgbClr val="0F172A"/>
                </a:solidFill>
                <a:latin typeface="Segoe UI"/>
              </a:defRPr>
            </a:pPr>
            <a:r>
              <a:rPr sz="1600" b="0">
                <a:solidFill>
                  <a:srgbClr val="0F172A"/>
                </a:solidFill>
                <a:latin typeface="Segoe UI"/>
              </a:rPr>
              <a:t>• CML: reportar métricas en PR</a:t>
            </a:r>
          </a:p>
          <a:p>
            <a:pPr>
              <a:spcAft>
                <a:spcPts val="1000"/>
              </a:spcAft>
              <a:defRPr sz="1600" b="0">
                <a:solidFill>
                  <a:srgbClr val="0F172A"/>
                </a:solidFill>
                <a:latin typeface="Segoe UI"/>
              </a:defRPr>
            </a:pPr>
            <a:r>
              <a:rPr sz="1600" b="0">
                <a:solidFill>
                  <a:srgbClr val="0F172A"/>
                </a:solidFill>
                <a:latin typeface="Segoe UI"/>
              </a:rPr>
              <a:t>• OIDC para deploy (sin secret long-lived)</a:t>
            </a:r>
          </a:p>
          <a:p>
            <a:pPr>
              <a:spcAft>
                <a:spcPts val="1000"/>
              </a:spcAft>
              <a:defRPr sz="1600" b="0">
                <a:solidFill>
                  <a:srgbClr val="0F172A"/>
                </a:solidFill>
                <a:latin typeface="Segoe UI"/>
              </a:defRPr>
            </a:pPr>
            <a:r>
              <a:rPr sz="1600" b="0">
                <a:solidFill>
                  <a:srgbClr val="0F172A"/>
                </a:solidFill>
                <a:latin typeface="Segoe UI"/>
              </a:rPr>
              <a:t>• Branch protection + required status checks</a:t>
            </a:r>
          </a:p>
        </p:txBody>
      </p:sp>
    </p:spTree>
  </p:cSld>
  <p:clrMapOvr>
    <a:masterClrMapping/>
  </p:clrMapOvr>
</p:sld>
</file>

<file path=ppt/slides/slide9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197 — CI/CD para ML con GitHub Actions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workflow = '''\</a:t>
            </a:r>
          </a:p>
          <a:p>
            <a:pPr>
              <a:defRPr sz="1200" b="0">
                <a:solidFill>
                  <a:srgbClr val="F8FAFC"/>
                </a:solidFill>
                <a:latin typeface="Courier New"/>
              </a:defRPr>
            </a:pPr>
            <a:r>
              <a:rPr sz="1200" b="0">
                <a:solidFill>
                  <a:srgbClr val="F8FAFC"/>
                </a:solidFill>
                <a:latin typeface="Courier New"/>
              </a:rPr>
              <a:t>name: ml</a:t>
            </a:r>
          </a:p>
          <a:p>
            <a:pPr>
              <a:defRPr sz="1200" b="0">
                <a:solidFill>
                  <a:srgbClr val="F8FAFC"/>
                </a:solidFill>
                <a:latin typeface="Courier New"/>
              </a:defRPr>
            </a:pPr>
            <a:r>
              <a:rPr sz="1200" b="0">
                <a:solidFill>
                  <a:srgbClr val="F8FAFC"/>
                </a:solidFill>
                <a:latin typeface="Courier New"/>
              </a:rPr>
              <a:t>on:</a:t>
            </a:r>
          </a:p>
          <a:p>
            <a:pPr>
              <a:defRPr sz="1200" b="0">
                <a:solidFill>
                  <a:srgbClr val="F8FAFC"/>
                </a:solidFill>
                <a:latin typeface="Courier New"/>
              </a:defRPr>
            </a:pPr>
            <a:r>
              <a:rPr sz="1200" b="0">
                <a:solidFill>
                  <a:srgbClr val="F8FAFC"/>
                </a:solidFill>
                <a:latin typeface="Courier New"/>
              </a:rPr>
              <a:t>  pull_request: { branches: [main] }</a:t>
            </a:r>
          </a:p>
          <a:p>
            <a:pPr>
              <a:defRPr sz="1200" b="0">
                <a:solidFill>
                  <a:srgbClr val="F8FAFC"/>
                </a:solidFill>
                <a:latin typeface="Courier New"/>
              </a:defRPr>
            </a:pPr>
            <a:r>
              <a:rPr sz="1200" b="0">
                <a:solidFill>
                  <a:srgbClr val="F8FAFC"/>
                </a:solidFill>
                <a:latin typeface="Courier New"/>
              </a:rPr>
              <a:t>  push: { branches: [main] }</a:t>
            </a:r>
          </a:p>
          <a:p>
            <a:pPr>
              <a:defRPr sz="1200" b="0">
                <a:solidFill>
                  <a:srgbClr val="F8FAFC"/>
                </a:solidFill>
                <a:latin typeface="Courier New"/>
              </a:defRPr>
            </a:pPr>
            <a:r>
              <a:rPr sz="1200" b="0">
                <a:solidFill>
                  <a:srgbClr val="F8FAFC"/>
                </a:solidFill>
                <a:latin typeface="Courier New"/>
              </a:rPr>
              <a:t>permissions:</a:t>
            </a:r>
          </a:p>
          <a:p>
            <a:pPr>
              <a:defRPr sz="1200" b="0">
                <a:solidFill>
                  <a:srgbClr val="F8FAFC"/>
                </a:solidFill>
                <a:latin typeface="Courier New"/>
              </a:defRPr>
            </a:pPr>
            <a:r>
              <a:rPr sz="1200" b="0">
                <a:solidFill>
                  <a:srgbClr val="F8FAFC"/>
                </a:solidFill>
                <a:latin typeface="Courier New"/>
              </a:rPr>
              <a:t>  contents: read</a:t>
            </a:r>
          </a:p>
          <a:p>
            <a:pPr>
              <a:defRPr sz="1200" b="0">
                <a:solidFill>
                  <a:srgbClr val="F8FAFC"/>
                </a:solidFill>
                <a:latin typeface="Courier New"/>
              </a:defRPr>
            </a:pPr>
            <a:r>
              <a:rPr sz="1200" b="0">
                <a:solidFill>
                  <a:srgbClr val="F8FAFC"/>
                </a:solidFill>
                <a:latin typeface="Courier New"/>
              </a:rPr>
              <a:t>  pull-requests: write</a:t>
            </a:r>
          </a:p>
          <a:p>
            <a:pPr>
              <a:defRPr sz="1200" b="0">
                <a:solidFill>
                  <a:srgbClr val="F8FAFC"/>
                </a:solidFill>
                <a:latin typeface="Courier New"/>
              </a:defRPr>
            </a:pPr>
            <a:r>
              <a:rPr sz="1200" b="0">
                <a:solidFill>
                  <a:srgbClr val="F8FAFC"/>
                </a:solidFill>
                <a:latin typeface="Courier New"/>
              </a:rPr>
              <a:t>  id-token: write   # OIDC para AWS</a:t>
            </a:r>
          </a:p>
          <a:p>
            <a:pPr>
              <a:defRPr sz="1200" b="0">
                <a:solidFill>
                  <a:srgbClr val="F8FAFC"/>
                </a:solidFill>
                <a:latin typeface="Courier New"/>
              </a:defRPr>
            </a:pPr>
            <a:r>
              <a:rPr sz="1200" b="0">
                <a:solidFill>
                  <a:srgbClr val="F8FAFC"/>
                </a:solidFill>
                <a:latin typeface="Courier New"/>
              </a:rPr>
              <a:t>jobs:</a:t>
            </a:r>
          </a:p>
          <a:p>
            <a:pPr>
              <a:defRPr sz="1200" b="0">
                <a:solidFill>
                  <a:srgbClr val="F8FAFC"/>
                </a:solidFill>
                <a:latin typeface="Courier New"/>
              </a:defRPr>
            </a:pPr>
            <a:r>
              <a:rPr sz="1200" b="0">
                <a:solidFill>
                  <a:srgbClr val="F8FAFC"/>
                </a:solidFill>
                <a:latin typeface="Courier New"/>
              </a:rPr>
              <a:t>  lint:</a:t>
            </a:r>
          </a:p>
          <a:p>
            <a:pPr>
              <a:defRPr sz="1200" b="0">
                <a:solidFill>
                  <a:srgbClr val="F8FAFC"/>
                </a:solidFill>
                <a:latin typeface="Courier New"/>
              </a:defRPr>
            </a:pPr>
            <a:r>
              <a:rPr sz="1200" b="0">
                <a:solidFill>
                  <a:srgbClr val="F8FAFC"/>
                </a:solidFill>
                <a:latin typeface="Courier New"/>
              </a:rPr>
              <a:t>    runs-on: ubuntu-latest</a:t>
            </a:r>
          </a:p>
          <a:p>
            <a:pPr>
              <a:defRPr sz="1200" b="0">
                <a:solidFill>
                  <a:srgbClr val="F8FAFC"/>
                </a:solidFill>
                <a:latin typeface="Courier New"/>
              </a:defRPr>
            </a:pPr>
            <a:r>
              <a:rPr sz="1200" b="0">
                <a:solidFill>
                  <a:srgbClr val="F8FAFC"/>
                </a:solidFill>
                <a:latin typeface="Courier New"/>
              </a:rPr>
              <a:t>    steps:</a:t>
            </a:r>
          </a:p>
          <a:p>
            <a:pPr>
              <a:defRPr sz="1200" b="0">
                <a:solidFill>
                  <a:srgbClr val="F8FAFC"/>
                </a:solidFill>
                <a:latin typeface="Courier New"/>
              </a:defRPr>
            </a:pPr>
            <a:r>
              <a:rPr sz="1200" b="0">
                <a:solidFill>
                  <a:srgbClr val="F8FAFC"/>
                </a:solidFill>
                <a:latin typeface="Courier New"/>
              </a:rPr>
              <a:t>      - uses: actions/checkout@v4</a:t>
            </a:r>
          </a:p>
          <a:p>
            <a:pPr>
              <a:defRPr sz="1200" b="0">
                <a:solidFill>
                  <a:srgbClr val="F8FAFC"/>
                </a:solidFill>
                <a:latin typeface="Courier New"/>
              </a:defRPr>
            </a:pPr>
            <a:r>
              <a:rPr sz="1200" b="0">
                <a:solidFill>
                  <a:srgbClr val="F8FAFC"/>
                </a:solidFill>
                <a:latin typeface="Courier New"/>
              </a:rPr>
              <a:t>      - uses: actions/setup-python@v5</a:t>
            </a:r>
          </a:p>
          <a:p>
            <a:pPr>
              <a:defRPr sz="1200" b="0">
                <a:solidFill>
                  <a:srgbClr val="F8FAFC"/>
                </a:solidFill>
                <a:latin typeface="Courier New"/>
              </a:defRPr>
            </a:pPr>
            <a:r>
              <a:rPr sz="1200" b="0">
                <a:solidFill>
                  <a:srgbClr val="F8FAFC"/>
                </a:solidFill>
                <a:latin typeface="Courier New"/>
              </a:rPr>
              <a:t>        with: { python-version: "3.12", cache: pip }</a:t>
            </a:r>
          </a:p>
          <a:p>
            <a:pPr>
              <a:defRPr sz="1200" b="0">
                <a:solidFill>
                  <a:srgbClr val="F8FAFC"/>
                </a:solidFill>
                <a:latin typeface="Courier New"/>
              </a:defRPr>
            </a:pPr>
            <a:r>
              <a:rPr sz="1200" b="0">
                <a:solidFill>
                  <a:srgbClr val="F8FAFC"/>
                </a:solidFill>
                <a:latin typeface="Courier New"/>
              </a:rPr>
              <a:t>      - run: pip install ruff &amp;&amp; ruff check src tests</a:t>
            </a:r>
          </a:p>
          <a:p>
            <a:pPr>
              <a:defRPr sz="1200" b="0">
                <a:solidFill>
                  <a:srgbClr val="F8FAFC"/>
                </a:solidFill>
                <a:latin typeface="Courier New"/>
              </a:defRPr>
            </a:pPr>
            <a:r>
              <a:rPr sz="1200" b="0">
                <a:solidFill>
                  <a:srgbClr val="F8FAFC"/>
                </a:solidFill>
                <a:latin typeface="Courier New"/>
              </a:rPr>
              <a:t>  test:</a:t>
            </a:r>
          </a:p>
          <a:p>
            <a:pPr>
              <a:defRPr sz="1200" b="0">
                <a:solidFill>
                  <a:srgbClr val="F8FAFC"/>
                </a:solidFill>
                <a:latin typeface="Courier New"/>
              </a:defRPr>
            </a:pPr>
            <a:r>
              <a:rPr sz="1200" b="0">
                <a:solidFill>
                  <a:srgbClr val="F8FAFC"/>
                </a:solidFill>
                <a:latin typeface="Courier New"/>
              </a:rPr>
              <a:t>    runs-on: ubuntu-latest</a:t>
            </a:r>
          </a:p>
          <a:p>
            <a:pPr>
              <a:defRPr sz="1200" b="0">
                <a:solidFill>
                  <a:srgbClr val="F8FAFC"/>
                </a:solidFill>
                <a:latin typeface="Courier New"/>
              </a:defRPr>
            </a:pPr>
            <a:r>
              <a:rPr sz="1200" b="0">
                <a:solidFill>
                  <a:srgbClr val="F8FAFC"/>
                </a:solidFill>
                <a:latin typeface="Courier New"/>
              </a:rPr>
              <a:t>    steps:</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9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197 — CI/CD para ML con GitHub Actions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Workflow mínimo (lint + test): creá .github/workflows/ci.yml con dos jobs en paralelo: lint (corre ruff check) y test (corre pytest).</a:t>
            </a:r>
          </a:p>
          <a:p>
            <a:pPr>
              <a:spcAft>
                <a:spcPts val="800"/>
              </a:spcAft>
              <a:defRPr sz="1400" b="0">
                <a:solidFill>
                  <a:srgbClr val="0F172A"/>
                </a:solidFill>
                <a:latin typeface="Segoe UI"/>
              </a:defRPr>
            </a:pPr>
            <a:r>
              <a:rPr sz="1400" b="0">
                <a:solidFill>
                  <a:srgbClr val="0F172A"/>
                </a:solidFill>
                <a:latin typeface="Segoe UI"/>
              </a:rPr>
              <a:t>• Job de training: agregá un job train que corre python src/train.py, sube model.pkl y metrics.json como actions/upload-artifact.</a:t>
            </a:r>
          </a:p>
          <a:p>
            <a:pPr>
              <a:spcAft>
                <a:spcPts val="800"/>
              </a:spcAft>
              <a:defRPr sz="1400" b="0">
                <a:solidFill>
                  <a:srgbClr val="0F172A"/>
                </a:solidFill>
                <a:latin typeface="Segoe UI"/>
              </a:defRPr>
            </a:pPr>
            <a:r>
              <a:rPr sz="1400" b="0">
                <a:solidFill>
                  <a:srgbClr val="0F172A"/>
                </a:solidFill>
                <a:latin typeface="Segoe UI"/>
              </a:rPr>
              <a:t>• Reporte CML: agregá un step que use iterative/setup-cml@v2, escribe report.md con cat metrics.json como tabla, y postea con cml comment create report.md.</a:t>
            </a:r>
          </a:p>
          <a:p>
            <a:pPr>
              <a:spcAft>
                <a:spcPts val="800"/>
              </a:spcAft>
              <a:defRPr sz="1400" b="0">
                <a:solidFill>
                  <a:srgbClr val="0F172A"/>
                </a:solidFill>
                <a:latin typeface="Segoe UI"/>
              </a:defRPr>
            </a:pPr>
            <a:r>
              <a:rPr sz="1400" b="0">
                <a:solidFill>
                  <a:srgbClr val="0F172A"/>
                </a:solidFill>
                <a:latin typeface="Segoe UI"/>
              </a:rPr>
              <a:t>• Comparación contra main: en el mismo job, git fetch origin main &amp;&amp; python src/train.py desde main, guardás metrics_main.json, y agregás al reporte una tabla con Δaccuracy, Δf1.</a:t>
            </a:r>
          </a:p>
          <a:p>
            <a:pPr>
              <a:spcAft>
                <a:spcPts val="800"/>
              </a:spcAft>
              <a:defRPr sz="1400" b="0">
                <a:solidFill>
                  <a:srgbClr val="0F172A"/>
                </a:solidFill>
                <a:latin typeface="Segoe UI"/>
              </a:defRPr>
            </a:pPr>
            <a:r>
              <a:rPr sz="1400" b="0">
                <a:solidFill>
                  <a:srgbClr val="0F172A"/>
                </a:solidFill>
                <a:latin typeface="Segoe UI"/>
              </a:rPr>
              <a:t>• Branch protection: en Settings → Branches → Add rule → main, marcá Require status checks to pass before merging y seleccioná lint, test, train.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Workflow .github/workflows/ml.yml con jobs lint, test, train, report.</a:t>
            </a:r>
          </a:p>
          <a:p>
            <a:pPr>
              <a:spcAft>
                <a:spcPts val="800"/>
              </a:spcAft>
              <a:defRPr sz="1400" b="0">
                <a:solidFill>
                  <a:srgbClr val="0F172A"/>
                </a:solidFill>
                <a:latin typeface="Segoe UI"/>
              </a:defRPr>
            </a:pPr>
            <a:r>
              <a:rPr sz="1400" b="0">
                <a:solidFill>
                  <a:srgbClr val="0F172A"/>
                </a:solidFill>
                <a:latin typeface="Segoe UI"/>
              </a:rPr>
              <a:t>• CML comment funcionando: PR muestra tabla con accuracy, f1, Δaccuracy_vs_main.</a:t>
            </a:r>
          </a:p>
          <a:p>
            <a:pPr>
              <a:spcAft>
                <a:spcPts val="800"/>
              </a:spcAft>
              <a:defRPr sz="1400" b="0">
                <a:solidFill>
                  <a:srgbClr val="0F172A"/>
                </a:solidFill>
                <a:latin typeface="Segoe UI"/>
              </a:defRPr>
            </a:pPr>
            <a:r>
              <a:rPr sz="1400" b="0">
                <a:solidFill>
                  <a:srgbClr val="0F172A"/>
                </a:solidFill>
                <a:latin typeface="Segoe UI"/>
              </a:rPr>
              <a:t>• Cache de pip configurado (actions/setup-python con cache: pip).</a:t>
            </a:r>
          </a:p>
          <a:p>
            <a:pPr>
              <a:spcAft>
                <a:spcPts val="800"/>
              </a:spcAft>
              <a:defRPr sz="1400" b="0">
                <a:solidFill>
                  <a:srgbClr val="0F172A"/>
                </a:solidFill>
                <a:latin typeface="Segoe UI"/>
              </a:defRPr>
            </a:pPr>
            <a:r>
              <a:rPr sz="1400" b="0">
                <a:solidFill>
                  <a:srgbClr val="0F172A"/>
                </a:solidFill>
                <a:latin typeface="Segoe UI"/>
              </a:rPr>
              <a:t>• Un PR abierto donde el modelo degrada accuracy en &gt;3% — el job report debe fallar (exit 1) por umbral configurable en params.yaml.</a:t>
            </a:r>
          </a:p>
          <a:p>
            <a:pPr>
              <a:spcAft>
                <a:spcPts val="800"/>
              </a:spcAft>
              <a:defRPr sz="1400" b="0">
                <a:solidFill>
                  <a:srgbClr val="0F172A"/>
                </a:solidFill>
                <a:latin typeface="Segoe UI"/>
              </a:defRPr>
            </a:pPr>
            <a:r>
              <a:rPr sz="1400" b="0">
                <a:solidFill>
                  <a:srgbClr val="0F172A"/>
                </a:solidFill>
                <a:latin typeface="Segoe UI"/>
              </a:rPr>
              <a:t>• Captura del PR mostrando el comentario CML y los checks rojos.</a:t>
            </a:r>
          </a:p>
        </p:txBody>
      </p:sp>
    </p:spTree>
  </p:cSld>
  <p:clrMapOvr>
    <a:masterClrMapping/>
  </p:clrMapOvr>
</p:sld>
</file>

<file path=ppt/slides/slide99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198 — Docker para empaquetar modelos</a:t>
            </a:r>
          </a:p>
        </p:txBody>
      </p:sp>
    </p:spTree>
  </p:cSld>
  <p:clrMapOvr>
    <a:masterClrMapping/>
  </p:clrMapOvr>
</p:sld>
</file>

<file path=ppt/slides/slide9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198 — Docker para empaquetar modelos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docs Docker + Nilsson, Docker Deep Dive.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Empaquetar un modelo entrenado + su runtime (Python, deps, código) en una imagen Docker reproducible, optimizada (multi-stage build, capas cacheadas, imagen &lt;500 MB), y segura (non-root user, no secrets baked in). El resultado se corre idéntico en tu laptop, en CI, y en producción.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Dockerfile correcto para un servicio ML: base slim, multi-stage, layer caching, non-root.</a:t>
            </a:r>
          </a:p>
          <a:p>
            <a:pPr>
              <a:spcAft>
                <a:spcPts val="800"/>
              </a:spcAft>
              <a:defRPr sz="1400" b="0">
                <a:solidFill>
                  <a:srgbClr val="0F172A"/>
                </a:solidFill>
                <a:latin typeface="Segoe UI"/>
              </a:defRPr>
            </a:pPr>
            <a:r>
              <a:rPr sz="1400" b="0">
                <a:solidFill>
                  <a:srgbClr val="0F172A"/>
                </a:solidFill>
                <a:latin typeface="Segoe UI"/>
              </a:rPr>
              <a:t>• Diferenciar COPY de ADD, RUN de CMD de ENTRYPOINT, y cuándo usar cada uno.</a:t>
            </a:r>
          </a:p>
          <a:p>
            <a:pPr>
              <a:spcAft>
                <a:spcPts val="800"/>
              </a:spcAft>
              <a:defRPr sz="1400" b="0">
                <a:solidFill>
                  <a:srgbClr val="0F172A"/>
                </a:solidFill>
                <a:latin typeface="Segoe UI"/>
              </a:defRPr>
            </a:pPr>
            <a:r>
              <a:rPr sz="1400" b="0">
                <a:solidFill>
                  <a:srgbClr val="0F172A"/>
                </a:solidFill>
                <a:latin typeface="Segoe UI"/>
              </a:rPr>
              <a:t>• Reducir tamaño de imagen (de 2 GB a &lt;500 MB) con python:3.12-slim, .dockerignore, y multi-stage builds.</a:t>
            </a:r>
          </a:p>
          <a:p>
            <a:pPr>
              <a:spcAft>
                <a:spcPts val="800"/>
              </a:spcAft>
              <a:defRPr sz="1400" b="0">
                <a:solidFill>
                  <a:srgbClr val="0F172A"/>
                </a:solidFill>
                <a:latin typeface="Segoe UI"/>
              </a:defRPr>
            </a:pPr>
            <a:r>
              <a:rPr sz="1400" b="0">
                <a:solidFill>
                  <a:srgbClr val="0F172A"/>
                </a:solidFill>
                <a:latin typeface="Segoe UI"/>
              </a:rPr>
              <a:t>• Versionar imágenes con tags semánticos (mymodel:1.2.3) y digests (@sha256:...) — y por qué :latest es trampa en producción.</a:t>
            </a:r>
          </a:p>
          <a:p>
            <a:pPr>
              <a:spcAft>
                <a:spcPts val="800"/>
              </a:spcAft>
              <a:defRPr sz="1400" b="0">
                <a:solidFill>
                  <a:srgbClr val="0F172A"/>
                </a:solidFill>
                <a:latin typeface="Segoe UI"/>
              </a:defRPr>
            </a:pPr>
            <a:r>
              <a:rPr sz="1400" b="0">
                <a:solidFill>
                  <a:srgbClr val="0F172A"/>
                </a:solidFill>
                <a:latin typeface="Segoe UI"/>
              </a:rPr>
              <a:t>• Diagnosticar image not building, image too big, slow rebuild con docker history, dive, docker scout.</a:t>
            </a:r>
          </a:p>
        </p:txBody>
      </p:sp>
    </p:spTree>
  </p:cSld>
  <p:clrMapOvr>
    <a:masterClrMapping/>
  </p:clrMapOvr>
</p:sld>
</file>

<file path=ppt/slides/slide9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198 — Docker para empaquetar modelos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Imagen, capa, container, registry</a:t>
            </a:r>
          </a:p>
          <a:p>
            <a:pPr>
              <a:spcAft>
                <a:spcPts val="1000"/>
              </a:spcAft>
              <a:defRPr sz="1600" b="0">
                <a:solidFill>
                  <a:srgbClr val="0F172A"/>
                </a:solidFill>
                <a:latin typeface="Segoe UI"/>
              </a:defRPr>
            </a:pPr>
            <a:r>
              <a:rPr sz="1600" b="0">
                <a:solidFill>
                  <a:srgbClr val="0F172A"/>
                </a:solidFill>
                <a:latin typeface="Segoe UI"/>
              </a:rPr>
              <a:t>• Dockerfile: FROM, COPY, RUN, CMD, ENTRYPOINT</a:t>
            </a:r>
          </a:p>
          <a:p>
            <a:pPr>
              <a:spcAft>
                <a:spcPts val="1000"/>
              </a:spcAft>
              <a:defRPr sz="1600" b="0">
                <a:solidFill>
                  <a:srgbClr val="0F172A"/>
                </a:solidFill>
                <a:latin typeface="Segoe UI"/>
              </a:defRPr>
            </a:pPr>
            <a:r>
              <a:rPr sz="1600" b="0">
                <a:solidFill>
                  <a:srgbClr val="0F172A"/>
                </a:solidFill>
                <a:latin typeface="Segoe UI"/>
              </a:rPr>
              <a:t>• Layer caching: orden de instrucciones</a:t>
            </a:r>
          </a:p>
          <a:p>
            <a:pPr>
              <a:spcAft>
                <a:spcPts val="1000"/>
              </a:spcAft>
              <a:defRPr sz="1600" b="0">
                <a:solidFill>
                  <a:srgbClr val="0F172A"/>
                </a:solidFill>
                <a:latin typeface="Segoe UI"/>
              </a:defRPr>
            </a:pPr>
            <a:r>
              <a:rPr sz="1600" b="0">
                <a:solidFill>
                  <a:srgbClr val="0F172A"/>
                </a:solidFill>
                <a:latin typeface="Segoe UI"/>
              </a:rPr>
              <a:t>• Multi-stage build</a:t>
            </a:r>
          </a:p>
          <a:p>
            <a:pPr>
              <a:spcAft>
                <a:spcPts val="1000"/>
              </a:spcAft>
              <a:defRPr sz="1600" b="0">
                <a:solidFill>
                  <a:srgbClr val="0F172A"/>
                </a:solidFill>
                <a:latin typeface="Segoe UI"/>
              </a:defRPr>
            </a:pPr>
            <a:r>
              <a:rPr sz="1600" b="0">
                <a:solidFill>
                  <a:srgbClr val="0F172A"/>
                </a:solidFill>
                <a:latin typeface="Segoe UI"/>
              </a:rPr>
              <a:t>• Imágenes base: python:slim vs distroless vs alpine</a:t>
            </a:r>
          </a:p>
          <a:p>
            <a:pPr>
              <a:spcAft>
                <a:spcPts val="1000"/>
              </a:spcAft>
              <a:defRPr sz="1600" b="0">
                <a:solidFill>
                  <a:srgbClr val="0F172A"/>
                </a:solidFill>
                <a:latin typeface="Segoe UI"/>
              </a:defRPr>
            </a:pPr>
            <a:r>
              <a:rPr sz="1600" b="0">
                <a:solidFill>
                  <a:srgbClr val="0F172A"/>
                </a:solidFill>
                <a:latin typeface="Segoe UI"/>
              </a:rPr>
              <a:t>• Security: non-root user, secrets via env/mount</a:t>
            </a:r>
          </a:p>
        </p:txBody>
      </p:sp>
    </p:spTree>
  </p:cSld>
  <p:clrMapOvr>
    <a:masterClrMapping/>
  </p:clrMapOvr>
</p:sld>
</file>

<file path=ppt/slides/slide9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198 — Docker para empaquetar modelos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'docker_demo'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1. Entrenar un modelo y guardarlo</a:t>
            </a:r>
          </a:p>
          <a:p>
            <a:pPr>
              <a:defRPr sz="1200" b="0">
                <a:solidFill>
                  <a:srgbClr val="F8FAFC"/>
                </a:solidFill>
                <a:latin typeface="Courier New"/>
              </a:defRPr>
            </a:pPr>
            <a:r>
              <a:rPr sz="1200" b="0">
                <a:solidFill>
                  <a:srgbClr val="F8FAFC"/>
                </a:solidFill>
                <a:latin typeface="Courier New"/>
              </a:rPr>
              <a:t>import joblib</a:t>
            </a:r>
          </a:p>
          <a:p>
            <a:pPr>
              <a:defRPr sz="1200" b="0">
                <a:solidFill>
                  <a:srgbClr val="F8FAFC"/>
                </a:solidFill>
                <a:latin typeface="Courier New"/>
              </a:defRPr>
            </a:pPr>
            <a:r>
              <a:rPr sz="1200" b="0">
                <a:solidFill>
                  <a:srgbClr val="F8FAFC"/>
                </a:solidFill>
                <a:latin typeface="Courier New"/>
              </a:rPr>
              <a:t>from sklearn.datasets import load_iris</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X, y = load_iris(return_X_y=True)</a:t>
            </a:r>
          </a:p>
          <a:p>
            <a:pPr>
              <a:defRPr sz="1200" b="0">
                <a:solidFill>
                  <a:srgbClr val="F8FAFC"/>
                </a:solidFill>
                <a:latin typeface="Courier New"/>
              </a:defRPr>
            </a:pPr>
            <a:r>
              <a:rPr sz="1200" b="0">
                <a:solidFill>
                  <a:srgbClr val="F8FAFC"/>
                </a:solidFill>
                <a:latin typeface="Courier New"/>
              </a:rPr>
              <a:t>m = RandomForestClassifier(n_estimators=50, random_state=42).fit(X, y)</a:t>
            </a:r>
          </a:p>
          <a:p>
            <a:pPr>
              <a:defRPr sz="1200" b="0">
                <a:solidFill>
                  <a:srgbClr val="F8FAFC"/>
                </a:solidFill>
                <a:latin typeface="Courier New"/>
              </a:defRPr>
            </a:pPr>
            <a:r>
              <a:rPr sz="1200" b="0">
                <a:solidFill>
                  <a:srgbClr val="F8FAFC"/>
                </a:solidFill>
                <a:latin typeface="Courier New"/>
              </a:rPr>
              <a:t>joblib.dump(m, 'model.pkl')</a:t>
            </a:r>
          </a:p>
          <a:p>
            <a:pPr>
              <a:defRPr sz="1200" b="0">
                <a:solidFill>
                  <a:srgbClr val="F8FAFC"/>
                </a:solidFill>
                <a:latin typeface="Courier New"/>
              </a:defRPr>
            </a:pPr>
            <a:r>
              <a:rPr sz="1200" b="0">
                <a:solidFill>
                  <a:srgbClr val="F8FAFC"/>
                </a:solidFill>
                <a:latin typeface="Courier New"/>
              </a:rPr>
              <a:t>print('model.pkl:', Path('model.pkl').stat().st_size, 'bytes')</a:t>
            </a:r>
          </a:p>
        </p:txBody>
      </p:sp>
    </p:spTree>
  </p:cSld>
  <p:clrMapOvr>
    <a:masterClrMapping/>
  </p:clrMapOvr>
</p:sld>
</file>

<file path=ppt/slides/slide9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198 — Docker para empaquetar modelos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Dockerfile básico: empaquetá un script predict.py que carga model.pkl y predice una fila random.</a:t>
            </a:r>
          </a:p>
          <a:p>
            <a:pPr>
              <a:spcAft>
                <a:spcPts val="800"/>
              </a:spcAft>
              <a:defRPr sz="1400" b="0">
                <a:solidFill>
                  <a:srgbClr val="0F172A"/>
                </a:solidFill>
                <a:latin typeface="Segoe UI"/>
              </a:defRPr>
            </a:pPr>
            <a:r>
              <a:rPr sz="1400" b="0">
                <a:solidFill>
                  <a:srgbClr val="0F172A"/>
                </a:solidFill>
                <a:latin typeface="Segoe UI"/>
              </a:rPr>
              <a:t>• Layer caching: cambiá una línea en predict.py sin tocar requirements.txt.</a:t>
            </a:r>
          </a:p>
          <a:p>
            <a:pPr>
              <a:spcAft>
                <a:spcPts val="800"/>
              </a:spcAft>
              <a:defRPr sz="1400" b="0">
                <a:solidFill>
                  <a:srgbClr val="0F172A"/>
                </a:solidFill>
                <a:latin typeface="Segoe UI"/>
              </a:defRPr>
            </a:pPr>
            <a:r>
              <a:rPr sz="1400" b="0">
                <a:solidFill>
                  <a:srgbClr val="0F172A"/>
                </a:solidFill>
                <a:latin typeface="Segoe UI"/>
              </a:rPr>
              <a:t>• Multi-stage: separá en dos stages: builder (FROM python:3.12 AS builder, instalá deps con compiladores) y runtime (FROM python:3.12-slim, copiá solo site-packages del builder).</a:t>
            </a:r>
          </a:p>
          <a:p>
            <a:pPr>
              <a:spcAft>
                <a:spcPts val="800"/>
              </a:spcAft>
              <a:defRPr sz="1400" b="0">
                <a:solidFill>
                  <a:srgbClr val="0F172A"/>
                </a:solidFill>
                <a:latin typeface="Segoe UI"/>
              </a:defRPr>
            </a:pPr>
            <a:r>
              <a:rPr sz="1400" b="0">
                <a:solidFill>
                  <a:srgbClr val="0F172A"/>
                </a:solidFill>
                <a:latin typeface="Segoe UI"/>
              </a:rPr>
              <a:t>• Non-root: agregá RUN useradd -m app &amp;&amp; USER app antes del CMD.</a:t>
            </a:r>
          </a:p>
          <a:p>
            <a:pPr>
              <a:spcAft>
                <a:spcPts val="800"/>
              </a:spcAft>
              <a:defRPr sz="1400" b="0">
                <a:solidFill>
                  <a:srgbClr val="0F172A"/>
                </a:solidFill>
                <a:latin typeface="Segoe UI"/>
              </a:defRPr>
            </a:pPr>
            <a:r>
              <a:rPr sz="1400" b="0">
                <a:solidFill>
                  <a:srgbClr val="0F172A"/>
                </a:solidFill>
                <a:latin typeface="Segoe UI"/>
              </a:rPr>
              <a:t>• Tags y digest: hacé docker push miml:v1 a Docker Hub.</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Dockerfile multi-stage que produce imagen &lt;500 MB para un modelo sklearn + FastAPI.</a:t>
            </a:r>
          </a:p>
          <a:p>
            <a:pPr>
              <a:spcAft>
                <a:spcPts val="800"/>
              </a:spcAft>
              <a:defRPr sz="1400" b="0">
                <a:solidFill>
                  <a:srgbClr val="0F172A"/>
                </a:solidFill>
                <a:latin typeface="Segoe UI"/>
              </a:defRPr>
            </a:pPr>
            <a:r>
              <a:rPr sz="1400" b="0">
                <a:solidFill>
                  <a:srgbClr val="0F172A"/>
                </a:solidFill>
                <a:latin typeface="Segoe UI"/>
              </a:rPr>
              <a:t>• .dockerignore que excluye .git, __pycache__, *.ipynb, data/raw, mlruns/.</a:t>
            </a:r>
          </a:p>
          <a:p>
            <a:pPr>
              <a:spcAft>
                <a:spcPts val="800"/>
              </a:spcAft>
              <a:defRPr sz="1400" b="0">
                <a:solidFill>
                  <a:srgbClr val="0F172A"/>
                </a:solidFill>
                <a:latin typeface="Segoe UI"/>
              </a:defRPr>
            </a:pPr>
            <a:r>
              <a:rPr sz="1400" b="0">
                <a:solidFill>
                  <a:srgbClr val="0F172A"/>
                </a:solidFill>
                <a:latin typeface="Segoe UI"/>
              </a:rPr>
              <a:t>• docker-compose.yml que levanta el servicio en :8000 con healthcheck.</a:t>
            </a:r>
          </a:p>
          <a:p>
            <a:pPr>
              <a:spcAft>
                <a:spcPts val="800"/>
              </a:spcAft>
              <a:defRPr sz="1400" b="0">
                <a:solidFill>
                  <a:srgbClr val="0F172A"/>
                </a:solidFill>
                <a:latin typeface="Segoe UI"/>
              </a:defRPr>
            </a:pPr>
            <a:r>
              <a:rPr sz="1400" b="0">
                <a:solidFill>
                  <a:srgbClr val="0F172A"/>
                </a:solidFill>
                <a:latin typeface="Segoe UI"/>
              </a:rPr>
              <a:t>• README del repo con comandos build, run, push, y la URL/digest de la imagen pushed.</a:t>
            </a:r>
          </a:p>
          <a:p>
            <a:pPr>
              <a:spcAft>
                <a:spcPts val="800"/>
              </a:spcAft>
              <a:defRPr sz="1400" b="0">
                <a:solidFill>
                  <a:srgbClr val="0F172A"/>
                </a:solidFill>
                <a:latin typeface="Segoe UI"/>
              </a:defRPr>
            </a:pPr>
            <a:r>
              <a:rPr sz="1400" b="0">
                <a:solidFill>
                  <a:srgbClr val="0F172A"/>
                </a:solidFill>
                <a:latin typeface="Segoe UI"/>
              </a:rPr>
              <a:t>• Output de dive miml:latest (o docker history) mostrando que ninguna capa única pesa más de 200 MB.</a:t>
            </a:r>
          </a:p>
        </p:txBody>
      </p:sp>
    </p:spTree>
  </p:cSld>
  <p:clrMapOvr>
    <a:masterClrMapping/>
  </p:clrMapOvr>
</p:sld>
</file>

<file path=ppt/slides/slide99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199 — APIs con FastAPI sirviendo modelos</a:t>
            </a:r>
          </a:p>
        </p:txBody>
      </p:sp>
    </p:spTree>
  </p:cSld>
  <p:clrMapOvr>
    <a:masterClrMapping/>
  </p:clrMapOvr>
</p:sld>
</file>

<file path=ppt/slides/slide9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199 — APIs con FastAPI sirviendo modelos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docs FastAPI + Ramalho cap. 5.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Exponer un modelo entrenado como REST API con FastAPI: validación de input con Pydantic, batching, async, healthcheck, métricas Prometheus, OpenAPI auto-generado. Target: p99 latency &lt;100 ms y throughput &gt;500 req/s en un solo nodo CPU.</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servicio FastAPI con endpoints POST /predict, POST /predict-batch, GET /health, GET /metrics.</a:t>
            </a:r>
          </a:p>
          <a:p>
            <a:pPr>
              <a:spcAft>
                <a:spcPts val="800"/>
              </a:spcAft>
              <a:defRPr sz="1400" b="0">
                <a:solidFill>
                  <a:srgbClr val="0F172A"/>
                </a:solidFill>
                <a:latin typeface="Segoe UI"/>
              </a:defRPr>
            </a:pPr>
            <a:r>
              <a:rPr sz="1400" b="0">
                <a:solidFill>
                  <a:srgbClr val="0F172A"/>
                </a:solidFill>
                <a:latin typeface="Segoe UI"/>
              </a:rPr>
              <a:t>• Definir schemas de input/output con pydantic.BaseModel y obtener validación + docs gratis.</a:t>
            </a:r>
          </a:p>
          <a:p>
            <a:pPr>
              <a:spcAft>
                <a:spcPts val="800"/>
              </a:spcAft>
              <a:defRPr sz="1400" b="0">
                <a:solidFill>
                  <a:srgbClr val="0F172A"/>
                </a:solidFill>
                <a:latin typeface="Segoe UI"/>
              </a:defRPr>
            </a:pPr>
            <a:r>
              <a:rPr sz="1400" b="0">
                <a:solidFill>
                  <a:srgbClr val="0F172A"/>
                </a:solidFill>
                <a:latin typeface="Segoe UI"/>
              </a:rPr>
              <a:t>• Usar lifespan events para cargar el modelo una sola vez (no por request).</a:t>
            </a:r>
          </a:p>
          <a:p>
            <a:pPr>
              <a:spcAft>
                <a:spcPts val="800"/>
              </a:spcAft>
              <a:defRPr sz="1400" b="0">
                <a:solidFill>
                  <a:srgbClr val="0F172A"/>
                </a:solidFill>
                <a:latin typeface="Segoe UI"/>
              </a:defRPr>
            </a:pPr>
            <a:r>
              <a:rPr sz="1400" b="0">
                <a:solidFill>
                  <a:srgbClr val="0F172A"/>
                </a:solidFill>
                <a:latin typeface="Segoe UI"/>
              </a:rPr>
              <a:t>• Loadtestear con locust y medir latency p50/p95/p99 + throughput.</a:t>
            </a:r>
          </a:p>
          <a:p>
            <a:pPr>
              <a:spcAft>
                <a:spcPts val="800"/>
              </a:spcAft>
              <a:defRPr sz="1400" b="0">
                <a:solidFill>
                  <a:srgbClr val="0F172A"/>
                </a:solidFill>
                <a:latin typeface="Segoe UI"/>
              </a:defRPr>
            </a:pPr>
            <a:r>
              <a:rPr sz="1400" b="0">
                <a:solidFill>
                  <a:srgbClr val="0F172A"/>
                </a:solidFill>
                <a:latin typeface="Segoe UI"/>
              </a:rPr>
              <a:t>• Decidir entre sync def y async def según si el predict es CPU-bound o I/O-bound.</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199 — APIs con FastAPI sirviendo modelos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ASGI vs WSGI: por qué FastAPI no es Flask</a:t>
            </a:r>
          </a:p>
          <a:p>
            <a:pPr>
              <a:spcAft>
                <a:spcPts val="1000"/>
              </a:spcAft>
              <a:defRPr sz="1600" b="0">
                <a:solidFill>
                  <a:srgbClr val="0F172A"/>
                </a:solidFill>
                <a:latin typeface="Segoe UI"/>
              </a:defRPr>
            </a:pPr>
            <a:r>
              <a:rPr sz="1600" b="0">
                <a:solidFill>
                  <a:srgbClr val="0F172A"/>
                </a:solidFill>
                <a:latin typeface="Segoe UI"/>
              </a:rPr>
              <a:t>• Pydantic v2: validación + serialización</a:t>
            </a:r>
          </a:p>
          <a:p>
            <a:pPr>
              <a:spcAft>
                <a:spcPts val="1000"/>
              </a:spcAft>
              <a:defRPr sz="1600" b="0">
                <a:solidFill>
                  <a:srgbClr val="0F172A"/>
                </a:solidFill>
                <a:latin typeface="Segoe UI"/>
              </a:defRPr>
            </a:pPr>
            <a:r>
              <a:rPr sz="1600" b="0">
                <a:solidFill>
                  <a:srgbClr val="0F172A"/>
                </a:solidFill>
                <a:latin typeface="Segoe UI"/>
              </a:rPr>
              <a:t>• Lifespan: cargar modelo 1 vez</a:t>
            </a:r>
          </a:p>
          <a:p>
            <a:pPr>
              <a:spcAft>
                <a:spcPts val="1000"/>
              </a:spcAft>
              <a:defRPr sz="1600" b="0">
                <a:solidFill>
                  <a:srgbClr val="0F172A"/>
                </a:solidFill>
                <a:latin typeface="Segoe UI"/>
              </a:defRPr>
            </a:pPr>
            <a:r>
              <a:rPr sz="1600" b="0">
                <a:solidFill>
                  <a:srgbClr val="0F172A"/>
                </a:solidFill>
                <a:latin typeface="Segoe UI"/>
              </a:rPr>
              <a:t>• Sync vs async para predict</a:t>
            </a:r>
          </a:p>
          <a:p>
            <a:pPr>
              <a:spcAft>
                <a:spcPts val="1000"/>
              </a:spcAft>
              <a:defRPr sz="1600" b="0">
                <a:solidFill>
                  <a:srgbClr val="0F172A"/>
                </a:solidFill>
                <a:latin typeface="Segoe UI"/>
              </a:defRPr>
            </a:pPr>
            <a:r>
              <a:rPr sz="1600" b="0">
                <a:solidFill>
                  <a:srgbClr val="0F172A"/>
                </a:solidFill>
                <a:latin typeface="Segoe UI"/>
              </a:rPr>
              <a:t>• Batching: /predict-batch</a:t>
            </a:r>
          </a:p>
          <a:p>
            <a:pPr>
              <a:spcAft>
                <a:spcPts val="1000"/>
              </a:spcAft>
              <a:defRPr sz="1600" b="0">
                <a:solidFill>
                  <a:srgbClr val="0F172A"/>
                </a:solidFill>
                <a:latin typeface="Segoe UI"/>
              </a:defRPr>
            </a:pPr>
            <a:r>
              <a:rPr sz="1600" b="0">
                <a:solidFill>
                  <a:srgbClr val="0F172A"/>
                </a:solidFill>
                <a:latin typeface="Segoe UI"/>
              </a:rPr>
              <a:t>• Observabilidad: /health, /metrics, logs estructurados</a:t>
            </a:r>
          </a:p>
        </p:txBody>
      </p:sp>
    </p:spTree>
  </p:cSld>
  <p:clrMapOvr>
    <a:masterClrMapping/>
  </p:clrMapOvr>
</p:sld>
</file>

<file path=ppt/slides/slide10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199 — APIs con FastAPI sirviendo modelos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tempfile, joblib</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from sklearn.datasets import load_iris</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'fastapi_demo'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load_iris(return_X_y=True)</a:t>
            </a:r>
          </a:p>
          <a:p>
            <a:pPr>
              <a:defRPr sz="1200" b="0">
                <a:solidFill>
                  <a:srgbClr val="F8FAFC"/>
                </a:solidFill>
                <a:latin typeface="Courier New"/>
              </a:defRPr>
            </a:pPr>
            <a:r>
              <a:rPr sz="1200" b="0">
                <a:solidFill>
                  <a:srgbClr val="F8FAFC"/>
                </a:solidFill>
                <a:latin typeface="Courier New"/>
              </a:rPr>
              <a:t>m = RandomForestClassifier(n_estimators=50, random_state=42).fit(X, y)</a:t>
            </a:r>
          </a:p>
          <a:p>
            <a:pPr>
              <a:defRPr sz="1200" b="0">
                <a:solidFill>
                  <a:srgbClr val="F8FAFC"/>
                </a:solidFill>
                <a:latin typeface="Courier New"/>
              </a:defRPr>
            </a:pPr>
            <a:r>
              <a:rPr sz="1200" b="0">
                <a:solidFill>
                  <a:srgbClr val="F8FAFC"/>
                </a:solidFill>
                <a:latin typeface="Courier New"/>
              </a:rPr>
              <a:t>joblib.dump(m, 'model.pkl')</a:t>
            </a:r>
          </a:p>
          <a:p>
            <a:pPr>
              <a:defRPr sz="1200" b="0">
                <a:solidFill>
                  <a:srgbClr val="F8FAFC"/>
                </a:solidFill>
                <a:latin typeface="Courier New"/>
              </a:defRPr>
            </a:pPr>
            <a:r>
              <a:rPr sz="1200" b="0">
                <a:solidFill>
                  <a:srgbClr val="F8FAFC"/>
                </a:solidFill>
                <a:latin typeface="Courier New"/>
              </a:rPr>
              <a:t>print('modelo guardado:', Path('model.pkl').stat().st_size, 'bytes')</a:t>
            </a:r>
          </a:p>
        </p:txBody>
      </p:sp>
    </p:spTree>
  </p:cSld>
  <p:clrMapOvr>
    <a:masterClrMapping/>
  </p:clrMapOvr>
</p:sld>
</file>

<file path=ppt/slides/slide10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199 — APIs con FastAPI sirviendo modelos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API mínima: POST /predict con IrisInput(features: list[float]) → IrisOutput(class: int, proba: list[float]).</a:t>
            </a:r>
          </a:p>
          <a:p>
            <a:pPr>
              <a:spcAft>
                <a:spcPts val="800"/>
              </a:spcAft>
              <a:defRPr sz="1400" b="0">
                <a:solidFill>
                  <a:srgbClr val="0F172A"/>
                </a:solidFill>
                <a:latin typeface="Segoe UI"/>
              </a:defRPr>
            </a:pPr>
            <a:r>
              <a:rPr sz="1400" b="0">
                <a:solidFill>
                  <a:srgbClr val="0F172A"/>
                </a:solidFill>
                <a:latin typeface="Segoe UI"/>
              </a:rPr>
              <a:t>• Lifespan: cargá el modelo en un lifespan y guardalo en app.state.model.</a:t>
            </a:r>
          </a:p>
          <a:p>
            <a:pPr>
              <a:spcAft>
                <a:spcPts val="800"/>
              </a:spcAft>
              <a:defRPr sz="1400" b="0">
                <a:solidFill>
                  <a:srgbClr val="0F172A"/>
                </a:solidFill>
                <a:latin typeface="Segoe UI"/>
              </a:defRPr>
            </a:pPr>
            <a:r>
              <a:rPr sz="1400" b="0">
                <a:solidFill>
                  <a:srgbClr val="0F172A"/>
                </a:solidFill>
                <a:latin typeface="Segoe UI"/>
              </a:rPr>
              <a:t>• Batching: agregá POST /predict-batch con BatchInput(rows: list[list[float]]).</a:t>
            </a:r>
          </a:p>
          <a:p>
            <a:pPr>
              <a:spcAft>
                <a:spcPts val="800"/>
              </a:spcAft>
              <a:defRPr sz="1400" b="0">
                <a:solidFill>
                  <a:srgbClr val="0F172A"/>
                </a:solidFill>
                <a:latin typeface="Segoe UI"/>
              </a:defRPr>
            </a:pPr>
            <a:r>
              <a:rPr sz="1400" b="0">
                <a:solidFill>
                  <a:srgbClr val="0F172A"/>
                </a:solidFill>
                <a:latin typeface="Segoe UI"/>
              </a:rPr>
              <a:t>• Async vs sync: simulá un predict que llama a una API externa (await httpx.AsyncClient().get(...)).</a:t>
            </a:r>
          </a:p>
          <a:p>
            <a:pPr>
              <a:spcAft>
                <a:spcPts val="800"/>
              </a:spcAft>
              <a:defRPr sz="1400" b="0">
                <a:solidFill>
                  <a:srgbClr val="0F172A"/>
                </a:solidFill>
                <a:latin typeface="Segoe UI"/>
              </a:defRPr>
            </a:pPr>
            <a:r>
              <a:rPr sz="1400" b="0">
                <a:solidFill>
                  <a:srgbClr val="0F172A"/>
                </a:solidFill>
                <a:latin typeface="Segoe UI"/>
              </a:rPr>
              <a:t>• Observabilidad: agregá prometheus-fastapi-instrumentator → /metrics.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Endpoints POST /predict, POST /predict-batch, GET /health, GET /metrics, GET /docs.</a:t>
            </a:r>
          </a:p>
          <a:p>
            <a:pPr>
              <a:spcAft>
                <a:spcPts val="800"/>
              </a:spcAft>
              <a:defRPr sz="1400" b="0">
                <a:solidFill>
                  <a:srgbClr val="0F172A"/>
                </a:solidFill>
                <a:latin typeface="Segoe UI"/>
              </a:defRPr>
            </a:pPr>
            <a:r>
              <a:rPr sz="1400" b="0">
                <a:solidFill>
                  <a:srgbClr val="0F172A"/>
                </a:solidFill>
                <a:latin typeface="Segoe UI"/>
              </a:rPr>
              <a:t>• Pydantic models con validación: features debe tener exactamente 4 floats positivos.</a:t>
            </a:r>
          </a:p>
          <a:p>
            <a:pPr>
              <a:spcAft>
                <a:spcPts val="800"/>
              </a:spcAft>
              <a:defRPr sz="1400" b="0">
                <a:solidFill>
                  <a:srgbClr val="0F172A"/>
                </a:solidFill>
                <a:latin typeface="Segoe UI"/>
              </a:defRPr>
            </a:pPr>
            <a:r>
              <a:rPr sz="1400" b="0">
                <a:solidFill>
                  <a:srgbClr val="0F172A"/>
                </a:solidFill>
                <a:latin typeface="Segoe UI"/>
              </a:rPr>
              <a:t>• lifespan que carga model.pkl una vez al startup.</a:t>
            </a:r>
          </a:p>
          <a:p>
            <a:pPr>
              <a:spcAft>
                <a:spcPts val="800"/>
              </a:spcAft>
              <a:defRPr sz="1400" b="0">
                <a:solidFill>
                  <a:srgbClr val="0F172A"/>
                </a:solidFill>
                <a:latin typeface="Segoe UI"/>
              </a:defRPr>
            </a:pPr>
            <a:r>
              <a:rPr sz="1400" b="0">
                <a:solidFill>
                  <a:srgbClr val="0F172A"/>
                </a:solidFill>
                <a:latin typeface="Segoe UI"/>
              </a:rPr>
              <a:t>• locustfile.py que simula 100 users concurrentes durante 60 s.</a:t>
            </a:r>
          </a:p>
          <a:p>
            <a:pPr>
              <a:spcAft>
                <a:spcPts val="800"/>
              </a:spcAft>
              <a:defRPr sz="1400" b="0">
                <a:solidFill>
                  <a:srgbClr val="0F172A"/>
                </a:solidFill>
                <a:latin typeface="Segoe UI"/>
              </a:defRPr>
            </a:pPr>
            <a:r>
              <a:rPr sz="1400" b="0">
                <a:solidFill>
                  <a:srgbClr val="0F172A"/>
                </a:solidFill>
                <a:latin typeface="Segoe UI"/>
              </a:rPr>
              <a:t>• Reporte de loadtest con p50/p95/p99 latency y RPS, justificando si el target (&lt;100 ms p99, &gt;500 RPS) se cumple.</a:t>
            </a:r>
          </a:p>
        </p:txBody>
      </p:sp>
    </p:spTree>
  </p:cSld>
  <p:clrMapOvr>
    <a:masterClrMapping/>
  </p:clrMapOvr>
</p:sld>
</file>

<file path=ppt/slides/slide100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200 — Kubernetes para servir modelos a escala</a:t>
            </a:r>
          </a:p>
        </p:txBody>
      </p:sp>
    </p:spTree>
  </p:cSld>
  <p:clrMapOvr>
    <a:masterClrMapping/>
  </p:clrMapOvr>
</p:sld>
</file>

<file path=ppt/slides/slide10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200 — Kubernetes para servir modelos a escala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Burns et al., Kubernetes: Up and Running (3ª ed.) + docs k8s.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Desplegar el contenedor de Clase 198–199 en Kubernetes con Deployment + Service + Ingress, autoescalar con HPA (CPU + custom metrics), hacer rolling updates seguros, y configurar livenessProbe/readinessProbe/resources correctamente. Aprender los 5 manifests mínimos que necesita cualquier servicio de inferencia.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manifests YAML para Deployment, Service, ConfigMap, Secret, HPA, Ingress.</a:t>
            </a:r>
          </a:p>
          <a:p>
            <a:pPr>
              <a:spcAft>
                <a:spcPts val="800"/>
              </a:spcAft>
              <a:defRPr sz="1400" b="0">
                <a:solidFill>
                  <a:srgbClr val="0F172A"/>
                </a:solidFill>
                <a:latin typeface="Segoe UI"/>
              </a:defRPr>
            </a:pPr>
            <a:r>
              <a:rPr sz="1400" b="0">
                <a:solidFill>
                  <a:srgbClr val="0F172A"/>
                </a:solidFill>
                <a:latin typeface="Segoe UI"/>
              </a:rPr>
              <a:t>• Diferenciar livenessProbe (reinicia pod) de readinessProbe (saca del LB) de startupProbe (gracia inicial para modelos lentos).</a:t>
            </a:r>
          </a:p>
          <a:p>
            <a:pPr>
              <a:spcAft>
                <a:spcPts val="800"/>
              </a:spcAft>
              <a:defRPr sz="1400" b="0">
                <a:solidFill>
                  <a:srgbClr val="0F172A"/>
                </a:solidFill>
                <a:latin typeface="Segoe UI"/>
              </a:defRPr>
            </a:pPr>
            <a:r>
              <a:rPr sz="1400" b="0">
                <a:solidFill>
                  <a:srgbClr val="0F172A"/>
                </a:solidFill>
                <a:latin typeface="Segoe UI"/>
              </a:rPr>
              <a:t>• Configurar resources.requests/limits y entender por qué un pod sin requests es OOM-killable y sin limits es noisy-neighbor.</a:t>
            </a:r>
          </a:p>
          <a:p>
            <a:pPr>
              <a:spcAft>
                <a:spcPts val="800"/>
              </a:spcAft>
              <a:defRPr sz="1400" b="0">
                <a:solidFill>
                  <a:srgbClr val="0F172A"/>
                </a:solidFill>
                <a:latin typeface="Segoe UI"/>
              </a:defRPr>
            </a:pPr>
            <a:r>
              <a:rPr sz="1400" b="0">
                <a:solidFill>
                  <a:srgbClr val="0F172A"/>
                </a:solidFill>
                <a:latin typeface="Segoe UI"/>
              </a:rPr>
              <a:t>• Hacer kubectl rollout/rollback y entender los maxSurge/maxUnavailable del rolling update.</a:t>
            </a:r>
          </a:p>
          <a:p>
            <a:pPr>
              <a:spcAft>
                <a:spcPts val="800"/>
              </a:spcAft>
              <a:defRPr sz="1400" b="0">
                <a:solidFill>
                  <a:srgbClr val="0F172A"/>
                </a:solidFill>
                <a:latin typeface="Segoe UI"/>
              </a:defRPr>
            </a:pPr>
            <a:r>
              <a:rPr sz="1400" b="0">
                <a:solidFill>
                  <a:srgbClr val="0F172A"/>
                </a:solidFill>
                <a:latin typeface="Segoe UI"/>
              </a:rPr>
              <a:t>• Diagnosticar CrashLoopBackOff, ImagePullBackOff, Pending, Evicted con kubectl describe y kubectl logs.</a:t>
            </a:r>
          </a:p>
        </p:txBody>
      </p:sp>
    </p:spTree>
  </p:cSld>
  <p:clrMapOvr>
    <a:masterClrMapping/>
  </p:clrMapOvr>
</p:sld>
</file>

<file path=ppt/slides/slide10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200 — Kubernetes para servir modelos a escala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Pod, Deployment, ReplicaSet, Service</a:t>
            </a:r>
          </a:p>
          <a:p>
            <a:pPr>
              <a:spcAft>
                <a:spcPts val="1000"/>
              </a:spcAft>
              <a:defRPr sz="1600" b="0">
                <a:solidFill>
                  <a:srgbClr val="0F172A"/>
                </a:solidFill>
                <a:latin typeface="Segoe UI"/>
              </a:defRPr>
            </a:pPr>
            <a:r>
              <a:rPr sz="1600" b="0">
                <a:solidFill>
                  <a:srgbClr val="0F172A"/>
                </a:solidFill>
                <a:latin typeface="Segoe UI"/>
              </a:rPr>
              <a:t>• Probes (liveness, readiness, startup)</a:t>
            </a:r>
          </a:p>
          <a:p>
            <a:pPr>
              <a:spcAft>
                <a:spcPts val="1000"/>
              </a:spcAft>
              <a:defRPr sz="1600" b="0">
                <a:solidFill>
                  <a:srgbClr val="0F172A"/>
                </a:solidFill>
                <a:latin typeface="Segoe UI"/>
              </a:defRPr>
            </a:pPr>
            <a:r>
              <a:rPr sz="1600" b="0">
                <a:solidFill>
                  <a:srgbClr val="0F172A"/>
                </a:solidFill>
                <a:latin typeface="Segoe UI"/>
              </a:rPr>
              <a:t>• Resources: requests vs limits</a:t>
            </a:r>
          </a:p>
          <a:p>
            <a:pPr>
              <a:spcAft>
                <a:spcPts val="1000"/>
              </a:spcAft>
              <a:defRPr sz="1600" b="0">
                <a:solidFill>
                  <a:srgbClr val="0F172A"/>
                </a:solidFill>
                <a:latin typeface="Segoe UI"/>
              </a:defRPr>
            </a:pPr>
            <a:r>
              <a:rPr sz="1600" b="0">
                <a:solidFill>
                  <a:srgbClr val="0F172A"/>
                </a:solidFill>
                <a:latin typeface="Segoe UI"/>
              </a:rPr>
              <a:t>• HPA: CPU + custom metrics (latency, queue depth)</a:t>
            </a:r>
          </a:p>
          <a:p>
            <a:pPr>
              <a:spcAft>
                <a:spcPts val="1000"/>
              </a:spcAft>
              <a:defRPr sz="1600" b="0">
                <a:solidFill>
                  <a:srgbClr val="0F172A"/>
                </a:solidFill>
                <a:latin typeface="Segoe UI"/>
              </a:defRPr>
            </a:pPr>
            <a:r>
              <a:rPr sz="1600" b="0">
                <a:solidFill>
                  <a:srgbClr val="0F172A"/>
                </a:solidFill>
                <a:latin typeface="Segoe UI"/>
              </a:rPr>
              <a:t>• Rolling update + rollback</a:t>
            </a:r>
          </a:p>
          <a:p>
            <a:pPr>
              <a:spcAft>
                <a:spcPts val="1000"/>
              </a:spcAft>
              <a:defRPr sz="1600" b="0">
                <a:solidFill>
                  <a:srgbClr val="0F172A"/>
                </a:solidFill>
                <a:latin typeface="Segoe UI"/>
              </a:defRPr>
            </a:pPr>
            <a:r>
              <a:rPr sz="1600" b="0">
                <a:solidFill>
                  <a:srgbClr val="0F172A"/>
                </a:solidFill>
                <a:latin typeface="Segoe UI"/>
              </a:rPr>
              <a:t>• Ingress + service mesh (mention)</a:t>
            </a:r>
          </a:p>
        </p:txBody>
      </p:sp>
    </p:spTree>
  </p:cSld>
  <p:clrMapOvr>
    <a:masterClrMapping/>
  </p:clrMapOvr>
</p:sld>
</file>

<file path=ppt/slides/slide10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200 — Kubernetes para servir modelos a escala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Antes de entrar a los YAML, quedate con la imagen mental de qué es Kubernetes: &gt; Kubernetes es un orquestador que mantiene N réplicas de tu servicio vivas y balancea la carga entre ellas — como el director de una orquesta que, si un músico falla a mitad de la obra, hace entrar al suplente sin que el público lo note. De ahí salen todos los objetos que verás: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'k8s_demo'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 / 'k8s').mkdir(parents=True)</a:t>
            </a:r>
          </a:p>
          <a:p>
            <a:pPr>
              <a:defRPr sz="1200" b="0">
                <a:solidFill>
                  <a:srgbClr val="F8FAFC"/>
                </a:solidFill>
                <a:latin typeface="Courier New"/>
              </a:defRPr>
            </a:pPr>
            <a:r>
              <a:rPr sz="1200" b="0">
                <a:solidFill>
                  <a:srgbClr val="F8FAFC"/>
                </a:solidFill>
                <a:latin typeface="Courier New"/>
              </a:rPr>
              <a:t>os.chdir(WORK)</a:t>
            </a:r>
          </a:p>
          <a:p>
            <a:pPr>
              <a:defRPr sz="1200" b="0">
                <a:solidFill>
                  <a:srgbClr val="F8FAFC"/>
                </a:solidFill>
                <a:latin typeface="Courier New"/>
              </a:defRPr>
            </a:pPr>
            <a:r>
              <a:rPr sz="1200" b="0">
                <a:solidFill>
                  <a:srgbClr val="F8FAFC"/>
                </a:solidFill>
                <a:latin typeface="Courier New"/>
              </a:rPr>
              <a:t>print('cwd:', Path.cwd())</a:t>
            </a:r>
          </a:p>
        </p:txBody>
      </p:sp>
    </p:spTree>
  </p:cSld>
  <p:clrMapOvr>
    <a:masterClrMapping/>
  </p:clrMapOvr>
</p:sld>
</file>

<file path=ppt/slides/slide10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200 — Kubernetes para servir modelos a escala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Cluster local: kind create cluster --name ml.</a:t>
            </a:r>
          </a:p>
          <a:p>
            <a:pPr>
              <a:spcAft>
                <a:spcPts val="800"/>
              </a:spcAft>
              <a:defRPr sz="1400" b="0">
                <a:solidFill>
                  <a:srgbClr val="0F172A"/>
                </a:solidFill>
                <a:latin typeface="Segoe UI"/>
              </a:defRPr>
            </a:pPr>
            <a:r>
              <a:rPr sz="1400" b="0">
                <a:solidFill>
                  <a:srgbClr val="0F172A"/>
                </a:solidFill>
                <a:latin typeface="Segoe UI"/>
              </a:rPr>
              <a:t>• Deployment + Service: aplicá los YAML del notebook.</a:t>
            </a:r>
          </a:p>
          <a:p>
            <a:pPr>
              <a:spcAft>
                <a:spcPts val="800"/>
              </a:spcAft>
              <a:defRPr sz="1400" b="0">
                <a:solidFill>
                  <a:srgbClr val="0F172A"/>
                </a:solidFill>
                <a:latin typeface="Segoe UI"/>
              </a:defRPr>
            </a:pPr>
            <a:r>
              <a:rPr sz="1400" b="0">
                <a:solidFill>
                  <a:srgbClr val="0F172A"/>
                </a:solidFill>
                <a:latin typeface="Segoe UI"/>
              </a:rPr>
              <a:t>• Probes: cambiá livenessProbe a apuntar a /wrong-endpoint.</a:t>
            </a:r>
          </a:p>
          <a:p>
            <a:pPr>
              <a:spcAft>
                <a:spcPts val="800"/>
              </a:spcAft>
              <a:defRPr sz="1400" b="0">
                <a:solidFill>
                  <a:srgbClr val="0F172A"/>
                </a:solidFill>
                <a:latin typeface="Segoe UI"/>
              </a:defRPr>
            </a:pPr>
            <a:r>
              <a:rPr sz="1400" b="0">
                <a:solidFill>
                  <a:srgbClr val="0F172A"/>
                </a:solidFill>
                <a:latin typeface="Segoe UI"/>
              </a:rPr>
              <a:t>• HPA: kubectl apply -f hpa.yaml con targetCPUUtilizationPercentage: 50.</a:t>
            </a:r>
          </a:p>
          <a:p>
            <a:pPr>
              <a:spcAft>
                <a:spcPts val="800"/>
              </a:spcAft>
              <a:defRPr sz="1400" b="0">
                <a:solidFill>
                  <a:srgbClr val="0F172A"/>
                </a:solidFill>
                <a:latin typeface="Segoe UI"/>
              </a:defRPr>
            </a:pPr>
            <a:r>
              <a:rPr sz="1400" b="0">
                <a:solidFill>
                  <a:srgbClr val="0F172A"/>
                </a:solidFill>
                <a:latin typeface="Segoe UI"/>
              </a:rPr>
              <a:t>• Rolling update + rollback: cambiá la imagen a iris-api:v2 (versión rota a propósito).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Manifests YAML para Deployment (3 réplicas, probes, resources), Service (ClusterIP), HPA (CPU 50%, min 3 max 10), Ingress.</a:t>
            </a:r>
          </a:p>
          <a:p>
            <a:pPr>
              <a:spcAft>
                <a:spcPts val="800"/>
              </a:spcAft>
              <a:defRPr sz="1400" b="0">
                <a:solidFill>
                  <a:srgbClr val="0F172A"/>
                </a:solidFill>
                <a:latin typeface="Segoe UI"/>
              </a:defRPr>
            </a:pPr>
            <a:r>
              <a:rPr sz="1400" b="0">
                <a:solidFill>
                  <a:srgbClr val="0F172A"/>
                </a:solidFill>
                <a:latin typeface="Segoe UI"/>
              </a:rPr>
              <a:t>• Imagen pusheada a un registry (Docker Hub o ECR).</a:t>
            </a:r>
          </a:p>
          <a:p>
            <a:pPr>
              <a:spcAft>
                <a:spcPts val="800"/>
              </a:spcAft>
              <a:defRPr sz="1400" b="0">
                <a:solidFill>
                  <a:srgbClr val="0F172A"/>
                </a:solidFill>
                <a:latin typeface="Segoe UI"/>
              </a:defRPr>
            </a:pPr>
            <a:r>
              <a:rPr sz="1400" b="0">
                <a:solidFill>
                  <a:srgbClr val="0F172A"/>
                </a:solidFill>
                <a:latin typeface="Segoe UI"/>
              </a:rPr>
              <a:t>• Loadtest que dispara HPA y demostrar escalado en logs/screenshots.</a:t>
            </a:r>
          </a:p>
          <a:p>
            <a:pPr>
              <a:spcAft>
                <a:spcPts val="800"/>
              </a:spcAft>
              <a:defRPr sz="1400" b="0">
                <a:solidFill>
                  <a:srgbClr val="0F172A"/>
                </a:solidFill>
                <a:latin typeface="Segoe UI"/>
              </a:defRPr>
            </a:pPr>
            <a:r>
              <a:rPr sz="1400" b="0">
                <a:solidFill>
                  <a:srgbClr val="0F172A"/>
                </a:solidFill>
                <a:latin typeface="Segoe UI"/>
              </a:rPr>
              <a:t>• Rolling update a una versión v2 exitosa, después rollback con kubectl rollout undo.</a:t>
            </a:r>
          </a:p>
          <a:p>
            <a:pPr>
              <a:spcAft>
                <a:spcPts val="800"/>
              </a:spcAft>
              <a:defRPr sz="1400" b="0">
                <a:solidFill>
                  <a:srgbClr val="0F172A"/>
                </a:solidFill>
                <a:latin typeface="Segoe UI"/>
              </a:defRPr>
            </a:pPr>
            <a:r>
              <a:rPr sz="1400" b="0">
                <a:solidFill>
                  <a:srgbClr val="0F172A"/>
                </a:solidFill>
                <a:latin typeface="Segoe UI"/>
              </a:rPr>
              <a:t>• README con comandos kubectl apply, port-forward, troubleshooting con describe.</a:t>
            </a:r>
          </a:p>
        </p:txBody>
      </p:sp>
    </p:spTree>
  </p:cSld>
  <p:clrMapOvr>
    <a:masterClrMapping/>
  </p:clrMapOvr>
</p:sld>
</file>

<file path=ppt/slides/slide100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201 — Serverless ML: AWS Lambda, GCP Cloud Functions</a:t>
            </a:r>
          </a:p>
        </p:txBody>
      </p:sp>
    </p:spTree>
  </p:cSld>
  <p:clrMapOvr>
    <a:masterClrMapping/>
  </p:clrMapOvr>
</p:sld>
</file>

<file path=ppt/slides/slide10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201 — Serverless ML: AWS Lambda, GCP Cloud Functions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docs Lambda container images + Cloud Functions 2nd gen.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Desplegar un modelo como función serverless que escala de 0 a N sin gestionar servidores. Decidir cuándo serverless gana (tráfico bursty, batch chico, no podés mantener infra) y cuándo pierde (cold start crítico, modelo &gt;1 GB, latencia &lt;50 ms requerida).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Empaquetar un modelo sklearn/XGBoost como Lambda Container Image (hasta 10 GB) o Cloud Function 2nd gen (build automático con Buildpacks).</a:t>
            </a:r>
          </a:p>
          <a:p>
            <a:pPr>
              <a:spcAft>
                <a:spcPts val="800"/>
              </a:spcAft>
              <a:defRPr sz="1400" b="0">
                <a:solidFill>
                  <a:srgbClr val="0F172A"/>
                </a:solidFill>
                <a:latin typeface="Segoe UI"/>
              </a:defRPr>
            </a:pPr>
            <a:r>
              <a:rPr sz="1400" b="0">
                <a:solidFill>
                  <a:srgbClr val="0F172A"/>
                </a:solidFill>
                <a:latin typeface="Segoe UI"/>
              </a:rPr>
              <a:t>• Mitigar cold starts con: provisioned concurrency (Lambda), min-instances=1 (Cloud Functions), o snapshot-based init (SnapStart).</a:t>
            </a:r>
          </a:p>
          <a:p>
            <a:pPr>
              <a:spcAft>
                <a:spcPts val="800"/>
              </a:spcAft>
              <a:defRPr sz="1400" b="0">
                <a:solidFill>
                  <a:srgbClr val="0F172A"/>
                </a:solidFill>
                <a:latin typeface="Segoe UI"/>
              </a:defRPr>
            </a:pPr>
            <a:r>
              <a:rPr sz="1400" b="0">
                <a:solidFill>
                  <a:srgbClr val="0F172A"/>
                </a:solidFill>
                <a:latin typeface="Segoe UI"/>
              </a:rPr>
              <a:t>• Configurar API Gateway o HTTP trigger para exponer la función como REST.</a:t>
            </a:r>
          </a:p>
          <a:p>
            <a:pPr>
              <a:spcAft>
                <a:spcPts val="800"/>
              </a:spcAft>
              <a:defRPr sz="1400" b="0">
                <a:solidFill>
                  <a:srgbClr val="0F172A"/>
                </a:solidFill>
                <a:latin typeface="Segoe UI"/>
              </a:defRPr>
            </a:pPr>
            <a:r>
              <a:rPr sz="1400" b="0">
                <a:solidFill>
                  <a:srgbClr val="0F172A"/>
                </a:solidFill>
                <a:latin typeface="Segoe UI"/>
              </a:rPr>
              <a:t>• Calcular costo: $/M invocations × duration × memory, vs un pod K8s 24/7.</a:t>
            </a:r>
          </a:p>
          <a:p>
            <a:pPr>
              <a:spcAft>
                <a:spcPts val="800"/>
              </a:spcAft>
              <a:defRPr sz="1400" b="0">
                <a:solidFill>
                  <a:srgbClr val="0F172A"/>
                </a:solidFill>
                <a:latin typeface="Segoe UI"/>
              </a:defRPr>
            </a:pPr>
            <a:r>
              <a:rPr sz="1400" b="0">
                <a:solidFill>
                  <a:srgbClr val="0F172A"/>
                </a:solidFill>
                <a:latin typeface="Segoe UI"/>
              </a:rPr>
              <a:t>• Reconocer límites: timeout 15 min (Lambda), payload 6 MB sync / 256 KB async, disco efímero 512 MB /tmp (10 GB con ephemeral-storage).</a:t>
            </a:r>
          </a:p>
        </p:txBody>
      </p:sp>
    </p:spTree>
  </p:cSld>
  <p:clrMapOvr>
    <a:masterClrMapping/>
  </p:clrMapOvr>
</p:sld>
</file>

<file path=ppt/slides/slide10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201 — Serverless ML: AWS Lambda, GCP Cloud Functions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Modelo de ejecución: scale-to-zero, request-per-instance</a:t>
            </a:r>
          </a:p>
          <a:p>
            <a:pPr>
              <a:spcAft>
                <a:spcPts val="1000"/>
              </a:spcAft>
              <a:defRPr sz="1600" b="0">
                <a:solidFill>
                  <a:srgbClr val="0F172A"/>
                </a:solidFill>
                <a:latin typeface="Segoe UI"/>
              </a:defRPr>
            </a:pPr>
            <a:r>
              <a:rPr sz="1600" b="0">
                <a:solidFill>
                  <a:srgbClr val="0F172A"/>
                </a:solidFill>
                <a:latin typeface="Segoe UI"/>
              </a:rPr>
              <a:t>• Cold start vs warm</a:t>
            </a:r>
          </a:p>
          <a:p>
            <a:pPr>
              <a:spcAft>
                <a:spcPts val="1000"/>
              </a:spcAft>
              <a:defRPr sz="1600" b="0">
                <a:solidFill>
                  <a:srgbClr val="0F172A"/>
                </a:solidFill>
                <a:latin typeface="Segoe UI"/>
              </a:defRPr>
            </a:pPr>
            <a:r>
              <a:rPr sz="1600" b="0">
                <a:solidFill>
                  <a:srgbClr val="0F172A"/>
                </a:solidFill>
                <a:latin typeface="Segoe UI"/>
              </a:rPr>
              <a:t>• Package formats: ZIP (≤250 MB) vs Container (≤10 GB)</a:t>
            </a:r>
          </a:p>
          <a:p>
            <a:pPr>
              <a:spcAft>
                <a:spcPts val="1000"/>
              </a:spcAft>
              <a:defRPr sz="1600" b="0">
                <a:solidFill>
                  <a:srgbClr val="0F172A"/>
                </a:solidFill>
                <a:latin typeface="Segoe UI"/>
              </a:defRPr>
            </a:pPr>
            <a:r>
              <a:rPr sz="1600" b="0">
                <a:solidFill>
                  <a:srgbClr val="0F172A"/>
                </a:solidFill>
                <a:latin typeface="Segoe UI"/>
              </a:rPr>
              <a:t>• Cost model: invocations + GB-seconds</a:t>
            </a:r>
          </a:p>
          <a:p>
            <a:pPr>
              <a:spcAft>
                <a:spcPts val="1000"/>
              </a:spcAft>
              <a:defRPr sz="1600" b="0">
                <a:solidFill>
                  <a:srgbClr val="0F172A"/>
                </a:solidFill>
                <a:latin typeface="Segoe UI"/>
              </a:defRPr>
            </a:pPr>
            <a:r>
              <a:rPr sz="1600" b="0">
                <a:solidFill>
                  <a:srgbClr val="0F172A"/>
                </a:solidFill>
                <a:latin typeface="Segoe UI"/>
              </a:rPr>
              <a:t>• Provisioned concurrency / min-instances</a:t>
            </a:r>
          </a:p>
          <a:p>
            <a:pPr>
              <a:spcAft>
                <a:spcPts val="1000"/>
              </a:spcAft>
              <a:defRPr sz="1600" b="0">
                <a:solidFill>
                  <a:srgbClr val="0F172A"/>
                </a:solidFill>
                <a:latin typeface="Segoe UI"/>
              </a:defRPr>
            </a:pPr>
            <a:r>
              <a:rPr sz="1600" b="0">
                <a:solidFill>
                  <a:srgbClr val="0F172A"/>
                </a:solidFill>
                <a:latin typeface="Segoe UI"/>
              </a:rPr>
              <a:t>• Cuándo NO usar serverless</a:t>
            </a:r>
          </a:p>
        </p:txBody>
      </p:sp>
    </p:spTree>
  </p:cSld>
  <p:clrMapOvr>
    <a:masterClrMapping/>
  </p:clrMapOvr>
</p:sld>
</file>

<file path=ppt/slides/slide10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201 — Serverless ML: AWS Lambda, GCP Cloud Functions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lambda_dockerfile = '''\</a:t>
            </a:r>
          </a:p>
          <a:p>
            <a:pPr>
              <a:defRPr sz="1200" b="0">
                <a:solidFill>
                  <a:srgbClr val="F8FAFC"/>
                </a:solidFill>
                <a:latin typeface="Courier New"/>
              </a:defRPr>
            </a:pPr>
            <a:r>
              <a:rPr sz="1200" b="0">
                <a:solidFill>
                  <a:srgbClr val="F8FAFC"/>
                </a:solidFill>
                <a:latin typeface="Courier New"/>
              </a:rPr>
              <a:t>FROM public.ecr.aws/lambda/python:3.12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COPY requirements.txt ./</a:t>
            </a:r>
          </a:p>
          <a:p>
            <a:pPr>
              <a:defRPr sz="1200" b="0">
                <a:solidFill>
                  <a:srgbClr val="F8FAFC"/>
                </a:solidFill>
                <a:latin typeface="Courier New"/>
              </a:defRPr>
            </a:pPr>
            <a:r>
              <a:rPr sz="1200" b="0">
                <a:solidFill>
                  <a:srgbClr val="F8FAFC"/>
                </a:solidFill>
                <a:latin typeface="Courier New"/>
              </a:rPr>
              <a:t>RUN pip install --no-cache-dir -r requirements.txt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COPY app.py model.pkl ./</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CMD ["app.lambda_handler"]</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 Dockerfile (Lambda)')</a:t>
            </a:r>
          </a:p>
          <a:p>
            <a:pPr>
              <a:defRPr sz="1200" b="0">
                <a:solidFill>
                  <a:srgbClr val="F8FAFC"/>
                </a:solidFill>
                <a:latin typeface="Courier New"/>
              </a:defRPr>
            </a:pPr>
            <a:r>
              <a:rPr sz="1200" b="0">
                <a:solidFill>
                  <a:srgbClr val="F8FAFC"/>
                </a:solidFill>
                <a:latin typeface="Courier New"/>
              </a:rPr>
              <a:t>print(lambda_dockerfile)</a:t>
            </a:r>
          </a:p>
        </p:txBody>
      </p:sp>
    </p:spTree>
  </p:cSld>
  <p:clrMapOvr>
    <a:masterClrMapping/>
  </p:clrMapOvr>
</p:sld>
</file>

<file path=ppt/slides/slide10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201 — Serverless ML: AWS Lambda, GCP Cloud Functions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Lambda con container: buildeá un Dockerfile basado en public.ecr.aws/lambda/python:3.12, copiá app.py con lambda_handler(event, context), y model.pkl.</a:t>
            </a:r>
          </a:p>
          <a:p>
            <a:pPr>
              <a:spcAft>
                <a:spcPts val="800"/>
              </a:spcAft>
              <a:defRPr sz="1400" b="0">
                <a:solidFill>
                  <a:srgbClr val="0F172A"/>
                </a:solidFill>
                <a:latin typeface="Segoe UI"/>
              </a:defRPr>
            </a:pPr>
            <a:r>
              <a:rPr sz="1400" b="0">
                <a:solidFill>
                  <a:srgbClr val="0F172A"/>
                </a:solidFill>
                <a:latin typeface="Segoe UI"/>
              </a:rPr>
              <a:t>• API Gateway: creá una API HTTP y conectala a la Lambda.</a:t>
            </a:r>
          </a:p>
          <a:p>
            <a:pPr>
              <a:spcAft>
                <a:spcPts val="800"/>
              </a:spcAft>
              <a:defRPr sz="1400" b="0">
                <a:solidFill>
                  <a:srgbClr val="0F172A"/>
                </a:solidFill>
                <a:latin typeface="Segoe UI"/>
              </a:defRPr>
            </a:pPr>
            <a:r>
              <a:rPr sz="1400" b="0">
                <a:solidFill>
                  <a:srgbClr val="0F172A"/>
                </a:solidFill>
                <a:latin typeface="Segoe UI"/>
              </a:rPr>
              <a:t>• Provisioned Concurrency: configurá provisioned-concurrency=1 en la Lambda.</a:t>
            </a:r>
          </a:p>
          <a:p>
            <a:pPr>
              <a:spcAft>
                <a:spcPts val="800"/>
              </a:spcAft>
              <a:defRPr sz="1400" b="0">
                <a:solidFill>
                  <a:srgbClr val="0F172A"/>
                </a:solidFill>
                <a:latin typeface="Segoe UI"/>
              </a:defRPr>
            </a:pPr>
            <a:r>
              <a:rPr sz="1400" b="0">
                <a:solidFill>
                  <a:srgbClr val="0F172A"/>
                </a:solidFill>
                <a:latin typeface="Segoe UI"/>
              </a:rPr>
              <a:t>• Cloud Functions equivalent: gcloud functions deploy iris --gen2 --runtime=python312 --trigger-http --source=.</a:t>
            </a:r>
          </a:p>
          <a:p>
            <a:pPr>
              <a:spcAft>
                <a:spcPts val="800"/>
              </a:spcAft>
              <a:defRPr sz="1400" b="0">
                <a:solidFill>
                  <a:srgbClr val="0F172A"/>
                </a:solidFill>
                <a:latin typeface="Segoe UI"/>
              </a:defRPr>
            </a:pPr>
            <a:r>
              <a:rPr sz="1400" b="0">
                <a:solidFill>
                  <a:srgbClr val="0F172A"/>
                </a:solidFill>
                <a:latin typeface="Segoe UI"/>
              </a:rPr>
              <a:t>• Cost calc: asumí 100 req/s sostenido, modelo en RAM 512 MB, 80 ms p99.</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Lambda function (container image) que sirve predict con cold start &lt;3 s y warm &lt;80 ms.</a:t>
            </a:r>
          </a:p>
          <a:p>
            <a:pPr>
              <a:spcAft>
                <a:spcPts val="800"/>
              </a:spcAft>
              <a:defRPr sz="1400" b="0">
                <a:solidFill>
                  <a:srgbClr val="0F172A"/>
                </a:solidFill>
                <a:latin typeface="Segoe UI"/>
              </a:defRPr>
            </a:pPr>
            <a:r>
              <a:rPr sz="1400" b="0">
                <a:solidFill>
                  <a:srgbClr val="0F172A"/>
                </a:solidFill>
                <a:latin typeface="Segoe UI"/>
              </a:rPr>
              <a:t>• API Gateway HTTP exponiendo la Lambda.</a:t>
            </a:r>
          </a:p>
          <a:p>
            <a:pPr>
              <a:spcAft>
                <a:spcPts val="800"/>
              </a:spcAft>
              <a:defRPr sz="1400" b="0">
                <a:solidFill>
                  <a:srgbClr val="0F172A"/>
                </a:solidFill>
                <a:latin typeface="Segoe UI"/>
              </a:defRPr>
            </a:pPr>
            <a:r>
              <a:rPr sz="1400" b="0">
                <a:solidFill>
                  <a:srgbClr val="0F172A"/>
                </a:solidFill>
                <a:latin typeface="Segoe UI"/>
              </a:rPr>
              <a:t>• CloudWatch alarm que dispara si Errors &gt; 5 en 5 min, o Duration P99 &gt; 1000 ms.</a:t>
            </a:r>
          </a:p>
          <a:p>
            <a:pPr>
              <a:spcAft>
                <a:spcPts val="800"/>
              </a:spcAft>
              <a:defRPr sz="1400" b="0">
                <a:solidFill>
                  <a:srgbClr val="0F172A"/>
                </a:solidFill>
                <a:latin typeface="Segoe UI"/>
              </a:defRPr>
            </a:pPr>
            <a:r>
              <a:rPr sz="1400" b="0">
                <a:solidFill>
                  <a:srgbClr val="0F172A"/>
                </a:solidFill>
                <a:latin typeface="Segoe UI"/>
              </a:rPr>
              <a:t>• Script python cost_analysis.py que dado req_per_second_mean, req_size, mem_mb, duration_ms calcula $/mes en (a) Lambda on-demand, (b) Lambda con PC=2, (c) ECS Fargate equivalente, (d) K8s con 3 pods t3.medium.</a:t>
            </a:r>
          </a:p>
          <a:p>
            <a:pPr>
              <a:spcAft>
                <a:spcPts val="800"/>
              </a:spcAft>
              <a:defRPr sz="1400" b="0">
                <a:solidFill>
                  <a:srgbClr val="0F172A"/>
                </a:solidFill>
                <a:latin typeface="Segoe UI"/>
              </a:defRPr>
            </a:pPr>
            <a:r>
              <a:rPr sz="1400" b="0">
                <a:solidFill>
                  <a:srgbClr val="0F172A"/>
                </a:solidFill>
                <a:latin typeface="Segoe UI"/>
              </a:rPr>
              <a:t>• Recomendación escrita: para tu workload, qué opción elegir y por qué.</a:t>
            </a:r>
          </a:p>
        </p:txBody>
      </p:sp>
    </p:spTree>
  </p:cSld>
  <p:clrMapOvr>
    <a:masterClrMapping/>
  </p:clrMapOvr>
</p:sld>
</file>

<file path=ppt/slides/slide10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202 — Monitoreo: data drift, model drift, alertas</a:t>
            </a:r>
          </a:p>
        </p:txBody>
      </p:sp>
    </p:spTree>
  </p:cSld>
  <p:clrMapOvr>
    <a:masterClrMapping/>
  </p:clrMapOvr>
</p:sld>
</file>

<file path=ppt/slides/slide10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202 — Monitoreo: data drift, model drift, alertas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8 + Evidently AI docs + NannyML + Gama et al., A Survey on Concept Drift Adaptation (ACM, 2014).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Detectar antes que el negocio: (a) data drift (la distribución de features cambió), (b) prediction drift (la distribución de predicciones cambió), (c) concept drift (la relación X→y cambió). Configurar alertas que avisen antes de que la métrica de negocio caiga, no después.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data drift (P(X) cambia), prediction drift (P(ŷ) cambia), concept drift (P(y|X) cambia) y elegir el test correcto para cada uno.</a:t>
            </a:r>
          </a:p>
          <a:p>
            <a:pPr>
              <a:spcAft>
                <a:spcPts val="800"/>
              </a:spcAft>
              <a:defRPr sz="1400" b="0">
                <a:solidFill>
                  <a:srgbClr val="0F172A"/>
                </a:solidFill>
                <a:latin typeface="Segoe UI"/>
              </a:defRPr>
            </a:pPr>
            <a:r>
              <a:rPr sz="1400" b="0">
                <a:solidFill>
                  <a:srgbClr val="0F172A"/>
                </a:solidFill>
                <a:latin typeface="Segoe UI"/>
              </a:rPr>
              <a:t>• Detectar drift con tests estadísticos: PSI (Population Stability Index), K-S (continuas), chi-cuadrado (categóricas), Wasserstein (más sensible que K-S en colas).</a:t>
            </a:r>
          </a:p>
          <a:p>
            <a:pPr>
              <a:spcAft>
                <a:spcPts val="800"/>
              </a:spcAft>
              <a:defRPr sz="1400" b="0">
                <a:solidFill>
                  <a:srgbClr val="0F172A"/>
                </a:solidFill>
                <a:latin typeface="Segoe UI"/>
              </a:defRPr>
            </a:pPr>
            <a:r>
              <a:rPr sz="1400" b="0">
                <a:solidFill>
                  <a:srgbClr val="0F172A"/>
                </a:solidFill>
                <a:latin typeface="Segoe UI"/>
              </a:rPr>
              <a:t>• Usar Evidently AI para generar reportes HTML con todos los tests + visualizaciones, y NannyML para estimar performance sin labels en producción (CBPE).</a:t>
            </a:r>
          </a:p>
          <a:p>
            <a:pPr>
              <a:spcAft>
                <a:spcPts val="800"/>
              </a:spcAft>
              <a:defRPr sz="1400" b="0">
                <a:solidFill>
                  <a:srgbClr val="0F172A"/>
                </a:solidFill>
                <a:latin typeface="Segoe UI"/>
              </a:defRPr>
            </a:pPr>
            <a:r>
              <a:rPr sz="1400" b="0">
                <a:solidFill>
                  <a:srgbClr val="0F172A"/>
                </a:solidFill>
                <a:latin typeface="Segoe UI"/>
              </a:rPr>
              <a:t>• Configurar alertas en Grafana / CloudWatch / Slack vía webhook cuando el drift score supera el umbral.</a:t>
            </a:r>
          </a:p>
          <a:p>
            <a:pPr>
              <a:spcAft>
                <a:spcPts val="800"/>
              </a:spcAft>
              <a:defRPr sz="1400" b="0">
                <a:solidFill>
                  <a:srgbClr val="0F172A"/>
                </a:solidFill>
                <a:latin typeface="Segoe UI"/>
              </a:defRPr>
            </a:pPr>
            <a:r>
              <a:rPr sz="1400" b="0">
                <a:solidFill>
                  <a:srgbClr val="0F172A"/>
                </a:solidFill>
                <a:latin typeface="Segoe UI"/>
              </a:rPr>
              <a:t>• Reconocer cuándo el "drift" es ruido (re-test con bonferroni) vs señal (acción).</a:t>
            </a:r>
          </a:p>
        </p:txBody>
      </p:sp>
    </p:spTree>
  </p:cSld>
  <p:clrMapOvr>
    <a:masterClrMapping/>
  </p:clrMapOvr>
</p:sld>
</file>

<file path=ppt/slides/slide10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202 — Monitoreo: data drift, model drift, alertas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3 tipos de drift y por qué importan distinto</a:t>
            </a:r>
          </a:p>
          <a:p>
            <a:pPr>
              <a:spcAft>
                <a:spcPts val="1000"/>
              </a:spcAft>
              <a:defRPr sz="1600" b="0">
                <a:solidFill>
                  <a:srgbClr val="0F172A"/>
                </a:solidFill>
                <a:latin typeface="Segoe UI"/>
              </a:defRPr>
            </a:pPr>
            <a:r>
              <a:rPr sz="1600" b="0">
                <a:solidFill>
                  <a:srgbClr val="0F172A"/>
                </a:solidFill>
                <a:latin typeface="Segoe UI"/>
              </a:rPr>
              <a:t>• PSI: umbral 0.1 / 0.2</a:t>
            </a:r>
          </a:p>
          <a:p>
            <a:pPr>
              <a:spcAft>
                <a:spcPts val="1000"/>
              </a:spcAft>
              <a:defRPr sz="1600" b="0">
                <a:solidFill>
                  <a:srgbClr val="0F172A"/>
                </a:solidFill>
                <a:latin typeface="Segoe UI"/>
              </a:defRPr>
            </a:pPr>
            <a:r>
              <a:rPr sz="1600" b="0">
                <a:solidFill>
                  <a:srgbClr val="0F172A"/>
                </a:solidFill>
                <a:latin typeface="Segoe UI"/>
              </a:rPr>
              <a:t>• K-S, chi-cuadrado, Wasserstein</a:t>
            </a:r>
          </a:p>
          <a:p>
            <a:pPr>
              <a:spcAft>
                <a:spcPts val="1000"/>
              </a:spcAft>
              <a:defRPr sz="1600" b="0">
                <a:solidFill>
                  <a:srgbClr val="0F172A"/>
                </a:solidFill>
                <a:latin typeface="Segoe UI"/>
              </a:defRPr>
            </a:pPr>
            <a:r>
              <a:rPr sz="1600" b="0">
                <a:solidFill>
                  <a:srgbClr val="0F172A"/>
                </a:solidFill>
                <a:latin typeface="Segoe UI"/>
              </a:rPr>
              <a:t>• Performance estimation sin labels (CBPE)</a:t>
            </a:r>
          </a:p>
          <a:p>
            <a:pPr>
              <a:spcAft>
                <a:spcPts val="1000"/>
              </a:spcAft>
              <a:defRPr sz="1600" b="0">
                <a:solidFill>
                  <a:srgbClr val="0F172A"/>
                </a:solidFill>
                <a:latin typeface="Segoe UI"/>
              </a:defRPr>
            </a:pPr>
            <a:r>
              <a:rPr sz="1600" b="0">
                <a:solidFill>
                  <a:srgbClr val="0F172A"/>
                </a:solidFill>
                <a:latin typeface="Segoe UI"/>
              </a:rPr>
              <a:t>• Reference window vs current window</a:t>
            </a:r>
          </a:p>
          <a:p>
            <a:pPr>
              <a:spcAft>
                <a:spcPts val="1000"/>
              </a:spcAft>
              <a:defRPr sz="1600" b="0">
                <a:solidFill>
                  <a:srgbClr val="0F172A"/>
                </a:solidFill>
                <a:latin typeface="Segoe UI"/>
              </a:defRPr>
            </a:pPr>
            <a:r>
              <a:rPr sz="1600" b="0">
                <a:solidFill>
                  <a:srgbClr val="0F172A"/>
                </a:solidFill>
                <a:latin typeface="Segoe UI"/>
              </a:rPr>
              <a:t>• Alertas: umbral + cooldown + canal</a:t>
            </a:r>
          </a:p>
        </p:txBody>
      </p:sp>
    </p:spTree>
  </p:cSld>
  <p:clrMapOvr>
    <a:masterClrMapping/>
  </p:clrMapOvr>
</p:sld>
</file>

<file path=ppt/slides/slide10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202 — Monitoreo: data drift, model drift, alertas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fetch_california_housing(return_X_y=True, as_frame=True)</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Reference = primer 60%, Current = último 40% con shift</a:t>
            </a:r>
          </a:p>
          <a:p>
            <a:pPr>
              <a:defRPr sz="1200" b="0">
                <a:solidFill>
                  <a:srgbClr val="F8FAFC"/>
                </a:solidFill>
                <a:latin typeface="Courier New"/>
              </a:defRPr>
            </a:pPr>
            <a:r>
              <a:rPr sz="1200" b="0">
                <a:solidFill>
                  <a:srgbClr val="F8FAFC"/>
                </a:solidFill>
                <a:latin typeface="Courier New"/>
              </a:rPr>
              <a:t>n = len(X)</a:t>
            </a:r>
          </a:p>
          <a:p>
            <a:pPr>
              <a:defRPr sz="1200" b="0">
                <a:solidFill>
                  <a:srgbClr val="F8FAFC"/>
                </a:solidFill>
                <a:latin typeface="Courier New"/>
              </a:defRPr>
            </a:pPr>
            <a:r>
              <a:rPr sz="1200" b="0">
                <a:solidFill>
                  <a:srgbClr val="F8FAFC"/>
                </a:solidFill>
                <a:latin typeface="Courier New"/>
              </a:rPr>
              <a:t>ref = X.iloc[:int(n * 0.6)].copy()</a:t>
            </a:r>
          </a:p>
          <a:p>
            <a:pPr>
              <a:defRPr sz="1200" b="0">
                <a:solidFill>
                  <a:srgbClr val="F8FAFC"/>
                </a:solidFill>
                <a:latin typeface="Courier New"/>
              </a:defRPr>
            </a:pPr>
            <a:r>
              <a:rPr sz="1200" b="0">
                <a:solidFill>
                  <a:srgbClr val="F8FAFC"/>
                </a:solidFill>
                <a:latin typeface="Courier New"/>
              </a:rPr>
              <a:t>cur = X.iloc[int(n * 0.6):].copy()</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Shift sintético: 'MedInc' inflación + 'HouseAge' segmento nuevo</a:t>
            </a:r>
          </a:p>
          <a:p>
            <a:pPr>
              <a:defRPr sz="1200" b="0">
                <a:solidFill>
                  <a:srgbClr val="F8FAFC"/>
                </a:solidFill>
                <a:latin typeface="Courier New"/>
              </a:defRPr>
            </a:pPr>
            <a:r>
              <a:rPr sz="1200" b="0">
                <a:solidFill>
                  <a:srgbClr val="F8FAFC"/>
                </a:solidFill>
                <a:latin typeface="Courier New"/>
              </a:rPr>
              <a:t>cur['MedInc'] = cur['MedInc'] * 1.5</a:t>
            </a:r>
          </a:p>
          <a:p>
            <a:pPr>
              <a:defRPr sz="1200" b="0">
                <a:solidFill>
                  <a:srgbClr val="F8FAFC"/>
                </a:solidFill>
                <a:latin typeface="Courier New"/>
              </a:defRPr>
            </a:pPr>
            <a:r>
              <a:rPr sz="1200" b="0">
                <a:solidFill>
                  <a:srgbClr val="F8FAFC"/>
                </a:solidFill>
                <a:latin typeface="Courier New"/>
              </a:rPr>
              <a:t>cur = cur[cur['HouseAge'] &gt;= 25]</a:t>
            </a:r>
          </a:p>
          <a:p>
            <a:pPr>
              <a:defRPr sz="1200" b="0">
                <a:solidFill>
                  <a:srgbClr val="F8FAFC"/>
                </a:solidFill>
                <a:latin typeface="Courier New"/>
              </a:defRPr>
            </a:pPr>
            <a:r>
              <a:rPr sz="1200" b="0">
                <a:solidFill>
                  <a:srgbClr val="F8FAFC"/>
                </a:solidFill>
                <a:latin typeface="Courier New"/>
              </a:rPr>
              <a:t>print('ref:', ref.shape, '| cur:', cur.shape)</a:t>
            </a:r>
          </a:p>
        </p:txBody>
      </p:sp>
    </p:spTree>
  </p:cSld>
  <p:clrMapOvr>
    <a:masterClrMapping/>
  </p:clrMapOvr>
</p:sld>
</file>

<file path=ppt/slides/slide10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202 — Monitoreo: data drift, model drift, alertas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PSI manual: bineá MedInc en 10 deciles (con bordes del reference).</a:t>
            </a:r>
          </a:p>
          <a:p>
            <a:pPr>
              <a:spcAft>
                <a:spcPts val="800"/>
              </a:spcAft>
              <a:defRPr sz="1400" b="0">
                <a:solidFill>
                  <a:srgbClr val="0F172A"/>
                </a:solidFill>
                <a:latin typeface="Segoe UI"/>
              </a:defRPr>
            </a:pPr>
            <a:r>
              <a:rPr sz="1400" b="0">
                <a:solidFill>
                  <a:srgbClr val="0F172A"/>
                </a:solidFill>
                <a:latin typeface="Segoe UI"/>
              </a:rPr>
              <a:t>• K-S vs Wasserstein: agregale outliers a 5% de la muestra de producción (multiplicá esos por 100).</a:t>
            </a:r>
          </a:p>
          <a:p>
            <a:pPr>
              <a:spcAft>
                <a:spcPts val="800"/>
              </a:spcAft>
              <a:defRPr sz="1400" b="0">
                <a:solidFill>
                  <a:srgbClr val="0F172A"/>
                </a:solidFill>
                <a:latin typeface="Segoe UI"/>
              </a:defRPr>
            </a:pPr>
            <a:r>
              <a:rPr sz="1400" b="0">
                <a:solidFill>
                  <a:srgbClr val="0F172A"/>
                </a:solidFill>
                <a:latin typeface="Segoe UI"/>
              </a:rPr>
              <a:t>• Reporte Evidently: Report(metrics=[DataDriftPreset()]) sobre reference vs current.</a:t>
            </a:r>
          </a:p>
          <a:p>
            <a:pPr>
              <a:spcAft>
                <a:spcPts val="800"/>
              </a:spcAft>
              <a:defRPr sz="1400" b="0">
                <a:solidFill>
                  <a:srgbClr val="0F172A"/>
                </a:solidFill>
                <a:latin typeface="Segoe UI"/>
              </a:defRPr>
            </a:pPr>
            <a:r>
              <a:rPr sz="1400" b="0">
                <a:solidFill>
                  <a:srgbClr val="0F172A"/>
                </a:solidFill>
                <a:latin typeface="Segoe UI"/>
              </a:rPr>
              <a:t>• Concept drift sin labels (CBPE): con NannyML, fit el estimador sobre reference + predicciones.</a:t>
            </a:r>
          </a:p>
          <a:p>
            <a:pPr>
              <a:spcAft>
                <a:spcPts val="800"/>
              </a:spcAft>
              <a:defRPr sz="1400" b="0">
                <a:solidFill>
                  <a:srgbClr val="0F172A"/>
                </a:solidFill>
                <a:latin typeface="Segoe UI"/>
              </a:defRPr>
            </a:pPr>
            <a:r>
              <a:rPr sz="1400" b="0">
                <a:solidFill>
                  <a:srgbClr val="0F172A"/>
                </a:solidFill>
                <a:latin typeface="Segoe UI"/>
              </a:rPr>
              <a:t>• Alerta: escribí un script que (a) calcule PSI por feature, (b) si alguna &gt;0.2 emite un POST a un webhook Slack/Discord, (c) usá cooldown de 4 h con un archivo last_alert.txt para evitar spamming.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Job diario (Cron / Airflow / GH Actions schedule) que toma el snapshot de producción de las últimas 24 h y lo compara con el reference window.</a:t>
            </a:r>
          </a:p>
          <a:p>
            <a:pPr>
              <a:spcAft>
                <a:spcPts val="800"/>
              </a:spcAft>
              <a:defRPr sz="1400" b="0">
                <a:solidFill>
                  <a:srgbClr val="0F172A"/>
                </a:solidFill>
                <a:latin typeface="Segoe UI"/>
              </a:defRPr>
            </a:pPr>
            <a:r>
              <a:rPr sz="1400" b="0">
                <a:solidFill>
                  <a:srgbClr val="0F172A"/>
                </a:solidFill>
                <a:latin typeface="Segoe UI"/>
              </a:rPr>
              <a:t>• Reporte Evidently HTML guardado en S3 / GCS (timestamped).</a:t>
            </a:r>
          </a:p>
          <a:p>
            <a:pPr>
              <a:spcAft>
                <a:spcPts val="800"/>
              </a:spcAft>
              <a:defRPr sz="1400" b="0">
                <a:solidFill>
                  <a:srgbClr val="0F172A"/>
                </a:solidFill>
                <a:latin typeface="Segoe UI"/>
              </a:defRPr>
            </a:pPr>
            <a:r>
              <a:rPr sz="1400" b="0">
                <a:solidFill>
                  <a:srgbClr val="0F172A"/>
                </a:solidFill>
                <a:latin typeface="Segoe UI"/>
              </a:rPr>
              <a:t>• PSI dashboard en Grafana o Streamlit que muestra evolución por feature en los últimos 30 días.</a:t>
            </a:r>
          </a:p>
          <a:p>
            <a:pPr>
              <a:spcAft>
                <a:spcPts val="800"/>
              </a:spcAft>
              <a:defRPr sz="1400" b="0">
                <a:solidFill>
                  <a:srgbClr val="0F172A"/>
                </a:solidFill>
                <a:latin typeface="Segoe UI"/>
              </a:defRPr>
            </a:pPr>
            <a:r>
              <a:rPr sz="1400" b="0">
                <a:solidFill>
                  <a:srgbClr val="0F172A"/>
                </a:solidFill>
                <a:latin typeface="Segoe UI"/>
              </a:rPr>
              <a:t>• Alerta a Slack si: PSI &gt; 0.2 en cualquier feature, O drift score global &gt; umbral, O CBPE estimated_accuracy cayó &gt;5 puntos.</a:t>
            </a:r>
          </a:p>
          <a:p>
            <a:pPr>
              <a:spcAft>
                <a:spcPts val="800"/>
              </a:spcAft>
              <a:defRPr sz="1400" b="0">
                <a:solidFill>
                  <a:srgbClr val="0F172A"/>
                </a:solidFill>
                <a:latin typeface="Segoe UI"/>
              </a:defRPr>
            </a:pPr>
            <a:r>
              <a:rPr sz="1400" b="0">
                <a:solidFill>
                  <a:srgbClr val="0F172A"/>
                </a:solidFill>
                <a:latin typeface="Segoe UI"/>
              </a:rPr>
              <a:t>• Runbook (runbook.md) con 3 escenarios: (a) drift de feature legítimo (cambio negocio) → retrainings, (b) drift por bug en pipeline → fix upstream, (c) concept drift → A/B test modelo nuevo.</a:t>
            </a:r>
          </a:p>
        </p:txBody>
      </p:sp>
    </p:spTree>
  </p:cSld>
  <p:clrMapOvr>
    <a:masterClrMapping/>
  </p:clrMapOvr>
</p:sld>
</file>

<file path=ppt/slides/slide10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203 — Reentrenamiento programado</a:t>
            </a:r>
          </a:p>
        </p:txBody>
      </p:sp>
    </p:spTree>
  </p:cSld>
  <p:clrMapOvr>
    <a:masterClrMapping/>
  </p:clrMapOvr>
</p:sld>
</file>

<file path=ppt/slides/slide10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203 — Reentrenamiento programado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9 + Airflow docs + Prefect docs.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Convertir el reentrenamiento en un proceso programado, auditado y reversible: DAG que cada N horas/días corre pull-data → validate → train → evaluate → promote-if-better → notify, con shadow/canary (Clase 204) antes del rollout pleno. Decidir entre schedule fijo, trigger por drift y trigger por degradación según el caso.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Diseñar un DAG (Airflow/Prefect/Dagster) que orqueste el reentrenamiento completo.</a:t>
            </a:r>
          </a:p>
          <a:p>
            <a:pPr>
              <a:spcAft>
                <a:spcPts val="800"/>
              </a:spcAft>
              <a:defRPr sz="1400" b="0">
                <a:solidFill>
                  <a:srgbClr val="0F172A"/>
                </a:solidFill>
                <a:latin typeface="Segoe UI"/>
              </a:defRPr>
            </a:pPr>
            <a:r>
              <a:rPr sz="1400" b="0">
                <a:solidFill>
                  <a:srgbClr val="0F172A"/>
                </a:solidFill>
                <a:latin typeface="Segoe UI"/>
              </a:rPr>
              <a:t>• Implementar el patrón champion-challenger: el modelo Production sigue sirviendo hasta que el challenger demuestra ser mejor en métricas de validación + en shadow.</a:t>
            </a:r>
          </a:p>
          <a:p>
            <a:pPr>
              <a:spcAft>
                <a:spcPts val="800"/>
              </a:spcAft>
              <a:defRPr sz="1400" b="0">
                <a:solidFill>
                  <a:srgbClr val="0F172A"/>
                </a:solidFill>
                <a:latin typeface="Segoe UI"/>
              </a:defRPr>
            </a:pPr>
            <a:r>
              <a:rPr sz="1400" b="0">
                <a:solidFill>
                  <a:srgbClr val="0F172A"/>
                </a:solidFill>
                <a:latin typeface="Segoe UI"/>
              </a:rPr>
              <a:t>• Configurar tres estrategias de trigger: cron(0 2   MON), on_drift &gt; threshold, on_performance_degraded.</a:t>
            </a:r>
          </a:p>
          <a:p>
            <a:pPr>
              <a:spcAft>
                <a:spcPts val="800"/>
              </a:spcAft>
              <a:defRPr sz="1400" b="0">
                <a:solidFill>
                  <a:srgbClr val="0F172A"/>
                </a:solidFill>
                <a:latin typeface="Segoe UI"/>
              </a:defRPr>
            </a:pPr>
            <a:r>
              <a:rPr sz="1400" b="0">
                <a:solidFill>
                  <a:srgbClr val="0F172A"/>
                </a:solidFill>
                <a:latin typeface="Segoe UI"/>
              </a:rPr>
              <a:t>• Garantizar idempotencia (re-runs no duplican datos) y observabilidad (logs estructurados, alertas en fallas).</a:t>
            </a:r>
          </a:p>
          <a:p>
            <a:pPr>
              <a:spcAft>
                <a:spcPts val="800"/>
              </a:spcAft>
              <a:defRPr sz="1400" b="0">
                <a:solidFill>
                  <a:srgbClr val="0F172A"/>
                </a:solidFill>
                <a:latin typeface="Segoe UI"/>
              </a:defRPr>
            </a:pPr>
            <a:r>
              <a:rPr sz="1400" b="0">
                <a:solidFill>
                  <a:srgbClr val="0F172A"/>
                </a:solidFill>
                <a:latin typeface="Segoe UI"/>
              </a:rPr>
              <a:t>• Diferenciar online learning (modelo actualiza con cada nueva muestra) de continual training (re-trainings periódicos).</a:t>
            </a:r>
          </a:p>
        </p:txBody>
      </p:sp>
    </p:spTree>
  </p:cSld>
  <p:clrMapOvr>
    <a:masterClrMapping/>
  </p:clrMapOvr>
</p:sld>
</file>

<file path=ppt/slides/slide10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203 — Reentrenamiento programado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Triggers: schedule vs drift vs degradation</a:t>
            </a:r>
          </a:p>
          <a:p>
            <a:pPr>
              <a:spcAft>
                <a:spcPts val="1000"/>
              </a:spcAft>
              <a:defRPr sz="1600" b="0">
                <a:solidFill>
                  <a:srgbClr val="0F172A"/>
                </a:solidFill>
                <a:latin typeface="Segoe UI"/>
              </a:defRPr>
            </a:pPr>
            <a:r>
              <a:rPr sz="1600" b="0">
                <a:solidFill>
                  <a:srgbClr val="0F172A"/>
                </a:solidFill>
                <a:latin typeface="Segoe UI"/>
              </a:rPr>
              <a:t>• DAG = grafo de tareas con deps</a:t>
            </a:r>
          </a:p>
          <a:p>
            <a:pPr>
              <a:spcAft>
                <a:spcPts val="1000"/>
              </a:spcAft>
              <a:defRPr sz="1600" b="0">
                <a:solidFill>
                  <a:srgbClr val="0F172A"/>
                </a:solidFill>
                <a:latin typeface="Segoe UI"/>
              </a:defRPr>
            </a:pPr>
            <a:r>
              <a:rPr sz="1600" b="0">
                <a:solidFill>
                  <a:srgbClr val="0F172A"/>
                </a:solidFill>
                <a:latin typeface="Segoe UI"/>
              </a:rPr>
              <a:t>• Champion-challenger</a:t>
            </a:r>
          </a:p>
          <a:p>
            <a:pPr>
              <a:spcAft>
                <a:spcPts val="1000"/>
              </a:spcAft>
              <a:defRPr sz="1600" b="0">
                <a:solidFill>
                  <a:srgbClr val="0F172A"/>
                </a:solidFill>
                <a:latin typeface="Segoe UI"/>
              </a:defRPr>
            </a:pPr>
            <a:r>
              <a:rPr sz="1600" b="0">
                <a:solidFill>
                  <a:srgbClr val="0F172A"/>
                </a:solidFill>
                <a:latin typeface="Segoe UI"/>
              </a:rPr>
              <a:t>• Idempotencia</a:t>
            </a:r>
          </a:p>
          <a:p>
            <a:pPr>
              <a:spcAft>
                <a:spcPts val="1000"/>
              </a:spcAft>
              <a:defRPr sz="1600" b="0">
                <a:solidFill>
                  <a:srgbClr val="0F172A"/>
                </a:solidFill>
                <a:latin typeface="Segoe UI"/>
              </a:defRPr>
            </a:pPr>
            <a:r>
              <a:rPr sz="1600" b="0">
                <a:solidFill>
                  <a:srgbClr val="0F172A"/>
                </a:solidFill>
                <a:latin typeface="Segoe UI"/>
              </a:rPr>
              <a:t>• Online vs continual training</a:t>
            </a:r>
          </a:p>
          <a:p>
            <a:pPr>
              <a:spcAft>
                <a:spcPts val="1000"/>
              </a:spcAft>
              <a:defRPr sz="1600" b="0">
                <a:solidFill>
                  <a:srgbClr val="0F172A"/>
                </a:solidFill>
                <a:latin typeface="Segoe UI"/>
              </a:defRPr>
            </a:pPr>
            <a:r>
              <a:rPr sz="1600" b="0">
                <a:solidFill>
                  <a:srgbClr val="0F172A"/>
                </a:solidFill>
                <a:latin typeface="Segoe UI"/>
              </a:rPr>
              <a:t>• Catastrophic forgetting</a:t>
            </a:r>
          </a:p>
        </p:txBody>
      </p:sp>
    </p:spTree>
  </p:cSld>
  <p:clrMapOvr>
    <a:masterClrMapping/>
  </p:clrMapOvr>
</p:sld>
</file>

<file path=ppt/slides/slide10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203 — Reentrenamiento programado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'retrain_demo'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mlflow</a:t>
            </a:r>
          </a:p>
          <a:p>
            <a:pPr>
              <a:defRPr sz="1200" b="0">
                <a:solidFill>
                  <a:srgbClr val="F8FAFC"/>
                </a:solidFill>
                <a:latin typeface="Courier New"/>
              </a:defRPr>
            </a:pPr>
            <a:r>
              <a:rPr sz="1200" b="0">
                <a:solidFill>
                  <a:srgbClr val="F8FAFC"/>
                </a:solidFill>
                <a:latin typeface="Courier New"/>
              </a:rPr>
              <a:t>mlflow.set_tracking_uri(f'file:{WORK}/mlruns')</a:t>
            </a:r>
          </a:p>
          <a:p>
            <a:pPr>
              <a:defRPr sz="1200" b="0">
                <a:solidFill>
                  <a:srgbClr val="F8FAFC"/>
                </a:solidFill>
                <a:latin typeface="Courier New"/>
              </a:defRPr>
            </a:pPr>
            <a:r>
              <a:rPr sz="1200" b="0">
                <a:solidFill>
                  <a:srgbClr val="F8FAFC"/>
                </a:solidFill>
                <a:latin typeface="Courier New"/>
              </a:rPr>
              <a:t>mlflow.set_experiment('continual-training')</a:t>
            </a:r>
          </a:p>
        </p:txBody>
      </p:sp>
    </p:spTree>
  </p:cSld>
  <p:clrMapOvr>
    <a:masterClrMapping/>
  </p:clrMapOvr>
</p:sld>
</file>

<file path=ppt/slides/slide10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203 — Reentrenamiento programado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DAG mínimo (Airflow o Prefect): 5 tareas: pull_data → validate_data → train → evaluate → promote.</a:t>
            </a:r>
          </a:p>
          <a:p>
            <a:pPr>
              <a:spcAft>
                <a:spcPts val="800"/>
              </a:spcAft>
              <a:defRPr sz="1400" b="0">
                <a:solidFill>
                  <a:srgbClr val="0F172A"/>
                </a:solidFill>
                <a:latin typeface="Segoe UI"/>
              </a:defRPr>
            </a:pPr>
            <a:r>
              <a:rPr sz="1400" b="0">
                <a:solidFill>
                  <a:srgbClr val="0F172A"/>
                </a:solidFill>
                <a:latin typeface="Segoe UI"/>
              </a:rPr>
              <a:t>• Champion-challenger: en promote, comparar challenger.f1 vs champion.f1 (leídos de MLflow).</a:t>
            </a:r>
          </a:p>
          <a:p>
            <a:pPr>
              <a:spcAft>
                <a:spcPts val="800"/>
              </a:spcAft>
              <a:defRPr sz="1400" b="0">
                <a:solidFill>
                  <a:srgbClr val="0F172A"/>
                </a:solidFill>
                <a:latin typeface="Segoe UI"/>
              </a:defRPr>
            </a:pPr>
            <a:r>
              <a:rPr sz="1400" b="0">
                <a:solidFill>
                  <a:srgbClr val="0F172A"/>
                </a:solidFill>
                <a:latin typeface="Segoe UI"/>
              </a:rPr>
              <a:t>• Idempotencia: ejecutá el DAG dos veces seguidas para la misma fecha.</a:t>
            </a:r>
          </a:p>
          <a:p>
            <a:pPr>
              <a:spcAft>
                <a:spcPts val="800"/>
              </a:spcAft>
              <a:defRPr sz="1400" b="0">
                <a:solidFill>
                  <a:srgbClr val="0F172A"/>
                </a:solidFill>
                <a:latin typeface="Segoe UI"/>
              </a:defRPr>
            </a:pPr>
            <a:r>
              <a:rPr sz="1400" b="0">
                <a:solidFill>
                  <a:srgbClr val="0F172A"/>
                </a:solidFill>
                <a:latin typeface="Segoe UI"/>
              </a:rPr>
              <a:t>• Trigger por drift: agregá una tarea inicial check_drift que (a) si PSI &gt; 0.2 continúa el DAG, (b) si no, hace raise AirflowSkipException (skipea el resto).</a:t>
            </a:r>
          </a:p>
          <a:p>
            <a:pPr>
              <a:spcAft>
                <a:spcPts val="800"/>
              </a:spcAft>
              <a:defRPr sz="1400" b="0">
                <a:solidFill>
                  <a:srgbClr val="0F172A"/>
                </a:solidFill>
                <a:latin typeface="Segoe UI"/>
              </a:defRPr>
            </a:pPr>
            <a:r>
              <a:rPr sz="1400" b="0">
                <a:solidFill>
                  <a:srgbClr val="0F172A"/>
                </a:solidFill>
                <a:latin typeface="Segoe UI"/>
              </a:rPr>
              <a:t>• Backfill: simulá un bug en la tarea validate_data que ya corrió bien por una semana.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Corre diariamente a las 02:00 UTC.</a:t>
            </a:r>
          </a:p>
          <a:p>
            <a:pPr>
              <a:spcAft>
                <a:spcPts val="800"/>
              </a:spcAft>
              <a:defRPr sz="1400" b="0">
                <a:solidFill>
                  <a:srgbClr val="0F172A"/>
                </a:solidFill>
                <a:latin typeface="Segoe UI"/>
              </a:defRPr>
            </a:pPr>
            <a:r>
              <a:rPr sz="1400" b="0">
                <a:solidFill>
                  <a:srgbClr val="0F172A"/>
                </a:solidFill>
                <a:latin typeface="Segoe UI"/>
              </a:rPr>
              <a:t>• Pull últimos 30 días de data, valida con Great Expectations (Clase 206) — falla con alert si no pasa.</a:t>
            </a:r>
          </a:p>
          <a:p>
            <a:pPr>
              <a:spcAft>
                <a:spcPts val="800"/>
              </a:spcAft>
              <a:defRPr sz="1400" b="0">
                <a:solidFill>
                  <a:srgbClr val="0F172A"/>
                </a:solidFill>
                <a:latin typeface="Segoe UI"/>
              </a:defRPr>
            </a:pPr>
            <a:r>
              <a:rPr sz="1400" b="0">
                <a:solidFill>
                  <a:srgbClr val="0F172A"/>
                </a:solidFill>
                <a:latin typeface="Segoe UI"/>
              </a:rPr>
              <a:t>• Re-entrena, evalúa contra hold-out + slices de fairness, registra en MLflow.</a:t>
            </a:r>
          </a:p>
          <a:p>
            <a:pPr>
              <a:spcAft>
                <a:spcPts val="800"/>
              </a:spcAft>
              <a:defRPr sz="1400" b="0">
                <a:solidFill>
                  <a:srgbClr val="0F172A"/>
                </a:solidFill>
                <a:latin typeface="Segoe UI"/>
              </a:defRPr>
            </a:pPr>
            <a:r>
              <a:rPr sz="1400" b="0">
                <a:solidFill>
                  <a:srgbClr val="0F172A"/>
                </a:solidFill>
                <a:latin typeface="Segoe UI"/>
              </a:rPr>
              <a:t>• Compara contra champion: promueve a @challenger (alias) si métrica supera umbral.</a:t>
            </a:r>
          </a:p>
          <a:p>
            <a:pPr>
              <a:spcAft>
                <a:spcPts val="800"/>
              </a:spcAft>
              <a:defRPr sz="1400" b="0">
                <a:solidFill>
                  <a:srgbClr val="0F172A"/>
                </a:solidFill>
                <a:latin typeface="Segoe UI"/>
              </a:defRPr>
            </a:pPr>
            <a:r>
              <a:rPr sz="1400" b="0">
                <a:solidFill>
                  <a:srgbClr val="0F172A"/>
                </a:solidFill>
                <a:latin typeface="Segoe UI"/>
              </a:rPr>
              <a:t>• Tarea shadow_test que durante 24 h compara predicciones challenger vs champion sobre tráfico real (Clase 204).</a:t>
            </a:r>
          </a:p>
        </p:txBody>
      </p:sp>
    </p:spTree>
  </p:cSld>
  <p:clrMapOvr>
    <a:masterClrMapping/>
  </p:clrMapOvr>
</p:sld>
</file>

<file path=ppt/slides/slide10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204 — Shadow deployment y canary releases</a:t>
            </a:r>
          </a:p>
        </p:txBody>
      </p:sp>
    </p:spTree>
  </p:cSld>
  <p:clrMapOvr>
    <a:masterClrMapping/>
  </p:clrMapOvr>
</p:sld>
</file>

<file path=ppt/slides/slide10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204 — Shadow deployment y canary releases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Fowler, Continuous Delivery + Istio traffic management.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Desplegar un modelo nuevo sin arriesgar producción: primero en shadow (recibe tráfico real pero sus predicciones no se devuelven al usuario), después canary (1% → 5% → 25% → 100% del tráfico). Convertir "creo que esto es mejor" en "lo medí en producción real".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shadow mode: doble call (champion + challenger), respuesta del champion al user, log de ambas para análisis offline.</a:t>
            </a:r>
          </a:p>
          <a:p>
            <a:pPr>
              <a:spcAft>
                <a:spcPts val="800"/>
              </a:spcAft>
              <a:defRPr sz="1400" b="0">
                <a:solidFill>
                  <a:srgbClr val="0F172A"/>
                </a:solidFill>
                <a:latin typeface="Segoe UI"/>
              </a:defRPr>
            </a:pPr>
            <a:r>
              <a:rPr sz="1400" b="0">
                <a:solidFill>
                  <a:srgbClr val="0F172A"/>
                </a:solidFill>
                <a:latin typeface="Segoe UI"/>
              </a:rPr>
              <a:t>• Configurar canary release progresivo (1% → 5% → 25% → 100%) con K8s + Istio, o con feature flag a nivel app (LaunchDarkly, Unleash).</a:t>
            </a:r>
          </a:p>
          <a:p>
            <a:pPr>
              <a:spcAft>
                <a:spcPts val="800"/>
              </a:spcAft>
              <a:defRPr sz="1400" b="0">
                <a:solidFill>
                  <a:srgbClr val="0F172A"/>
                </a:solidFill>
                <a:latin typeface="Segoe UI"/>
              </a:defRPr>
            </a:pPr>
            <a:r>
              <a:rPr sz="1400" b="0">
                <a:solidFill>
                  <a:srgbClr val="0F172A"/>
                </a:solidFill>
                <a:latin typeface="Segoe UI"/>
              </a:rPr>
              <a:t>• Definir rollback automático: si la métrica del canary degrada &gt;X%, volver al 100% champion en &lt;5 min.</a:t>
            </a:r>
          </a:p>
          <a:p>
            <a:pPr>
              <a:spcAft>
                <a:spcPts val="800"/>
              </a:spcAft>
              <a:defRPr sz="1400" b="0">
                <a:solidFill>
                  <a:srgbClr val="0F172A"/>
                </a:solidFill>
                <a:latin typeface="Segoe UI"/>
              </a:defRPr>
            </a:pPr>
            <a:r>
              <a:rPr sz="1400" b="0">
                <a:solidFill>
                  <a:srgbClr val="0F172A"/>
                </a:solidFill>
                <a:latin typeface="Segoe UI"/>
              </a:rPr>
              <a:t>• Implementar A/B test correcto: muestra del mismo segmento, métrica primaria pre-registrada, poder estadístico calculado.</a:t>
            </a:r>
          </a:p>
          <a:p>
            <a:pPr>
              <a:spcAft>
                <a:spcPts val="800"/>
              </a:spcAft>
              <a:defRPr sz="1400" b="0">
                <a:solidFill>
                  <a:srgbClr val="0F172A"/>
                </a:solidFill>
                <a:latin typeface="Segoe UI"/>
              </a:defRPr>
            </a:pPr>
            <a:r>
              <a:rPr sz="1400" b="0">
                <a:solidFill>
                  <a:srgbClr val="0F172A"/>
                </a:solidFill>
                <a:latin typeface="Segoe UI"/>
              </a:rPr>
              <a:t>• Diferenciar shadow (sin riesgo, costo doble) de canary (riesgo limitado, costo nuevo solo).</a:t>
            </a:r>
          </a:p>
        </p:txBody>
      </p:sp>
    </p:spTree>
  </p:cSld>
  <p:clrMapOvr>
    <a:masterClrMapping/>
  </p:clrMapOvr>
</p:sld>
</file>

<file path=ppt/slides/slide10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204 — Shadow deployment y canary releases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Shadow vs canary vs blue-green vs A/B</a:t>
            </a:r>
          </a:p>
          <a:p>
            <a:pPr>
              <a:spcAft>
                <a:spcPts val="1000"/>
              </a:spcAft>
              <a:defRPr sz="1600" b="0">
                <a:solidFill>
                  <a:srgbClr val="0F172A"/>
                </a:solidFill>
                <a:latin typeface="Segoe UI"/>
              </a:defRPr>
            </a:pPr>
            <a:r>
              <a:rPr sz="1600" b="0">
                <a:solidFill>
                  <a:srgbClr val="0F172A"/>
                </a:solidFill>
                <a:latin typeface="Segoe UI"/>
              </a:rPr>
              <a:t>• Implementación: app-level vs infra-level</a:t>
            </a:r>
          </a:p>
          <a:p>
            <a:pPr>
              <a:spcAft>
                <a:spcPts val="1000"/>
              </a:spcAft>
              <a:defRPr sz="1600" b="0">
                <a:solidFill>
                  <a:srgbClr val="0F172A"/>
                </a:solidFill>
                <a:latin typeface="Segoe UI"/>
              </a:defRPr>
            </a:pPr>
            <a:r>
              <a:rPr sz="1600" b="0">
                <a:solidFill>
                  <a:srgbClr val="0F172A"/>
                </a:solidFill>
                <a:latin typeface="Segoe UI"/>
              </a:rPr>
              <a:t>• Métrica de "salud" del canary</a:t>
            </a:r>
          </a:p>
          <a:p>
            <a:pPr>
              <a:spcAft>
                <a:spcPts val="1000"/>
              </a:spcAft>
              <a:defRPr sz="1600" b="0">
                <a:solidFill>
                  <a:srgbClr val="0F172A"/>
                </a:solidFill>
                <a:latin typeface="Segoe UI"/>
              </a:defRPr>
            </a:pPr>
            <a:r>
              <a:rPr sz="1600" b="0">
                <a:solidFill>
                  <a:srgbClr val="0F172A"/>
                </a:solidFill>
                <a:latin typeface="Segoe UI"/>
              </a:rPr>
              <a:t>• Rollback automático</a:t>
            </a:r>
          </a:p>
          <a:p>
            <a:pPr>
              <a:spcAft>
                <a:spcPts val="1000"/>
              </a:spcAft>
              <a:defRPr sz="1600" b="0">
                <a:solidFill>
                  <a:srgbClr val="0F172A"/>
                </a:solidFill>
                <a:latin typeface="Segoe UI"/>
              </a:defRPr>
            </a:pPr>
            <a:r>
              <a:rPr sz="1600" b="0">
                <a:solidFill>
                  <a:srgbClr val="0F172A"/>
                </a:solidFill>
                <a:latin typeface="Segoe UI"/>
              </a:rPr>
              <a:t>• Análisis de shadow data</a:t>
            </a:r>
          </a:p>
          <a:p>
            <a:pPr>
              <a:spcAft>
                <a:spcPts val="1000"/>
              </a:spcAft>
              <a:defRPr sz="1600" b="0">
                <a:solidFill>
                  <a:srgbClr val="0F172A"/>
                </a:solidFill>
                <a:latin typeface="Segoe UI"/>
              </a:defRPr>
            </a:pPr>
            <a:r>
              <a:rPr sz="1600" b="0">
                <a:solidFill>
                  <a:srgbClr val="0F172A"/>
                </a:solidFill>
                <a:latin typeface="Segoe UI"/>
              </a:rPr>
              <a:t>• A/B test riguroso</a:t>
            </a:r>
          </a:p>
        </p:txBody>
      </p:sp>
    </p:spTree>
  </p:cSld>
  <p:clrMapOvr>
    <a:masterClrMapping/>
  </p:clrMapOvr>
</p:sld>
</file>

<file path=ppt/slides/slide10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204 — Shadow deployment y canary releases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hashlib, time, random</a:t>
            </a:r>
          </a:p>
          <a:p>
            <a:pPr>
              <a:defRPr sz="1200" b="0">
                <a:solidFill>
                  <a:srgbClr val="F8FAFC"/>
                </a:solidFill>
                <a:latin typeface="Courier New"/>
              </a:defRPr>
            </a:pPr>
            <a:r>
              <a:rPr sz="1200" b="0">
                <a:solidFill>
                  <a:srgbClr val="F8FAFC"/>
                </a:solidFill>
                <a:latin typeface="Courier New"/>
              </a:rPr>
              <a:t>from collections import defaultdict</a:t>
            </a:r>
          </a:p>
          <a:p>
            <a:pPr>
              <a:defRPr sz="1200" b="0">
                <a:solidFill>
                  <a:srgbClr val="F8FAFC"/>
                </a:solidFill>
                <a:latin typeface="Courier New"/>
              </a:defRPr>
            </a:pPr>
            <a:r>
              <a:rPr sz="1200" b="0">
                <a:solidFill>
                  <a:srgbClr val="F8FAFC"/>
                </a:solidFill>
                <a:latin typeface="Courier New"/>
              </a:rPr>
              <a:t>from sklearn.datasets import load_breast_cancer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load_breast_cancer(return_X_y=True)</a:t>
            </a:r>
          </a:p>
          <a:p>
            <a:pPr>
              <a:defRPr sz="1200" b="0">
                <a:solidFill>
                  <a:srgbClr val="F8FAFC"/>
                </a:solidFill>
                <a:latin typeface="Courier New"/>
              </a:defRPr>
            </a:pPr>
            <a:r>
              <a:rPr sz="1200" b="0">
                <a:solidFill>
                  <a:srgbClr val="F8FAFC"/>
                </a:solidFill>
                <a:latin typeface="Courier New"/>
              </a:rPr>
              <a:t>Xtr, Xte, ytr, yte = train_test_split(X, y, test_size=0.3,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champion = LogisticRegression(max_iter=5000).fit(Xtr, ytr)</a:t>
            </a:r>
          </a:p>
          <a:p>
            <a:pPr>
              <a:defRPr sz="1200" b="0">
                <a:solidFill>
                  <a:srgbClr val="F8FAFC"/>
                </a:solidFill>
                <a:latin typeface="Courier New"/>
              </a:defRPr>
            </a:pPr>
            <a:r>
              <a:rPr sz="1200" b="0">
                <a:solidFill>
                  <a:srgbClr val="F8FAFC"/>
                </a:solidFill>
                <a:latin typeface="Courier New"/>
              </a:rPr>
              <a:t>challenger = RandomForestClassifier(n_estimators=200, random_state=42).fit(Xtr, ytr)</a:t>
            </a:r>
          </a:p>
          <a:p>
            <a:pPr>
              <a:defRPr sz="1200" b="0">
                <a:solidFill>
                  <a:srgbClr val="F8FAFC"/>
                </a:solidFill>
                <a:latin typeface="Courier New"/>
              </a:defRPr>
            </a:pPr>
            <a:r>
              <a:rPr sz="1200" b="0">
                <a:solidFill>
                  <a:srgbClr val="F8FAFC"/>
                </a:solidFill>
                <a:latin typeface="Courier New"/>
              </a:rPr>
              <a:t>print(f'champion offline acc: {accuracy_score(yte, champion.predict(Xte)):.4f}')</a:t>
            </a:r>
          </a:p>
          <a:p>
            <a:pPr>
              <a:defRPr sz="1200" b="0">
                <a:solidFill>
                  <a:srgbClr val="F8FAFC"/>
                </a:solidFill>
                <a:latin typeface="Courier New"/>
              </a:defRPr>
            </a:pPr>
            <a:r>
              <a:rPr sz="1200" b="0">
                <a:solidFill>
                  <a:srgbClr val="F8FAFC"/>
                </a:solidFill>
                <a:latin typeface="Courier New"/>
              </a:rPr>
              <a:t>print(f'challenger offline acc: {accuracy_score(yte, challenger.predict(Xte)):.4f}')</a:t>
            </a:r>
          </a:p>
        </p:txBody>
      </p:sp>
    </p:spTree>
  </p:cSld>
  <p:clrMapOvr>
    <a:masterClrMapping/>
  </p:clrMapOvr>
</p:sld>
</file>

<file path=ppt/slides/slide10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204 — Shadow deployment y canary releases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Shadow en proceso: en el FastAPI de Clase 199, agregá la lógica: cargá model_champion y model_challenger.</a:t>
            </a:r>
          </a:p>
          <a:p>
            <a:pPr>
              <a:spcAft>
                <a:spcPts val="800"/>
              </a:spcAft>
              <a:defRPr sz="1400" b="0">
                <a:solidFill>
                  <a:srgbClr val="0F172A"/>
                </a:solidFill>
                <a:latin typeface="Segoe UI"/>
              </a:defRPr>
            </a:pPr>
            <a:r>
              <a:rPr sz="1400" b="0">
                <a:solidFill>
                  <a:srgbClr val="0F172A"/>
                </a:solidFill>
                <a:latin typeface="Segoe UI"/>
              </a:rPr>
              <a:t>• Canary con feature flag: implementá un toggle CANARY_PERCENT (env var).</a:t>
            </a:r>
          </a:p>
          <a:p>
            <a:pPr>
              <a:spcAft>
                <a:spcPts val="800"/>
              </a:spcAft>
              <a:defRPr sz="1400" b="0">
                <a:solidFill>
                  <a:srgbClr val="0F172A"/>
                </a:solidFill>
                <a:latin typeface="Segoe UI"/>
              </a:defRPr>
            </a:pPr>
            <a:r>
              <a:rPr sz="1400" b="0">
                <a:solidFill>
                  <a:srgbClr val="0F172A"/>
                </a:solidFill>
                <a:latin typeface="Segoe UI"/>
              </a:rPr>
              <a:t>• Canary con Istio: VirtualService con weight: 95 / 5.</a:t>
            </a:r>
          </a:p>
          <a:p>
            <a:pPr>
              <a:spcAft>
                <a:spcPts val="800"/>
              </a:spcAft>
              <a:defRPr sz="1400" b="0">
                <a:solidFill>
                  <a:srgbClr val="0F172A"/>
                </a:solidFill>
                <a:latin typeface="Segoe UI"/>
              </a:defRPr>
            </a:pPr>
            <a:r>
              <a:rPr sz="1400" b="0">
                <a:solidFill>
                  <a:srgbClr val="0F172A"/>
                </a:solidFill>
                <a:latin typeface="Segoe UI"/>
              </a:rPr>
              <a:t>• Rollback automático: agregá un sidecar (Python script) que cada 60 s consulta Prometheus: si latency_p99{model=challenger} &gt; 200ms, cambia el weight a 100 / 0 automáticamente.</a:t>
            </a:r>
          </a:p>
          <a:p>
            <a:pPr>
              <a:spcAft>
                <a:spcPts val="800"/>
              </a:spcAft>
              <a:defRPr sz="1400" b="0">
                <a:solidFill>
                  <a:srgbClr val="0F172A"/>
                </a:solidFill>
                <a:latin typeface="Segoe UI"/>
              </a:defRPr>
            </a:pPr>
            <a:r>
              <a:rPr sz="1400" b="0">
                <a:solidFill>
                  <a:srgbClr val="0F172A"/>
                </a:solidFill>
                <a:latin typeface="Segoe UI"/>
              </a:rPr>
              <a:t>• A/B test riguroso: calculá tamaño de muestra para detectar δ = 0.02 en accuracy con α=0.05, power=0.8.</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Modelo champion en producción sirviendo 100% del tráfico.</a:t>
            </a:r>
          </a:p>
          <a:p>
            <a:pPr>
              <a:spcAft>
                <a:spcPts val="800"/>
              </a:spcAft>
              <a:defRPr sz="1400" b="0">
                <a:solidFill>
                  <a:srgbClr val="0F172A"/>
                </a:solidFill>
                <a:latin typeface="Segoe UI"/>
              </a:defRPr>
            </a:pPr>
            <a:r>
              <a:rPr sz="1400" b="0">
                <a:solidFill>
                  <a:srgbClr val="0F172A"/>
                </a:solidFill>
                <a:latin typeface="Segoe UI"/>
              </a:rPr>
              <a:t>• Endpoint /admin/canary que setea peso del challenger (sticky por user_id hash).</a:t>
            </a:r>
          </a:p>
          <a:p>
            <a:pPr>
              <a:spcAft>
                <a:spcPts val="800"/>
              </a:spcAft>
              <a:defRPr sz="1400" b="0">
                <a:solidFill>
                  <a:srgbClr val="0F172A"/>
                </a:solidFill>
                <a:latin typeface="Segoe UI"/>
              </a:defRPr>
            </a:pPr>
            <a:r>
              <a:rPr sz="1400" b="0">
                <a:solidFill>
                  <a:srgbClr val="0F172A"/>
                </a:solidFill>
                <a:latin typeface="Segoe UI"/>
              </a:rPr>
              <a:t>• Métricas en Prometheus: predictions_total{model, class}, latency_seconds{model}, error_rate{model}.</a:t>
            </a:r>
          </a:p>
          <a:p>
            <a:pPr>
              <a:spcAft>
                <a:spcPts val="800"/>
              </a:spcAft>
              <a:defRPr sz="1400" b="0">
                <a:solidFill>
                  <a:srgbClr val="0F172A"/>
                </a:solidFill>
                <a:latin typeface="Segoe UI"/>
              </a:defRPr>
            </a:pPr>
            <a:r>
              <a:rPr sz="1400" b="0">
                <a:solidFill>
                  <a:srgbClr val="0F172A"/>
                </a:solidFill>
                <a:latin typeface="Segoe UI"/>
              </a:rPr>
              <a:t>• Alerta + auto-rollback si: latency_p99{model=challenger} &gt; 1.2 * latency_p99{model=champion} durante 5 min seguidos.</a:t>
            </a:r>
          </a:p>
          <a:p>
            <a:pPr>
              <a:spcAft>
                <a:spcPts val="800"/>
              </a:spcAft>
              <a:defRPr sz="1400" b="0">
                <a:solidFill>
                  <a:srgbClr val="0F172A"/>
                </a:solidFill>
                <a:latin typeface="Segoe UI"/>
              </a:defRPr>
            </a:pPr>
            <a:r>
              <a:rPr sz="1400" b="0">
                <a:solidFill>
                  <a:srgbClr val="0F172A"/>
                </a:solidFill>
                <a:latin typeface="Segoe UI"/>
              </a:rPr>
              <a:t>• Dashboard Grafana con: distribución de tráfico, latency por modelo, agreement rate champion-challenger, business KPI proxy.</a:t>
            </a:r>
          </a:p>
        </p:txBody>
      </p:sp>
    </p:spTree>
  </p:cSld>
  <p:clrMapOvr>
    <a:masterClrMapping/>
  </p:clrMapOvr>
</p:sld>
</file>

<file path=ppt/slides/slide10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205 — Interpretabilidad: SHAP, LIME, PDP, ICE</a:t>
            </a:r>
          </a:p>
        </p:txBody>
      </p:sp>
    </p:spTree>
  </p:cSld>
  <p:clrMapOvr>
    <a:masterClrMapping/>
  </p:clrMapOvr>
</p:sld>
</file>

<file path=ppt/slides/slide10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205 — Interpretabilidad: SHAP, LIME, PDP, ICE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Molnar, Interpretable ML (2ª ed.) + Lundberg &amp; Lee (2017, NIPS, SHAP paper) + Ribeiro et al. (2016, KDD, LIME paper).  Duración estimada: 80 min. · Nivel: Avanzado · Esta clase es complementaria a la Clase 079 (SHAP profundo, Parte 1). Acá el foco es producción: cómo integrar interpretabilidad al servicio (/explain endpoint), cómo escalar SHAP a grandes datasets, y cómo presentar explicaciones a stakeholders no técnicos.</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Hacer interpretabilidad deployable: exponer un endpoint /explain que devuelva la atribución por feature de una predicción individual (SHAP/LIME), generar reportes globales (PDP/ICE) al promover un modelo, y entender los tres trade-offs: fidelidad vs simplicidad, global vs local, exacto vs aproximado.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local (esta predicción) vs global (modelo en general) y model-agnostic vs model-specific.</a:t>
            </a:r>
          </a:p>
          <a:p>
            <a:pPr>
              <a:spcAft>
                <a:spcPts val="800"/>
              </a:spcAft>
              <a:defRPr sz="1400" b="0">
                <a:solidFill>
                  <a:srgbClr val="0F172A"/>
                </a:solidFill>
                <a:latin typeface="Segoe UI"/>
              </a:defRPr>
            </a:pPr>
            <a:r>
              <a:rPr sz="1400" b="0">
                <a:solidFill>
                  <a:srgbClr val="0F172A"/>
                </a:solidFill>
                <a:latin typeface="Segoe UI"/>
              </a:rPr>
              <a:t>• Usar SHAP con TreeExplainer (rápido, exacto, árboles), KernelExplainer (lento, model-agnostic), DeepExplainer (redes neuronales) y Partition (recientes).</a:t>
            </a:r>
          </a:p>
          <a:p>
            <a:pPr>
              <a:spcAft>
                <a:spcPts val="800"/>
              </a:spcAft>
              <a:defRPr sz="1400" b="0">
                <a:solidFill>
                  <a:srgbClr val="0F172A"/>
                </a:solidFill>
                <a:latin typeface="Segoe UI"/>
              </a:defRPr>
            </a:pPr>
            <a:r>
              <a:rPr sz="1400" b="0">
                <a:solidFill>
                  <a:srgbClr val="0F172A"/>
                </a:solidFill>
                <a:latin typeface="Segoe UI"/>
              </a:rPr>
              <a:t>• Usar LIME para explicaciones model-agnostic en texto/imágenes/tabular.</a:t>
            </a:r>
          </a:p>
          <a:p>
            <a:pPr>
              <a:spcAft>
                <a:spcPts val="800"/>
              </a:spcAft>
              <a:defRPr sz="1400" b="0">
                <a:solidFill>
                  <a:srgbClr val="0F172A"/>
                </a:solidFill>
                <a:latin typeface="Segoe UI"/>
              </a:defRPr>
            </a:pPr>
            <a:r>
              <a:rPr sz="1400" b="0">
                <a:solidFill>
                  <a:srgbClr val="0F172A"/>
                </a:solidFill>
                <a:latin typeface="Segoe UI"/>
              </a:rPr>
              <a:t>• Generar PDP (Partial Dependence Plot) e ICE (Individual Conditional Expectation) con sklearn.inspection.</a:t>
            </a:r>
          </a:p>
          <a:p>
            <a:pPr>
              <a:spcAft>
                <a:spcPts val="800"/>
              </a:spcAft>
              <a:defRPr sz="1400" b="0">
                <a:solidFill>
                  <a:srgbClr val="0F172A"/>
                </a:solidFill>
                <a:latin typeface="Segoe UI"/>
              </a:defRPr>
            </a:pPr>
            <a:r>
              <a:rPr sz="1400" b="0">
                <a:solidFill>
                  <a:srgbClr val="0F172A"/>
                </a:solidFill>
                <a:latin typeface="Segoe UI"/>
              </a:rPr>
              <a:t>• Decidir cuándo SHAP es lo correcto y cuándo es overkill (ej. modelo lineal: usar coeficientes directamente).</a:t>
            </a:r>
          </a:p>
        </p:txBody>
      </p:sp>
    </p:spTree>
  </p:cSld>
  <p:clrMapOvr>
    <a:masterClrMapping/>
  </p:clrMapOvr>
</p:sld>
</file>

<file path=ppt/slides/slide10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205 — Interpretabilidad: SHAP, LIME, PDP, ICE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Local vs global, model-agnostic vs specific</a:t>
            </a:r>
          </a:p>
          <a:p>
            <a:pPr>
              <a:spcAft>
                <a:spcPts val="1000"/>
              </a:spcAft>
              <a:defRPr sz="1600" b="0">
                <a:solidFill>
                  <a:srgbClr val="0F172A"/>
                </a:solidFill>
                <a:latin typeface="Segoe UI"/>
              </a:defRPr>
            </a:pPr>
            <a:r>
              <a:rPr sz="1600" b="0">
                <a:solidFill>
                  <a:srgbClr val="0F172A"/>
                </a:solidFill>
                <a:latin typeface="Segoe UI"/>
              </a:rPr>
              <a:t>• SHAP: TreeExplainer vs KernelExplainer</a:t>
            </a:r>
          </a:p>
          <a:p>
            <a:pPr>
              <a:spcAft>
                <a:spcPts val="1000"/>
              </a:spcAft>
              <a:defRPr sz="1600" b="0">
                <a:solidFill>
                  <a:srgbClr val="0F172A"/>
                </a:solidFill>
                <a:latin typeface="Segoe UI"/>
              </a:defRPr>
            </a:pPr>
            <a:r>
              <a:rPr sz="1600" b="0">
                <a:solidFill>
                  <a:srgbClr val="0F172A"/>
                </a:solidFill>
                <a:latin typeface="Segoe UI"/>
              </a:rPr>
              <a:t>• LIME para texto/imágenes</a:t>
            </a:r>
          </a:p>
          <a:p>
            <a:pPr>
              <a:spcAft>
                <a:spcPts val="1000"/>
              </a:spcAft>
              <a:defRPr sz="1600" b="0">
                <a:solidFill>
                  <a:srgbClr val="0F172A"/>
                </a:solidFill>
                <a:latin typeface="Segoe UI"/>
              </a:defRPr>
            </a:pPr>
            <a:r>
              <a:rPr sz="1600" b="0">
                <a:solidFill>
                  <a:srgbClr val="0F172A"/>
                </a:solidFill>
                <a:latin typeface="Segoe UI"/>
              </a:rPr>
              <a:t>• PDP + ICE: efecto marginal vs heterogeneidad</a:t>
            </a:r>
          </a:p>
          <a:p>
            <a:pPr>
              <a:spcAft>
                <a:spcPts val="1000"/>
              </a:spcAft>
              <a:defRPr sz="1600" b="0">
                <a:solidFill>
                  <a:srgbClr val="0F172A"/>
                </a:solidFill>
                <a:latin typeface="Segoe UI"/>
              </a:defRPr>
            </a:pPr>
            <a:r>
              <a:rPr sz="1600" b="0">
                <a:solidFill>
                  <a:srgbClr val="0F172A"/>
                </a:solidFill>
                <a:latin typeface="Segoe UI"/>
              </a:rPr>
              <a:t>• Endpoint /explain en producción</a:t>
            </a:r>
          </a:p>
          <a:p>
            <a:pPr>
              <a:spcAft>
                <a:spcPts val="1000"/>
              </a:spcAft>
              <a:defRPr sz="1600" b="0">
                <a:solidFill>
                  <a:srgbClr val="0F172A"/>
                </a:solidFill>
                <a:latin typeface="Segoe UI"/>
              </a:defRPr>
            </a:pPr>
            <a:r>
              <a:rPr sz="1600" b="0">
                <a:solidFill>
                  <a:srgbClr val="0F172A"/>
                </a:solidFill>
                <a:latin typeface="Segoe UI"/>
              </a:rPr>
              <a:t>• Comunicar a stakeholders no técnicos</a:t>
            </a:r>
          </a:p>
        </p:txBody>
      </p:sp>
    </p:spTree>
  </p:cSld>
  <p:clrMapOvr>
    <a:masterClrMapping/>
  </p:clrMapOvr>
</p:sld>
</file>

<file path=ppt/slides/slide10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205 — Interpretabilidad: SHAP, LIME, PDP, ICE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TreeSHAP vs KernelSHAP, PDP+ICE, comparación con LIME, y diseño de un endpoint /explain. Requiere: pip install shap lime xgboost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 time</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import xgboost as xgb</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fetch_california_housing(as_frame=True)</a:t>
            </a:r>
          </a:p>
          <a:p>
            <a:pPr>
              <a:defRPr sz="1200" b="0">
                <a:solidFill>
                  <a:srgbClr val="F8FAFC"/>
                </a:solidFill>
                <a:latin typeface="Courier New"/>
              </a:defRPr>
            </a:pPr>
            <a:r>
              <a:rPr sz="1200" b="0">
                <a:solidFill>
                  <a:srgbClr val="F8FAFC"/>
                </a:solidFill>
                <a:latin typeface="Courier New"/>
              </a:rPr>
              <a:t>X, y = data.data, data.target</a:t>
            </a:r>
          </a:p>
          <a:p>
            <a:pPr>
              <a:defRPr sz="1200" b="0">
                <a:solidFill>
                  <a:srgbClr val="F8FAFC"/>
                </a:solidFill>
                <a:latin typeface="Courier New"/>
              </a:defRPr>
            </a:pPr>
            <a:r>
              <a:rPr sz="1200" b="0">
                <a:solidFill>
                  <a:srgbClr val="F8FAFC"/>
                </a:solidFill>
                <a:latin typeface="Courier New"/>
              </a:rPr>
              <a:t>Xtr, Xte, ytr, yte = train_test_split(X, y, test_size=0.2,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model = xgb.XGBRegressor(n_estimators=200, max_depth=5, random_state=42, n_jobs=-1).fit(Xtr, ytr)</a:t>
            </a:r>
          </a:p>
          <a:p>
            <a:pPr>
              <a:defRPr sz="1200" b="0">
                <a:solidFill>
                  <a:srgbClr val="F8FAFC"/>
                </a:solidFill>
                <a:latin typeface="Courier New"/>
              </a:defRPr>
            </a:pPr>
            <a:r>
              <a:rPr sz="1200" b="0">
                <a:solidFill>
                  <a:srgbClr val="F8FAFC"/>
                </a:solidFill>
                <a:latin typeface="Courier New"/>
              </a:rPr>
              <a:t>print('test R2:', model.score(Xte, yte))</a:t>
            </a:r>
          </a:p>
        </p:txBody>
      </p:sp>
    </p:spTree>
  </p:cSld>
  <p:clrMapOvr>
    <a:masterClrMapping/>
  </p:clrMapOvr>
</p:sld>
</file>

<file path=ppt/slides/slide10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205 — Interpretabilidad: SHAP, LIME, PDP, ICE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TreeSHAP: entrená XGB sobre California.</a:t>
            </a:r>
          </a:p>
          <a:p>
            <a:pPr>
              <a:spcAft>
                <a:spcPts val="800"/>
              </a:spcAft>
              <a:defRPr sz="1400" b="0">
                <a:solidFill>
                  <a:srgbClr val="0F172A"/>
                </a:solidFill>
                <a:latin typeface="Segoe UI"/>
              </a:defRPr>
            </a:pPr>
            <a:r>
              <a:rPr sz="1400" b="0">
                <a:solidFill>
                  <a:srgbClr val="0F172A"/>
                </a:solidFill>
                <a:latin typeface="Segoe UI"/>
              </a:rPr>
              <a:t>• KernelSHAP vs TreeSHAP: corré KernelExplainer con 100 background samples sobre el mismo XGB.</a:t>
            </a:r>
          </a:p>
          <a:p>
            <a:pPr>
              <a:spcAft>
                <a:spcPts val="800"/>
              </a:spcAft>
              <a:defRPr sz="1400" b="0">
                <a:solidFill>
                  <a:srgbClr val="0F172A"/>
                </a:solidFill>
                <a:latin typeface="Segoe UI"/>
              </a:defRPr>
            </a:pPr>
            <a:r>
              <a:rPr sz="1400" b="0">
                <a:solidFill>
                  <a:srgbClr val="0F172A"/>
                </a:solidFill>
                <a:latin typeface="Segoe UI"/>
              </a:rPr>
              <a:t>• LIME tabular: LimeTabularExplainer sobre el mismo modelo.</a:t>
            </a:r>
          </a:p>
          <a:p>
            <a:pPr>
              <a:spcAft>
                <a:spcPts val="800"/>
              </a:spcAft>
              <a:defRPr sz="1400" b="0">
                <a:solidFill>
                  <a:srgbClr val="0F172A"/>
                </a:solidFill>
                <a:latin typeface="Segoe UI"/>
              </a:defRPr>
            </a:pPr>
            <a:r>
              <a:rPr sz="1400" b="0">
                <a:solidFill>
                  <a:srgbClr val="0F172A"/>
                </a:solidFill>
                <a:latin typeface="Segoe UI"/>
              </a:rPr>
              <a:t>• PDP + ICE: sklearn.inspection.PartialDependenceDisplay.from_estimator(model, X, features=['MedInc', 'HouseAge'], kind='both').</a:t>
            </a:r>
          </a:p>
          <a:p>
            <a:pPr>
              <a:spcAft>
                <a:spcPts val="800"/>
              </a:spcAft>
              <a:defRPr sz="1400" b="0">
                <a:solidFill>
                  <a:srgbClr val="0F172A"/>
                </a:solidFill>
                <a:latin typeface="Segoe UI"/>
              </a:defRPr>
            </a:pPr>
            <a:r>
              <a:rPr sz="1400" b="0">
                <a:solidFill>
                  <a:srgbClr val="0F172A"/>
                </a:solidFill>
                <a:latin typeface="Segoe UI"/>
              </a:rPr>
              <a:t>• Endpoint /explain: extendé el FastAPI (Clase 199) con POST /explain que devuelve top-5 features + SHAP values + base value, para una instancia.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POST /predict (de Clase 199).</a:t>
            </a:r>
          </a:p>
          <a:p>
            <a:pPr>
              <a:spcAft>
                <a:spcPts val="800"/>
              </a:spcAft>
              <a:defRPr sz="1400" b="0">
                <a:solidFill>
                  <a:srgbClr val="0F172A"/>
                </a:solidFill>
                <a:latin typeface="Segoe UI"/>
              </a:defRPr>
            </a:pPr>
            <a:r>
              <a:rPr sz="1400" b="0">
                <a:solidFill>
                  <a:srgbClr val="0F172A"/>
                </a:solidFill>
                <a:latin typeface="Segoe UI"/>
              </a:rPr>
              <a:t>• POST /explain que devuelve {"prediction": float, "base_value": float, "top_features": [{"name": "MedInc", "shap": 0.23}, ...]}.</a:t>
            </a:r>
          </a:p>
          <a:p>
            <a:pPr>
              <a:spcAft>
                <a:spcPts val="800"/>
              </a:spcAft>
              <a:defRPr sz="1400" b="0">
                <a:solidFill>
                  <a:srgbClr val="0F172A"/>
                </a:solidFill>
                <a:latin typeface="Segoe UI"/>
              </a:defRPr>
            </a:pPr>
            <a:r>
              <a:rPr sz="1400" b="0">
                <a:solidFill>
                  <a:srgbClr val="0F172A"/>
                </a:solidFill>
                <a:latin typeface="Segoe UI"/>
              </a:rPr>
              <a:t>• Endpoint GET /global-explanation que devuelve PDP + global SHAP precomputados (cacheados al startup).</a:t>
            </a:r>
          </a:p>
          <a:p>
            <a:pPr>
              <a:spcAft>
                <a:spcPts val="800"/>
              </a:spcAft>
              <a:defRPr sz="1400" b="0">
                <a:solidFill>
                  <a:srgbClr val="0F172A"/>
                </a:solidFill>
                <a:latin typeface="Segoe UI"/>
              </a:defRPr>
            </a:pPr>
            <a:r>
              <a:rPr sz="1400" b="0">
                <a:solidFill>
                  <a:srgbClr val="0F172A"/>
                </a:solidFill>
                <a:latin typeface="Segoe UI"/>
              </a:rPr>
              <a:t>• UI HTML básica que muestra waterfall plot (SHAP) para inputs interactivos.</a:t>
            </a:r>
          </a:p>
          <a:p>
            <a:pPr>
              <a:spcAft>
                <a:spcPts val="800"/>
              </a:spcAft>
              <a:defRPr sz="1400" b="0">
                <a:solidFill>
                  <a:srgbClr val="0F172A"/>
                </a:solidFill>
                <a:latin typeface="Segoe UI"/>
              </a:defRPr>
            </a:pPr>
            <a:r>
              <a:rPr sz="1400" b="0">
                <a:solidFill>
                  <a:srgbClr val="0F172A"/>
                </a:solidFill>
                <a:latin typeface="Segoe UI"/>
              </a:rPr>
              <a:t>• README que justifica: por qué TreeSHAP y no KernelSHAP, por qué top-5 y no top-20, por qué pre-computar global.</a:t>
            </a:r>
          </a:p>
        </p:txBody>
      </p:sp>
    </p:spTree>
  </p:cSld>
  <p:clrMapOvr>
    <a:masterClrMapping/>
  </p:clrMapOvr>
</p:sld>
</file>

<file path=ppt/slides/slide10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206 — Testing de datos: Great Expectations, Deequ</a:t>
            </a:r>
          </a:p>
        </p:txBody>
      </p:sp>
    </p:spTree>
  </p:cSld>
  <p:clrMapOvr>
    <a:masterClrMapping/>
  </p:clrMapOvr>
</p:sld>
</file>

<file path=ppt/slides/slide10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206 — Testing de datos: Great Expectations, Deequ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4 + Great Expectations docs (1.x) + Deequ paper.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testing como código a los datos: definir "expectations" (assertions sobre el dataset) y validarlas en cada corrida del pipeline. Detectar schema drift, outliers extremos, nulos inesperados antes de que lleguen al entrenamiento o a la predicción. Bug típico: no es que el modelo se rompe — es que la data está rota y nadie se entera.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un Expectation Suite con Great Expectations 1.x: schema, ranges, uniqueness, null rates, regex.</a:t>
            </a:r>
          </a:p>
          <a:p>
            <a:pPr>
              <a:spcAft>
                <a:spcPts val="800"/>
              </a:spcAft>
              <a:defRPr sz="1400" b="0">
                <a:solidFill>
                  <a:srgbClr val="0F172A"/>
                </a:solidFill>
                <a:latin typeface="Segoe UI"/>
              </a:defRPr>
            </a:pPr>
            <a:r>
              <a:rPr sz="1400" b="0">
                <a:solidFill>
                  <a:srgbClr val="0F172A"/>
                </a:solidFill>
                <a:latin typeface="Segoe UI"/>
              </a:rPr>
              <a:t>• Generar un Data Docs HTML que documenta el dataset + resultados de validación (auditoría para regulador).</a:t>
            </a:r>
          </a:p>
          <a:p>
            <a:pPr>
              <a:spcAft>
                <a:spcPts val="800"/>
              </a:spcAft>
              <a:defRPr sz="1400" b="0">
                <a:solidFill>
                  <a:srgbClr val="0F172A"/>
                </a:solidFill>
                <a:latin typeface="Segoe UI"/>
              </a:defRPr>
            </a:pPr>
            <a:r>
              <a:rPr sz="1400" b="0">
                <a:solidFill>
                  <a:srgbClr val="0F172A"/>
                </a:solidFill>
                <a:latin typeface="Segoe UI"/>
              </a:rPr>
              <a:t>• Integrar GE en un pipeline DVC/Airflow: si validación falla, abortar el pipeline.</a:t>
            </a:r>
          </a:p>
          <a:p>
            <a:pPr>
              <a:spcAft>
                <a:spcPts val="800"/>
              </a:spcAft>
              <a:defRPr sz="1400" b="0">
                <a:solidFill>
                  <a:srgbClr val="0F172A"/>
                </a:solidFill>
                <a:latin typeface="Segoe UI"/>
              </a:defRPr>
            </a:pPr>
            <a:r>
              <a:rPr sz="1400" b="0">
                <a:solidFill>
                  <a:srgbClr val="0F172A"/>
                </a:solidFill>
                <a:latin typeface="Segoe UI"/>
              </a:rPr>
              <a:t>• Usar Deequ (Scala/Python via PyDeequ) para datasets grandes en Spark.</a:t>
            </a:r>
          </a:p>
          <a:p>
            <a:pPr>
              <a:spcAft>
                <a:spcPts val="800"/>
              </a:spcAft>
              <a:defRPr sz="1400" b="0">
                <a:solidFill>
                  <a:srgbClr val="0F172A"/>
                </a:solidFill>
                <a:latin typeface="Segoe UI"/>
              </a:defRPr>
            </a:pPr>
            <a:r>
              <a:rPr sz="1400" b="0">
                <a:solidFill>
                  <a:srgbClr val="0F172A"/>
                </a:solidFill>
                <a:latin typeface="Segoe UI"/>
              </a:rPr>
              <a:t>• Diferenciar data tests (sobre el dataset) de unit tests (sobre el código) — son ortogonales.</a:t>
            </a:r>
          </a:p>
        </p:txBody>
      </p:sp>
    </p:spTree>
  </p:cSld>
  <p:clrMapOvr>
    <a:masterClrMapping/>
  </p:clrMapOvr>
</p:sld>
</file>

<file path=ppt/slides/slide10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206 — Testing de datos: Great Expectations, Deequ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unit tests no alcanzan en data pipelines</a:t>
            </a:r>
          </a:p>
          <a:p>
            <a:pPr>
              <a:spcAft>
                <a:spcPts val="1000"/>
              </a:spcAft>
              <a:defRPr sz="1600" b="0">
                <a:solidFill>
                  <a:srgbClr val="0F172A"/>
                </a:solidFill>
                <a:latin typeface="Segoe UI"/>
              </a:defRPr>
            </a:pPr>
            <a:r>
              <a:rPr sz="1600" b="0">
                <a:solidFill>
                  <a:srgbClr val="0F172A"/>
                </a:solidFill>
                <a:latin typeface="Segoe UI"/>
              </a:rPr>
              <a:t>• Expectation Suite: schema + business rules</a:t>
            </a:r>
          </a:p>
          <a:p>
            <a:pPr>
              <a:spcAft>
                <a:spcPts val="1000"/>
              </a:spcAft>
              <a:defRPr sz="1600" b="0">
                <a:solidFill>
                  <a:srgbClr val="0F172A"/>
                </a:solidFill>
                <a:latin typeface="Segoe UI"/>
              </a:defRPr>
            </a:pPr>
            <a:r>
              <a:rPr sz="1600" b="0">
                <a:solidFill>
                  <a:srgbClr val="0F172A"/>
                </a:solidFill>
                <a:latin typeface="Segoe UI"/>
              </a:rPr>
              <a:t>• Profiling automático</a:t>
            </a:r>
          </a:p>
          <a:p>
            <a:pPr>
              <a:spcAft>
                <a:spcPts val="1000"/>
              </a:spcAft>
              <a:defRPr sz="1600" b="0">
                <a:solidFill>
                  <a:srgbClr val="0F172A"/>
                </a:solidFill>
                <a:latin typeface="Segoe UI"/>
              </a:defRPr>
            </a:pPr>
            <a:r>
              <a:rPr sz="1600" b="0">
                <a:solidFill>
                  <a:srgbClr val="0F172A"/>
                </a:solidFill>
                <a:latin typeface="Segoe UI"/>
              </a:rPr>
              <a:t>• Data Docs: docs ejecutables</a:t>
            </a:r>
          </a:p>
          <a:p>
            <a:pPr>
              <a:spcAft>
                <a:spcPts val="1000"/>
              </a:spcAft>
              <a:defRPr sz="1600" b="0">
                <a:solidFill>
                  <a:srgbClr val="0F172A"/>
                </a:solidFill>
                <a:latin typeface="Segoe UI"/>
              </a:defRPr>
            </a:pPr>
            <a:r>
              <a:rPr sz="1600" b="0">
                <a:solidFill>
                  <a:srgbClr val="0F172A"/>
                </a:solidFill>
                <a:latin typeface="Segoe UI"/>
              </a:rPr>
              <a:t>• Checkpoints e integración con pipelines</a:t>
            </a:r>
          </a:p>
          <a:p>
            <a:pPr>
              <a:spcAft>
                <a:spcPts val="1000"/>
              </a:spcAft>
              <a:defRPr sz="1600" b="0">
                <a:solidFill>
                  <a:srgbClr val="0F172A"/>
                </a:solidFill>
                <a:latin typeface="Segoe UI"/>
              </a:defRPr>
            </a:pPr>
            <a:r>
              <a:rPr sz="1600" b="0">
                <a:solidFill>
                  <a:srgbClr val="0F172A"/>
                </a:solidFill>
                <a:latin typeface="Segoe UI"/>
              </a:rPr>
              <a:t>• Deequ para Spark scale</a:t>
            </a:r>
          </a:p>
        </p:txBody>
      </p:sp>
    </p:spTree>
  </p:cSld>
  <p:clrMapOvr>
    <a:masterClrMapping/>
  </p:clrMapOvr>
</p:sld>
</file>

<file path=ppt/slides/slide10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206 — Testing de datos: Great Expectations, Deequ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Definimos un suite de expectations sobre California Housing y validamos con (a) Great Expectations 1.x, (b) Pandera, (c) Polars + checks ad-hoc. Inyectamos un bug a propósito para ver el sistema detectarlo.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pandas as pd, numpy as np</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fetch_california_housing(as_frame=True)</a:t>
            </a:r>
          </a:p>
          <a:p>
            <a:pPr>
              <a:defRPr sz="1200" b="0">
                <a:solidFill>
                  <a:srgbClr val="F8FAFC"/>
                </a:solidFill>
                <a:latin typeface="Courier New"/>
              </a:defRPr>
            </a:pPr>
            <a:r>
              <a:rPr sz="1200" b="0">
                <a:solidFill>
                  <a:srgbClr val="F8FAFC"/>
                </a:solidFill>
                <a:latin typeface="Courier New"/>
              </a:rPr>
              <a:t>df = data.data.copy()</a:t>
            </a:r>
          </a:p>
          <a:p>
            <a:pPr>
              <a:defRPr sz="1200" b="0">
                <a:solidFill>
                  <a:srgbClr val="F8FAFC"/>
                </a:solidFill>
                <a:latin typeface="Courier New"/>
              </a:defRPr>
            </a:pPr>
            <a:r>
              <a:rPr sz="1200" b="0">
                <a:solidFill>
                  <a:srgbClr val="F8FAFC"/>
                </a:solidFill>
                <a:latin typeface="Courier New"/>
              </a:rPr>
              <a:t>df['target'] = data.target</a:t>
            </a:r>
          </a:p>
          <a:p>
            <a:pPr>
              <a:defRPr sz="1200" b="0">
                <a:solidFill>
                  <a:srgbClr val="F8FAFC"/>
                </a:solidFill>
                <a:latin typeface="Courier New"/>
              </a:defRPr>
            </a:pPr>
            <a:r>
              <a:rPr sz="1200" b="0">
                <a:solidFill>
                  <a:srgbClr val="F8FAFC"/>
                </a:solidFill>
                <a:latin typeface="Courier New"/>
              </a:rPr>
              <a:t>print(df.shape, '\n', df.describe().round(2).T[['min', 'max', 'mean']])</a:t>
            </a:r>
          </a:p>
        </p:txBody>
      </p:sp>
    </p:spTree>
  </p:cSld>
  <p:clrMapOvr>
    <a:masterClrMapping/>
  </p:clrMapOvr>
</p:sld>
</file>

<file path=ppt/slides/slide10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206 — Testing de datos: Great Expectations, Deequ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Bootstrap de un suite: gx init para crear el proyecto.</a:t>
            </a:r>
          </a:p>
          <a:p>
            <a:pPr>
              <a:spcAft>
                <a:spcPts val="800"/>
              </a:spcAft>
              <a:defRPr sz="1400" b="0">
                <a:solidFill>
                  <a:srgbClr val="0F172A"/>
                </a:solidFill>
                <a:latin typeface="Segoe UI"/>
              </a:defRPr>
            </a:pPr>
            <a:r>
              <a:rPr sz="1400" b="0">
                <a:solidFill>
                  <a:srgbClr val="0F172A"/>
                </a:solidFill>
                <a:latin typeface="Segoe UI"/>
              </a:rPr>
              <a:t>• Custom expectations: agregá: expect_column_values_to_be_between('MedInc', 0, 20), expect_table_row_count_to_be_between(1000, 100000), expect_column_pair_values_A_to_be_greater_than_B('AveRooms', 'AveBedrms') (más rooms que bedrooms).</a:t>
            </a:r>
          </a:p>
          <a:p>
            <a:pPr>
              <a:spcAft>
                <a:spcPts val="800"/>
              </a:spcAft>
              <a:defRPr sz="1400" b="0">
                <a:solidFill>
                  <a:srgbClr val="0F172A"/>
                </a:solidFill>
                <a:latin typeface="Segoe UI"/>
              </a:defRPr>
            </a:pPr>
            <a:r>
              <a:rPr sz="1400" b="0">
                <a:solidFill>
                  <a:srgbClr val="0F172A"/>
                </a:solidFill>
                <a:latin typeface="Segoe UI"/>
              </a:rPr>
              <a:t>• Checkpoint: configurá un checkpoint que (a) corre el suite, (b) si falla, abre un Slack alert.</a:t>
            </a:r>
          </a:p>
          <a:p>
            <a:pPr>
              <a:spcAft>
                <a:spcPts val="800"/>
              </a:spcAft>
              <a:defRPr sz="1400" b="0">
                <a:solidFill>
                  <a:srgbClr val="0F172A"/>
                </a:solidFill>
                <a:latin typeface="Segoe UI"/>
              </a:defRPr>
            </a:pPr>
            <a:r>
              <a:rPr sz="1400" b="0">
                <a:solidFill>
                  <a:srgbClr val="0F172A"/>
                </a:solidFill>
                <a:latin typeface="Segoe UI"/>
              </a:rPr>
              <a:t>• Data Docs: gx docs build.</a:t>
            </a:r>
          </a:p>
          <a:p>
            <a:pPr>
              <a:spcAft>
                <a:spcPts val="800"/>
              </a:spcAft>
              <a:defRPr sz="1400" b="0">
                <a:solidFill>
                  <a:srgbClr val="0F172A"/>
                </a:solidFill>
                <a:latin typeface="Segoe UI"/>
              </a:defRPr>
            </a:pPr>
            <a:r>
              <a:rPr sz="1400" b="0">
                <a:solidFill>
                  <a:srgbClr val="0F172A"/>
                </a:solidFill>
                <a:latin typeface="Segoe UI"/>
              </a:rPr>
              <a:t>• Pandera alternative: el mismo schema con pandera: class HousingSchema(pa.DataFrameModel): MedInc: Series[float] = pa.Field(in_range={"min_value": 0, "max_value": 20}).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Expectation Suite Great Expectations versionada en git (YAML/JSON).</a:t>
            </a:r>
          </a:p>
          <a:p>
            <a:pPr>
              <a:spcAft>
                <a:spcPts val="800"/>
              </a:spcAft>
              <a:defRPr sz="1400" b="0">
                <a:solidFill>
                  <a:srgbClr val="0F172A"/>
                </a:solidFill>
                <a:latin typeface="Segoe UI"/>
              </a:defRPr>
            </a:pPr>
            <a:r>
              <a:rPr sz="1400" b="0">
                <a:solidFill>
                  <a:srgbClr val="0F172A"/>
                </a:solidFill>
                <a:latin typeface="Segoe UI"/>
              </a:rPr>
              <a:t>• Checkpoint que se corre como step del pipeline DVC o Airflow (Clase 203) antes del training.</a:t>
            </a:r>
          </a:p>
          <a:p>
            <a:pPr>
              <a:spcAft>
                <a:spcPts val="800"/>
              </a:spcAft>
              <a:defRPr sz="1400" b="0">
                <a:solidFill>
                  <a:srgbClr val="0F172A"/>
                </a:solidFill>
                <a:latin typeface="Segoe UI"/>
              </a:defRPr>
            </a:pPr>
            <a:r>
              <a:rPr sz="1400" b="0">
                <a:solidFill>
                  <a:srgbClr val="0F172A"/>
                </a:solidFill>
                <a:latin typeface="Segoe UI"/>
              </a:rPr>
              <a:t>• Data Docs HTML buildeado en CI y publicado a GitHub Pages.</a:t>
            </a:r>
          </a:p>
          <a:p>
            <a:pPr>
              <a:spcAft>
                <a:spcPts val="800"/>
              </a:spcAft>
              <a:defRPr sz="1400" b="0">
                <a:solidFill>
                  <a:srgbClr val="0F172A"/>
                </a:solidFill>
                <a:latin typeface="Segoe UI"/>
              </a:defRPr>
            </a:pPr>
            <a:r>
              <a:rPr sz="1400" b="0">
                <a:solidFill>
                  <a:srgbClr val="0F172A"/>
                </a:solidFill>
                <a:latin typeface="Segoe UI"/>
              </a:rPr>
              <a:t>• Slack alert (con webhook stub si no tenés real) cuando una expectation falla.</a:t>
            </a:r>
          </a:p>
          <a:p>
            <a:pPr>
              <a:spcAft>
                <a:spcPts val="800"/>
              </a:spcAft>
              <a:defRPr sz="1400" b="0">
                <a:solidFill>
                  <a:srgbClr val="0F172A"/>
                </a:solidFill>
                <a:latin typeface="Segoe UI"/>
              </a:defRPr>
            </a:pPr>
            <a:r>
              <a:rPr sz="1400" b="0">
                <a:solidFill>
                  <a:srgbClr val="0F172A"/>
                </a:solidFill>
                <a:latin typeface="Segoe UI"/>
              </a:rPr>
              <a:t>• Demonstración de un dataset alterado (NaN inyectados, outliers, schema cambiado) que el pipeline detecta y aborta, sin que el modelo se entrene con data sucia.</a:t>
            </a:r>
          </a:p>
        </p:txBody>
      </p:sp>
    </p:spTree>
  </p:cSld>
  <p:clrMapOvr>
    <a:masterClrMapping/>
  </p:clrMapOvr>
</p:sld>
</file>

<file path=ppt/slides/slide103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207 — Testing de modelos: invariance + behavioral tests</a:t>
            </a:r>
          </a:p>
        </p:txBody>
      </p:sp>
    </p:spTree>
  </p:cSld>
  <p:clrMapOvr>
    <a:masterClrMapping/>
  </p:clrMapOvr>
</p:sld>
</file>

<file path=ppt/slides/slide10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Ribeiro et al., Beyond Accuracy: Behavioral Testing of NLP Models with CheckList (ACL 2020, best paper) + Huyen cap. 9 + Deepchecks docs.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Ir más allá de "accuracy en hold-out": tests que verifican que el modelo se comporta como debería en casos específicos. Tres familias: invariance tests ("misma predicción si reemplazo Juan por María"), directional tests ("si subo el ingreso, la proba de aprobar el préstamo no debe bajar"), minimum functionality tests ("predicción correcta sobre casos canónicos hand-crafted").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invariance tests (perturbaciones que NO deben cambiar la predicción): swap de nombres protegidos, sinónimos, ruido pequeño.</a:t>
            </a:r>
          </a:p>
          <a:p>
            <a:pPr>
              <a:spcAft>
                <a:spcPts val="800"/>
              </a:spcAft>
              <a:defRPr sz="1400" b="0">
                <a:solidFill>
                  <a:srgbClr val="0F172A"/>
                </a:solidFill>
                <a:latin typeface="Segoe UI"/>
              </a:defRPr>
            </a:pPr>
            <a:r>
              <a:rPr sz="1400" b="0">
                <a:solidFill>
                  <a:srgbClr val="0F172A"/>
                </a:solidFill>
                <a:latin typeface="Segoe UI"/>
              </a:rPr>
              <a:t>• Implementar directional tests (perturbaciones que deben cambiar la predicción en una dirección esperada): subir ingreso → menos riesgo crediticio.</a:t>
            </a:r>
          </a:p>
          <a:p>
            <a:pPr>
              <a:spcAft>
                <a:spcPts val="800"/>
              </a:spcAft>
              <a:defRPr sz="1400" b="0">
                <a:solidFill>
                  <a:srgbClr val="0F172A"/>
                </a:solidFill>
                <a:latin typeface="Segoe UI"/>
              </a:defRPr>
            </a:pPr>
            <a:r>
              <a:rPr sz="1400" b="0">
                <a:solidFill>
                  <a:srgbClr val="0F172A"/>
                </a:solidFill>
                <a:latin typeface="Segoe UI"/>
              </a:rPr>
              <a:t>• Crear minimum functionality test sets (MFT): casos hand-crafted que cubren cada feature/segmento crítico.</a:t>
            </a:r>
          </a:p>
          <a:p>
            <a:pPr>
              <a:spcAft>
                <a:spcPts val="800"/>
              </a:spcAft>
              <a:defRPr sz="1400" b="0">
                <a:solidFill>
                  <a:srgbClr val="0F172A"/>
                </a:solidFill>
                <a:latin typeface="Segoe UI"/>
              </a:defRPr>
            </a:pPr>
            <a:r>
              <a:rPr sz="1400" b="0">
                <a:solidFill>
                  <a:srgbClr val="0F172A"/>
                </a:solidFill>
                <a:latin typeface="Segoe UI"/>
              </a:rPr>
              <a:t>• Integrar tests de modelo en pytest y correrlos en CI antes de promover (gate de Clase 197).</a:t>
            </a:r>
          </a:p>
          <a:p>
            <a:pPr>
              <a:spcAft>
                <a:spcPts val="800"/>
              </a:spcAft>
              <a:defRPr sz="1400" b="0">
                <a:solidFill>
                  <a:srgbClr val="0F172A"/>
                </a:solidFill>
                <a:latin typeface="Segoe UI"/>
              </a:defRPr>
            </a:pPr>
            <a:r>
              <a:rPr sz="1400" b="0">
                <a:solidFill>
                  <a:srgbClr val="0F172A"/>
                </a:solidFill>
                <a:latin typeface="Segoe UI"/>
              </a:rPr>
              <a:t>• Usar Deepchecks o CheckList para suites pre-armados (especialmente NLP).</a:t>
            </a:r>
          </a:p>
        </p:txBody>
      </p:sp>
    </p:spTree>
  </p:cSld>
  <p:clrMapOvr>
    <a:masterClrMapping/>
  </p:clrMapOvr>
</p:sld>
</file>

<file path=ppt/slides/slide10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Accuracy ≠ corrección — los 3 tipos de test</a:t>
            </a:r>
          </a:p>
          <a:p>
            <a:pPr>
              <a:spcAft>
                <a:spcPts val="1000"/>
              </a:spcAft>
              <a:defRPr sz="1600" b="0">
                <a:solidFill>
                  <a:srgbClr val="0F172A"/>
                </a:solidFill>
                <a:latin typeface="Segoe UI"/>
              </a:defRPr>
            </a:pPr>
            <a:r>
              <a:rPr sz="1600" b="0">
                <a:solidFill>
                  <a:srgbClr val="0F172A"/>
                </a:solidFill>
                <a:latin typeface="Segoe UI"/>
              </a:rPr>
              <a:t>• Invariance tests</a:t>
            </a:r>
          </a:p>
          <a:p>
            <a:pPr>
              <a:spcAft>
                <a:spcPts val="1000"/>
              </a:spcAft>
              <a:defRPr sz="1600" b="0">
                <a:solidFill>
                  <a:srgbClr val="0F172A"/>
                </a:solidFill>
                <a:latin typeface="Segoe UI"/>
              </a:defRPr>
            </a:pPr>
            <a:r>
              <a:rPr sz="1600" b="0">
                <a:solidFill>
                  <a:srgbClr val="0F172A"/>
                </a:solidFill>
                <a:latin typeface="Segoe UI"/>
              </a:rPr>
              <a:t>• Directional tests</a:t>
            </a:r>
          </a:p>
          <a:p>
            <a:pPr>
              <a:spcAft>
                <a:spcPts val="1000"/>
              </a:spcAft>
              <a:defRPr sz="1600" b="0">
                <a:solidFill>
                  <a:srgbClr val="0F172A"/>
                </a:solidFill>
                <a:latin typeface="Segoe UI"/>
              </a:defRPr>
            </a:pPr>
            <a:r>
              <a:rPr sz="1600" b="0">
                <a:solidFill>
                  <a:srgbClr val="0F172A"/>
                </a:solidFill>
                <a:latin typeface="Segoe UI"/>
              </a:rPr>
              <a:t>• MFT (Minimum Functionality)</a:t>
            </a:r>
          </a:p>
          <a:p>
            <a:pPr>
              <a:spcAft>
                <a:spcPts val="1000"/>
              </a:spcAft>
              <a:defRPr sz="1600" b="0">
                <a:solidFill>
                  <a:srgbClr val="0F172A"/>
                </a:solidFill>
                <a:latin typeface="Segoe UI"/>
              </a:defRPr>
            </a:pPr>
            <a:r>
              <a:rPr sz="1600" b="0">
                <a:solidFill>
                  <a:srgbClr val="0F172A"/>
                </a:solidFill>
                <a:latin typeface="Segoe UI"/>
              </a:rPr>
              <a:t>• Slice-based testing</a:t>
            </a:r>
          </a:p>
          <a:p>
            <a:pPr>
              <a:spcAft>
                <a:spcPts val="1000"/>
              </a:spcAft>
              <a:defRPr sz="1600" b="0">
                <a:solidFill>
                  <a:srgbClr val="0F172A"/>
                </a:solidFill>
                <a:latin typeface="Segoe UI"/>
              </a:defRPr>
            </a:pPr>
            <a:r>
              <a:rPr sz="1600" b="0">
                <a:solidFill>
                  <a:srgbClr val="0F172A"/>
                </a:solidFill>
                <a:latin typeface="Segoe UI"/>
              </a:rPr>
              <a:t>• Integración con CI</a:t>
            </a:r>
          </a:p>
        </p:txBody>
      </p:sp>
    </p:spTree>
  </p:cSld>
  <p:clrMapOvr>
    <a:masterClrMapping/>
  </p:clrMapOvr>
</p:sld>
</file>

<file path=ppt/slides/slide10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los 4 tipos sobre un modelo de income prediction (Adult dataset proxy con California Housing modificado para el ejemplo).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fetch_california_housing(as_frame=True)</a:t>
            </a:r>
          </a:p>
          <a:p>
            <a:pPr>
              <a:defRPr sz="1200" b="0">
                <a:solidFill>
                  <a:srgbClr val="F8FAFC"/>
                </a:solidFill>
                <a:latin typeface="Courier New"/>
              </a:defRPr>
            </a:pPr>
            <a:r>
              <a:rPr sz="1200" b="0">
                <a:solidFill>
                  <a:srgbClr val="F8FAFC"/>
                </a:solidFill>
                <a:latin typeface="Courier New"/>
              </a:rPr>
              <a:t>df = data.data.copy()</a:t>
            </a:r>
          </a:p>
          <a:p>
            <a:pPr>
              <a:defRPr sz="1200" b="0">
                <a:solidFill>
                  <a:srgbClr val="F8FAFC"/>
                </a:solidFill>
                <a:latin typeface="Courier New"/>
              </a:defRPr>
            </a:pPr>
            <a:r>
              <a:rPr sz="1200" b="0">
                <a:solidFill>
                  <a:srgbClr val="F8FAFC"/>
                </a:solidFill>
                <a:latin typeface="Courier New"/>
              </a:rPr>
              <a:t># Convertimos a clasificación binaria: 'high income block' = target &gt; mediana</a:t>
            </a:r>
          </a:p>
          <a:p>
            <a:pPr>
              <a:defRPr sz="1200" b="0">
                <a:solidFill>
                  <a:srgbClr val="F8FAFC"/>
                </a:solidFill>
                <a:latin typeface="Courier New"/>
              </a:defRPr>
            </a:pPr>
            <a:r>
              <a:rPr sz="1200" b="0">
                <a:solidFill>
                  <a:srgbClr val="F8FAFC"/>
                </a:solidFill>
                <a:latin typeface="Courier New"/>
              </a:rPr>
              <a:t>df['high'] = (data.target &gt; data.target.median()).astype(int)</a:t>
            </a:r>
          </a:p>
          <a:p>
            <a:pPr>
              <a:defRPr sz="1200" b="0">
                <a:solidFill>
                  <a:srgbClr val="F8FAFC"/>
                </a:solidFill>
                <a:latin typeface="Courier New"/>
              </a:defRPr>
            </a:pPr>
            <a:r>
              <a:rPr sz="1200" b="0">
                <a:solidFill>
                  <a:srgbClr val="F8FAFC"/>
                </a:solidFill>
                <a:latin typeface="Courier New"/>
              </a:rPr>
              <a:t># Sintetizamos 'gender' aleatorio (sin info real → modelo NO debería usarlo)</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df['gender'] = rng.choice([0, 1], size=len(df))</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FEATURES = ['MedInc', 'HouseAge', 'AveRooms', 'AveBedrms', 'Population', 'AveOccup', 'Latitude', 'Longitude', 'gender']</a:t>
            </a:r>
          </a:p>
          <a:p>
            <a:pPr>
              <a:defRPr sz="1200" b="0">
                <a:solidFill>
                  <a:srgbClr val="F8FAFC"/>
                </a:solidFill>
                <a:latin typeface="Courier New"/>
              </a:defRPr>
            </a:pPr>
            <a:r>
              <a:rPr sz="1200" b="0">
                <a:solidFill>
                  <a:srgbClr val="F8FAFC"/>
                </a:solidFill>
                <a:latin typeface="Courier New"/>
              </a:rPr>
              <a:t>Xtr, Xte, ytr, yte = train_test_split(df[FEATURES], df['high'], test_size=0.3, random_state=42)</a:t>
            </a:r>
          </a:p>
          <a:p>
            <a:pPr>
              <a:defRPr sz="1200" b="0">
                <a:solidFill>
                  <a:srgbClr val="F8FAFC"/>
                </a:solidFill>
                <a:latin typeface="Courier New"/>
              </a:defRPr>
            </a:pPr>
            <a:r>
              <a:rPr sz="1200" b="0">
                <a:solidFill>
                  <a:srgbClr val="F8FAFC"/>
                </a:solidFill>
                <a:latin typeface="Courier New"/>
              </a:rPr>
              <a:t>model = RandomForestClassifier(n_estimators=200, random_state=42, n_jobs=-1).fit(Xtr, ytr)</a:t>
            </a:r>
          </a:p>
          <a:p>
            <a:pPr>
              <a:defRPr sz="1200" b="0">
                <a:solidFill>
                  <a:srgbClr val="F8FAFC"/>
                </a:solidFill>
                <a:latin typeface="Courier New"/>
              </a:defRPr>
            </a:pPr>
            <a:r>
              <a:rPr sz="1200" b="0">
                <a:solidFill>
                  <a:srgbClr val="F8FAFC"/>
                </a:solidFill>
                <a:latin typeface="Courier New"/>
              </a:rPr>
              <a:t>print('test acc:', model.score(Xte, yte))</a:t>
            </a:r>
          </a:p>
        </p:txBody>
      </p:sp>
    </p:spTree>
  </p:cSld>
  <p:clrMapOvr>
    <a:masterClrMapping/>
  </p:clrMapOvr>
</p:sld>
</file>

<file path=ppt/slides/slide10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MFT tabular: para un modelo de crédito sobre Adult, hand-craft 20 casos: 10 obvios "should approve" (alto ingreso, educación alta, sin debts) y 10 obvios "should reject" (ingreso bajo, edad joven, sin historial).</a:t>
            </a:r>
          </a:p>
          <a:p>
            <a:pPr>
              <a:spcAft>
                <a:spcPts val="800"/>
              </a:spcAft>
              <a:defRPr sz="1400" b="0">
                <a:solidFill>
                  <a:srgbClr val="0F172A"/>
                </a:solidFill>
                <a:latin typeface="Segoe UI"/>
              </a:defRPr>
            </a:pPr>
            <a:r>
              <a:rPr sz="1400" b="0">
                <a:solidFill>
                  <a:srgbClr val="0F172A"/>
                </a:solidFill>
                <a:latin typeface="Segoe UI"/>
              </a:rPr>
              <a:t>• Invariance — gender swap: tomá 500 registros, cambiá gender M ↔ F, dejá el resto igual.</a:t>
            </a:r>
          </a:p>
          <a:p>
            <a:pPr>
              <a:spcAft>
                <a:spcPts val="800"/>
              </a:spcAft>
              <a:defRPr sz="1400" b="0">
                <a:solidFill>
                  <a:srgbClr val="0F172A"/>
                </a:solidFill>
                <a:latin typeface="Segoe UI"/>
              </a:defRPr>
            </a:pPr>
            <a:r>
              <a:rPr sz="1400" b="0">
                <a:solidFill>
                  <a:srgbClr val="0F172A"/>
                </a:solidFill>
                <a:latin typeface="Segoe UI"/>
              </a:rPr>
              <a:t>• Directional — income up: para los mismos 500, multiplicá income × 1.5.</a:t>
            </a:r>
          </a:p>
          <a:p>
            <a:pPr>
              <a:spcAft>
                <a:spcPts val="800"/>
              </a:spcAft>
              <a:defRPr sz="1400" b="0">
                <a:solidFill>
                  <a:srgbClr val="0F172A"/>
                </a:solidFill>
                <a:latin typeface="Segoe UI"/>
              </a:defRPr>
            </a:pPr>
            <a:r>
              <a:rPr sz="1400" b="0">
                <a:solidFill>
                  <a:srgbClr val="0F172A"/>
                </a:solidFill>
                <a:latin typeface="Segoe UI"/>
              </a:rPr>
              <a:t>• Slice-based: calculá accuracy por slice (gender × race × age_bucket).</a:t>
            </a:r>
          </a:p>
          <a:p>
            <a:pPr>
              <a:spcAft>
                <a:spcPts val="800"/>
              </a:spcAft>
              <a:defRPr sz="1400" b="0">
                <a:solidFill>
                  <a:srgbClr val="0F172A"/>
                </a:solidFill>
                <a:latin typeface="Segoe UI"/>
              </a:defRPr>
            </a:pPr>
            <a:r>
              <a:rPr sz="1400" b="0">
                <a:solidFill>
                  <a:srgbClr val="0F172A"/>
                </a:solidFill>
                <a:latin typeface="Segoe UI"/>
              </a:rPr>
              <a:t>• Pytest gate: empaquetá los 4 tests anteriores en tests/test_model_behavior.py.</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tests/test_model_behavior.py con ≥4 tests: 1 MFT, 1 INV, 1 DIR, 1 slice-based.</a:t>
            </a:r>
          </a:p>
          <a:p>
            <a:pPr>
              <a:spcAft>
                <a:spcPts val="800"/>
              </a:spcAft>
              <a:defRPr sz="1400" b="0">
                <a:solidFill>
                  <a:srgbClr val="0F172A"/>
                </a:solidFill>
                <a:latin typeface="Segoe UI"/>
              </a:defRPr>
            </a:pPr>
            <a:r>
              <a:rPr sz="1400" b="0">
                <a:solidFill>
                  <a:srgbClr val="0F172A"/>
                </a:solidFill>
                <a:latin typeface="Segoe UI"/>
              </a:rPr>
              <a:t>• CI workflow que corre pytest tests/test_model_behavior.py después de cada training.</a:t>
            </a:r>
          </a:p>
          <a:p>
            <a:pPr>
              <a:spcAft>
                <a:spcPts val="800"/>
              </a:spcAft>
              <a:defRPr sz="1400" b="0">
                <a:solidFill>
                  <a:srgbClr val="0F172A"/>
                </a:solidFill>
                <a:latin typeface="Segoe UI"/>
              </a:defRPr>
            </a:pPr>
            <a:r>
              <a:rPr sz="1400" b="0">
                <a:solidFill>
                  <a:srgbClr val="0F172A"/>
                </a:solidFill>
                <a:latin typeface="Segoe UI"/>
              </a:rPr>
              <a:t>• deepchecks full suite ejecutado, reporte HTML guardado.</a:t>
            </a:r>
          </a:p>
          <a:p>
            <a:pPr>
              <a:spcAft>
                <a:spcPts val="800"/>
              </a:spcAft>
              <a:defRPr sz="1400" b="0">
                <a:solidFill>
                  <a:srgbClr val="0F172A"/>
                </a:solidFill>
                <a:latin typeface="Segoe UI"/>
              </a:defRPr>
            </a:pPr>
            <a:r>
              <a:rPr sz="1400" b="0">
                <a:solidFill>
                  <a:srgbClr val="0F172A"/>
                </a:solidFill>
                <a:latin typeface="Segoe UI"/>
              </a:rPr>
              <a:t>• Reporte por slice (markdown) con métricas en gender, race, age_bucket y bottom-5 worst slices identificados.</a:t>
            </a:r>
          </a:p>
          <a:p>
            <a:pPr>
              <a:spcAft>
                <a:spcPts val="800"/>
              </a:spcAft>
              <a:defRPr sz="1400" b="0">
                <a:solidFill>
                  <a:srgbClr val="0F172A"/>
                </a:solidFill>
                <a:latin typeface="Segoe UI"/>
              </a:defRPr>
            </a:pPr>
            <a:r>
              <a:rPr sz="1400" b="0">
                <a:solidFill>
                  <a:srgbClr val="0F172A"/>
                </a:solidFill>
                <a:latin typeface="Segoe UI"/>
              </a:rPr>
              <a:t>• Documentación de 3 bugs reales encontrados por estos tests durante el desarrollo (puede ser bug fixed; lo importante es demostrar que los tests sirven).</a:t>
            </a:r>
          </a:p>
        </p:txBody>
      </p:sp>
    </p:spTree>
  </p:cSld>
  <p:clrMapOvr>
    <a:masterClrMapping/>
  </p:clrMapOvr>
</p:sld>
</file>

<file path=ppt/slides/slide104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5 — Ingeniería de Datos · 8 clases</a:t>
            </a:r>
          </a:p>
        </p:txBody>
      </p:sp>
    </p:spTree>
  </p:cSld>
  <p:clrMapOvr>
    <a:masterClrMapping/>
  </p:clrMapOvr>
</p:sld>
</file>

<file path=ppt/slides/slide104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208 — Pipelines ETL/ELT con Airflow</a:t>
            </a:r>
          </a:p>
        </p:txBody>
      </p:sp>
    </p:spTree>
  </p:cSld>
  <p:clrMapOvr>
    <a:masterClrMapping/>
  </p:clrMapOvr>
</p:sld>
</file>

<file path=ppt/slides/slide10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208 — Pipelines ETL/ELT con Airflow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Reis &amp; Housley Fundamentals of Data Engineering (O'Reilly, 2022) cap. 8 + Airflow docs 2.10+.  Duración estimada: 80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Escribir DAGs de Airflow 2.x con la API moderna (TaskFlow + @dag/@task decorators), entender la diferencia entre ETL (transform antes de cargar) y ELT (cargar al warehouse y transformar ahí), y orquestar un pipeline extract → load → transform → notify con retries, SLAs y backfill.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DAG con TaskFlow API (@dag, @task) y entender el grafo resultante.</a:t>
            </a:r>
          </a:p>
          <a:p>
            <a:pPr>
              <a:spcAft>
                <a:spcPts val="800"/>
              </a:spcAft>
              <a:defRPr sz="1400" b="0">
                <a:solidFill>
                  <a:srgbClr val="0F172A"/>
                </a:solidFill>
                <a:latin typeface="Segoe UI"/>
              </a:defRPr>
            </a:pPr>
            <a:r>
              <a:rPr sz="1400" b="0">
                <a:solidFill>
                  <a:srgbClr val="0F172A"/>
                </a:solidFill>
                <a:latin typeface="Segoe UI"/>
              </a:rPr>
              <a:t>• Diferenciar ETL (clásico) de ELT (moderno, warehouse-first) y elegir según contexto.</a:t>
            </a:r>
          </a:p>
          <a:p>
            <a:pPr>
              <a:spcAft>
                <a:spcPts val="800"/>
              </a:spcAft>
              <a:defRPr sz="1400" b="0">
                <a:solidFill>
                  <a:srgbClr val="0F172A"/>
                </a:solidFill>
                <a:latin typeface="Segoe UI"/>
              </a:defRPr>
            </a:pPr>
            <a:r>
              <a:rPr sz="1400" b="0">
                <a:solidFill>
                  <a:srgbClr val="0F172A"/>
                </a:solidFill>
                <a:latin typeface="Segoe UI"/>
              </a:rPr>
              <a:t>• Configurar retries, SLAs, trigger rules (all_success, one_failed, none_failed), y XComs.</a:t>
            </a:r>
          </a:p>
          <a:p>
            <a:pPr>
              <a:spcAft>
                <a:spcPts val="800"/>
              </a:spcAft>
              <a:defRPr sz="1400" b="0">
                <a:solidFill>
                  <a:srgbClr val="0F172A"/>
                </a:solidFill>
                <a:latin typeface="Segoe UI"/>
              </a:defRPr>
            </a:pPr>
            <a:r>
              <a:rPr sz="1400" b="0">
                <a:solidFill>
                  <a:srgbClr val="0F172A"/>
                </a:solidFill>
                <a:latin typeface="Segoe UI"/>
              </a:rPr>
              <a:t>• Hacer backfill (airflow dags backfill) para reprocesar fechas históricas sin duplicar.</a:t>
            </a:r>
          </a:p>
          <a:p>
            <a:pPr>
              <a:spcAft>
                <a:spcPts val="800"/>
              </a:spcAft>
              <a:defRPr sz="1400" b="0">
                <a:solidFill>
                  <a:srgbClr val="0F172A"/>
                </a:solidFill>
                <a:latin typeface="Segoe UI"/>
              </a:defRPr>
            </a:pPr>
            <a:r>
              <a:rPr sz="1400" b="0">
                <a:solidFill>
                  <a:srgbClr val="0F172A"/>
                </a:solidFill>
                <a:latin typeface="Segoe UI"/>
              </a:rPr>
              <a:t>• Diagnosticar Task stuck in queued, Worker died, DAG not appearing con airflow dags list, logs, y airflow.cfg.</a:t>
            </a:r>
          </a:p>
        </p:txBody>
      </p:sp>
    </p:spTree>
  </p:cSld>
  <p:clrMapOvr>
    <a:masterClrMapping/>
  </p:clrMapOvr>
</p:sld>
</file>

<file path=ppt/slides/slide10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208 — Pipelines ETL/ELT con Airflow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ETL vs ELT — cuándo cada uno</a:t>
            </a:r>
          </a:p>
          <a:p>
            <a:pPr>
              <a:spcAft>
                <a:spcPts val="1000"/>
              </a:spcAft>
              <a:defRPr sz="1600" b="0">
                <a:solidFill>
                  <a:srgbClr val="0F172A"/>
                </a:solidFill>
                <a:latin typeface="Segoe UI"/>
              </a:defRPr>
            </a:pPr>
            <a:r>
              <a:rPr sz="1600" b="0">
                <a:solidFill>
                  <a:srgbClr val="0F172A"/>
                </a:solidFill>
                <a:latin typeface="Segoe UI"/>
              </a:rPr>
              <a:t>• DAG = grafo dirigido acíclico</a:t>
            </a:r>
          </a:p>
          <a:p>
            <a:pPr>
              <a:spcAft>
                <a:spcPts val="1000"/>
              </a:spcAft>
              <a:defRPr sz="1600" b="0">
                <a:solidFill>
                  <a:srgbClr val="0F172A"/>
                </a:solidFill>
                <a:latin typeface="Segoe UI"/>
              </a:defRPr>
            </a:pPr>
            <a:r>
              <a:rPr sz="1600" b="0">
                <a:solidFill>
                  <a:srgbClr val="0F172A"/>
                </a:solidFill>
                <a:latin typeface="Segoe UI"/>
              </a:rPr>
              <a:t>• TaskFlow API vs Operators clásicos</a:t>
            </a:r>
          </a:p>
          <a:p>
            <a:pPr>
              <a:spcAft>
                <a:spcPts val="1000"/>
              </a:spcAft>
              <a:defRPr sz="1600" b="0">
                <a:solidFill>
                  <a:srgbClr val="0F172A"/>
                </a:solidFill>
                <a:latin typeface="Segoe UI"/>
              </a:defRPr>
            </a:pPr>
            <a:r>
              <a:rPr sz="1600" b="0">
                <a:solidFill>
                  <a:srgbClr val="0F172A"/>
                </a:solidFill>
                <a:latin typeface="Segoe UI"/>
              </a:rPr>
              <a:t>• XComs — pasar data entre tasks</a:t>
            </a:r>
          </a:p>
          <a:p>
            <a:pPr>
              <a:spcAft>
                <a:spcPts val="1000"/>
              </a:spcAft>
              <a:defRPr sz="1600" b="0">
                <a:solidFill>
                  <a:srgbClr val="0F172A"/>
                </a:solidFill>
                <a:latin typeface="Segoe UI"/>
              </a:defRPr>
            </a:pPr>
            <a:r>
              <a:rPr sz="1600" b="0">
                <a:solidFill>
                  <a:srgbClr val="0F172A"/>
                </a:solidFill>
                <a:latin typeface="Segoe UI"/>
              </a:rPr>
              <a:t>• Schedule + catchup + backfill</a:t>
            </a:r>
          </a:p>
          <a:p>
            <a:pPr>
              <a:spcAft>
                <a:spcPts val="1000"/>
              </a:spcAft>
              <a:defRPr sz="1600" b="0">
                <a:solidFill>
                  <a:srgbClr val="0F172A"/>
                </a:solidFill>
                <a:latin typeface="Segoe UI"/>
              </a:defRPr>
            </a:pPr>
            <a:r>
              <a:rPr sz="1600" b="0">
                <a:solidFill>
                  <a:srgbClr val="0F172A"/>
                </a:solidFill>
                <a:latin typeface="Segoe UI"/>
              </a:rPr>
              <a:t>• Sensors, hooks, providers</a:t>
            </a:r>
          </a:p>
        </p:txBody>
      </p:sp>
    </p:spTree>
  </p:cSld>
  <p:clrMapOvr>
    <a:masterClrMapping/>
  </p:clrMapOvr>
</p:sld>
</file>

<file path=ppt/slides/slide10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208 — Pipelines ETL/ELT con Airflow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Notebook declarativo. Genera el DAG y el docker-compose. Para correrlo en vivo: docker-compose up y abrir la UI en localhost:8080.</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'airflow_demo'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 / 'dags').mkdir(parents=True)</a:t>
            </a:r>
          </a:p>
          <a:p>
            <a:pPr>
              <a:defRPr sz="1200" b="0">
                <a:solidFill>
                  <a:srgbClr val="F8FAFC"/>
                </a:solidFill>
                <a:latin typeface="Courier New"/>
              </a:defRPr>
            </a:pPr>
            <a:r>
              <a:rPr sz="1200" b="0">
                <a:solidFill>
                  <a:srgbClr val="F8FAFC"/>
                </a:solidFill>
                <a:latin typeface="Courier New"/>
              </a:rPr>
              <a:t>os.chdir(WORK)</a:t>
            </a:r>
          </a:p>
          <a:p>
            <a:pPr>
              <a:defRPr sz="1200" b="0">
                <a:solidFill>
                  <a:srgbClr val="F8FAFC"/>
                </a:solidFill>
                <a:latin typeface="Courier New"/>
              </a:defRPr>
            </a:pPr>
            <a:r>
              <a:rPr sz="1200" b="0">
                <a:solidFill>
                  <a:srgbClr val="F8FAFC"/>
                </a:solidFill>
                <a:latin typeface="Courier New"/>
              </a:rPr>
              <a:t>print('cwd:', Path.cwd())</a:t>
            </a:r>
          </a:p>
        </p:txBody>
      </p:sp>
    </p:spTree>
  </p:cSld>
  <p:clrMapOvr>
    <a:masterClrMapping/>
  </p:clrMapOvr>
</p:sld>
</file>

<file path=ppt/slides/slide10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208 — Pipelines ETL/ELT con Airflow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DAG mínimo TaskFlow: 3 tasks: extract (descarga CSV), transform (limpia con pandas), load (escribe a DuckDB).</a:t>
            </a:r>
          </a:p>
          <a:p>
            <a:pPr>
              <a:spcAft>
                <a:spcPts val="800"/>
              </a:spcAft>
              <a:defRPr sz="1400" b="0">
                <a:solidFill>
                  <a:srgbClr val="0F172A"/>
                </a:solidFill>
                <a:latin typeface="Segoe UI"/>
              </a:defRPr>
            </a:pPr>
            <a:r>
              <a:rPr sz="1400" b="0">
                <a:solidFill>
                  <a:srgbClr val="0F172A"/>
                </a:solidFill>
                <a:latin typeface="Segoe UI"/>
              </a:rPr>
              <a:t>• Schedule + catchup: schedule='@daily', start_date=days_ago(7), catchup=True.</a:t>
            </a:r>
          </a:p>
          <a:p>
            <a:pPr>
              <a:spcAft>
                <a:spcPts val="800"/>
              </a:spcAft>
              <a:defRPr sz="1400" b="0">
                <a:solidFill>
                  <a:srgbClr val="0F172A"/>
                </a:solidFill>
                <a:latin typeface="Segoe UI"/>
              </a:defRPr>
            </a:pPr>
            <a:r>
              <a:rPr sz="1400" b="0">
                <a:solidFill>
                  <a:srgbClr val="0F172A"/>
                </a:solidFill>
                <a:latin typeface="Segoe UI"/>
              </a:rPr>
              <a:t>• Retries + SLA: agregá retries=3, retry_delay=timedelta(minutes=2), sla=timedelta(minutes=10) al transform.</a:t>
            </a:r>
          </a:p>
          <a:p>
            <a:pPr>
              <a:spcAft>
                <a:spcPts val="800"/>
              </a:spcAft>
              <a:defRPr sz="1400" b="0">
                <a:solidFill>
                  <a:srgbClr val="0F172A"/>
                </a:solidFill>
                <a:latin typeface="Segoe UI"/>
              </a:defRPr>
            </a:pPr>
            <a:r>
              <a:rPr sz="1400" b="0">
                <a:solidFill>
                  <a:srgbClr val="0F172A"/>
                </a:solidFill>
                <a:latin typeface="Segoe UI"/>
              </a:rPr>
              <a:t>• XCom: extract devuelve un dict pequeño (filename + row count).</a:t>
            </a:r>
          </a:p>
          <a:p>
            <a:pPr>
              <a:spcAft>
                <a:spcPts val="800"/>
              </a:spcAft>
              <a:defRPr sz="1400" b="0">
                <a:solidFill>
                  <a:srgbClr val="0F172A"/>
                </a:solidFill>
                <a:latin typeface="Segoe UI"/>
              </a:defRPr>
            </a:pPr>
            <a:r>
              <a:rPr sz="1400" b="0">
                <a:solidFill>
                  <a:srgbClr val="0F172A"/>
                </a:solidFill>
                <a:latin typeface="Segoe UI"/>
              </a:rPr>
              <a:t>• Backfill: airflow dags backfill --start-date 2026-06-01 --end-date 2026-06-05 my_dag.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Corre cada hora (schedule='@hourly').</a:t>
            </a:r>
          </a:p>
          <a:p>
            <a:pPr>
              <a:spcAft>
                <a:spcPts val="800"/>
              </a:spcAft>
              <a:defRPr sz="1400" b="0">
                <a:solidFill>
                  <a:srgbClr val="0F172A"/>
                </a:solidFill>
                <a:latin typeface="Segoe UI"/>
              </a:defRPr>
            </a:pPr>
            <a:r>
              <a:rPr sz="1400" b="0">
                <a:solidFill>
                  <a:srgbClr val="0F172A"/>
                </a:solidFill>
                <a:latin typeface="Segoe UI"/>
              </a:rPr>
              <a:t>• Extrae data de una API pública (ej. CoinGecko BTC price), la carga a DuckDB.</a:t>
            </a:r>
          </a:p>
          <a:p>
            <a:pPr>
              <a:spcAft>
                <a:spcPts val="800"/>
              </a:spcAft>
              <a:defRPr sz="1400" b="0">
                <a:solidFill>
                  <a:srgbClr val="0F172A"/>
                </a:solidFill>
                <a:latin typeface="Segoe UI"/>
              </a:defRPr>
            </a:pPr>
            <a:r>
              <a:rPr sz="1400" b="0">
                <a:solidFill>
                  <a:srgbClr val="0F172A"/>
                </a:solidFill>
                <a:latin typeface="Segoe UI"/>
              </a:rPr>
              <a:t>• Transforma con SQL (run_sql task usando DuckDBHook).</a:t>
            </a:r>
          </a:p>
          <a:p>
            <a:pPr>
              <a:spcAft>
                <a:spcPts val="800"/>
              </a:spcAft>
              <a:defRPr sz="1400" b="0">
                <a:solidFill>
                  <a:srgbClr val="0F172A"/>
                </a:solidFill>
                <a:latin typeface="Segoe UI"/>
              </a:defRPr>
            </a:pPr>
            <a:r>
              <a:rPr sz="1400" b="0">
                <a:solidFill>
                  <a:srgbClr val="0F172A"/>
                </a:solidFill>
                <a:latin typeface="Segoe UI"/>
              </a:rPr>
              <a:t>• Calcula métrica (avg price 24h) y la postea a Slack via SlackWebhookOperator.</a:t>
            </a:r>
          </a:p>
          <a:p>
            <a:pPr>
              <a:spcAft>
                <a:spcPts val="800"/>
              </a:spcAft>
              <a:defRPr sz="1400" b="0">
                <a:solidFill>
                  <a:srgbClr val="0F172A"/>
                </a:solidFill>
                <a:latin typeface="Segoe UI"/>
              </a:defRPr>
            </a:pPr>
            <a:r>
              <a:rPr sz="1400" b="0">
                <a:solidFill>
                  <a:srgbClr val="0F172A"/>
                </a:solidFill>
                <a:latin typeface="Segoe UI"/>
              </a:rPr>
              <a:t>• SLA de 5 min en extract, retries=3.</a:t>
            </a:r>
          </a:p>
        </p:txBody>
      </p:sp>
    </p:spTree>
  </p:cSld>
  <p:clrMapOvr>
    <a:masterClrMapping/>
  </p:clrMapOvr>
</p:sld>
</file>

<file path=ppt/slides/slide104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209 — Pipelines con Prefect o Dagster</a:t>
            </a:r>
          </a:p>
        </p:txBody>
      </p:sp>
    </p:spTree>
  </p:cSld>
  <p:clrMapOvr>
    <a:masterClrMapping/>
  </p:clrMapOvr>
</p:sld>
</file>

<file path=ppt/slides/slide10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209 — Pipelines con Prefect o Dagster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Prefect 3 docs + Dagster docs + Reis &amp; Housley cap. 8.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el mismo pipeline de Clase 208 con Prefect 3 (API Python moderna, hybrid execution) y con Dagster (asset-oriented, mejor lineage). Entender qué problemas resuelven mejor que Airflow y cuándo elegir cada uno.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flow Prefect con @flow/@task, deployments, work pools y workers.</a:t>
            </a:r>
          </a:p>
          <a:p>
            <a:pPr>
              <a:spcAft>
                <a:spcPts val="800"/>
              </a:spcAft>
              <a:defRPr sz="1400" b="0">
                <a:solidFill>
                  <a:srgbClr val="0F172A"/>
                </a:solidFill>
                <a:latin typeface="Segoe UI"/>
              </a:defRPr>
            </a:pPr>
            <a:r>
              <a:rPr sz="1400" b="0">
                <a:solidFill>
                  <a:srgbClr val="0F172A"/>
                </a:solidFill>
                <a:latin typeface="Segoe UI"/>
              </a:rPr>
              <a:t>• Definir assets Dagster (@asset) y entender la diferencia entre "task-oriented" (Airflow/Prefect) y "asset-oriented" (Dagster).</a:t>
            </a:r>
          </a:p>
          <a:p>
            <a:pPr>
              <a:spcAft>
                <a:spcPts val="800"/>
              </a:spcAft>
              <a:defRPr sz="1400" b="0">
                <a:solidFill>
                  <a:srgbClr val="0F172A"/>
                </a:solidFill>
                <a:latin typeface="Segoe UI"/>
              </a:defRPr>
            </a:pPr>
            <a:r>
              <a:rPr sz="1400" b="0">
                <a:solidFill>
                  <a:srgbClr val="0F172A"/>
                </a:solidFill>
                <a:latin typeface="Segoe UI"/>
              </a:rPr>
              <a:t>• Configurar hybrid execution Prefect: control plane en cloud, workers en tu infra (sin enviar data sensible).</a:t>
            </a:r>
          </a:p>
          <a:p>
            <a:pPr>
              <a:spcAft>
                <a:spcPts val="800"/>
              </a:spcAft>
              <a:defRPr sz="1400" b="0">
                <a:solidFill>
                  <a:srgbClr val="0F172A"/>
                </a:solidFill>
                <a:latin typeface="Segoe UI"/>
              </a:defRPr>
            </a:pPr>
            <a:r>
              <a:rPr sz="1400" b="0">
                <a:solidFill>
                  <a:srgbClr val="0F172A"/>
                </a:solidFill>
                <a:latin typeface="Segoe UI"/>
              </a:rPr>
              <a:t>• Usar Dagster's UI para ver lineage automático: qué asset depende de qué, cuándo se materializó cada uno.</a:t>
            </a:r>
          </a:p>
          <a:p>
            <a:pPr>
              <a:spcAft>
                <a:spcPts val="800"/>
              </a:spcAft>
              <a:defRPr sz="1400" b="0">
                <a:solidFill>
                  <a:srgbClr val="0F172A"/>
                </a:solidFill>
                <a:latin typeface="Segoe UI"/>
              </a:defRPr>
            </a:pPr>
            <a:r>
              <a:rPr sz="1400" b="0">
                <a:solidFill>
                  <a:srgbClr val="0F172A"/>
                </a:solidFill>
                <a:latin typeface="Segoe UI"/>
              </a:rPr>
              <a:t>• Decidir Airflow vs Prefect vs Dagster según contexto (equipo, escala, tipo de pipeline).</a:t>
            </a:r>
          </a:p>
        </p:txBody>
      </p:sp>
    </p:spTree>
  </p:cSld>
  <p:clrMapOvr>
    <a:masterClrMapping/>
  </p:clrMapOvr>
</p:sld>
</file>

<file path=ppt/slides/slide10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209 — Pipelines con Prefect o Dagster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Prefect 3: flows, tasks, deployments</a:t>
            </a:r>
          </a:p>
          <a:p>
            <a:pPr>
              <a:spcAft>
                <a:spcPts val="1000"/>
              </a:spcAft>
              <a:defRPr sz="1600" b="0">
                <a:solidFill>
                  <a:srgbClr val="0F172A"/>
                </a:solidFill>
                <a:latin typeface="Segoe UI"/>
              </a:defRPr>
            </a:pPr>
            <a:r>
              <a:rPr sz="1600" b="0">
                <a:solidFill>
                  <a:srgbClr val="0F172A"/>
                </a:solidFill>
                <a:latin typeface="Segoe UI"/>
              </a:rPr>
              <a:t>• Work pools + workers</a:t>
            </a:r>
          </a:p>
          <a:p>
            <a:pPr>
              <a:spcAft>
                <a:spcPts val="1000"/>
              </a:spcAft>
              <a:defRPr sz="1600" b="0">
                <a:solidFill>
                  <a:srgbClr val="0F172A"/>
                </a:solidFill>
                <a:latin typeface="Segoe UI"/>
              </a:defRPr>
            </a:pPr>
            <a:r>
              <a:rPr sz="1600" b="0">
                <a:solidFill>
                  <a:srgbClr val="0F172A"/>
                </a:solidFill>
                <a:latin typeface="Segoe UI"/>
              </a:rPr>
              <a:t>• Dagster: asset-oriented vs task-oriented</a:t>
            </a:r>
          </a:p>
          <a:p>
            <a:pPr>
              <a:spcAft>
                <a:spcPts val="1000"/>
              </a:spcAft>
              <a:defRPr sz="1600" b="0">
                <a:solidFill>
                  <a:srgbClr val="0F172A"/>
                </a:solidFill>
                <a:latin typeface="Segoe UI"/>
              </a:defRPr>
            </a:pPr>
            <a:r>
              <a:rPr sz="1600" b="0">
                <a:solidFill>
                  <a:srgbClr val="0F172A"/>
                </a:solidFill>
                <a:latin typeface="Segoe UI"/>
              </a:rPr>
              <a:t>• Software-defined assets (SDA)</a:t>
            </a:r>
          </a:p>
          <a:p>
            <a:pPr>
              <a:spcAft>
                <a:spcPts val="1000"/>
              </a:spcAft>
              <a:defRPr sz="1600" b="0">
                <a:solidFill>
                  <a:srgbClr val="0F172A"/>
                </a:solidFill>
                <a:latin typeface="Segoe UI"/>
              </a:defRPr>
            </a:pPr>
            <a:r>
              <a:rPr sz="1600" b="0">
                <a:solidFill>
                  <a:srgbClr val="0F172A"/>
                </a:solidFill>
                <a:latin typeface="Segoe UI"/>
              </a:rPr>
              <a:t>• Scheduling: cron, interval, event-driven</a:t>
            </a:r>
          </a:p>
          <a:p>
            <a:pPr>
              <a:spcAft>
                <a:spcPts val="1000"/>
              </a:spcAft>
              <a:defRPr sz="1600" b="0">
                <a:solidFill>
                  <a:srgbClr val="0F172A"/>
                </a:solidFill>
                <a:latin typeface="Segoe UI"/>
              </a:defRPr>
            </a:pPr>
            <a:r>
              <a:rPr sz="1600" b="0">
                <a:solidFill>
                  <a:srgbClr val="0F172A"/>
                </a:solidFill>
                <a:latin typeface="Segoe UI"/>
              </a:rPr>
              <a:t>• Cuándo migrar de Airflow</a:t>
            </a:r>
          </a:p>
        </p:txBody>
      </p:sp>
    </p:spTree>
  </p:cSld>
  <p:clrMapOvr>
    <a:masterClrMapping/>
  </p:clrMapOvr>
</p:sld>
</file>

<file path=ppt/slides/slide10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209 — Pipelines con Prefect o Dagster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Mismo pipeline BTC, implementado en Prefect y en Dagster. Comparación lado a lado.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 json</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'flows_demo'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p:txBody>
      </p:sp>
    </p:spTree>
  </p:cSld>
  <p:clrMapOvr>
    <a:masterClrMapping/>
  </p:clrMapOvr>
</p:sld>
</file>

<file path=ppt/slides/slide10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209 — Pipelines con Prefect o Dagster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Prefect flow: copiá la lógica del DAG Airflow al patrón Prefect: @flow def btc_pipeline(): notify(transform(load(extract()))).</a:t>
            </a:r>
          </a:p>
          <a:p>
            <a:pPr>
              <a:spcAft>
                <a:spcPts val="800"/>
              </a:spcAft>
              <a:defRPr sz="1400" b="0">
                <a:solidFill>
                  <a:srgbClr val="0F172A"/>
                </a:solidFill>
                <a:latin typeface="Segoe UI"/>
              </a:defRPr>
            </a:pPr>
            <a:r>
              <a:rPr sz="1400" b="0">
                <a:solidFill>
                  <a:srgbClr val="0F172A"/>
                </a:solidFill>
                <a:latin typeface="Segoe UI"/>
              </a:rPr>
              <a:t>• Deployment Prefect: flow.serve(name="btc-hourly", cron="0    ").</a:t>
            </a:r>
          </a:p>
          <a:p>
            <a:pPr>
              <a:spcAft>
                <a:spcPts val="800"/>
              </a:spcAft>
              <a:defRPr sz="1400" b="0">
                <a:solidFill>
                  <a:srgbClr val="0F172A"/>
                </a:solidFill>
                <a:latin typeface="Segoe UI"/>
              </a:defRPr>
            </a:pPr>
            <a:r>
              <a:rPr sz="1400" b="0">
                <a:solidFill>
                  <a:srgbClr val="0F172A"/>
                </a:solidFill>
                <a:latin typeface="Segoe UI"/>
              </a:rPr>
              <a:t>• Dagster assets: convertí las funciones a @asset def btc_price(), @asset def daily_avg(btc_price).</a:t>
            </a:r>
          </a:p>
          <a:p>
            <a:pPr>
              <a:spcAft>
                <a:spcPts val="800"/>
              </a:spcAft>
              <a:defRPr sz="1400" b="0">
                <a:solidFill>
                  <a:srgbClr val="0F172A"/>
                </a:solidFill>
                <a:latin typeface="Segoe UI"/>
              </a:defRPr>
            </a:pPr>
            <a:r>
              <a:rPr sz="1400" b="0">
                <a:solidFill>
                  <a:srgbClr val="0F172A"/>
                </a:solidFill>
                <a:latin typeface="Segoe UI"/>
              </a:rPr>
              <a:t>• Materializar: en Dagster UI, click "Materialize" sobre btc_price.</a:t>
            </a:r>
          </a:p>
          <a:p>
            <a:pPr>
              <a:spcAft>
                <a:spcPts val="800"/>
              </a:spcAft>
              <a:defRPr sz="1400" b="0">
                <a:solidFill>
                  <a:srgbClr val="0F172A"/>
                </a:solidFill>
                <a:latin typeface="Segoe UI"/>
              </a:defRPr>
            </a:pPr>
            <a:r>
              <a:rPr sz="1400" b="0">
                <a:solidFill>
                  <a:srgbClr val="0F172A"/>
                </a:solidFill>
                <a:latin typeface="Segoe UI"/>
              </a:rPr>
              <a:t>• Comparativa: mismo pipeline en Airflow + Prefect + Dagster.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airflow/dags/btc.py (de Clase 208).</a:t>
            </a:r>
          </a:p>
          <a:p>
            <a:pPr>
              <a:spcAft>
                <a:spcPts val="800"/>
              </a:spcAft>
              <a:defRPr sz="1400" b="0">
                <a:solidFill>
                  <a:srgbClr val="0F172A"/>
                </a:solidFill>
                <a:latin typeface="Segoe UI"/>
              </a:defRPr>
            </a:pPr>
            <a:r>
              <a:rPr sz="1400" b="0">
                <a:solidFill>
                  <a:srgbClr val="0F172A"/>
                </a:solidFill>
                <a:latin typeface="Segoe UI"/>
              </a:rPr>
              <a:t>• prefect/btc.py con @flow/@task y deployment programado.</a:t>
            </a:r>
          </a:p>
          <a:p>
            <a:pPr>
              <a:spcAft>
                <a:spcPts val="800"/>
              </a:spcAft>
              <a:defRPr sz="1400" b="0">
                <a:solidFill>
                  <a:srgbClr val="0F172A"/>
                </a:solidFill>
                <a:latin typeface="Segoe UI"/>
              </a:defRPr>
            </a:pPr>
            <a:r>
              <a:rPr sz="1400" b="0">
                <a:solidFill>
                  <a:srgbClr val="0F172A"/>
                </a:solidFill>
                <a:latin typeface="Segoe UI"/>
              </a:rPr>
              <a:t>• dagster/btc.py con @asset definitions y un Definitions object.</a:t>
            </a:r>
          </a:p>
          <a:p>
            <a:pPr>
              <a:spcAft>
                <a:spcPts val="800"/>
              </a:spcAft>
              <a:defRPr sz="1400" b="0">
                <a:solidFill>
                  <a:srgbClr val="0F172A"/>
                </a:solidFill>
                <a:latin typeface="Segoe UI"/>
              </a:defRPr>
            </a:pPr>
            <a:r>
              <a:rPr sz="1400" b="0">
                <a:solidFill>
                  <a:srgbClr val="0F172A"/>
                </a:solidFill>
                <a:latin typeface="Segoe UI"/>
              </a:rPr>
              <a:t>• README comparativo: LOC, complejidad de setup, calidad de UI, lineage support, cuándo elegir cada uno.</a:t>
            </a:r>
          </a:p>
          <a:p>
            <a:pPr>
              <a:spcAft>
                <a:spcPts val="800"/>
              </a:spcAft>
              <a:defRPr sz="1400" b="0">
                <a:solidFill>
                  <a:srgbClr val="0F172A"/>
                </a:solidFill>
                <a:latin typeface="Segoe UI"/>
              </a:defRPr>
            </a:pPr>
            <a:r>
              <a:rPr sz="1400" b="0">
                <a:solidFill>
                  <a:srgbClr val="0F172A"/>
                </a:solidFill>
                <a:latin typeface="Segoe UI"/>
              </a:rPr>
              <a:t>• Bonus: GitHub Actions que corre los 3 en CI y verifica que producen el mismo output.</a:t>
            </a:r>
          </a:p>
        </p:txBody>
      </p:sp>
    </p:spTree>
  </p:cSld>
  <p:clrMapOvr>
    <a:masterClrMapping/>
  </p:clrMapOvr>
</p:sld>
</file>

<file path=ppt/slides/slide105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210 — PySpark para datasets grandes</a:t>
            </a:r>
          </a:p>
        </p:txBody>
      </p:sp>
    </p:spTree>
  </p:cSld>
  <p:clrMapOvr>
    <a:masterClrMapping/>
  </p:clrMapOvr>
</p:sld>
</file>

<file path=ppt/slides/slide10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Chambers &amp; Zaharia Spark: The Definitive Guide (O'Reilly, 2018) + PySpark docs 3.5+.  Duración estimada: 90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Procesar datasets que no entran en RAM con PySpark 3.5+: DataFrames con lazy evaluation, Spark SQL, particionado, joins eficientes (broadcast vs shuffle), y entender cuándo Spark gana vs pandas/Polars (&gt;10 GB) y cuándo pierde (&lt;1 GB, dev local).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una SparkSession (local o cluster) y leer Parquet/CSV/JSON con schema inference o explícito.</a:t>
            </a:r>
          </a:p>
          <a:p>
            <a:pPr>
              <a:spcAft>
                <a:spcPts val="800"/>
              </a:spcAft>
              <a:defRPr sz="1400" b="0">
                <a:solidFill>
                  <a:srgbClr val="0F172A"/>
                </a:solidFill>
                <a:latin typeface="Segoe UI"/>
              </a:defRPr>
            </a:pPr>
            <a:r>
              <a:rPr sz="1400" b="0">
                <a:solidFill>
                  <a:srgbClr val="0F172A"/>
                </a:solidFill>
                <a:latin typeface="Segoe UI"/>
              </a:rPr>
              <a:t>• Diferenciar transformations (lazy: select, filter, groupBy) de actions (eager: count, collect, show, write).</a:t>
            </a:r>
          </a:p>
          <a:p>
            <a:pPr>
              <a:spcAft>
                <a:spcPts val="800"/>
              </a:spcAft>
              <a:defRPr sz="1400" b="0">
                <a:solidFill>
                  <a:srgbClr val="0F172A"/>
                </a:solidFill>
                <a:latin typeface="Segoe UI"/>
              </a:defRPr>
            </a:pPr>
            <a:r>
              <a:rPr sz="1400" b="0">
                <a:solidFill>
                  <a:srgbClr val="0F172A"/>
                </a:solidFill>
                <a:latin typeface="Segoe UI"/>
              </a:rPr>
              <a:t>• Optimizar joins: broadcast join (tabla chica × tabla grande) vs sort-merge join (dos tablas grandes).</a:t>
            </a:r>
          </a:p>
          <a:p>
            <a:pPr>
              <a:spcAft>
                <a:spcPts val="800"/>
              </a:spcAft>
              <a:defRPr sz="1400" b="0">
                <a:solidFill>
                  <a:srgbClr val="0F172A"/>
                </a:solidFill>
                <a:latin typeface="Segoe UI"/>
              </a:defRPr>
            </a:pPr>
            <a:r>
              <a:rPr sz="1400" b="0">
                <a:solidFill>
                  <a:srgbClr val="0F172A"/>
                </a:solidFill>
                <a:latin typeface="Segoe UI"/>
              </a:rPr>
              <a:t>• Particionar correctamente (partitionBy("date") al escribir, evitar partitionBy con cardinalidad alta).</a:t>
            </a:r>
          </a:p>
          <a:p>
            <a:pPr>
              <a:spcAft>
                <a:spcPts val="800"/>
              </a:spcAft>
              <a:defRPr sz="1400" b="0">
                <a:solidFill>
                  <a:srgbClr val="0F172A"/>
                </a:solidFill>
                <a:latin typeface="Segoe UI"/>
              </a:defRPr>
            </a:pPr>
            <a:r>
              <a:rPr sz="1400" b="0">
                <a:solidFill>
                  <a:srgbClr val="0F172A"/>
                </a:solidFill>
                <a:latin typeface="Segoe UI"/>
              </a:rPr>
              <a:t>• Diagnosticar performance con Spark UI: stages, shuffle data, skew.</a:t>
            </a:r>
          </a:p>
        </p:txBody>
      </p:sp>
    </p:spTree>
  </p:cSld>
  <p:clrMapOvr>
    <a:masterClrMapping/>
  </p:clrMapOvr>
</p:sld>
</file>

<file path=ppt/slides/slide10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RDD vs DataFrame vs SQL — 3 APIs</a:t>
            </a:r>
          </a:p>
          <a:p>
            <a:pPr>
              <a:spcAft>
                <a:spcPts val="1000"/>
              </a:spcAft>
              <a:defRPr sz="1600" b="0">
                <a:solidFill>
                  <a:srgbClr val="0F172A"/>
                </a:solidFill>
                <a:latin typeface="Segoe UI"/>
              </a:defRPr>
            </a:pPr>
            <a:r>
              <a:rPr sz="1600" b="0">
                <a:solidFill>
                  <a:srgbClr val="0F172A"/>
                </a:solidFill>
                <a:latin typeface="Segoe UI"/>
              </a:rPr>
              <a:t>• Lazy evaluation + DAG de ejecución</a:t>
            </a:r>
          </a:p>
          <a:p>
            <a:pPr>
              <a:spcAft>
                <a:spcPts val="1000"/>
              </a:spcAft>
              <a:defRPr sz="1600" b="0">
                <a:solidFill>
                  <a:srgbClr val="0F172A"/>
                </a:solidFill>
                <a:latin typeface="Segoe UI"/>
              </a:defRPr>
            </a:pPr>
            <a:r>
              <a:rPr sz="1600" b="0">
                <a:solidFill>
                  <a:srgbClr val="0F172A"/>
                </a:solidFill>
                <a:latin typeface="Segoe UI"/>
              </a:rPr>
              <a:t>• Particionado: al leer, al escribir, en memoria</a:t>
            </a:r>
          </a:p>
          <a:p>
            <a:pPr>
              <a:spcAft>
                <a:spcPts val="1000"/>
              </a:spcAft>
              <a:defRPr sz="1600" b="0">
                <a:solidFill>
                  <a:srgbClr val="0F172A"/>
                </a:solidFill>
                <a:latin typeface="Segoe UI"/>
              </a:defRPr>
            </a:pPr>
            <a:r>
              <a:rPr sz="1600" b="0">
                <a:solidFill>
                  <a:srgbClr val="0F172A"/>
                </a:solidFill>
                <a:latin typeface="Segoe UI"/>
              </a:rPr>
              <a:t>• Joins: broadcast vs shuffle vs sort-merge</a:t>
            </a:r>
          </a:p>
          <a:p>
            <a:pPr>
              <a:spcAft>
                <a:spcPts val="1000"/>
              </a:spcAft>
              <a:defRPr sz="1600" b="0">
                <a:solidFill>
                  <a:srgbClr val="0F172A"/>
                </a:solidFill>
                <a:latin typeface="Segoe UI"/>
              </a:defRPr>
            </a:pPr>
            <a:r>
              <a:rPr sz="1600" b="0">
                <a:solidFill>
                  <a:srgbClr val="0F172A"/>
                </a:solidFill>
                <a:latin typeface="Segoe UI"/>
              </a:rPr>
              <a:t>• Caching / persist</a:t>
            </a:r>
          </a:p>
          <a:p>
            <a:pPr>
              <a:spcAft>
                <a:spcPts val="1000"/>
              </a:spcAft>
              <a:defRPr sz="1600" b="0">
                <a:solidFill>
                  <a:srgbClr val="0F172A"/>
                </a:solidFill>
                <a:latin typeface="Segoe UI"/>
              </a:defRPr>
            </a:pPr>
            <a:r>
              <a:rPr sz="1600" b="0">
                <a:solidFill>
                  <a:srgbClr val="0F172A"/>
                </a:solidFill>
                <a:latin typeface="Segoe UI"/>
              </a:rPr>
              <a:t>• Spark UI: stages, shuffle, skew</a:t>
            </a:r>
          </a:p>
        </p:txBody>
      </p:sp>
    </p:spTree>
  </p:cSld>
  <p:clrMapOvr>
    <a:masterClrMapping/>
  </p:clrMapOvr>
</p:sld>
</file>

<file path=ppt/slides/slide10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PySpark es "pandas que corre repartido en muchas máquinas". Escribís código casi idéntico al de pandas (df.filter(...).groupBy(...).agg(...)), pero por debajo Spark parte el dataset en trozos, los reparte entre varios workers y procesa cada trozo en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'spark_demo'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from pyspark.sql import SparkSession, functions as F</a:t>
            </a:r>
          </a:p>
          <a:p>
            <a:pPr>
              <a:defRPr sz="1200" b="0">
                <a:solidFill>
                  <a:srgbClr val="F8FAFC"/>
                </a:solidFill>
                <a:latin typeface="Courier New"/>
              </a:defRPr>
            </a:pPr>
            <a:r>
              <a:rPr sz="1200" b="0">
                <a:solidFill>
                  <a:srgbClr val="F8FAFC"/>
                </a:solidFill>
                <a:latin typeface="Courier New"/>
              </a:rPr>
              <a:t>from pyspark.sql.functions import broadcast, col, rand, when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spark = (SparkSession.builder</a:t>
            </a:r>
          </a:p>
          <a:p>
            <a:pPr>
              <a:defRPr sz="1200" b="0">
                <a:solidFill>
                  <a:srgbClr val="F8FAFC"/>
                </a:solidFill>
                <a:latin typeface="Courier New"/>
              </a:defRPr>
            </a:pPr>
            <a:r>
              <a:rPr sz="1200" b="0">
                <a:solidFill>
                  <a:srgbClr val="F8FAFC"/>
                </a:solidFill>
                <a:latin typeface="Courier New"/>
              </a:rPr>
              <a:t>         .master('local[*]')</a:t>
            </a:r>
          </a:p>
          <a:p>
            <a:pPr>
              <a:defRPr sz="1200" b="0">
                <a:solidFill>
                  <a:srgbClr val="F8FAFC"/>
                </a:solidFill>
                <a:latin typeface="Courier New"/>
              </a:defRPr>
            </a:pPr>
            <a:r>
              <a:rPr sz="1200" b="0">
                <a:solidFill>
                  <a:srgbClr val="F8FAFC"/>
                </a:solidFill>
                <a:latin typeface="Courier New"/>
              </a:rPr>
              <a:t>         .appName('clase210')</a:t>
            </a:r>
          </a:p>
          <a:p>
            <a:pPr>
              <a:defRPr sz="1200" b="0">
                <a:solidFill>
                  <a:srgbClr val="F8FAFC"/>
                </a:solidFill>
                <a:latin typeface="Courier New"/>
              </a:defRPr>
            </a:pPr>
            <a:r>
              <a:rPr sz="1200" b="0">
                <a:solidFill>
                  <a:srgbClr val="F8FAFC"/>
                </a:solidFill>
                <a:latin typeface="Courier New"/>
              </a:rPr>
              <a:t>         .config('spark.sql.shuffle.partitions', '8')   # bajo para dataset chico</a:t>
            </a:r>
          </a:p>
          <a:p>
            <a:pPr>
              <a:defRPr sz="1200" b="0">
                <a:solidFill>
                  <a:srgbClr val="F8FAFC"/>
                </a:solidFill>
                <a:latin typeface="Courier New"/>
              </a:defRPr>
            </a:pPr>
            <a:r>
              <a:rPr sz="1200" b="0">
                <a:solidFill>
                  <a:srgbClr val="F8FAFC"/>
                </a:solidFill>
                <a:latin typeface="Courier New"/>
              </a:rPr>
              <a:t>         .config('spark.ui.port', '4042')</a:t>
            </a:r>
          </a:p>
          <a:p>
            <a:pPr>
              <a:defRPr sz="1200" b="0">
                <a:solidFill>
                  <a:srgbClr val="F8FAFC"/>
                </a:solidFill>
                <a:latin typeface="Courier New"/>
              </a:defRPr>
            </a:pPr>
            <a:r>
              <a:rPr sz="1200" b="0">
                <a:solidFill>
                  <a:srgbClr val="F8FAFC"/>
                </a:solidFill>
                <a:latin typeface="Courier New"/>
              </a:rPr>
              <a:t>         .getOrCreate())</a:t>
            </a:r>
          </a:p>
          <a:p>
            <a:pPr>
              <a:defRPr sz="1200" b="0">
                <a:solidFill>
                  <a:srgbClr val="F8FAFC"/>
                </a:solidFill>
                <a:latin typeface="Courier New"/>
              </a:defRPr>
            </a:pPr>
            <a:r>
              <a:rPr sz="1200" b="0">
                <a:solidFill>
                  <a:srgbClr val="F8FAFC"/>
                </a:solidFill>
                <a:latin typeface="Courier New"/>
              </a:rPr>
              <a:t>print('Spark version:', spark.version, '| cores:', spark.sparkContext.defaultParallelism)</a:t>
            </a:r>
          </a:p>
        </p:txBody>
      </p:sp>
    </p:spTree>
  </p:cSld>
  <p:clrMapOvr>
    <a:masterClrMapping/>
  </p:clrMapOvr>
</p:sld>
</file>

<file path=ppt/slides/slide10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Spark session local: spark = SparkSession.builder.master("local[4]").appName("demo").getOrCreate().</a:t>
            </a:r>
          </a:p>
          <a:p>
            <a:pPr>
              <a:spcAft>
                <a:spcPts val="800"/>
              </a:spcAft>
              <a:defRPr sz="1400" b="0">
                <a:solidFill>
                  <a:srgbClr val="0F172A"/>
                </a:solidFill>
                <a:latin typeface="Segoe UI"/>
              </a:defRPr>
            </a:pPr>
            <a:r>
              <a:rPr sz="1400" b="0">
                <a:solidFill>
                  <a:srgbClr val="0F172A"/>
                </a:solidFill>
                <a:latin typeface="Segoe UI"/>
              </a:rPr>
              <a:t>• Lazy vs eager: df2 = df.filter(...).select(...) (rápido, no ejecuta).</a:t>
            </a:r>
          </a:p>
          <a:p>
            <a:pPr>
              <a:spcAft>
                <a:spcPts val="800"/>
              </a:spcAft>
              <a:defRPr sz="1400" b="0">
                <a:solidFill>
                  <a:srgbClr val="0F172A"/>
                </a:solidFill>
                <a:latin typeface="Segoe UI"/>
              </a:defRPr>
            </a:pPr>
            <a:r>
              <a:rPr sz="1400" b="0">
                <a:solidFill>
                  <a:srgbClr val="0F172A"/>
                </a:solidFill>
                <a:latin typeface="Segoe UI"/>
              </a:rPr>
              <a:t>• Broadcast join: cargá taxi (10 GB) y zones (1 KB).</a:t>
            </a:r>
          </a:p>
          <a:p>
            <a:pPr>
              <a:spcAft>
                <a:spcPts val="800"/>
              </a:spcAft>
              <a:defRPr sz="1400" b="0">
                <a:solidFill>
                  <a:srgbClr val="0F172A"/>
                </a:solidFill>
                <a:latin typeface="Segoe UI"/>
              </a:defRPr>
            </a:pPr>
            <a:r>
              <a:rPr sz="1400" b="0">
                <a:solidFill>
                  <a:srgbClr val="0F172A"/>
                </a:solidFill>
                <a:latin typeface="Segoe UI"/>
              </a:rPr>
              <a:t>• Particionado al escribir: df.write.partitionBy("date").parquet("out/").</a:t>
            </a:r>
          </a:p>
          <a:p>
            <a:pPr>
              <a:spcAft>
                <a:spcPts val="800"/>
              </a:spcAft>
              <a:defRPr sz="1400" b="0">
                <a:solidFill>
                  <a:srgbClr val="0F172A"/>
                </a:solidFill>
                <a:latin typeface="Segoe UI"/>
              </a:defRPr>
            </a:pPr>
            <a:r>
              <a:rPr sz="1400" b="0">
                <a:solidFill>
                  <a:srgbClr val="0F172A"/>
                </a:solidFill>
                <a:latin typeface="Segoe UI"/>
              </a:rPr>
              <a:t>• Skew: simulá una key skewed (90% rows con user_id=1).</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PySpark que: lee NYC Taxi (parquet), filtra outliers, agrega por pickup_zone y hour, escribe parquet particionado por pickup_date.</a:t>
            </a:r>
          </a:p>
          <a:p>
            <a:pPr>
              <a:spcAft>
                <a:spcPts val="800"/>
              </a:spcAft>
              <a:defRPr sz="1400" b="0">
                <a:solidFill>
                  <a:srgbClr val="0F172A"/>
                </a:solidFill>
                <a:latin typeface="Segoe UI"/>
              </a:defRPr>
            </a:pPr>
            <a:r>
              <a:rPr sz="1400" b="0">
                <a:solidFill>
                  <a:srgbClr val="0F172A"/>
                </a:solidFill>
                <a:latin typeface="Segoe UI"/>
              </a:rPr>
              <a:t>• Comparación de performance: misma agregación en (a) pandas (si entra), (b) Polars, (c) PySpark. Reportar tiempo y RAM peak.</a:t>
            </a:r>
          </a:p>
          <a:p>
            <a:pPr>
              <a:spcAft>
                <a:spcPts val="800"/>
              </a:spcAft>
              <a:defRPr sz="1400" b="0">
                <a:solidFill>
                  <a:srgbClr val="0F172A"/>
                </a:solidFill>
                <a:latin typeface="Segoe UI"/>
              </a:defRPr>
            </a:pPr>
            <a:r>
              <a:rPr sz="1400" b="0">
                <a:solidFill>
                  <a:srgbClr val="0F172A"/>
                </a:solidFill>
                <a:latin typeface="Segoe UI"/>
              </a:rPr>
              <a:t>• Identificar 1 stage skewed en Spark UI y aplicar salting para mitigar — mostrar antes/después.</a:t>
            </a:r>
          </a:p>
          <a:p>
            <a:pPr>
              <a:spcAft>
                <a:spcPts val="800"/>
              </a:spcAft>
              <a:defRPr sz="1400" b="0">
                <a:solidFill>
                  <a:srgbClr val="0F172A"/>
                </a:solidFill>
                <a:latin typeface="Segoe UI"/>
              </a:defRPr>
            </a:pPr>
            <a:r>
              <a:rPr sz="1400" b="0">
                <a:solidFill>
                  <a:srgbClr val="0F172A"/>
                </a:solidFill>
                <a:latin typeface="Segoe UI"/>
              </a:rPr>
              <a:t>• Output final con .write.bucketBy(20, "zone_id").parquet(...) para acelerar joins futuros.</a:t>
            </a:r>
          </a:p>
          <a:p>
            <a:pPr>
              <a:spcAft>
                <a:spcPts val="800"/>
              </a:spcAft>
              <a:defRPr sz="1400" b="0">
                <a:solidFill>
                  <a:srgbClr val="0F172A"/>
                </a:solidFill>
                <a:latin typeface="Segoe UI"/>
              </a:defRPr>
            </a:pPr>
            <a:r>
              <a:rPr sz="1400" b="0">
                <a:solidFill>
                  <a:srgbClr val="0F172A"/>
                </a:solidFill>
                <a:latin typeface="Segoe UI"/>
              </a:rPr>
              <a:t>• README con cuándo elegir cada uno: criterios objetivos (tamaño, latencia, equipo).</a:t>
            </a:r>
          </a:p>
        </p:txBody>
      </p:sp>
    </p:spTree>
  </p:cSld>
  <p:clrMapOvr>
    <a:masterClrMapping/>
  </p:clrMapOvr>
</p:sld>
</file>

<file path=ppt/slides/slide105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211 — Polars como alternativa moderna</a:t>
            </a:r>
          </a:p>
        </p:txBody>
      </p:sp>
    </p:spTree>
  </p:cSld>
  <p:clrMapOvr>
    <a:masterClrMapping/>
  </p:clrMapOvr>
</p:sld>
</file>

<file path=ppt/slides/slide10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211 — Polars como alternativa moderna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docs Polars + Polars vs pandas benchmark.  Duración estimada: 75 min. · Nivel: Intermedio-Avanzado · Esta clase es complementaria a la Clase 008 (Polars básico, Parte 0). Acá el foco es producción: lazy API, streaming engine, Arrow zero-copy, integración con DuckDB/Parquet.</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Reemplazar pandas en pipelines productivos por Polars 1.x: 5-30× más rápido, multi-threaded por default, lazy API que optimiza la query antes de ejecutar, y streaming engine que procesa datasets mayores que RAM. Identificar los pocos casos donde pandas sigue ganando (ecosistema, statsmodels, sklearn pre-Arrow).</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scripts pandas a Polars (eager API: pl.DataFrame) y medir speedup.</a:t>
            </a:r>
          </a:p>
          <a:p>
            <a:pPr>
              <a:spcAft>
                <a:spcPts val="800"/>
              </a:spcAft>
              <a:defRPr sz="1400" b="0">
                <a:solidFill>
                  <a:srgbClr val="0F172A"/>
                </a:solidFill>
                <a:latin typeface="Segoe UI"/>
              </a:defRPr>
            </a:pPr>
            <a:r>
              <a:rPr sz="1400" b="0">
                <a:solidFill>
                  <a:srgbClr val="0F172A"/>
                </a:solidFill>
                <a:latin typeface="Segoe UI"/>
              </a:rPr>
              <a:t>• Usar lazy API (pl.scan_parquet + .collect()) para que el optimizador haga predicate pushdown + column pruning.</a:t>
            </a:r>
          </a:p>
          <a:p>
            <a:pPr>
              <a:spcAft>
                <a:spcPts val="800"/>
              </a:spcAft>
              <a:defRPr sz="1400" b="0">
                <a:solidFill>
                  <a:srgbClr val="0F172A"/>
                </a:solidFill>
                <a:latin typeface="Segoe UI"/>
              </a:defRPr>
            </a:pPr>
            <a:r>
              <a:rPr sz="1400" b="0">
                <a:solidFill>
                  <a:srgbClr val="0F172A"/>
                </a:solidFill>
                <a:latin typeface="Segoe UI"/>
              </a:rPr>
              <a:t>• Procesar archivos mayores que RAM con .collect(engine="streaming") (1.x rename de streaming=True).</a:t>
            </a:r>
          </a:p>
          <a:p>
            <a:pPr>
              <a:spcAft>
                <a:spcPts val="800"/>
              </a:spcAft>
              <a:defRPr sz="1400" b="0">
                <a:solidFill>
                  <a:srgbClr val="0F172A"/>
                </a:solidFill>
                <a:latin typeface="Segoe UI"/>
              </a:defRPr>
            </a:pPr>
            <a:r>
              <a:rPr sz="1400" b="0">
                <a:solidFill>
                  <a:srgbClr val="0F172A"/>
                </a:solidFill>
                <a:latin typeface="Segoe UI"/>
              </a:rPr>
              <a:t>• Hacer zero-copy interop con Arrow/DuckDB/pandas.</a:t>
            </a:r>
          </a:p>
          <a:p>
            <a:pPr>
              <a:spcAft>
                <a:spcPts val="800"/>
              </a:spcAft>
              <a:defRPr sz="1400" b="0">
                <a:solidFill>
                  <a:srgbClr val="0F172A"/>
                </a:solidFill>
                <a:latin typeface="Segoe UI"/>
              </a:defRPr>
            </a:pPr>
            <a:r>
              <a:rPr sz="1400" b="0">
                <a:solidFill>
                  <a:srgbClr val="0F172A"/>
                </a:solidFill>
                <a:latin typeface="Segoe UI"/>
              </a:rPr>
              <a:t>• Decidir Polars vs DuckDB vs pandas vs PySpark según tamaño + caso de uso.</a:t>
            </a:r>
          </a:p>
        </p:txBody>
      </p:sp>
    </p:spTree>
  </p:cSld>
  <p:clrMapOvr>
    <a:masterClrMapping/>
  </p:clrMapOvr>
</p:sld>
</file>

<file path=ppt/slides/slide10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211 — Polars como alternativa moderna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Eager vs Lazy API</a:t>
            </a:r>
          </a:p>
          <a:p>
            <a:pPr>
              <a:spcAft>
                <a:spcPts val="1000"/>
              </a:spcAft>
              <a:defRPr sz="1600" b="0">
                <a:solidFill>
                  <a:srgbClr val="0F172A"/>
                </a:solidFill>
                <a:latin typeface="Segoe UI"/>
              </a:defRPr>
            </a:pPr>
            <a:r>
              <a:rPr sz="1600" b="0">
                <a:solidFill>
                  <a:srgbClr val="0F172A"/>
                </a:solidFill>
                <a:latin typeface="Segoe UI"/>
              </a:rPr>
              <a:t>• Expressions: paralelización implícita</a:t>
            </a:r>
          </a:p>
          <a:p>
            <a:pPr>
              <a:spcAft>
                <a:spcPts val="1000"/>
              </a:spcAft>
              <a:defRPr sz="1600" b="0">
                <a:solidFill>
                  <a:srgbClr val="0F172A"/>
                </a:solidFill>
                <a:latin typeface="Segoe UI"/>
              </a:defRPr>
            </a:pPr>
            <a:r>
              <a:rPr sz="1600" b="0">
                <a:solidFill>
                  <a:srgbClr val="0F172A"/>
                </a:solidFill>
                <a:latin typeface="Segoe UI"/>
              </a:rPr>
              <a:t>• scan_parquet/scan_csv + predicate pushdown</a:t>
            </a:r>
          </a:p>
          <a:p>
            <a:pPr>
              <a:spcAft>
                <a:spcPts val="1000"/>
              </a:spcAft>
              <a:defRPr sz="1600" b="0">
                <a:solidFill>
                  <a:srgbClr val="0F172A"/>
                </a:solidFill>
                <a:latin typeface="Segoe UI"/>
              </a:defRPr>
            </a:pPr>
            <a:r>
              <a:rPr sz="1600" b="0">
                <a:solidFill>
                  <a:srgbClr val="0F172A"/>
                </a:solidFill>
                <a:latin typeface="Segoe UI"/>
              </a:rPr>
              <a:t>• Streaming engine para datasets &gt; RAM</a:t>
            </a:r>
          </a:p>
          <a:p>
            <a:pPr>
              <a:spcAft>
                <a:spcPts val="1000"/>
              </a:spcAft>
              <a:defRPr sz="1600" b="0">
                <a:solidFill>
                  <a:srgbClr val="0F172A"/>
                </a:solidFill>
                <a:latin typeface="Segoe UI"/>
              </a:defRPr>
            </a:pPr>
            <a:r>
              <a:rPr sz="1600" b="0">
                <a:solidFill>
                  <a:srgbClr val="0F172A"/>
                </a:solidFill>
                <a:latin typeface="Segoe UI"/>
              </a:rPr>
              <a:t>• Arrow interop con DuckDB/pandas</a:t>
            </a:r>
          </a:p>
          <a:p>
            <a:pPr>
              <a:spcAft>
                <a:spcPts val="1000"/>
              </a:spcAft>
              <a:defRPr sz="1600" b="0">
                <a:solidFill>
                  <a:srgbClr val="0F172A"/>
                </a:solidFill>
                <a:latin typeface="Segoe UI"/>
              </a:defRPr>
            </a:pPr>
            <a:r>
              <a:rPr sz="1600" b="0">
                <a:solidFill>
                  <a:srgbClr val="0F172A"/>
                </a:solidFill>
                <a:latin typeface="Segoe UI"/>
              </a:rPr>
              <a:t>• when().then().otherwise() y over()</a:t>
            </a:r>
          </a:p>
        </p:txBody>
      </p:sp>
    </p:spTree>
  </p:cSld>
  <p:clrMapOvr>
    <a:masterClrMapping/>
  </p:clrMapOvr>
</p:sld>
</file>

<file path=ppt/slides/slide10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211 — Polars como alternativa moderna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Requiere: pip install polars pyarrow pandas duckdb.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polars as pl, pandas as pd, time, tempfile, os</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'polars_demo'</a:t>
            </a:r>
          </a:p>
          <a:p>
            <a:pPr>
              <a:defRPr sz="1200" b="0">
                <a:solidFill>
                  <a:srgbClr val="F8FAFC"/>
                </a:solidFill>
                <a:latin typeface="Courier New"/>
              </a:defRPr>
            </a:pPr>
            <a:r>
              <a:rPr sz="1200" b="0">
                <a:solidFill>
                  <a:srgbClr val="F8FAFC"/>
                </a:solidFill>
                <a:latin typeface="Courier New"/>
              </a:rPr>
              <a:t>WORK.mkdir(exist_ok=True)</a:t>
            </a:r>
          </a:p>
          <a:p>
            <a:pPr>
              <a:defRPr sz="1200" b="0">
                <a:solidFill>
                  <a:srgbClr val="F8FAFC"/>
                </a:solidFill>
                <a:latin typeface="Courier New"/>
              </a:defRPr>
            </a:pPr>
            <a:r>
              <a:rPr sz="1200" b="0">
                <a:solidFill>
                  <a:srgbClr val="F8FAFC"/>
                </a:solidFill>
                <a:latin typeface="Courier New"/>
              </a:rPr>
              <a:t>print('Polars version:', pl.__version__)</a:t>
            </a:r>
          </a:p>
        </p:txBody>
      </p:sp>
    </p:spTree>
  </p:cSld>
  <p:clrMapOvr>
    <a:masterClrMapping/>
  </p:clrMapOvr>
</p:sld>
</file>

<file path=ppt/slides/slide10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211 — Polars como alternativa moderna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Eager vs Lazy benchmark: misma agregación con pl.read_parquet(...) (eager) y pl.scan_parquet(...).collect() (lazy).</a:t>
            </a:r>
          </a:p>
          <a:p>
            <a:pPr>
              <a:spcAft>
                <a:spcPts val="800"/>
              </a:spcAft>
              <a:defRPr sz="1400" b="0">
                <a:solidFill>
                  <a:srgbClr val="0F172A"/>
                </a:solidFill>
                <a:latin typeface="Segoe UI"/>
              </a:defRPr>
            </a:pPr>
            <a:r>
              <a:rPr sz="1400" b="0">
                <a:solidFill>
                  <a:srgbClr val="0F172A"/>
                </a:solidFill>
                <a:latin typeface="Segoe UI"/>
              </a:rPr>
              <a:t>• Pandas → Polars: tomá un script pandas existente, traducí a Polars.</a:t>
            </a:r>
          </a:p>
          <a:p>
            <a:pPr>
              <a:spcAft>
                <a:spcPts val="800"/>
              </a:spcAft>
              <a:defRPr sz="1400" b="0">
                <a:solidFill>
                  <a:srgbClr val="0F172A"/>
                </a:solidFill>
                <a:latin typeface="Segoe UI"/>
              </a:defRPr>
            </a:pPr>
            <a:r>
              <a:rPr sz="1400" b="0">
                <a:solidFill>
                  <a:srgbClr val="0F172A"/>
                </a:solidFill>
                <a:latin typeface="Segoe UI"/>
              </a:rPr>
              <a:t>• Streaming: con un parquet de 5 GB (descargar 12 meses NYC Taxi), correr una agregación con .collect() y luego con .collect(engine="streaming").</a:t>
            </a:r>
          </a:p>
          <a:p>
            <a:pPr>
              <a:spcAft>
                <a:spcPts val="800"/>
              </a:spcAft>
              <a:defRPr sz="1400" b="0">
                <a:solidFill>
                  <a:srgbClr val="0F172A"/>
                </a:solidFill>
                <a:latin typeface="Segoe UI"/>
              </a:defRPr>
            </a:pPr>
            <a:r>
              <a:rPr sz="1400" b="0">
                <a:solidFill>
                  <a:srgbClr val="0F172A"/>
                </a:solidFill>
                <a:latin typeface="Segoe UI"/>
              </a:rPr>
              <a:t>• Predicate pushdown explícito: pl.scan_parquet("data/").filter(pl.col("date") == "2024-01-15").select("fare").collect() vs pl.read_parquet("data/").filter(...).select(...).</a:t>
            </a:r>
          </a:p>
          <a:p>
            <a:pPr>
              <a:spcAft>
                <a:spcPts val="800"/>
              </a:spcAft>
              <a:defRPr sz="1400" b="0">
                <a:solidFill>
                  <a:srgbClr val="0F172A"/>
                </a:solidFill>
                <a:latin typeface="Segoe UI"/>
              </a:defRPr>
            </a:pPr>
            <a:r>
              <a:rPr sz="1400" b="0">
                <a:solidFill>
                  <a:srgbClr val="0F172A"/>
                </a:solidFill>
                <a:latin typeface="Segoe UI"/>
              </a:rPr>
              <a:t>• Polars + DuckDB: hacer la query principal en Polars; pasar el resultado a DuckDB con con.from_arrow(df.to_arrow()) para hacer una consulta SQL compleja.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en Polars que: lee 12 meses NYC Taxi, filtra outliers, calcula avg fare por borough × hour, escribe parquet particionado.</a:t>
            </a:r>
          </a:p>
          <a:p>
            <a:pPr>
              <a:spcAft>
                <a:spcPts val="800"/>
              </a:spcAft>
              <a:defRPr sz="1400" b="0">
                <a:solidFill>
                  <a:srgbClr val="0F172A"/>
                </a:solidFill>
                <a:latin typeface="Segoe UI"/>
              </a:defRPr>
            </a:pPr>
            <a:r>
              <a:rPr sz="1400" b="0">
                <a:solidFill>
                  <a:srgbClr val="0F172A"/>
                </a:solidFill>
                <a:latin typeface="Segoe UI"/>
              </a:rPr>
              <a:t>• Benchmark contra: pandas (si el dataset entra), DuckDB (con.execute(query).pl()), PySpark (Clase 210). Reportar tiempo + RAM peak.</a:t>
            </a:r>
          </a:p>
          <a:p>
            <a:pPr>
              <a:spcAft>
                <a:spcPts val="800"/>
              </a:spcAft>
              <a:defRPr sz="1400" b="0">
                <a:solidFill>
                  <a:srgbClr val="0F172A"/>
                </a:solidFill>
                <a:latin typeface="Segoe UI"/>
              </a:defRPr>
            </a:pPr>
            <a:r>
              <a:rPr sz="1400" b="0">
                <a:solidFill>
                  <a:srgbClr val="0F172A"/>
                </a:solidFill>
                <a:latin typeface="Segoe UI"/>
              </a:rPr>
              <a:t>• Una query usando streaming engine que procesa &gt;RAM (forzar bajando psutil.virtual_memory().available / 4 con docker-compose limit).</a:t>
            </a:r>
          </a:p>
          <a:p>
            <a:pPr>
              <a:spcAft>
                <a:spcPts val="800"/>
              </a:spcAft>
              <a:defRPr sz="1400" b="0">
                <a:solidFill>
                  <a:srgbClr val="0F172A"/>
                </a:solidFill>
                <a:latin typeface="Segoe UI"/>
              </a:defRPr>
            </a:pPr>
            <a:r>
              <a:rPr sz="1400" b="0">
                <a:solidFill>
                  <a:srgbClr val="0F172A"/>
                </a:solidFill>
                <a:latin typeface="Segoe UI"/>
              </a:rPr>
              <a:t>• Una query con window functions (pl.col("fare").rolling_mean(window_size=7).over("borough")) que en pandas requeriría 20 LOC.</a:t>
            </a:r>
          </a:p>
          <a:p>
            <a:pPr>
              <a:spcAft>
                <a:spcPts val="800"/>
              </a:spcAft>
              <a:defRPr sz="1400" b="0">
                <a:solidFill>
                  <a:srgbClr val="0F172A"/>
                </a:solidFill>
                <a:latin typeface="Segoe UI"/>
              </a:defRPr>
            </a:pPr>
            <a:r>
              <a:rPr sz="1400" b="0">
                <a:solidFill>
                  <a:srgbClr val="0F172A"/>
                </a:solidFill>
                <a:latin typeface="Segoe UI"/>
              </a:rPr>
              <a:t>• README con cuándo Polars vs cuándo otra cosa.</a:t>
            </a:r>
          </a:p>
        </p:txBody>
      </p:sp>
    </p:spTree>
  </p:cSld>
  <p:clrMapOvr>
    <a:masterClrMapping/>
  </p:clrMapOvr>
</p:sld>
</file>

<file path=ppt/slides/slide106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212 — Data warehouses: BigQuery, Snowflake, DuckDB</a:t>
            </a:r>
          </a:p>
        </p:txBody>
      </p:sp>
    </p:spTree>
  </p:cSld>
  <p:clrMapOvr>
    <a:masterClrMapping/>
  </p:clrMapOvr>
</p:sld>
</file>

<file path=ppt/slides/slide10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212 — Data warehouses: BigQuery, Snowflake, DuckDB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Reis &amp; Housley Fundamentals of Data Engineering (O'Reilly, 2022) cap. 6 + 9 + docs oficiales.  Duración estimada: 80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Consultar y operar 3 data warehouses modernos desde Python: BigQuery (GCP, serverless, separación compute/storage), Snowflake (multi-cloud, virtual warehouses, time travel), DuckDB (embedded, OLAP local, no requiere server). Decidir cuál usar según escala, presupuesto y latencia.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Conectar a BigQuery (google-cloud-bigquery), Snowflake (snowflake-connector-python), DuckDB (duckdb) y ejecutar queries.</a:t>
            </a:r>
          </a:p>
          <a:p>
            <a:pPr>
              <a:spcAft>
                <a:spcPts val="800"/>
              </a:spcAft>
              <a:defRPr sz="1400" b="0">
                <a:solidFill>
                  <a:srgbClr val="0F172A"/>
                </a:solidFill>
                <a:latin typeface="Segoe UI"/>
              </a:defRPr>
            </a:pPr>
            <a:r>
              <a:rPr sz="1400" b="0">
                <a:solidFill>
                  <a:srgbClr val="0F172A"/>
                </a:solidFill>
                <a:latin typeface="Segoe UI"/>
              </a:rPr>
              <a:t>• Diseñar tablas con particionado (BigQuery: PARTITION BY date_field) y clustering (BigQuery, Snowflake) para reducir costos y latencia.</a:t>
            </a:r>
          </a:p>
          <a:p>
            <a:pPr>
              <a:spcAft>
                <a:spcPts val="800"/>
              </a:spcAft>
              <a:defRPr sz="1400" b="0">
                <a:solidFill>
                  <a:srgbClr val="0F172A"/>
                </a:solidFill>
                <a:latin typeface="Segoe UI"/>
              </a:defRPr>
            </a:pPr>
            <a:r>
              <a:rPr sz="1400" b="0">
                <a:solidFill>
                  <a:srgbClr val="0F172A"/>
                </a:solidFill>
                <a:latin typeface="Segoe UI"/>
              </a:rPr>
              <a:t>• Usar COPY INTO (Snowflake) y LOAD DATA (BigQuery) para bulk ingest desde S3/GCS.</a:t>
            </a:r>
          </a:p>
          <a:p>
            <a:pPr>
              <a:spcAft>
                <a:spcPts val="800"/>
              </a:spcAft>
              <a:defRPr sz="1400" b="0">
                <a:solidFill>
                  <a:srgbClr val="0F172A"/>
                </a:solidFill>
                <a:latin typeface="Segoe UI"/>
              </a:defRPr>
            </a:pPr>
            <a:r>
              <a:rPr sz="1400" b="0">
                <a:solidFill>
                  <a:srgbClr val="0F172A"/>
                </a:solidFill>
                <a:latin typeface="Segoe UI"/>
              </a:rPr>
              <a:t>• Aprovechar time travel (SELECT ... AT(TIMESTAMP =&gt; ...) Snowflake) para auditar / recuperar.</a:t>
            </a:r>
          </a:p>
          <a:p>
            <a:pPr>
              <a:spcAft>
                <a:spcPts val="800"/>
              </a:spcAft>
              <a:defRPr sz="1400" b="0">
                <a:solidFill>
                  <a:srgbClr val="0F172A"/>
                </a:solidFill>
                <a:latin typeface="Segoe UI"/>
              </a:defRPr>
            </a:pPr>
            <a:r>
              <a:rPr sz="1400" b="0">
                <a:solidFill>
                  <a:srgbClr val="0F172A"/>
                </a:solidFill>
                <a:latin typeface="Segoe UI"/>
              </a:rPr>
              <a:t>• Decidir DW: BigQuery (serverless, GCP-first), Snowflake (multi-cloud, separation, sharing), DuckDB (local/embedded), Redshift (legacy AWS).</a:t>
            </a:r>
          </a:p>
        </p:txBody>
      </p:sp>
    </p:spTree>
  </p:cSld>
  <p:clrMapOvr>
    <a:masterClrMapping/>
  </p:clrMapOvr>
</p:sld>
</file>

<file path=ppt/slides/slide10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212 — Data warehouses: BigQuery, Snowflake, DuckDB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Compute/storage separation</a:t>
            </a:r>
          </a:p>
          <a:p>
            <a:pPr>
              <a:spcAft>
                <a:spcPts val="1000"/>
              </a:spcAft>
              <a:defRPr sz="1600" b="0">
                <a:solidFill>
                  <a:srgbClr val="0F172A"/>
                </a:solidFill>
                <a:latin typeface="Segoe UI"/>
              </a:defRPr>
            </a:pPr>
            <a:r>
              <a:rPr sz="1600" b="0">
                <a:solidFill>
                  <a:srgbClr val="0F172A"/>
                </a:solidFill>
                <a:latin typeface="Segoe UI"/>
              </a:rPr>
              <a:t>• Particionado vs clustering</a:t>
            </a:r>
          </a:p>
          <a:p>
            <a:pPr>
              <a:spcAft>
                <a:spcPts val="1000"/>
              </a:spcAft>
              <a:defRPr sz="1600" b="0">
                <a:solidFill>
                  <a:srgbClr val="0F172A"/>
                </a:solidFill>
                <a:latin typeface="Segoe UI"/>
              </a:defRPr>
            </a:pPr>
            <a:r>
              <a:rPr sz="1600" b="0">
                <a:solidFill>
                  <a:srgbClr val="0F172A"/>
                </a:solidFill>
                <a:latin typeface="Segoe UI"/>
              </a:rPr>
              <a:t>• BigQuery: SQL standard + UDF + ML</a:t>
            </a:r>
          </a:p>
          <a:p>
            <a:pPr>
              <a:spcAft>
                <a:spcPts val="1000"/>
              </a:spcAft>
              <a:defRPr sz="1600" b="0">
                <a:solidFill>
                  <a:srgbClr val="0F172A"/>
                </a:solidFill>
                <a:latin typeface="Segoe UI"/>
              </a:defRPr>
            </a:pPr>
            <a:r>
              <a:rPr sz="1600" b="0">
                <a:solidFill>
                  <a:srgbClr val="0F172A"/>
                </a:solidFill>
                <a:latin typeface="Segoe UI"/>
              </a:rPr>
              <a:t>• Snowflake: virtual warehouses, time travel, data sharing</a:t>
            </a:r>
          </a:p>
          <a:p>
            <a:pPr>
              <a:spcAft>
                <a:spcPts val="1000"/>
              </a:spcAft>
              <a:defRPr sz="1600" b="0">
                <a:solidFill>
                  <a:srgbClr val="0F172A"/>
                </a:solidFill>
                <a:latin typeface="Segoe UI"/>
              </a:defRPr>
            </a:pPr>
            <a:r>
              <a:rPr sz="1600" b="0">
                <a:solidFill>
                  <a:srgbClr val="0F172A"/>
                </a:solidFill>
                <a:latin typeface="Segoe UI"/>
              </a:rPr>
              <a:t>• DuckDB: el DW que entra en pip install</a:t>
            </a:r>
          </a:p>
          <a:p>
            <a:pPr>
              <a:spcAft>
                <a:spcPts val="1000"/>
              </a:spcAft>
              <a:defRPr sz="1600" b="0">
                <a:solidFill>
                  <a:srgbClr val="0F172A"/>
                </a:solidFill>
                <a:latin typeface="Segoe UI"/>
              </a:defRPr>
            </a:pPr>
            <a:r>
              <a:rPr sz="1600" b="0">
                <a:solidFill>
                  <a:srgbClr val="0F172A"/>
                </a:solidFill>
                <a:latin typeface="Segoe UI"/>
              </a:rPr>
              <a:t>• Costo: cómo NO gastar miles</a:t>
            </a:r>
          </a:p>
        </p:txBody>
      </p:sp>
    </p:spTree>
  </p:cSld>
  <p:clrMapOvr>
    <a:masterClrMapping/>
  </p:clrMapOvr>
</p:sld>
</file>

<file path=ppt/slides/slide10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212 — Data warehouses: BigQuery, Snowflake, DuckDB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DuckDB se corre local sin credenciales. BQ y Snowflake requieren cuenta — los mostramos como código de referencia.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duckdb, pandas as pd, tempfile, time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'dw_demo'</a:t>
            </a:r>
          </a:p>
          <a:p>
            <a:pPr>
              <a:defRPr sz="1200" b="0">
                <a:solidFill>
                  <a:srgbClr val="F8FAFC"/>
                </a:solidFill>
                <a:latin typeface="Courier New"/>
              </a:defRPr>
            </a:pPr>
            <a:r>
              <a:rPr sz="1200" b="0">
                <a:solidFill>
                  <a:srgbClr val="F8FAFC"/>
                </a:solidFill>
                <a:latin typeface="Courier New"/>
              </a:rPr>
              <a:t>WORK.mkdir(exist_ok=True)</a:t>
            </a:r>
          </a:p>
          <a:p>
            <a:pPr>
              <a:defRPr sz="1200" b="0">
                <a:solidFill>
                  <a:srgbClr val="F8FAFC"/>
                </a:solidFill>
                <a:latin typeface="Courier New"/>
              </a:defRPr>
            </a:pPr>
            <a:r>
              <a:rPr sz="1200" b="0">
                <a:solidFill>
                  <a:srgbClr val="F8FAFC"/>
                </a:solidFill>
                <a:latin typeface="Courier New"/>
              </a:rPr>
              <a:t>print('DuckDB version:', duckdb.__version__)</a:t>
            </a:r>
          </a:p>
        </p:txBody>
      </p:sp>
    </p:spTree>
  </p:cSld>
  <p:clrMapOvr>
    <a:masterClrMapping/>
  </p:clrMapOvr>
</p:sld>
</file>

<file path=ppt/slides/slide10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212 — Data warehouses: BigQuery, Snowflake, DuckDB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DuckDB local: con = duckdb.connect("warehouse.duckdb").</a:t>
            </a:r>
          </a:p>
          <a:p>
            <a:pPr>
              <a:spcAft>
                <a:spcPts val="800"/>
              </a:spcAft>
              <a:defRPr sz="1400" b="0">
                <a:solidFill>
                  <a:srgbClr val="0F172A"/>
                </a:solidFill>
                <a:latin typeface="Segoe UI"/>
              </a:defRPr>
            </a:pPr>
            <a:r>
              <a:rPr sz="1400" b="0">
                <a:solidFill>
                  <a:srgbClr val="0F172A"/>
                </a:solidFill>
                <a:latin typeface="Segoe UI"/>
              </a:rPr>
              <a:t>• BigQuery query: from google.cloud import bigquery; client = bigquery.Client(project="...").</a:t>
            </a:r>
          </a:p>
          <a:p>
            <a:pPr>
              <a:spcAft>
                <a:spcPts val="800"/>
              </a:spcAft>
              <a:defRPr sz="1400" b="0">
                <a:solidFill>
                  <a:srgbClr val="0F172A"/>
                </a:solidFill>
                <a:latin typeface="Segoe UI"/>
              </a:defRPr>
            </a:pPr>
            <a:r>
              <a:rPr sz="1400" b="0">
                <a:solidFill>
                  <a:srgbClr val="0F172A"/>
                </a:solidFill>
                <a:latin typeface="Segoe UI"/>
              </a:rPr>
              <a:t>• Particionado en BQ: crear tabla mi_proyecto.dataset.trips_partitioned con PARTITION BY DATE(pickup_datetime).</a:t>
            </a:r>
          </a:p>
          <a:p>
            <a:pPr>
              <a:spcAft>
                <a:spcPts val="800"/>
              </a:spcAft>
              <a:defRPr sz="1400" b="0">
                <a:solidFill>
                  <a:srgbClr val="0F172A"/>
                </a:solidFill>
                <a:latin typeface="Segoe UI"/>
              </a:defRPr>
            </a:pPr>
            <a:r>
              <a:rPr sz="1400" b="0">
                <a:solidFill>
                  <a:srgbClr val="0F172A"/>
                </a:solidFill>
                <a:latin typeface="Segoe UI"/>
              </a:rPr>
              <a:t>• Snowflake time travel: CREATE TABLE x AS SELECT ....</a:t>
            </a:r>
          </a:p>
          <a:p>
            <a:pPr>
              <a:spcAft>
                <a:spcPts val="800"/>
              </a:spcAft>
              <a:defRPr sz="1400" b="0">
                <a:solidFill>
                  <a:srgbClr val="0F172A"/>
                </a:solidFill>
                <a:latin typeface="Segoe UI"/>
              </a:defRPr>
            </a:pPr>
            <a:r>
              <a:rPr sz="1400" b="0">
                <a:solidFill>
                  <a:srgbClr val="0F172A"/>
                </a:solidFill>
                <a:latin typeface="Segoe UI"/>
              </a:rPr>
              <a:t>• DuckDB queryando S3 directo: con.execute("SELECT  FROM 's3://bucket/path/.parquet' LIMIT 10") sin descargar nada — DuckDB lee remoto con HTTPFS.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que extrae datos de una API → carga a un DW (elegir 1: BQ free tier, DuckDB, Snowflake trial) → corre 5 queries analíticas.</a:t>
            </a:r>
          </a:p>
          <a:p>
            <a:pPr>
              <a:spcAft>
                <a:spcPts val="800"/>
              </a:spcAft>
              <a:defRPr sz="1400" b="0">
                <a:solidFill>
                  <a:srgbClr val="0F172A"/>
                </a:solidFill>
                <a:latin typeface="Segoe UI"/>
              </a:defRPr>
            </a:pPr>
            <a:r>
              <a:rPr sz="1400" b="0">
                <a:solidFill>
                  <a:srgbClr val="0F172A"/>
                </a:solidFill>
                <a:latin typeface="Segoe UI"/>
              </a:rPr>
              <a:t>• Comparativa de costo: misma query escaneando (a) tabla sin particionar (5 GB), (b) tabla particionada con filter (50 MB). Reportar $ estimado.</a:t>
            </a:r>
          </a:p>
          <a:p>
            <a:pPr>
              <a:spcAft>
                <a:spcPts val="800"/>
              </a:spcAft>
              <a:defRPr sz="1400" b="0">
                <a:solidFill>
                  <a:srgbClr val="0F172A"/>
                </a:solidFill>
                <a:latin typeface="Segoe UI"/>
              </a:defRPr>
            </a:pPr>
            <a:r>
              <a:rPr sz="1400" b="0">
                <a:solidFill>
                  <a:srgbClr val="0F172A"/>
                </a:solidFill>
                <a:latin typeface="Segoe UI"/>
              </a:rPr>
              <a:t>• Tabla con clustering / cluster keys sobre 2 columnas que mejoran una query frecuente. Mostrar mejora de performance.</a:t>
            </a:r>
          </a:p>
          <a:p>
            <a:pPr>
              <a:spcAft>
                <a:spcPts val="800"/>
              </a:spcAft>
              <a:defRPr sz="1400" b="0">
                <a:solidFill>
                  <a:srgbClr val="0F172A"/>
                </a:solidFill>
                <a:latin typeface="Segoe UI"/>
              </a:defRPr>
            </a:pPr>
            <a:r>
              <a:rPr sz="1400" b="0">
                <a:solidFill>
                  <a:srgbClr val="0F172A"/>
                </a:solidFill>
                <a:latin typeface="Segoe UI"/>
              </a:rPr>
              <a:t>• Setup de service account con permisos mínimos (BQ Data Viewer, no Admin).</a:t>
            </a:r>
          </a:p>
          <a:p>
            <a:pPr>
              <a:spcAft>
                <a:spcPts val="800"/>
              </a:spcAft>
              <a:defRPr sz="1400" b="0">
                <a:solidFill>
                  <a:srgbClr val="0F172A"/>
                </a:solidFill>
                <a:latin typeface="Segoe UI"/>
              </a:defRPr>
            </a:pPr>
            <a:r>
              <a:rPr sz="1400" b="0">
                <a:solidFill>
                  <a:srgbClr val="0F172A"/>
                </a:solidFill>
                <a:latin typeface="Segoe UI"/>
              </a:rPr>
              <a:t>• README explicando cuál DW elegirías para 3 escenarios: startup 5 dev, empresa multi-cloud, análisis personal local.</a:t>
            </a:r>
          </a:p>
        </p:txBody>
      </p:sp>
    </p:spTree>
  </p:cSld>
  <p:clrMapOvr>
    <a:masterClrMapping/>
  </p:clrMapOvr>
</p:sld>
</file>

<file path=ppt/slides/slide106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213 — Streaming intro: Kafka, Kinesis</a:t>
            </a:r>
          </a:p>
        </p:txBody>
      </p:sp>
    </p:spTree>
  </p:cSld>
  <p:clrMapOvr>
    <a:masterClrMapping/>
  </p:clrMapOvr>
</p:sld>
</file>

<file path=ppt/slides/slide10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213 — Streaming intro: Kafka, Kinesis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Kreps, Building a Real-Time Data Pipeline + Narkhede, Shapira, Palino Kafka: The Definitive Guide (O'Reilly, 2ª ed., 2021) + Reis &amp; Housley cap. 7.  Duración estimada: 85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el modelo streaming vs batch (Clase 208), producir y consumir mensajes en Kafka (con confluent-kafka o kafka-python), comparar contra AWS Kinesis Data Streams (managed equivalent), y reconocer los 3 problemas clásicos de streaming: exactly-once, out-of-order events, backpressure.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batch (datos llegan en bloques) de streaming (datos llegan continuos, baja latencia).</a:t>
            </a:r>
          </a:p>
          <a:p>
            <a:pPr>
              <a:spcAft>
                <a:spcPts val="800"/>
              </a:spcAft>
              <a:defRPr sz="1400" b="0">
                <a:solidFill>
                  <a:srgbClr val="0F172A"/>
                </a:solidFill>
                <a:latin typeface="Segoe UI"/>
              </a:defRPr>
            </a:pPr>
            <a:r>
              <a:rPr sz="1400" b="0">
                <a:solidFill>
                  <a:srgbClr val="0F172A"/>
                </a:solidFill>
                <a:latin typeface="Segoe UI"/>
              </a:rPr>
              <a:t>• Producir mensajes a un topic Kafka con keys (garantiza orden por key, distribuye load).</a:t>
            </a:r>
          </a:p>
          <a:p>
            <a:pPr>
              <a:spcAft>
                <a:spcPts val="800"/>
              </a:spcAft>
              <a:defRPr sz="1400" b="0">
                <a:solidFill>
                  <a:srgbClr val="0F172A"/>
                </a:solidFill>
                <a:latin typeface="Segoe UI"/>
              </a:defRPr>
            </a:pPr>
            <a:r>
              <a:rPr sz="1400" b="0">
                <a:solidFill>
                  <a:srgbClr val="0F172A"/>
                </a:solidFill>
                <a:latin typeface="Segoe UI"/>
              </a:rPr>
              <a:t>• Consumir con consumer groups: partitions distribuidas entre consumers, offset management.</a:t>
            </a:r>
          </a:p>
          <a:p>
            <a:pPr>
              <a:spcAft>
                <a:spcPts val="800"/>
              </a:spcAft>
              <a:defRPr sz="1400" b="0">
                <a:solidFill>
                  <a:srgbClr val="0F172A"/>
                </a:solidFill>
                <a:latin typeface="Segoe UI"/>
              </a:defRPr>
            </a:pPr>
            <a:r>
              <a:rPr sz="1400" b="0">
                <a:solidFill>
                  <a:srgbClr val="0F172A"/>
                </a:solidFill>
                <a:latin typeface="Segoe UI"/>
              </a:rPr>
              <a:t>• Diseñar para at-least-once (default razonable) y entender qué requiere exactly-once (transactional API).</a:t>
            </a:r>
          </a:p>
          <a:p>
            <a:pPr>
              <a:spcAft>
                <a:spcPts val="800"/>
              </a:spcAft>
              <a:defRPr sz="1400" b="0">
                <a:solidFill>
                  <a:srgbClr val="0F172A"/>
                </a:solidFill>
                <a:latin typeface="Segoe UI"/>
              </a:defRPr>
            </a:pPr>
            <a:r>
              <a:rPr sz="1400" b="0">
                <a:solidFill>
                  <a:srgbClr val="0F172A"/>
                </a:solidFill>
                <a:latin typeface="Segoe UI"/>
              </a:rPr>
              <a:t>• Decidir Kafka (self-hosted o Confluent Cloud) vs Kinesis (AWS) vs Pub/Sub (GCP) vs Event Hubs (Azure).</a:t>
            </a:r>
          </a:p>
        </p:txBody>
      </p:sp>
    </p:spTree>
  </p:cSld>
  <p:clrMapOvr>
    <a:masterClrMapping/>
  </p:clrMapOvr>
</p:sld>
</file>

<file path=ppt/slides/slide10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213 — Streaming intro: Kafka, Kinesis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Batch vs streaming — el espectro real</a:t>
            </a:r>
          </a:p>
          <a:p>
            <a:pPr>
              <a:spcAft>
                <a:spcPts val="1000"/>
              </a:spcAft>
              <a:defRPr sz="1600" b="0">
                <a:solidFill>
                  <a:srgbClr val="0F172A"/>
                </a:solidFill>
                <a:latin typeface="Segoe UI"/>
              </a:defRPr>
            </a:pPr>
            <a:r>
              <a:rPr sz="1600" b="0">
                <a:solidFill>
                  <a:srgbClr val="0F172A"/>
                </a:solidFill>
                <a:latin typeface="Segoe UI"/>
              </a:rPr>
              <a:t>• Kafka model: topic, partition, offset</a:t>
            </a:r>
          </a:p>
          <a:p>
            <a:pPr>
              <a:spcAft>
                <a:spcPts val="1000"/>
              </a:spcAft>
              <a:defRPr sz="1600" b="0">
                <a:solidFill>
                  <a:srgbClr val="0F172A"/>
                </a:solidFill>
                <a:latin typeface="Segoe UI"/>
              </a:defRPr>
            </a:pPr>
            <a:r>
              <a:rPr sz="1600" b="0">
                <a:solidFill>
                  <a:srgbClr val="0F172A"/>
                </a:solidFill>
                <a:latin typeface="Segoe UI"/>
              </a:rPr>
              <a:t>• Producer: keys, acks, idempotence</a:t>
            </a:r>
          </a:p>
          <a:p>
            <a:pPr>
              <a:spcAft>
                <a:spcPts val="1000"/>
              </a:spcAft>
              <a:defRPr sz="1600" b="0">
                <a:solidFill>
                  <a:srgbClr val="0F172A"/>
                </a:solidFill>
                <a:latin typeface="Segoe UI"/>
              </a:defRPr>
            </a:pPr>
            <a:r>
              <a:rPr sz="1600" b="0">
                <a:solidFill>
                  <a:srgbClr val="0F172A"/>
                </a:solidFill>
                <a:latin typeface="Segoe UI"/>
              </a:rPr>
              <a:t>• Consumer groups + rebalancing</a:t>
            </a:r>
          </a:p>
          <a:p>
            <a:pPr>
              <a:spcAft>
                <a:spcPts val="1000"/>
              </a:spcAft>
              <a:defRPr sz="1600" b="0">
                <a:solidFill>
                  <a:srgbClr val="0F172A"/>
                </a:solidFill>
                <a:latin typeface="Segoe UI"/>
              </a:defRPr>
            </a:pPr>
            <a:r>
              <a:rPr sz="1600" b="0">
                <a:solidFill>
                  <a:srgbClr val="0F172A"/>
                </a:solidFill>
                <a:latin typeface="Segoe UI"/>
              </a:rPr>
              <a:t>• Delivery semantics: at-most/at-least/exactly-once</a:t>
            </a:r>
          </a:p>
          <a:p>
            <a:pPr>
              <a:spcAft>
                <a:spcPts val="1000"/>
              </a:spcAft>
              <a:defRPr sz="1600" b="0">
                <a:solidFill>
                  <a:srgbClr val="0F172A"/>
                </a:solidFill>
                <a:latin typeface="Segoe UI"/>
              </a:defRPr>
            </a:pPr>
            <a:r>
              <a:rPr sz="1600" b="0">
                <a:solidFill>
                  <a:srgbClr val="0F172A"/>
                </a:solidFill>
                <a:latin typeface="Segoe UI"/>
              </a:rPr>
              <a:t>• Kinesis comparison</a:t>
            </a:r>
          </a:p>
        </p:txBody>
      </p:sp>
    </p:spTree>
  </p:cSld>
  <p:clrMapOvr>
    <a:masterClrMapping/>
  </p:clrMapOvr>
</p:sld>
</file>

<file path=ppt/slides/slide10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213 — Streaming intro: Kafka, Kinesis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compose = '''\</a:t>
            </a:r>
          </a:p>
          <a:p>
            <a:pPr>
              <a:defRPr sz="1200" b="0">
                <a:solidFill>
                  <a:srgbClr val="F8FAFC"/>
                </a:solidFill>
                <a:latin typeface="Courier New"/>
              </a:defRPr>
            </a:pPr>
            <a:r>
              <a:rPr sz="1200" b="0">
                <a:solidFill>
                  <a:srgbClr val="F8FAFC"/>
                </a:solidFill>
                <a:latin typeface="Courier New"/>
              </a:rPr>
              <a:t>services:</a:t>
            </a:r>
          </a:p>
          <a:p>
            <a:pPr>
              <a:defRPr sz="1200" b="0">
                <a:solidFill>
                  <a:srgbClr val="F8FAFC"/>
                </a:solidFill>
                <a:latin typeface="Courier New"/>
              </a:defRPr>
            </a:pPr>
            <a:r>
              <a:rPr sz="1200" b="0">
                <a:solidFill>
                  <a:srgbClr val="F8FAFC"/>
                </a:solidFill>
                <a:latin typeface="Courier New"/>
              </a:rPr>
              <a:t>  kafka:</a:t>
            </a:r>
          </a:p>
          <a:p>
            <a:pPr>
              <a:defRPr sz="1200" b="0">
                <a:solidFill>
                  <a:srgbClr val="F8FAFC"/>
                </a:solidFill>
                <a:latin typeface="Courier New"/>
              </a:defRPr>
            </a:pPr>
            <a:r>
              <a:rPr sz="1200" b="0">
                <a:solidFill>
                  <a:srgbClr val="F8FAFC"/>
                </a:solidFill>
                <a:latin typeface="Courier New"/>
              </a:rPr>
              <a:t>    image: bitnami/kafka:3.7</a:t>
            </a:r>
          </a:p>
          <a:p>
            <a:pPr>
              <a:defRPr sz="1200" b="0">
                <a:solidFill>
                  <a:srgbClr val="F8FAFC"/>
                </a:solidFill>
                <a:latin typeface="Courier New"/>
              </a:defRPr>
            </a:pPr>
            <a:r>
              <a:rPr sz="1200" b="0">
                <a:solidFill>
                  <a:srgbClr val="F8FAFC"/>
                </a:solidFill>
                <a:latin typeface="Courier New"/>
              </a:rPr>
              <a:t>    ports: ["9092:9092"]</a:t>
            </a:r>
          </a:p>
          <a:p>
            <a:pPr>
              <a:defRPr sz="1200" b="0">
                <a:solidFill>
                  <a:srgbClr val="F8FAFC"/>
                </a:solidFill>
                <a:latin typeface="Courier New"/>
              </a:defRPr>
            </a:pPr>
            <a:r>
              <a:rPr sz="1200" b="0">
                <a:solidFill>
                  <a:srgbClr val="F8FAFC"/>
                </a:solidFill>
                <a:latin typeface="Courier New"/>
              </a:rPr>
              <a:t>    environment:</a:t>
            </a:r>
          </a:p>
          <a:p>
            <a:pPr>
              <a:defRPr sz="1200" b="0">
                <a:solidFill>
                  <a:srgbClr val="F8FAFC"/>
                </a:solidFill>
                <a:latin typeface="Courier New"/>
              </a:defRPr>
            </a:pPr>
            <a:r>
              <a:rPr sz="1200" b="0">
                <a:solidFill>
                  <a:srgbClr val="F8FAFC"/>
                </a:solidFill>
                <a:latin typeface="Courier New"/>
              </a:rPr>
              <a:t>      KAFKA_CFG_NODE_ID: 1</a:t>
            </a:r>
          </a:p>
          <a:p>
            <a:pPr>
              <a:defRPr sz="1200" b="0">
                <a:solidFill>
                  <a:srgbClr val="F8FAFC"/>
                </a:solidFill>
                <a:latin typeface="Courier New"/>
              </a:defRPr>
            </a:pPr>
            <a:r>
              <a:rPr sz="1200" b="0">
                <a:solidFill>
                  <a:srgbClr val="F8FAFC"/>
                </a:solidFill>
                <a:latin typeface="Courier New"/>
              </a:rPr>
              <a:t>      KAFKA_CFG_PROCESS_ROLES: controller,broker</a:t>
            </a:r>
          </a:p>
          <a:p>
            <a:pPr>
              <a:defRPr sz="1200" b="0">
                <a:solidFill>
                  <a:srgbClr val="F8FAFC"/>
                </a:solidFill>
                <a:latin typeface="Courier New"/>
              </a:defRPr>
            </a:pPr>
            <a:r>
              <a:rPr sz="1200" b="0">
                <a:solidFill>
                  <a:srgbClr val="F8FAFC"/>
                </a:solidFill>
                <a:latin typeface="Courier New"/>
              </a:rPr>
              <a:t>      KAFKA_CFG_LISTENERS: PLAINTEXT://:9092,CONTROLLER://:9093</a:t>
            </a:r>
          </a:p>
          <a:p>
            <a:pPr>
              <a:defRPr sz="1200" b="0">
                <a:solidFill>
                  <a:srgbClr val="F8FAFC"/>
                </a:solidFill>
                <a:latin typeface="Courier New"/>
              </a:defRPr>
            </a:pPr>
            <a:r>
              <a:rPr sz="1200" b="0">
                <a:solidFill>
                  <a:srgbClr val="F8FAFC"/>
                </a:solidFill>
                <a:latin typeface="Courier New"/>
              </a:rPr>
              <a:t>      KAFKA_CFG_ADVERTISED_LISTENERS: PLAINTEXT://localhost:9092</a:t>
            </a:r>
          </a:p>
          <a:p>
            <a:pPr>
              <a:defRPr sz="1200" b="0">
                <a:solidFill>
                  <a:srgbClr val="F8FAFC"/>
                </a:solidFill>
                <a:latin typeface="Courier New"/>
              </a:defRPr>
            </a:pPr>
            <a:r>
              <a:rPr sz="1200" b="0">
                <a:solidFill>
                  <a:srgbClr val="F8FAFC"/>
                </a:solidFill>
                <a:latin typeface="Courier New"/>
              </a:rPr>
              <a:t>      KAFKA_CFG_LISTENER_SECURITY_PROTOCOL_MAP: CONTROLLER:PLAINTEXT,PLAINTEXT:PLAINTEXT</a:t>
            </a:r>
          </a:p>
          <a:p>
            <a:pPr>
              <a:defRPr sz="1200" b="0">
                <a:solidFill>
                  <a:srgbClr val="F8FAFC"/>
                </a:solidFill>
                <a:latin typeface="Courier New"/>
              </a:defRPr>
            </a:pPr>
            <a:r>
              <a:rPr sz="1200" b="0">
                <a:solidFill>
                  <a:srgbClr val="F8FAFC"/>
                </a:solidFill>
                <a:latin typeface="Courier New"/>
              </a:rPr>
              <a:t>      KAFKA_CFG_CONTROLLER_LISTENER_NAMES: CONTROLLER</a:t>
            </a:r>
          </a:p>
          <a:p>
            <a:pPr>
              <a:defRPr sz="1200" b="0">
                <a:solidFill>
                  <a:srgbClr val="F8FAFC"/>
                </a:solidFill>
                <a:latin typeface="Courier New"/>
              </a:defRPr>
            </a:pPr>
            <a:r>
              <a:rPr sz="1200" b="0">
                <a:solidFill>
                  <a:srgbClr val="F8FAFC"/>
                </a:solidFill>
                <a:latin typeface="Courier New"/>
              </a:rPr>
              <a:t>      KAFKA_CFG_CONTROLLER_QUORUM_VOTERS: 1@kafka:9093</a:t>
            </a:r>
          </a:p>
          <a:p>
            <a:pPr>
              <a:defRPr sz="1200" b="0">
                <a:solidFill>
                  <a:srgbClr val="F8FAFC"/>
                </a:solidFill>
                <a:latin typeface="Courier New"/>
              </a:defRPr>
            </a:pPr>
            <a:r>
              <a:rPr sz="1200" b="0">
                <a:solidFill>
                  <a:srgbClr val="F8FAFC"/>
                </a:solidFill>
                <a:latin typeface="Courier New"/>
              </a:rPr>
              <a:t>      KAFKA_CFG_AUTO_CREATE_TOPICS_ENABLE: "true"</a:t>
            </a:r>
          </a:p>
          <a:p>
            <a:pPr>
              <a:defRPr sz="1200" b="0">
                <a:solidFill>
                  <a:srgbClr val="F8FAFC"/>
                </a:solidFill>
                <a:latin typeface="Courier New"/>
              </a:defRPr>
            </a:pPr>
            <a:r>
              <a:rPr sz="1200" b="0">
                <a:solidFill>
                  <a:srgbClr val="F8FAFC"/>
                </a:solidFill>
                <a:latin typeface="Courier New"/>
              </a:rPr>
              <a:t>    healthcheck:</a:t>
            </a:r>
          </a:p>
          <a:p>
            <a:pPr>
              <a:defRPr sz="1200" b="0">
                <a:solidFill>
                  <a:srgbClr val="F8FAFC"/>
                </a:solidFill>
                <a:latin typeface="Courier New"/>
              </a:defRPr>
            </a:pPr>
            <a:r>
              <a:rPr sz="1200" b="0">
                <a:solidFill>
                  <a:srgbClr val="F8FAFC"/>
                </a:solidFill>
                <a:latin typeface="Courier New"/>
              </a:rPr>
              <a:t>      test: kafka-topics.sh --bootstrap-server localhost:9092 --list</a:t>
            </a:r>
          </a:p>
          <a:p>
            <a:pPr>
              <a:defRPr sz="1200" b="0">
                <a:solidFill>
                  <a:srgbClr val="F8FAFC"/>
                </a:solidFill>
                <a:latin typeface="Courier New"/>
              </a:defRPr>
            </a:pPr>
            <a:r>
              <a:rPr sz="1200" b="0">
                <a:solidFill>
                  <a:srgbClr val="F8FAFC"/>
                </a:solidFill>
                <a:latin typeface="Courier New"/>
              </a:rPr>
              <a:t>      interval: 5s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kafka-ui:</a:t>
            </a:r>
          </a:p>
          <a:p>
            <a:pPr>
              <a:defRPr sz="1200" b="0">
                <a:solidFill>
                  <a:srgbClr val="F8FAFC"/>
                </a:solidFill>
                <a:latin typeface="Courier New"/>
              </a:defRPr>
            </a:pPr>
            <a:r>
              <a:rPr sz="1200" b="0">
                <a:solidFill>
                  <a:srgbClr val="F8FAFC"/>
                </a:solidFill>
                <a:latin typeface="Courier New"/>
              </a:rPr>
              <a:t>    image: provectuslabs/kafka-ui:latest</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0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213 — Streaming intro: Kafka, Kinesis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Setup local: docker-compose con Kafka + Kafka UI.</a:t>
            </a:r>
          </a:p>
          <a:p>
            <a:pPr>
              <a:spcAft>
                <a:spcPts val="800"/>
              </a:spcAft>
              <a:defRPr sz="1400" b="0">
                <a:solidFill>
                  <a:srgbClr val="0F172A"/>
                </a:solidFill>
                <a:latin typeface="Segoe UI"/>
              </a:defRPr>
            </a:pPr>
            <a:r>
              <a:rPr sz="1400" b="0">
                <a:solidFill>
                  <a:srgbClr val="0F172A"/>
                </a:solidFill>
                <a:latin typeface="Segoe UI"/>
              </a:rPr>
              <a:t>• Producer: script Python que produce 1000 mensajes con key=user_id, value={"page":"/foo","ts":...}.</a:t>
            </a:r>
          </a:p>
          <a:p>
            <a:pPr>
              <a:spcAft>
                <a:spcPts val="800"/>
              </a:spcAft>
              <a:defRPr sz="1400" b="0">
                <a:solidFill>
                  <a:srgbClr val="0F172A"/>
                </a:solidFill>
                <a:latin typeface="Segoe UI"/>
              </a:defRPr>
            </a:pPr>
            <a:r>
              <a:rPr sz="1400" b="0">
                <a:solidFill>
                  <a:srgbClr val="0F172A"/>
                </a:solidFill>
                <a:latin typeface="Segoe UI"/>
              </a:rPr>
              <a:t>• Consumer 1 instancia: consumer.subscribe(['clicks']) + loop for msg in consumer.</a:t>
            </a:r>
          </a:p>
          <a:p>
            <a:pPr>
              <a:spcAft>
                <a:spcPts val="800"/>
              </a:spcAft>
              <a:defRPr sz="1400" b="0">
                <a:solidFill>
                  <a:srgbClr val="0F172A"/>
                </a:solidFill>
                <a:latin typeface="Segoe UI"/>
              </a:defRPr>
            </a:pPr>
            <a:r>
              <a:rPr sz="1400" b="0">
                <a:solidFill>
                  <a:srgbClr val="0F172A"/>
                </a:solidFill>
                <a:latin typeface="Segoe UI"/>
              </a:rPr>
              <a:t>• Consumer group, 2 instancias: levantar 2 consumers con mismo group.id.</a:t>
            </a:r>
          </a:p>
          <a:p>
            <a:pPr>
              <a:spcAft>
                <a:spcPts val="800"/>
              </a:spcAft>
              <a:defRPr sz="1400" b="0">
                <a:solidFill>
                  <a:srgbClr val="0F172A"/>
                </a:solidFill>
                <a:latin typeface="Segoe UI"/>
              </a:defRPr>
            </a:pPr>
            <a:r>
              <a:rPr sz="1400" b="0">
                <a:solidFill>
                  <a:srgbClr val="0F172A"/>
                </a:solidFill>
                <a:latin typeface="Segoe UI"/>
              </a:rPr>
              <a:t>• At-least-once explícito: enable.auto.commit=False, procesar mensaje, consumer.commit().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Producer Python que simula 100 eventos/s durante 1 min (sintéticos con faker).</a:t>
            </a:r>
          </a:p>
          <a:p>
            <a:pPr>
              <a:spcAft>
                <a:spcPts val="800"/>
              </a:spcAft>
              <a:defRPr sz="1400" b="0">
                <a:solidFill>
                  <a:srgbClr val="0F172A"/>
                </a:solidFill>
                <a:latin typeface="Segoe UI"/>
              </a:defRPr>
            </a:pPr>
            <a:r>
              <a:rPr sz="1400" b="0">
                <a:solidFill>
                  <a:srgbClr val="0F172A"/>
                </a:solidFill>
                <a:latin typeface="Segoe UI"/>
              </a:rPr>
              <a:t>• 3 consumers en el mismo group consumiendo de un topic con 6 partitions.</a:t>
            </a:r>
          </a:p>
          <a:p>
            <a:pPr>
              <a:spcAft>
                <a:spcPts val="800"/>
              </a:spcAft>
              <a:defRPr sz="1400" b="0">
                <a:solidFill>
                  <a:srgbClr val="0F172A"/>
                </a:solidFill>
                <a:latin typeface="Segoe UI"/>
              </a:defRPr>
            </a:pPr>
            <a:r>
              <a:rPr sz="1400" b="0">
                <a:solidFill>
                  <a:srgbClr val="0F172A"/>
                </a:solidFill>
                <a:latin typeface="Segoe UI"/>
              </a:rPr>
              <a:t>• Cada consumer procesa y escribe a una tabla DuckDB (idempotente: PK = (user_id, event_ts)).</a:t>
            </a:r>
          </a:p>
          <a:p>
            <a:pPr>
              <a:spcAft>
                <a:spcPts val="800"/>
              </a:spcAft>
              <a:defRPr sz="1400" b="0">
                <a:solidFill>
                  <a:srgbClr val="0F172A"/>
                </a:solidFill>
                <a:latin typeface="Segoe UI"/>
              </a:defRPr>
            </a:pPr>
            <a:r>
              <a:rPr sz="1400" b="0">
                <a:solidFill>
                  <a:srgbClr val="0F172A"/>
                </a:solidFill>
                <a:latin typeface="Segoe UI"/>
              </a:rPr>
              <a:t>• Métrica de consumer lag monitoreada (chequear kafka-consumer-groups --describe).</a:t>
            </a:r>
          </a:p>
          <a:p>
            <a:pPr>
              <a:spcAft>
                <a:spcPts val="800"/>
              </a:spcAft>
              <a:defRPr sz="1400" b="0">
                <a:solidFill>
                  <a:srgbClr val="0F172A"/>
                </a:solidFill>
                <a:latin typeface="Segoe UI"/>
              </a:defRPr>
            </a:pPr>
            <a:r>
              <a:rPr sz="1400" b="0">
                <a:solidFill>
                  <a:srgbClr val="0F172A"/>
                </a:solidFill>
                <a:latin typeface="Segoe UI"/>
              </a:rPr>
              <a:t>• Demonstración: matar 1 consumer durante la corrida y verificar rebalancing + cero pérdida de mensajes.</a:t>
            </a:r>
          </a:p>
        </p:txBody>
      </p:sp>
    </p:spTree>
  </p:cSld>
  <p:clrMapOvr>
    <a:masterClrMapping/>
  </p:clrMapOvr>
</p:sld>
</file>

<file path=ppt/slides/slide107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214 — Formatos columnares: Parquet, Avro</a:t>
            </a:r>
          </a:p>
        </p:txBody>
      </p:sp>
    </p:spTree>
  </p:cSld>
  <p:clrMapOvr>
    <a:masterClrMapping/>
  </p:clrMapOvr>
</p:sld>
</file>

<file path=ppt/slides/slide10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214 — Formatos columnares: Parquet, Avro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docs Parquet 2.x + Avro spec + Reis &amp; Housley cap. 6.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Elegir formato de almacenamiento según el patrón de lectura: Parquet (columnar, OLAP, queries analíticas), Avro (row-based, OLTP/streaming, schema evolution), ORC (columnar, Hive ecosystem). Entender por qué Parquet es 5-100× más rápido que CSV para queries analíticas, y por qué Avro domina en Kafka.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CSV → Parquet con pandas.to_parquet / polars.write_parquet / pyarrow.</a:t>
            </a:r>
          </a:p>
          <a:p>
            <a:pPr>
              <a:spcAft>
                <a:spcPts val="800"/>
              </a:spcAft>
              <a:defRPr sz="1400" b="0">
                <a:solidFill>
                  <a:srgbClr val="0F172A"/>
                </a:solidFill>
                <a:latin typeface="Segoe UI"/>
              </a:defRPr>
            </a:pPr>
            <a:r>
              <a:rPr sz="1400" b="0">
                <a:solidFill>
                  <a:srgbClr val="0F172A"/>
                </a:solidFill>
                <a:latin typeface="Segoe UI"/>
              </a:rPr>
              <a:t>• Diferenciar row-based (CSV, JSON, Avro) de columnar (Parquet, ORC) y elegir según query pattern.</a:t>
            </a:r>
          </a:p>
          <a:p>
            <a:pPr>
              <a:spcAft>
                <a:spcPts val="800"/>
              </a:spcAft>
              <a:defRPr sz="1400" b="0">
                <a:solidFill>
                  <a:srgbClr val="0F172A"/>
                </a:solidFill>
                <a:latin typeface="Segoe UI"/>
              </a:defRPr>
            </a:pPr>
            <a:r>
              <a:rPr sz="1400" b="0">
                <a:solidFill>
                  <a:srgbClr val="0F172A"/>
                </a:solidFill>
                <a:latin typeface="Segoe UI"/>
              </a:rPr>
              <a:t>• Aprovechar column pruning + predicate pushdown + row group pruning de Parquet (Polars/DuckDB/Spark lo hacen automático).</a:t>
            </a:r>
          </a:p>
          <a:p>
            <a:pPr>
              <a:spcAft>
                <a:spcPts val="800"/>
              </a:spcAft>
              <a:defRPr sz="1400" b="0">
                <a:solidFill>
                  <a:srgbClr val="0F172A"/>
                </a:solidFill>
                <a:latin typeface="Segoe UI"/>
              </a:defRPr>
            </a:pPr>
            <a:r>
              <a:rPr sz="1400" b="0">
                <a:solidFill>
                  <a:srgbClr val="0F172A"/>
                </a:solidFill>
                <a:latin typeface="Segoe UI"/>
              </a:rPr>
              <a:t>• Aplicar compresión (snappy default, zstd mejor ratio, gzip mejor compat) y entender trade-off CPU vs tamaño.</a:t>
            </a:r>
          </a:p>
          <a:p>
            <a:pPr>
              <a:spcAft>
                <a:spcPts val="800"/>
              </a:spcAft>
              <a:defRPr sz="1400" b="0">
                <a:solidFill>
                  <a:srgbClr val="0F172A"/>
                </a:solidFill>
                <a:latin typeface="Segoe UI"/>
              </a:defRPr>
            </a:pPr>
            <a:r>
              <a:rPr sz="1400" b="0">
                <a:solidFill>
                  <a:srgbClr val="0F172A"/>
                </a:solidFill>
                <a:latin typeface="Segoe UI"/>
              </a:rPr>
              <a:t>• Definir un schema Avro y usarlo en Kafka con Schema Registry (concept).</a:t>
            </a:r>
          </a:p>
        </p:txBody>
      </p:sp>
    </p:spTree>
  </p:cSld>
  <p:clrMapOvr>
    <a:masterClrMapping/>
  </p:clrMapOvr>
</p:sld>
</file>

<file path=ppt/slides/slide10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214 — Formatos columnares: Parquet, Avro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Row vs columnar</a:t>
            </a:r>
          </a:p>
          <a:p>
            <a:pPr>
              <a:spcAft>
                <a:spcPts val="1000"/>
              </a:spcAft>
              <a:defRPr sz="1600" b="0">
                <a:solidFill>
                  <a:srgbClr val="0F172A"/>
                </a:solidFill>
                <a:latin typeface="Segoe UI"/>
              </a:defRPr>
            </a:pPr>
            <a:r>
              <a:rPr sz="1600" b="0">
                <a:solidFill>
                  <a:srgbClr val="0F172A"/>
                </a:solidFill>
                <a:latin typeface="Segoe UI"/>
              </a:rPr>
              <a:t>• Parquet anatomy: file &gt; row group &gt; column chunk &gt; page</a:t>
            </a:r>
          </a:p>
          <a:p>
            <a:pPr>
              <a:spcAft>
                <a:spcPts val="1000"/>
              </a:spcAft>
              <a:defRPr sz="1600" b="0">
                <a:solidFill>
                  <a:srgbClr val="0F172A"/>
                </a:solidFill>
                <a:latin typeface="Segoe UI"/>
              </a:defRPr>
            </a:pPr>
            <a:r>
              <a:rPr sz="1600" b="0">
                <a:solidFill>
                  <a:srgbClr val="0F172A"/>
                </a:solidFill>
                <a:latin typeface="Segoe UI"/>
              </a:rPr>
              <a:t>• Compresión: snappy, zstd, gzip, lz4</a:t>
            </a:r>
          </a:p>
          <a:p>
            <a:pPr>
              <a:spcAft>
                <a:spcPts val="1000"/>
              </a:spcAft>
              <a:defRPr sz="1600" b="0">
                <a:solidFill>
                  <a:srgbClr val="0F172A"/>
                </a:solidFill>
                <a:latin typeface="Segoe UI"/>
              </a:defRPr>
            </a:pPr>
            <a:r>
              <a:rPr sz="1600" b="0">
                <a:solidFill>
                  <a:srgbClr val="0F172A"/>
                </a:solidFill>
                <a:latin typeface="Segoe UI"/>
              </a:rPr>
              <a:t>• Dictionary encoding, RLE</a:t>
            </a:r>
          </a:p>
          <a:p>
            <a:pPr>
              <a:spcAft>
                <a:spcPts val="1000"/>
              </a:spcAft>
              <a:defRPr sz="1600" b="0">
                <a:solidFill>
                  <a:srgbClr val="0F172A"/>
                </a:solidFill>
                <a:latin typeface="Segoe UI"/>
              </a:defRPr>
            </a:pPr>
            <a:r>
              <a:rPr sz="1600" b="0">
                <a:solidFill>
                  <a:srgbClr val="0F172A"/>
                </a:solidFill>
                <a:latin typeface="Segoe UI"/>
              </a:rPr>
              <a:t>• Avro: schema-first, row-based, compact binary</a:t>
            </a:r>
          </a:p>
          <a:p>
            <a:pPr>
              <a:spcAft>
                <a:spcPts val="1000"/>
              </a:spcAft>
              <a:defRPr sz="1600" b="0">
                <a:solidFill>
                  <a:srgbClr val="0F172A"/>
                </a:solidFill>
                <a:latin typeface="Segoe UI"/>
              </a:defRPr>
            </a:pPr>
            <a:r>
              <a:rPr sz="1600" b="0">
                <a:solidFill>
                  <a:srgbClr val="0F172A"/>
                </a:solidFill>
                <a:latin typeface="Segoe UI"/>
              </a:rPr>
              <a:t>• Schema evolution: forward/backward/full compat</a:t>
            </a:r>
          </a:p>
        </p:txBody>
      </p:sp>
    </p:spTree>
  </p:cSld>
  <p:clrMapOvr>
    <a:masterClrMapping/>
  </p:clrMapOvr>
</p:sld>
</file>

<file path=ppt/slides/slide10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214 — Formatos columnares: Parquet, Avro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Requiere: pip install pyarrow polars duckdb fastavro.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pyarrow as pa, pyarrow.parquet as pq, polars as pl, pandas as pd, numpy as np, time, json</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import tempfile, shutil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'parquet_bench'</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 2_000_000</a:t>
            </a:r>
          </a:p>
          <a:p>
            <a:pPr>
              <a:defRPr sz="1200" b="0">
                <a:solidFill>
                  <a:srgbClr val="F8FAFC"/>
                </a:solidFill>
                <a:latin typeface="Courier New"/>
              </a:defRPr>
            </a:pPr>
            <a:r>
              <a:rPr sz="1200" b="0">
                <a:solidFill>
                  <a:srgbClr val="F8FAFC"/>
                </a:solidFill>
                <a:latin typeface="Courier New"/>
              </a:rPr>
              <a:t>df = pl.DataFrame({</a:t>
            </a:r>
          </a:p>
          <a:p>
            <a:pPr>
              <a:defRPr sz="1200" b="0">
                <a:solidFill>
                  <a:srgbClr val="F8FAFC"/>
                </a:solidFill>
                <a:latin typeface="Courier New"/>
              </a:defRPr>
            </a:pPr>
            <a:r>
              <a:rPr sz="1200" b="0">
                <a:solidFill>
                  <a:srgbClr val="F8FAFC"/>
                </a:solidFill>
                <a:latin typeface="Courier New"/>
              </a:rPr>
              <a:t>    'zone_id': rng.integers(0, 100, N),</a:t>
            </a:r>
          </a:p>
          <a:p>
            <a:pPr>
              <a:defRPr sz="1200" b="0">
                <a:solidFill>
                  <a:srgbClr val="F8FAFC"/>
                </a:solidFill>
                <a:latin typeface="Courier New"/>
              </a:defRPr>
            </a:pPr>
            <a:r>
              <a:rPr sz="1200" b="0">
                <a:solidFill>
                  <a:srgbClr val="F8FAFC"/>
                </a:solidFill>
                <a:latin typeface="Courier New"/>
              </a:rPr>
              <a:t>    'fare':    rng.uniform(5, 100, N),</a:t>
            </a:r>
          </a:p>
          <a:p>
            <a:pPr>
              <a:defRPr sz="1200" b="0">
                <a:solidFill>
                  <a:srgbClr val="F8FAFC"/>
                </a:solidFill>
                <a:latin typeface="Courier New"/>
              </a:defRPr>
            </a:pPr>
            <a:r>
              <a:rPr sz="1200" b="0">
                <a:solidFill>
                  <a:srgbClr val="F8FAFC"/>
                </a:solidFill>
                <a:latin typeface="Courier New"/>
              </a:rPr>
              <a:t>    'tip':     rng.uniform(0, 20, N),</a:t>
            </a:r>
          </a:p>
          <a:p>
            <a:pPr>
              <a:defRPr sz="1200" b="0">
                <a:solidFill>
                  <a:srgbClr val="F8FAFC"/>
                </a:solidFill>
                <a:latin typeface="Courier New"/>
              </a:defRPr>
            </a:pPr>
            <a:r>
              <a:rPr sz="1200" b="0">
                <a:solidFill>
                  <a:srgbClr val="F8FAFC"/>
                </a:solidFill>
                <a:latin typeface="Courier New"/>
              </a:rPr>
              <a:t>    'pickup_date': pl.date(2024, 1, 1) + pl.duration(days=pl.Series(rng.integers(0, 90, N))),</a:t>
            </a:r>
          </a:p>
          <a:p>
            <a:pPr>
              <a:defRPr sz="1200" b="0">
                <a:solidFill>
                  <a:srgbClr val="F8FAFC"/>
                </a:solidFill>
                <a:latin typeface="Courier New"/>
              </a:defRPr>
            </a:pPr>
            <a:r>
              <a:rPr sz="1200" b="0">
                <a:solidFill>
                  <a:srgbClr val="F8FAFC"/>
                </a:solidFill>
                <a:latin typeface="Courier New"/>
              </a:rPr>
              <a:t>    'borough': rng.choice(['Manhattan', 'Brooklyn', 'Queens', 'Bronx'], N),</a:t>
            </a:r>
          </a:p>
          <a:p>
            <a:pPr>
              <a:defRPr sz="1200" b="0">
                <a:solidFill>
                  <a:srgbClr val="F8FAFC"/>
                </a:solidFill>
                <a:latin typeface="Courier New"/>
              </a:defRPr>
            </a:pPr>
            <a:r>
              <a:rPr sz="1200" b="0">
                <a:solidFill>
                  <a:srgbClr val="F8FAFC"/>
                </a:solidFill>
                <a:latin typeface="Courier New"/>
              </a:rPr>
              <a:t>    'note':    rng.choice(['short ride', 'long ride', 'airport', 'rush hour', None], N),</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print(f'dataset: {N:,} rows, {len(df.columns)} cols')</a:t>
            </a:r>
          </a:p>
        </p:txBody>
      </p:sp>
    </p:spTree>
  </p:cSld>
  <p:clrMapOvr>
    <a:masterClrMapping/>
  </p:clrMapOvr>
</p:sld>
</file>

<file path=ppt/slides/slide10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214 — Formatos columnares: Parquet, Avro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CSV → Parquet: descargá NYC Taxi 1 mes en CSV.</a:t>
            </a:r>
          </a:p>
          <a:p>
            <a:pPr>
              <a:spcAft>
                <a:spcPts val="800"/>
              </a:spcAft>
              <a:defRPr sz="1400" b="0">
                <a:solidFill>
                  <a:srgbClr val="0F172A"/>
                </a:solidFill>
                <a:latin typeface="Segoe UI"/>
              </a:defRPr>
            </a:pPr>
            <a:r>
              <a:rPr sz="1400" b="0">
                <a:solidFill>
                  <a:srgbClr val="0F172A"/>
                </a:solidFill>
                <a:latin typeface="Segoe UI"/>
              </a:rPr>
              <a:t>• Compresión benchmark: mismo dataset, escribir con snappy, zstd, gzip, lz4.</a:t>
            </a:r>
          </a:p>
          <a:p>
            <a:pPr>
              <a:spcAft>
                <a:spcPts val="800"/>
              </a:spcAft>
              <a:defRPr sz="1400" b="0">
                <a:solidFill>
                  <a:srgbClr val="0F172A"/>
                </a:solidFill>
                <a:latin typeface="Segoe UI"/>
              </a:defRPr>
            </a:pPr>
            <a:r>
              <a:rPr sz="1400" b="0">
                <a:solidFill>
                  <a:srgbClr val="0F172A"/>
                </a:solidFill>
                <a:latin typeface="Segoe UI"/>
              </a:rPr>
              <a:t>• Predicate pushdown: en DuckDB, EXPLAIN ANALYZE SELECT  FROM parquet WHERE pickup_date='2024-01-15'.</a:t>
            </a:r>
          </a:p>
          <a:p>
            <a:pPr>
              <a:spcAft>
                <a:spcPts val="800"/>
              </a:spcAft>
              <a:defRPr sz="1400" b="0">
                <a:solidFill>
                  <a:srgbClr val="0F172A"/>
                </a:solidFill>
                <a:latin typeface="Segoe UI"/>
              </a:defRPr>
            </a:pPr>
            <a:r>
              <a:rPr sz="1400" b="0">
                <a:solidFill>
                  <a:srgbClr val="0F172A"/>
                </a:solidFill>
                <a:latin typeface="Segoe UI"/>
              </a:rPr>
              <a:t>• Row groups y stats: con pyarrow.parquet.ParquetFile(path).metadata, inspeccioná min/max/null_count por columna por row group.</a:t>
            </a:r>
          </a:p>
          <a:p>
            <a:pPr>
              <a:spcAft>
                <a:spcPts val="800"/>
              </a:spcAft>
              <a:defRPr sz="1400" b="0">
                <a:solidFill>
                  <a:srgbClr val="0F172A"/>
                </a:solidFill>
                <a:latin typeface="Segoe UI"/>
              </a:defRPr>
            </a:pPr>
            <a:r>
              <a:rPr sz="1400" b="0">
                <a:solidFill>
                  <a:srgbClr val="0F172A"/>
                </a:solidFill>
                <a:latin typeface="Segoe UI"/>
              </a:rPr>
              <a:t>• Avro schema + roundtrip: definí schema Avro para evento de click.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Benchmark sobre 1 año de NYC Taxi:</a:t>
            </a:r>
          </a:p>
          <a:p>
            <a:pPr>
              <a:spcAft>
                <a:spcPts val="800"/>
              </a:spcAft>
              <a:defRPr sz="1400" b="0">
                <a:solidFill>
                  <a:srgbClr val="0F172A"/>
                </a:solidFill>
                <a:latin typeface="Segoe UI"/>
              </a:defRPr>
            </a:pPr>
            <a:r>
              <a:rPr sz="1400" b="0">
                <a:solidFill>
                  <a:srgbClr val="0F172A"/>
                </a:solidFill>
                <a:latin typeface="Segoe UI"/>
              </a:rPr>
              <a:t>• CSV (raw), Parquet snappy, Parquet zstd, Avro snappy, JSON gzipped.</a:t>
            </a:r>
          </a:p>
          <a:p>
            <a:pPr>
              <a:spcAft>
                <a:spcPts val="800"/>
              </a:spcAft>
              <a:defRPr sz="1400" b="0">
                <a:solidFill>
                  <a:srgbClr val="0F172A"/>
                </a:solidFill>
                <a:latin typeface="Segoe UI"/>
              </a:defRPr>
            </a:pPr>
            <a:r>
              <a:rPr sz="1400" b="0">
                <a:solidFill>
                  <a:srgbClr val="0F172A"/>
                </a:solidFill>
                <a:latin typeface="Segoe UI"/>
              </a:rPr>
              <a:t>• Reportar para cada uno: tamaño en disco, tiempo de query COUNT *, tiempo de SELECT col WHERE filter.</a:t>
            </a:r>
          </a:p>
          <a:p>
            <a:pPr>
              <a:spcAft>
                <a:spcPts val="800"/>
              </a:spcAft>
              <a:defRPr sz="1400" b="0">
                <a:solidFill>
                  <a:srgbClr val="0F172A"/>
                </a:solidFill>
                <a:latin typeface="Segoe UI"/>
              </a:defRPr>
            </a:pPr>
            <a:r>
              <a:rPr sz="1400" b="0">
                <a:solidFill>
                  <a:srgbClr val="0F172A"/>
                </a:solidFill>
                <a:latin typeface="Segoe UI"/>
              </a:rPr>
              <a:t>• Demonstración de schema evolution: tabla Avro con schema v1 (5 campos), agregar campo opcional → v2. Consumer viejo (con v1) lee data de v2 sin romperse.</a:t>
            </a:r>
          </a:p>
          <a:p>
            <a:pPr>
              <a:spcAft>
                <a:spcPts val="800"/>
              </a:spcAft>
              <a:defRPr sz="1400" b="0">
                <a:solidFill>
                  <a:srgbClr val="0F172A"/>
                </a:solidFill>
                <a:latin typeface="Segoe UI"/>
              </a:defRPr>
            </a:pPr>
            <a:r>
              <a:rPr sz="1400" b="0">
                <a:solidFill>
                  <a:srgbClr val="0F172A"/>
                </a:solidFill>
                <a:latin typeface="Segoe UI"/>
              </a:rPr>
              <a:t>• Justificación de elección: para 3 casos de uso (analytics warehouse, Kafka stream, archive a largo plazo), recomendar formato y compresión.</a:t>
            </a:r>
          </a:p>
        </p:txBody>
      </p:sp>
    </p:spTree>
  </p:cSld>
  <p:clrMapOvr>
    <a:masterClrMapping/>
  </p:clrMapOvr>
</p:sld>
</file>

<file path=ppt/slides/slide107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215 — Modelado dimensional: star/snowflake schemas</a:t>
            </a:r>
          </a:p>
        </p:txBody>
      </p:sp>
    </p:spTree>
  </p:cSld>
  <p:clrMapOvr>
    <a:masterClrMapping/>
  </p:clrMapOvr>
</p:sld>
</file>

<file path=ppt/slides/slide10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215 — Modelado dimensional: star/snowflake schemas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Kimball &amp; Ross The Data Warehouse Toolkit (Wiley, 3ª ed.) + Reis &amp; Housley cap. 8.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Diseñar el esquema de un data warehouse usando modelado dimensional (Kimball): una fact table central + dimension tables alrededor (star schema), o dimensiones normalizadas (snowflake schema). Es el modelo que han usado los data warehouses serios desde los 90s y sigue vigente en BigQuery/Snowflake/dbt en 2026.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fact tables (eventos medibles: sale, click, payment) vs dimension tables (entidades descriptivas: customer, product, date).</a:t>
            </a:r>
          </a:p>
          <a:p>
            <a:pPr>
              <a:spcAft>
                <a:spcPts val="800"/>
              </a:spcAft>
              <a:defRPr sz="1400" b="0">
                <a:solidFill>
                  <a:srgbClr val="0F172A"/>
                </a:solidFill>
                <a:latin typeface="Segoe UI"/>
              </a:defRPr>
            </a:pPr>
            <a:r>
              <a:rPr sz="1400" b="0">
                <a:solidFill>
                  <a:srgbClr val="0F172A"/>
                </a:solidFill>
                <a:latin typeface="Segoe UI"/>
              </a:rPr>
              <a:t>• Diseñar un star schema con fact + dimensions desnormalizadas.</a:t>
            </a:r>
          </a:p>
          <a:p>
            <a:pPr>
              <a:spcAft>
                <a:spcPts val="800"/>
              </a:spcAft>
              <a:defRPr sz="1400" b="0">
                <a:solidFill>
                  <a:srgbClr val="0F172A"/>
                </a:solidFill>
                <a:latin typeface="Segoe UI"/>
              </a:defRPr>
            </a:pPr>
            <a:r>
              <a:rPr sz="1400" b="0">
                <a:solidFill>
                  <a:srgbClr val="0F172A"/>
                </a:solidFill>
                <a:latin typeface="Segoe UI"/>
              </a:rPr>
              <a:t>• Manejar slowly changing dimensions (SCD): Tipo 1 (overwrite), Tipo 2 (history con valid_from/valid_to), Tipo 3 (current + previous).</a:t>
            </a:r>
          </a:p>
          <a:p>
            <a:pPr>
              <a:spcAft>
                <a:spcPts val="800"/>
              </a:spcAft>
              <a:defRPr sz="1400" b="0">
                <a:solidFill>
                  <a:srgbClr val="0F172A"/>
                </a:solidFill>
                <a:latin typeface="Segoe UI"/>
              </a:defRPr>
            </a:pPr>
            <a:r>
              <a:rPr sz="1400" b="0">
                <a:solidFill>
                  <a:srgbClr val="0F172A"/>
                </a:solidFill>
                <a:latin typeface="Segoe UI"/>
              </a:rPr>
              <a:t>• Crear una date dimension completa (con feriados, fiscal year, etc.) — la dimensión más reutilizada.</a:t>
            </a:r>
          </a:p>
          <a:p>
            <a:pPr>
              <a:spcAft>
                <a:spcPts val="800"/>
              </a:spcAft>
              <a:defRPr sz="1400" b="0">
                <a:solidFill>
                  <a:srgbClr val="0F172A"/>
                </a:solidFill>
                <a:latin typeface="Segoe UI"/>
              </a:defRPr>
            </a:pPr>
            <a:r>
              <a:rPr sz="1400" b="0">
                <a:solidFill>
                  <a:srgbClr val="0F172A"/>
                </a:solidFill>
                <a:latin typeface="Segoe UI"/>
              </a:rPr>
              <a:t>• Diferenciar OLAP (modelado dimensional, query analíticas) de 3NF (modelado normalizado, OLTP).</a:t>
            </a:r>
          </a:p>
        </p:txBody>
      </p:sp>
    </p:spTree>
  </p:cSld>
  <p:clrMapOvr>
    <a:masterClrMapping/>
  </p:clrMapOvr>
</p:sld>
</file>

<file path=ppt/slides/slide10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215 — Modelado dimensional: star/snowflake schemas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Star schema: fact + dims</a:t>
            </a:r>
          </a:p>
          <a:p>
            <a:pPr>
              <a:spcAft>
                <a:spcPts val="1000"/>
              </a:spcAft>
              <a:defRPr sz="1600" b="0">
                <a:solidFill>
                  <a:srgbClr val="0F172A"/>
                </a:solidFill>
                <a:latin typeface="Segoe UI"/>
              </a:defRPr>
            </a:pPr>
            <a:r>
              <a:rPr sz="1600" b="0">
                <a:solidFill>
                  <a:srgbClr val="0F172A"/>
                </a:solidFill>
                <a:latin typeface="Segoe UI"/>
              </a:rPr>
              <a:t>• Snowflake schema: dims normalizadas</a:t>
            </a:r>
          </a:p>
          <a:p>
            <a:pPr>
              <a:spcAft>
                <a:spcPts val="1000"/>
              </a:spcAft>
              <a:defRPr sz="1600" b="0">
                <a:solidFill>
                  <a:srgbClr val="0F172A"/>
                </a:solidFill>
                <a:latin typeface="Segoe UI"/>
              </a:defRPr>
            </a:pPr>
            <a:r>
              <a:rPr sz="1600" b="0">
                <a:solidFill>
                  <a:srgbClr val="0F172A"/>
                </a:solidFill>
                <a:latin typeface="Segoe UI"/>
              </a:rPr>
              <a:t>• Surrogate keys vs natural keys</a:t>
            </a:r>
          </a:p>
          <a:p>
            <a:pPr>
              <a:spcAft>
                <a:spcPts val="1000"/>
              </a:spcAft>
              <a:defRPr sz="1600" b="0">
                <a:solidFill>
                  <a:srgbClr val="0F172A"/>
                </a:solidFill>
                <a:latin typeface="Segoe UI"/>
              </a:defRPr>
            </a:pPr>
            <a:r>
              <a:rPr sz="1600" b="0">
                <a:solidFill>
                  <a:srgbClr val="0F172A"/>
                </a:solidFill>
                <a:latin typeface="Segoe UI"/>
              </a:rPr>
              <a:t>• Slowly Changing Dimensions (SCD 1/2/3)</a:t>
            </a:r>
          </a:p>
          <a:p>
            <a:pPr>
              <a:spcAft>
                <a:spcPts val="1000"/>
              </a:spcAft>
              <a:defRPr sz="1600" b="0">
                <a:solidFill>
                  <a:srgbClr val="0F172A"/>
                </a:solidFill>
                <a:latin typeface="Segoe UI"/>
              </a:defRPr>
            </a:pPr>
            <a:r>
              <a:rPr sz="1600" b="0">
                <a:solidFill>
                  <a:srgbClr val="0F172A"/>
                </a:solidFill>
                <a:latin typeface="Segoe UI"/>
              </a:rPr>
              <a:t>• Date dimension</a:t>
            </a:r>
          </a:p>
          <a:p>
            <a:pPr>
              <a:spcAft>
                <a:spcPts val="1000"/>
              </a:spcAft>
              <a:defRPr sz="1600" b="0">
                <a:solidFill>
                  <a:srgbClr val="0F172A"/>
                </a:solidFill>
                <a:latin typeface="Segoe UI"/>
              </a:defRPr>
            </a:pPr>
            <a:r>
              <a:rPr sz="1600" b="0">
                <a:solidFill>
                  <a:srgbClr val="0F172A"/>
                </a:solidFill>
                <a:latin typeface="Segoe UI"/>
              </a:rPr>
              <a:t>• Granularidad de la fact</a:t>
            </a:r>
          </a:p>
        </p:txBody>
      </p:sp>
    </p:spTree>
  </p:cSld>
  <p:clrMapOvr>
    <a:masterClrMapping/>
  </p:clrMapOvr>
</p:sld>
</file>

<file path=ppt/slides/slide10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215 — Modelado dimensional: star/snowflake schemas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Construimos un star schema de e-commerce: dim_date, dim_customer (SCD 2), dim_product, dim_store, fact_sales. Demostramos SCD 2 con cliente que cambia de ciudad.</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duckdb,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DB = str(Path(tempfile.gettempdir()) / 'dw_star.duckdb')</a:t>
            </a:r>
          </a:p>
          <a:p>
            <a:pPr>
              <a:defRPr sz="1200" b="0">
                <a:solidFill>
                  <a:srgbClr val="F8FAFC"/>
                </a:solidFill>
                <a:latin typeface="Courier New"/>
              </a:defRPr>
            </a:pPr>
            <a:r>
              <a:rPr sz="1200" b="0">
                <a:solidFill>
                  <a:srgbClr val="F8FAFC"/>
                </a:solidFill>
                <a:latin typeface="Courier New"/>
              </a:rPr>
              <a:t>Path(DB).unlink(missing_ok=True)</a:t>
            </a:r>
          </a:p>
          <a:p>
            <a:pPr>
              <a:defRPr sz="1200" b="0">
                <a:solidFill>
                  <a:srgbClr val="F8FAFC"/>
                </a:solidFill>
                <a:latin typeface="Courier New"/>
              </a:defRPr>
            </a:pPr>
            <a:r>
              <a:rPr sz="1200" b="0">
                <a:solidFill>
                  <a:srgbClr val="F8FAFC"/>
                </a:solidFill>
                <a:latin typeface="Courier New"/>
              </a:rPr>
              <a:t>con = duckdb.connect(DB)</a:t>
            </a:r>
          </a:p>
        </p:txBody>
      </p:sp>
    </p:spTree>
  </p:cSld>
  <p:clrMapOvr>
    <a:masterClrMapping/>
  </p:clrMapOvr>
</p:sld>
</file>

<file path=ppt/slides/slide10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215 — Modelado dimensional: star/snowflake schemas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grain: dado un dataset de pedidos de e-commerce, decidí el grain de tu fact.</a:t>
            </a:r>
          </a:p>
          <a:p>
            <a:pPr>
              <a:spcAft>
                <a:spcPts val="800"/>
              </a:spcAft>
              <a:defRPr sz="1400" b="0">
                <a:solidFill>
                  <a:srgbClr val="0F172A"/>
                </a:solidFill>
                <a:latin typeface="Segoe UI"/>
              </a:defRPr>
            </a:pPr>
            <a:r>
              <a:rPr sz="1400" b="0">
                <a:solidFill>
                  <a:srgbClr val="0F172A"/>
                </a:solidFill>
                <a:latin typeface="Segoe UI"/>
              </a:rPr>
              <a:t>• Date dimension: SQL que genera dim_date con 5 años de días, columnas year, quarter, month, day_of_week_iso, is_weekend, is_holiday_us, fiscal_year.</a:t>
            </a:r>
          </a:p>
          <a:p>
            <a:pPr>
              <a:spcAft>
                <a:spcPts val="800"/>
              </a:spcAft>
              <a:defRPr sz="1400" b="0">
                <a:solidFill>
                  <a:srgbClr val="0F172A"/>
                </a:solidFill>
                <a:latin typeface="Segoe UI"/>
              </a:defRPr>
            </a:pPr>
            <a:r>
              <a:rPr sz="1400" b="0">
                <a:solidFill>
                  <a:srgbClr val="0F172A"/>
                </a:solidFill>
                <a:latin typeface="Segoe UI"/>
              </a:rPr>
              <a:t>• Star schema: del e-commerce, diseñá fact_sales(date_key, product_key, customer_key, store_key, qty, revenue, discount), dim_product, dim_customer, dim_store, dim_date.</a:t>
            </a:r>
          </a:p>
          <a:p>
            <a:pPr>
              <a:spcAft>
                <a:spcPts val="800"/>
              </a:spcAft>
              <a:defRPr sz="1400" b="0">
                <a:solidFill>
                  <a:srgbClr val="0F172A"/>
                </a:solidFill>
                <a:latin typeface="Segoe UI"/>
              </a:defRPr>
            </a:pPr>
            <a:r>
              <a:rPr sz="1400" b="0">
                <a:solidFill>
                  <a:srgbClr val="0F172A"/>
                </a:solidFill>
                <a:latin typeface="Segoe UI"/>
              </a:rPr>
              <a:t>• SCD Tipo 2 en dim_customer: cliente cambia de ciudad.</a:t>
            </a:r>
          </a:p>
          <a:p>
            <a:pPr>
              <a:spcAft>
                <a:spcPts val="800"/>
              </a:spcAft>
              <a:defRPr sz="1400" b="0">
                <a:solidFill>
                  <a:srgbClr val="0F172A"/>
                </a:solidFill>
                <a:latin typeface="Segoe UI"/>
              </a:defRPr>
            </a:pPr>
            <a:r>
              <a:rPr sz="1400" b="0">
                <a:solidFill>
                  <a:srgbClr val="0F172A"/>
                </a:solidFill>
                <a:latin typeface="Segoe UI"/>
              </a:rPr>
              <a:t>• Query típica: "Revenue por brand × month × is_weekend" — escribíla con JOINs entre fact + dims + dim_date.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SQL completo para crear: dim_date, dim_customer (SCD 2), dim_product, dim_store, fact_sales.</a:t>
            </a:r>
          </a:p>
          <a:p>
            <a:pPr>
              <a:spcAft>
                <a:spcPts val="800"/>
              </a:spcAft>
              <a:defRPr sz="1400" b="0">
                <a:solidFill>
                  <a:srgbClr val="0F172A"/>
                </a:solidFill>
                <a:latin typeface="Segoe UI"/>
              </a:defRPr>
            </a:pPr>
            <a:r>
              <a:rPr sz="1400" b="0">
                <a:solidFill>
                  <a:srgbClr val="0F172A"/>
                </a:solidFill>
                <a:latin typeface="Segoe UI"/>
              </a:rPr>
              <a:t>• Script de carga: lee tablas operacionales (Postgres/CSV) → transforma → carga al DW (DuckDB local).</a:t>
            </a:r>
          </a:p>
          <a:p>
            <a:pPr>
              <a:spcAft>
                <a:spcPts val="800"/>
              </a:spcAft>
              <a:defRPr sz="1400" b="0">
                <a:solidFill>
                  <a:srgbClr val="0F172A"/>
                </a:solidFill>
                <a:latin typeface="Segoe UI"/>
              </a:defRPr>
            </a:pPr>
            <a:r>
              <a:rPr sz="1400" b="0">
                <a:solidFill>
                  <a:srgbClr val="0F172A"/>
                </a:solidFill>
                <a:latin typeface="Segoe UI"/>
              </a:rPr>
              <a:t>• Demonstración de SCD 2: un cliente que cambia de ciudad; venta antes y después del cambio quedan correctamente asociadas a la ciudad de ese momento.</a:t>
            </a:r>
          </a:p>
          <a:p>
            <a:pPr>
              <a:spcAft>
                <a:spcPts val="800"/>
              </a:spcAft>
              <a:defRPr sz="1400" b="0">
                <a:solidFill>
                  <a:srgbClr val="0F172A"/>
                </a:solidFill>
                <a:latin typeface="Segoe UI"/>
              </a:defRPr>
            </a:pPr>
            <a:r>
              <a:rPr sz="1400" b="0">
                <a:solidFill>
                  <a:srgbClr val="0F172A"/>
                </a:solidFill>
                <a:latin typeface="Segoe UI"/>
              </a:rPr>
              <a:t>• 5 queries analíticas representativas: revenue por segment × quarter, top 10 products, cohort retention, etc.</a:t>
            </a:r>
          </a:p>
          <a:p>
            <a:pPr>
              <a:spcAft>
                <a:spcPts val="800"/>
              </a:spcAft>
              <a:defRPr sz="1400" b="0">
                <a:solidFill>
                  <a:srgbClr val="0F172A"/>
                </a:solidFill>
                <a:latin typeface="Segoe UI"/>
              </a:defRPr>
            </a:pPr>
            <a:r>
              <a:rPr sz="1400" b="0">
                <a:solidFill>
                  <a:srgbClr val="0F172A"/>
                </a:solidFill>
                <a:latin typeface="Segoe UI"/>
              </a:rPr>
              <a:t>• README explicando: grain elegido, decisiones de denormalización, qué dim usaría snowflake (si alguna).</a:t>
            </a:r>
          </a:p>
        </p:txBody>
      </p:sp>
    </p:spTree>
  </p:cSld>
  <p:clrMapOvr>
    <a:masterClrMapping/>
  </p:clrMapOvr>
</p:sld>
</file>

<file path=ppt/slides/slide108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6 — Sistemas de Recomendación · 7 clases</a:t>
            </a:r>
          </a:p>
        </p:txBody>
      </p:sp>
    </p:spTree>
  </p:cSld>
  <p:clrMapOvr>
    <a:masterClrMapping/>
  </p:clrMapOvr>
</p:sld>
</file>

<file path=ppt/slides/slide108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216 — Filtrado colaborativo: user-based e item-based</a:t>
            </a:r>
          </a:p>
        </p:txBody>
      </p:sp>
    </p:spTree>
  </p:cSld>
  <p:clrMapOvr>
    <a:masterClrMapping/>
  </p:clrMapOvr>
</p:sld>
</file>

<file path=ppt/slides/slide10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216 — Filtrado colaborativo: user-based e item-based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6 — Sistemas de Recomendación · Fuente: Aggarwal, Recommender Systems: The Textbook (Springer, 2016) cap. 2 + Linden, Smith, York (Amazon, 2003) Item-to-Item Collaborative Filtering.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el recomendador más antiguo y todavía usado: filtrado colaborativo basado en vecinos (kNN). Calcular similitudes user-user e item-item sobre una matriz usuario-item dispersa, generar top-N recomendaciones, y entender por qué Amazon publicó en 2003 que item-based gana a user-based en escala (computar similitudes item-item es offline y estable).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Representar las interacciones usuario-item en una scipy.sparse.csr_matrix (típicamente &gt;99% sparse).</a:t>
            </a:r>
          </a:p>
          <a:p>
            <a:pPr>
              <a:spcAft>
                <a:spcPts val="800"/>
              </a:spcAft>
              <a:defRPr sz="1400" b="0">
                <a:solidFill>
                  <a:srgbClr val="0F172A"/>
                </a:solidFill>
                <a:latin typeface="Segoe UI"/>
              </a:defRPr>
            </a:pPr>
            <a:r>
              <a:rPr sz="1400" b="0">
                <a:solidFill>
                  <a:srgbClr val="0F172A"/>
                </a:solidFill>
                <a:latin typeface="Segoe UI"/>
              </a:rPr>
              <a:t>• Calcular similitud coseno, Pearson y Jaccard entre filas (users) o columnas (items).</a:t>
            </a:r>
          </a:p>
          <a:p>
            <a:pPr>
              <a:spcAft>
                <a:spcPts val="800"/>
              </a:spcAft>
              <a:defRPr sz="1400" b="0">
                <a:solidFill>
                  <a:srgbClr val="0F172A"/>
                </a:solidFill>
                <a:latin typeface="Segoe UI"/>
              </a:defRPr>
            </a:pPr>
            <a:r>
              <a:rPr sz="1400" b="0">
                <a:solidFill>
                  <a:srgbClr val="0F172A"/>
                </a:solidFill>
                <a:latin typeface="Segoe UI"/>
              </a:rPr>
              <a:t>• Generar top-N recomendaciones user-based: predicted_rating = Σ sim(u, v) * rating(v, i) / Σ sim(u, v).</a:t>
            </a:r>
          </a:p>
          <a:p>
            <a:pPr>
              <a:spcAft>
                <a:spcPts val="800"/>
              </a:spcAft>
              <a:defRPr sz="1400" b="0">
                <a:solidFill>
                  <a:srgbClr val="0F172A"/>
                </a:solidFill>
                <a:latin typeface="Segoe UI"/>
              </a:defRPr>
            </a:pPr>
            <a:r>
              <a:rPr sz="1400" b="0">
                <a:solidFill>
                  <a:srgbClr val="0F172A"/>
                </a:solidFill>
                <a:latin typeface="Segoe UI"/>
              </a:rPr>
              <a:t>• Generar top-N recomendaciones item-based: score(u, i) = Σ sim(i, j) * interaction(u, j).</a:t>
            </a:r>
          </a:p>
          <a:p>
            <a:pPr>
              <a:spcAft>
                <a:spcPts val="800"/>
              </a:spcAft>
              <a:defRPr sz="1400" b="0">
                <a:solidFill>
                  <a:srgbClr val="0F172A"/>
                </a:solidFill>
                <a:latin typeface="Segoe UI"/>
              </a:defRPr>
            </a:pPr>
            <a:r>
              <a:rPr sz="1400" b="0">
                <a:solidFill>
                  <a:srgbClr val="0F172A"/>
                </a:solidFill>
                <a:latin typeface="Segoe UI"/>
              </a:rPr>
              <a:t>• Reconocer límites: sparsity → similitudes ruidosas; cold-start → items/users nuevos sin recomendaciones (Clase 221).</a:t>
            </a:r>
          </a:p>
        </p:txBody>
      </p:sp>
    </p:spTree>
  </p:cSld>
  <p:clrMapOvr>
    <a:masterClrMapping/>
  </p:clrMapOvr>
</p:sld>
</file>

<file path=ppt/slides/slide10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216 — Filtrado colaborativo: user-based e item-based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Matriz usuario-item: dense vs sparse</a:t>
            </a:r>
          </a:p>
          <a:p>
            <a:pPr>
              <a:spcAft>
                <a:spcPts val="1000"/>
              </a:spcAft>
              <a:defRPr sz="1600" b="0">
                <a:solidFill>
                  <a:srgbClr val="0F172A"/>
                </a:solidFill>
                <a:latin typeface="Segoe UI"/>
              </a:defRPr>
            </a:pPr>
            <a:r>
              <a:rPr sz="1600" b="0">
                <a:solidFill>
                  <a:srgbClr val="0F172A"/>
                </a:solidFill>
                <a:latin typeface="Segoe UI"/>
              </a:rPr>
              <a:t>• Similitud coseno, Pearson, Jaccard</a:t>
            </a:r>
          </a:p>
          <a:p>
            <a:pPr>
              <a:spcAft>
                <a:spcPts val="1000"/>
              </a:spcAft>
              <a:defRPr sz="1600" b="0">
                <a:solidFill>
                  <a:srgbClr val="0F172A"/>
                </a:solidFill>
                <a:latin typeface="Segoe UI"/>
              </a:defRPr>
            </a:pPr>
            <a:r>
              <a:rPr sz="1600" b="0">
                <a:solidFill>
                  <a:srgbClr val="0F172A"/>
                </a:solidFill>
                <a:latin typeface="Segoe UI"/>
              </a:rPr>
              <a:t>• User-based kNN</a:t>
            </a:r>
          </a:p>
          <a:p>
            <a:pPr>
              <a:spcAft>
                <a:spcPts val="1000"/>
              </a:spcAft>
              <a:defRPr sz="1600" b="0">
                <a:solidFill>
                  <a:srgbClr val="0F172A"/>
                </a:solidFill>
                <a:latin typeface="Segoe UI"/>
              </a:defRPr>
            </a:pPr>
            <a:r>
              <a:rPr sz="1600" b="0">
                <a:solidFill>
                  <a:srgbClr val="0F172A"/>
                </a:solidFill>
                <a:latin typeface="Segoe UI"/>
              </a:rPr>
              <a:t>• Item-based kNN</a:t>
            </a:r>
          </a:p>
          <a:p>
            <a:pPr>
              <a:spcAft>
                <a:spcPts val="1000"/>
              </a:spcAft>
              <a:defRPr sz="1600" b="0">
                <a:solidFill>
                  <a:srgbClr val="0F172A"/>
                </a:solidFill>
                <a:latin typeface="Segoe UI"/>
              </a:defRPr>
            </a:pPr>
            <a:r>
              <a:rPr sz="1600" b="0">
                <a:solidFill>
                  <a:srgbClr val="0F172A"/>
                </a:solidFill>
                <a:latin typeface="Segoe UI"/>
              </a:rPr>
              <a:t>• Implicit vs explicit feedback</a:t>
            </a:r>
          </a:p>
          <a:p>
            <a:pPr>
              <a:spcAft>
                <a:spcPts val="1000"/>
              </a:spcAft>
              <a:defRPr sz="1600" b="0">
                <a:solidFill>
                  <a:srgbClr val="0F172A"/>
                </a:solidFill>
                <a:latin typeface="Segoe UI"/>
              </a:defRPr>
            </a:pPr>
            <a:r>
              <a:rPr sz="1600" b="0">
                <a:solidFill>
                  <a:srgbClr val="0F172A"/>
                </a:solidFill>
                <a:latin typeface="Segoe UI"/>
              </a:rPr>
              <a:t>• Mean centering</a:t>
            </a:r>
          </a:p>
        </p:txBody>
      </p:sp>
    </p:spTree>
  </p:cSld>
  <p:clrMapOvr>
    <a:masterClrMapping/>
  </p:clrMapOvr>
</p:sld>
</file>

<file path=ppt/slides/slide10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216 — Filtrado colaborativo: user-based e item-based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Sintético small (replica MovieLens 100K en tamaño). Requiere: pip install scipy scikit-learn pandas.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scipy.sparse import csr_matrix</a:t>
            </a:r>
          </a:p>
          <a:p>
            <a:pPr>
              <a:defRPr sz="1200" b="0">
                <a:solidFill>
                  <a:srgbClr val="F8FAFC"/>
                </a:solidFill>
                <a:latin typeface="Courier New"/>
              </a:defRPr>
            </a:pPr>
            <a:r>
              <a:rPr sz="1200" b="0">
                <a:solidFill>
                  <a:srgbClr val="F8FAFC"/>
                </a:solidFill>
                <a:latin typeface="Courier New"/>
              </a:rPr>
              <a:t>from sklearn.metrics.pairwise import cosine_similarity</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n_users, n_items = 1000, 500</a:t>
            </a:r>
          </a:p>
          <a:p>
            <a:pPr>
              <a:defRPr sz="1200" b="0">
                <a:solidFill>
                  <a:srgbClr val="F8FAFC"/>
                </a:solidFill>
                <a:latin typeface="Courier New"/>
              </a:defRPr>
            </a:pPr>
            <a:r>
              <a:rPr sz="1200" b="0">
                <a:solidFill>
                  <a:srgbClr val="F8FAFC"/>
                </a:solidFill>
                <a:latin typeface="Courier New"/>
              </a:rPr>
              <a:t>n_ratings = 30_000   # ~6% sparsity</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users = rng.integers(0, n_users, n_ratings)</a:t>
            </a:r>
          </a:p>
          <a:p>
            <a:pPr>
              <a:defRPr sz="1200" b="0">
                <a:solidFill>
                  <a:srgbClr val="F8FAFC"/>
                </a:solidFill>
                <a:latin typeface="Courier New"/>
              </a:defRPr>
            </a:pPr>
            <a:r>
              <a:rPr sz="1200" b="0">
                <a:solidFill>
                  <a:srgbClr val="F8FAFC"/>
                </a:solidFill>
                <a:latin typeface="Courier New"/>
              </a:rPr>
              <a:t>items = rng.integers(0, n_items, n_ratings)</a:t>
            </a:r>
          </a:p>
          <a:p>
            <a:pPr>
              <a:defRPr sz="1200" b="0">
                <a:solidFill>
                  <a:srgbClr val="F8FAFC"/>
                </a:solidFill>
                <a:latin typeface="Courier New"/>
              </a:defRPr>
            </a:pPr>
            <a:r>
              <a:rPr sz="1200" b="0">
                <a:solidFill>
                  <a:srgbClr val="F8FAFC"/>
                </a:solidFill>
                <a:latin typeface="Courier New"/>
              </a:rPr>
              <a:t># Ratings sesgados por user (algunos califican alto, otros bajo)</a:t>
            </a:r>
          </a:p>
          <a:p>
            <a:pPr>
              <a:defRPr sz="1200" b="0">
                <a:solidFill>
                  <a:srgbClr val="F8FAFC"/>
                </a:solidFill>
                <a:latin typeface="Courier New"/>
              </a:defRPr>
            </a:pPr>
            <a:r>
              <a:rPr sz="1200" b="0">
                <a:solidFill>
                  <a:srgbClr val="F8FAFC"/>
                </a:solidFill>
                <a:latin typeface="Courier New"/>
              </a:rPr>
              <a:t>user_bias = rng.normal(0, 0.5, n_users)</a:t>
            </a:r>
          </a:p>
          <a:p>
            <a:pPr>
              <a:defRPr sz="1200" b="0">
                <a:solidFill>
                  <a:srgbClr val="F8FAFC"/>
                </a:solidFill>
                <a:latin typeface="Courier New"/>
              </a:defRPr>
            </a:pPr>
            <a:r>
              <a:rPr sz="1200" b="0">
                <a:solidFill>
                  <a:srgbClr val="F8FAFC"/>
                </a:solidFill>
                <a:latin typeface="Courier New"/>
              </a:rPr>
              <a:t>ratings = np.clip(3 + user_bias[users] + rng.normal(0, 0.8, n_ratings), 1, 5).round()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df = pd.DataFrame({'u': users, 'i': items, 'r': ratings}).drop_duplicates(['u', 'i'])</a:t>
            </a:r>
          </a:p>
          <a:p>
            <a:pPr>
              <a:defRPr sz="1200" b="0">
                <a:solidFill>
                  <a:srgbClr val="F8FAFC"/>
                </a:solidFill>
                <a:latin typeface="Courier New"/>
              </a:defRPr>
            </a:pPr>
            <a:r>
              <a:rPr sz="1200" b="0">
                <a:solidFill>
                  <a:srgbClr val="F8FAFC"/>
                </a:solidFill>
                <a:latin typeface="Courier New"/>
              </a:rPr>
              <a:t>print(f'ratings únicos: {len(df):,}')</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 = csr_matrix((df.r, (df.u, df.i)), shape=(n_users, n_items))</a:t>
            </a:r>
          </a:p>
          <a:p>
            <a:pPr>
              <a:defRPr sz="1200" b="0">
                <a:solidFill>
                  <a:srgbClr val="F8FAFC"/>
                </a:solidFill>
                <a:latin typeface="Courier New"/>
              </a:defRPr>
            </a:pPr>
            <a:r>
              <a:rPr sz="1200" b="0">
                <a:solidFill>
                  <a:srgbClr val="F8FAFC"/>
                </a:solidFill>
                <a:latin typeface="Courier New"/>
              </a:rPr>
              <a:t>print(f'matrix: {R.shape}, nnz={R.nnz:,}, sparsity={1 - R.nnz / np.prod(R.shape):.4f}')</a:t>
            </a:r>
          </a:p>
        </p:txBody>
      </p:sp>
    </p:spTree>
  </p:cSld>
  <p:clrMapOvr>
    <a:masterClrMapping/>
  </p:clrMapOvr>
</p:sld>
</file>

<file path=ppt/slides/slide10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216 — Filtrado colaborativo: user-based e item-based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Sparse matrix: cargar MovieLens 100K.</a:t>
            </a:r>
          </a:p>
          <a:p>
            <a:pPr>
              <a:spcAft>
                <a:spcPts val="800"/>
              </a:spcAft>
              <a:defRPr sz="1400" b="0">
                <a:solidFill>
                  <a:srgbClr val="0F172A"/>
                </a:solidFill>
                <a:latin typeface="Segoe UI"/>
              </a:defRPr>
            </a:pPr>
            <a:r>
              <a:rPr sz="1400" b="0">
                <a:solidFill>
                  <a:srgbClr val="0F172A"/>
                </a:solidFill>
                <a:latin typeface="Segoe UI"/>
              </a:rPr>
              <a:t>• User similarity: sim_users = cosine_similarity(R) — devuelve (n_users, n_users).</a:t>
            </a:r>
          </a:p>
          <a:p>
            <a:pPr>
              <a:spcAft>
                <a:spcPts val="800"/>
              </a:spcAft>
              <a:defRPr sz="1400" b="0">
                <a:solidFill>
                  <a:srgbClr val="0F172A"/>
                </a:solidFill>
                <a:latin typeface="Segoe UI"/>
              </a:defRPr>
            </a:pPr>
            <a:r>
              <a:rPr sz="1400" b="0">
                <a:solidFill>
                  <a:srgbClr val="0F172A"/>
                </a:solidFill>
                <a:latin typeface="Segoe UI"/>
              </a:rPr>
              <a:t>• User-based top-10: para user_id=42, predecir score para items no vistos como R.T @ sim_users[42] (broadcasting).</a:t>
            </a:r>
          </a:p>
          <a:p>
            <a:pPr>
              <a:spcAft>
                <a:spcPts val="800"/>
              </a:spcAft>
              <a:defRPr sz="1400" b="0">
                <a:solidFill>
                  <a:srgbClr val="0F172A"/>
                </a:solidFill>
                <a:latin typeface="Segoe UI"/>
              </a:defRPr>
            </a:pPr>
            <a:r>
              <a:rPr sz="1400" b="0">
                <a:solidFill>
                  <a:srgbClr val="0F172A"/>
                </a:solidFill>
                <a:latin typeface="Segoe UI"/>
              </a:rPr>
              <a:t>• Item-based top-10: sim_items = cosine_similarity(R.T) (ahora (n_items, n_items)).</a:t>
            </a:r>
          </a:p>
          <a:p>
            <a:pPr>
              <a:spcAft>
                <a:spcPts val="800"/>
              </a:spcAft>
              <a:defRPr sz="1400" b="0">
                <a:solidFill>
                  <a:srgbClr val="0F172A"/>
                </a:solidFill>
                <a:latin typeface="Segoe UI"/>
              </a:defRPr>
            </a:pPr>
            <a:r>
              <a:rPr sz="1400" b="0">
                <a:solidFill>
                  <a:srgbClr val="0F172A"/>
                </a:solidFill>
                <a:latin typeface="Segoe UI"/>
              </a:rPr>
              <a:t>• Pearson + mean centering: R_centered = R - user_means.reshape(-1, 1) (cuidado con sparse — usar sklearn).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MovieLens 1M (10× más grande que 100K).</a:t>
            </a:r>
          </a:p>
          <a:p>
            <a:pPr>
              <a:spcAft>
                <a:spcPts val="800"/>
              </a:spcAft>
              <a:defRPr sz="1400" b="0">
                <a:solidFill>
                  <a:srgbClr val="0F172A"/>
                </a:solidFill>
                <a:latin typeface="Segoe UI"/>
              </a:defRPr>
            </a:pPr>
            <a:r>
              <a:rPr sz="1400" b="0">
                <a:solidFill>
                  <a:srgbClr val="0F172A"/>
                </a:solidFill>
                <a:latin typeface="Segoe UI"/>
              </a:rPr>
              <a:t>• Implementar 2 recomendadores: user-based kNN (k=30) e item-based kNN (k=30).</a:t>
            </a:r>
          </a:p>
          <a:p>
            <a:pPr>
              <a:spcAft>
                <a:spcPts val="800"/>
              </a:spcAft>
              <a:defRPr sz="1400" b="0">
                <a:solidFill>
                  <a:srgbClr val="0F172A"/>
                </a:solidFill>
                <a:latin typeface="Segoe UI"/>
              </a:defRPr>
            </a:pPr>
            <a:r>
              <a:rPr sz="1400" b="0">
                <a:solidFill>
                  <a:srgbClr val="0F172A"/>
                </a:solidFill>
                <a:latin typeface="Segoe UI"/>
              </a:rPr>
              <a:t>• Split train/test con leave-one-out por user (el último rating de cada user va a test).</a:t>
            </a:r>
          </a:p>
          <a:p>
            <a:pPr>
              <a:spcAft>
                <a:spcPts val="800"/>
              </a:spcAft>
              <a:defRPr sz="1400" b="0">
                <a:solidFill>
                  <a:srgbClr val="0F172A"/>
                </a:solidFill>
                <a:latin typeface="Segoe UI"/>
              </a:defRPr>
            </a:pPr>
            <a:r>
              <a:rPr sz="1400" b="0">
                <a:solidFill>
                  <a:srgbClr val="0F172A"/>
                </a:solidFill>
                <a:latin typeface="Segoe UI"/>
              </a:rPr>
              <a:t>• Reportar MAP@10, NDCG@10, recall@10 para ambos sobre test (Clase 220).</a:t>
            </a:r>
          </a:p>
          <a:p>
            <a:pPr>
              <a:spcAft>
                <a:spcPts val="800"/>
              </a:spcAft>
              <a:defRPr sz="1400" b="0">
                <a:solidFill>
                  <a:srgbClr val="0F172A"/>
                </a:solidFill>
                <a:latin typeface="Segoe UI"/>
              </a:defRPr>
            </a:pPr>
            <a:r>
              <a:rPr sz="1400" b="0">
                <a:solidFill>
                  <a:srgbClr val="0F172A"/>
                </a:solidFill>
                <a:latin typeface="Segoe UI"/>
              </a:rPr>
              <a:t>• Comparativa: tiempo de entrenamiento, tiempo de predicción, calidad. Discutir por qué item-based suele ganar en producción.</a:t>
            </a:r>
          </a:p>
        </p:txBody>
      </p:sp>
    </p:spTree>
  </p:cSld>
  <p:clrMapOvr>
    <a:masterClrMapping/>
  </p:clrMapOvr>
</p:sld>
</file>

<file path=ppt/slides/slide109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217 — Factorización de matrices: SVD, ALS</a:t>
            </a:r>
          </a:p>
        </p:txBody>
      </p:sp>
    </p:spTree>
  </p:cSld>
  <p:clrMapOvr>
    <a:masterClrMapping/>
  </p:clrMapOvr>
</p:sld>
</file>

<file path=ppt/slides/slide10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217 — Factorización de matrices: SVD, ALS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6 — Sistemas de Recomendación · Fuente: Koren, Bell, Volinsky Matrix Factorization Techniques for Recommender Systems (IEEE Computer, 2009) + Hu, Koren, Volinsky Collaborative Filtering for Implicit Feedback Datasets (ICDM 2008).  Duración estimada: 80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Reemplazar la matriz usuario-item dispersa por dos matrices densas de baja dimensión: R ≈ P × Q^T donde P (n_users × k) y Q (n_items × k). Aprender los embeddings k-dimensionales que capturan los factores latentes (género de película, gusto del usuario). Usar SVD (cuando hay datos completos) y ALS (Alternating Least Squares — robusto a sparse). Implicit-feedback ALS (Hu et al. 2008) es el algoritmo que ganó la mayoría de los Netflix Prize spin-offs en producción.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el modelo r̂(u, i) = p_u · q_i + b_u + b_i + μ (con biases).</a:t>
            </a:r>
          </a:p>
          <a:p>
            <a:pPr>
              <a:spcAft>
                <a:spcPts val="800"/>
              </a:spcAft>
              <a:defRPr sz="1400" b="0">
                <a:solidFill>
                  <a:srgbClr val="0F172A"/>
                </a:solidFill>
                <a:latin typeface="Segoe UI"/>
              </a:defRPr>
            </a:pPr>
            <a:r>
              <a:rPr sz="1400" b="0">
                <a:solidFill>
                  <a:srgbClr val="0F172A"/>
                </a:solidFill>
                <a:latin typeface="Segoe UI"/>
              </a:rPr>
              <a:t>• Aplicar SVD truncado sobre matriz densa (poco realista, pero base teórica).</a:t>
            </a:r>
          </a:p>
          <a:p>
            <a:pPr>
              <a:spcAft>
                <a:spcPts val="800"/>
              </a:spcAft>
              <a:defRPr sz="1400" b="0">
                <a:solidFill>
                  <a:srgbClr val="0F172A"/>
                </a:solidFill>
                <a:latin typeface="Segoe UI"/>
              </a:defRPr>
            </a:pPr>
            <a:r>
              <a:rPr sz="1400" b="0">
                <a:solidFill>
                  <a:srgbClr val="0F172A"/>
                </a:solidFill>
                <a:latin typeface="Segoe UI"/>
              </a:rPr>
              <a:t>• Implementar ALS explicit (rating predicho) y ALS implicit (con confidence weighting c_ui = 1 + α × r_ui).</a:t>
            </a:r>
          </a:p>
          <a:p>
            <a:pPr>
              <a:spcAft>
                <a:spcPts val="800"/>
              </a:spcAft>
              <a:defRPr sz="1400" b="0">
                <a:solidFill>
                  <a:srgbClr val="0F172A"/>
                </a:solidFill>
                <a:latin typeface="Segoe UI"/>
              </a:defRPr>
            </a:pPr>
            <a:r>
              <a:rPr sz="1400" b="0">
                <a:solidFill>
                  <a:srgbClr val="0F172A"/>
                </a:solidFill>
                <a:latin typeface="Segoe UI"/>
              </a:rPr>
              <a:t>• Elegir hiperparámetros: factors (típicamente 20-200), regularization (λ para evitar overfitting), iterations (10-30).</a:t>
            </a:r>
          </a:p>
          <a:p>
            <a:pPr>
              <a:spcAft>
                <a:spcPts val="800"/>
              </a:spcAft>
              <a:defRPr sz="1400" b="0">
                <a:solidFill>
                  <a:srgbClr val="0F172A"/>
                </a:solidFill>
                <a:latin typeface="Segoe UI"/>
              </a:defRPr>
            </a:pPr>
            <a:r>
              <a:rPr sz="1400" b="0">
                <a:solidFill>
                  <a:srgbClr val="0F172A"/>
                </a:solidFill>
                <a:latin typeface="Segoe UI"/>
              </a:rPr>
              <a:t>• Usar implicit.AlternatingLeastSquares (Cython, multi-thread, rápido).</a:t>
            </a:r>
          </a:p>
        </p:txBody>
      </p:sp>
    </p:spTree>
  </p:cSld>
  <p:clrMapOvr>
    <a:masterClrMapping/>
  </p:clrMapOvr>
</p:sld>
</file>

<file path=ppt/slides/slide10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217 — Factorización de matrices: SVD, ALS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Modelo latente: factores escondidos</a:t>
            </a:r>
          </a:p>
          <a:p>
            <a:pPr>
              <a:spcAft>
                <a:spcPts val="1000"/>
              </a:spcAft>
              <a:defRPr sz="1600" b="0">
                <a:solidFill>
                  <a:srgbClr val="0F172A"/>
                </a:solidFill>
                <a:latin typeface="Segoe UI"/>
              </a:defRPr>
            </a:pPr>
            <a:r>
              <a:rPr sz="1600" b="0">
                <a:solidFill>
                  <a:srgbClr val="0F172A"/>
                </a:solidFill>
                <a:latin typeface="Segoe UI"/>
              </a:rPr>
              <a:t>• SVD vs SVD truncado vs ALS</a:t>
            </a:r>
          </a:p>
          <a:p>
            <a:pPr>
              <a:spcAft>
                <a:spcPts val="1000"/>
              </a:spcAft>
              <a:defRPr sz="1600" b="0">
                <a:solidFill>
                  <a:srgbClr val="0F172A"/>
                </a:solidFill>
                <a:latin typeface="Segoe UI"/>
              </a:defRPr>
            </a:pPr>
            <a:r>
              <a:rPr sz="1600" b="0">
                <a:solidFill>
                  <a:srgbClr val="0F172A"/>
                </a:solidFill>
                <a:latin typeface="Segoe UI"/>
              </a:rPr>
              <a:t>• Biases: μ, b_u, b_i</a:t>
            </a:r>
          </a:p>
          <a:p>
            <a:pPr>
              <a:spcAft>
                <a:spcPts val="1000"/>
              </a:spcAft>
              <a:defRPr sz="1600" b="0">
                <a:solidFill>
                  <a:srgbClr val="0F172A"/>
                </a:solidFill>
                <a:latin typeface="Segoe UI"/>
              </a:defRPr>
            </a:pPr>
            <a:r>
              <a:rPr sz="1600" b="0">
                <a:solidFill>
                  <a:srgbClr val="0F172A"/>
                </a:solidFill>
                <a:latin typeface="Segoe UI"/>
              </a:rPr>
              <a:t>• Implicit feedback + confidence</a:t>
            </a:r>
          </a:p>
          <a:p>
            <a:pPr>
              <a:spcAft>
                <a:spcPts val="1000"/>
              </a:spcAft>
              <a:defRPr sz="1600" b="0">
                <a:solidFill>
                  <a:srgbClr val="0F172A"/>
                </a:solidFill>
                <a:latin typeface="Segoe UI"/>
              </a:defRPr>
            </a:pPr>
            <a:r>
              <a:rPr sz="1600" b="0">
                <a:solidFill>
                  <a:srgbClr val="0F172A"/>
                </a:solidFill>
                <a:latin typeface="Segoe UI"/>
              </a:rPr>
              <a:t>• Regularización L2</a:t>
            </a:r>
          </a:p>
          <a:p>
            <a:pPr>
              <a:spcAft>
                <a:spcPts val="1000"/>
              </a:spcAft>
              <a:defRPr sz="1600" b="0">
                <a:solidFill>
                  <a:srgbClr val="0F172A"/>
                </a:solidFill>
                <a:latin typeface="Segoe UI"/>
              </a:defRPr>
            </a:pPr>
            <a:r>
              <a:rPr sz="1600" b="0">
                <a:solidFill>
                  <a:srgbClr val="0F172A"/>
                </a:solidFill>
                <a:latin typeface="Segoe UI"/>
              </a:rPr>
              <a:t>• Cold-start parcial: con biases</a:t>
            </a:r>
          </a:p>
        </p:txBody>
      </p:sp>
    </p:spTree>
  </p:cSld>
  <p:clrMapOvr>
    <a:masterClrMapping/>
  </p:clrMapOvr>
</p:sld>
</file>

<file path=ppt/slides/slide10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217 — Factorización de matrices: SVD, ALS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**Factorizar una matriz es descomponer la tabla usuario × item en dos matrices más chicas de "gustos latentes".** Imaginá la tabla gigante de quién calificó qué (llena de huecos). La factorización dice: cada usuario se resume en un vector de pocos números —cuánto le gustan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scipy.sparse import csr_matrix</a:t>
            </a:r>
          </a:p>
          <a:p>
            <a:pPr>
              <a:defRPr sz="1200" b="0">
                <a:solidFill>
                  <a:srgbClr val="F8FAFC"/>
                </a:solidFill>
                <a:latin typeface="Courier New"/>
              </a:defRPr>
            </a:pPr>
            <a:r>
              <a:rPr sz="1200" b="0">
                <a:solidFill>
                  <a:srgbClr val="F8FAFC"/>
                </a:solidFill>
                <a:latin typeface="Courier New"/>
              </a:rPr>
              <a:t>from scipy.sparse.linalg import svds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n_users, n_items, K_TRUE = 1000, 500, 8</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Generamos datos con estructura latente conocida (k=8) para validar que MF recupera estructura</a:t>
            </a:r>
          </a:p>
          <a:p>
            <a:pPr>
              <a:defRPr sz="1200" b="0">
                <a:solidFill>
                  <a:srgbClr val="F8FAFC"/>
                </a:solidFill>
                <a:latin typeface="Courier New"/>
              </a:defRPr>
            </a:pPr>
            <a:r>
              <a:rPr sz="1200" b="0">
                <a:solidFill>
                  <a:srgbClr val="F8FAFC"/>
                </a:solidFill>
                <a:latin typeface="Courier New"/>
              </a:rPr>
              <a:t>P_true = rng.normal(0, 1, (n_users, K_TRUE))</a:t>
            </a:r>
          </a:p>
          <a:p>
            <a:pPr>
              <a:defRPr sz="1200" b="0">
                <a:solidFill>
                  <a:srgbClr val="F8FAFC"/>
                </a:solidFill>
                <a:latin typeface="Courier New"/>
              </a:defRPr>
            </a:pPr>
            <a:r>
              <a:rPr sz="1200" b="0">
                <a:solidFill>
                  <a:srgbClr val="F8FAFC"/>
                </a:solidFill>
                <a:latin typeface="Courier New"/>
              </a:rPr>
              <a:t>Q_true = rng.normal(0, 1, (n_items, K_TRUE))</a:t>
            </a:r>
          </a:p>
          <a:p>
            <a:pPr>
              <a:defRPr sz="1200" b="0">
                <a:solidFill>
                  <a:srgbClr val="F8FAFC"/>
                </a:solidFill>
                <a:latin typeface="Courier New"/>
              </a:defRPr>
            </a:pPr>
            <a:r>
              <a:rPr sz="1200" b="0">
                <a:solidFill>
                  <a:srgbClr val="F8FAFC"/>
                </a:solidFill>
                <a:latin typeface="Courier New"/>
              </a:rPr>
              <a:t>R_full = P_true @ Q_true.T   # rating ideal sin ruido</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Solo observamos 8% de las interacciones (sparse)</a:t>
            </a:r>
          </a:p>
          <a:p>
            <a:pPr>
              <a:defRPr sz="1200" b="0">
                <a:solidFill>
                  <a:srgbClr val="F8FAFC"/>
                </a:solidFill>
                <a:latin typeface="Courier New"/>
              </a:defRPr>
            </a:pPr>
            <a:r>
              <a:rPr sz="1200" b="0">
                <a:solidFill>
                  <a:srgbClr val="F8FAFC"/>
                </a:solidFill>
                <a:latin typeface="Courier New"/>
              </a:rPr>
              <a:t>mask = rng.random((n_users, n_items)) &lt; 0.08</a:t>
            </a:r>
          </a:p>
          <a:p>
            <a:pPr>
              <a:defRPr sz="1200" b="0">
                <a:solidFill>
                  <a:srgbClr val="F8FAFC"/>
                </a:solidFill>
                <a:latin typeface="Courier New"/>
              </a:defRPr>
            </a:pPr>
            <a:r>
              <a:rPr sz="1200" b="0">
                <a:solidFill>
                  <a:srgbClr val="F8FAFC"/>
                </a:solidFill>
                <a:latin typeface="Courier New"/>
              </a:rPr>
              <a:t>R_obs = np.where(mask, np.clip(R_full + rng.normal(0, 0.3, R_full.shape), -3, 3), 0)</a:t>
            </a:r>
          </a:p>
          <a:p>
            <a:pPr>
              <a:defRPr sz="1200" b="0">
                <a:solidFill>
                  <a:srgbClr val="F8FAFC"/>
                </a:solidFill>
                <a:latin typeface="Courier New"/>
              </a:defRPr>
            </a:pPr>
            <a:r>
              <a:rPr sz="1200" b="0">
                <a:solidFill>
                  <a:srgbClr val="F8FAFC"/>
                </a:solidFill>
                <a:latin typeface="Courier New"/>
              </a:rPr>
              <a:t>print(f'observed: {mask.sum():,} / {n_users * n_items:,} ({mask.mean():.2%})')</a:t>
            </a:r>
          </a:p>
        </p:txBody>
      </p:sp>
    </p:spTree>
  </p:cSld>
  <p:clrMapOvr>
    <a:masterClrMapping/>
  </p:clrMapOvr>
</p:sld>
</file>

<file path=ppt/slides/slide10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217 — Factorización de matrices: SVD, ALS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SVD truncado: tomar matriz R densa imputando 0.</a:t>
            </a:r>
          </a:p>
          <a:p>
            <a:pPr>
              <a:spcAft>
                <a:spcPts val="800"/>
              </a:spcAft>
              <a:defRPr sz="1400" b="0">
                <a:solidFill>
                  <a:srgbClr val="0F172A"/>
                </a:solidFill>
                <a:latin typeface="Segoe UI"/>
              </a:defRPr>
            </a:pPr>
            <a:r>
              <a:rPr sz="1400" b="0">
                <a:solidFill>
                  <a:srgbClr val="0F172A"/>
                </a:solidFill>
                <a:latin typeface="Segoe UI"/>
              </a:rPr>
              <a:t>• ALS explicit con Surprise: from surprise import SVD; algo = SVD(n_factors=50, n_epochs=20).</a:t>
            </a:r>
          </a:p>
          <a:p>
            <a:pPr>
              <a:spcAft>
                <a:spcPts val="800"/>
              </a:spcAft>
              <a:defRPr sz="1400" b="0">
                <a:solidFill>
                  <a:srgbClr val="0F172A"/>
                </a:solidFill>
                <a:latin typeface="Segoe UI"/>
              </a:defRPr>
            </a:pPr>
            <a:r>
              <a:rPr sz="1400" b="0">
                <a:solidFill>
                  <a:srgbClr val="0F172A"/>
                </a:solidFill>
                <a:latin typeface="Segoe UI"/>
              </a:rPr>
              <a:t>• ALS implicit con implicit: model = implicit.als.AlternatingLeastSquares(factors=64, regularization=0.05, iterations=15).</a:t>
            </a:r>
          </a:p>
          <a:p>
            <a:pPr>
              <a:spcAft>
                <a:spcPts val="800"/>
              </a:spcAft>
              <a:defRPr sz="1400" b="0">
                <a:solidFill>
                  <a:srgbClr val="0F172A"/>
                </a:solidFill>
                <a:latin typeface="Segoe UI"/>
              </a:defRPr>
            </a:pPr>
            <a:r>
              <a:rPr sz="1400" b="0">
                <a:solidFill>
                  <a:srgbClr val="0F172A"/>
                </a:solidFill>
                <a:latin typeface="Segoe UI"/>
              </a:rPr>
              <a:t>• Inspeccionar embeddings: PCA de model.item_factors a 2D y plot.</a:t>
            </a:r>
          </a:p>
          <a:p>
            <a:pPr>
              <a:spcAft>
                <a:spcPts val="800"/>
              </a:spcAft>
              <a:defRPr sz="1400" b="0">
                <a:solidFill>
                  <a:srgbClr val="0F172A"/>
                </a:solidFill>
                <a:latin typeface="Segoe UI"/>
              </a:defRPr>
            </a:pPr>
            <a:r>
              <a:rPr sz="1400" b="0">
                <a:solidFill>
                  <a:srgbClr val="0F172A"/>
                </a:solidFill>
                <a:latin typeface="Segoe UI"/>
              </a:rPr>
              <a:t>• Biases analysis: imprimir top 10 movies por b_i (las que todos aman / odian) y top 10 usuarios por b_u.</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Comparar 3 modelos sobre MovieLens 1M con leave-one-out por user:</a:t>
            </a:r>
          </a:p>
          <a:p>
            <a:pPr>
              <a:spcAft>
                <a:spcPts val="800"/>
              </a:spcAft>
              <a:defRPr sz="1400" b="0">
                <a:solidFill>
                  <a:srgbClr val="0F172A"/>
                </a:solidFill>
                <a:latin typeface="Segoe UI"/>
              </a:defRPr>
            </a:pPr>
            <a:r>
              <a:rPr sz="1400" b="0">
                <a:solidFill>
                  <a:srgbClr val="0F172A"/>
                </a:solidFill>
                <a:latin typeface="Segoe UI"/>
              </a:rPr>
              <a:t>• kNN item-based (Clase 216).</a:t>
            </a:r>
          </a:p>
          <a:p>
            <a:pPr>
              <a:spcAft>
                <a:spcPts val="800"/>
              </a:spcAft>
              <a:defRPr sz="1400" b="0">
                <a:solidFill>
                  <a:srgbClr val="0F172A"/>
                </a:solidFill>
                <a:latin typeface="Segoe UI"/>
              </a:defRPr>
            </a:pPr>
            <a:r>
              <a:rPr sz="1400" b="0">
                <a:solidFill>
                  <a:srgbClr val="0F172A"/>
                </a:solidFill>
                <a:latin typeface="Segoe UI"/>
              </a:rPr>
              <a:t>• Funk SVD (Surprise).</a:t>
            </a:r>
          </a:p>
          <a:p>
            <a:pPr>
              <a:spcAft>
                <a:spcPts val="800"/>
              </a:spcAft>
              <a:defRPr sz="1400" b="0">
                <a:solidFill>
                  <a:srgbClr val="0F172A"/>
                </a:solidFill>
                <a:latin typeface="Segoe UI"/>
              </a:defRPr>
            </a:pPr>
            <a:r>
              <a:rPr sz="1400" b="0">
                <a:solidFill>
                  <a:srgbClr val="0F172A"/>
                </a:solidFill>
                <a:latin typeface="Segoe UI"/>
              </a:rPr>
              <a:t>• ALS implicit (binarizando rating ≥ 4).</a:t>
            </a:r>
          </a:p>
          <a:p>
            <a:pPr>
              <a:spcAft>
                <a:spcPts val="800"/>
              </a:spcAft>
              <a:defRPr sz="1400" b="0">
                <a:solidFill>
                  <a:srgbClr val="0F172A"/>
                </a:solidFill>
                <a:latin typeface="Segoe UI"/>
              </a:defRPr>
            </a:pPr>
            <a:r>
              <a:rPr sz="1400" b="0">
                <a:solidFill>
                  <a:srgbClr val="0F172A"/>
                </a:solidFill>
                <a:latin typeface="Segoe UI"/>
              </a:rPr>
              <a:t>• Reportar NDCG@10, recall@10, tiempo de entrenamiento.</a:t>
            </a:r>
          </a:p>
        </p:txBody>
      </p:sp>
    </p:spTree>
  </p:cSld>
  <p:clrMapOvr>
    <a:masterClrMapping/>
  </p:clrMapOvr>
</p:sld>
</file>

<file path=ppt/slides/slide109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218 — Content-based filtering</a:t>
            </a:r>
          </a:p>
        </p:txBody>
      </p:sp>
    </p:spTree>
  </p:cSld>
  <p:clrMapOvr>
    <a:masterClrMapping/>
  </p:clrMapOvr>
</p:sld>
</file>

<file path=ppt/slides/slide10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218 — Content-based filtering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6 — Sistemas de Recomendación · Fuente: Aggarwal Recommender Systems: The Textbook cap. 4 + docs scikit-learn TfidfVectorizer.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Recomendar items basándose en sus atributos (texto, género, categoría) en vez de interacciones — útil cuando hay cold-start de items (Clase 221) o cuando los items tienen rica metadata. Combinar TF-IDF / embeddings sobre descripciones + scoring por similitud al perfil del usuario.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item profile desde texto + features categóricas con TF-IDF / one-hot.</a:t>
            </a:r>
          </a:p>
          <a:p>
            <a:pPr>
              <a:spcAft>
                <a:spcPts val="800"/>
              </a:spcAft>
              <a:defRPr sz="1400" b="0">
                <a:solidFill>
                  <a:srgbClr val="0F172A"/>
                </a:solidFill>
                <a:latin typeface="Segoe UI"/>
              </a:defRPr>
            </a:pPr>
            <a:r>
              <a:rPr sz="1400" b="0">
                <a:solidFill>
                  <a:srgbClr val="0F172A"/>
                </a:solidFill>
                <a:latin typeface="Segoe UI"/>
              </a:rPr>
              <a:t>• Construir un user profile como agregado ponderado de items que le gustaron.</a:t>
            </a:r>
          </a:p>
          <a:p>
            <a:pPr>
              <a:spcAft>
                <a:spcPts val="800"/>
              </a:spcAft>
              <a:defRPr sz="1400" b="0">
                <a:solidFill>
                  <a:srgbClr val="0F172A"/>
                </a:solidFill>
                <a:latin typeface="Segoe UI"/>
              </a:defRPr>
            </a:pPr>
            <a:r>
              <a:rPr sz="1400" b="0">
                <a:solidFill>
                  <a:srgbClr val="0F172A"/>
                </a:solidFill>
                <a:latin typeface="Segoe UI"/>
              </a:rPr>
              <a:t>• Calcular score(u, i) = cos(user_profile, item_profile) y rankear.</a:t>
            </a:r>
          </a:p>
          <a:p>
            <a:pPr>
              <a:spcAft>
                <a:spcPts val="800"/>
              </a:spcAft>
              <a:defRPr sz="1400" b="0">
                <a:solidFill>
                  <a:srgbClr val="0F172A"/>
                </a:solidFill>
                <a:latin typeface="Segoe UI"/>
              </a:defRPr>
            </a:pPr>
            <a:r>
              <a:rPr sz="1400" b="0">
                <a:solidFill>
                  <a:srgbClr val="0F172A"/>
                </a:solidFill>
                <a:latin typeface="Segoe UI"/>
              </a:rPr>
              <a:t>• Reemplazar TF-IDF por embeddings modernos (sentence-transformers) para entender semántica.</a:t>
            </a:r>
          </a:p>
          <a:p>
            <a:pPr>
              <a:spcAft>
                <a:spcPts val="800"/>
              </a:spcAft>
              <a:defRPr sz="1400" b="0">
                <a:solidFill>
                  <a:srgbClr val="0F172A"/>
                </a:solidFill>
                <a:latin typeface="Segoe UI"/>
              </a:defRPr>
            </a:pPr>
            <a:r>
              <a:rPr sz="1400" b="0">
                <a:solidFill>
                  <a:srgbClr val="0F172A"/>
                </a:solidFill>
                <a:latin typeface="Segoe UI"/>
              </a:rPr>
              <a:t>• Reconocer límites: serendipia baja (recomienda variantes de lo conocido); sobreespecialización.</a:t>
            </a:r>
          </a:p>
        </p:txBody>
      </p:sp>
    </p:spTree>
  </p:cSld>
  <p:clrMapOvr>
    <a:masterClrMapping/>
  </p:clrMapOvr>
</p:sld>
</file>

<file path=ppt/slides/slide10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218 — Content-based filtering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TF-IDF + cosine similarity</a:t>
            </a:r>
          </a:p>
          <a:p>
            <a:pPr>
              <a:spcAft>
                <a:spcPts val="1000"/>
              </a:spcAft>
              <a:defRPr sz="1600" b="0">
                <a:solidFill>
                  <a:srgbClr val="0F172A"/>
                </a:solidFill>
                <a:latin typeface="Segoe UI"/>
              </a:defRPr>
            </a:pPr>
            <a:r>
              <a:rPr sz="1600" b="0">
                <a:solidFill>
                  <a:srgbClr val="0F172A"/>
                </a:solidFill>
                <a:latin typeface="Segoe UI"/>
              </a:rPr>
              <a:t>• One-hot vs multi-hot features categóricas</a:t>
            </a:r>
          </a:p>
          <a:p>
            <a:pPr>
              <a:spcAft>
                <a:spcPts val="1000"/>
              </a:spcAft>
              <a:defRPr sz="1600" b="0">
                <a:solidFill>
                  <a:srgbClr val="0F172A"/>
                </a:solidFill>
                <a:latin typeface="Segoe UI"/>
              </a:defRPr>
            </a:pPr>
            <a:r>
              <a:rPr sz="1600" b="0">
                <a:solidFill>
                  <a:srgbClr val="0F172A"/>
                </a:solidFill>
                <a:latin typeface="Segoe UI"/>
              </a:rPr>
              <a:t>• User profile como media ponderada</a:t>
            </a:r>
          </a:p>
          <a:p>
            <a:pPr>
              <a:spcAft>
                <a:spcPts val="1000"/>
              </a:spcAft>
              <a:defRPr sz="1600" b="0">
                <a:solidFill>
                  <a:srgbClr val="0F172A"/>
                </a:solidFill>
                <a:latin typeface="Segoe UI"/>
              </a:defRPr>
            </a:pPr>
            <a:r>
              <a:rPr sz="1600" b="0">
                <a:solidFill>
                  <a:srgbClr val="0F172A"/>
                </a:solidFill>
                <a:latin typeface="Segoe UI"/>
              </a:rPr>
              <a:t>• Embeddings semánticos (sentence-transformers)</a:t>
            </a:r>
          </a:p>
          <a:p>
            <a:pPr>
              <a:spcAft>
                <a:spcPts val="1000"/>
              </a:spcAft>
              <a:defRPr sz="1600" b="0">
                <a:solidFill>
                  <a:srgbClr val="0F172A"/>
                </a:solidFill>
                <a:latin typeface="Segoe UI"/>
              </a:defRPr>
            </a:pPr>
            <a:r>
              <a:rPr sz="1600" b="0">
                <a:solidFill>
                  <a:srgbClr val="0F172A"/>
                </a:solidFill>
                <a:latin typeface="Segoe UI"/>
              </a:rPr>
              <a:t>• FAISS para top-N rápido</a:t>
            </a:r>
          </a:p>
          <a:p>
            <a:pPr>
              <a:spcAft>
                <a:spcPts val="1000"/>
              </a:spcAft>
              <a:defRPr sz="1600" b="0">
                <a:solidFill>
                  <a:srgbClr val="0F172A"/>
                </a:solidFill>
                <a:latin typeface="Segoe UI"/>
              </a:defRPr>
            </a:pPr>
            <a:r>
              <a:rPr sz="1600" b="0">
                <a:solidFill>
                  <a:srgbClr val="0F172A"/>
                </a:solidFill>
                <a:latin typeface="Segoe UI"/>
              </a:rPr>
              <a:t>• Hybrid con CF (Clase 219)</a:t>
            </a:r>
          </a:p>
        </p:txBody>
      </p:sp>
    </p:spTree>
  </p:cSld>
  <p:clrMapOvr>
    <a:masterClrMapping/>
  </p:clrMapOvr>
</p:sld>
</file>

<file path=ppt/slides/slide10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218 — Content-based filtering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Movies sintéticas con título + overview + genres. Recomendamos por similitud de contenido. Requiere: pip install scikit-learn sentence-transformers faiss-cpu.</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sklearn.feature_extraction.text import TfidfVectorizer</a:t>
            </a:r>
          </a:p>
          <a:p>
            <a:pPr>
              <a:defRPr sz="1200" b="0">
                <a:solidFill>
                  <a:srgbClr val="F8FAFC"/>
                </a:solidFill>
                <a:latin typeface="Courier New"/>
              </a:defRPr>
            </a:pPr>
            <a:r>
              <a:rPr sz="1200" b="0">
                <a:solidFill>
                  <a:srgbClr val="F8FAFC"/>
                </a:solidFill>
                <a:latin typeface="Courier New"/>
              </a:rPr>
              <a:t>from sklearn.metrics.pairwise import cosine_similarity</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movies = pd.DataFrame([</a:t>
            </a:r>
          </a:p>
          <a:p>
            <a:pPr>
              <a:defRPr sz="1200" b="0">
                <a:solidFill>
                  <a:srgbClr val="F8FAFC"/>
                </a:solidFill>
                <a:latin typeface="Courier New"/>
              </a:defRPr>
            </a:pPr>
            <a:r>
              <a:rPr sz="1200" b="0">
                <a:solidFill>
                  <a:srgbClr val="F8FAFC"/>
                </a:solidFill>
                <a:latin typeface="Courier New"/>
              </a:rPr>
              <a:t>    {'id': 1,  'title': 'Toy Story',           'overview': 'Cowboy doll and astronaut toy adventures friendship.', 'genres': 'animation children comedy'},</a:t>
            </a:r>
          </a:p>
          <a:p>
            <a:pPr>
              <a:defRPr sz="1200" b="0">
                <a:solidFill>
                  <a:srgbClr val="F8FAFC"/>
                </a:solidFill>
                <a:latin typeface="Courier New"/>
              </a:defRPr>
            </a:pPr>
            <a:r>
              <a:rPr sz="1200" b="0">
                <a:solidFill>
                  <a:srgbClr val="F8FAFC"/>
                </a:solidFill>
                <a:latin typeface="Courier New"/>
              </a:rPr>
              <a:t>    {'id': 2,  'title': 'Jumanji',             'overview': 'Magical board game jungle wild animals.',              'genres': 'adventure children fantasy'},</a:t>
            </a:r>
          </a:p>
          <a:p>
            <a:pPr>
              <a:defRPr sz="1200" b="0">
                <a:solidFill>
                  <a:srgbClr val="F8FAFC"/>
                </a:solidFill>
                <a:latin typeface="Courier New"/>
              </a:defRPr>
            </a:pPr>
            <a:r>
              <a:rPr sz="1200" b="0">
                <a:solidFill>
                  <a:srgbClr val="F8FAFC"/>
                </a:solidFill>
                <a:latin typeface="Courier New"/>
              </a:rPr>
              <a:t>    {'id': 3,  'title': 'Heat',                'overview': 'Bank heist crew detective pursuit Los Angeles.',       'genres': 'action crime thriller'},</a:t>
            </a:r>
          </a:p>
          <a:p>
            <a:pPr>
              <a:defRPr sz="1200" b="0">
                <a:solidFill>
                  <a:srgbClr val="F8FAFC"/>
                </a:solidFill>
                <a:latin typeface="Courier New"/>
              </a:defRPr>
            </a:pPr>
            <a:r>
              <a:rPr sz="1200" b="0">
                <a:solidFill>
                  <a:srgbClr val="F8FAFC"/>
                </a:solidFill>
                <a:latin typeface="Courier New"/>
              </a:rPr>
              <a:t>    {'id': 4,  'title': 'Goldeneye',           'overview': 'British spy secret agent satellite weapon villain.',   'genres': 'action adventure thriller'},</a:t>
            </a:r>
          </a:p>
          <a:p>
            <a:pPr>
              <a:defRPr sz="1200" b="0">
                <a:solidFill>
                  <a:srgbClr val="F8FAFC"/>
                </a:solidFill>
                <a:latin typeface="Courier New"/>
              </a:defRPr>
            </a:pPr>
            <a:r>
              <a:rPr sz="1200" b="0">
                <a:solidFill>
                  <a:srgbClr val="F8FAFC"/>
                </a:solidFill>
                <a:latin typeface="Courier New"/>
              </a:rPr>
              <a:t>    {'id': 5,  'title': 'The Lion King',       'overview': 'Lion cub father betrayed uncle Africa savanna.',       'genres': 'animation adventure drama'},</a:t>
            </a:r>
          </a:p>
          <a:p>
            <a:pPr>
              <a:defRPr sz="1200" b="0">
                <a:solidFill>
                  <a:srgbClr val="F8FAFC"/>
                </a:solidFill>
                <a:latin typeface="Courier New"/>
              </a:defRPr>
            </a:pPr>
            <a:r>
              <a:rPr sz="1200" b="0">
                <a:solidFill>
                  <a:srgbClr val="F8FAFC"/>
                </a:solidFill>
                <a:latin typeface="Courier New"/>
              </a:rPr>
              <a:t>    {'id': 6,  'title': 'Pulp Fiction',        'overview': 'Hitmen boxer gangster intersecting stories LA.',       'genres': 'crime drama thriller'},</a:t>
            </a:r>
          </a:p>
          <a:p>
            <a:pPr>
              <a:defRPr sz="1200" b="0">
                <a:solidFill>
                  <a:srgbClr val="F8FAFC"/>
                </a:solidFill>
                <a:latin typeface="Courier New"/>
              </a:defRPr>
            </a:pPr>
            <a:r>
              <a:rPr sz="1200" b="0">
                <a:solidFill>
                  <a:srgbClr val="F8FAFC"/>
                </a:solidFill>
                <a:latin typeface="Courier New"/>
              </a:rPr>
              <a:t>    {'id': 7,  'title': 'Finding Nemo',        'overview': 'Clownfish ocean adventure son rescue father.',         'genres': 'animation children adventure'},</a:t>
            </a:r>
          </a:p>
          <a:p>
            <a:pPr>
              <a:defRPr sz="1200" b="0">
                <a:solidFill>
                  <a:srgbClr val="F8FAFC"/>
                </a:solidFill>
                <a:latin typeface="Courier New"/>
              </a:defRPr>
            </a:pPr>
            <a:r>
              <a:rPr sz="1200" b="0">
                <a:solidFill>
                  <a:srgbClr val="F8FAFC"/>
                </a:solidFill>
                <a:latin typeface="Courier New"/>
              </a:rPr>
              <a:t>    {'id': 8,  'title': 'The Matrix',          'overview': 'Hacker discovers reality simulation rebel against AI.',</a:t>
            </a:r>
          </a:p>
          <a:p>
            <a:pPr>
              <a:defRPr sz="1200" b="0">
                <a:solidFill>
                  <a:srgbClr val="F8FAFC"/>
                </a:solidFill>
                <a:latin typeface="Courier New"/>
              </a:defRPr>
            </a:pPr>
            <a:r>
              <a:rPr sz="1200" b="0">
                <a:solidFill>
                  <a:srgbClr val="F8FAFC"/>
                </a:solidFill>
                <a:latin typeface="Courier New"/>
              </a:rPr>
              <a:t>                                                                                                                     'genres': 'action sci-fi thriller'},</a:t>
            </a:r>
          </a:p>
          <a:p>
            <a:pPr>
              <a:defRPr sz="1200" b="0">
                <a:solidFill>
                  <a:srgbClr val="F8FAFC"/>
                </a:solidFill>
                <a:latin typeface="Courier New"/>
              </a:defRPr>
            </a:pPr>
            <a:r>
              <a:rPr sz="1200" b="0">
                <a:solidFill>
                  <a:srgbClr val="F8FAFC"/>
                </a:solidFill>
                <a:latin typeface="Courier New"/>
              </a:rPr>
              <a:t>    {'id': 9,  'title': 'Forrest Gump',        'overview': 'Slow-witted man witnesses 20th century history love.', 'genres': 'comedy drama romance'},</a:t>
            </a:r>
          </a:p>
          <a:p>
            <a:pPr>
              <a:defRPr sz="1200" b="0">
                <a:solidFill>
                  <a:srgbClr val="F8FAFC"/>
                </a:solidFill>
                <a:latin typeface="Courier New"/>
              </a:defRPr>
            </a:pPr>
            <a:r>
              <a:rPr sz="1200" b="0">
                <a:solidFill>
                  <a:srgbClr val="F8FAFC"/>
                </a:solidFill>
                <a:latin typeface="Courier New"/>
              </a:rPr>
              <a:t>    {'id': 10, 'title': 'Inception',           'overview': 'Dream thief mind heist subconscious layers.',          'genres': 'action sci-fi thriller'},</a:t>
            </a:r>
          </a:p>
          <a:p>
            <a:pPr>
              <a:defRPr sz="1200" b="0">
                <a:solidFill>
                  <a:srgbClr val="F8FAFC"/>
                </a:solidFill>
                <a:latin typeface="Courier New"/>
              </a:defRPr>
            </a:pPr>
            <a:r>
              <a:rPr sz="1200" b="0">
                <a:solidFill>
                  <a:srgbClr val="F8FAFC"/>
                </a:solidFill>
                <a:latin typeface="Courier New"/>
              </a:rPr>
              <a:t>    {'id': 11, 'title': 'Shrek',               'overview': 'Ogre swamp princess rescue donkey fairy tale.',        'genres': 'animation comedy adventure'},</a:t>
            </a:r>
          </a:p>
          <a:p>
            <a:pPr>
              <a:defRPr sz="1200" b="0">
                <a:solidFill>
                  <a:srgbClr val="F8FAFC"/>
                </a:solidFill>
                <a:latin typeface="Courier New"/>
              </a:defRPr>
            </a:pPr>
            <a:r>
              <a:rPr sz="1200" b="0">
                <a:solidFill>
                  <a:srgbClr val="F8FAFC"/>
                </a:solidFill>
                <a:latin typeface="Courier New"/>
              </a:rPr>
              <a:t>    {'id': 12, 'title': 'The Dark Knight',     'overview': 'Batman Joker chaos Gotham villain moral.',             'genres': 'action crime thriller'},</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0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218 — Content-based filtering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TF-IDF base: cargar movies con title + overview + genres.</a:t>
            </a:r>
          </a:p>
          <a:p>
            <a:pPr>
              <a:spcAft>
                <a:spcPts val="800"/>
              </a:spcAft>
              <a:defRPr sz="1400" b="0">
                <a:solidFill>
                  <a:srgbClr val="0F172A"/>
                </a:solidFill>
                <a:latin typeface="Segoe UI"/>
              </a:defRPr>
            </a:pPr>
            <a:r>
              <a:rPr sz="1400" b="0">
                <a:solidFill>
                  <a:srgbClr val="0F172A"/>
                </a:solidFill>
                <a:latin typeface="Segoe UI"/>
              </a:rPr>
              <a:t>• Item-item similarity: cosine_similarity(tfidf_matrix).</a:t>
            </a:r>
          </a:p>
          <a:p>
            <a:pPr>
              <a:spcAft>
                <a:spcPts val="800"/>
              </a:spcAft>
              <a:defRPr sz="1400" b="0">
                <a:solidFill>
                  <a:srgbClr val="0F172A"/>
                </a:solidFill>
                <a:latin typeface="Segoe UI"/>
              </a:defRPr>
            </a:pPr>
            <a:r>
              <a:rPr sz="1400" b="0">
                <a:solidFill>
                  <a:srgbClr val="0F172A"/>
                </a:solidFill>
                <a:latin typeface="Segoe UI"/>
              </a:rPr>
              <a:t>• User profile: para user_id=42, tomar items rateados ≥4.</a:t>
            </a:r>
          </a:p>
          <a:p>
            <a:pPr>
              <a:spcAft>
                <a:spcPts val="800"/>
              </a:spcAft>
              <a:defRPr sz="1400" b="0">
                <a:solidFill>
                  <a:srgbClr val="0F172A"/>
                </a:solidFill>
                <a:latin typeface="Segoe UI"/>
              </a:defRPr>
            </a:pPr>
            <a:r>
              <a:rPr sz="1400" b="0">
                <a:solidFill>
                  <a:srgbClr val="0F172A"/>
                </a:solidFill>
                <a:latin typeface="Segoe UI"/>
              </a:rPr>
              <a:t>• Embeddings modernos: model = SentenceTransformer('all-MiniLM-L6-v2').</a:t>
            </a:r>
          </a:p>
          <a:p>
            <a:pPr>
              <a:spcAft>
                <a:spcPts val="800"/>
              </a:spcAft>
              <a:defRPr sz="1400" b="0">
                <a:solidFill>
                  <a:srgbClr val="0F172A"/>
                </a:solidFill>
                <a:latin typeface="Segoe UI"/>
              </a:defRPr>
            </a:pPr>
            <a:r>
              <a:rPr sz="1400" b="0">
                <a:solidFill>
                  <a:srgbClr val="0F172A"/>
                </a:solidFill>
                <a:latin typeface="Segoe UI"/>
              </a:rPr>
              <a:t>• FAISS rápido: index = faiss.IndexFlatIP(384); index.add(embeddings).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Recomendador content-based con sentence-transformers sobre MovieLens + sinopsis (10K movies).</a:t>
            </a:r>
          </a:p>
          <a:p>
            <a:pPr>
              <a:spcAft>
                <a:spcPts val="800"/>
              </a:spcAft>
              <a:defRPr sz="1400" b="0">
                <a:solidFill>
                  <a:srgbClr val="0F172A"/>
                </a:solidFill>
                <a:latin typeface="Segoe UI"/>
              </a:defRPr>
            </a:pPr>
            <a:r>
              <a:rPr sz="1400" b="0">
                <a:solidFill>
                  <a:srgbClr val="0F172A"/>
                </a:solidFill>
                <a:latin typeface="Segoe UI"/>
              </a:rPr>
              <a:t>• FAISS index para retrieval &lt;10 ms p99.</a:t>
            </a:r>
          </a:p>
          <a:p>
            <a:pPr>
              <a:spcAft>
                <a:spcPts val="800"/>
              </a:spcAft>
              <a:defRPr sz="1400" b="0">
                <a:solidFill>
                  <a:srgbClr val="0F172A"/>
                </a:solidFill>
                <a:latin typeface="Segoe UI"/>
              </a:defRPr>
            </a:pPr>
            <a:r>
              <a:rPr sz="1400" b="0">
                <a:solidFill>
                  <a:srgbClr val="0F172A"/>
                </a:solidFill>
                <a:latin typeface="Segoe UI"/>
              </a:rPr>
              <a:t>• Comparativa con CF (Clase 216-217): NDCG@10, coverage (% items recomendados al menos una vez), diversidad (1 - avg intra-list similarity).</a:t>
            </a:r>
          </a:p>
          <a:p>
            <a:pPr>
              <a:spcAft>
                <a:spcPts val="800"/>
              </a:spcAft>
              <a:defRPr sz="1400" b="0">
                <a:solidFill>
                  <a:srgbClr val="0F172A"/>
                </a:solidFill>
                <a:latin typeface="Segoe UI"/>
              </a:defRPr>
            </a:pPr>
            <a:r>
              <a:rPr sz="1400" b="0">
                <a:solidFill>
                  <a:srgbClr val="0F172A"/>
                </a:solidFill>
                <a:latin typeface="Segoe UI"/>
              </a:rPr>
              <a:t>• Demonstración cold-start: agregar una "movie nueva" sin ratings; verificar que content-based la recomienda; CF no.</a:t>
            </a:r>
          </a:p>
          <a:p>
            <a:pPr>
              <a:spcAft>
                <a:spcPts val="800"/>
              </a:spcAft>
              <a:defRPr sz="1400" b="0">
                <a:solidFill>
                  <a:srgbClr val="0F172A"/>
                </a:solidFill>
                <a:latin typeface="Segoe UI"/>
              </a:defRPr>
            </a:pPr>
            <a:r>
              <a:rPr sz="1400" b="0">
                <a:solidFill>
                  <a:srgbClr val="0F172A"/>
                </a:solidFill>
                <a:latin typeface="Segoe UI"/>
              </a:rPr>
              <a:t>• README discutiendo: cuándo content-based gana (cold-start, niche items), cuándo pierde (filter bubble, serendipia baja).</a:t>
            </a:r>
          </a:p>
        </p:txBody>
      </p:sp>
    </p:spTree>
  </p:cSld>
  <p:clrMapOvr>
    <a:masterClrMapping/>
  </p:clrMapOvr>
</p:sld>
</file>

<file path=ppt/slides/slide110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219 — Recomendadores híbridos</a:t>
            </a:r>
          </a:p>
        </p:txBody>
      </p:sp>
    </p:spTree>
  </p:cSld>
  <p:clrMapOvr>
    <a:masterClrMapping/>
  </p:clrMapOvr>
</p:sld>
</file>

<file path=ppt/slides/slide11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219 — Recomendadores híbridos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6 — Sistemas de Recomendación · Fuente: Burke, Hybrid Recommender Systems: Survey and Experiments (UMUAI 2002) + Kula, Metadata Embeddings for User and Item Cold-start Recommendations (LightFM, 2015).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Combinar CF (filtrado colaborativo, Clase 216-217) + content-based (Clase 218) para conseguir lo mejor de ambos: serendipia + cold-start + explicabilidad. Aplicar los 7 patrones de hybrid de Burke (2002) y usar LightFM (que aprende un modelo único con CF + features).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los 7 patrones de hybrid: weighted, switching, mixed, feature combination, cascade, feature augmentation, meta-level.</a:t>
            </a:r>
          </a:p>
          <a:p>
            <a:pPr>
              <a:spcAft>
                <a:spcPts val="800"/>
              </a:spcAft>
              <a:defRPr sz="1400" b="0">
                <a:solidFill>
                  <a:srgbClr val="0F172A"/>
                </a:solidFill>
                <a:latin typeface="Segoe UI"/>
              </a:defRPr>
            </a:pPr>
            <a:r>
              <a:rPr sz="1400" b="0">
                <a:solidFill>
                  <a:srgbClr val="0F172A"/>
                </a:solidFill>
                <a:latin typeface="Segoe UI"/>
              </a:rPr>
              <a:t>• Implementar un hybrid weighted: score = α × score_cf + (1-α) × score_content.</a:t>
            </a:r>
          </a:p>
          <a:p>
            <a:pPr>
              <a:spcAft>
                <a:spcPts val="800"/>
              </a:spcAft>
              <a:defRPr sz="1400" b="0">
                <a:solidFill>
                  <a:srgbClr val="0F172A"/>
                </a:solidFill>
                <a:latin typeface="Segoe UI"/>
              </a:defRPr>
            </a:pPr>
            <a:r>
              <a:rPr sz="1400" b="0">
                <a:solidFill>
                  <a:srgbClr val="0F172A"/>
                </a:solidFill>
                <a:latin typeface="Segoe UI"/>
              </a:rPr>
              <a:t>• Implementar un hybrid switching: usar content para users con &lt;N interactions, CF para el resto.</a:t>
            </a:r>
          </a:p>
          <a:p>
            <a:pPr>
              <a:spcAft>
                <a:spcPts val="800"/>
              </a:spcAft>
              <a:defRPr sz="1400" b="0">
                <a:solidFill>
                  <a:srgbClr val="0F172A"/>
                </a:solidFill>
                <a:latin typeface="Segoe UI"/>
              </a:defRPr>
            </a:pPr>
            <a:r>
              <a:rPr sz="1400" b="0">
                <a:solidFill>
                  <a:srgbClr val="0F172A"/>
                </a:solidFill>
                <a:latin typeface="Segoe UI"/>
              </a:rPr>
              <a:t>• Usar LightFM como hybrid built-in: el modelo aprende embeddings que combinan CF + content features.</a:t>
            </a:r>
          </a:p>
          <a:p>
            <a:pPr>
              <a:spcAft>
                <a:spcPts val="800"/>
              </a:spcAft>
              <a:defRPr sz="1400" b="0">
                <a:solidFill>
                  <a:srgbClr val="0F172A"/>
                </a:solidFill>
                <a:latin typeface="Segoe UI"/>
              </a:defRPr>
            </a:pPr>
            <a:r>
              <a:rPr sz="1400" b="0">
                <a:solidFill>
                  <a:srgbClr val="0F172A"/>
                </a:solidFill>
                <a:latin typeface="Segoe UI"/>
              </a:rPr>
              <a:t>• Tunear α con validation y entender por qué α óptimo varía por user/item segment.</a:t>
            </a:r>
          </a:p>
        </p:txBody>
      </p:sp>
    </p:spTree>
  </p:cSld>
  <p:clrMapOvr>
    <a:masterClrMapping/>
  </p:clrMapOvr>
</p:sld>
</file>

<file path=ppt/slides/slide11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219 — Recomendadores híbridos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7 patrones de Burke (2002)</a:t>
            </a:r>
          </a:p>
          <a:p>
            <a:pPr>
              <a:spcAft>
                <a:spcPts val="1000"/>
              </a:spcAft>
              <a:defRPr sz="1600" b="0">
                <a:solidFill>
                  <a:srgbClr val="0F172A"/>
                </a:solidFill>
                <a:latin typeface="Segoe UI"/>
              </a:defRPr>
            </a:pPr>
            <a:r>
              <a:rPr sz="1600" b="0">
                <a:solidFill>
                  <a:srgbClr val="0F172A"/>
                </a:solidFill>
                <a:latin typeface="Segoe UI"/>
              </a:rPr>
              <a:t>• Weighted hybrid: α × CF + (1-α) × CB</a:t>
            </a:r>
          </a:p>
          <a:p>
            <a:pPr>
              <a:spcAft>
                <a:spcPts val="1000"/>
              </a:spcAft>
              <a:defRPr sz="1600" b="0">
                <a:solidFill>
                  <a:srgbClr val="0F172A"/>
                </a:solidFill>
                <a:latin typeface="Segoe UI"/>
              </a:defRPr>
            </a:pPr>
            <a:r>
              <a:rPr sz="1600" b="0">
                <a:solidFill>
                  <a:srgbClr val="0F172A"/>
                </a:solidFill>
                <a:latin typeface="Segoe UI"/>
              </a:rPr>
              <a:t>• Switching: cold-start triage</a:t>
            </a:r>
          </a:p>
          <a:p>
            <a:pPr>
              <a:spcAft>
                <a:spcPts val="1000"/>
              </a:spcAft>
              <a:defRPr sz="1600" b="0">
                <a:solidFill>
                  <a:srgbClr val="0F172A"/>
                </a:solidFill>
                <a:latin typeface="Segoe UI"/>
              </a:defRPr>
            </a:pPr>
            <a:r>
              <a:rPr sz="1600" b="0">
                <a:solidFill>
                  <a:srgbClr val="0F172A"/>
                </a:solidFill>
                <a:latin typeface="Segoe UI"/>
              </a:rPr>
              <a:t>• LightFM: hybrid aprendido</a:t>
            </a:r>
          </a:p>
          <a:p>
            <a:pPr>
              <a:spcAft>
                <a:spcPts val="1000"/>
              </a:spcAft>
              <a:defRPr sz="1600" b="0">
                <a:solidFill>
                  <a:srgbClr val="0F172A"/>
                </a:solidFill>
                <a:latin typeface="Segoe UI"/>
              </a:defRPr>
            </a:pPr>
            <a:r>
              <a:rPr sz="1600" b="0">
                <a:solidFill>
                  <a:srgbClr val="0F172A"/>
                </a:solidFill>
                <a:latin typeface="Segoe UI"/>
              </a:rPr>
              <a:t>• Tuning α por segmento</a:t>
            </a:r>
          </a:p>
          <a:p>
            <a:pPr>
              <a:spcAft>
                <a:spcPts val="1000"/>
              </a:spcAft>
              <a:defRPr sz="1600" b="0">
                <a:solidFill>
                  <a:srgbClr val="0F172A"/>
                </a:solidFill>
                <a:latin typeface="Segoe UI"/>
              </a:defRPr>
            </a:pPr>
            <a:r>
              <a:rPr sz="1600" b="0">
                <a:solidFill>
                  <a:srgbClr val="0F172A"/>
                </a:solidFill>
                <a:latin typeface="Segoe UI"/>
              </a:rPr>
              <a:t>• Two-tower modelo (concept)</a:t>
            </a:r>
          </a:p>
        </p:txBody>
      </p:sp>
    </p:spTree>
  </p:cSld>
  <p:clrMapOvr>
    <a:masterClrMapping/>
  </p:clrMapOvr>
</p:sld>
</file>

<file path=ppt/slides/slide11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219 — Recomendadores híbridos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3 estrategias hybrid sobre un dataset sintético + cold-start eval. Requiere: pip install lightfm scipy scikit-learn.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scipy.sparse import csr_matrix</a:t>
            </a:r>
          </a:p>
          <a:p>
            <a:pPr>
              <a:defRPr sz="1200" b="0">
                <a:solidFill>
                  <a:srgbClr val="F8FAFC"/>
                </a:solidFill>
                <a:latin typeface="Courier New"/>
              </a:defRPr>
            </a:pPr>
            <a:r>
              <a:rPr sz="1200" b="0">
                <a:solidFill>
                  <a:srgbClr val="F8FAFC"/>
                </a:solidFill>
                <a:latin typeface="Courier New"/>
              </a:rPr>
              <a:t>from sklearn.metrics.pairwise import cosine_similarity</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n_users, n_items, n_features = 500, 200, 10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Item features (géneros multi-hot) y user preferences latentes</a:t>
            </a:r>
          </a:p>
          <a:p>
            <a:pPr>
              <a:defRPr sz="1200" b="0">
                <a:solidFill>
                  <a:srgbClr val="F8FAFC"/>
                </a:solidFill>
                <a:latin typeface="Courier New"/>
              </a:defRPr>
            </a:pPr>
            <a:r>
              <a:rPr sz="1200" b="0">
                <a:solidFill>
                  <a:srgbClr val="F8FAFC"/>
                </a:solidFill>
                <a:latin typeface="Courier New"/>
              </a:rPr>
              <a:t>item_features = rng.binomial(1, 0.25, (n_items, n_features)).astype(float)</a:t>
            </a:r>
          </a:p>
          <a:p>
            <a:pPr>
              <a:defRPr sz="1200" b="0">
                <a:solidFill>
                  <a:srgbClr val="F8FAFC"/>
                </a:solidFill>
                <a:latin typeface="Courier New"/>
              </a:defRPr>
            </a:pPr>
            <a:r>
              <a:rPr sz="1200" b="0">
                <a:solidFill>
                  <a:srgbClr val="F8FAFC"/>
                </a:solidFill>
                <a:latin typeface="Courier New"/>
              </a:rPr>
              <a:t>user_prefs = rng.normal(0, 1, (n_users, n_features))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Generar ratings sintéticos: user gusta items que matchean sus preferencias</a:t>
            </a:r>
          </a:p>
          <a:p>
            <a:pPr>
              <a:defRPr sz="1200" b="0">
                <a:solidFill>
                  <a:srgbClr val="F8FAFC"/>
                </a:solidFill>
                <a:latin typeface="Courier New"/>
              </a:defRPr>
            </a:pPr>
            <a:r>
              <a:rPr sz="1200" b="0">
                <a:solidFill>
                  <a:srgbClr val="F8FAFC"/>
                </a:solidFill>
                <a:latin typeface="Courier New"/>
              </a:rPr>
              <a:t>scores_true = user_prefs @ item_features.T</a:t>
            </a:r>
          </a:p>
          <a:p>
            <a:pPr>
              <a:defRPr sz="1200" b="0">
                <a:solidFill>
                  <a:srgbClr val="F8FAFC"/>
                </a:solidFill>
                <a:latin typeface="Courier New"/>
              </a:defRPr>
            </a:pPr>
            <a:r>
              <a:rPr sz="1200" b="0">
                <a:solidFill>
                  <a:srgbClr val="F8FAFC"/>
                </a:solidFill>
                <a:latin typeface="Courier New"/>
              </a:rPr>
              <a:t>noise = rng.normal(0, 0.5, scores_true.shape)</a:t>
            </a:r>
          </a:p>
          <a:p>
            <a:pPr>
              <a:defRPr sz="1200" b="0">
                <a:solidFill>
                  <a:srgbClr val="F8FAFC"/>
                </a:solidFill>
                <a:latin typeface="Courier New"/>
              </a:defRPr>
            </a:pPr>
            <a:r>
              <a:rPr sz="1200" b="0">
                <a:solidFill>
                  <a:srgbClr val="F8FAFC"/>
                </a:solidFill>
                <a:latin typeface="Courier New"/>
              </a:rPr>
              <a:t>interact_prob = 1 / (1 + np.exp(-(scores_true + noise)))</a:t>
            </a:r>
          </a:p>
          <a:p>
            <a:pPr>
              <a:defRPr sz="1200" b="0">
                <a:solidFill>
                  <a:srgbClr val="F8FAFC"/>
                </a:solidFill>
                <a:latin typeface="Courier New"/>
              </a:defRPr>
            </a:pPr>
            <a:r>
              <a:rPr sz="1200" b="0">
                <a:solidFill>
                  <a:srgbClr val="F8FAFC"/>
                </a:solidFill>
                <a:latin typeface="Courier New"/>
              </a:rPr>
              <a:t>R = (rng.random(scores_true.shape) &lt; 0.1 * interact_prob).astype(float)</a:t>
            </a:r>
          </a:p>
          <a:p>
            <a:pPr>
              <a:defRPr sz="1200" b="0">
                <a:solidFill>
                  <a:srgbClr val="F8FAFC"/>
                </a:solidFill>
                <a:latin typeface="Courier New"/>
              </a:defRPr>
            </a:pPr>
            <a:r>
              <a:rPr sz="1200" b="0">
                <a:solidFill>
                  <a:srgbClr val="F8FAFC"/>
                </a:solidFill>
                <a:latin typeface="Courier New"/>
              </a:rPr>
              <a:t>R_sparse = csr_matrix(R)</a:t>
            </a:r>
          </a:p>
          <a:p>
            <a:pPr>
              <a:defRPr sz="1200" b="0">
                <a:solidFill>
                  <a:srgbClr val="F8FAFC"/>
                </a:solidFill>
                <a:latin typeface="Courier New"/>
              </a:defRPr>
            </a:pPr>
            <a:r>
              <a:rPr sz="1200" b="0">
                <a:solidFill>
                  <a:srgbClr val="F8FAFC"/>
                </a:solidFill>
                <a:latin typeface="Courier New"/>
              </a:rPr>
              <a:t>print(f'interactions: {R_sparse.nnz:,}')</a:t>
            </a:r>
          </a:p>
        </p:txBody>
      </p:sp>
    </p:spTree>
  </p:cSld>
  <p:clrMapOvr>
    <a:masterClrMapping/>
  </p:clrMapOvr>
</p:sld>
</file>

<file path=ppt/slides/slide11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219 — Recomendadores híbridos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Weighted hybrid manual: tomar scores de Clase 217 (ALS) y Clase 218 (content-based).</a:t>
            </a:r>
          </a:p>
          <a:p>
            <a:pPr>
              <a:spcAft>
                <a:spcPts val="800"/>
              </a:spcAft>
              <a:defRPr sz="1400" b="0">
                <a:solidFill>
                  <a:srgbClr val="0F172A"/>
                </a:solidFill>
                <a:latin typeface="Segoe UI"/>
              </a:defRPr>
            </a:pPr>
            <a:r>
              <a:rPr sz="1400" b="0">
                <a:solidFill>
                  <a:srgbClr val="0F172A"/>
                </a:solidFill>
                <a:latin typeface="Segoe UI"/>
              </a:rPr>
              <a:t>• Switching por user: si interactions(u) &lt; 5: usar content; si no: usar CF.</a:t>
            </a:r>
          </a:p>
          <a:p>
            <a:pPr>
              <a:spcAft>
                <a:spcPts val="800"/>
              </a:spcAft>
              <a:defRPr sz="1400" b="0">
                <a:solidFill>
                  <a:srgbClr val="0F172A"/>
                </a:solidFill>
                <a:latin typeface="Segoe UI"/>
              </a:defRPr>
            </a:pPr>
            <a:r>
              <a:rPr sz="1400" b="0">
                <a:solidFill>
                  <a:srgbClr val="0F172A"/>
                </a:solidFill>
                <a:latin typeface="Segoe UI"/>
              </a:rPr>
              <a:t>• LightFM hybrid: entrenar LightFM(loss='warp') con item_features (géneros) y user_features (demographics).</a:t>
            </a:r>
          </a:p>
          <a:p>
            <a:pPr>
              <a:spcAft>
                <a:spcPts val="800"/>
              </a:spcAft>
              <a:defRPr sz="1400" b="0">
                <a:solidFill>
                  <a:srgbClr val="0F172A"/>
                </a:solidFill>
                <a:latin typeface="Segoe UI"/>
              </a:defRPr>
            </a:pPr>
            <a:r>
              <a:rPr sz="1400" b="0">
                <a:solidFill>
                  <a:srgbClr val="0F172A"/>
                </a:solidFill>
                <a:latin typeface="Segoe UI"/>
              </a:rPr>
              <a:t>• Cold-start eval: held-out incluye items nuevos (no en train) y users nuevos (sin ratings).</a:t>
            </a:r>
          </a:p>
          <a:p>
            <a:pPr>
              <a:spcAft>
                <a:spcPts val="800"/>
              </a:spcAft>
              <a:defRPr sz="1400" b="0">
                <a:solidFill>
                  <a:srgbClr val="0F172A"/>
                </a:solidFill>
                <a:latin typeface="Segoe UI"/>
              </a:defRPr>
            </a:pPr>
            <a:r>
              <a:rPr sz="1400" b="0">
                <a:solidFill>
                  <a:srgbClr val="0F172A"/>
                </a:solidFill>
                <a:latin typeface="Segoe UI"/>
              </a:rPr>
              <a:t>• Cascade: top-100 con CF, re-rankear top-10 con content (boost a items con descripción similar al historial del user).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4 modelos sobre MovieLens 100K:</a:t>
            </a:r>
          </a:p>
          <a:p>
            <a:pPr>
              <a:spcAft>
                <a:spcPts val="800"/>
              </a:spcAft>
              <a:defRPr sz="1400" b="0">
                <a:solidFill>
                  <a:srgbClr val="0F172A"/>
                </a:solidFill>
                <a:latin typeface="Segoe UI"/>
              </a:defRPr>
            </a:pPr>
            <a:r>
              <a:rPr sz="1400" b="0">
                <a:solidFill>
                  <a:srgbClr val="0F172A"/>
                </a:solidFill>
                <a:latin typeface="Segoe UI"/>
              </a:rPr>
              <a:t>• Pure CF (implicit ALS).</a:t>
            </a:r>
          </a:p>
          <a:p>
            <a:pPr>
              <a:spcAft>
                <a:spcPts val="800"/>
              </a:spcAft>
              <a:defRPr sz="1400" b="0">
                <a:solidFill>
                  <a:srgbClr val="0F172A"/>
                </a:solidFill>
                <a:latin typeface="Segoe UI"/>
              </a:defRPr>
            </a:pPr>
            <a:r>
              <a:rPr sz="1400" b="0">
                <a:solidFill>
                  <a:srgbClr val="0F172A"/>
                </a:solidFill>
                <a:latin typeface="Segoe UI"/>
              </a:rPr>
              <a:t>• Pure content-based (sentence-transformers).</a:t>
            </a:r>
          </a:p>
          <a:p>
            <a:pPr>
              <a:spcAft>
                <a:spcPts val="800"/>
              </a:spcAft>
              <a:defRPr sz="1400" b="0">
                <a:solidFill>
                  <a:srgbClr val="0F172A"/>
                </a:solidFill>
                <a:latin typeface="Segoe UI"/>
              </a:defRPr>
            </a:pPr>
            <a:r>
              <a:rPr sz="1400" b="0">
                <a:solidFill>
                  <a:srgbClr val="0F172A"/>
                </a:solidFill>
                <a:latin typeface="Segoe UI"/>
              </a:rPr>
              <a:t>• Weighted hybrid (α tunado).</a:t>
            </a:r>
          </a:p>
          <a:p>
            <a:pPr>
              <a:spcAft>
                <a:spcPts val="800"/>
              </a:spcAft>
              <a:defRPr sz="1400" b="0">
                <a:solidFill>
                  <a:srgbClr val="0F172A"/>
                </a:solidFill>
                <a:latin typeface="Segoe UI"/>
              </a:defRPr>
            </a:pPr>
            <a:r>
              <a:rPr sz="1400" b="0">
                <a:solidFill>
                  <a:srgbClr val="0F172A"/>
                </a:solidFill>
                <a:latin typeface="Segoe UI"/>
              </a:rPr>
              <a:t>• LightFM hybrid (con item features).</a:t>
            </a:r>
          </a:p>
        </p:txBody>
      </p:sp>
    </p:spTree>
  </p:cSld>
  <p:clrMapOvr>
    <a:masterClrMapping/>
  </p:clrMapOvr>
</p:sld>
</file>

<file path=ppt/slides/slide110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220 — Métricas: MAP@k, NDCG, recall@k</a:t>
            </a:r>
          </a:p>
        </p:txBody>
      </p:sp>
    </p:spTree>
  </p:cSld>
  <p:clrMapOvr>
    <a:masterClrMapping/>
  </p:clrMapOvr>
</p:sld>
</file>

<file path=ppt/slides/slide11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220 — Métricas: MAP@k, NDCG, recall@k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6 — Sistemas de Recomendación · Fuente: Aggarwal cap. 7 + Järvelin &amp; Kekäläinen, Cumulated Gain-Based Evaluation of IR Techniques (TOIS 2002 — NDCG paper).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Evaluar recomendadores con las métricas correctas: NO accuracy ni RMSE de rating (irrelevante para top-N). Sí recall@k (¿cuántos relevantes recuperaste en top-k?), precision@k (¿qué % del top-k es relevante?), MAP@k (precision promedio sensible al ranking), NDCG@k (gain descontado por posición). Decidir qué métrica reportar según objetivo de negocio.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Calcular precision@k, recall@k, F1@k, hit rate desde cero.</a:t>
            </a:r>
          </a:p>
          <a:p>
            <a:pPr>
              <a:spcAft>
                <a:spcPts val="800"/>
              </a:spcAft>
              <a:defRPr sz="1400" b="0">
                <a:solidFill>
                  <a:srgbClr val="0F172A"/>
                </a:solidFill>
                <a:latin typeface="Segoe UI"/>
              </a:defRPr>
            </a:pPr>
            <a:r>
              <a:rPr sz="1400" b="0">
                <a:solidFill>
                  <a:srgbClr val="0F172A"/>
                </a:solidFill>
                <a:latin typeface="Segoe UI"/>
              </a:rPr>
              <a:t>• Calcular MAP@k (Mean Average Precision) y entender por qué sensible al ranking dentro del top-k.</a:t>
            </a:r>
          </a:p>
          <a:p>
            <a:pPr>
              <a:spcAft>
                <a:spcPts val="800"/>
              </a:spcAft>
              <a:defRPr sz="1400" b="0">
                <a:solidFill>
                  <a:srgbClr val="0F172A"/>
                </a:solidFill>
                <a:latin typeface="Segoe UI"/>
              </a:defRPr>
            </a:pPr>
            <a:r>
              <a:rPr sz="1400" b="0">
                <a:solidFill>
                  <a:srgbClr val="0F172A"/>
                </a:solidFill>
                <a:latin typeface="Segoe UI"/>
              </a:rPr>
              <a:t>• Calcular NDCG@k (Normalized Discounted Cumulative Gain) y entender el descuento logarítmico.</a:t>
            </a:r>
          </a:p>
          <a:p>
            <a:pPr>
              <a:spcAft>
                <a:spcPts val="800"/>
              </a:spcAft>
              <a:defRPr sz="1400" b="0">
                <a:solidFill>
                  <a:srgbClr val="0F172A"/>
                </a:solidFill>
                <a:latin typeface="Segoe UI"/>
              </a:defRPr>
            </a:pPr>
            <a:r>
              <a:rPr sz="1400" b="0">
                <a:solidFill>
                  <a:srgbClr val="0F172A"/>
                </a:solidFill>
                <a:latin typeface="Segoe UI"/>
              </a:rPr>
              <a:t>• Diseñar el split correcto: leave-one-out por user vs temporal split vs random.</a:t>
            </a:r>
          </a:p>
          <a:p>
            <a:pPr>
              <a:spcAft>
                <a:spcPts val="800"/>
              </a:spcAft>
              <a:defRPr sz="1400" b="0">
                <a:solidFill>
                  <a:srgbClr val="0F172A"/>
                </a:solidFill>
                <a:latin typeface="Segoe UI"/>
              </a:defRPr>
            </a:pPr>
            <a:r>
              <a:rPr sz="1400" b="0">
                <a:solidFill>
                  <a:srgbClr val="0F172A"/>
                </a:solidFill>
                <a:latin typeface="Segoe UI"/>
              </a:rPr>
              <a:t>• Decidir métrica según objetivo: recall (catálogo grande, descubrimiento) vs NDCG (orden importa) vs MAP (búsqueda).</a:t>
            </a:r>
          </a:p>
        </p:txBody>
      </p:sp>
    </p:spTree>
  </p:cSld>
  <p:clrMapOvr>
    <a:masterClrMapping/>
  </p:clrMapOvr>
</p:sld>
</file>

<file path=ppt/slides/slide11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220 — Métricas: MAP@k, NDCG, recall@k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NO usar RMSE de rating</a:t>
            </a:r>
          </a:p>
          <a:p>
            <a:pPr>
              <a:spcAft>
                <a:spcPts val="1000"/>
              </a:spcAft>
              <a:defRPr sz="1600" b="0">
                <a:solidFill>
                  <a:srgbClr val="0F172A"/>
                </a:solidFill>
                <a:latin typeface="Segoe UI"/>
              </a:defRPr>
            </a:pPr>
            <a:r>
              <a:rPr sz="1600" b="0">
                <a:solidFill>
                  <a:srgbClr val="0F172A"/>
                </a:solidFill>
                <a:latin typeface="Segoe UI"/>
              </a:rPr>
              <a:t>• Precision@k vs recall@k</a:t>
            </a:r>
          </a:p>
          <a:p>
            <a:pPr>
              <a:spcAft>
                <a:spcPts val="1000"/>
              </a:spcAft>
              <a:defRPr sz="1600" b="0">
                <a:solidFill>
                  <a:srgbClr val="0F172A"/>
                </a:solidFill>
                <a:latin typeface="Segoe UI"/>
              </a:defRPr>
            </a:pPr>
            <a:r>
              <a:rPr sz="1600" b="0">
                <a:solidFill>
                  <a:srgbClr val="0F172A"/>
                </a:solidFill>
                <a:latin typeface="Segoe UI"/>
              </a:rPr>
              <a:t>• MAP@k: precision promediada por posición</a:t>
            </a:r>
          </a:p>
          <a:p>
            <a:pPr>
              <a:spcAft>
                <a:spcPts val="1000"/>
              </a:spcAft>
              <a:defRPr sz="1600" b="0">
                <a:solidFill>
                  <a:srgbClr val="0F172A"/>
                </a:solidFill>
                <a:latin typeface="Segoe UI"/>
              </a:defRPr>
            </a:pPr>
            <a:r>
              <a:rPr sz="1600" b="0">
                <a:solidFill>
                  <a:srgbClr val="0F172A"/>
                </a:solidFill>
                <a:latin typeface="Segoe UI"/>
              </a:rPr>
              <a:t>• NDCG@k con descuento log2(i+1)</a:t>
            </a:r>
          </a:p>
          <a:p>
            <a:pPr>
              <a:spcAft>
                <a:spcPts val="1000"/>
              </a:spcAft>
              <a:defRPr sz="1600" b="0">
                <a:solidFill>
                  <a:srgbClr val="0F172A"/>
                </a:solidFill>
                <a:latin typeface="Segoe UI"/>
              </a:defRPr>
            </a:pPr>
            <a:r>
              <a:rPr sz="1600" b="0">
                <a:solidFill>
                  <a:srgbClr val="0F172A"/>
                </a:solidFill>
                <a:latin typeface="Segoe UI"/>
              </a:rPr>
              <a:t>• Leave-one-out vs temporal split</a:t>
            </a:r>
          </a:p>
          <a:p>
            <a:pPr>
              <a:spcAft>
                <a:spcPts val="1000"/>
              </a:spcAft>
              <a:defRPr sz="1600" b="0">
                <a:solidFill>
                  <a:srgbClr val="0F172A"/>
                </a:solidFill>
                <a:latin typeface="Segoe UI"/>
              </a:defRPr>
            </a:pPr>
            <a:r>
              <a:rPr sz="1600" b="0">
                <a:solidFill>
                  <a:srgbClr val="0F172A"/>
                </a:solidFill>
                <a:latin typeface="Segoe UI"/>
              </a:rPr>
              <a:t>• Coverage + diversity (beyond accuracy)</a:t>
            </a:r>
          </a:p>
        </p:txBody>
      </p:sp>
    </p:spTree>
  </p:cSld>
  <p:clrMapOvr>
    <a:masterClrMapping/>
  </p:clrMapOvr>
</p:sld>
</file>

<file path=ppt/slides/slide11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220 — Métricas: MAP@k, NDCG, recall@k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Implementación de las 6 métricas + comparativa entre 3 recomendadores sintéticos.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precision_at_k(rel, k):</a:t>
            </a:r>
          </a:p>
          <a:p>
            <a:pPr>
              <a:defRPr sz="1200" b="0">
                <a:solidFill>
                  <a:srgbClr val="F8FAFC"/>
                </a:solidFill>
                <a:latin typeface="Courier New"/>
              </a:defRPr>
            </a:pPr>
            <a:r>
              <a:rPr sz="1200" b="0">
                <a:solidFill>
                  <a:srgbClr val="F8FAFC"/>
                </a:solidFill>
                <a:latin typeface="Courier New"/>
              </a:rPr>
              <a:t>    """rel: array binario de relevancia en orden de ranking. precision sobre top-k."""</a:t>
            </a:r>
          </a:p>
          <a:p>
            <a:pPr>
              <a:defRPr sz="1200" b="0">
                <a:solidFill>
                  <a:srgbClr val="F8FAFC"/>
                </a:solidFill>
                <a:latin typeface="Courier New"/>
              </a:defRPr>
            </a:pPr>
            <a:r>
              <a:rPr sz="1200" b="0">
                <a:solidFill>
                  <a:srgbClr val="F8FAFC"/>
                </a:solidFill>
                <a:latin typeface="Courier New"/>
              </a:rPr>
              <a:t>    return rel[:k].sum() / 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recall_at_k(rel, k, n_relevants):</a:t>
            </a:r>
          </a:p>
          <a:p>
            <a:pPr>
              <a:defRPr sz="1200" b="0">
                <a:solidFill>
                  <a:srgbClr val="F8FAFC"/>
                </a:solidFill>
                <a:latin typeface="Courier New"/>
              </a:defRPr>
            </a:pPr>
            <a:r>
              <a:rPr sz="1200" b="0">
                <a:solidFill>
                  <a:srgbClr val="F8FAFC"/>
                </a:solidFill>
                <a:latin typeface="Courier New"/>
              </a:rPr>
              <a:t>    return rel[:k].sum() / max(n_relevants,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ap_at_k(rel, k):</a:t>
            </a:r>
          </a:p>
          <a:p>
            <a:pPr>
              <a:defRPr sz="1200" b="0">
                <a:solidFill>
                  <a:srgbClr val="F8FAFC"/>
                </a:solidFill>
                <a:latin typeface="Courier New"/>
              </a:defRPr>
            </a:pPr>
            <a:r>
              <a:rPr sz="1200" b="0">
                <a:solidFill>
                  <a:srgbClr val="F8FAFC"/>
                </a:solidFill>
                <a:latin typeface="Courier New"/>
              </a:rPr>
              <a:t>    """Average Precision: precision en posiciones donde hay un relevante, promediada."""</a:t>
            </a:r>
          </a:p>
          <a:p>
            <a:pPr>
              <a:defRPr sz="1200" b="0">
                <a:solidFill>
                  <a:srgbClr val="F8FAFC"/>
                </a:solidFill>
                <a:latin typeface="Courier New"/>
              </a:defRPr>
            </a:pPr>
            <a:r>
              <a:rPr sz="1200" b="0">
                <a:solidFill>
                  <a:srgbClr val="F8FAFC"/>
                </a:solidFill>
                <a:latin typeface="Courier New"/>
              </a:rPr>
              <a:t>    rel_k = rel[:k]</a:t>
            </a:r>
          </a:p>
          <a:p>
            <a:pPr>
              <a:defRPr sz="1200" b="0">
                <a:solidFill>
                  <a:srgbClr val="F8FAFC"/>
                </a:solidFill>
                <a:latin typeface="Courier New"/>
              </a:defRPr>
            </a:pPr>
            <a:r>
              <a:rPr sz="1200" b="0">
                <a:solidFill>
                  <a:srgbClr val="F8FAFC"/>
                </a:solidFill>
                <a:latin typeface="Courier New"/>
              </a:rPr>
              <a:t>    if rel_k.sum() == 0: return 0.0</a:t>
            </a:r>
          </a:p>
          <a:p>
            <a:pPr>
              <a:defRPr sz="1200" b="0">
                <a:solidFill>
                  <a:srgbClr val="F8FAFC"/>
                </a:solidFill>
                <a:latin typeface="Courier New"/>
              </a:defRPr>
            </a:pPr>
            <a:r>
              <a:rPr sz="1200" b="0">
                <a:solidFill>
                  <a:srgbClr val="F8FAFC"/>
                </a:solidFill>
                <a:latin typeface="Courier New"/>
              </a:rPr>
              <a:t>    precisions = [(rel_k[:i+1].sum() / (i+1)) * rel_k[i] for i in range(k)]</a:t>
            </a:r>
          </a:p>
          <a:p>
            <a:pPr>
              <a:defRPr sz="1200" b="0">
                <a:solidFill>
                  <a:srgbClr val="F8FAFC"/>
                </a:solidFill>
                <a:latin typeface="Courier New"/>
              </a:defRPr>
            </a:pPr>
            <a:r>
              <a:rPr sz="1200" b="0">
                <a:solidFill>
                  <a:srgbClr val="F8FAFC"/>
                </a:solidFill>
                <a:latin typeface="Courier New"/>
              </a:rPr>
              <a:t>    return sum(precisions) / min(k, rel.sum())</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dcg_at_k(rel, k):</a:t>
            </a:r>
          </a:p>
          <a:p>
            <a:pPr>
              <a:defRPr sz="1200" b="0">
                <a:solidFill>
                  <a:srgbClr val="F8FAFC"/>
                </a:solidFill>
                <a:latin typeface="Courier New"/>
              </a:defRPr>
            </a:pPr>
            <a:r>
              <a:rPr sz="1200" b="0">
                <a:solidFill>
                  <a:srgbClr val="F8FAFC"/>
                </a:solidFill>
                <a:latin typeface="Courier New"/>
              </a:rPr>
              <a:t>    rel_k = rel[:k]</a:t>
            </a:r>
          </a:p>
          <a:p>
            <a:pPr>
              <a:defRPr sz="1200" b="0">
                <a:solidFill>
                  <a:srgbClr val="F8FAFC"/>
                </a:solidFill>
                <a:latin typeface="Courier New"/>
              </a:defRPr>
            </a:pPr>
            <a:r>
              <a:rPr sz="1200" b="0">
                <a:solidFill>
                  <a:srgbClr val="F8FAFC"/>
                </a:solidFill>
                <a:latin typeface="Courier New"/>
              </a:rPr>
              <a:t>    return float(np.sum(rel_k / np.log2(np.arange(2, k + 2))))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1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220 — Métricas: MAP@k, NDCG, recall@k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precision@k, recall@k: dadas listas [1, 0, 0, 1, 0] (relevancia) y k=5, calcular.</a:t>
            </a:r>
          </a:p>
          <a:p>
            <a:pPr>
              <a:spcAft>
                <a:spcPts val="800"/>
              </a:spcAft>
              <a:defRPr sz="1400" b="0">
                <a:solidFill>
                  <a:srgbClr val="0F172A"/>
                </a:solidFill>
                <a:latin typeface="Segoe UI"/>
              </a:defRPr>
            </a:pPr>
            <a:r>
              <a:rPr sz="1400" b="0">
                <a:solidFill>
                  <a:srgbClr val="0F172A"/>
                </a:solidFill>
                <a:latin typeface="Segoe UI"/>
              </a:rPr>
              <a:t>• MAP@k: implementar AP@k.</a:t>
            </a:r>
          </a:p>
          <a:p>
            <a:pPr>
              <a:spcAft>
                <a:spcPts val="800"/>
              </a:spcAft>
              <a:defRPr sz="1400" b="0">
                <a:solidFill>
                  <a:srgbClr val="0F172A"/>
                </a:solidFill>
                <a:latin typeface="Segoe UI"/>
              </a:defRPr>
            </a:pPr>
            <a:r>
              <a:rPr sz="1400" b="0">
                <a:solidFill>
                  <a:srgbClr val="0F172A"/>
                </a:solidFill>
                <a:latin typeface="Segoe UI"/>
              </a:rPr>
              <a:t>• NDCG@k: implementar DCG y iDCG.</a:t>
            </a:r>
          </a:p>
          <a:p>
            <a:pPr>
              <a:spcAft>
                <a:spcPts val="800"/>
              </a:spcAft>
              <a:defRPr sz="1400" b="0">
                <a:solidFill>
                  <a:srgbClr val="0F172A"/>
                </a:solidFill>
                <a:latin typeface="Segoe UI"/>
              </a:defRPr>
            </a:pPr>
            <a:r>
              <a:rPr sz="1400" b="0">
                <a:solidFill>
                  <a:srgbClr val="0F172A"/>
                </a:solidFill>
                <a:latin typeface="Segoe UI"/>
              </a:rPr>
              <a:t>• Leave-one-out por user: para cada user con ≥5 ratings, dejar el último (cronológico o random) para test, resto para train.</a:t>
            </a:r>
          </a:p>
          <a:p>
            <a:pPr>
              <a:spcAft>
                <a:spcPts val="800"/>
              </a:spcAft>
              <a:defRPr sz="1400" b="0">
                <a:solidFill>
                  <a:srgbClr val="0F172A"/>
                </a:solidFill>
                <a:latin typeface="Segoe UI"/>
              </a:defRPr>
            </a:pPr>
            <a:r>
              <a:rPr sz="1400" b="0">
                <a:solidFill>
                  <a:srgbClr val="0F172A"/>
                </a:solidFill>
                <a:latin typeface="Segoe UI"/>
              </a:rPr>
              <a:t>• Coverage y diversity: para 1000 users, ¿qué % del catálogo fue recomendado? Diversidad media intra-list (cosine entre items recomendados).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Implementación de 6 métricas: recall@10, precision@10, F1@10, MAP@10, NDCG@10, hit rate@10. Validar contra librería.</a:t>
            </a:r>
          </a:p>
          <a:p>
            <a:pPr>
              <a:spcAft>
                <a:spcPts val="800"/>
              </a:spcAft>
              <a:defRPr sz="1400" b="0">
                <a:solidFill>
                  <a:srgbClr val="0F172A"/>
                </a:solidFill>
                <a:latin typeface="Segoe UI"/>
              </a:defRPr>
            </a:pPr>
            <a:r>
              <a:rPr sz="1400" b="0">
                <a:solidFill>
                  <a:srgbClr val="0F172A"/>
                </a:solidFill>
                <a:latin typeface="Segoe UI"/>
              </a:rPr>
              <a:t>• Aplicar a 4 modelos (kNN, ALS, content, hybrid de Clases 216-219). Tabla comparativa.</a:t>
            </a:r>
          </a:p>
          <a:p>
            <a:pPr>
              <a:spcAft>
                <a:spcPts val="800"/>
              </a:spcAft>
              <a:defRPr sz="1400" b="0">
                <a:solidFill>
                  <a:srgbClr val="0F172A"/>
                </a:solidFill>
                <a:latin typeface="Segoe UI"/>
              </a:defRPr>
            </a:pPr>
            <a:r>
              <a:rPr sz="1400" b="0">
                <a:solidFill>
                  <a:srgbClr val="0F172A"/>
                </a:solidFill>
                <a:latin typeface="Segoe UI"/>
              </a:rPr>
              <a:t>• Análisis: ¿qué métrica decidiría cuál modelo gana? Discutir.</a:t>
            </a:r>
          </a:p>
          <a:p>
            <a:pPr>
              <a:spcAft>
                <a:spcPts val="800"/>
              </a:spcAft>
              <a:defRPr sz="1400" b="0">
                <a:solidFill>
                  <a:srgbClr val="0F172A"/>
                </a:solidFill>
                <a:latin typeface="Segoe UI"/>
              </a:defRPr>
            </a:pPr>
            <a:r>
              <a:rPr sz="1400" b="0">
                <a:solidFill>
                  <a:srgbClr val="0F172A"/>
                </a:solidFill>
                <a:latin typeface="Segoe UI"/>
              </a:rPr>
              <a:t>• Beyond accuracy: coverage, diversity, novelty (1 - popularity rank promedio). ¿Algún modelo gana en accuracy pero pierde en diversity?</a:t>
            </a:r>
          </a:p>
          <a:p>
            <a:pPr>
              <a:spcAft>
                <a:spcPts val="800"/>
              </a:spcAft>
              <a:defRPr sz="1400" b="0">
                <a:solidFill>
                  <a:srgbClr val="0F172A"/>
                </a:solidFill>
                <a:latin typeface="Segoe UI"/>
              </a:defRPr>
            </a:pPr>
            <a:r>
              <a:rPr sz="1400" b="0">
                <a:solidFill>
                  <a:srgbClr val="0F172A"/>
                </a:solidFill>
                <a:latin typeface="Segoe UI"/>
              </a:rPr>
              <a:t>• Temporal split: si tu dataset tiene timestamps, hacer split por fecha (no por ratio). Comparar con random split. Discutir por qué temporal es más realista.</a:t>
            </a:r>
          </a:p>
        </p:txBody>
      </p:sp>
    </p:spTree>
  </p:cSld>
  <p:clrMapOvr>
    <a:masterClrMapping/>
  </p:clrMapOvr>
</p:sld>
</file>

<file path=ppt/slides/slide11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221 — Cold-start problem</a:t>
            </a:r>
          </a:p>
        </p:txBody>
      </p:sp>
    </p:spTree>
  </p:cSld>
  <p:clrMapOvr>
    <a:masterClrMapping/>
  </p:clrMapOvr>
</p:sld>
</file>

<file path=ppt/slides/slide11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221 — Cold-start problem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6 — Sistemas de Recomendación · Fuente: Schein, Popescul, Ungar, Pennock, Methods and Metrics for Cold-Start Recommendations (SIGIR 2002) + Aggarwal cap. 13.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Cuándo un user o item es "nuevo" (0 interacciones), CF (Clase 216-217) no funciona. Estrategias concretas para los 3 tipos de cold-start: user cold-start (onboarding), item cold-start (catalog launch), system cold-start (lanzamiento del producto). Las estrategias correctas son la diferencia entre un recomendador útil desde el día 1 vs uno inútil hasta el mes 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user cold-start (usuario nuevo), item cold-start (item nuevo), system cold-start (todo nuevo).</a:t>
            </a:r>
          </a:p>
          <a:p>
            <a:pPr>
              <a:spcAft>
                <a:spcPts val="800"/>
              </a:spcAft>
              <a:defRPr sz="1400" b="0">
                <a:solidFill>
                  <a:srgbClr val="0F172A"/>
                </a:solidFill>
                <a:latin typeface="Segoe UI"/>
              </a:defRPr>
            </a:pPr>
            <a:r>
              <a:rPr sz="1400" b="0">
                <a:solidFill>
                  <a:srgbClr val="0F172A"/>
                </a:solidFill>
                <a:latin typeface="Segoe UI"/>
              </a:rPr>
              <a:t>• Aplicar popularity fallback con shrinkage Bayesiano ((c + m × C) / (n + m)) para users sin historia.</a:t>
            </a:r>
          </a:p>
          <a:p>
            <a:pPr>
              <a:spcAft>
                <a:spcPts val="800"/>
              </a:spcAft>
              <a:defRPr sz="1400" b="0">
                <a:solidFill>
                  <a:srgbClr val="0F172A"/>
                </a:solidFill>
                <a:latin typeface="Segoe UI"/>
              </a:defRPr>
            </a:pPr>
            <a:r>
              <a:rPr sz="1400" b="0">
                <a:solidFill>
                  <a:srgbClr val="0F172A"/>
                </a:solidFill>
                <a:latin typeface="Segoe UI"/>
              </a:rPr>
              <a:t>• Diseñar onboarding explícito (pedir N preferencias antes de personalizar).</a:t>
            </a:r>
          </a:p>
          <a:p>
            <a:pPr>
              <a:spcAft>
                <a:spcPts val="800"/>
              </a:spcAft>
              <a:defRPr sz="1400" b="0">
                <a:solidFill>
                  <a:srgbClr val="0F172A"/>
                </a:solidFill>
                <a:latin typeface="Segoe UI"/>
              </a:defRPr>
            </a:pPr>
            <a:r>
              <a:rPr sz="1400" b="0">
                <a:solidFill>
                  <a:srgbClr val="0F172A"/>
                </a:solidFill>
                <a:latin typeface="Segoe UI"/>
              </a:rPr>
              <a:t>• Usar content features (Clase 218) para items nuevos.</a:t>
            </a:r>
          </a:p>
          <a:p>
            <a:pPr>
              <a:spcAft>
                <a:spcPts val="800"/>
              </a:spcAft>
              <a:defRPr sz="1400" b="0">
                <a:solidFill>
                  <a:srgbClr val="0F172A"/>
                </a:solidFill>
                <a:latin typeface="Segoe UI"/>
              </a:defRPr>
            </a:pPr>
            <a:r>
              <a:rPr sz="1400" b="0">
                <a:solidFill>
                  <a:srgbClr val="0F172A"/>
                </a:solidFill>
                <a:latin typeface="Segoe UI"/>
              </a:rPr>
              <a:t>• Aplicar exploration-exploitation con bandits (epsilon-greedy, Thompson sampling) para users mid-cold-start.</a:t>
            </a:r>
          </a:p>
        </p:txBody>
      </p:sp>
    </p:spTree>
  </p:cSld>
  <p:clrMapOvr>
    <a:masterClrMapping/>
  </p:clrMapOvr>
</p:sld>
</file>

<file path=ppt/slides/slide11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221 — Cold-start problem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3 tipos de cold-start</a:t>
            </a:r>
          </a:p>
          <a:p>
            <a:pPr>
              <a:spcAft>
                <a:spcPts val="1000"/>
              </a:spcAft>
              <a:defRPr sz="1600" b="0">
                <a:solidFill>
                  <a:srgbClr val="0F172A"/>
                </a:solidFill>
                <a:latin typeface="Segoe UI"/>
              </a:defRPr>
            </a:pPr>
            <a:r>
              <a:rPr sz="1600" b="0">
                <a:solidFill>
                  <a:srgbClr val="0F172A"/>
                </a:solidFill>
                <a:latin typeface="Segoe UI"/>
              </a:rPr>
              <a:t>• Popularity fallback</a:t>
            </a:r>
          </a:p>
          <a:p>
            <a:pPr>
              <a:spcAft>
                <a:spcPts val="1000"/>
              </a:spcAft>
              <a:defRPr sz="1600" b="0">
                <a:solidFill>
                  <a:srgbClr val="0F172A"/>
                </a:solidFill>
                <a:latin typeface="Segoe UI"/>
              </a:defRPr>
            </a:pPr>
            <a:r>
              <a:rPr sz="1600" b="0">
                <a:solidFill>
                  <a:srgbClr val="0F172A"/>
                </a:solidFill>
                <a:latin typeface="Segoe UI"/>
              </a:rPr>
              <a:t>• Bayesian shrinkage para popularity</a:t>
            </a:r>
          </a:p>
          <a:p>
            <a:pPr>
              <a:spcAft>
                <a:spcPts val="1000"/>
              </a:spcAft>
              <a:defRPr sz="1600" b="0">
                <a:solidFill>
                  <a:srgbClr val="0F172A"/>
                </a:solidFill>
                <a:latin typeface="Segoe UI"/>
              </a:defRPr>
            </a:pPr>
            <a:r>
              <a:rPr sz="1600" b="0">
                <a:solidFill>
                  <a:srgbClr val="0F172A"/>
                </a:solidFill>
                <a:latin typeface="Segoe UI"/>
              </a:rPr>
              <a:t>• Onboarding: preguntar al user</a:t>
            </a:r>
          </a:p>
          <a:p>
            <a:pPr>
              <a:spcAft>
                <a:spcPts val="1000"/>
              </a:spcAft>
              <a:defRPr sz="1600" b="0">
                <a:solidFill>
                  <a:srgbClr val="0F172A"/>
                </a:solidFill>
                <a:latin typeface="Segoe UI"/>
              </a:defRPr>
            </a:pPr>
            <a:r>
              <a:rPr sz="1600" b="0">
                <a:solidFill>
                  <a:srgbClr val="0F172A"/>
                </a:solidFill>
                <a:latin typeface="Segoe UI"/>
              </a:rPr>
              <a:t>• Content-based para item cold-start</a:t>
            </a:r>
          </a:p>
          <a:p>
            <a:pPr>
              <a:spcAft>
                <a:spcPts val="1000"/>
              </a:spcAft>
              <a:defRPr sz="1600" b="0">
                <a:solidFill>
                  <a:srgbClr val="0F172A"/>
                </a:solidFill>
                <a:latin typeface="Segoe UI"/>
              </a:defRPr>
            </a:pPr>
            <a:r>
              <a:rPr sz="1600" b="0">
                <a:solidFill>
                  <a:srgbClr val="0F172A"/>
                </a:solidFill>
                <a:latin typeface="Segoe UI"/>
              </a:rPr>
              <a:t>• Bandits para explorar</a:t>
            </a:r>
          </a:p>
        </p:txBody>
      </p:sp>
    </p:spTree>
  </p:cSld>
  <p:clrMapOvr>
    <a:masterClrMapping/>
  </p:clrMapOvr>
</p:sld>
</file>

<file path=ppt/slides/slide11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221 — Cold-start problem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Estrategias para users/items sin historia. Demos sintéticos.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Items con n_ratings y mean_rating distintos</a:t>
            </a:r>
          </a:p>
          <a:p>
            <a:pPr>
              <a:defRPr sz="1200" b="0">
                <a:solidFill>
                  <a:srgbClr val="F8FAFC"/>
                </a:solidFill>
                <a:latin typeface="Courier New"/>
              </a:defRPr>
            </a:pPr>
            <a:r>
              <a:rPr sz="1200" b="0">
                <a:solidFill>
                  <a:srgbClr val="F8FAFC"/>
                </a:solidFill>
                <a:latin typeface="Courier New"/>
              </a:rPr>
              <a:t>items = pd.DataFrame({</a:t>
            </a:r>
          </a:p>
          <a:p>
            <a:pPr>
              <a:defRPr sz="1200" b="0">
                <a:solidFill>
                  <a:srgbClr val="F8FAFC"/>
                </a:solidFill>
                <a:latin typeface="Courier New"/>
              </a:defRPr>
            </a:pPr>
            <a:r>
              <a:rPr sz="1200" b="0">
                <a:solidFill>
                  <a:srgbClr val="F8FAFC"/>
                </a:solidFill>
                <a:latin typeface="Courier New"/>
              </a:rPr>
              <a:t>    'item': range(1, 11),</a:t>
            </a:r>
          </a:p>
          <a:p>
            <a:pPr>
              <a:defRPr sz="1200" b="0">
                <a:solidFill>
                  <a:srgbClr val="F8FAFC"/>
                </a:solidFill>
                <a:latin typeface="Courier New"/>
              </a:defRPr>
            </a:pPr>
            <a:r>
              <a:rPr sz="1200" b="0">
                <a:solidFill>
                  <a:srgbClr val="F8FAFC"/>
                </a:solidFill>
                <a:latin typeface="Courier New"/>
              </a:rPr>
              <a:t>    'n':    [2, 5, 10, 50, 100, 500, 1000, 1500, 3, 1],</a:t>
            </a:r>
          </a:p>
          <a:p>
            <a:pPr>
              <a:defRPr sz="1200" b="0">
                <a:solidFill>
                  <a:srgbClr val="F8FAFC"/>
                </a:solidFill>
                <a:latin typeface="Courier New"/>
              </a:defRPr>
            </a:pPr>
            <a:r>
              <a:rPr sz="1200" b="0">
                <a:solidFill>
                  <a:srgbClr val="F8FAFC"/>
                </a:solidFill>
                <a:latin typeface="Courier New"/>
              </a:rPr>
              <a:t>    'mean': [5.0, 4.8, 4.5, 4.4, 4.3, 4.2, 4.1, 4.0, 5.0, 5.0],</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items['naive_score'] = items['mean']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Popularity vanilla: ordenar por mean → ganan items con 1-2 ratings 5/5 (overconfident)</a:t>
            </a:r>
          </a:p>
          <a:p>
            <a:pPr>
              <a:defRPr sz="1200" b="0">
                <a:solidFill>
                  <a:srgbClr val="F8FAFC"/>
                </a:solidFill>
                <a:latin typeface="Courier New"/>
              </a:defRPr>
            </a:pPr>
            <a:r>
              <a:rPr sz="1200" b="0">
                <a:solidFill>
                  <a:srgbClr val="F8FAFC"/>
                </a:solidFill>
                <a:latin typeface="Courier New"/>
              </a:rPr>
              <a:t>print('--- Popularity vanilla (por mean) ---')</a:t>
            </a:r>
          </a:p>
          <a:p>
            <a:pPr>
              <a:defRPr sz="1200" b="0">
                <a:solidFill>
                  <a:srgbClr val="F8FAFC"/>
                </a:solidFill>
                <a:latin typeface="Courier New"/>
              </a:defRPr>
            </a:pPr>
            <a:r>
              <a:rPr sz="1200" b="0">
                <a:solidFill>
                  <a:srgbClr val="F8FAFC"/>
                </a:solidFill>
                <a:latin typeface="Courier New"/>
              </a:rPr>
              <a:t>print(items.sort_values('naive_score', ascending=False).head(5).to_string(index=False))</a:t>
            </a:r>
          </a:p>
        </p:txBody>
      </p:sp>
    </p:spTree>
  </p:cSld>
  <p:clrMapOvr>
    <a:masterClrMapping/>
  </p:clrMapOvr>
</p:sld>
</file>

<file path=ppt/slides/slide11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221 — Cold-start problem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Popularity baseline: rankear items por n_ratings.</a:t>
            </a:r>
          </a:p>
          <a:p>
            <a:pPr>
              <a:spcAft>
                <a:spcPts val="800"/>
              </a:spcAft>
              <a:defRPr sz="1400" b="0">
                <a:solidFill>
                  <a:srgbClr val="0F172A"/>
                </a:solidFill>
                <a:latin typeface="Segoe UI"/>
              </a:defRPr>
            </a:pPr>
            <a:r>
              <a:rPr sz="1400" b="0">
                <a:solidFill>
                  <a:srgbClr val="0F172A"/>
                </a:solidFill>
                <a:latin typeface="Segoe UI"/>
              </a:rPr>
              <a:t>• Bayesian shrinkage: implementar (sum + m × C) / (n + m) con m=10, C=mean_rating.</a:t>
            </a:r>
          </a:p>
          <a:p>
            <a:pPr>
              <a:spcAft>
                <a:spcPts val="800"/>
              </a:spcAft>
              <a:defRPr sz="1400" b="0">
                <a:solidFill>
                  <a:srgbClr val="0F172A"/>
                </a:solidFill>
                <a:latin typeface="Segoe UI"/>
              </a:defRPr>
            </a:pPr>
            <a:r>
              <a:rPr sz="1400" b="0">
                <a:solidFill>
                  <a:srgbClr val="0F172A"/>
                </a:solidFill>
                <a:latin typeface="Segoe UI"/>
              </a:rPr>
              <a:t>• Onboarding 3 géneros: simular que user nuevo elige ["Action", "Sci-Fi", "Comedy"].</a:t>
            </a:r>
          </a:p>
          <a:p>
            <a:pPr>
              <a:spcAft>
                <a:spcPts val="800"/>
              </a:spcAft>
              <a:defRPr sz="1400" b="0">
                <a:solidFill>
                  <a:srgbClr val="0F172A"/>
                </a:solidFill>
                <a:latin typeface="Segoe UI"/>
              </a:defRPr>
            </a:pPr>
            <a:r>
              <a:rPr sz="1400" b="0">
                <a:solidFill>
                  <a:srgbClr val="0F172A"/>
                </a:solidFill>
                <a:latin typeface="Segoe UI"/>
              </a:rPr>
              <a:t>• Item cold-start: agregar 10 movies nuevas con descripción pero 0 ratings.</a:t>
            </a:r>
          </a:p>
          <a:p>
            <a:pPr>
              <a:spcAft>
                <a:spcPts val="800"/>
              </a:spcAft>
              <a:defRPr sz="1400" b="0">
                <a:solidFill>
                  <a:srgbClr val="0F172A"/>
                </a:solidFill>
                <a:latin typeface="Segoe UI"/>
              </a:defRPr>
            </a:pPr>
            <a:r>
              <a:rPr sz="1400" b="0">
                <a:solidFill>
                  <a:srgbClr val="0F172A"/>
                </a:solidFill>
                <a:latin typeface="Segoe UI"/>
              </a:rPr>
              <a:t>• Epsilon-greedy: en cada slot del top-10, con prob ε=0.1 recomendar item random (explore), con prob 0.9 recomendar el "best" del modelo (exploit).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Recomendador full con manejo explícito de cold-start:</a:t>
            </a:r>
          </a:p>
          <a:p>
            <a:pPr>
              <a:spcAft>
                <a:spcPts val="800"/>
              </a:spcAft>
              <a:defRPr sz="1400" b="0">
                <a:solidFill>
                  <a:srgbClr val="0F172A"/>
                </a:solidFill>
                <a:latin typeface="Segoe UI"/>
              </a:defRPr>
            </a:pPr>
            <a:r>
              <a:rPr sz="1400" b="0">
                <a:solidFill>
                  <a:srgbClr val="0F172A"/>
                </a:solidFill>
                <a:latin typeface="Segoe UI"/>
              </a:rPr>
              <a:t>• User nuevo: onboarding (elegir géneros) → content-based.</a:t>
            </a:r>
          </a:p>
          <a:p>
            <a:pPr>
              <a:spcAft>
                <a:spcPts val="800"/>
              </a:spcAft>
              <a:defRPr sz="1400" b="0">
                <a:solidFill>
                  <a:srgbClr val="0F172A"/>
                </a:solidFill>
                <a:latin typeface="Segoe UI"/>
              </a:defRPr>
            </a:pPr>
            <a:r>
              <a:rPr sz="1400" b="0">
                <a:solidFill>
                  <a:srgbClr val="0F172A"/>
                </a:solidFill>
                <a:latin typeface="Segoe UI"/>
              </a:rPr>
              <a:t>• User con ≤5 interactions: weighted hybrid con α bajo (más content).</a:t>
            </a:r>
          </a:p>
          <a:p>
            <a:pPr>
              <a:spcAft>
                <a:spcPts val="800"/>
              </a:spcAft>
              <a:defRPr sz="1400" b="0">
                <a:solidFill>
                  <a:srgbClr val="0F172A"/>
                </a:solidFill>
                <a:latin typeface="Segoe UI"/>
              </a:defRPr>
            </a:pPr>
            <a:r>
              <a:rPr sz="1400" b="0">
                <a:solidFill>
                  <a:srgbClr val="0F172A"/>
                </a:solidFill>
                <a:latin typeface="Segoe UI"/>
              </a:rPr>
              <a:t>• User maduro: CF puro.</a:t>
            </a:r>
          </a:p>
          <a:p>
            <a:pPr>
              <a:spcAft>
                <a:spcPts val="800"/>
              </a:spcAft>
              <a:defRPr sz="1400" b="0">
                <a:solidFill>
                  <a:srgbClr val="0F172A"/>
                </a:solidFill>
                <a:latin typeface="Segoe UI"/>
              </a:defRPr>
            </a:pPr>
            <a:r>
              <a:rPr sz="1400" b="0">
                <a:solidFill>
                  <a:srgbClr val="0F172A"/>
                </a:solidFill>
                <a:latin typeface="Segoe UI"/>
              </a:rPr>
              <a:t>• Item nuevo: content-based hasta acumular 10 ratings, después ALS.</a:t>
            </a:r>
          </a:p>
        </p:txBody>
      </p:sp>
    </p:spTree>
  </p:cSld>
  <p:clrMapOvr>
    <a:masterClrMapping/>
  </p:clrMapOvr>
</p:sld>
</file>

<file path=ppt/slides/slide11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222 — Librerías: LightFM, Implicit, Surprise</a:t>
            </a:r>
          </a:p>
        </p:txBody>
      </p:sp>
    </p:spTree>
  </p:cSld>
  <p:clrMapOvr>
    <a:masterClrMapping/>
  </p:clrMapOvr>
</p:sld>
</file>

<file path=ppt/slides/slide11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222 — Librerías: LightFM, Implicit, Surprise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6 — Sistemas de Recomendación · Fuente: docs oficiales Surprise + LightFM + Implicit + TensorFlow Recommenders.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las librerías de recomendación que vas a usar en la vida real sin tener que reimplementar lo de Clases 216-221. Decidir cuál usar según: tipo de feedback (explicit/implicit), tamaño del dataset, features disponibles, integración con stack.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Surprise para algoritmos clásicos explicit (KNNBasic, SVD, SVD++, NMF, Co-Clustering) con API tipo sklearn.</a:t>
            </a:r>
          </a:p>
          <a:p>
            <a:pPr>
              <a:spcAft>
                <a:spcPts val="800"/>
              </a:spcAft>
              <a:defRPr sz="1400" b="0">
                <a:solidFill>
                  <a:srgbClr val="0F172A"/>
                </a:solidFill>
                <a:latin typeface="Segoe UI"/>
              </a:defRPr>
            </a:pPr>
            <a:r>
              <a:rPr sz="1400" b="0">
                <a:solidFill>
                  <a:srgbClr val="0F172A"/>
                </a:solidFill>
                <a:latin typeface="Segoe UI"/>
              </a:rPr>
              <a:t>• Usar Implicit para ALS implicit, BPR, Logistic MF — la opción más rápida en Python para datasets grandes.</a:t>
            </a:r>
          </a:p>
          <a:p>
            <a:pPr>
              <a:spcAft>
                <a:spcPts val="800"/>
              </a:spcAft>
              <a:defRPr sz="1400" b="0">
                <a:solidFill>
                  <a:srgbClr val="0F172A"/>
                </a:solidFill>
                <a:latin typeface="Segoe UI"/>
              </a:defRPr>
            </a:pPr>
            <a:r>
              <a:rPr sz="1400" b="0">
                <a:solidFill>
                  <a:srgbClr val="0F172A"/>
                </a:solidFill>
                <a:latin typeface="Segoe UI"/>
              </a:rPr>
              <a:t>• Usar LightFM cuando tenés features (Clase 219 hybrid).</a:t>
            </a:r>
          </a:p>
          <a:p>
            <a:pPr>
              <a:spcAft>
                <a:spcPts val="800"/>
              </a:spcAft>
              <a:defRPr sz="1400" b="0">
                <a:solidFill>
                  <a:srgbClr val="0F172A"/>
                </a:solidFill>
                <a:latin typeface="Segoe UI"/>
              </a:defRPr>
            </a:pPr>
            <a:r>
              <a:rPr sz="1400" b="0">
                <a:solidFill>
                  <a:srgbClr val="0F172A"/>
                </a:solidFill>
                <a:latin typeface="Segoe UI"/>
              </a:rPr>
              <a:t>• Conocer TensorFlow Recommenders y Spotlight (PyTorch) para arquitecturas deep (two-tower, sequential).</a:t>
            </a:r>
          </a:p>
          <a:p>
            <a:pPr>
              <a:spcAft>
                <a:spcPts val="800"/>
              </a:spcAft>
              <a:defRPr sz="1400" b="0">
                <a:solidFill>
                  <a:srgbClr val="0F172A"/>
                </a:solidFill>
                <a:latin typeface="Segoe UI"/>
              </a:defRPr>
            </a:pPr>
            <a:r>
              <a:rPr sz="1400" b="0">
                <a:solidFill>
                  <a:srgbClr val="0F172A"/>
                </a:solidFill>
                <a:latin typeface="Segoe UI"/>
              </a:rPr>
              <a:t>• Decidir librería según: explicit vs implicit, escala, features, deployment target.</a:t>
            </a:r>
          </a:p>
        </p:txBody>
      </p:sp>
    </p:spTree>
  </p:cSld>
  <p:clrMapOvr>
    <a:masterClrMapping/>
  </p:clrMapOvr>
</p:sld>
</file>

<file path=ppt/slides/slide11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222 — Librerías: LightFM, Implicit, Surprise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Surprise: explicit, didáctica</a:t>
            </a:r>
          </a:p>
          <a:p>
            <a:pPr>
              <a:spcAft>
                <a:spcPts val="1000"/>
              </a:spcAft>
              <a:defRPr sz="1600" b="0">
                <a:solidFill>
                  <a:srgbClr val="0F172A"/>
                </a:solidFill>
                <a:latin typeface="Segoe UI"/>
              </a:defRPr>
            </a:pPr>
            <a:r>
              <a:rPr sz="1600" b="0">
                <a:solidFill>
                  <a:srgbClr val="0F172A"/>
                </a:solidFill>
                <a:latin typeface="Segoe UI"/>
              </a:rPr>
              <a:t>• Implicit: ALS/BPR Cython</a:t>
            </a:r>
          </a:p>
          <a:p>
            <a:pPr>
              <a:spcAft>
                <a:spcPts val="1000"/>
              </a:spcAft>
              <a:defRPr sz="1600" b="0">
                <a:solidFill>
                  <a:srgbClr val="0F172A"/>
                </a:solidFill>
                <a:latin typeface="Segoe UI"/>
              </a:defRPr>
            </a:pPr>
            <a:r>
              <a:rPr sz="1600" b="0">
                <a:solidFill>
                  <a:srgbClr val="0F172A"/>
                </a:solidFill>
                <a:latin typeface="Segoe UI"/>
              </a:rPr>
              <a:t>• LightFM: CF + features</a:t>
            </a:r>
          </a:p>
          <a:p>
            <a:pPr>
              <a:spcAft>
                <a:spcPts val="1000"/>
              </a:spcAft>
              <a:defRPr sz="1600" b="0">
                <a:solidFill>
                  <a:srgbClr val="0F172A"/>
                </a:solidFill>
                <a:latin typeface="Segoe UI"/>
              </a:defRPr>
            </a:pPr>
            <a:r>
              <a:rPr sz="1600" b="0">
                <a:solidFill>
                  <a:srgbClr val="0F172A"/>
                </a:solidFill>
                <a:latin typeface="Segoe UI"/>
              </a:rPr>
              <a:t>• TF Recommenders + Spotlight</a:t>
            </a:r>
          </a:p>
          <a:p>
            <a:pPr>
              <a:spcAft>
                <a:spcPts val="1000"/>
              </a:spcAft>
              <a:defRPr sz="1600" b="0">
                <a:solidFill>
                  <a:srgbClr val="0F172A"/>
                </a:solidFill>
                <a:latin typeface="Segoe UI"/>
              </a:defRPr>
            </a:pPr>
            <a:r>
              <a:rPr sz="1600" b="0">
                <a:solidFill>
                  <a:srgbClr val="0F172A"/>
                </a:solidFill>
                <a:latin typeface="Segoe UI"/>
              </a:rPr>
              <a:t>• Spark pyspark.ml.recommendation.ALS</a:t>
            </a:r>
          </a:p>
          <a:p>
            <a:pPr>
              <a:spcAft>
                <a:spcPts val="1000"/>
              </a:spcAft>
              <a:defRPr sz="1600" b="0">
                <a:solidFill>
                  <a:srgbClr val="0F172A"/>
                </a:solidFill>
                <a:latin typeface="Segoe UI"/>
              </a:defRPr>
            </a:pPr>
            <a:r>
              <a:rPr sz="1600" b="0">
                <a:solidFill>
                  <a:srgbClr val="0F172A"/>
                </a:solidFill>
                <a:latin typeface="Segoe UI"/>
              </a:rPr>
              <a:t>• Vector DBs (FAISS, Milvus, Pinecone)</a:t>
            </a:r>
          </a:p>
        </p:txBody>
      </p:sp>
    </p:spTree>
  </p:cSld>
  <p:clrMapOvr>
    <a:masterClrMapping/>
  </p:clrMapOvr>
</p:sld>
</file>

<file path=ppt/slides/slide11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222 — Librerías: LightFM, Implicit, Surprise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Mismo dataset sintético, las 3 librerías. NDCG@10 + tiempo de entrenamiento. Requiere: pip install scikit-surprise implicit lightfm scipy.</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os.environ['OPENBLAS_NUM_THREADS'] = '1'   # evitar warning de implicit</a:t>
            </a:r>
          </a:p>
          <a:p>
            <a:pPr>
              <a:defRPr sz="1200" b="0">
                <a:solidFill>
                  <a:srgbClr val="F8FAFC"/>
                </a:solidFill>
                <a:latin typeface="Courier New"/>
              </a:defRPr>
            </a:pPr>
            <a:r>
              <a:rPr sz="1200" b="0">
                <a:solidFill>
                  <a:srgbClr val="F8FAFC"/>
                </a:solidFill>
                <a:latin typeface="Courier New"/>
              </a:rPr>
              <a:t>import numpy as np, pandas as pd, time</a:t>
            </a:r>
          </a:p>
          <a:p>
            <a:pPr>
              <a:defRPr sz="1200" b="0">
                <a:solidFill>
                  <a:srgbClr val="F8FAFC"/>
                </a:solidFill>
                <a:latin typeface="Courier New"/>
              </a:defRPr>
            </a:pPr>
            <a:r>
              <a:rPr sz="1200" b="0">
                <a:solidFill>
                  <a:srgbClr val="F8FAFC"/>
                </a:solidFill>
                <a:latin typeface="Courier New"/>
              </a:rPr>
              <a:t>from scipy.sparse import csr_matrix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n_users, n_items = 500, 300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Generar ratings sintéticos</a:t>
            </a:r>
          </a:p>
          <a:p>
            <a:pPr>
              <a:defRPr sz="1200" b="0">
                <a:solidFill>
                  <a:srgbClr val="F8FAFC"/>
                </a:solidFill>
                <a:latin typeface="Courier New"/>
              </a:defRPr>
            </a:pPr>
            <a:r>
              <a:rPr sz="1200" b="0">
                <a:solidFill>
                  <a:srgbClr val="F8FAFC"/>
                </a:solidFill>
                <a:latin typeface="Courier New"/>
              </a:rPr>
              <a:t>P_true = rng.normal(0, 1, (n_users, 8))</a:t>
            </a:r>
          </a:p>
          <a:p>
            <a:pPr>
              <a:defRPr sz="1200" b="0">
                <a:solidFill>
                  <a:srgbClr val="F8FAFC"/>
                </a:solidFill>
                <a:latin typeface="Courier New"/>
              </a:defRPr>
            </a:pPr>
            <a:r>
              <a:rPr sz="1200" b="0">
                <a:solidFill>
                  <a:srgbClr val="F8FAFC"/>
                </a:solidFill>
                <a:latin typeface="Courier New"/>
              </a:rPr>
              <a:t>Q_true = rng.normal(0, 1, (n_items, 8))</a:t>
            </a:r>
          </a:p>
          <a:p>
            <a:pPr>
              <a:defRPr sz="1200" b="0">
                <a:solidFill>
                  <a:srgbClr val="F8FAFC"/>
                </a:solidFill>
                <a:latin typeface="Courier New"/>
              </a:defRPr>
            </a:pPr>
            <a:r>
              <a:rPr sz="1200" b="0">
                <a:solidFill>
                  <a:srgbClr val="F8FAFC"/>
                </a:solidFill>
                <a:latin typeface="Courier New"/>
              </a:rPr>
              <a:t>scores_true = P_true @ Q_true.T</a:t>
            </a:r>
          </a:p>
          <a:p>
            <a:pPr>
              <a:defRPr sz="1200" b="0">
                <a:solidFill>
                  <a:srgbClr val="F8FAFC"/>
                </a:solidFill>
                <a:latin typeface="Courier New"/>
              </a:defRPr>
            </a:pPr>
            <a:r>
              <a:rPr sz="1200" b="0">
                <a:solidFill>
                  <a:srgbClr val="F8FAFC"/>
                </a:solidFill>
                <a:latin typeface="Courier New"/>
              </a:rPr>
              <a:t>noise = rng.normal(0, 0.3, scores_true.shape)</a:t>
            </a:r>
          </a:p>
          <a:p>
            <a:pPr>
              <a:defRPr sz="1200" b="0">
                <a:solidFill>
                  <a:srgbClr val="F8FAFC"/>
                </a:solidFill>
                <a:latin typeface="Courier New"/>
              </a:defRPr>
            </a:pPr>
            <a:r>
              <a:rPr sz="1200" b="0">
                <a:solidFill>
                  <a:srgbClr val="F8FAFC"/>
                </a:solidFill>
                <a:latin typeface="Courier New"/>
              </a:rPr>
              <a:t>interact_prob = 1 / (1 + np.exp(-(scores_true + noise)))</a:t>
            </a:r>
          </a:p>
          <a:p>
            <a:pPr>
              <a:defRPr sz="1200" b="0">
                <a:solidFill>
                  <a:srgbClr val="F8FAFC"/>
                </a:solidFill>
                <a:latin typeface="Courier New"/>
              </a:defRPr>
            </a:pPr>
            <a:r>
              <a:rPr sz="1200" b="0">
                <a:solidFill>
                  <a:srgbClr val="F8FAFC"/>
                </a:solidFill>
                <a:latin typeface="Courier New"/>
              </a:rPr>
              <a:t>R = (rng.random(scores_true.shape) &lt; 0.15 * interact_prob).astype(float)</a:t>
            </a:r>
          </a:p>
          <a:p>
            <a:pPr>
              <a:defRPr sz="1200" b="0">
                <a:solidFill>
                  <a:srgbClr val="F8FAFC"/>
                </a:solidFill>
                <a:latin typeface="Courier New"/>
              </a:defRPr>
            </a:pPr>
            <a:r>
              <a:rPr sz="1200" b="0">
                <a:solidFill>
                  <a:srgbClr val="F8FAFC"/>
                </a:solidFill>
                <a:latin typeface="Courier New"/>
              </a:rPr>
              <a:t>ratings = np.where(R &gt; 0, rng.integers(3, 6, R.shape), 0).astype(int)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df = pd.DataFrame([</a:t>
            </a:r>
          </a:p>
          <a:p>
            <a:pPr>
              <a:defRPr sz="1200" b="0">
                <a:solidFill>
                  <a:srgbClr val="F8FAFC"/>
                </a:solidFill>
                <a:latin typeface="Courier New"/>
              </a:defRPr>
            </a:pPr>
            <a:r>
              <a:rPr sz="1200" b="0">
                <a:solidFill>
                  <a:srgbClr val="F8FAFC"/>
                </a:solidFill>
                <a:latin typeface="Courier New"/>
              </a:rPr>
              <a:t>    {'user_id': u, 'item_id': i, 'rating': int(ratings[u, i])}</a:t>
            </a:r>
          </a:p>
          <a:p>
            <a:pPr>
              <a:defRPr sz="1200" b="0">
                <a:solidFill>
                  <a:srgbClr val="F8FAFC"/>
                </a:solidFill>
                <a:latin typeface="Courier New"/>
              </a:defRPr>
            </a:pPr>
            <a:r>
              <a:rPr sz="1200" b="0">
                <a:solidFill>
                  <a:srgbClr val="F8FAFC"/>
                </a:solidFill>
                <a:latin typeface="Courier New"/>
              </a:rPr>
              <a:t>    for u in range(n_users) for i in range(n_items) if ratings[u, i] &gt; 0</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1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222 — Librerías: LightFM, Implicit, Surprise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Surprise SVD: from surprise import SVD, Dataset; data = Dataset.load_builtin('ml-100k'); algo = SVD(); cross_validate(algo, data, measures=['RMSE','MAE'], cv=5).</a:t>
            </a:r>
          </a:p>
          <a:p>
            <a:pPr>
              <a:spcAft>
                <a:spcPts val="800"/>
              </a:spcAft>
              <a:defRPr sz="1400" b="0">
                <a:solidFill>
                  <a:srgbClr val="0F172A"/>
                </a:solidFill>
                <a:latin typeface="Segoe UI"/>
              </a:defRPr>
            </a:pPr>
            <a:r>
              <a:rPr sz="1400" b="0">
                <a:solidFill>
                  <a:srgbClr val="0F172A"/>
                </a:solidFill>
                <a:latin typeface="Segoe UI"/>
              </a:rPr>
              <a:t>• Implicit ALS: model = implicit.als.AlternatingLeastSquares(factors=64, regularization=0.05, iterations=20).</a:t>
            </a:r>
          </a:p>
          <a:p>
            <a:pPr>
              <a:spcAft>
                <a:spcPts val="800"/>
              </a:spcAft>
              <a:defRPr sz="1400" b="0">
                <a:solidFill>
                  <a:srgbClr val="0F172A"/>
                </a:solidFill>
                <a:latin typeface="Segoe UI"/>
              </a:defRPr>
            </a:pPr>
            <a:r>
              <a:rPr sz="1400" b="0">
                <a:solidFill>
                  <a:srgbClr val="0F172A"/>
                </a:solidFill>
                <a:latin typeface="Segoe UI"/>
              </a:rPr>
              <a:t>• Implicit BPR: mismo modelo pero implicit.bpr.BayesianPersonalizedRanking(factors=64).</a:t>
            </a:r>
          </a:p>
          <a:p>
            <a:pPr>
              <a:spcAft>
                <a:spcPts val="800"/>
              </a:spcAft>
              <a:defRPr sz="1400" b="0">
                <a:solidFill>
                  <a:srgbClr val="0F172A"/>
                </a:solidFill>
                <a:latin typeface="Segoe UI"/>
              </a:defRPr>
            </a:pPr>
            <a:r>
              <a:rPr sz="1400" b="0">
                <a:solidFill>
                  <a:srgbClr val="0F172A"/>
                </a:solidFill>
                <a:latin typeface="Segoe UI"/>
              </a:rPr>
              <a:t>• LightFM: LightFM(loss='warp', no_components=32).</a:t>
            </a:r>
          </a:p>
          <a:p>
            <a:pPr>
              <a:spcAft>
                <a:spcPts val="800"/>
              </a:spcAft>
              <a:defRPr sz="1400" b="0">
                <a:solidFill>
                  <a:srgbClr val="0F172A"/>
                </a:solidFill>
                <a:latin typeface="Segoe UI"/>
              </a:defRPr>
            </a:pPr>
            <a:r>
              <a:rPr sz="1400" b="0">
                <a:solidFill>
                  <a:srgbClr val="0F172A"/>
                </a:solidFill>
                <a:latin typeface="Segoe UI"/>
              </a:rPr>
              <a:t>• Benchmarking: mismo dataset, mismo split, las 4 librerías.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Comparativa rigurosa sobre MovieLens 1M:</a:t>
            </a:r>
          </a:p>
          <a:p>
            <a:pPr>
              <a:spcAft>
                <a:spcPts val="800"/>
              </a:spcAft>
              <a:defRPr sz="1400" b="0">
                <a:solidFill>
                  <a:srgbClr val="0F172A"/>
                </a:solidFill>
                <a:latin typeface="Segoe UI"/>
              </a:defRPr>
            </a:pPr>
            <a:r>
              <a:rPr sz="1400" b="0">
                <a:solidFill>
                  <a:srgbClr val="0F172A"/>
                </a:solidFill>
                <a:latin typeface="Segoe UI"/>
              </a:rPr>
              <a:t>• Surprise SVD</a:t>
            </a:r>
          </a:p>
          <a:p>
            <a:pPr>
              <a:spcAft>
                <a:spcPts val="800"/>
              </a:spcAft>
              <a:defRPr sz="1400" b="0">
                <a:solidFill>
                  <a:srgbClr val="0F172A"/>
                </a:solidFill>
                <a:latin typeface="Segoe UI"/>
              </a:defRPr>
            </a:pPr>
            <a:r>
              <a:rPr sz="1400" b="0">
                <a:solidFill>
                  <a:srgbClr val="0F172A"/>
                </a:solidFill>
                <a:latin typeface="Segoe UI"/>
              </a:rPr>
              <a:t>• Implicit ALS</a:t>
            </a:r>
          </a:p>
          <a:p>
            <a:pPr>
              <a:spcAft>
                <a:spcPts val="800"/>
              </a:spcAft>
              <a:defRPr sz="1400" b="0">
                <a:solidFill>
                  <a:srgbClr val="0F172A"/>
                </a:solidFill>
                <a:latin typeface="Segoe UI"/>
              </a:defRPr>
            </a:pPr>
            <a:r>
              <a:rPr sz="1400" b="0">
                <a:solidFill>
                  <a:srgbClr val="0F172A"/>
                </a:solidFill>
                <a:latin typeface="Segoe UI"/>
              </a:rPr>
              <a:t>• Implicit BPR</a:t>
            </a:r>
          </a:p>
          <a:p>
            <a:pPr>
              <a:spcAft>
                <a:spcPts val="800"/>
              </a:spcAft>
              <a:defRPr sz="1400" b="0">
                <a:solidFill>
                  <a:srgbClr val="0F172A"/>
                </a:solidFill>
                <a:latin typeface="Segoe UI"/>
              </a:defRPr>
            </a:pPr>
            <a:r>
              <a:rPr sz="1400" b="0">
                <a:solidFill>
                  <a:srgbClr val="0F172A"/>
                </a:solidFill>
                <a:latin typeface="Segoe UI"/>
              </a:rPr>
              <a:t>• LightFM WARP (con features)</a:t>
            </a:r>
          </a:p>
        </p:txBody>
      </p:sp>
    </p:spTree>
  </p:cSld>
  <p:clrMapOvr>
    <a:masterClrMapping/>
  </p:clrMapOvr>
</p:sld>
</file>

<file path=ppt/slides/slide11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7 — Ética, Fairness y Privacidad · 6 clases</a:t>
            </a:r>
          </a:p>
        </p:txBody>
      </p:sp>
    </p:spTree>
  </p:cSld>
  <p:clrMapOvr>
    <a:masterClrMapping/>
  </p:clrMapOvr>
</p:sld>
</file>

<file path=ppt/slides/slide11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223 — Tipos de sesgo algorítmico y orígenes</a:t>
            </a:r>
          </a:p>
        </p:txBody>
      </p:sp>
    </p:spTree>
  </p:cSld>
  <p:clrMapOvr>
    <a:masterClrMapping/>
  </p:clrMapOvr>
</p:sld>
</file>

<file path=ppt/slides/slide11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223 — Tipos de sesgo algorítmico y orígenes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7 — Ética, Fairness y Privacidad · Fuente: Suresh &amp; Guttag, A Framework for Understanding Sources of Harm throughout the ML Life Cycle (EAAMO 2021) + Barocas, Hardt, Narayanan, Fairness and Machine Learning (2023), caps. 1-2.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a nombrar y diagnosticar el origen del sesgo en un sistema ML antes de intentar mitigarlo. Un modelo "sesgado" no es un bug: es el resultado de decisiones tomadas en cada fase del life cycle (recolección, medición, modelado, evaluación, despliegue). Si no sabemos dónde entró el sesgo, no podemos elegir la mitigación correcta (Clases 225-227).</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los 6 tipos del framework Suresh-Guttag: histórico, representación, medición, agregación, evaluación, despliegue.</a:t>
            </a:r>
          </a:p>
          <a:p>
            <a:pPr>
              <a:spcAft>
                <a:spcPts val="800"/>
              </a:spcAft>
              <a:defRPr sz="1400" b="0">
                <a:solidFill>
                  <a:srgbClr val="0F172A"/>
                </a:solidFill>
                <a:latin typeface="Segoe UI"/>
              </a:defRPr>
            </a:pPr>
            <a:r>
              <a:rPr sz="1400" b="0">
                <a:solidFill>
                  <a:srgbClr val="0F172A"/>
                </a:solidFill>
                <a:latin typeface="Segoe UI"/>
              </a:rPr>
              <a:t>• Identificar el origen probable de un sesgo dado evidencia empírica (gap de accuracy entre subgrupos, drift, proxy-target gap).</a:t>
            </a:r>
          </a:p>
          <a:p>
            <a:pPr>
              <a:spcAft>
                <a:spcPts val="800"/>
              </a:spcAft>
              <a:defRPr sz="1400" b="0">
                <a:solidFill>
                  <a:srgbClr val="0F172A"/>
                </a:solidFill>
                <a:latin typeface="Segoe UI"/>
              </a:defRPr>
            </a:pPr>
            <a:r>
              <a:rPr sz="1400" b="0">
                <a:solidFill>
                  <a:srgbClr val="0F172A"/>
                </a:solidFill>
                <a:latin typeface="Segoe UI"/>
              </a:rPr>
              <a:t>• Reproducir el patrón de Gender Shades (Buolamwini &amp; Gebru 2018): accuracy alta global, accuracy baja en subgrupo minoritario.</a:t>
            </a:r>
          </a:p>
          <a:p>
            <a:pPr>
              <a:spcAft>
                <a:spcPts val="800"/>
              </a:spcAft>
              <a:defRPr sz="1400" b="0">
                <a:solidFill>
                  <a:srgbClr val="0F172A"/>
                </a:solidFill>
                <a:latin typeface="Segoe UI"/>
              </a:defRPr>
            </a:pPr>
            <a:r>
              <a:rPr sz="1400" b="0">
                <a:solidFill>
                  <a:srgbClr val="0F172A"/>
                </a:solidFill>
                <a:latin typeface="Segoe UI"/>
              </a:rPr>
              <a:t>• Reconocer Simpson's paradox y por qué un modelo único puede ser peor que un modelo por subgrupo.</a:t>
            </a:r>
          </a:p>
          <a:p>
            <a:pPr>
              <a:spcAft>
                <a:spcPts val="800"/>
              </a:spcAft>
              <a:defRPr sz="1400" b="0">
                <a:solidFill>
                  <a:srgbClr val="0F172A"/>
                </a:solidFill>
                <a:latin typeface="Segoe UI"/>
              </a:defRPr>
            </a:pPr>
            <a:r>
              <a:rPr sz="1400" b="0">
                <a:solidFill>
                  <a:srgbClr val="0F172A"/>
                </a:solidFill>
                <a:latin typeface="Segoe UI"/>
              </a:rPr>
              <a:t>• Justificar por qué fairness no es solo un problema del modelo — empieza en la definición de la tarea.</a:t>
            </a:r>
          </a:p>
        </p:txBody>
      </p:sp>
    </p:spTree>
  </p:cSld>
  <p:clrMapOvr>
    <a:masterClrMapping/>
  </p:clrMapOvr>
</p:sld>
</file>

<file path=ppt/slides/slide11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223 — Tipos de sesgo algorítmico y orígenes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Sesgo histórico</a:t>
            </a:r>
          </a:p>
          <a:p>
            <a:pPr>
              <a:spcAft>
                <a:spcPts val="1000"/>
              </a:spcAft>
              <a:defRPr sz="1600" b="0">
                <a:solidFill>
                  <a:srgbClr val="0F172A"/>
                </a:solidFill>
                <a:latin typeface="Segoe UI"/>
              </a:defRPr>
            </a:pPr>
            <a:r>
              <a:rPr sz="1600" b="0">
                <a:solidFill>
                  <a:srgbClr val="0F172A"/>
                </a:solidFill>
                <a:latin typeface="Segoe UI"/>
              </a:rPr>
              <a:t>• Sesgo de representación</a:t>
            </a:r>
          </a:p>
          <a:p>
            <a:pPr>
              <a:spcAft>
                <a:spcPts val="1000"/>
              </a:spcAft>
              <a:defRPr sz="1600" b="0">
                <a:solidFill>
                  <a:srgbClr val="0F172A"/>
                </a:solidFill>
                <a:latin typeface="Segoe UI"/>
              </a:defRPr>
            </a:pPr>
            <a:r>
              <a:rPr sz="1600" b="0">
                <a:solidFill>
                  <a:srgbClr val="0F172A"/>
                </a:solidFill>
                <a:latin typeface="Segoe UI"/>
              </a:rPr>
              <a:t>• Sesgo de medición</a:t>
            </a:r>
          </a:p>
          <a:p>
            <a:pPr>
              <a:spcAft>
                <a:spcPts val="1000"/>
              </a:spcAft>
              <a:defRPr sz="1600" b="0">
                <a:solidFill>
                  <a:srgbClr val="0F172A"/>
                </a:solidFill>
                <a:latin typeface="Segoe UI"/>
              </a:defRPr>
            </a:pPr>
            <a:r>
              <a:rPr sz="1600" b="0">
                <a:solidFill>
                  <a:srgbClr val="0F172A"/>
                </a:solidFill>
                <a:latin typeface="Segoe UI"/>
              </a:rPr>
              <a:t>• Sesgo de agregación</a:t>
            </a:r>
          </a:p>
          <a:p>
            <a:pPr>
              <a:spcAft>
                <a:spcPts val="1000"/>
              </a:spcAft>
              <a:defRPr sz="1600" b="0">
                <a:solidFill>
                  <a:srgbClr val="0F172A"/>
                </a:solidFill>
                <a:latin typeface="Segoe UI"/>
              </a:defRPr>
            </a:pPr>
            <a:r>
              <a:rPr sz="1600" b="0">
                <a:solidFill>
                  <a:srgbClr val="0F172A"/>
                </a:solidFill>
                <a:latin typeface="Segoe UI"/>
              </a:rPr>
              <a:t>• Sesgo de evaluación</a:t>
            </a:r>
          </a:p>
          <a:p>
            <a:pPr>
              <a:spcAft>
                <a:spcPts val="1000"/>
              </a:spcAft>
              <a:defRPr sz="1600" b="0">
                <a:solidFill>
                  <a:srgbClr val="0F172A"/>
                </a:solidFill>
                <a:latin typeface="Segoe UI"/>
              </a:defRPr>
            </a:pPr>
            <a:r>
              <a:rPr sz="1600" b="0">
                <a:solidFill>
                  <a:srgbClr val="0F172A"/>
                </a:solidFill>
                <a:latin typeface="Segoe UI"/>
              </a:rPr>
              <a:t>• Sesgo de despliegue</a:t>
            </a:r>
          </a:p>
        </p:txBody>
      </p:sp>
    </p:spTree>
  </p:cSld>
  <p:clrMapOvr>
    <a:masterClrMapping/>
  </p:clrMapOvr>
</p:sld>
</file>

<file path=ppt/slides/slide11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223 — Tipos de sesgo algorítmico y orígenes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Reproducimos los 6 tipos del framework Suresh-Guttag (2021) sobre un dataset de préstamos sintético. Requiere: pip install scikit-learn pandas numpy.</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sklearn.metrics import accuracy_score, roc_auc_score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 5000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grupo = rng.choice(['A', 'B'], size=N, p=[0.7, 0.3])</a:t>
            </a:r>
          </a:p>
          <a:p>
            <a:pPr>
              <a:defRPr sz="1200" b="0">
                <a:solidFill>
                  <a:srgbClr val="F8FAFC"/>
                </a:solidFill>
                <a:latin typeface="Courier New"/>
              </a:defRPr>
            </a:pPr>
            <a:r>
              <a:rPr sz="1200" b="0">
                <a:solidFill>
                  <a:srgbClr val="F8FAFC"/>
                </a:solidFill>
                <a:latin typeface="Courier New"/>
              </a:rPr>
              <a:t>ingreso = np.where(grupo == 'A', rng.normal(50, 15, N), rng.normal(35, 12, N))</a:t>
            </a:r>
          </a:p>
          <a:p>
            <a:pPr>
              <a:defRPr sz="1200" b="0">
                <a:solidFill>
                  <a:srgbClr val="F8FAFC"/>
                </a:solidFill>
                <a:latin typeface="Courier New"/>
              </a:defRPr>
            </a:pPr>
            <a:r>
              <a:rPr sz="1200" b="0">
                <a:solidFill>
                  <a:srgbClr val="F8FAFC"/>
                </a:solidFill>
                <a:latin typeface="Courier New"/>
              </a:rPr>
              <a:t>score_credito = np.where(grupo == 'A', rng.normal(700, 50, N), rng.normal(620, 60, N))</a:t>
            </a:r>
          </a:p>
          <a:p>
            <a:pPr>
              <a:defRPr sz="1200" b="0">
                <a:solidFill>
                  <a:srgbClr val="F8FAFC"/>
                </a:solidFill>
                <a:latin typeface="Courier New"/>
              </a:defRPr>
            </a:pPr>
            <a:r>
              <a:rPr sz="1200" b="0">
                <a:solidFill>
                  <a:srgbClr val="F8FAFC"/>
                </a:solidFill>
                <a:latin typeface="Courier New"/>
              </a:rPr>
              <a:t>zip_premium = np.where(grupo == 'A', rng.binomial(1, 0.6, N), rng.binomial(1, 0.2, 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capacidad_real = (ingreso &gt; 40).astype(int)</a:t>
            </a:r>
          </a:p>
          <a:p>
            <a:pPr>
              <a:defRPr sz="1200" b="0">
                <a:solidFill>
                  <a:srgbClr val="F8FAFC"/>
                </a:solidFill>
                <a:latin typeface="Courier New"/>
              </a:defRPr>
            </a:pPr>
            <a:r>
              <a:rPr sz="1200" b="0">
                <a:solidFill>
                  <a:srgbClr val="F8FAFC"/>
                </a:solidFill>
                <a:latin typeface="Courier New"/>
              </a:rPr>
              <a:t>sesgo_historico = np.where(grupo == 'A', 0.25, -0.25)</a:t>
            </a:r>
          </a:p>
          <a:p>
            <a:pPr>
              <a:defRPr sz="1200" b="0">
                <a:solidFill>
                  <a:srgbClr val="F8FAFC"/>
                </a:solidFill>
                <a:latin typeface="Courier New"/>
              </a:defRPr>
            </a:pPr>
            <a:r>
              <a:rPr sz="1200" b="0">
                <a:solidFill>
                  <a:srgbClr val="F8FAFC"/>
                </a:solidFill>
                <a:latin typeface="Courier New"/>
              </a:rPr>
              <a:t>p_aprobado = np.clip(0.5 + 0.3 * (capacidad_real - 0.5) + sesgo_historico, 0.05, 0.95)</a:t>
            </a:r>
          </a:p>
          <a:p>
            <a:pPr>
              <a:defRPr sz="1200" b="0">
                <a:solidFill>
                  <a:srgbClr val="F8FAFC"/>
                </a:solidFill>
                <a:latin typeface="Courier New"/>
              </a:defRPr>
            </a:pPr>
            <a:r>
              <a:rPr sz="1200" b="0">
                <a:solidFill>
                  <a:srgbClr val="F8FAFC"/>
                </a:solidFill>
                <a:latin typeface="Courier New"/>
              </a:rPr>
              <a:t>y = rng.binomial(1, p_aprobado)</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df = pd.DataFrame({'grupo': grupo, 'ingreso': ingreso, 'score': score_credito,</a:t>
            </a:r>
          </a:p>
          <a:p>
            <a:pPr>
              <a:defRPr sz="1200" b="0">
                <a:solidFill>
                  <a:srgbClr val="F8FAFC"/>
                </a:solidFill>
                <a:latin typeface="Courier New"/>
              </a:defRPr>
            </a:pPr>
            <a:r>
              <a:rPr sz="1200" b="0">
                <a:solidFill>
                  <a:srgbClr val="F8FAFC"/>
                </a:solidFill>
                <a:latin typeface="Courier New"/>
              </a:rPr>
              <a:t>                   'zip_premium': zip_premium, 'capacidad_real': capacidad_real, 'y': y})</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1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223 — Tipos de sesgo algorítmico y orígenes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Sesgo histórico: generar un dataset de préstamos donde P(aprobado | grupo=A) = 0.70 y P(aprobado | grupo=B) = 0.30 por razones históricas (no por capacidad de pago).</a:t>
            </a:r>
          </a:p>
          <a:p>
            <a:pPr>
              <a:spcAft>
                <a:spcPts val="800"/>
              </a:spcAft>
              <a:defRPr sz="1400" b="0">
                <a:solidFill>
                  <a:srgbClr val="0F172A"/>
                </a:solidFill>
                <a:latin typeface="Segoe UI"/>
              </a:defRPr>
            </a:pPr>
            <a:r>
              <a:rPr sz="1400" b="0">
                <a:solidFill>
                  <a:srgbClr val="0F172A"/>
                </a:solidFill>
                <a:latin typeface="Segoe UI"/>
              </a:rPr>
              <a:t>• Selection rate disparity: calcular P(ŷ=1 | grupo=A) vs P(ŷ=1 | grupo=B) — la métrica más simple de demographic parity (Clase 224).</a:t>
            </a:r>
          </a:p>
          <a:p>
            <a:pPr>
              <a:spcAft>
                <a:spcPts val="800"/>
              </a:spcAft>
              <a:defRPr sz="1400" b="0">
                <a:solidFill>
                  <a:srgbClr val="0F172A"/>
                </a:solidFill>
                <a:latin typeface="Segoe UI"/>
              </a:defRPr>
            </a:pPr>
            <a:r>
              <a:rPr sz="1400" b="0">
                <a:solidFill>
                  <a:srgbClr val="0F172A"/>
                </a:solidFill>
                <a:latin typeface="Segoe UI"/>
              </a:rPr>
              <a:t>• Sesgo de representación (Gender Shades): re-muestrear el dataset al 10% del grupo B.</a:t>
            </a:r>
          </a:p>
          <a:p>
            <a:pPr>
              <a:spcAft>
                <a:spcPts val="800"/>
              </a:spcAft>
              <a:defRPr sz="1400" b="0">
                <a:solidFill>
                  <a:srgbClr val="0F172A"/>
                </a:solidFill>
                <a:latin typeface="Segoe UI"/>
              </a:defRPr>
            </a:pPr>
            <a:r>
              <a:rPr sz="1400" b="0">
                <a:solidFill>
                  <a:srgbClr val="0F172A"/>
                </a:solidFill>
                <a:latin typeface="Segoe UI"/>
              </a:rPr>
              <a:t>• Sesgo de medición: definir y_proxy = y_true XOR ruido_correlacionado_con_grupo.</a:t>
            </a:r>
          </a:p>
          <a:p>
            <a:pPr>
              <a:spcAft>
                <a:spcPts val="800"/>
              </a:spcAft>
              <a:defRPr sz="1400" b="0">
                <a:solidFill>
                  <a:srgbClr val="0F172A"/>
                </a:solidFill>
                <a:latin typeface="Segoe UI"/>
              </a:defRPr>
            </a:pPr>
            <a:r>
              <a:rPr sz="1400" b="0">
                <a:solidFill>
                  <a:srgbClr val="0F172A"/>
                </a:solidFill>
                <a:latin typeface="Segoe UI"/>
              </a:rPr>
              <a:t>• Sesgo de agregación (Simpson): comparar AUC de un modelo único vs un modelo por subgrupo.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Reproducir el patrón Gender Shades sobre un dataset tabular (sintético o UCI Adult con sex y race).</a:t>
            </a:r>
          </a:p>
          <a:p>
            <a:pPr>
              <a:spcAft>
                <a:spcPts val="800"/>
              </a:spcAft>
              <a:defRPr sz="1400" b="0">
                <a:solidFill>
                  <a:srgbClr val="0F172A"/>
                </a:solidFill>
                <a:latin typeface="Segoe UI"/>
              </a:defRPr>
            </a:pPr>
            <a:r>
              <a:rPr sz="1400" b="0">
                <a:solidFill>
                  <a:srgbClr val="0F172A"/>
                </a:solidFill>
                <a:latin typeface="Segoe UI"/>
              </a:rPr>
              <a:t>• Calcular gap de accuracy entre subgrupos para 3 niveles de sub-muestreo del grupo minoritario (50%, 20%, 5%).</a:t>
            </a:r>
          </a:p>
          <a:p>
            <a:pPr>
              <a:spcAft>
                <a:spcPts val="800"/>
              </a:spcAft>
              <a:defRPr sz="1400" b="0">
                <a:solidFill>
                  <a:srgbClr val="0F172A"/>
                </a:solidFill>
                <a:latin typeface="Segoe UI"/>
              </a:defRPr>
            </a:pPr>
            <a:r>
              <a:rPr sz="1400" b="0">
                <a:solidFill>
                  <a:srgbClr val="0F172A"/>
                </a:solidFill>
                <a:latin typeface="Segoe UI"/>
              </a:rPr>
              <a:t>• Aplicar el framework Suresh-Guttag a un caso real (COMPAS, Amazon Hiring, o un modelo del trabajo) — escribir 1 párrafo por cada uno de los 6 tipos: ¿está presente? evidencia.</a:t>
            </a:r>
          </a:p>
          <a:p>
            <a:pPr>
              <a:spcAft>
                <a:spcPts val="800"/>
              </a:spcAft>
              <a:defRPr sz="1400" b="0">
                <a:solidFill>
                  <a:srgbClr val="0F172A"/>
                </a:solidFill>
                <a:latin typeface="Segoe UI"/>
              </a:defRPr>
            </a:pPr>
            <a:r>
              <a:rPr sz="1400" b="0">
                <a:solidFill>
                  <a:srgbClr val="0F172A"/>
                </a:solidFill>
                <a:latin typeface="Segoe UI"/>
              </a:rPr>
              <a:t>• Implementar Simpson's paradox: dataset donde la correlación global es opuesta a la correlación intra-grupo.</a:t>
            </a:r>
          </a:p>
          <a:p>
            <a:pPr>
              <a:spcAft>
                <a:spcPts val="800"/>
              </a:spcAft>
              <a:defRPr sz="1400" b="0">
                <a:solidFill>
                  <a:srgbClr val="0F172A"/>
                </a:solidFill>
                <a:latin typeface="Segoe UI"/>
              </a:defRPr>
            </a:pPr>
            <a:r>
              <a:rPr sz="1400" b="0">
                <a:solidFill>
                  <a:srgbClr val="0F172A"/>
                </a:solidFill>
                <a:latin typeface="Segoe UI"/>
              </a:rPr>
              <a:t>• Discutir: ¿qué mitigación corresponde a cada tipo? (representación → re-sampling; medición → re-definir target; agregación → modelo por subgrupo).</a:t>
            </a:r>
          </a:p>
        </p:txBody>
      </p:sp>
    </p:spTree>
  </p:cSld>
  <p:clrMapOvr>
    <a:masterClrMapping/>
  </p:clrMapOvr>
</p:sld>
</file>

<file path=ppt/slides/slide11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224 — Métricas de fairness: demographic parity, equalized odds, calibration</a:t>
            </a:r>
          </a:p>
        </p:txBody>
      </p:sp>
    </p:spTree>
  </p:cSld>
  <p:clrMapOvr>
    <a:masterClrMapping/>
  </p:clrMapOvr>
</p:sld>
</file>

<file path=ppt/slides/slide11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224 — Métricas de fairness: demographic parity, equalized odds, calibration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7 — Ética, Fairness y Privacidad · Fuente: Barocas, Hardt, Narayanan — Fairness and Machine Learning cap. 3 + Hardt, Price, Srebro (NeurIPS 2016) Equality of Opportunity in Supervised Learning.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Pasar de "el modelo es injusto" a medirlo con un número. Implementar las tres familias de métricas grupales que dominan la literatura — demographic parity, equalized odds, calibration — sobre un dataset binario con atributo protegido, y demostrar numéricamente el teorema de imposibilidad de Kleinberg-Mullainathan-Raghavan / Chouldechova (2017): salvo casos triviales, no se pueden satisfacer las tres a la vez.</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Calcular demographic parity gap = |P(Ŷ=1|A=0) − P(Ŷ=1|A=1)| sobre predicciones de cualquier clasificador binario.</a:t>
            </a:r>
          </a:p>
          <a:p>
            <a:pPr>
              <a:spcAft>
                <a:spcPts val="800"/>
              </a:spcAft>
              <a:defRPr sz="1400" b="0">
                <a:solidFill>
                  <a:srgbClr val="0F172A"/>
                </a:solidFill>
                <a:latin typeface="Segoe UI"/>
              </a:defRPr>
            </a:pPr>
            <a:r>
              <a:rPr sz="1400" b="0">
                <a:solidFill>
                  <a:srgbClr val="0F172A"/>
                </a:solidFill>
                <a:latin typeface="Segoe UI"/>
              </a:rPr>
              <a:t>• Calcular equal opportunity (TPR por grupo) y equalized odds (TPR y FPR por grupo) — Hardt, Price, Srebro 2016.</a:t>
            </a:r>
          </a:p>
          <a:p>
            <a:pPr>
              <a:spcAft>
                <a:spcPts val="800"/>
              </a:spcAft>
              <a:defRPr sz="1400" b="0">
                <a:solidFill>
                  <a:srgbClr val="0F172A"/>
                </a:solidFill>
                <a:latin typeface="Segoe UI"/>
              </a:defRPr>
            </a:pPr>
            <a:r>
              <a:rPr sz="1400" b="0">
                <a:solidFill>
                  <a:srgbClr val="0F172A"/>
                </a:solidFill>
                <a:latin typeface="Segoe UI"/>
              </a:rPr>
              <a:t>• Verificar calibración por grupo con reliability curves: P(Y=1|Ŝ=s, A=a) debe ser igual entre grupos para un mismo score s.</a:t>
            </a:r>
          </a:p>
          <a:p>
            <a:pPr>
              <a:spcAft>
                <a:spcPts val="800"/>
              </a:spcAft>
              <a:defRPr sz="1400" b="0">
                <a:solidFill>
                  <a:srgbClr val="0F172A"/>
                </a:solidFill>
                <a:latin typeface="Segoe UI"/>
              </a:defRPr>
            </a:pPr>
            <a:r>
              <a:rPr sz="1400" b="0">
                <a:solidFill>
                  <a:srgbClr val="0F172A"/>
                </a:solidFill>
                <a:latin typeface="Segoe UI"/>
              </a:rPr>
              <a:t>• Demostrar el teorema de imposibilidad: ajustar threshold por grupo para forzar demographic parity rompe calibración.</a:t>
            </a:r>
          </a:p>
          <a:p>
            <a:pPr>
              <a:spcAft>
                <a:spcPts val="800"/>
              </a:spcAft>
              <a:defRPr sz="1400" b="0">
                <a:solidFill>
                  <a:srgbClr val="0F172A"/>
                </a:solidFill>
                <a:latin typeface="Segoe UI"/>
              </a:defRPr>
            </a:pPr>
            <a:r>
              <a:rPr sz="1400" b="0">
                <a:solidFill>
                  <a:srgbClr val="0F172A"/>
                </a:solidFill>
                <a:latin typeface="Segoe UI"/>
              </a:rPr>
              <a:t>• Aplicar mitigación post-processing con thresholds por grupo (Hardt 2016) y reportar el trade-off accuracy vs fairness gap.</a:t>
            </a:r>
          </a:p>
        </p:txBody>
      </p:sp>
    </p:spTree>
  </p:cSld>
  <p:clrMapOvr>
    <a:masterClrMapping/>
  </p:clrMapOvr>
</p:sld>
</file>

<file path=ppt/slides/slide11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224 — Métricas de fairness: demographic parity, equalized odds, calibration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Atributo protegido A y notación Y / Ŷ / Ŝ</a:t>
            </a:r>
          </a:p>
          <a:p>
            <a:pPr>
              <a:spcAft>
                <a:spcPts val="1000"/>
              </a:spcAft>
              <a:defRPr sz="1600" b="0">
                <a:solidFill>
                  <a:srgbClr val="0F172A"/>
                </a:solidFill>
                <a:latin typeface="Segoe UI"/>
              </a:defRPr>
            </a:pPr>
            <a:r>
              <a:rPr sz="1600" b="0">
                <a:solidFill>
                  <a:srgbClr val="0F172A"/>
                </a:solidFill>
                <a:latin typeface="Segoe UI"/>
              </a:rPr>
              <a:t>• Demographic parity (statistical parity)</a:t>
            </a:r>
          </a:p>
          <a:p>
            <a:pPr>
              <a:spcAft>
                <a:spcPts val="1000"/>
              </a:spcAft>
              <a:defRPr sz="1600" b="0">
                <a:solidFill>
                  <a:srgbClr val="0F172A"/>
                </a:solidFill>
                <a:latin typeface="Segoe UI"/>
              </a:defRPr>
            </a:pPr>
            <a:r>
              <a:rPr sz="1600" b="0">
                <a:solidFill>
                  <a:srgbClr val="0F172A"/>
                </a:solidFill>
                <a:latin typeface="Segoe UI"/>
              </a:rPr>
              <a:t>• Equal opportunity y equalized odds (Hardt 2016)</a:t>
            </a:r>
          </a:p>
          <a:p>
            <a:pPr>
              <a:spcAft>
                <a:spcPts val="1000"/>
              </a:spcAft>
              <a:defRPr sz="1600" b="0">
                <a:solidFill>
                  <a:srgbClr val="0F172A"/>
                </a:solidFill>
                <a:latin typeface="Segoe UI"/>
              </a:defRPr>
            </a:pPr>
            <a:r>
              <a:rPr sz="1600" b="0">
                <a:solidFill>
                  <a:srgbClr val="0F172A"/>
                </a:solidFill>
                <a:latin typeface="Segoe UI"/>
              </a:rPr>
              <a:t>• Calibration por grupo (Chouldechova 2017)</a:t>
            </a:r>
          </a:p>
          <a:p>
            <a:pPr>
              <a:spcAft>
                <a:spcPts val="1000"/>
              </a:spcAft>
              <a:defRPr sz="1600" b="0">
                <a:solidFill>
                  <a:srgbClr val="0F172A"/>
                </a:solidFill>
                <a:latin typeface="Segoe UI"/>
              </a:defRPr>
            </a:pPr>
            <a:r>
              <a:rPr sz="1600" b="0">
                <a:solidFill>
                  <a:srgbClr val="0F172A"/>
                </a:solidFill>
                <a:latin typeface="Segoe UI"/>
              </a:rPr>
              <a:t>• Teorema de imposibilidad (KMR / Chouldechova 2017)</a:t>
            </a:r>
          </a:p>
          <a:p>
            <a:pPr>
              <a:spcAft>
                <a:spcPts val="1000"/>
              </a:spcAft>
              <a:defRPr sz="1600" b="0">
                <a:solidFill>
                  <a:srgbClr val="0F172A"/>
                </a:solidFill>
                <a:latin typeface="Segoe UI"/>
              </a:defRPr>
            </a:pPr>
            <a:r>
              <a:rPr sz="1600" b="0">
                <a:solidFill>
                  <a:srgbClr val="0F172A"/>
                </a:solidFill>
                <a:latin typeface="Segoe UI"/>
              </a:rPr>
              <a:t>• Post-processing: threshold por grupo</a:t>
            </a:r>
          </a:p>
        </p:txBody>
      </p:sp>
    </p:spTree>
  </p:cSld>
  <p:clrMapOvr>
    <a:masterClrMapping/>
  </p:clrMapOvr>
</p:sld>
</file>

<file path=ppt/slides/slide11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224 — Métricas de fairness: demographic parity, equalized odds, calibration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No hay UNA definición de "justo". Demographic parity (misma tasa de aprobación por grupo), equalized odds (mismos TPR y FPR por grupo) y calibration (un score de 0.7 significa lo mismo en todos los grupos) son tres nociones razonables y, cuando las tasas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sklearn.metrics import accuracy_score, roc_auc_score, confusion_matrix</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 10_000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Atributo protegido (50/50)</a:t>
            </a:r>
          </a:p>
          <a:p>
            <a:pPr>
              <a:defRPr sz="1200" b="0">
                <a:solidFill>
                  <a:srgbClr val="F8FAFC"/>
                </a:solidFill>
                <a:latin typeface="Courier New"/>
              </a:defRPr>
            </a:pPr>
            <a:r>
              <a:rPr sz="1200" b="0">
                <a:solidFill>
                  <a:srgbClr val="F8FAFC"/>
                </a:solidFill>
                <a:latin typeface="Courier New"/>
              </a:rPr>
              <a:t>A = rng.integers(0, 2, 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Features con distribución que depende de A (proxy realista)</a:t>
            </a:r>
          </a:p>
          <a:p>
            <a:pPr>
              <a:defRPr sz="1200" b="0">
                <a:solidFill>
                  <a:srgbClr val="F8FAFC"/>
                </a:solidFill>
                <a:latin typeface="Courier New"/>
              </a:defRPr>
            </a:pPr>
            <a:r>
              <a:rPr sz="1200" b="0">
                <a:solidFill>
                  <a:srgbClr val="F8FAFC"/>
                </a:solidFill>
                <a:latin typeface="Courier New"/>
              </a:rPr>
              <a:t>x1 = rng.normal(loc=0.5 * A, scale=1.0, size=n)</a:t>
            </a:r>
          </a:p>
          <a:p>
            <a:pPr>
              <a:defRPr sz="1200" b="0">
                <a:solidFill>
                  <a:srgbClr val="F8FAFC"/>
                </a:solidFill>
                <a:latin typeface="Courier New"/>
              </a:defRPr>
            </a:pPr>
            <a:r>
              <a:rPr sz="1200" b="0">
                <a:solidFill>
                  <a:srgbClr val="F8FAFC"/>
                </a:solidFill>
                <a:latin typeface="Courier New"/>
              </a:rPr>
              <a:t>x2 = rng.normal(loc=-0.3 * A, scale=1.0, size=n)</a:t>
            </a:r>
          </a:p>
          <a:p>
            <a:pPr>
              <a:defRPr sz="1200" b="0">
                <a:solidFill>
                  <a:srgbClr val="F8FAFC"/>
                </a:solidFill>
                <a:latin typeface="Courier New"/>
              </a:defRPr>
            </a:pPr>
            <a:r>
              <a:rPr sz="1200" b="0">
                <a:solidFill>
                  <a:srgbClr val="F8FAFC"/>
                </a:solidFill>
                <a:latin typeface="Courier New"/>
              </a:rPr>
              <a:t>x3 = rng.normal(loc=0.0, scale=1.0, size=n)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Base rates DIFERENTES → activa impossibility</a:t>
            </a:r>
          </a:p>
          <a:p>
            <a:pPr>
              <a:defRPr sz="1200" b="0">
                <a:solidFill>
                  <a:srgbClr val="F8FAFC"/>
                </a:solidFill>
                <a:latin typeface="Courier New"/>
              </a:defRPr>
            </a:pPr>
            <a:r>
              <a:rPr sz="1200" b="0">
                <a:solidFill>
                  <a:srgbClr val="F8FAFC"/>
                </a:solidFill>
                <a:latin typeface="Courier New"/>
              </a:rPr>
              <a:t>logits = 1.2 * x1 - 0.8 * x2 + 0.5 * x3 + np.where(A == 0, 0.4, -0.4)</a:t>
            </a:r>
          </a:p>
          <a:p>
            <a:pPr>
              <a:defRPr sz="1200" b="0">
                <a:solidFill>
                  <a:srgbClr val="F8FAFC"/>
                </a:solidFill>
                <a:latin typeface="Courier New"/>
              </a:defRPr>
            </a:pPr>
            <a:r>
              <a:rPr sz="1200" b="0">
                <a:solidFill>
                  <a:srgbClr val="F8FAFC"/>
                </a:solidFill>
                <a:latin typeface="Courier New"/>
              </a:rPr>
              <a:t>p = 1 / (1 + np.exp(-logits))</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1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224 — Métricas de fairness: demographic parity, equalized odds, calibration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Selection rate por grupo: entrenar LogisticRegression baseline.</a:t>
            </a:r>
          </a:p>
          <a:p>
            <a:pPr>
              <a:spcAft>
                <a:spcPts val="800"/>
              </a:spcAft>
              <a:defRPr sz="1400" b="0">
                <a:solidFill>
                  <a:srgbClr val="0F172A"/>
                </a:solidFill>
                <a:latin typeface="Segoe UI"/>
              </a:defRPr>
            </a:pPr>
            <a:r>
              <a:rPr sz="1400" b="0">
                <a:solidFill>
                  <a:srgbClr val="0F172A"/>
                </a:solidFill>
                <a:latin typeface="Segoe UI"/>
              </a:rPr>
              <a:t>• TPR y FPR por grupo: armar confusion_matrix separada por grupo.</a:t>
            </a:r>
          </a:p>
          <a:p>
            <a:pPr>
              <a:spcAft>
                <a:spcPts val="800"/>
              </a:spcAft>
              <a:defRPr sz="1400" b="0">
                <a:solidFill>
                  <a:srgbClr val="0F172A"/>
                </a:solidFill>
                <a:latin typeface="Segoe UI"/>
              </a:defRPr>
            </a:pPr>
            <a:r>
              <a:rPr sz="1400" b="0">
                <a:solidFill>
                  <a:srgbClr val="0F172A"/>
                </a:solidFill>
                <a:latin typeface="Segoe UI"/>
              </a:rPr>
              <a:t>• Calibration curves por grupo: binning de scores en 10 bins.</a:t>
            </a:r>
          </a:p>
          <a:p>
            <a:pPr>
              <a:spcAft>
                <a:spcPts val="800"/>
              </a:spcAft>
              <a:defRPr sz="1400" b="0">
                <a:solidFill>
                  <a:srgbClr val="0F172A"/>
                </a:solidFill>
                <a:latin typeface="Segoe UI"/>
              </a:defRPr>
            </a:pPr>
            <a:r>
              <a:rPr sz="1400" b="0">
                <a:solidFill>
                  <a:srgbClr val="0F172A"/>
                </a:solidFill>
                <a:latin typeface="Segoe UI"/>
              </a:rPr>
              <a:t>• Romper calibración: ajustar threshold por grupo (t_0, t_1) tal que se cumpla DP exacta.</a:t>
            </a:r>
          </a:p>
          <a:p>
            <a:pPr>
              <a:spcAft>
                <a:spcPts val="800"/>
              </a:spcAft>
              <a:defRPr sz="1400" b="0">
                <a:solidFill>
                  <a:srgbClr val="0F172A"/>
                </a:solidFill>
                <a:latin typeface="Segoe UI"/>
              </a:defRPr>
            </a:pPr>
            <a:r>
              <a:rPr sz="1400" b="0">
                <a:solidFill>
                  <a:srgbClr val="0F172A"/>
                </a:solidFill>
                <a:latin typeface="Segoe UI"/>
              </a:rPr>
              <a:t>• Post-processing Hardt: buscar (t_0, t_1) que minimicen equalized_odds_gap y reportar el costo en accuracy global.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Adult Census (UCI). Atributo protegido: sex. Target: income &gt; 50K.</a:t>
            </a:r>
          </a:p>
          <a:p>
            <a:pPr>
              <a:spcAft>
                <a:spcPts val="800"/>
              </a:spcAft>
              <a:defRPr sz="1400" b="0">
                <a:solidFill>
                  <a:srgbClr val="0F172A"/>
                </a:solidFill>
                <a:latin typeface="Segoe UI"/>
              </a:defRPr>
            </a:pPr>
            <a:r>
              <a:rPr sz="1400" b="0">
                <a:solidFill>
                  <a:srgbClr val="0F172A"/>
                </a:solidFill>
                <a:latin typeface="Segoe UI"/>
              </a:rPr>
              <a:t>• Entrenar baseline LogisticRegression + reportar accuracy, AUC.</a:t>
            </a:r>
          </a:p>
          <a:p>
            <a:pPr>
              <a:spcAft>
                <a:spcPts val="800"/>
              </a:spcAft>
              <a:defRPr sz="1400" b="0">
                <a:solidFill>
                  <a:srgbClr val="0F172A"/>
                </a:solidFill>
                <a:latin typeface="Segoe UI"/>
              </a:defRPr>
            </a:pPr>
            <a:r>
              <a:rPr sz="1400" b="0">
                <a:solidFill>
                  <a:srgbClr val="0F172A"/>
                </a:solidFill>
                <a:latin typeface="Segoe UI"/>
              </a:rPr>
              <a:t>• Calcular las tres métricas: DP_gap, equal_opportunity_gap, equalized_odds_gap y calibration_gap (max |calibration(A=0) − calibration(A=1)| sobre bins).</a:t>
            </a:r>
          </a:p>
          <a:p>
            <a:pPr>
              <a:spcAft>
                <a:spcPts val="800"/>
              </a:spcAft>
              <a:defRPr sz="1400" b="0">
                <a:solidFill>
                  <a:srgbClr val="0F172A"/>
                </a:solidFill>
                <a:latin typeface="Segoe UI"/>
              </a:defRPr>
            </a:pPr>
            <a:r>
              <a:rPr sz="1400" b="0">
                <a:solidFill>
                  <a:srgbClr val="0F172A"/>
                </a:solidFill>
                <a:latin typeface="Segoe UI"/>
              </a:rPr>
              <a:t>• Implementar post-processing con threshold por grupo que minimice EO_gap sujeto a accuracy_drop ≤ 3pp.</a:t>
            </a:r>
          </a:p>
          <a:p>
            <a:pPr>
              <a:spcAft>
                <a:spcPts val="800"/>
              </a:spcAft>
              <a:defRPr sz="1400" b="0">
                <a:solidFill>
                  <a:srgbClr val="0F172A"/>
                </a:solidFill>
                <a:latin typeface="Segoe UI"/>
              </a:defRPr>
            </a:pPr>
            <a:r>
              <a:rPr sz="1400" b="0">
                <a:solidFill>
                  <a:srgbClr val="0F172A"/>
                </a:solidFill>
                <a:latin typeface="Segoe UI"/>
              </a:rPr>
              <a:t>• Tabla final: 3 modelos (baseline, DP-mitigated, EO-mitigated) × 5 métricas (accuracy, AUC, DP_gap, EO_gap, calibration_gap). Discutir cuál elegirías y por qué — no hay respuesta universal.</a:t>
            </a:r>
          </a:p>
        </p:txBody>
      </p:sp>
    </p:spTree>
  </p:cSld>
  <p:clrMapOvr>
    <a:masterClrMapping/>
  </p:clrMapOvr>
</p:sld>
</file>

<file path=ppt/slides/slide11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225 — Privacidad diferencial: intro</a:t>
            </a:r>
          </a:p>
        </p:txBody>
      </p:sp>
    </p:spTree>
  </p:cSld>
  <p:clrMapOvr>
    <a:masterClrMapping/>
  </p:clrMapOvr>
</p:sld>
</file>

<file path=ppt/slides/slide11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225 — Privacidad diferencial: intro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7 — Ética, Fairness y Privacidad · Fuente: Dwork &amp; Roth, The Algorithmic Foundations of Differential Privacy (2014) caps. 2-3 + Dwork, McSherry, Nissim, Smith (TCC, 2006) Calibrating Noise to Sensitivity.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privacidad diferencial (DP) como la única definición formal de privacidad con garantías matemáticas — no "anonimización" heurística que se rompe con un join. Implementar el mecanismo de Laplace desde cero, observar el trade-off privacy-utility vía el presupuesto ε (epsilon), y mirar conceptualmente DP-SGD (Abadi et al. 2016): cómo se entrena un modelo sin que un atacante pueda inferir si tu registro estuvo en el training set.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Enunciar la definición de (ε, δ)-DP: P[M(D) ∈ S] ≤ e^ε · P[M(D') ∈ S] + δ para datasets vecinos D, D'.</a:t>
            </a:r>
          </a:p>
          <a:p>
            <a:pPr>
              <a:spcAft>
                <a:spcPts val="800"/>
              </a:spcAft>
              <a:defRPr sz="1400" b="0">
                <a:solidFill>
                  <a:srgbClr val="0F172A"/>
                </a:solidFill>
                <a:latin typeface="Segoe UI"/>
              </a:defRPr>
            </a:pPr>
            <a:r>
              <a:rPr sz="1400" b="0">
                <a:solidFill>
                  <a:srgbClr val="0F172A"/>
                </a:solidFill>
                <a:latin typeface="Segoe UI"/>
              </a:rPr>
              <a:t>• Calcular la sensibilidad Δf de funciones típicas (conteos, sumas acotadas, medias) y elegir ruido Laplace o Gaussiano calibrado.</a:t>
            </a:r>
          </a:p>
          <a:p>
            <a:pPr>
              <a:spcAft>
                <a:spcPts val="800"/>
              </a:spcAft>
              <a:defRPr sz="1400" b="0">
                <a:solidFill>
                  <a:srgbClr val="0F172A"/>
                </a:solidFill>
                <a:latin typeface="Segoe UI"/>
              </a:defRPr>
            </a:pPr>
            <a:r>
              <a:rPr sz="1400" b="0">
                <a:solidFill>
                  <a:srgbClr val="0F172A"/>
                </a:solidFill>
                <a:latin typeface="Segoe UI"/>
              </a:rPr>
              <a:t>• Implementar laplace_mechanism(value, sensitivity, epsilon) y verificar que ε chico → más ruido → menos utilidad.</a:t>
            </a:r>
          </a:p>
          <a:p>
            <a:pPr>
              <a:spcAft>
                <a:spcPts val="800"/>
              </a:spcAft>
              <a:defRPr sz="1400" b="0">
                <a:solidFill>
                  <a:srgbClr val="0F172A"/>
                </a:solidFill>
                <a:latin typeface="Segoe UI"/>
              </a:defRPr>
            </a:pPr>
            <a:r>
              <a:rPr sz="1400" b="0">
                <a:solidFill>
                  <a:srgbClr val="0F172A"/>
                </a:solidFill>
                <a:latin typeface="Segoe UI"/>
              </a:rPr>
              <a:t>• Aplicar composición básica: k consultas con ε cada una gastan k·ε del presupuesto total.</a:t>
            </a:r>
          </a:p>
          <a:p>
            <a:pPr>
              <a:spcAft>
                <a:spcPts val="800"/>
              </a:spcAft>
              <a:defRPr sz="1400" b="0">
                <a:solidFill>
                  <a:srgbClr val="0F172A"/>
                </a:solidFill>
                <a:latin typeface="Segoe UI"/>
              </a:defRPr>
            </a:pPr>
            <a:r>
              <a:rPr sz="1400" b="0">
                <a:solidFill>
                  <a:srgbClr val="0F172A"/>
                </a:solidFill>
                <a:latin typeface="Segoe UI"/>
              </a:rPr>
              <a:t>• Reconocer la idea de DP-SGD: per-sample gradient clipping + ruido gaussiano → entrenamiento DP (Opacus, TF-Privacy).</a:t>
            </a:r>
          </a:p>
        </p:txBody>
      </p:sp>
    </p:spTree>
  </p:cSld>
  <p:clrMapOvr>
    <a:masterClrMapping/>
  </p:clrMapOvr>
</p:sld>
</file>

<file path=ppt/slides/slide11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225 — Privacidad diferencial: intro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Anonimización falla (Netflix Prize, AOL search logs)</a:t>
            </a:r>
          </a:p>
          <a:p>
            <a:pPr>
              <a:spcAft>
                <a:spcPts val="1000"/>
              </a:spcAft>
              <a:defRPr sz="1600" b="0">
                <a:solidFill>
                  <a:srgbClr val="0F172A"/>
                </a:solidFill>
                <a:latin typeface="Segoe UI"/>
              </a:defRPr>
            </a:pPr>
            <a:r>
              <a:rPr sz="1600" b="0">
                <a:solidFill>
                  <a:srgbClr val="0F172A"/>
                </a:solidFill>
                <a:latin typeface="Segoe UI"/>
              </a:rPr>
              <a:t>• Definición (ε, δ)-DP y datasets vecinos</a:t>
            </a:r>
          </a:p>
          <a:p>
            <a:pPr>
              <a:spcAft>
                <a:spcPts val="1000"/>
              </a:spcAft>
              <a:defRPr sz="1600" b="0">
                <a:solidFill>
                  <a:srgbClr val="0F172A"/>
                </a:solidFill>
                <a:latin typeface="Segoe UI"/>
              </a:defRPr>
            </a:pPr>
            <a:r>
              <a:rPr sz="1600" b="0">
                <a:solidFill>
                  <a:srgbClr val="0F172A"/>
                </a:solidFill>
                <a:latin typeface="Segoe UI"/>
              </a:rPr>
              <a:t>• Sensibilidad Δf</a:t>
            </a:r>
          </a:p>
          <a:p>
            <a:pPr>
              <a:spcAft>
                <a:spcPts val="1000"/>
              </a:spcAft>
              <a:defRPr sz="1600" b="0">
                <a:solidFill>
                  <a:srgbClr val="0F172A"/>
                </a:solidFill>
                <a:latin typeface="Segoe UI"/>
              </a:defRPr>
            </a:pPr>
            <a:r>
              <a:rPr sz="1600" b="0">
                <a:solidFill>
                  <a:srgbClr val="0F172A"/>
                </a:solidFill>
                <a:latin typeface="Segoe UI"/>
              </a:rPr>
              <a:t>• Mecanismos Laplace y Gaussiano</a:t>
            </a:r>
          </a:p>
          <a:p>
            <a:pPr>
              <a:spcAft>
                <a:spcPts val="1000"/>
              </a:spcAft>
              <a:defRPr sz="1600" b="0">
                <a:solidFill>
                  <a:srgbClr val="0F172A"/>
                </a:solidFill>
                <a:latin typeface="Segoe UI"/>
              </a:defRPr>
            </a:pPr>
            <a:r>
              <a:rPr sz="1600" b="0">
                <a:solidFill>
                  <a:srgbClr val="0F172A"/>
                </a:solidFill>
                <a:latin typeface="Segoe UI"/>
              </a:rPr>
              <a:t>• Composición y post-processing</a:t>
            </a:r>
          </a:p>
          <a:p>
            <a:pPr>
              <a:spcAft>
                <a:spcPts val="1000"/>
              </a:spcAft>
              <a:defRPr sz="1600" b="0">
                <a:solidFill>
                  <a:srgbClr val="0F172A"/>
                </a:solidFill>
                <a:latin typeface="Segoe UI"/>
              </a:defRPr>
            </a:pPr>
            <a:r>
              <a:rPr sz="1600" b="0">
                <a:solidFill>
                  <a:srgbClr val="0F172A"/>
                </a:solidFill>
                <a:latin typeface="Segoe UI"/>
              </a:rPr>
              <a:t>• DP-SGD (Abadi 2016)</a:t>
            </a:r>
          </a:p>
        </p:txBody>
      </p:sp>
    </p:spTree>
  </p:cSld>
  <p:clrMapOvr>
    <a:masterClrMapping/>
  </p:clrMapOvr>
</p:sld>
</file>

<file path=ppt/slides/slide11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225 — Privacidad diferencial: intro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Privacidad diferencial = añadir ruido calibrado a la salida de una consulta para que el resultado no dependa de ningún individuo concreto. Formalmente: si sacás a una persona del dataset, la distribución de la respuesta casi no cambia — la razón entre ambas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 10_000</a:t>
            </a:r>
          </a:p>
          <a:p>
            <a:pPr>
              <a:defRPr sz="1200" b="0">
                <a:solidFill>
                  <a:srgbClr val="F8FAFC"/>
                </a:solidFill>
                <a:latin typeface="Courier New"/>
              </a:defRPr>
            </a:pPr>
            <a:r>
              <a:rPr sz="1200" b="0">
                <a:solidFill>
                  <a:srgbClr val="F8FAFC"/>
                </a:solidFill>
                <a:latin typeface="Courier New"/>
              </a:rPr>
              <a:t>B = 200_000   # cota superior salario (clipping para sensibilidad acotada)</a:t>
            </a:r>
          </a:p>
          <a:p>
            <a:pPr>
              <a:defRPr sz="1200" b="0">
                <a:solidFill>
                  <a:srgbClr val="F8FAFC"/>
                </a:solidFill>
                <a:latin typeface="Courier New"/>
              </a:defRPr>
            </a:pPr>
            <a:r>
              <a:rPr sz="1200" b="0">
                <a:solidFill>
                  <a:srgbClr val="F8FAFC"/>
                </a:solidFill>
                <a:latin typeface="Courier New"/>
              </a:rPr>
              <a:t>salaries = np.clip(rng.lognormal(mean=10.8, sigma=0.6, size=n), 0, B)</a:t>
            </a:r>
          </a:p>
          <a:p>
            <a:pPr>
              <a:defRPr sz="1200" b="0">
                <a:solidFill>
                  <a:srgbClr val="F8FAFC"/>
                </a:solidFill>
                <a:latin typeface="Courier New"/>
              </a:defRPr>
            </a:pPr>
            <a:r>
              <a:rPr sz="1200" b="0">
                <a:solidFill>
                  <a:srgbClr val="F8FAFC"/>
                </a:solidFill>
                <a:latin typeface="Courier New"/>
              </a:rPr>
              <a:t>df = pd.DataFrame({'salary': salaries})</a:t>
            </a:r>
          </a:p>
          <a:p>
            <a:pPr>
              <a:defRPr sz="1200" b="0">
                <a:solidFill>
                  <a:srgbClr val="F8FAFC"/>
                </a:solidFill>
                <a:latin typeface="Courier New"/>
              </a:defRPr>
            </a:pPr>
            <a:r>
              <a:rPr sz="1200" b="0">
                <a:solidFill>
                  <a:srgbClr val="F8FAFC"/>
                </a:solidFill>
                <a:latin typeface="Courier New"/>
              </a:rPr>
              <a:t>print(f'n={n:,} | mean real={salaries.mean():,.0f} | &gt;100k real={(salaries &gt; 100_000).sum():,}')</a:t>
            </a:r>
          </a:p>
        </p:txBody>
      </p:sp>
    </p:spTree>
  </p:cSld>
  <p:clrMapOvr>
    <a:masterClrMapping/>
  </p:clrMapOvr>
</p:sld>
</file>

<file path=ppt/slides/slide11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225 — Privacidad diferencial: intro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Laplace básico: implementar laplace_mechanism(value, sensitivity, epsilon) y verificar empíricamente sobre 10_000 corridas que la varianza es 2·(Δf/ε)².</a:t>
            </a:r>
          </a:p>
          <a:p>
            <a:pPr>
              <a:spcAft>
                <a:spcPts val="800"/>
              </a:spcAft>
              <a:defRPr sz="1400" b="0">
                <a:solidFill>
                  <a:srgbClr val="0F172A"/>
                </a:solidFill>
                <a:latin typeface="Segoe UI"/>
              </a:defRPr>
            </a:pPr>
            <a:r>
              <a:rPr sz="1400" b="0">
                <a:solidFill>
                  <a:srgbClr val="0F172A"/>
                </a:solidFill>
                <a:latin typeface="Segoe UI"/>
              </a:rPr>
              <a:t>• Conteo privado: contar empleados con salario &gt; 100k con ε ∈ {0.1, 1.0, 10.0}.</a:t>
            </a:r>
          </a:p>
          <a:p>
            <a:pPr>
              <a:spcAft>
                <a:spcPts val="800"/>
              </a:spcAft>
              <a:defRPr sz="1400" b="0">
                <a:solidFill>
                  <a:srgbClr val="0F172A"/>
                </a:solidFill>
                <a:latin typeface="Segoe UI"/>
              </a:defRPr>
            </a:pPr>
            <a:r>
              <a:rPr sz="1400" b="0">
                <a:solidFill>
                  <a:srgbClr val="0F172A"/>
                </a:solidFill>
                <a:latin typeface="Segoe UI"/>
              </a:rPr>
              <a:t>• Mean privado con clipping: clip salarios a [0, B], sumar con Laplace (Δf=B/n, ε=1), dividir por n.</a:t>
            </a:r>
          </a:p>
          <a:p>
            <a:pPr>
              <a:spcAft>
                <a:spcPts val="800"/>
              </a:spcAft>
              <a:defRPr sz="1400" b="0">
                <a:solidFill>
                  <a:srgbClr val="0F172A"/>
                </a:solidFill>
                <a:latin typeface="Segoe UI"/>
              </a:defRPr>
            </a:pPr>
            <a:r>
              <a:rPr sz="1400" b="0">
                <a:solidFill>
                  <a:srgbClr val="0F172A"/>
                </a:solidFill>
                <a:latin typeface="Segoe UI"/>
              </a:rPr>
              <a:t>• Histograma privado: 10 bins de salario, ruido Laplace independiente por bin (sensibilidad = 1 por bin).</a:t>
            </a:r>
          </a:p>
          <a:p>
            <a:pPr>
              <a:spcAft>
                <a:spcPts val="800"/>
              </a:spcAft>
              <a:defRPr sz="1400" b="0">
                <a:solidFill>
                  <a:srgbClr val="0F172A"/>
                </a:solidFill>
                <a:latin typeface="Segoe UI"/>
              </a:defRPr>
            </a:pPr>
            <a:r>
              <a:rPr sz="1400" b="0">
                <a:solidFill>
                  <a:srgbClr val="0F172A"/>
                </a:solidFill>
                <a:latin typeface="Segoe UI"/>
              </a:rPr>
              <a:t>• Composición: hacer 10 conteos con ε=0.1 cada uno → presupuesto total ε=1.0.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Adult / Census Income (UCI, ~32K filas).</a:t>
            </a:r>
          </a:p>
          <a:p>
            <a:pPr>
              <a:spcAft>
                <a:spcPts val="800"/>
              </a:spcAft>
              <a:defRPr sz="1400" b="0">
                <a:solidFill>
                  <a:srgbClr val="0F172A"/>
                </a:solidFill>
                <a:latin typeface="Segoe UI"/>
              </a:defRPr>
            </a:pPr>
            <a:r>
              <a:rPr sz="1400" b="0">
                <a:solidFill>
                  <a:srgbClr val="0F172A"/>
                </a:solidFill>
                <a:latin typeface="Segoe UI"/>
              </a:rPr>
              <a:t>• Publicar un dashboard DP con 5 estadísticas (count, mean age, mean hours-per-week, count por género, count por education) bajo presupuesto total ε=1.0. Repartir el presupuesto entre queries y justificar.</a:t>
            </a:r>
          </a:p>
          <a:p>
            <a:pPr>
              <a:spcAft>
                <a:spcPts val="800"/>
              </a:spcAft>
              <a:defRPr sz="1400" b="0">
                <a:solidFill>
                  <a:srgbClr val="0F172A"/>
                </a:solidFill>
                <a:latin typeface="Segoe UI"/>
              </a:defRPr>
            </a:pPr>
            <a:r>
              <a:rPr sz="1400" b="0">
                <a:solidFill>
                  <a:srgbClr val="0F172A"/>
                </a:solidFill>
                <a:latin typeface="Segoe UI"/>
              </a:rPr>
              <a:t>• Entrenar un LogisticRegression clásico para predecir income &gt; 50k, reportar accuracy.</a:t>
            </a:r>
          </a:p>
          <a:p>
            <a:pPr>
              <a:spcAft>
                <a:spcPts val="800"/>
              </a:spcAft>
              <a:defRPr sz="1400" b="0">
                <a:solidFill>
                  <a:srgbClr val="0F172A"/>
                </a:solidFill>
                <a:latin typeface="Segoe UI"/>
              </a:defRPr>
            </a:pPr>
            <a:r>
              <a:rPr sz="1400" b="0">
                <a:solidFill>
                  <a:srgbClr val="0F172A"/>
                </a:solidFill>
                <a:latin typeface="Segoe UI"/>
              </a:rPr>
              <a:t>• Re-entrenar con DP-SGD manual: clip per-sample gradient norm a C=1.0, sumar N(0, σ²) con σ=1.0. Reportar accuracy y comparar.</a:t>
            </a:r>
          </a:p>
          <a:p>
            <a:pPr>
              <a:spcAft>
                <a:spcPts val="800"/>
              </a:spcAft>
              <a:defRPr sz="1400" b="0">
                <a:solidFill>
                  <a:srgbClr val="0F172A"/>
                </a:solidFill>
                <a:latin typeface="Segoe UI"/>
              </a:defRPr>
            </a:pPr>
            <a:r>
              <a:rPr sz="1400" b="0">
                <a:solidFill>
                  <a:srgbClr val="0F172A"/>
                </a:solidFill>
                <a:latin typeface="Segoe UI"/>
              </a:rPr>
              <a:t>• Discutir: ¿cuánta utilidad perdés? ¿el modelo DP es publicable sin riesgo de membership inference?</a:t>
            </a:r>
          </a:p>
        </p:txBody>
      </p:sp>
    </p:spTree>
  </p:cSld>
  <p:clrMapOvr>
    <a:masterClrMapping/>
  </p:clrMapOvr>
</p:sld>
</file>

<file path=ppt/slides/slide113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226 — Federated learning: intro</a:t>
            </a:r>
          </a:p>
        </p:txBody>
      </p:sp>
    </p:spTree>
  </p:cSld>
  <p:clrMapOvr>
    <a:masterClrMapping/>
  </p:clrMapOvr>
</p:sld>
</file>

<file path=ppt/slides/slide11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226 — Federated learning: intro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7 — Ética, Fairness y Privacidad · Fuente: McMahan et al. Communication-Efficient Learning of Deep Networks from Decentralized Data (AISTATS 2017) + Kairouz et al. Advances and Open Problems in Federated Learning (FnTML 2021).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un modelo central sin centralizar los datos. Cada cliente (móvil, hospital, banco) entrena local sobre su data, sube solo pesos o gradientes al servidor, que agrega vía FedAvg. Implementar FedAvg manual sobre regresión logística, ver cómo degrada con datos non-IID, y demostrar el ataque básico de gradient leakage (los gradientes filtran data).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el setup FL: server + K clientes, rondas, partial participation, comunicación de pesos en vez de data.</a:t>
            </a:r>
          </a:p>
          <a:p>
            <a:pPr>
              <a:spcAft>
                <a:spcPts val="800"/>
              </a:spcAft>
              <a:defRPr sz="1400" b="0">
                <a:solidFill>
                  <a:srgbClr val="0F172A"/>
                </a:solidFill>
                <a:latin typeface="Segoe UI"/>
              </a:defRPr>
            </a:pPr>
            <a:r>
              <a:rPr sz="1400" b="0">
                <a:solidFill>
                  <a:srgbClr val="0F172A"/>
                </a:solidFill>
                <a:latin typeface="Segoe UI"/>
              </a:rPr>
              <a:t>• Implementar el algoritmo FedAvg (McMahan 2017): w_{t+1} = Σ_k (n_k / n) * w_k^t.</a:t>
            </a:r>
          </a:p>
          <a:p>
            <a:pPr>
              <a:spcAft>
                <a:spcPts val="800"/>
              </a:spcAft>
              <a:defRPr sz="1400" b="0">
                <a:solidFill>
                  <a:srgbClr val="0F172A"/>
                </a:solidFill>
                <a:latin typeface="Segoe UI"/>
              </a:defRPr>
            </a:pPr>
            <a:r>
              <a:rPr sz="1400" b="0">
                <a:solidFill>
                  <a:srgbClr val="0F172A"/>
                </a:solidFill>
                <a:latin typeface="Segoe UI"/>
              </a:rPr>
              <a:t>• Distinguir cross-device (millones de móviles, intermitentes) vs cross-silo (decenas de hospitales, estables).</a:t>
            </a:r>
          </a:p>
          <a:p>
            <a:pPr>
              <a:spcAft>
                <a:spcPts val="800"/>
              </a:spcAft>
              <a:defRPr sz="1400" b="0">
                <a:solidFill>
                  <a:srgbClr val="0F172A"/>
                </a:solidFill>
                <a:latin typeface="Segoe UI"/>
              </a:defRPr>
            </a:pPr>
            <a:r>
              <a:rPr sz="1400" b="0">
                <a:solidFill>
                  <a:srgbClr val="0F172A"/>
                </a:solidFill>
                <a:latin typeface="Segoe UI"/>
              </a:rPr>
              <a:t>• Reconocer el efecto de datos non-IID: FedAvg degrada cuando cada cliente ve una distribución distinta.</a:t>
            </a:r>
          </a:p>
          <a:p>
            <a:pPr>
              <a:spcAft>
                <a:spcPts val="800"/>
              </a:spcAft>
              <a:defRPr sz="1400" b="0">
                <a:solidFill>
                  <a:srgbClr val="0F172A"/>
                </a:solidFill>
                <a:latin typeface="Segoe UI"/>
              </a:defRPr>
            </a:pPr>
            <a:r>
              <a:rPr sz="1400" b="0">
                <a:solidFill>
                  <a:srgbClr val="0F172A"/>
                </a:solidFill>
                <a:latin typeface="Segoe UI"/>
              </a:rPr>
              <a:t>• Identificar los riesgos: model poisoning, gradient leakage (Zhu 2019), y las defensas (secure aggregation, DP-FedAvg, Krum).</a:t>
            </a:r>
          </a:p>
        </p:txBody>
      </p:sp>
    </p:spTree>
  </p:cSld>
  <p:clrMapOvr>
    <a:masterClrMapping/>
  </p:clrMapOvr>
</p:sld>
</file>

<file path=ppt/slides/slide11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226 — Federated learning: intro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Setup FL: server + clientes + rondas</a:t>
            </a:r>
          </a:p>
          <a:p>
            <a:pPr>
              <a:spcAft>
                <a:spcPts val="1000"/>
              </a:spcAft>
              <a:defRPr sz="1600" b="0">
                <a:solidFill>
                  <a:srgbClr val="0F172A"/>
                </a:solidFill>
                <a:latin typeface="Segoe UI"/>
              </a:defRPr>
            </a:pPr>
            <a:r>
              <a:rPr sz="1600" b="0">
                <a:solidFill>
                  <a:srgbClr val="0F172A"/>
                </a:solidFill>
                <a:latin typeface="Segoe UI"/>
              </a:rPr>
              <a:t>• FedAvg: muestreo, local epochs, agregación ponderada</a:t>
            </a:r>
          </a:p>
          <a:p>
            <a:pPr>
              <a:spcAft>
                <a:spcPts val="1000"/>
              </a:spcAft>
              <a:defRPr sz="1600" b="0">
                <a:solidFill>
                  <a:srgbClr val="0F172A"/>
                </a:solidFill>
                <a:latin typeface="Segoe UI"/>
              </a:defRPr>
            </a:pPr>
            <a:r>
              <a:rPr sz="1600" b="0">
                <a:solidFill>
                  <a:srgbClr val="0F172A"/>
                </a:solidFill>
                <a:latin typeface="Segoe UI"/>
              </a:rPr>
              <a:t>• Cross-device vs cross-silo</a:t>
            </a:r>
          </a:p>
          <a:p>
            <a:pPr>
              <a:spcAft>
                <a:spcPts val="1000"/>
              </a:spcAft>
              <a:defRPr sz="1600" b="0">
                <a:solidFill>
                  <a:srgbClr val="0F172A"/>
                </a:solidFill>
                <a:latin typeface="Segoe UI"/>
              </a:defRPr>
            </a:pPr>
            <a:r>
              <a:rPr sz="1600" b="0">
                <a:solidFill>
                  <a:srgbClr val="0F172A"/>
                </a:solidFill>
                <a:latin typeface="Segoe UI"/>
              </a:rPr>
              <a:t>• Heterogeneidad: non-IID + system + partial</a:t>
            </a:r>
          </a:p>
          <a:p>
            <a:pPr>
              <a:spcAft>
                <a:spcPts val="1000"/>
              </a:spcAft>
              <a:defRPr sz="1600" b="0">
                <a:solidFill>
                  <a:srgbClr val="0F172A"/>
                </a:solidFill>
                <a:latin typeface="Segoe UI"/>
              </a:defRPr>
            </a:pPr>
            <a:r>
              <a:rPr sz="1600" b="0">
                <a:solidFill>
                  <a:srgbClr val="0F172A"/>
                </a:solidFill>
                <a:latin typeface="Segoe UI"/>
              </a:rPr>
              <a:t>• Ataques: model poisoning, gradient leakage (DLG)</a:t>
            </a:r>
          </a:p>
          <a:p>
            <a:pPr>
              <a:spcAft>
                <a:spcPts val="1000"/>
              </a:spcAft>
              <a:defRPr sz="1600" b="0">
                <a:solidFill>
                  <a:srgbClr val="0F172A"/>
                </a:solidFill>
                <a:latin typeface="Segoe UI"/>
              </a:defRPr>
            </a:pPr>
            <a:r>
              <a:rPr sz="1600" b="0">
                <a:solidFill>
                  <a:srgbClr val="0F172A"/>
                </a:solidFill>
                <a:latin typeface="Segoe UI"/>
              </a:rPr>
              <a:t>• Defensas: secure aggregation, DP, Krum/Median</a:t>
            </a:r>
          </a:p>
        </p:txBody>
      </p:sp>
    </p:spTree>
  </p:cSld>
  <p:clrMapOvr>
    <a:masterClrMapping/>
  </p:clrMapOvr>
</p:sld>
</file>

<file path=ppt/slides/slide11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226 — Federated learning: intro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Self-contained: solo numpy + sklearn. Simulamos FL a mano — sin flower, PySyft ni TFF — para que el algoritmo quede transparente. Seed 42.</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make_classification(</a:t>
            </a:r>
          </a:p>
          <a:p>
            <a:pPr>
              <a:defRPr sz="1200" b="0">
                <a:solidFill>
                  <a:srgbClr val="F8FAFC"/>
                </a:solidFill>
                <a:latin typeface="Courier New"/>
              </a:defRPr>
            </a:pPr>
            <a:r>
              <a:rPr sz="1200" b="0">
                <a:solidFill>
                  <a:srgbClr val="F8FAFC"/>
                </a:solidFill>
                <a:latin typeface="Courier New"/>
              </a:rPr>
              <a:t>    n_samples=2000, n_features=10, n_informative=6,</a:t>
            </a:r>
          </a:p>
          <a:p>
            <a:pPr>
              <a:defRPr sz="1200" b="0">
                <a:solidFill>
                  <a:srgbClr val="F8FAFC"/>
                </a:solidFill>
                <a:latin typeface="Courier New"/>
              </a:defRPr>
            </a:pPr>
            <a:r>
              <a:rPr sz="1200" b="0">
                <a:solidFill>
                  <a:srgbClr val="F8FAFC"/>
                </a:solidFill>
                <a:latin typeface="Courier New"/>
              </a:rPr>
              <a:t>    n_redundant=2, n_classes=2, random_state=42,</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X = (X - X.mean(0)) / X.std(0)</a:t>
            </a:r>
          </a:p>
          <a:p>
            <a:pPr>
              <a:defRPr sz="1200" b="0">
                <a:solidFill>
                  <a:srgbClr val="F8FAFC"/>
                </a:solidFill>
                <a:latin typeface="Courier New"/>
              </a:defRPr>
            </a:pPr>
            <a:r>
              <a:rPr sz="1200" b="0">
                <a:solidFill>
                  <a:srgbClr val="F8FAFC"/>
                </a:solidFill>
                <a:latin typeface="Courier New"/>
              </a:rPr>
              <a:t># Columna de bias (sesgo) para regresión logística manual</a:t>
            </a:r>
          </a:p>
          <a:p>
            <a:pPr>
              <a:defRPr sz="1200" b="0">
                <a:solidFill>
                  <a:srgbClr val="F8FAFC"/>
                </a:solidFill>
                <a:latin typeface="Courier New"/>
              </a:defRPr>
            </a:pPr>
            <a:r>
              <a:rPr sz="1200" b="0">
                <a:solidFill>
                  <a:srgbClr val="F8FAFC"/>
                </a:solidFill>
                <a:latin typeface="Courier New"/>
              </a:rPr>
              <a:t>X_b = np.hstack([X, np.ones((X.shape[0], 1))])</a:t>
            </a:r>
          </a:p>
          <a:p>
            <a:pPr>
              <a:defRPr sz="1200" b="0">
                <a:solidFill>
                  <a:srgbClr val="F8FAFC"/>
                </a:solidFill>
                <a:latin typeface="Courier New"/>
              </a:defRPr>
            </a:pPr>
            <a:r>
              <a:rPr sz="1200" b="0">
                <a:solidFill>
                  <a:srgbClr val="F8FAFC"/>
                </a:solidFill>
                <a:latin typeface="Courier New"/>
              </a:rPr>
              <a:t>n, d = X_b.shape</a:t>
            </a:r>
          </a:p>
          <a:p>
            <a:pPr>
              <a:defRPr sz="1200" b="0">
                <a:solidFill>
                  <a:srgbClr val="F8FAFC"/>
                </a:solidFill>
                <a:latin typeface="Courier New"/>
              </a:defRPr>
            </a:pPr>
            <a:r>
              <a:rPr sz="1200" b="0">
                <a:solidFill>
                  <a:srgbClr val="F8FAFC"/>
                </a:solidFill>
                <a:latin typeface="Courier New"/>
              </a:rPr>
              <a:t>print(f'dataset: X={X_b.shape}, y={y.shape}, balance={y.mean():.3f}')</a:t>
            </a:r>
          </a:p>
        </p:txBody>
      </p:sp>
    </p:spTree>
  </p:cSld>
  <p:clrMapOvr>
    <a:masterClrMapping/>
  </p:clrMapOvr>
</p:sld>
</file>

<file path=ppt/slides/slide11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226 — Federated learning: intro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Particionado IID: generar 2000 muestras, split aleatorio uniforme en K=10 clientes.</a:t>
            </a:r>
          </a:p>
          <a:p>
            <a:pPr>
              <a:spcAft>
                <a:spcPts val="800"/>
              </a:spcAft>
              <a:defRPr sz="1400" b="0">
                <a:solidFill>
                  <a:srgbClr val="0F172A"/>
                </a:solidFill>
                <a:latin typeface="Segoe UI"/>
              </a:defRPr>
            </a:pPr>
            <a:r>
              <a:rPr sz="1400" b="0">
                <a:solidFill>
                  <a:srgbClr val="0F172A"/>
                </a:solidFill>
                <a:latin typeface="Segoe UI"/>
              </a:rPr>
              <a:t>• Local training: implementar local_train(X, y, w, epochs=5, lr=0.05) — regresión logística con SGD manual.</a:t>
            </a:r>
          </a:p>
          <a:p>
            <a:pPr>
              <a:spcAft>
                <a:spcPts val="800"/>
              </a:spcAft>
              <a:defRPr sz="1400" b="0">
                <a:solidFill>
                  <a:srgbClr val="0F172A"/>
                </a:solidFill>
                <a:latin typeface="Segoe UI"/>
              </a:defRPr>
            </a:pPr>
            <a:r>
              <a:rPr sz="1400" b="0">
                <a:solidFill>
                  <a:srgbClr val="0F172A"/>
                </a:solidFill>
                <a:latin typeface="Segoe UI"/>
              </a:rPr>
              <a:t>• FedAvg loop: 20 rondas.</a:t>
            </a:r>
          </a:p>
          <a:p>
            <a:pPr>
              <a:spcAft>
                <a:spcPts val="800"/>
              </a:spcAft>
              <a:defRPr sz="1400" b="0">
                <a:solidFill>
                  <a:srgbClr val="0F172A"/>
                </a:solidFill>
                <a:latin typeface="Segoe UI"/>
              </a:defRPr>
            </a:pPr>
            <a:r>
              <a:rPr sz="1400" b="0">
                <a:solidFill>
                  <a:srgbClr val="0F172A"/>
                </a:solidFill>
                <a:latin typeface="Segoe UI"/>
              </a:rPr>
              <a:t>• Centralizado vs federado: entrenar la misma logística sobre todo el data junto.</a:t>
            </a:r>
          </a:p>
          <a:p>
            <a:pPr>
              <a:spcAft>
                <a:spcPts val="800"/>
              </a:spcAft>
              <a:defRPr sz="1400" b="0">
                <a:solidFill>
                  <a:srgbClr val="0F172A"/>
                </a:solidFill>
                <a:latin typeface="Segoe UI"/>
              </a:defRPr>
            </a:pPr>
            <a:r>
              <a:rPr sz="1400" b="0">
                <a:solidFill>
                  <a:srgbClr val="0F172A"/>
                </a:solidFill>
                <a:latin typeface="Segoe UI"/>
              </a:rPr>
              <a:t>• Non-IID: re-partir asignando a cada cliente solo 1-2 clases (cliente 0 ve mayoritariamente clase 0, etc.).</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FedAvg + variante FedProx (agrega regularización μ/2 · ||w_k - w_t||² al loss local — Li et al. 2020) sobre el mismo dataset non-IID.</a:t>
            </a:r>
          </a:p>
          <a:p>
            <a:pPr>
              <a:spcAft>
                <a:spcPts val="800"/>
              </a:spcAft>
              <a:defRPr sz="1400" b="0">
                <a:solidFill>
                  <a:srgbClr val="0F172A"/>
                </a:solidFill>
                <a:latin typeface="Segoe UI"/>
              </a:defRPr>
            </a:pPr>
            <a:r>
              <a:rPr sz="1400" b="0">
                <a:solidFill>
                  <a:srgbClr val="0F172A"/>
                </a:solidFill>
                <a:latin typeface="Segoe UI"/>
              </a:rPr>
              <a:t>• Comparar curvas de loss FedAvg vs FedProx vs central (3 curvas).</a:t>
            </a:r>
          </a:p>
          <a:p>
            <a:pPr>
              <a:spcAft>
                <a:spcPts val="800"/>
              </a:spcAft>
              <a:defRPr sz="1400" b="0">
                <a:solidFill>
                  <a:srgbClr val="0F172A"/>
                </a:solidFill>
                <a:latin typeface="Segoe UI"/>
              </a:defRPr>
            </a:pPr>
            <a:r>
              <a:rPr sz="1400" b="0">
                <a:solidFill>
                  <a:srgbClr val="0F172A"/>
                </a:solidFill>
                <a:latin typeface="Segoe UI"/>
              </a:rPr>
              <a:t>• Implementar DP-FedAvg: ruido gaussiano σ=0.01 sobre los pesos agregados. Medir pérdida de accuracy.</a:t>
            </a:r>
          </a:p>
          <a:p>
            <a:pPr>
              <a:spcAft>
                <a:spcPts val="800"/>
              </a:spcAft>
              <a:defRPr sz="1400" b="0">
                <a:solidFill>
                  <a:srgbClr val="0F172A"/>
                </a:solidFill>
                <a:latin typeface="Segoe UI"/>
              </a:defRPr>
            </a:pPr>
            <a:r>
              <a:rPr sz="1400" b="0">
                <a:solidFill>
                  <a:srgbClr val="0F172A"/>
                </a:solidFill>
                <a:latin typeface="Segoe UI"/>
              </a:rPr>
              <a:t>• Reproducir gradient leakage simple sobre 1 muestra: dado el gradiente de regresión lineal con batch=1, recuperar x vía minimización de ||∇_w L(w; x_hat, y) - g||².</a:t>
            </a:r>
          </a:p>
          <a:p>
            <a:pPr>
              <a:spcAft>
                <a:spcPts val="800"/>
              </a:spcAft>
              <a:defRPr sz="1400" b="0">
                <a:solidFill>
                  <a:srgbClr val="0F172A"/>
                </a:solidFill>
                <a:latin typeface="Segoe UI"/>
              </a:defRPr>
            </a:pPr>
            <a:r>
              <a:rPr sz="1400" b="0">
                <a:solidFill>
                  <a:srgbClr val="0F172A"/>
                </a:solidFill>
                <a:latin typeface="Segoe UI"/>
              </a:rPr>
              <a:t>• Discutir (≤200 palabras): cuándo FL paga el costo de comunicación vs entrenamiento central + acuerdo de data sharing.</a:t>
            </a:r>
          </a:p>
        </p:txBody>
      </p:sp>
    </p:spTree>
  </p:cSld>
  <p:clrMapOvr>
    <a:masterClrMapping/>
  </p:clrMapOvr>
</p:sld>
</file>

<file path=ppt/slides/slide114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227 — GDPR y AI Act (EU)</a:t>
            </a:r>
          </a:p>
        </p:txBody>
      </p:sp>
    </p:spTree>
  </p:cSld>
  <p:clrMapOvr>
    <a:masterClrMapping/>
  </p:clrMapOvr>
</p:sld>
</file>

<file path=ppt/slides/slide11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227 — GDPR y AI Act (EU)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7 — Ética, Fairness y Privacidad · Fuente: Reglamento UE 2016/679 (GDPR) + Reglamento UE 2024/1689 (AI Act).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qué exige la regulación europea a un sistema de ML que toca datos personales o decisiones automatizadas. GDPR (en vigor desde 25-may-2018) regula el dato: bases legales, derechos del titular, DPIA. AI Act (Reglamento UE 2024/1689, escalonado 2024-2027) regula el sistema de IA por nivel de riesgo: prohibido / alto / limitado / mínimo. Aterrizamos ambas normas en un mini-toolkit programático que un equipo de datos puede ejecutar antes de poner un modelo en producción.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la base legal del Art. 6 GDPR aplicable a un tratamiento (consentimiento, contrato, interés legítimo, etc.) y distinguir las categorías especiales del Art. 9 (salud, biometría, raza).</a:t>
            </a:r>
          </a:p>
          <a:p>
            <a:pPr>
              <a:spcAft>
                <a:spcPts val="800"/>
              </a:spcAft>
              <a:defRPr sz="1400" b="0">
                <a:solidFill>
                  <a:srgbClr val="0F172A"/>
                </a:solidFill>
                <a:latin typeface="Segoe UI"/>
              </a:defRPr>
            </a:pPr>
            <a:r>
              <a:rPr sz="1400" b="0">
                <a:solidFill>
                  <a:srgbClr val="0F172A"/>
                </a:solidFill>
                <a:latin typeface="Segoe UI"/>
              </a:rPr>
              <a:t>• Implementar los derechos del titular más comunes: acceso, rectificación, supresión (Art. 17 — derecho al olvido) y portabilidad.</a:t>
            </a:r>
          </a:p>
          <a:p>
            <a:pPr>
              <a:spcAft>
                <a:spcPts val="800"/>
              </a:spcAft>
              <a:defRPr sz="1400" b="0">
                <a:solidFill>
                  <a:srgbClr val="0F172A"/>
                </a:solidFill>
                <a:latin typeface="Segoe UI"/>
              </a:defRPr>
            </a:pPr>
            <a:r>
              <a:rPr sz="1400" b="0">
                <a:solidFill>
                  <a:srgbClr val="0F172A"/>
                </a:solidFill>
                <a:latin typeface="Segoe UI"/>
              </a:rPr>
              <a:t>• Reconocer cuándo el Art. 22 GDPR (decisiones automatizadas con efectos significativos) exige supervisión humana y combinarlo con el Art. 14 del AI Act.</a:t>
            </a:r>
          </a:p>
          <a:p>
            <a:pPr>
              <a:spcAft>
                <a:spcPts val="800"/>
              </a:spcAft>
              <a:defRPr sz="1400" b="0">
                <a:solidFill>
                  <a:srgbClr val="0F172A"/>
                </a:solidFill>
                <a:latin typeface="Segoe UI"/>
              </a:defRPr>
            </a:pPr>
            <a:r>
              <a:rPr sz="1400" b="0">
                <a:solidFill>
                  <a:srgbClr val="0F172A"/>
                </a:solidFill>
                <a:latin typeface="Segoe UI"/>
              </a:rPr>
              <a:t>• Clasificar un caso de uso de IA en el nivel de riesgo del AI Act (prohibido, alto — Anexo III, limitado, mínimo) y listar las obligaciones que aplican.</a:t>
            </a:r>
          </a:p>
          <a:p>
            <a:pPr>
              <a:spcAft>
                <a:spcPts val="800"/>
              </a:spcAft>
              <a:defRPr sz="1400" b="0">
                <a:solidFill>
                  <a:srgbClr val="0F172A"/>
                </a:solidFill>
                <a:latin typeface="Segoe UI"/>
              </a:defRPr>
            </a:pPr>
            <a:r>
              <a:rPr sz="1400" b="0">
                <a:solidFill>
                  <a:srgbClr val="0F172A"/>
                </a:solidFill>
                <a:latin typeface="Segoe UI"/>
              </a:rPr>
              <a:t>• Generar una model card mínima y un checklist DPIA programático como artefactos de compliance.</a:t>
            </a:r>
          </a:p>
        </p:txBody>
      </p:sp>
    </p:spTree>
  </p:cSld>
  <p:clrMapOvr>
    <a:masterClrMapping/>
  </p:clrMapOvr>
</p:sld>
</file>

<file path=ppt/slides/slide11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227 — GDPR y AI Act (EU)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Bases legales (Art. 6) y categorías especiales (Art. 9) GDPR</a:t>
            </a:r>
          </a:p>
          <a:p>
            <a:pPr>
              <a:spcAft>
                <a:spcPts val="1000"/>
              </a:spcAft>
              <a:defRPr sz="1600" b="0">
                <a:solidFill>
                  <a:srgbClr val="0F172A"/>
                </a:solidFill>
                <a:latin typeface="Segoe UI"/>
              </a:defRPr>
            </a:pPr>
            <a:r>
              <a:rPr sz="1600" b="0">
                <a:solidFill>
                  <a:srgbClr val="0F172A"/>
                </a:solidFill>
                <a:latin typeface="Segoe UI"/>
              </a:rPr>
              <a:t>• Derechos del titular (acceso, supresión, portabilidad, Art. 22)</a:t>
            </a:r>
          </a:p>
          <a:p>
            <a:pPr>
              <a:spcAft>
                <a:spcPts val="1000"/>
              </a:spcAft>
              <a:defRPr sz="1600" b="0">
                <a:solidFill>
                  <a:srgbClr val="0F172A"/>
                </a:solidFill>
                <a:latin typeface="Segoe UI"/>
              </a:defRPr>
            </a:pPr>
            <a:r>
              <a:rPr sz="1600" b="0">
                <a:solidFill>
                  <a:srgbClr val="0F172A"/>
                </a:solidFill>
                <a:latin typeface="Segoe UI"/>
              </a:rPr>
              <a:t>• DPIA (Art. 35) — Data Protection Impact Assessment</a:t>
            </a:r>
          </a:p>
          <a:p>
            <a:pPr>
              <a:spcAft>
                <a:spcPts val="1000"/>
              </a:spcAft>
              <a:defRPr sz="1600" b="0">
                <a:solidFill>
                  <a:srgbClr val="0F172A"/>
                </a:solidFill>
                <a:latin typeface="Segoe UI"/>
              </a:defRPr>
            </a:pPr>
            <a:r>
              <a:rPr sz="1600" b="0">
                <a:solidFill>
                  <a:srgbClr val="0F172A"/>
                </a:solidFill>
                <a:latin typeface="Segoe UI"/>
              </a:rPr>
              <a:t>• AI Act: pirámide de riesgo</a:t>
            </a:r>
          </a:p>
          <a:p>
            <a:pPr>
              <a:spcAft>
                <a:spcPts val="1000"/>
              </a:spcAft>
              <a:defRPr sz="1600" b="0">
                <a:solidFill>
                  <a:srgbClr val="0F172A"/>
                </a:solidFill>
                <a:latin typeface="Segoe UI"/>
              </a:defRPr>
            </a:pPr>
            <a:r>
              <a:rPr sz="1600" b="0">
                <a:solidFill>
                  <a:srgbClr val="0F172A"/>
                </a:solidFill>
                <a:latin typeface="Segoe UI"/>
              </a:rPr>
              <a:t>• Sistemas de alto riesgo (Anexo III)</a:t>
            </a:r>
          </a:p>
          <a:p>
            <a:pPr>
              <a:spcAft>
                <a:spcPts val="1000"/>
              </a:spcAft>
              <a:defRPr sz="1600" b="0">
                <a:solidFill>
                  <a:srgbClr val="0F172A"/>
                </a:solidFill>
                <a:latin typeface="Segoe UI"/>
              </a:defRPr>
            </a:pPr>
            <a:r>
              <a:rPr sz="1600" b="0">
                <a:solidFill>
                  <a:srgbClr val="0F172A"/>
                </a:solidFill>
                <a:latin typeface="Segoe UI"/>
              </a:rPr>
              <a:t>• GPAI y modelos fundacionales</a:t>
            </a:r>
          </a:p>
        </p:txBody>
      </p:sp>
    </p:spTree>
  </p:cSld>
  <p:clrMapOvr>
    <a:masterClrMapping/>
  </p:clrMapOvr>
</p:sld>
</file>

<file path=ppt/slides/slide11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227 — GDPR y AI Act (EU)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Esta clase es legal/operativa. El notebook implementa un compliance toolkit que un equipo de datos puede correr antes de pasar un modelo a producción. Solo numpy, pandas, scikit-learn, re. Seed 42. Sin datos reales — generamos un sintético de decisiones de crédito.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re</a:t>
            </a:r>
          </a:p>
          <a:p>
            <a:pPr>
              <a:defRPr sz="1200" b="0">
                <a:solidFill>
                  <a:srgbClr val="F8FAFC"/>
                </a:solidFill>
                <a:latin typeface="Courier New"/>
              </a:defRPr>
            </a:pPr>
            <a:r>
              <a:rPr sz="1200" b="0">
                <a:solidFill>
                  <a:srgbClr val="F8FAFC"/>
                </a:solidFill>
                <a:latin typeface="Courier New"/>
              </a:rPr>
              <a:t>import json</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from datetime import datetime, timezone</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 1000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df = pd.DataFrame({</a:t>
            </a:r>
          </a:p>
          <a:p>
            <a:pPr>
              <a:defRPr sz="1200" b="0">
                <a:solidFill>
                  <a:srgbClr val="F8FAFC"/>
                </a:solidFill>
                <a:latin typeface="Courier New"/>
              </a:defRPr>
            </a:pPr>
            <a:r>
              <a:rPr sz="1200" b="0">
                <a:solidFill>
                  <a:srgbClr val="F8FAFC"/>
                </a:solidFill>
                <a:latin typeface="Courier New"/>
              </a:rPr>
              <a:t>    'user_id':   np.arange(n),</a:t>
            </a:r>
          </a:p>
          <a:p>
            <a:pPr>
              <a:defRPr sz="1200" b="0">
                <a:solidFill>
                  <a:srgbClr val="F8FAFC"/>
                </a:solidFill>
                <a:latin typeface="Courier New"/>
              </a:defRPr>
            </a:pPr>
            <a:r>
              <a:rPr sz="1200" b="0">
                <a:solidFill>
                  <a:srgbClr val="F8FAFC"/>
                </a:solidFill>
                <a:latin typeface="Courier New"/>
              </a:rPr>
              <a:t>    'email':     [f'user{i}@example.com' for i in range(n)],</a:t>
            </a:r>
          </a:p>
          <a:p>
            <a:pPr>
              <a:defRPr sz="1200" b="0">
                <a:solidFill>
                  <a:srgbClr val="F8FAFC"/>
                </a:solidFill>
                <a:latin typeface="Courier New"/>
              </a:defRPr>
            </a:pPr>
            <a:r>
              <a:rPr sz="1200" b="0">
                <a:solidFill>
                  <a:srgbClr val="F8FAFC"/>
                </a:solidFill>
                <a:latin typeface="Courier New"/>
              </a:rPr>
              <a:t>    'dni':       [f'{rng.integers(10_000_000, 99_999_999)}{chr(rng.integers(65, 91))}' for _ in range(n)],</a:t>
            </a:r>
          </a:p>
          <a:p>
            <a:pPr>
              <a:defRPr sz="1200" b="0">
                <a:solidFill>
                  <a:srgbClr val="F8FAFC"/>
                </a:solidFill>
                <a:latin typeface="Courier New"/>
              </a:defRPr>
            </a:pPr>
            <a:r>
              <a:rPr sz="1200" b="0">
                <a:solidFill>
                  <a:srgbClr val="F8FAFC"/>
                </a:solidFill>
                <a:latin typeface="Courier New"/>
              </a:rPr>
              <a:t>    'age':       rng.integers(18, 80, n),</a:t>
            </a:r>
          </a:p>
          <a:p>
            <a:pPr>
              <a:defRPr sz="1200" b="0">
                <a:solidFill>
                  <a:srgbClr val="F8FAFC"/>
                </a:solidFill>
                <a:latin typeface="Courier New"/>
              </a:defRPr>
            </a:pPr>
            <a:r>
              <a:rPr sz="1200" b="0">
                <a:solidFill>
                  <a:srgbClr val="F8FAFC"/>
                </a:solidFill>
                <a:latin typeface="Courier New"/>
              </a:rPr>
              <a:t>    'salary':    rng.normal(35_000, 12_000, n).clip(8_000, 200_000).round(),</a:t>
            </a:r>
          </a:p>
          <a:p>
            <a:pPr>
              <a:defRPr sz="1200" b="0">
                <a:solidFill>
                  <a:srgbClr val="F8FAFC"/>
                </a:solidFill>
                <a:latin typeface="Courier New"/>
              </a:defRPr>
            </a:pPr>
            <a:r>
              <a:rPr sz="1200" b="0">
                <a:solidFill>
                  <a:srgbClr val="F8FAFC"/>
                </a:solidFill>
                <a:latin typeface="Courier New"/>
              </a:rPr>
              <a:t>    'is_minority': rng.integers(0, 2, n),</a:t>
            </a:r>
          </a:p>
          <a:p>
            <a:pPr>
              <a:defRPr sz="1200" b="0">
                <a:solidFill>
                  <a:srgbClr val="F8FAFC"/>
                </a:solidFill>
                <a:latin typeface="Courier New"/>
              </a:defRPr>
            </a:pPr>
            <a:r>
              <a:rPr sz="1200" b="0">
                <a:solidFill>
                  <a:srgbClr val="F8FAFC"/>
                </a:solidFill>
                <a:latin typeface="Courier New"/>
              </a:rPr>
              <a:t>    'past_default': rng.integers(0, 2, n),</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1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227 — GDPR y AI Act (EU)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Clasificador de riesgo AI Act: is_high_risk_use_case("CV screening") → "alto"; "juego móvil de match-3" → "mínimo".</a:t>
            </a:r>
          </a:p>
          <a:p>
            <a:pPr>
              <a:spcAft>
                <a:spcPts val="800"/>
              </a:spcAft>
              <a:defRPr sz="1400" b="0">
                <a:solidFill>
                  <a:srgbClr val="0F172A"/>
                </a:solidFill>
                <a:latin typeface="Segoe UI"/>
              </a:defRPr>
            </a:pPr>
            <a:r>
              <a:rPr sz="1400" b="0">
                <a:solidFill>
                  <a:srgbClr val="0F172A"/>
                </a:solidFill>
                <a:latin typeface="Segoe UI"/>
              </a:rPr>
              <a:t>• DPIA checklist: dado {"sensitive_categories": True, "automated_decisions": True, "scale": "large"}, listar las obligaciones GDPR aplicables (DPIA, DPO, consentimiento reforzado, etc.).</a:t>
            </a:r>
          </a:p>
          <a:p>
            <a:pPr>
              <a:spcAft>
                <a:spcPts val="800"/>
              </a:spcAft>
              <a:defRPr sz="1400" b="0">
                <a:solidFill>
                  <a:srgbClr val="0F172A"/>
                </a:solidFill>
                <a:latin typeface="Segoe UI"/>
              </a:defRPr>
            </a:pPr>
            <a:r>
              <a:rPr sz="1400" b="0">
                <a:solidFill>
                  <a:srgbClr val="0F172A"/>
                </a:solidFill>
                <a:latin typeface="Segoe UI"/>
              </a:rPr>
              <a:t>• Right to be forgotten: implementar right_to_be_forgotten(df, user_id) que elimine al usuario y devuelva un registro de auditoría con timestamp + columnas afectadas.</a:t>
            </a:r>
          </a:p>
          <a:p>
            <a:pPr>
              <a:spcAft>
                <a:spcPts val="800"/>
              </a:spcAft>
              <a:defRPr sz="1400" b="0">
                <a:solidFill>
                  <a:srgbClr val="0F172A"/>
                </a:solidFill>
                <a:latin typeface="Segoe UI"/>
              </a:defRPr>
            </a:pPr>
            <a:r>
              <a:rPr sz="1400" b="0">
                <a:solidFill>
                  <a:srgbClr val="0F172A"/>
                </a:solidFill>
                <a:latin typeface="Segoe UI"/>
              </a:rPr>
              <a:t>• Data minimization audit: detectar columnas que parecen email (r"[\w\.-]+@[\w\.-]+") o DNI (r"\d{8}[A-Z]"); sugerir hash o remoción.</a:t>
            </a:r>
          </a:p>
          <a:p>
            <a:pPr>
              <a:spcAft>
                <a:spcPts val="800"/>
              </a:spcAft>
              <a:defRPr sz="1400" b="0">
                <a:solidFill>
                  <a:srgbClr val="0F172A"/>
                </a:solidFill>
                <a:latin typeface="Segoe UI"/>
              </a:defRPr>
            </a:pPr>
            <a:r>
              <a:rPr sz="1400" b="0">
                <a:solidFill>
                  <a:srgbClr val="0F172A"/>
                </a:solidFill>
                <a:latin typeface="Segoe UI"/>
              </a:rPr>
              <a:t>• Compliance report: pipeline de scoring de crédito que ejecuta los 7 chequeos del notebook (clasificación de riesgo, DPIA, model card, supervisión humana, minimización, auditoría de PII, registro de borrado) e imprime un reporte único.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Tomar un caso de uso real propio o público (ej.: recomendador de empleo, scoring de seguros) y clasificarlo en el AI Act con la función del ejercicio 1.</a:t>
            </a:r>
          </a:p>
          <a:p>
            <a:pPr>
              <a:spcAft>
                <a:spcPts val="800"/>
              </a:spcAft>
              <a:defRPr sz="1400" b="0">
                <a:solidFill>
                  <a:srgbClr val="0F172A"/>
                </a:solidFill>
                <a:latin typeface="Segoe UI"/>
              </a:defRPr>
            </a:pPr>
            <a:r>
              <a:rPr sz="1400" b="0">
                <a:solidFill>
                  <a:srgbClr val="0F172A"/>
                </a:solidFill>
                <a:latin typeface="Segoe UI"/>
              </a:rPr>
              <a:t>• Producir una model card completa (intended use, training data summary, performance global y por grupo sensible, limitaciones, fecha, owner).</a:t>
            </a:r>
          </a:p>
          <a:p>
            <a:pPr>
              <a:spcAft>
                <a:spcPts val="800"/>
              </a:spcAft>
              <a:defRPr sz="1400" b="0">
                <a:solidFill>
                  <a:srgbClr val="0F172A"/>
                </a:solidFill>
                <a:latin typeface="Segoe UI"/>
              </a:defRPr>
            </a:pPr>
            <a:r>
              <a:rPr sz="1400" b="0">
                <a:solidFill>
                  <a:srgbClr val="0F172A"/>
                </a:solidFill>
                <a:latin typeface="Segoe UI"/>
              </a:rPr>
              <a:t>• Ejecutar el DPIA checklist y listar las obligaciones GDPR aplicables al caso.</a:t>
            </a:r>
          </a:p>
          <a:p>
            <a:pPr>
              <a:spcAft>
                <a:spcPts val="800"/>
              </a:spcAft>
              <a:defRPr sz="1400" b="0">
                <a:solidFill>
                  <a:srgbClr val="0F172A"/>
                </a:solidFill>
                <a:latin typeface="Segoe UI"/>
              </a:defRPr>
            </a:pPr>
            <a:r>
              <a:rPr sz="1400" b="0">
                <a:solidFill>
                  <a:srgbClr val="0F172A"/>
                </a:solidFill>
                <a:latin typeface="Segoe UI"/>
              </a:rPr>
              <a:t>• Implementar el right to be forgotten sobre un dataset de &gt;10K filas y verificar que tras la deleción el usuario no aparece en ninguna columna (incluido model.predict).</a:t>
            </a:r>
          </a:p>
          <a:p>
            <a:pPr>
              <a:spcAft>
                <a:spcPts val="800"/>
              </a:spcAft>
              <a:defRPr sz="1400" b="0">
                <a:solidFill>
                  <a:srgbClr val="0F172A"/>
                </a:solidFill>
                <a:latin typeface="Segoe UI"/>
              </a:defRPr>
            </a:pPr>
            <a:r>
              <a:rPr sz="1400" b="0">
                <a:solidFill>
                  <a:srgbClr val="0F172A"/>
                </a:solidFill>
                <a:latin typeface="Segoe UI"/>
              </a:rPr>
              <a:t>• Generar un compliance report Markdown con todas las secciones (riesgo AI Act, DPIA, model card, PII audit, human-in-the-loop).</a:t>
            </a:r>
          </a:p>
        </p:txBody>
      </p:sp>
    </p:spTree>
  </p:cSld>
  <p:clrMapOvr>
    <a:masterClrMapping/>
  </p:clrMapOvr>
</p:sld>
</file>

<file path=ppt/slides/slide114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228 — Reproducibilidad: seeds, lock files, versionado de datasets</a:t>
            </a:r>
          </a:p>
        </p:txBody>
      </p:sp>
    </p:spTree>
  </p:cSld>
  <p:clrMapOvr>
    <a:masterClrMapping/>
  </p:clrMapOvr>
</p:sld>
</file>

<file path=ppt/slides/slide11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228 — Reproducibilidad: seeds, lock files, versionado de datasets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7 — Ética, Fairness y Privacidad · Fuente: Pineau et al., Improving Reproducibility in ML Research (JMLR 2021) + Gebru et al., Datasheets for Datasets (CACM 2021) + Mitchell et al., Model Cards for Model Reporting (FAT* 2019).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Cerrar la Parte 7 con el problema que atraviesa todo lo anterior: si un experimento no es reproducible, no es auditable, no es comparable y no es ciencia. Aprender a controlar las tres fuentes de no-determinismo (código, datos, ambiente) con seeds, lock files, hashes de datasets, model cards y manifiestos de pipeline. Entender por qué Hutson (Science, 2018) habló de "crisis de reproducibilidad" en ML y qué piden hoy NeurIPS/JMLR como mínimo.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Sembrar correctamente random, numpy, sklearn (y comentar torch) con una función seed_everything() y PYTHONHASHSEED.</a:t>
            </a:r>
          </a:p>
          <a:p>
            <a:pPr>
              <a:spcAft>
                <a:spcPts val="800"/>
              </a:spcAft>
              <a:defRPr sz="1400" b="0">
                <a:solidFill>
                  <a:srgbClr val="0F172A"/>
                </a:solidFill>
                <a:latin typeface="Segoe UI"/>
              </a:defRPr>
            </a:pPr>
            <a:r>
              <a:rPr sz="1400" b="0">
                <a:solidFill>
                  <a:srgbClr val="0F172A"/>
                </a:solidFill>
                <a:latin typeface="Segoe UI"/>
              </a:rPr>
              <a:t>• Distinguir requirements.txt (top-level) de un lock file (uv.lock, poetry.lock, conda-lock) que pinea toda la transitive tree.</a:t>
            </a:r>
          </a:p>
          <a:p>
            <a:pPr>
              <a:spcAft>
                <a:spcPts val="800"/>
              </a:spcAft>
              <a:defRPr sz="1400" b="0">
                <a:solidFill>
                  <a:srgbClr val="0F172A"/>
                </a:solidFill>
                <a:latin typeface="Segoe UI"/>
              </a:defRPr>
            </a:pPr>
            <a:r>
              <a:rPr sz="1400" b="0">
                <a:solidFill>
                  <a:srgbClr val="0F172A"/>
                </a:solidFill>
                <a:latin typeface="Segoe UI"/>
              </a:rPr>
              <a:t>• Calcular un hash estable de un DataFrame (sha256_of_df) que sobreviva a reorden de columnas e índice y sirva como dataset_id.</a:t>
            </a:r>
          </a:p>
          <a:p>
            <a:pPr>
              <a:spcAft>
                <a:spcPts val="800"/>
              </a:spcAft>
              <a:defRPr sz="1400" b="0">
                <a:solidFill>
                  <a:srgbClr val="0F172A"/>
                </a:solidFill>
                <a:latin typeface="Segoe UI"/>
              </a:defRPr>
            </a:pPr>
            <a:r>
              <a:rPr sz="1400" b="0">
                <a:solidFill>
                  <a:srgbClr val="0F172A"/>
                </a:solidFill>
                <a:latin typeface="Segoe UI"/>
              </a:rPr>
              <a:t>• Producir un manifest JSON con {data_hash, code_hash, seed, package_versions} y validar reproducibilidad antes de re-entrenar.</a:t>
            </a:r>
          </a:p>
          <a:p>
            <a:pPr>
              <a:spcAft>
                <a:spcPts val="800"/>
              </a:spcAft>
              <a:defRPr sz="1400" b="0">
                <a:solidFill>
                  <a:srgbClr val="0F172A"/>
                </a:solidFill>
                <a:latin typeface="Segoe UI"/>
              </a:defRPr>
            </a:pPr>
            <a:r>
              <a:rPr sz="1400" b="0">
                <a:solidFill>
                  <a:srgbClr val="0F172A"/>
                </a:solidFill>
                <a:latin typeface="Segoe UI"/>
              </a:rPr>
              <a:t>• Redactar una model card mínima (intended use, training data hash, metrics, limitations) según Mitchell et al. 2019.</a:t>
            </a:r>
          </a:p>
        </p:txBody>
      </p:sp>
    </p:spTree>
  </p:cSld>
  <p:clrMapOvr>
    <a:masterClrMapping/>
  </p:clrMapOvr>
</p:sld>
</file>

<file path=ppt/slides/slide11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228 — Reproducibilidad: seeds, lock files, versionado de datasets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Fuentes de no-determinismo</a:t>
            </a:r>
          </a:p>
          <a:p>
            <a:pPr>
              <a:spcAft>
                <a:spcPts val="1000"/>
              </a:spcAft>
              <a:defRPr sz="1600" b="0">
                <a:solidFill>
                  <a:srgbClr val="0F172A"/>
                </a:solidFill>
                <a:latin typeface="Segoe UI"/>
              </a:defRPr>
            </a:pPr>
            <a:r>
              <a:rPr sz="1600" b="0">
                <a:solidFill>
                  <a:srgbClr val="0F172A"/>
                </a:solidFill>
                <a:latin typeface="Segoe UI"/>
              </a:rPr>
              <a:t>• Seeds en stack Python</a:t>
            </a:r>
          </a:p>
          <a:p>
            <a:pPr>
              <a:spcAft>
                <a:spcPts val="1000"/>
              </a:spcAft>
              <a:defRPr sz="1600" b="0">
                <a:solidFill>
                  <a:srgbClr val="0F172A"/>
                </a:solidFill>
                <a:latin typeface="Segoe UI"/>
              </a:defRPr>
            </a:pPr>
            <a:r>
              <a:rPr sz="1600" b="0">
                <a:solidFill>
                  <a:srgbClr val="0F172A"/>
                </a:solidFill>
                <a:latin typeface="Segoe UI"/>
              </a:rPr>
              <a:t>• Lock files vs requirements</a:t>
            </a:r>
          </a:p>
          <a:p>
            <a:pPr>
              <a:spcAft>
                <a:spcPts val="1000"/>
              </a:spcAft>
              <a:defRPr sz="1600" b="0">
                <a:solidFill>
                  <a:srgbClr val="0F172A"/>
                </a:solidFill>
                <a:latin typeface="Segoe UI"/>
              </a:defRPr>
            </a:pPr>
            <a:r>
              <a:rPr sz="1600" b="0">
                <a:solidFill>
                  <a:srgbClr val="0F172A"/>
                </a:solidFill>
                <a:latin typeface="Segoe UI"/>
              </a:rPr>
              <a:t>• Ambiente reproducible</a:t>
            </a:r>
          </a:p>
          <a:p>
            <a:pPr>
              <a:spcAft>
                <a:spcPts val="1000"/>
              </a:spcAft>
              <a:defRPr sz="1600" b="0">
                <a:solidFill>
                  <a:srgbClr val="0F172A"/>
                </a:solidFill>
                <a:latin typeface="Segoe UI"/>
              </a:defRPr>
            </a:pPr>
            <a:r>
              <a:rPr sz="1600" b="0">
                <a:solidFill>
                  <a:srgbClr val="0F172A"/>
                </a:solidFill>
                <a:latin typeface="Segoe UI"/>
              </a:rPr>
              <a:t>• Versionado de datasets</a:t>
            </a:r>
          </a:p>
          <a:p>
            <a:pPr>
              <a:spcAft>
                <a:spcPts val="1000"/>
              </a:spcAft>
              <a:defRPr sz="1600" b="0">
                <a:solidFill>
                  <a:srgbClr val="0F172A"/>
                </a:solidFill>
                <a:latin typeface="Segoe UI"/>
              </a:defRPr>
            </a:pPr>
            <a:r>
              <a:rPr sz="1600" b="0">
                <a:solidFill>
                  <a:srgbClr val="0F172A"/>
                </a:solidFill>
                <a:latin typeface="Segoe UI"/>
              </a:rPr>
              <a:t>• Documentación: datasheets + model cards</a:t>
            </a:r>
          </a:p>
        </p:txBody>
      </p:sp>
    </p:spTree>
  </p:cSld>
  <p:clrMapOvr>
    <a:masterClrMapping/>
  </p:clrMapOvr>
</p:sld>
</file>

<file path=ppt/slides/slide11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228 — Reproducibilidad: seeds, lock files, versionado de datasets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Sin seed: distinto cada corrida</a:t>
            </a:r>
          </a:p>
          <a:p>
            <a:pPr>
              <a:defRPr sz="1200" b="0">
                <a:solidFill>
                  <a:srgbClr val="F8FAFC"/>
                </a:solidFill>
                <a:latin typeface="Courier New"/>
              </a:defRPr>
            </a:pPr>
            <a:r>
              <a:rPr sz="1200" b="0">
                <a:solidFill>
                  <a:srgbClr val="F8FAFC"/>
                </a:solidFill>
                <a:latin typeface="Courier New"/>
              </a:rPr>
              <a:t>print('sin seed (1):', np.random.rand(5).round(4))</a:t>
            </a:r>
          </a:p>
          <a:p>
            <a:pPr>
              <a:defRPr sz="1200" b="0">
                <a:solidFill>
                  <a:srgbClr val="F8FAFC"/>
                </a:solidFill>
                <a:latin typeface="Courier New"/>
              </a:defRPr>
            </a:pPr>
            <a:r>
              <a:rPr sz="1200" b="0">
                <a:solidFill>
                  <a:srgbClr val="F8FAFC"/>
                </a:solidFill>
                <a:latin typeface="Courier New"/>
              </a:rPr>
              <a:t>print('sin seed (2):', np.random.rand(5).round(4))</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Con seed: idéntico</a:t>
            </a:r>
          </a:p>
          <a:p>
            <a:pPr>
              <a:defRPr sz="1200" b="0">
                <a:solidFill>
                  <a:srgbClr val="F8FAFC"/>
                </a:solidFill>
                <a:latin typeface="Courier New"/>
              </a:defRPr>
            </a:pPr>
            <a:r>
              <a:rPr sz="1200" b="0">
                <a:solidFill>
                  <a:srgbClr val="F8FAFC"/>
                </a:solidFill>
                <a:latin typeface="Courier New"/>
              </a:rPr>
              <a:t>rng_a = np.random.default_rng(42)</a:t>
            </a:r>
          </a:p>
          <a:p>
            <a:pPr>
              <a:defRPr sz="1200" b="0">
                <a:solidFill>
                  <a:srgbClr val="F8FAFC"/>
                </a:solidFill>
                <a:latin typeface="Courier New"/>
              </a:defRPr>
            </a:pPr>
            <a:r>
              <a:rPr sz="1200" b="0">
                <a:solidFill>
                  <a:srgbClr val="F8FAFC"/>
                </a:solidFill>
                <a:latin typeface="Courier New"/>
              </a:rPr>
              <a:t>rng_b = np.random.default_rng(42)</a:t>
            </a:r>
          </a:p>
          <a:p>
            <a:pPr>
              <a:defRPr sz="1200" b="0">
                <a:solidFill>
                  <a:srgbClr val="F8FAFC"/>
                </a:solidFill>
                <a:latin typeface="Courier New"/>
              </a:defRPr>
            </a:pPr>
            <a:r>
              <a:rPr sz="1200" b="0">
                <a:solidFill>
                  <a:srgbClr val="F8FAFC"/>
                </a:solidFill>
                <a:latin typeface="Courier New"/>
              </a:rPr>
              <a:t>print('con seed (a):', rng_a.random(5).round(4))</a:t>
            </a:r>
          </a:p>
          <a:p>
            <a:pPr>
              <a:defRPr sz="1200" b="0">
                <a:solidFill>
                  <a:srgbClr val="F8FAFC"/>
                </a:solidFill>
                <a:latin typeface="Courier New"/>
              </a:defRPr>
            </a:pPr>
            <a:r>
              <a:rPr sz="1200" b="0">
                <a:solidFill>
                  <a:srgbClr val="F8FAFC"/>
                </a:solidFill>
                <a:latin typeface="Courier New"/>
              </a:rPr>
              <a:t>print('con seed (b):', rng_b.random(5).round(4))</a:t>
            </a:r>
          </a:p>
        </p:txBody>
      </p:sp>
    </p:spTree>
  </p:cSld>
  <p:clrMapOvr>
    <a:masterClrMapping/>
  </p:clrMapOvr>
</p:sld>
</file>

<file path=ppt/slides/slide11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228 — Reproducibilidad: seeds, lock files, versionado de datasets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Seed everything: implementar seed_everything(seed=42) que cubra random, numpy y PYTHONHASHSEED.</a:t>
            </a:r>
          </a:p>
          <a:p>
            <a:pPr>
              <a:spcAft>
                <a:spcPts val="800"/>
              </a:spcAft>
              <a:defRPr sz="1400" b="0">
                <a:solidFill>
                  <a:srgbClr val="0F172A"/>
                </a:solidFill>
                <a:latin typeface="Segoe UI"/>
              </a:defRPr>
            </a:pPr>
            <a:r>
              <a:rPr sz="1400" b="0">
                <a:solidFill>
                  <a:srgbClr val="0F172A"/>
                </a:solidFill>
                <a:latin typeface="Segoe UI"/>
              </a:rPr>
              <a:t>• Hash de DataFrame: escribir sha256_of_df(df) que ordene columnas alfabéticamente, resetee el índice y serialice a CSV bytes antes de hashear.</a:t>
            </a:r>
          </a:p>
          <a:p>
            <a:pPr>
              <a:spcAft>
                <a:spcPts val="800"/>
              </a:spcAft>
              <a:defRPr sz="1400" b="0">
                <a:solidFill>
                  <a:srgbClr val="0F172A"/>
                </a:solidFill>
                <a:latin typeface="Segoe UI"/>
              </a:defRPr>
            </a:pPr>
            <a:r>
              <a:rPr sz="1400" b="0">
                <a:solidFill>
                  <a:srgbClr val="0F172A"/>
                </a:solidFill>
                <a:latin typeface="Segoe UI"/>
              </a:rPr>
              <a:t>• Manifest de experimento: dict con {data_hash, code_hash, seed, sklearn_version, numpy_version, pandas_version, python_version} serializado a experiment.json.</a:t>
            </a:r>
          </a:p>
          <a:p>
            <a:pPr>
              <a:spcAft>
                <a:spcPts val="800"/>
              </a:spcAft>
              <a:defRPr sz="1400" b="0">
                <a:solidFill>
                  <a:srgbClr val="0F172A"/>
                </a:solidFill>
                <a:latin typeface="Segoe UI"/>
              </a:defRPr>
            </a:pPr>
            <a:r>
              <a:rPr sz="1400" b="0">
                <a:solidFill>
                  <a:srgbClr val="0F172A"/>
                </a:solidFill>
                <a:latin typeface="Segoe UI"/>
              </a:rPr>
              <a:t>• Validación de reproducibilidad: dado un manifest guardado, re-leer el dataset, recomputar su hash, comparar — abortar con RuntimeError si difiere.</a:t>
            </a:r>
          </a:p>
          <a:p>
            <a:pPr>
              <a:spcAft>
                <a:spcPts val="800"/>
              </a:spcAft>
              <a:defRPr sz="1400" b="0">
                <a:solidFill>
                  <a:srgbClr val="0F172A"/>
                </a:solidFill>
                <a:latin typeface="Segoe UI"/>
              </a:defRPr>
            </a:pPr>
            <a:r>
              <a:rPr sz="1400" b="0">
                <a:solidFill>
                  <a:srgbClr val="0F172A"/>
                </a:solidFill>
                <a:latin typeface="Segoe UI"/>
              </a:rPr>
              <a:t>• Model card mínima: función build_model_card(model, X, y, intended_use, limitations, date_trained) que devuelve dict con campos de Mitchell et 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Construya un pipeline load → train → evaluate con seed_everything(42) al inicio.</a:t>
            </a:r>
          </a:p>
          <a:p>
            <a:pPr>
              <a:spcAft>
                <a:spcPts val="800"/>
              </a:spcAft>
              <a:defRPr sz="1400" b="0">
                <a:solidFill>
                  <a:srgbClr val="0F172A"/>
                </a:solidFill>
                <a:latin typeface="Segoe UI"/>
              </a:defRPr>
            </a:pPr>
            <a:r>
              <a:rPr sz="1400" b="0">
                <a:solidFill>
                  <a:srgbClr val="0F172A"/>
                </a:solidFill>
                <a:latin typeface="Segoe UI"/>
              </a:rPr>
              <a:t>• Calcule dataset_hash con sha256_of_df y code_hash con sha256 sobre el .py (o el source string vía inspect.getsource).</a:t>
            </a:r>
          </a:p>
          <a:p>
            <a:pPr>
              <a:spcAft>
                <a:spcPts val="800"/>
              </a:spcAft>
              <a:defRPr sz="1400" b="0">
                <a:solidFill>
                  <a:srgbClr val="0F172A"/>
                </a:solidFill>
                <a:latin typeface="Segoe UI"/>
              </a:defRPr>
            </a:pPr>
            <a:r>
              <a:rPr sz="1400" b="0">
                <a:solidFill>
                  <a:srgbClr val="0F172A"/>
                </a:solidFill>
                <a:latin typeface="Segoe UI"/>
              </a:rPr>
              <a:t>• Guarde manifest.json con data_hash, code_hash, seed, package_versions y model_card.json con métricas + limitations.</a:t>
            </a:r>
          </a:p>
          <a:p>
            <a:pPr>
              <a:spcAft>
                <a:spcPts val="800"/>
              </a:spcAft>
              <a:defRPr sz="1400" b="0">
                <a:solidFill>
                  <a:srgbClr val="0F172A"/>
                </a:solidFill>
                <a:latin typeface="Segoe UI"/>
              </a:defRPr>
            </a:pPr>
            <a:r>
              <a:rPr sz="1400" b="0">
                <a:solidFill>
                  <a:srgbClr val="0F172A"/>
                </a:solidFill>
                <a:latin typeface="Segoe UI"/>
              </a:rPr>
              <a:t>• Re-corra el mismo pipeline en otra ejecución; verifique que accuracy reportada coincide bit-a-bit y que ambos hashes coinciden.</a:t>
            </a:r>
          </a:p>
          <a:p>
            <a:pPr>
              <a:spcAft>
                <a:spcPts val="800"/>
              </a:spcAft>
              <a:defRPr sz="1400" b="0">
                <a:solidFill>
                  <a:srgbClr val="0F172A"/>
                </a:solidFill>
                <a:latin typeface="Segoe UI"/>
              </a:defRPr>
            </a:pPr>
            <a:r>
              <a:rPr sz="1400" b="0">
                <a:solidFill>
                  <a:srgbClr val="0F172A"/>
                </a:solidFill>
                <a:latin typeface="Segoe UI"/>
              </a:rPr>
              <a:t>• Cree requirements.lock con uv pip compile requirements.in -o requirements.lock (o pip freeze &gt; requirements.lock como fallback) y commitee ambos al repo.</a:t>
            </a:r>
          </a:p>
        </p:txBody>
      </p:sp>
    </p:spTree>
  </p:cSld>
  <p:clrMapOvr>
    <a:masterClrMapping/>
  </p:clrMapOvr>
</p:sld>
</file>

<file path=ppt/slides/slide115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Parte 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Parte 8 — Capstones — Proyectos Integradores · 4 clases</a:t>
            </a:r>
          </a:p>
        </p:txBody>
      </p:sp>
    </p:spTree>
  </p:cSld>
  <p:clrMapOvr>
    <a:masterClrMapping/>
  </p:clrMapOvr>
</p:sld>
</file>

<file path=ppt/slides/slide115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229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229 — Capstone 1: problema tabular end-to-end (EDA, modelo, API, dashboard)</a:t>
            </a:r>
          </a:p>
        </p:txBody>
      </p:sp>
    </p:spTree>
  </p:cSld>
  <p:clrMapOvr>
    <a:masterClrMapping/>
  </p:clrMapOvr>
</p:sld>
</file>

<file path=ppt/slides/slide11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229 — Capstone 1: problema tabular end-to-end (EDA, modelo, API, dashboard)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8 — Capstones · Fuente: integrador de Partes 0-7 + Huyen, C. Designing Machine Learning Systems (O'Reilly, 2022) caps. 4-7 + Géron, A. Hands-On ML, 3ª ed. caps. 2-3.  Duración estimada: 180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Integrar en un único proyecto entregable todo lo aprendido en Partes 0-7: cargar un dataset tabular real, hacer EDA, construir un pipeline ColumnTransformer reproducible, entrenar y tunear un modelo gradient-boosting con MLflow tracking, serializar el modelo, exponerlo vía FastAPI con Pydantic v2, construir un dashboard Streamlit con SHAP, y dejar todo bajo CI con GitHub Actions. La entrega debe poder reproducirse desde un clon limpio con uv sync y un docker compose up.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Diseñar un pipeline ML end-to-end siguiendo el flujo de Huyen (Designing ML Systems): data → features → modelo → tracking → serving → monitoring.</a:t>
            </a:r>
          </a:p>
          <a:p>
            <a:pPr>
              <a:spcAft>
                <a:spcPts val="800"/>
              </a:spcAft>
              <a:defRPr sz="1400" b="0">
                <a:solidFill>
                  <a:srgbClr val="0F172A"/>
                </a:solidFill>
                <a:latin typeface="Segoe UI"/>
              </a:defRPr>
            </a:pPr>
            <a:r>
              <a:rPr sz="1400" b="0">
                <a:solidFill>
                  <a:srgbClr val="0F172A"/>
                </a:solidFill>
                <a:latin typeface="Segoe UI"/>
              </a:rPr>
              <a:t>• Tunear un gradient-boosting con Optuna (≥50 trials) y loguear cada run en MLflow con parámetros, métricas y artefactos.</a:t>
            </a:r>
          </a:p>
          <a:p>
            <a:pPr>
              <a:spcAft>
                <a:spcPts val="800"/>
              </a:spcAft>
              <a:defRPr sz="1400" b="0">
                <a:solidFill>
                  <a:srgbClr val="0F172A"/>
                </a:solidFill>
                <a:latin typeface="Segoe UI"/>
              </a:defRPr>
            </a:pPr>
            <a:r>
              <a:rPr sz="1400" b="0">
                <a:solidFill>
                  <a:srgbClr val="0F172A"/>
                </a:solidFill>
                <a:latin typeface="Segoe UI"/>
              </a:rPr>
              <a:t>• Exponer el modelo en FastAPI con schemas Pydantic v2 validados y latencia P95 &lt; 200 ms.</a:t>
            </a:r>
          </a:p>
          <a:p>
            <a:pPr>
              <a:spcAft>
                <a:spcPts val="800"/>
              </a:spcAft>
              <a:defRPr sz="1400" b="0">
                <a:solidFill>
                  <a:srgbClr val="0F172A"/>
                </a:solidFill>
                <a:latin typeface="Segoe UI"/>
              </a:defRPr>
            </a:pPr>
            <a:r>
              <a:rPr sz="1400" b="0">
                <a:solidFill>
                  <a:srgbClr val="0F172A"/>
                </a:solidFill>
                <a:latin typeface="Segoe UI"/>
              </a:rPr>
              <a:t>• Construir un dashboard Streamlit con explicaciones SHAP por predicción + drift monitor (Evidently).</a:t>
            </a:r>
          </a:p>
          <a:p>
            <a:pPr>
              <a:spcAft>
                <a:spcPts val="800"/>
              </a:spcAft>
              <a:defRPr sz="1400" b="0">
                <a:solidFill>
                  <a:srgbClr val="0F172A"/>
                </a:solidFill>
                <a:latin typeface="Segoe UI"/>
              </a:defRPr>
            </a:pPr>
            <a:r>
              <a:rPr sz="1400" b="0">
                <a:solidFill>
                  <a:srgbClr val="0F172A"/>
                </a:solidFill>
                <a:latin typeface="Segoe UI"/>
              </a:rPr>
              <a:t>• Publicar una Model Card (Mitchell et al. 2019) con uso intencionado, métricas por subgrupo y limitaciones conocidas.</a:t>
            </a:r>
          </a:p>
        </p:txBody>
      </p:sp>
    </p:spTree>
  </p:cSld>
  <p:clrMapOvr>
    <a:masterClrMapping/>
  </p:clrMapOvr>
</p:sld>
</file>

<file path=ppt/slides/slide11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229 — Capstone 1: problema tabular end-to-end (EDA, modelo, API, dashboard)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Ver README de la clase.</a:t>
            </a:r>
          </a:p>
        </p:txBody>
      </p:sp>
    </p:spTree>
  </p:cSld>
  <p:clrMapOvr>
    <a:masterClrMapping/>
  </p:clrMapOvr>
</p:sld>
</file>

<file path=ppt/slides/slide11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229 — Capstone 1: problema tabular end-to-end (EDA, modelo, API, dashboard)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Esqueleto reproducible del capstone: EDA → FE → modelo → tuning → tracking → API stub → dashboard stub → Model Card. Requisitos mínimos: numpy, pandas, scikit-learn, optuna, joblib. mlflow es opcional (capturado con try/except). Seed = 42 en todo 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SEED = 42</a:t>
            </a:r>
          </a:p>
          <a:p>
            <a:pPr>
              <a:defRPr sz="1200" b="0">
                <a:solidFill>
                  <a:srgbClr val="F8FAFC"/>
                </a:solidFill>
                <a:latin typeface="Courier New"/>
              </a:defRPr>
            </a:pPr>
            <a:r>
              <a:rPr sz="1200" b="0">
                <a:solidFill>
                  <a:srgbClr val="F8FAFC"/>
                </a:solidFill>
                <a:latin typeface="Courier New"/>
              </a:rPr>
              <a:t>rng = np.random.default_rng(SEED)</a:t>
            </a:r>
          </a:p>
          <a:p>
            <a:pPr>
              <a:defRPr sz="1200" b="0">
                <a:solidFill>
                  <a:srgbClr val="F8FAFC"/>
                </a:solidFill>
                <a:latin typeface="Courier New"/>
              </a:defRPr>
            </a:pPr>
            <a:r>
              <a:rPr sz="1200" b="0">
                <a:solidFill>
                  <a:srgbClr val="F8FAFC"/>
                </a:solidFill>
                <a:latin typeface="Courier New"/>
              </a:rPr>
              <a:t>n = 10_000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Dataset sintético tipo churn: 12 features (num + cat + bool)</a:t>
            </a:r>
          </a:p>
          <a:p>
            <a:pPr>
              <a:defRPr sz="1200" b="0">
                <a:solidFill>
                  <a:srgbClr val="F8FAFC"/>
                </a:solidFill>
                <a:latin typeface="Courier New"/>
              </a:defRPr>
            </a:pPr>
            <a:r>
              <a:rPr sz="1200" b="0">
                <a:solidFill>
                  <a:srgbClr val="F8FAFC"/>
                </a:solidFill>
                <a:latin typeface="Courier New"/>
              </a:rPr>
              <a:t>tenure       = rng.integers(1, 73, n)</a:t>
            </a:r>
          </a:p>
          <a:p>
            <a:pPr>
              <a:defRPr sz="1200" b="0">
                <a:solidFill>
                  <a:srgbClr val="F8FAFC"/>
                </a:solidFill>
                <a:latin typeface="Courier New"/>
              </a:defRPr>
            </a:pPr>
            <a:r>
              <a:rPr sz="1200" b="0">
                <a:solidFill>
                  <a:srgbClr val="F8FAFC"/>
                </a:solidFill>
                <a:latin typeface="Courier New"/>
              </a:rPr>
              <a:t>monthly_chg  = rng.normal(70, 25, n).clip(15, 200)</a:t>
            </a:r>
          </a:p>
          <a:p>
            <a:pPr>
              <a:defRPr sz="1200" b="0">
                <a:solidFill>
                  <a:srgbClr val="F8FAFC"/>
                </a:solidFill>
                <a:latin typeface="Courier New"/>
              </a:defRPr>
            </a:pPr>
            <a:r>
              <a:rPr sz="1200" b="0">
                <a:solidFill>
                  <a:srgbClr val="F8FAFC"/>
                </a:solidFill>
                <a:latin typeface="Courier New"/>
              </a:rPr>
              <a:t>total_chg    = monthly_chg * tenure + rng.normal(0, 50, n)</a:t>
            </a:r>
          </a:p>
          <a:p>
            <a:pPr>
              <a:defRPr sz="1200" b="0">
                <a:solidFill>
                  <a:srgbClr val="F8FAFC"/>
                </a:solidFill>
                <a:latin typeface="Courier New"/>
              </a:defRPr>
            </a:pPr>
            <a:r>
              <a:rPr sz="1200" b="0">
                <a:solidFill>
                  <a:srgbClr val="F8FAFC"/>
                </a:solidFill>
                <a:latin typeface="Courier New"/>
              </a:rPr>
              <a:t>age          = rng.integers(18, 85, n)</a:t>
            </a:r>
          </a:p>
          <a:p>
            <a:pPr>
              <a:defRPr sz="1200" b="0">
                <a:solidFill>
                  <a:srgbClr val="F8FAFC"/>
                </a:solidFill>
                <a:latin typeface="Courier New"/>
              </a:defRPr>
            </a:pPr>
            <a:r>
              <a:rPr sz="1200" b="0">
                <a:solidFill>
                  <a:srgbClr val="F8FAFC"/>
                </a:solidFill>
                <a:latin typeface="Courier New"/>
              </a:rPr>
              <a:t>n_services   = rng.integers(1, 8, n)</a:t>
            </a:r>
          </a:p>
          <a:p>
            <a:pPr>
              <a:defRPr sz="1200" b="0">
                <a:solidFill>
                  <a:srgbClr val="F8FAFC"/>
                </a:solidFill>
                <a:latin typeface="Courier New"/>
              </a:defRPr>
            </a:pPr>
            <a:r>
              <a:rPr sz="1200" b="0">
                <a:solidFill>
                  <a:srgbClr val="F8FAFC"/>
                </a:solidFill>
                <a:latin typeface="Courier New"/>
              </a:rPr>
              <a:t>support_call = rng.poisson(1.5, n)</a:t>
            </a:r>
          </a:p>
          <a:p>
            <a:pPr>
              <a:defRPr sz="1200" b="0">
                <a:solidFill>
                  <a:srgbClr val="F8FAFC"/>
                </a:solidFill>
                <a:latin typeface="Courier New"/>
              </a:defRPr>
            </a:pPr>
            <a:r>
              <a:rPr sz="1200" b="0">
                <a:solidFill>
                  <a:srgbClr val="F8FAFC"/>
                </a:solidFill>
                <a:latin typeface="Courier New"/>
              </a:rPr>
              <a:t>contract     = rng.choice(['month', 'one_year', 'two_year'], n, p=[0.55, 0.25, 0.20])</a:t>
            </a:r>
          </a:p>
          <a:p>
            <a:pPr>
              <a:defRPr sz="1200" b="0">
                <a:solidFill>
                  <a:srgbClr val="F8FAFC"/>
                </a:solidFill>
                <a:latin typeface="Courier New"/>
              </a:defRPr>
            </a:pPr>
            <a:r>
              <a:rPr sz="1200" b="0">
                <a:solidFill>
                  <a:srgbClr val="F8FAFC"/>
                </a:solidFill>
                <a:latin typeface="Courier New"/>
              </a:rPr>
              <a:t>payment      = rng.choice(['credit', 'debit', 'bank', 'check'], n)</a:t>
            </a:r>
          </a:p>
          <a:p>
            <a:pPr>
              <a:defRPr sz="1200" b="0">
                <a:solidFill>
                  <a:srgbClr val="F8FAFC"/>
                </a:solidFill>
                <a:latin typeface="Courier New"/>
              </a:defRPr>
            </a:pPr>
            <a:r>
              <a:rPr sz="1200" b="0">
                <a:solidFill>
                  <a:srgbClr val="F8FAFC"/>
                </a:solidFill>
                <a:latin typeface="Courier New"/>
              </a:rPr>
              <a:t>internet     = rng.choice(['fiber', 'dsl', 'none'], n, p=[0.45, 0.40, 0.15])</a:t>
            </a:r>
          </a:p>
          <a:p>
            <a:pPr>
              <a:defRPr sz="1200" b="0">
                <a:solidFill>
                  <a:srgbClr val="F8FAFC"/>
                </a:solidFill>
                <a:latin typeface="Courier New"/>
              </a:defRPr>
            </a:pPr>
            <a:r>
              <a:rPr sz="1200" b="0">
                <a:solidFill>
                  <a:srgbClr val="F8FAFC"/>
                </a:solidFill>
                <a:latin typeface="Courier New"/>
              </a:rPr>
              <a:t>gender       = rng.choice(['M', 'F'], n)</a:t>
            </a:r>
          </a:p>
          <a:p>
            <a:pPr>
              <a:defRPr sz="1200" b="0">
                <a:solidFill>
                  <a:srgbClr val="F8FAFC"/>
                </a:solidFill>
                <a:latin typeface="Courier New"/>
              </a:defRPr>
            </a:pPr>
            <a:r>
              <a:rPr sz="1200" b="0">
                <a:solidFill>
                  <a:srgbClr val="F8FAFC"/>
                </a:solidFill>
                <a:latin typeface="Courier New"/>
              </a:rPr>
              <a:t>paperless    = rng.choice([True, False], n)</a:t>
            </a:r>
          </a:p>
          <a:p>
            <a:pPr>
              <a:defRPr sz="1200" b="0">
                <a:solidFill>
                  <a:srgbClr val="F8FAFC"/>
                </a:solidFill>
                <a:latin typeface="Courier New"/>
              </a:defRPr>
            </a:pPr>
            <a:r>
              <a:rPr sz="1200" b="0">
                <a:solidFill>
                  <a:srgbClr val="F8FAFC"/>
                </a:solidFill>
                <a:latin typeface="Courier New"/>
              </a:rPr>
              <a:t>auto_pay     = rng.choice([True, False], n, p=[0.4, 0.6])</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1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229 — Capstone 1: problema tabular end-to-end (EDA, modelo, API, dashboard)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EDA: cargar dataset, generar ydata-profiling HTML, identificar missing, outliers, balance de clases.</a:t>
            </a:r>
          </a:p>
          <a:p>
            <a:pPr>
              <a:spcAft>
                <a:spcPts val="800"/>
              </a:spcAft>
              <a:defRPr sz="1400" b="0">
                <a:solidFill>
                  <a:srgbClr val="0F172A"/>
                </a:solidFill>
                <a:latin typeface="Segoe UI"/>
              </a:defRPr>
            </a:pPr>
            <a:r>
              <a:rPr sz="1400" b="0">
                <a:solidFill>
                  <a:srgbClr val="0F172A"/>
                </a:solidFill>
                <a:latin typeface="Segoe UI"/>
              </a:rPr>
              <a:t>• Pipeline FE: armar ColumnTransformer con OneHotEncoder(handle_unknown='ignore') para cat, StandardScaler para num, SimpleImputer para missing.</a:t>
            </a:r>
          </a:p>
          <a:p>
            <a:pPr>
              <a:spcAft>
                <a:spcPts val="800"/>
              </a:spcAft>
              <a:defRPr sz="1400" b="0">
                <a:solidFill>
                  <a:srgbClr val="0F172A"/>
                </a:solidFill>
                <a:latin typeface="Segoe UI"/>
              </a:defRPr>
            </a:pPr>
            <a:r>
              <a:rPr sz="1400" b="0">
                <a:solidFill>
                  <a:srgbClr val="0F172A"/>
                </a:solidFill>
                <a:latin typeface="Segoe UI"/>
              </a:rPr>
              <a:t>• Modelo + Optuna: entrenar baseline (LogisticRegression) y challenger (XGBClassifier/LGBMClassifier).</a:t>
            </a:r>
          </a:p>
          <a:p>
            <a:pPr>
              <a:spcAft>
                <a:spcPts val="800"/>
              </a:spcAft>
              <a:defRPr sz="1400" b="0">
                <a:solidFill>
                  <a:srgbClr val="0F172A"/>
                </a:solidFill>
                <a:latin typeface="Segoe UI"/>
              </a:defRPr>
            </a:pPr>
            <a:r>
              <a:rPr sz="1400" b="0">
                <a:solidFill>
                  <a:srgbClr val="0F172A"/>
                </a:solidFill>
                <a:latin typeface="Segoe UI"/>
              </a:rPr>
              <a:t>• API: en src/api/main.py, definir PredictRequest(BaseModel) con todas las features tipadas y PredictResponse(BaseModel) con probability y prediction.</a:t>
            </a:r>
          </a:p>
          <a:p>
            <a:pPr>
              <a:spcAft>
                <a:spcPts val="800"/>
              </a:spcAft>
              <a:defRPr sz="1400" b="0">
                <a:solidFill>
                  <a:srgbClr val="0F172A"/>
                </a:solidFill>
                <a:latin typeface="Segoe UI"/>
              </a:defRPr>
            </a:pPr>
            <a:r>
              <a:rPr sz="1400" b="0">
                <a:solidFill>
                  <a:srgbClr val="0F172A"/>
                </a:solidFill>
                <a:latin typeface="Segoe UI"/>
              </a:rPr>
              <a:t>• Dashboard: app.py Streamlit con (a) form input → llama a la API y muestra predicción, (b) plot SHAP waterfall de la última predicción, (c) Evidently report comparando producción vs training data.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Estructura src/, notebooks/, tests/, MODEL_CARD.md, README.md, pyproject.toml lockeado con uv.</a:t>
            </a:r>
          </a:p>
          <a:p>
            <a:pPr>
              <a:spcAft>
                <a:spcPts val="800"/>
              </a:spcAft>
              <a:defRPr sz="1400" b="0">
                <a:solidFill>
                  <a:srgbClr val="0F172A"/>
                </a:solidFill>
                <a:latin typeface="Segoe UI"/>
              </a:defRPr>
            </a:pPr>
            <a:r>
              <a:rPr sz="1400" b="0">
                <a:solidFill>
                  <a:srgbClr val="0F172A"/>
                </a:solidFill>
                <a:latin typeface="Segoe UI"/>
              </a:rPr>
              <a:t>• MLflow tracking con ≥3 runs registradas (baseline + 2 challengers) y artefactos (modelo, plots de ROC, calibration curve).</a:t>
            </a:r>
          </a:p>
          <a:p>
            <a:pPr>
              <a:spcAft>
                <a:spcPts val="800"/>
              </a:spcAft>
              <a:defRPr sz="1400" b="0">
                <a:solidFill>
                  <a:srgbClr val="0F172A"/>
                </a:solidFill>
                <a:latin typeface="Segoe UI"/>
              </a:defRPr>
            </a:pPr>
            <a:r>
              <a:rPr sz="1400" b="0">
                <a:solidFill>
                  <a:srgbClr val="0F172A"/>
                </a:solidFill>
                <a:latin typeface="Segoe UI"/>
              </a:rPr>
              <a:t>• FastAPI con /predict y /health, schemas Pydantic v2 validados, OpenAPI en /docs, latencia P95 &lt; 200 ms medida con locust o httpx.</a:t>
            </a:r>
          </a:p>
          <a:p>
            <a:pPr>
              <a:spcAft>
                <a:spcPts val="800"/>
              </a:spcAft>
              <a:defRPr sz="1400" b="0">
                <a:solidFill>
                  <a:srgbClr val="0F172A"/>
                </a:solidFill>
                <a:latin typeface="Segoe UI"/>
              </a:defRPr>
            </a:pPr>
            <a:r>
              <a:rPr sz="1400" b="0">
                <a:solidFill>
                  <a:srgbClr val="0F172A"/>
                </a:solidFill>
                <a:latin typeface="Segoe UI"/>
              </a:rPr>
              <a:t>• Dashboard Streamlit con SHAP plot por predicción y screenshot en el README.</a:t>
            </a:r>
          </a:p>
          <a:p>
            <a:pPr>
              <a:spcAft>
                <a:spcPts val="800"/>
              </a:spcAft>
              <a:defRPr sz="1400" b="0">
                <a:solidFill>
                  <a:srgbClr val="0F172A"/>
                </a:solidFill>
                <a:latin typeface="Segoe UI"/>
              </a:defRPr>
            </a:pPr>
            <a:r>
              <a:rPr sz="1400" b="0">
                <a:solidFill>
                  <a:srgbClr val="0F172A"/>
                </a:solidFill>
                <a:latin typeface="Segoe UI"/>
              </a:rPr>
              <a:t>• Model Card completa (uso intencionado, métricas por subgrupo si aplica, limitaciones).</a:t>
            </a:r>
          </a:p>
        </p:txBody>
      </p:sp>
    </p:spTree>
  </p:cSld>
  <p:clrMapOvr>
    <a:masterClrMapping/>
  </p:clrMapOvr>
</p:sld>
</file>

<file path=ppt/slides/slide115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230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230 — Capstone 2: NLP o series de tiempo end-to-end</a:t>
            </a:r>
          </a:p>
        </p:txBody>
      </p:sp>
    </p:spTree>
  </p:cSld>
  <p:clrMapOvr>
    <a:masterClrMapping/>
  </p:clrMapOvr>
</p:sld>
</file>

<file path=ppt/slides/slide11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230 — Capstone 2: NLP o series de tiempo end-to-end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8 — Capstones · Fuente: Hyndman &amp; Athanasopoulos, Forecasting: Principles and Practice (3ª ed.) + Hugging Face NLP course.  Duración estimada: 180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Entregar un segundo capstone end-to-end eligiendo una de dos ramas: (A) NLP — clasificación de texto / NER / RAG con transformers y endpoint FastAPI, o (B) series de tiempo — forecasting con baselines + modelos modernos, backtesting honesto e intervalos de predicción. En ambas ramas: tracking con MLflow, contenedorización con Docker, reproducibilidad con uv lock + seeds, Model Card, y discusión de drift (texto o forecast).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Elegir entre NLP o series de tiempo según interés/dominio y justificar la decisión en el README del proyecto.</a:t>
            </a:r>
          </a:p>
          <a:p>
            <a:pPr>
              <a:spcAft>
                <a:spcPts val="800"/>
              </a:spcAft>
              <a:defRPr sz="1400" b="0">
                <a:solidFill>
                  <a:srgbClr val="0F172A"/>
                </a:solidFill>
                <a:latin typeface="Segoe UI"/>
              </a:defRPr>
            </a:pPr>
            <a:r>
              <a:rPr sz="1400" b="0">
                <a:solidFill>
                  <a:srgbClr val="0F172A"/>
                </a:solidFill>
                <a:latin typeface="Segoe UI"/>
              </a:rPr>
              <a:t>• Construir un pipeline reproducible con split honesto (estratificado en NLP, temporal sin shuffle en series).</a:t>
            </a:r>
          </a:p>
          <a:p>
            <a:pPr>
              <a:spcAft>
                <a:spcPts val="800"/>
              </a:spcAft>
              <a:defRPr sz="1400" b="0">
                <a:solidFill>
                  <a:srgbClr val="0F172A"/>
                </a:solidFill>
                <a:latin typeface="Segoe UI"/>
              </a:defRPr>
            </a:pPr>
            <a:r>
              <a:rPr sz="1400" b="0">
                <a:solidFill>
                  <a:srgbClr val="0F172A"/>
                </a:solidFill>
                <a:latin typeface="Segoe UI"/>
              </a:rPr>
              <a:t>• Reportar métricas del dominio: F1/accuracy + slice analysis (NLP) o sMAPE/MASE + pinball loss (series).</a:t>
            </a:r>
          </a:p>
          <a:p>
            <a:pPr>
              <a:spcAft>
                <a:spcPts val="800"/>
              </a:spcAft>
              <a:defRPr sz="1400" b="0">
                <a:solidFill>
                  <a:srgbClr val="0F172A"/>
                </a:solidFill>
                <a:latin typeface="Segoe UI"/>
              </a:defRPr>
            </a:pPr>
            <a:r>
              <a:rPr sz="1400" b="0">
                <a:solidFill>
                  <a:srgbClr val="0F172A"/>
                </a:solidFill>
                <a:latin typeface="Segoe UI"/>
              </a:rPr>
              <a:t>• Servir el modelo en un endpoint FastAPI dockerizado, con MLflow tracking del entrenamiento.</a:t>
            </a:r>
          </a:p>
          <a:p>
            <a:pPr>
              <a:spcAft>
                <a:spcPts val="800"/>
              </a:spcAft>
              <a:defRPr sz="1400" b="0">
                <a:solidFill>
                  <a:srgbClr val="0F172A"/>
                </a:solidFill>
                <a:latin typeface="Segoe UI"/>
              </a:defRPr>
            </a:pPr>
            <a:r>
              <a:rPr sz="1400" b="0">
                <a:solidFill>
                  <a:srgbClr val="0F172A"/>
                </a:solidFill>
                <a:latin typeface="Segoe UI"/>
              </a:rPr>
              <a:t>• Detectar drift (Evidently text drift en NLP; KS sobre residuos en series) y documentarlo en la Model Card.</a:t>
            </a:r>
          </a:p>
        </p:txBody>
      </p:sp>
    </p:spTree>
  </p:cSld>
  <p:clrMapOvr>
    <a:masterClrMapping/>
  </p:clrMapOvr>
</p:sld>
</file>

<file path=ppt/slides/slide11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230 — Capstone 2: NLP o series de tiempo end-to-end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Ver README de la clase.</a:t>
            </a:r>
          </a:p>
        </p:txBody>
      </p:sp>
    </p:spTree>
  </p:cSld>
  <p:clrMapOvr>
    <a:masterClrMapping/>
  </p:clrMapOvr>
</p:sld>
</file>

<file path=ppt/slides/slide11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230 — Capstone 2: NLP o series de tiempo end-to-end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Este capstone tiene dos ramas opt-in: - Rama A — NLP: clasificación de texto / NER / RAG mini con transformers + FastAPI. Descrita en el README; requiere descargar pesos de Hugging Face. - Rama B — Series de tiempo: forecasting con baselines + ML + intervalos. Implementada aquí porque corre 100% offline con numpy/pandas/sklearn (+ statsmodels opcional).</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sklearn.linear_model import Ridge, QuantileRegressor</a:t>
            </a:r>
          </a:p>
          <a:p>
            <a:pPr>
              <a:defRPr sz="1200" b="0">
                <a:solidFill>
                  <a:srgbClr val="F8FAFC"/>
                </a:solidFill>
                <a:latin typeface="Courier New"/>
              </a:defRPr>
            </a:pPr>
            <a:r>
              <a:rPr sz="1200" b="0">
                <a:solidFill>
                  <a:srgbClr val="F8FAFC"/>
                </a:solidFill>
                <a:latin typeface="Courier New"/>
              </a:rPr>
              <a:t>from sklearn.metrics import mean_absolute_error</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Serie sintetica: 3 anios diarios = 1095 puntos</a:t>
            </a:r>
          </a:p>
          <a:p>
            <a:pPr>
              <a:defRPr sz="1200" b="0">
                <a:solidFill>
                  <a:srgbClr val="F8FAFC"/>
                </a:solidFill>
                <a:latin typeface="Courier New"/>
              </a:defRPr>
            </a:pPr>
            <a:r>
              <a:rPr sz="1200" b="0">
                <a:solidFill>
                  <a:srgbClr val="F8FAFC"/>
                </a:solidFill>
                <a:latin typeface="Courier New"/>
              </a:rPr>
              <a:t>n_days = 365 * 3</a:t>
            </a:r>
          </a:p>
          <a:p>
            <a:pPr>
              <a:defRPr sz="1200" b="0">
                <a:solidFill>
                  <a:srgbClr val="F8FAFC"/>
                </a:solidFill>
                <a:latin typeface="Courier New"/>
              </a:defRPr>
            </a:pPr>
            <a:r>
              <a:rPr sz="1200" b="0">
                <a:solidFill>
                  <a:srgbClr val="F8FAFC"/>
                </a:solidFill>
                <a:latin typeface="Courier New"/>
              </a:rPr>
              <a:t>t = np.arange(n_days)</a:t>
            </a:r>
          </a:p>
          <a:p>
            <a:pPr>
              <a:defRPr sz="1200" b="0">
                <a:solidFill>
                  <a:srgbClr val="F8FAFC"/>
                </a:solidFill>
                <a:latin typeface="Courier New"/>
              </a:defRPr>
            </a:pPr>
            <a:r>
              <a:rPr sz="1200" b="0">
                <a:solidFill>
                  <a:srgbClr val="F8FAFC"/>
                </a:solidFill>
                <a:latin typeface="Courier New"/>
              </a:rPr>
              <a:t>trend   = 100 + 0.05 * t</a:t>
            </a:r>
          </a:p>
          <a:p>
            <a:pPr>
              <a:defRPr sz="1200" b="0">
                <a:solidFill>
                  <a:srgbClr val="F8FAFC"/>
                </a:solidFill>
                <a:latin typeface="Courier New"/>
              </a:defRPr>
            </a:pPr>
            <a:r>
              <a:rPr sz="1200" b="0">
                <a:solidFill>
                  <a:srgbClr val="F8FAFC"/>
                </a:solidFill>
                <a:latin typeface="Courier New"/>
              </a:rPr>
              <a:t>weekly  = 8 * np.sin(2 * np.pi * t / 7)</a:t>
            </a:r>
          </a:p>
          <a:p>
            <a:pPr>
              <a:defRPr sz="1200" b="0">
                <a:solidFill>
                  <a:srgbClr val="F8FAFC"/>
                </a:solidFill>
                <a:latin typeface="Courier New"/>
              </a:defRPr>
            </a:pPr>
            <a:r>
              <a:rPr sz="1200" b="0">
                <a:solidFill>
                  <a:srgbClr val="F8FAFC"/>
                </a:solidFill>
                <a:latin typeface="Courier New"/>
              </a:rPr>
              <a:t>yearly  = 15 * np.sin(2 * np.pi * t / 365.25 - np.pi / 2)</a:t>
            </a:r>
          </a:p>
          <a:p>
            <a:pPr>
              <a:defRPr sz="1200" b="0">
                <a:solidFill>
                  <a:srgbClr val="F8FAFC"/>
                </a:solidFill>
                <a:latin typeface="Courier New"/>
              </a:defRPr>
            </a:pPr>
            <a:r>
              <a:rPr sz="1200" b="0">
                <a:solidFill>
                  <a:srgbClr val="F8FAFC"/>
                </a:solidFill>
                <a:latin typeface="Courier New"/>
              </a:rPr>
              <a:t>noise   = rng.normal(0, 3, n_days)</a:t>
            </a:r>
          </a:p>
          <a:p>
            <a:pPr>
              <a:defRPr sz="1200" b="0">
                <a:solidFill>
                  <a:srgbClr val="F8FAFC"/>
                </a:solidFill>
                <a:latin typeface="Courier New"/>
              </a:defRPr>
            </a:pPr>
            <a:r>
              <a:rPr sz="1200" b="0">
                <a:solidFill>
                  <a:srgbClr val="F8FAFC"/>
                </a:solidFill>
                <a:latin typeface="Courier New"/>
              </a:rPr>
              <a:t>y = trend + weekly + yearly + noise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dates = pd.date_range('2023-01-01', periods=n_days, freq='D')</a:t>
            </a:r>
          </a:p>
          <a:p>
            <a:pPr>
              <a:defRPr sz="1200" b="0">
                <a:solidFill>
                  <a:srgbClr val="F8FAFC"/>
                </a:solidFill>
                <a:latin typeface="Courier New"/>
              </a:defRPr>
            </a:pPr>
            <a:r>
              <a:rPr sz="1200" b="0">
                <a:solidFill>
                  <a:srgbClr val="F8FAFC"/>
                </a:solidFill>
                <a:latin typeface="Courier New"/>
              </a:rPr>
              <a:t>df = pd.DataFrame({'date': dates, 'y': y}).set_index('date')</a:t>
            </a:r>
          </a:p>
          <a:p>
            <a:pPr>
              <a:defRPr sz="1200" b="0">
                <a:solidFill>
                  <a:srgbClr val="F8FAFC"/>
                </a:solidFill>
                <a:latin typeface="Courier New"/>
              </a:defRPr>
            </a:pPr>
            <a:r>
              <a:rPr sz="1200" b="0">
                <a:solidFill>
                  <a:srgbClr val="F8FAFC"/>
                </a:solidFill>
                <a:latin typeface="Courier New"/>
              </a:rPr>
              <a:t>print(f'serie: {df.shape[0]} dias | rango {df.index.min().date()} -&gt; {df.index.max().date()}')</a:t>
            </a:r>
          </a:p>
          <a:p>
            <a:pPr>
              <a:defRPr sz="1200" b="0">
                <a:solidFill>
                  <a:srgbClr val="F8FAFC"/>
                </a:solidFill>
                <a:latin typeface="Courier New"/>
              </a:defRPr>
            </a:pPr>
            <a:r>
              <a:rPr sz="1200" b="0">
                <a:solidFill>
                  <a:srgbClr val="F8FAFC"/>
                </a:solidFill>
                <a:latin typeface="Courier New"/>
              </a:rPr>
              <a:t>print(df.head())</a:t>
            </a:r>
          </a:p>
        </p:txBody>
      </p:sp>
    </p:spTree>
  </p:cSld>
  <p:clrMapOvr>
    <a:masterClrMapping/>
  </p:clrMapOvr>
</p:sld>
</file>

<file path=ppt/slides/slide11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230 — Capstone 2: NLP o series de tiempo end-to-end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Definición: escribir el problema en 5 líneas (qué se predice, para qué, métrica primaria, baseline aceptable, costo de errar).</a:t>
            </a:r>
          </a:p>
          <a:p>
            <a:pPr>
              <a:spcAft>
                <a:spcPts val="800"/>
              </a:spcAft>
              <a:defRPr sz="1400" b="0">
                <a:solidFill>
                  <a:srgbClr val="0F172A"/>
                </a:solidFill>
                <a:latin typeface="Segoe UI"/>
              </a:defRPr>
            </a:pPr>
            <a:r>
              <a:rPr sz="1400" b="0">
                <a:solidFill>
                  <a:srgbClr val="0F172A"/>
                </a:solidFill>
                <a:latin typeface="Segoe UI"/>
              </a:rPr>
              <a:t>• EDA del dominio: rama A → distribuciones de longitud y balance de clases por idioma; rama B → STL + ACF/PACF + test de estacionariedad ADF.</a:t>
            </a:r>
          </a:p>
          <a:p>
            <a:pPr>
              <a:spcAft>
                <a:spcPts val="800"/>
              </a:spcAft>
              <a:defRPr sz="1400" b="0">
                <a:solidFill>
                  <a:srgbClr val="0F172A"/>
                </a:solidFill>
                <a:latin typeface="Segoe UI"/>
              </a:defRPr>
            </a:pPr>
            <a:r>
              <a:rPr sz="1400" b="0">
                <a:solidFill>
                  <a:srgbClr val="0F172A"/>
                </a:solidFill>
                <a:latin typeface="Segoe UI"/>
              </a:rPr>
              <a:t>• Baselines: rama A → TF-IDF + LogisticRegression; rama B → naive + seasonal naive + ETS.</a:t>
            </a:r>
          </a:p>
          <a:p>
            <a:pPr>
              <a:spcAft>
                <a:spcPts val="800"/>
              </a:spcAft>
              <a:defRPr sz="1400" b="0">
                <a:solidFill>
                  <a:srgbClr val="0F172A"/>
                </a:solidFill>
                <a:latin typeface="Segoe UI"/>
              </a:defRPr>
            </a:pPr>
            <a:r>
              <a:rPr sz="1400" b="0">
                <a:solidFill>
                  <a:srgbClr val="0F172A"/>
                </a:solidFill>
                <a:latin typeface="Segoe UI"/>
              </a:rPr>
              <a:t>• Modelo moderno: rama A → fine-tune DistilBERT 2 epochs con transformers.Trainer; rama B → SARIMA o NeuralProphet con backtesting expanding window 5 folds.</a:t>
            </a:r>
          </a:p>
          <a:p>
            <a:pPr>
              <a:spcAft>
                <a:spcPts val="800"/>
              </a:spcAft>
              <a:defRPr sz="1400" b="0">
                <a:solidFill>
                  <a:srgbClr val="0F172A"/>
                </a:solidFill>
                <a:latin typeface="Segoe UI"/>
              </a:defRPr>
            </a:pPr>
            <a:r>
              <a:rPr sz="1400" b="0">
                <a:solidFill>
                  <a:srgbClr val="0F172A"/>
                </a:solidFill>
                <a:latin typeface="Segoe UI"/>
              </a:rPr>
              <a:t>• Endpoint + drift: FastAPI con /predict (NLP) o /forecast?horizon=14 (series), dockerizado.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README.md del proyecto con problema, rama elegida (A o B), métrica primaria y resultado.</a:t>
            </a:r>
          </a:p>
          <a:p>
            <a:pPr>
              <a:spcAft>
                <a:spcPts val="800"/>
              </a:spcAft>
              <a:defRPr sz="1400" b="0">
                <a:solidFill>
                  <a:srgbClr val="0F172A"/>
                </a:solidFill>
                <a:latin typeface="Segoe UI"/>
              </a:defRPr>
            </a:pPr>
            <a:r>
              <a:rPr sz="1400" b="0">
                <a:solidFill>
                  <a:srgbClr val="0F172A"/>
                </a:solidFill>
                <a:latin typeface="Segoe UI"/>
              </a:rPr>
              <a:t>• Notebook de EDA + entrenamiento con seeds fijas (42) y MLflow tracking visible (screenshot o mlruns/ versionado).</a:t>
            </a:r>
          </a:p>
          <a:p>
            <a:pPr>
              <a:spcAft>
                <a:spcPts val="800"/>
              </a:spcAft>
              <a:defRPr sz="1400" b="0">
                <a:solidFill>
                  <a:srgbClr val="0F172A"/>
                </a:solidFill>
                <a:latin typeface="Segoe UI"/>
              </a:defRPr>
            </a:pPr>
            <a:r>
              <a:rPr sz="1400" b="0">
                <a:solidFill>
                  <a:srgbClr val="0F172A"/>
                </a:solidFill>
                <a:latin typeface="Segoe UI"/>
              </a:rPr>
              <a:t>• Dockerfile + compose.yml que levanten FastAPI + MLflow UI con un solo docker compose up.</a:t>
            </a:r>
          </a:p>
          <a:p>
            <a:pPr>
              <a:spcAft>
                <a:spcPts val="800"/>
              </a:spcAft>
              <a:defRPr sz="1400" b="0">
                <a:solidFill>
                  <a:srgbClr val="0F172A"/>
                </a:solidFill>
                <a:latin typeface="Segoe UI"/>
              </a:defRPr>
            </a:pPr>
            <a:r>
              <a:rPr sz="1400" b="0">
                <a:solidFill>
                  <a:srgbClr val="0F172A"/>
                </a:solidFill>
                <a:latin typeface="Segoe UI"/>
              </a:rPr>
              <a:t>• Endpoint funcional: curl -X POST localhost:8000/predict (NLP) o curl localhost:8000/forecast?horizon=14 (series) devuelve JSON válido.</a:t>
            </a:r>
          </a:p>
          <a:p>
            <a:pPr>
              <a:spcAft>
                <a:spcPts val="800"/>
              </a:spcAft>
              <a:defRPr sz="1400" b="0">
                <a:solidFill>
                  <a:srgbClr val="0F172A"/>
                </a:solidFill>
                <a:latin typeface="Segoe UI"/>
              </a:defRPr>
            </a:pPr>
            <a:r>
              <a:rPr sz="1400" b="0">
                <a:solidFill>
                  <a:srgbClr val="0F172A"/>
                </a:solidFill>
                <a:latin typeface="Segoe UI"/>
              </a:rPr>
              <a:t>• Model Card (1 página) con métricas globales y por slice/horizonte, datos de entrenamiento, sesgos conocidos, y plan de monitoreo de drift.</a:t>
            </a:r>
          </a:p>
        </p:txBody>
      </p:sp>
    </p:spTree>
  </p:cSld>
  <p:clrMapOvr>
    <a:masterClrMapping/>
  </p:clrMapOvr>
</p:sld>
</file>

<file path=ppt/slides/slide116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231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231 — Capstone 3: visión por computadora con transfer learning</a:t>
            </a:r>
          </a:p>
        </p:txBody>
      </p:sp>
    </p:spTree>
  </p:cSld>
  <p:clrMapOvr>
    <a:masterClrMapping/>
  </p:clrMapOvr>
</p:sld>
</file>

<file path=ppt/slides/slide11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231 — Capstone 3: visión por computadora con transfer learning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8 — Capstones · Fuente: Géron, Hands-On ML 3ª ed. cap. 14-15 + timm + PyTorch Lightning docs.  Duración estimada: 180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clasificador de imágenes de calidad producción usando transfer learning sobre un backbone moderno (ConvNeXt-tiny / EfficientNetV2-S / ViT-Base/16). Entrenar en dos fases (feature extraction → fine-tuning progresivo), aplicar augmentation moderna (RandAugment, MixUp, CutMix), evaluar con métricas per-clase + slice analysis, y servir vía ONNX + FastAPI con endpoint /predict que recibe imagen en base64. Cerrar el capstone con un fairness check si aplica.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Diseñar un pipeline de transfer learning completo: backbone preentrenado en ImageNet → head custom → fine-tuning progresivo con LR diferencial por grupo.</a:t>
            </a:r>
          </a:p>
          <a:p>
            <a:pPr>
              <a:spcAft>
                <a:spcPts val="800"/>
              </a:spcAft>
              <a:defRPr sz="1400" b="0">
                <a:solidFill>
                  <a:srgbClr val="0F172A"/>
                </a:solidFill>
                <a:latin typeface="Segoe UI"/>
              </a:defRPr>
            </a:pPr>
            <a:r>
              <a:rPr sz="1400" b="0">
                <a:solidFill>
                  <a:srgbClr val="0F172A"/>
                </a:solidFill>
                <a:latin typeface="Segoe UI"/>
              </a:rPr>
              <a:t>• Aplicar augmentation moderna con Albumentations (RandAugment, MixUp, CutMix, RandomErasing) y verificar invariancia de label.</a:t>
            </a:r>
          </a:p>
          <a:p>
            <a:pPr>
              <a:spcAft>
                <a:spcPts val="800"/>
              </a:spcAft>
              <a:defRPr sz="1400" b="0">
                <a:solidFill>
                  <a:srgbClr val="0F172A"/>
                </a:solidFill>
                <a:latin typeface="Segoe UI"/>
              </a:defRPr>
            </a:pPr>
            <a:r>
              <a:rPr sz="1400" b="0">
                <a:solidFill>
                  <a:srgbClr val="0F172A"/>
                </a:solidFill>
                <a:latin typeface="Segoe UI"/>
              </a:rPr>
              <a:t>• Entrenar con PyTorch Lightning + AMP (mixed precision) + torch.compile + grad accumulation, con seed_everything y deterministic algorithms.</a:t>
            </a:r>
          </a:p>
          <a:p>
            <a:pPr>
              <a:spcAft>
                <a:spcPts val="800"/>
              </a:spcAft>
              <a:defRPr sz="1400" b="0">
                <a:solidFill>
                  <a:srgbClr val="0F172A"/>
                </a:solidFill>
                <a:latin typeface="Segoe UI"/>
              </a:defRPr>
            </a:pPr>
            <a:r>
              <a:rPr sz="1400" b="0">
                <a:solidFill>
                  <a:srgbClr val="0F172A"/>
                </a:solidFill>
                <a:latin typeface="Segoe UI"/>
              </a:rPr>
              <a:t>• Reportar accuracy + per-class F1 + confusion matrix + slice analysis (Clase 169) y un fairness check (Clase 224) si el dataset tiene atributos sensibles.</a:t>
            </a:r>
          </a:p>
          <a:p>
            <a:pPr>
              <a:spcAft>
                <a:spcPts val="800"/>
              </a:spcAft>
              <a:defRPr sz="1400" b="0">
                <a:solidFill>
                  <a:srgbClr val="0F172A"/>
                </a:solidFill>
                <a:latin typeface="Segoe UI"/>
              </a:defRPr>
            </a:pPr>
            <a:r>
              <a:rPr sz="1400" b="0">
                <a:solidFill>
                  <a:srgbClr val="0F172A"/>
                </a:solidFill>
                <a:latin typeface="Segoe UI"/>
              </a:rPr>
              <a:t>• Exportar el modelo a ONNX o TorchScript y servirlo en un endpoint FastAPI /predict que reciba imagen base64.</a:t>
            </a:r>
          </a:p>
        </p:txBody>
      </p:sp>
    </p:spTree>
  </p:cSld>
  <p:clrMapOvr>
    <a:masterClrMapping/>
  </p:clrMapOvr>
</p:sld>
</file>

<file path=ppt/slides/slide11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231 — Capstone 3: visión por computadora con transfer learning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Ver README de la clase.</a:t>
            </a:r>
          </a:p>
        </p:txBody>
      </p:sp>
    </p:spTree>
  </p:cSld>
  <p:clrMapOvr>
    <a:masterClrMapping/>
  </p:clrMapOvr>
</p:sld>
</file>

<file path=ppt/slides/slide11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231 — Capstone 3: visión por computadora con transfer learning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Pipeline mínimo CPU-friendly sobre patches sintéticos 32×32 (círculo / cuadrado / triángulo). Replica el flujo completo del capstone: baseline → features → augmentation → CNN (opcional torch) → métricas + slice analysis → stubs de transfer learning (timm), export ONNX y serving FastAPI. Requiere: pip install numpy scikit-learn matplotlib. Opcional: torch torchvision timm pytorch-lightning albumentations onnx fastapi.</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sklearn.metrics import accuracy_score, f1_score, confusion_matrix, classification_report</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SEED = 42</a:t>
            </a:r>
          </a:p>
          <a:p>
            <a:pPr>
              <a:defRPr sz="1200" b="0">
                <a:solidFill>
                  <a:srgbClr val="F8FAFC"/>
                </a:solidFill>
                <a:latin typeface="Courier New"/>
              </a:defRPr>
            </a:pPr>
            <a:r>
              <a:rPr sz="1200" b="0">
                <a:solidFill>
                  <a:srgbClr val="F8FAFC"/>
                </a:solidFill>
                <a:latin typeface="Courier New"/>
              </a:rPr>
              <a:t>IMG = 32</a:t>
            </a:r>
          </a:p>
          <a:p>
            <a:pPr>
              <a:defRPr sz="1200" b="0">
                <a:solidFill>
                  <a:srgbClr val="F8FAFC"/>
                </a:solidFill>
                <a:latin typeface="Courier New"/>
              </a:defRPr>
            </a:pPr>
            <a:r>
              <a:rPr sz="1200" b="0">
                <a:solidFill>
                  <a:srgbClr val="F8FAFC"/>
                </a:solidFill>
                <a:latin typeface="Courier New"/>
              </a:rPr>
              <a:t>N = 1000</a:t>
            </a:r>
          </a:p>
          <a:p>
            <a:pPr>
              <a:defRPr sz="1200" b="0">
                <a:solidFill>
                  <a:srgbClr val="F8FAFC"/>
                </a:solidFill>
                <a:latin typeface="Courier New"/>
              </a:defRPr>
            </a:pPr>
            <a:r>
              <a:rPr sz="1200" b="0">
                <a:solidFill>
                  <a:srgbClr val="F8FAFC"/>
                </a:solidFill>
                <a:latin typeface="Courier New"/>
              </a:rPr>
              <a:t>CLASSES = ['circle', 'square', 'triangle']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draw_circle(img, cx, cy, r):</a:t>
            </a:r>
          </a:p>
          <a:p>
            <a:pPr>
              <a:defRPr sz="1200" b="0">
                <a:solidFill>
                  <a:srgbClr val="F8FAFC"/>
                </a:solidFill>
                <a:latin typeface="Courier New"/>
              </a:defRPr>
            </a:pPr>
            <a:r>
              <a:rPr sz="1200" b="0">
                <a:solidFill>
                  <a:srgbClr val="F8FAFC"/>
                </a:solidFill>
                <a:latin typeface="Courier New"/>
              </a:rPr>
              <a:t>    yy, xx = np.ogrid[:IMG, :IMG]</a:t>
            </a:r>
          </a:p>
          <a:p>
            <a:pPr>
              <a:defRPr sz="1200" b="0">
                <a:solidFill>
                  <a:srgbClr val="F8FAFC"/>
                </a:solidFill>
                <a:latin typeface="Courier New"/>
              </a:defRPr>
            </a:pPr>
            <a:r>
              <a:rPr sz="1200" b="0">
                <a:solidFill>
                  <a:srgbClr val="F8FAFC"/>
                </a:solidFill>
                <a:latin typeface="Courier New"/>
              </a:rPr>
              <a:t>    img[(xx - cx) ** 2 + (yy - cy) ** 2 &lt;= r ** 2] = 1.0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draw_square(img, cx, cy, r):</a:t>
            </a:r>
          </a:p>
          <a:p>
            <a:pPr>
              <a:defRPr sz="1200" b="0">
                <a:solidFill>
                  <a:srgbClr val="F8FAFC"/>
                </a:solidFill>
                <a:latin typeface="Courier New"/>
              </a:defRPr>
            </a:pPr>
            <a:r>
              <a:rPr sz="1200" b="0">
                <a:solidFill>
                  <a:srgbClr val="F8FAFC"/>
                </a:solidFill>
                <a:latin typeface="Courier New"/>
              </a:rPr>
              <a:t>    img[max(0, cy-r):cy+r, max(0, cx-r):cx+r] = 1.0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draw_triangle(img, cx, cy, r):</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1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231 — Capstone 3: visión por computadora con transfer learning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Baseline tonto: entrenar una CNN de 2 capas conv from scratch (sin transfer).</a:t>
            </a:r>
          </a:p>
          <a:p>
            <a:pPr>
              <a:spcAft>
                <a:spcPts val="800"/>
              </a:spcAft>
              <a:defRPr sz="1400" b="0">
                <a:solidFill>
                  <a:srgbClr val="0F172A"/>
                </a:solidFill>
                <a:latin typeface="Segoe UI"/>
              </a:defRPr>
            </a:pPr>
            <a:r>
              <a:rPr sz="1400" b="0">
                <a:solidFill>
                  <a:srgbClr val="0F172A"/>
                </a:solidFill>
                <a:latin typeface="Segoe UI"/>
              </a:rPr>
              <a:t>• Feature extraction: cargar timm.create_model('convnext_tiny', pretrained=True, num_classes=N).</a:t>
            </a:r>
          </a:p>
          <a:p>
            <a:pPr>
              <a:spcAft>
                <a:spcPts val="800"/>
              </a:spcAft>
              <a:defRPr sz="1400" b="0">
                <a:solidFill>
                  <a:srgbClr val="0F172A"/>
                </a:solidFill>
                <a:latin typeface="Segoe UI"/>
              </a:defRPr>
            </a:pPr>
            <a:r>
              <a:rPr sz="1400" b="0">
                <a:solidFill>
                  <a:srgbClr val="0F172A"/>
                </a:solidFill>
                <a:latin typeface="Segoe UI"/>
              </a:rPr>
              <a:t>• Fine-tuning progresivo: unfreeze último bloque → 5 epochs con LR 1e-4 → unfreeze full → 10 epochs con LR diferencial (1e-5 backbone, 1e-3 head).</a:t>
            </a:r>
          </a:p>
          <a:p>
            <a:pPr>
              <a:spcAft>
                <a:spcPts val="800"/>
              </a:spcAft>
              <a:defRPr sz="1400" b="0">
                <a:solidFill>
                  <a:srgbClr val="0F172A"/>
                </a:solidFill>
                <a:latin typeface="Segoe UI"/>
              </a:defRPr>
            </a:pPr>
            <a:r>
              <a:rPr sz="1400" b="0">
                <a:solidFill>
                  <a:srgbClr val="0F172A"/>
                </a:solidFill>
                <a:latin typeface="Segoe UI"/>
              </a:rPr>
              <a:t>• Augmentation ablation: comparar (a) sin aug, (b) flip + crop, (c) RandAugment, (d) RandAugment + MixUp + CutMix.</a:t>
            </a:r>
          </a:p>
          <a:p>
            <a:pPr>
              <a:spcAft>
                <a:spcPts val="800"/>
              </a:spcAft>
              <a:defRPr sz="1400" b="0">
                <a:solidFill>
                  <a:srgbClr val="0F172A"/>
                </a:solidFill>
                <a:latin typeface="Segoe UI"/>
              </a:defRPr>
            </a:pPr>
            <a:r>
              <a:rPr sz="1400" b="0">
                <a:solidFill>
                  <a:srgbClr val="0F172A"/>
                </a:solidFill>
                <a:latin typeface="Segoe UI"/>
              </a:rPr>
              <a:t>• Serving end-to-end: exportar a ONNX (torch.onnx.export), validar con onnxruntime que la inferencia da la misma probabilidad ±1e-4, levantar FastAPI con endpoint POST /predict que reciba {"image_b64": "..."} y devuelva {"class": "...", "prob": 0.94}.</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Dataset elegido + EDA (distribución de clases, resolución, ejemplos por clase).</a:t>
            </a:r>
          </a:p>
          <a:p>
            <a:pPr>
              <a:spcAft>
                <a:spcPts val="800"/>
              </a:spcAft>
              <a:defRPr sz="1400" b="0">
                <a:solidFill>
                  <a:srgbClr val="0F172A"/>
                </a:solidFill>
                <a:latin typeface="Segoe UI"/>
              </a:defRPr>
            </a:pPr>
            <a:r>
              <a:rPr sz="1400" b="0">
                <a:solidFill>
                  <a:srgbClr val="0F172A"/>
                </a:solidFill>
                <a:latin typeface="Segoe UI"/>
              </a:rPr>
              <a:t>• Pipeline Lightning con 3 fases de entrenamiento (feature extraction → unfreeze parcial → unfreeze full).</a:t>
            </a:r>
          </a:p>
          <a:p>
            <a:pPr>
              <a:spcAft>
                <a:spcPts val="800"/>
              </a:spcAft>
              <a:defRPr sz="1400" b="0">
                <a:solidFill>
                  <a:srgbClr val="0F172A"/>
                </a:solidFill>
                <a:latin typeface="Segoe UI"/>
              </a:defRPr>
            </a:pPr>
            <a:r>
              <a:rPr sz="1400" b="0">
                <a:solidFill>
                  <a:srgbClr val="0F172A"/>
                </a:solidFill>
                <a:latin typeface="Segoe UI"/>
              </a:rPr>
              <a:t>• Augmentation con Albumentations + verificación de label invariance.</a:t>
            </a:r>
          </a:p>
          <a:p>
            <a:pPr>
              <a:spcAft>
                <a:spcPts val="800"/>
              </a:spcAft>
              <a:defRPr sz="1400" b="0">
                <a:solidFill>
                  <a:srgbClr val="0F172A"/>
                </a:solidFill>
                <a:latin typeface="Segoe UI"/>
              </a:defRPr>
            </a:pPr>
            <a:r>
              <a:rPr sz="1400" b="0">
                <a:solidFill>
                  <a:srgbClr val="0F172A"/>
                </a:solidFill>
                <a:latin typeface="Segoe UI"/>
              </a:rPr>
              <a:t>• Reporte de métricas: accuracy global, per-class F1, confusion matrix, slice analysis sobre al menos 1 dimensión.</a:t>
            </a:r>
          </a:p>
          <a:p>
            <a:pPr>
              <a:spcAft>
                <a:spcPts val="800"/>
              </a:spcAft>
              <a:defRPr sz="1400" b="0">
                <a:solidFill>
                  <a:srgbClr val="0F172A"/>
                </a:solidFill>
                <a:latin typeface="Segoe UI"/>
              </a:defRPr>
            </a:pPr>
            <a:r>
              <a:rPr sz="1400" b="0">
                <a:solidFill>
                  <a:srgbClr val="0F172A"/>
                </a:solidFill>
                <a:latin typeface="Segoe UI"/>
              </a:rPr>
              <a:t>• Si el dataset tiene atributos sensibles (rostros, demografía): fairness check con disparate impact + equal opportunity (Clase 224).</a:t>
            </a:r>
          </a:p>
        </p:txBody>
      </p:sp>
    </p:spTree>
  </p:cSld>
  <p:clrMapOvr>
    <a:masterClrMapping/>
  </p:clrMapOvr>
</p:sld>
</file>

<file path=ppt/slides/slide116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232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232 — Portafolio público en GitHub Pages y presentación</a:t>
            </a:r>
          </a:p>
        </p:txBody>
      </p:sp>
    </p:spTree>
  </p:cSld>
  <p:clrMapOvr>
    <a:masterClrMapping/>
  </p:clrMapOvr>
</p:sld>
</file>

<file path=ppt/slides/slide11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232 — Portafolio público en GitHub Pages y presentación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8 — Capstones · Fuentes: Chip Huyen, How to build a data science portfolio + Eugene Yan, What I learned from looking at 200 ML portfolios + Mitchell et al., Model Cards for Model Reporting (FAT* 2019).  Duración estimada: 150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Empaquetar los tres capstones (229, 230, 231) en un portafolio público que un reclutador entienda en 30 segundos: sitio en GitHub Pages, demos hosted, blog técnico, deck de presentación y CV. La regla es calidad &gt; cantidad: 3 proyectos terminados con métricas honestas valen más que 10 a medias.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Estructurar un sitio de portafolio con MkDocs Material o Quarto desplegado en GitHub Pages.</a:t>
            </a:r>
          </a:p>
          <a:p>
            <a:pPr>
              <a:spcAft>
                <a:spcPts val="800"/>
              </a:spcAft>
              <a:defRPr sz="1400" b="0">
                <a:solidFill>
                  <a:srgbClr val="0F172A"/>
                </a:solidFill>
                <a:latin typeface="Segoe UI"/>
              </a:defRPr>
            </a:pPr>
            <a:r>
              <a:rPr sz="1400" b="0">
                <a:solidFill>
                  <a:srgbClr val="0F172A"/>
                </a:solidFill>
                <a:latin typeface="Segoe UI"/>
              </a:rPr>
              <a:t>• Escribir un README de proyecto que comunica problema, approach, métricas y limitaciones sin marketing vacío.</a:t>
            </a:r>
          </a:p>
          <a:p>
            <a:pPr>
              <a:spcAft>
                <a:spcPts val="800"/>
              </a:spcAft>
              <a:defRPr sz="1400" b="0">
                <a:solidFill>
                  <a:srgbClr val="0F172A"/>
                </a:solidFill>
                <a:latin typeface="Segoe UI"/>
              </a:defRPr>
            </a:pPr>
            <a:r>
              <a:rPr sz="1400" b="0">
                <a:solidFill>
                  <a:srgbClr val="0F172A"/>
                </a:solidFill>
                <a:latin typeface="Segoe UI"/>
              </a:rPr>
              <a:t>• Publicar demos hosted (Streamlit Community Cloud, HuggingFace Spaces) y un blog técnico por capstone.</a:t>
            </a:r>
          </a:p>
          <a:p>
            <a:pPr>
              <a:spcAft>
                <a:spcPts val="800"/>
              </a:spcAft>
              <a:defRPr sz="1400" b="0">
                <a:solidFill>
                  <a:srgbClr val="0F172A"/>
                </a:solidFill>
                <a:latin typeface="Segoe UI"/>
              </a:defRPr>
            </a:pPr>
            <a:r>
              <a:rPr sz="1400" b="0">
                <a:solidFill>
                  <a:srgbClr val="0F172A"/>
                </a:solidFill>
                <a:latin typeface="Segoe UI"/>
              </a:rPr>
              <a:t>• Armar un deck de 10-15 slides que cuenta cada proyecto en formato problema → datos → enfoque → resultado → trade-offs.</a:t>
            </a:r>
          </a:p>
          <a:p>
            <a:pPr>
              <a:spcAft>
                <a:spcPts val="800"/>
              </a:spcAft>
              <a:defRPr sz="1400" b="0">
                <a:solidFill>
                  <a:srgbClr val="0F172A"/>
                </a:solidFill>
                <a:latin typeface="Segoe UI"/>
              </a:defRPr>
            </a:pPr>
            <a:r>
              <a:rPr sz="1400" b="0">
                <a:solidFill>
                  <a:srgbClr val="0F172A"/>
                </a:solidFill>
                <a:latin typeface="Segoe UI"/>
              </a:rPr>
              <a:t>• Detectar y evitar los antipatterns clásicos (10 proyectos a medias, README sin números, demo rota).</a:t>
            </a:r>
          </a:p>
        </p:txBody>
      </p:sp>
    </p:spTree>
  </p:cSld>
  <p:clrMapOvr>
    <a:masterClrMapping/>
  </p:clrMapOvr>
</p:sld>
</file>

<file path=ppt/slides/slide11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232 — Portafolio público en GitHub Pages y presentación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Ver README de la clase.</a:t>
            </a:r>
          </a:p>
        </p:txBody>
      </p:sp>
    </p:spTree>
  </p:cSld>
  <p:clrMapOvr>
    <a:masterClrMapping/>
  </p:clrMapOvr>
</p:sld>
</file>

<file path=ppt/slides/slide11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232 — Portafolio público en GitHub Pages y presentación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Esta clase es más de producto y comunicación que de código ML. El notebook es un utilitario práctico: define el schema de un proyecto, genera los .md del portafolio, valida que cumpla mínimos, y emite los stubs de mkdocs.yml + workflow de Pages. Solo stdlib + jinja2 opcional. Seed 42. Self-contained.</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dataclasses import dataclass, field, asdict</a:t>
            </a:r>
          </a:p>
          <a:p>
            <a:pPr>
              <a:defRPr sz="1200" b="0">
                <a:solidFill>
                  <a:srgbClr val="F8FAFC"/>
                </a:solidFill>
                <a:latin typeface="Courier New"/>
              </a:defRPr>
            </a:pPr>
            <a:r>
              <a:rPr sz="1200" b="0">
                <a:solidFill>
                  <a:srgbClr val="F8FAFC"/>
                </a:solidFill>
                <a:latin typeface="Courier New"/>
              </a:rPr>
              <a:t>from typing import Optional</a:t>
            </a:r>
          </a:p>
          <a:p>
            <a:pPr>
              <a:defRPr sz="1200" b="0">
                <a:solidFill>
                  <a:srgbClr val="F8FAFC"/>
                </a:solidFill>
                <a:latin typeface="Courier New"/>
              </a:defRPr>
            </a:pPr>
            <a:r>
              <a:rPr sz="1200" b="0">
                <a:solidFill>
                  <a:srgbClr val="F8FAFC"/>
                </a:solidFill>
                <a:latin typeface="Courier New"/>
              </a:rPr>
              <a:t>import textwrap, random</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jinja2 import Template</a:t>
            </a:r>
          </a:p>
          <a:p>
            <a:pPr>
              <a:defRPr sz="1200" b="0">
                <a:solidFill>
                  <a:srgbClr val="F8FAFC"/>
                </a:solidFill>
                <a:latin typeface="Courier New"/>
              </a:defRPr>
            </a:pPr>
            <a:r>
              <a:rPr sz="1200" b="0">
                <a:solidFill>
                  <a:srgbClr val="F8FAFC"/>
                </a:solidFill>
                <a:latin typeface="Courier New"/>
              </a:rPr>
              <a:t>    HAS_JINJA = True</a:t>
            </a:r>
          </a:p>
          <a:p>
            <a:pPr>
              <a:defRPr sz="1200" b="0">
                <a:solidFill>
                  <a:srgbClr val="F8FAFC"/>
                </a:solidFill>
                <a:latin typeface="Courier New"/>
              </a:defRPr>
            </a:pPr>
            <a:r>
              <a:rPr sz="1200" b="0">
                <a:solidFill>
                  <a:srgbClr val="F8FAFC"/>
                </a:solidFill>
                <a:latin typeface="Courier New"/>
              </a:rPr>
              <a:t>except ImportError:</a:t>
            </a:r>
          </a:p>
          <a:p>
            <a:pPr>
              <a:defRPr sz="1200" b="0">
                <a:solidFill>
                  <a:srgbClr val="F8FAFC"/>
                </a:solidFill>
                <a:latin typeface="Courier New"/>
              </a:defRPr>
            </a:pPr>
            <a:r>
              <a:rPr sz="1200" b="0">
                <a:solidFill>
                  <a:srgbClr val="F8FAFC"/>
                </a:solidFill>
                <a:latin typeface="Courier New"/>
              </a:rPr>
              <a:t>    HAS_JINJA = False</a:t>
            </a:r>
          </a:p>
          <a:p>
            <a:pPr>
              <a:defRPr sz="1200" b="0">
                <a:solidFill>
                  <a:srgbClr val="F8FAFC"/>
                </a:solidFill>
                <a:latin typeface="Courier New"/>
              </a:defRPr>
            </a:pPr>
            <a:r>
              <a:rPr sz="1200" b="0">
                <a:solidFill>
                  <a:srgbClr val="F8FAFC"/>
                </a:solidFill>
                <a:latin typeface="Courier New"/>
              </a:rPr>
              <a:t>print(f'jinja2 disponible: {HAS_JINJA} (no es bloqueante, usamos f-strings de fallback)')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@dataclass</a:t>
            </a:r>
          </a:p>
          <a:p>
            <a:pPr>
              <a:defRPr sz="1200" b="0">
                <a:solidFill>
                  <a:srgbClr val="F8FAFC"/>
                </a:solidFill>
                <a:latin typeface="Courier New"/>
              </a:defRPr>
            </a:pPr>
            <a:r>
              <a:rPr sz="1200" b="0">
                <a:solidFill>
                  <a:srgbClr val="F8FAFC"/>
                </a:solidFill>
                <a:latin typeface="Courier New"/>
              </a:rPr>
              <a:t>class Project:</a:t>
            </a:r>
          </a:p>
          <a:p>
            <a:pPr>
              <a:defRPr sz="1200" b="0">
                <a:solidFill>
                  <a:srgbClr val="F8FAFC"/>
                </a:solidFill>
                <a:latin typeface="Courier New"/>
              </a:defRPr>
            </a:pPr>
            <a:r>
              <a:rPr sz="1200" b="0">
                <a:solidFill>
                  <a:srgbClr val="F8FAFC"/>
                </a:solidFill>
                <a:latin typeface="Courier New"/>
              </a:rPr>
              <a:t>    title: str</a:t>
            </a:r>
          </a:p>
          <a:p>
            <a:pPr>
              <a:defRPr sz="1200" b="0">
                <a:solidFill>
                  <a:srgbClr val="F8FAFC"/>
                </a:solidFill>
                <a:latin typeface="Courier New"/>
              </a:defRPr>
            </a:pPr>
            <a:r>
              <a:rPr sz="1200" b="0">
                <a:solidFill>
                  <a:srgbClr val="F8FAFC"/>
                </a:solidFill>
                <a:latin typeface="Courier New"/>
              </a:rPr>
              <a:t>    slug: str</a:t>
            </a:r>
          </a:p>
          <a:p>
            <a:pPr>
              <a:defRPr sz="1200" b="0">
                <a:solidFill>
                  <a:srgbClr val="F8FAFC"/>
                </a:solidFill>
                <a:latin typeface="Courier New"/>
              </a:defRPr>
            </a:pPr>
            <a:r>
              <a:rPr sz="1200" b="0">
                <a:solidFill>
                  <a:srgbClr val="F8FAFC"/>
                </a:solidFill>
                <a:latin typeface="Courier New"/>
              </a:rPr>
              <a:t>    problem: str            # 1-2 frases en lenguaje humano</a:t>
            </a:r>
          </a:p>
          <a:p>
            <a:pPr>
              <a:defRPr sz="1200" b="0">
                <a:solidFill>
                  <a:srgbClr val="F8FAFC"/>
                </a:solidFill>
                <a:latin typeface="Courier New"/>
              </a:defRPr>
            </a:pPr>
            <a:r>
              <a:rPr sz="1200" b="0">
                <a:solidFill>
                  <a:srgbClr val="F8FAFC"/>
                </a:solidFill>
                <a:latin typeface="Courier New"/>
              </a:rPr>
              <a:t>    approach: str           # 2-3 frases técnicas</a:t>
            </a:r>
          </a:p>
          <a:p>
            <a:pPr>
              <a:defRPr sz="1200" b="0">
                <a:solidFill>
                  <a:srgbClr val="F8FAFC"/>
                </a:solidFill>
                <a:latin typeface="Courier New"/>
              </a:defRPr>
            </a:pPr>
            <a:r>
              <a:rPr sz="1200" b="0">
                <a:solidFill>
                  <a:srgbClr val="F8FAFC"/>
                </a:solidFill>
                <a:latin typeface="Courier New"/>
              </a:rPr>
              <a:t>    metrics: dict           # {'metric_name': value}</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1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232 — Portafolio público en GitHub Pages y presentación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MkDocs Material setup: pip install mkdocs-material, mkdocs new portfolio, editar mkdocs.yml con tema material y deployar a gh-pages con mkdocs gh-deploy.</a:t>
            </a:r>
          </a:p>
          <a:p>
            <a:pPr>
              <a:spcAft>
                <a:spcPts val="800"/>
              </a:spcAft>
              <a:defRPr sz="1400" b="0">
                <a:solidFill>
                  <a:srgbClr val="0F172A"/>
                </a:solidFill>
                <a:latin typeface="Segoe UI"/>
              </a:defRPr>
            </a:pPr>
            <a:r>
              <a:rPr sz="1400" b="0">
                <a:solidFill>
                  <a:srgbClr val="0F172A"/>
                </a:solidFill>
                <a:latin typeface="Segoe UI"/>
              </a:rPr>
              <a:t>• README de capstone: tomar el capstone 229 (NLP) y reescribir el README con hero image, badges (CI, license, Python version), quick start de 30 seg, sección "decisiones técnicas" (3 bullets) y "limitaciones" (3 bullets).</a:t>
            </a:r>
          </a:p>
          <a:p>
            <a:pPr>
              <a:spcAft>
                <a:spcPts val="800"/>
              </a:spcAft>
              <a:defRPr sz="1400" b="0">
                <a:solidFill>
                  <a:srgbClr val="0F172A"/>
                </a:solidFill>
                <a:latin typeface="Segoe UI"/>
              </a:defRPr>
            </a:pPr>
            <a:r>
              <a:rPr sz="1400" b="0">
                <a:solidFill>
                  <a:srgbClr val="0F172A"/>
                </a:solidFill>
                <a:latin typeface="Segoe UI"/>
              </a:rPr>
              <a:t>• Demo hosted: subir el capstone 230 (CV) a HuggingFace Spaces con Gradio.</a:t>
            </a:r>
          </a:p>
          <a:p>
            <a:pPr>
              <a:spcAft>
                <a:spcPts val="800"/>
              </a:spcAft>
              <a:defRPr sz="1400" b="0">
                <a:solidFill>
                  <a:srgbClr val="0F172A"/>
                </a:solidFill>
                <a:latin typeface="Segoe UI"/>
              </a:defRPr>
            </a:pPr>
            <a:r>
              <a:rPr sz="1400" b="0">
                <a:solidFill>
                  <a:srgbClr val="0F172A"/>
                </a:solidFill>
                <a:latin typeface="Segoe UI"/>
              </a:rPr>
              <a:t>• Blog post técnico: escribir 1 post de 800-1500 palabras sobre el capstone 231 (tabular) siguiendo el outline problema → datos → approach → resultado con un plot → trade-offs → próximos pasos.</a:t>
            </a:r>
          </a:p>
          <a:p>
            <a:pPr>
              <a:spcAft>
                <a:spcPts val="800"/>
              </a:spcAft>
              <a:defRPr sz="1400" b="0">
                <a:solidFill>
                  <a:srgbClr val="0F172A"/>
                </a:solidFill>
                <a:latin typeface="Segoe UI"/>
              </a:defRPr>
            </a:pPr>
            <a:r>
              <a:rPr sz="1400" b="0">
                <a:solidFill>
                  <a:srgbClr val="0F172A"/>
                </a:solidFill>
                <a:latin typeface="Segoe UI"/>
              </a:rPr>
              <a:t>• Deck: armar 10-15 slides (Google Slides, Marp o reveal.js) presentando los 3 capstones con la regla de "1 idea por slide".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Index con foto, bio de 3 líneas, links a 3 proyectos, link a blog, link a CV PDF, link a LinkedIn/GitHub.</a:t>
            </a:r>
          </a:p>
          <a:p>
            <a:pPr>
              <a:spcAft>
                <a:spcPts val="800"/>
              </a:spcAft>
              <a:defRPr sz="1400" b="0">
                <a:solidFill>
                  <a:srgbClr val="0F172A"/>
                </a:solidFill>
                <a:latin typeface="Segoe UI"/>
              </a:defRPr>
            </a:pPr>
            <a:r>
              <a:rPr sz="1400" b="0">
                <a:solidFill>
                  <a:srgbClr val="0F172A"/>
                </a:solidFill>
                <a:latin typeface="Segoe UI"/>
              </a:rPr>
              <a:t>• Una página por proyecto (3 capstones) con README + Model Card + link a demo + link a blog post + link a repo.</a:t>
            </a:r>
          </a:p>
          <a:p>
            <a:pPr>
              <a:spcAft>
                <a:spcPts val="800"/>
              </a:spcAft>
              <a:defRPr sz="1400" b="0">
                <a:solidFill>
                  <a:srgbClr val="0F172A"/>
                </a:solidFill>
                <a:latin typeface="Segoe UI"/>
              </a:defRPr>
            </a:pPr>
            <a:r>
              <a:rPr sz="1400" b="0">
                <a:solidFill>
                  <a:srgbClr val="0F172A"/>
                </a:solidFill>
                <a:latin typeface="Segoe UI"/>
              </a:rPr>
              <a:t>• Blog con al menos 1 post técnico publicado.</a:t>
            </a:r>
          </a:p>
          <a:p>
            <a:pPr>
              <a:spcAft>
                <a:spcPts val="800"/>
              </a:spcAft>
              <a:defRPr sz="1400" b="0">
                <a:solidFill>
                  <a:srgbClr val="0F172A"/>
                </a:solidFill>
                <a:latin typeface="Segoe UI"/>
              </a:defRPr>
            </a:pPr>
            <a:r>
              <a:rPr sz="1400" b="0">
                <a:solidFill>
                  <a:srgbClr val="0F172A"/>
                </a:solidFill>
                <a:latin typeface="Segoe UI"/>
              </a:rPr>
              <a:t>• CV PDF de 1 página linkeado desde el index.</a:t>
            </a:r>
          </a:p>
          <a:p>
            <a:pPr>
              <a:spcAft>
                <a:spcPts val="800"/>
              </a:spcAft>
              <a:defRPr sz="1400" b="0">
                <a:solidFill>
                  <a:srgbClr val="0F172A"/>
                </a:solidFill>
                <a:latin typeface="Segoe UI"/>
              </a:defRPr>
            </a:pPr>
            <a:r>
              <a:rPr sz="1400" b="0">
                <a:solidFill>
                  <a:srgbClr val="0F172A"/>
                </a:solidFill>
                <a:latin typeface="Segoe UI"/>
              </a:rPr>
              <a:t>• Demos: al menos 1 de los 3 proyectos con demo hosted funcionando (Streamlit Cloud o HF Spaces).</a:t>
            </a:r>
          </a:p>
        </p:txBody>
      </p:sp>
    </p:spTree>
  </p:cSld>
  <p:clrMapOvr>
    <a:masterClrMapping/>
  </p:clrMapOvr>
</p:sld>
</file>

<file path=ppt/slides/slide117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Fin del programa</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232 clases · 9 partes ·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